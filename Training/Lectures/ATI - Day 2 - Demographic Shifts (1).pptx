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drawings/drawing1.xml" ContentType="application/vnd.openxmlformats-officedocument.drawingml.chartshapes+xml"/>
  <Override PartName="/ppt/charts/chart2.xml" ContentType="application/vnd.openxmlformats-officedocument.drawingml.chart+xml"/>
  <Override PartName="/ppt/theme/themeOverride2.xml" ContentType="application/vnd.openxmlformats-officedocument.themeOverride+xml"/>
  <Override PartName="/ppt/drawings/drawing2.xml" ContentType="application/vnd.openxmlformats-officedocument.drawingml.chartshapes+xml"/>
  <Override PartName="/ppt/charts/chart3.xml" ContentType="application/vnd.openxmlformats-officedocument.drawingml.chart+xml"/>
  <Override PartName="/ppt/theme/themeOverride3.xml" ContentType="application/vnd.openxmlformats-officedocument.themeOverride+xml"/>
  <Override PartName="/ppt/drawings/drawing3.xml" ContentType="application/vnd.openxmlformats-officedocument.drawingml.chartshapes+xml"/>
  <Override PartName="/ppt/notesSlides/notesSlide4.xml" ContentType="application/vnd.openxmlformats-officedocument.presentationml.notesSlide+xml"/>
  <Override PartName="/ppt/charts/chart4.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4.xml" ContentType="application/vnd.openxmlformats-officedocument.drawingml.chartshapes+xml"/>
  <Override PartName="/ppt/charts/chart5.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5.xml" ContentType="application/vnd.openxmlformats-officedocument.drawingml.chartshape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60" r:id="rId4"/>
    <p:sldMasterId id="2147483762" r:id="rId5"/>
    <p:sldMasterId id="2147483776" r:id="rId6"/>
  </p:sldMasterIdLst>
  <p:notesMasterIdLst>
    <p:notesMasterId r:id="rId21"/>
  </p:notesMasterIdLst>
  <p:handoutMasterIdLst>
    <p:handoutMasterId r:id="rId22"/>
  </p:handoutMasterIdLst>
  <p:sldIdLst>
    <p:sldId id="4403" r:id="rId7"/>
    <p:sldId id="4465" r:id="rId8"/>
    <p:sldId id="4438" r:id="rId9"/>
    <p:sldId id="4461" r:id="rId10"/>
    <p:sldId id="4462" r:id="rId11"/>
    <p:sldId id="4457" r:id="rId12"/>
    <p:sldId id="4470" r:id="rId13"/>
    <p:sldId id="4460" r:id="rId14"/>
    <p:sldId id="4480" r:id="rId15"/>
    <p:sldId id="4481" r:id="rId16"/>
    <p:sldId id="4482" r:id="rId17"/>
    <p:sldId id="4484" r:id="rId18"/>
    <p:sldId id="4483" r:id="rId19"/>
    <p:sldId id="4467" r:id="rId20"/>
  </p:sldIdLst>
  <p:sldSz cx="12192000" cy="6858000"/>
  <p:notesSz cx="7023100" cy="9309100"/>
  <p:custDataLst>
    <p:tags r:id="rId23"/>
  </p:custDataLst>
  <p:defaultTextStyle>
    <a:defPPr>
      <a:defRPr lang="en-US"/>
    </a:defPPr>
    <a:lvl1pPr marL="0" algn="l" defTabSz="914314" rtl="0" eaLnBrk="1" latinLnBrk="0" hangingPunct="1">
      <a:defRPr sz="1800" kern="1200">
        <a:solidFill>
          <a:schemeClr val="tx1"/>
        </a:solidFill>
        <a:latin typeface="+mn-lt"/>
        <a:ea typeface="+mn-ea"/>
        <a:cs typeface="+mn-cs"/>
      </a:defRPr>
    </a:lvl1pPr>
    <a:lvl2pPr marL="457157" algn="l" defTabSz="914314" rtl="0" eaLnBrk="1" latinLnBrk="0" hangingPunct="1">
      <a:defRPr sz="1800" kern="1200">
        <a:solidFill>
          <a:schemeClr val="tx1"/>
        </a:solidFill>
        <a:latin typeface="+mn-lt"/>
        <a:ea typeface="+mn-ea"/>
        <a:cs typeface="+mn-cs"/>
      </a:defRPr>
    </a:lvl2pPr>
    <a:lvl3pPr marL="914314" algn="l" defTabSz="914314" rtl="0" eaLnBrk="1" latinLnBrk="0" hangingPunct="1">
      <a:defRPr sz="1800" kern="1200">
        <a:solidFill>
          <a:schemeClr val="tx1"/>
        </a:solidFill>
        <a:latin typeface="+mn-lt"/>
        <a:ea typeface="+mn-ea"/>
        <a:cs typeface="+mn-cs"/>
      </a:defRPr>
    </a:lvl3pPr>
    <a:lvl4pPr marL="1371472" algn="l" defTabSz="914314" rtl="0" eaLnBrk="1" latinLnBrk="0" hangingPunct="1">
      <a:defRPr sz="1800" kern="1200">
        <a:solidFill>
          <a:schemeClr val="tx1"/>
        </a:solidFill>
        <a:latin typeface="+mn-lt"/>
        <a:ea typeface="+mn-ea"/>
        <a:cs typeface="+mn-cs"/>
      </a:defRPr>
    </a:lvl4pPr>
    <a:lvl5pPr marL="1828628" algn="l" defTabSz="914314" rtl="0" eaLnBrk="1" latinLnBrk="0" hangingPunct="1">
      <a:defRPr sz="1800" kern="1200">
        <a:solidFill>
          <a:schemeClr val="tx1"/>
        </a:solidFill>
        <a:latin typeface="+mn-lt"/>
        <a:ea typeface="+mn-ea"/>
        <a:cs typeface="+mn-cs"/>
      </a:defRPr>
    </a:lvl5pPr>
    <a:lvl6pPr marL="2285785" algn="l" defTabSz="914314" rtl="0" eaLnBrk="1" latinLnBrk="0" hangingPunct="1">
      <a:defRPr sz="1800" kern="1200">
        <a:solidFill>
          <a:schemeClr val="tx1"/>
        </a:solidFill>
        <a:latin typeface="+mn-lt"/>
        <a:ea typeface="+mn-ea"/>
        <a:cs typeface="+mn-cs"/>
      </a:defRPr>
    </a:lvl6pPr>
    <a:lvl7pPr marL="2742942" algn="l" defTabSz="914314" rtl="0" eaLnBrk="1" latinLnBrk="0" hangingPunct="1">
      <a:defRPr sz="1800" kern="1200">
        <a:solidFill>
          <a:schemeClr val="tx1"/>
        </a:solidFill>
        <a:latin typeface="+mn-lt"/>
        <a:ea typeface="+mn-ea"/>
        <a:cs typeface="+mn-cs"/>
      </a:defRPr>
    </a:lvl7pPr>
    <a:lvl8pPr marL="3200100" algn="l" defTabSz="914314" rtl="0" eaLnBrk="1" latinLnBrk="0" hangingPunct="1">
      <a:defRPr sz="1800" kern="1200">
        <a:solidFill>
          <a:schemeClr val="tx1"/>
        </a:solidFill>
        <a:latin typeface="+mn-lt"/>
        <a:ea typeface="+mn-ea"/>
        <a:cs typeface="+mn-cs"/>
      </a:defRPr>
    </a:lvl8pPr>
    <a:lvl9pPr marL="3657257" algn="l" defTabSz="914314"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1754463-30FA-824E-9681-17E0926DDDD5}">
          <p14:sldIdLst>
            <p14:sldId id="4403"/>
            <p14:sldId id="4465"/>
            <p14:sldId id="4438"/>
            <p14:sldId id="4461"/>
            <p14:sldId id="4462"/>
            <p14:sldId id="4457"/>
            <p14:sldId id="4470"/>
            <p14:sldId id="4460"/>
            <p14:sldId id="4480"/>
            <p14:sldId id="4481"/>
            <p14:sldId id="4482"/>
            <p14:sldId id="4484"/>
            <p14:sldId id="4483"/>
            <p14:sldId id="446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44" userDrawn="1">
          <p15:clr>
            <a:srgbClr val="A4A3A4"/>
          </p15:clr>
        </p15:guide>
        <p15:guide id="2" pos="2124" userDrawn="1">
          <p15:clr>
            <a:srgbClr val="A4A3A4"/>
          </p15:clr>
        </p15:guide>
        <p15:guide id="3" orient="horz" pos="2932" userDrawn="1">
          <p15:clr>
            <a:srgbClr val="A4A3A4"/>
          </p15:clr>
        </p15:guide>
        <p15:guide id="4" pos="2212"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C7D391E-2885-F281-82AF-3ED8FDE00E88}" name="Guscina, Anastasia" initials="AG" userId="S::AGuscina@imf.org::b4589f2c-5ed4-42da-9f72-dd68371710c7" providerId="AD"/>
  <p188:author id="{F9268FA7-36FA-7F93-E320-2B2AE8F0B00B}" name="Spatafora, Nikola" initials="NLS" userId="Spatafora, Nikola"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Spofford, Laura" initials="SL" lastIdx="2" clrIdx="6">
    <p:extLst>
      <p:ext uri="{19B8F6BF-5375-455C-9EA6-DF929625EA0E}">
        <p15:presenceInfo xmlns:p15="http://schemas.microsoft.com/office/powerpoint/2012/main" userId="S::lspofford@imf.org::729f3023-7458-4886-8b15-5f4e1b9d797d" providerId="AD"/>
      </p:ext>
    </p:extLst>
  </p:cmAuthor>
  <p:cmAuthor id="1" name="Nandwa, Boaz" initials="NB" lastIdx="10" clrIdx="0"/>
  <p:cmAuthor id="8" name="Newiak, Monique" initials="NM" lastIdx="0" clrIdx="7">
    <p:extLst>
      <p:ext uri="{19B8F6BF-5375-455C-9EA6-DF929625EA0E}">
        <p15:presenceInfo xmlns:p15="http://schemas.microsoft.com/office/powerpoint/2012/main" userId="S::MNewiak@IMF.ORG::d81357e1-9dfe-4194-af64-4cbd758c7fe5" providerId="AD"/>
      </p:ext>
    </p:extLst>
  </p:cmAuthor>
  <p:cmAuthor id="2" name="Kamil Dybczak" initials="KD" lastIdx="10" clrIdx="1"/>
  <p:cmAuthor id="9" name="Kazandjian, Romina" initials="KR" lastIdx="4" clrIdx="8">
    <p:extLst>
      <p:ext uri="{19B8F6BF-5375-455C-9EA6-DF929625EA0E}">
        <p15:presenceInfo xmlns:p15="http://schemas.microsoft.com/office/powerpoint/2012/main" userId="S::RKazandjian@imf.org::981dfeef-ec4e-4cfc-812b-25e2594e53c9" providerId="AD"/>
      </p:ext>
    </p:extLst>
  </p:cmAuthor>
  <p:cmAuthor id="3" name="Tamirisa, Natalia" initials="TN" lastIdx="12" clrIdx="2"/>
  <p:cmAuthor id="10" name="Spatafora, Nikola" initials="NLS" lastIdx="53" clrIdx="9">
    <p:extLst>
      <p:ext uri="{19B8F6BF-5375-455C-9EA6-DF929625EA0E}">
        <p15:presenceInfo xmlns:p15="http://schemas.microsoft.com/office/powerpoint/2012/main" userId="Spatafora, Nikola" providerId="None"/>
      </p:ext>
    </p:extLst>
  </p:cmAuthor>
  <p:cmAuthor id="4" name="Almalik, Mansour" initials="AM" lastIdx="6" clrIdx="3"/>
  <p:cmAuthor id="5" name="Pierre, Gaelle" initials="PG" lastIdx="3" clrIdx="4"/>
  <p:cmAuthor id="6" name="Basile, Gregory" initials="BG" lastIdx="9"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a:srgbClr val="25D129"/>
    <a:srgbClr val="5E8AB4"/>
    <a:srgbClr val="E46C0A"/>
    <a:srgbClr val="DC4234"/>
    <a:srgbClr val="00AEB3"/>
    <a:srgbClr val="FFCC00"/>
    <a:srgbClr val="ED7D31"/>
    <a:srgbClr val="A6A6A6"/>
    <a:srgbClr val="70A8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C35F73-F5A5-44A0-ABDC-4C706C8E7856}" v="2" dt="2026-05-20T21:32:15.369"/>
    <p1510:client id="{B4809B13-C599-7F65-D19D-1018BD98BDD0}" v="3" dt="2026-05-21T14:21:10.5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97" autoAdjust="0"/>
    <p:restoredTop sz="85677" autoAdjust="0"/>
  </p:normalViewPr>
  <p:slideViewPr>
    <p:cSldViewPr snapToGrid="0">
      <p:cViewPr varScale="1">
        <p:scale>
          <a:sx n="60" d="100"/>
          <a:sy n="60" d="100"/>
        </p:scale>
        <p:origin x="680" y="48"/>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44"/>
        <p:guide pos="2124"/>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handoutMaster" Target="handoutMasters/handoutMaster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lovich, Lisa" userId="705d1648-fc44-4335-a909-7bcc0ef9bfc0" providerId="ADAL" clId="{92F763A2-9C83-4598-AD83-C43573D893A8}"/>
    <pc:docChg chg="undo custSel addSld delSld modSld sldOrd modSection">
      <pc:chgData name="Kolovich, Lisa" userId="705d1648-fc44-4335-a909-7bcc0ef9bfc0" providerId="ADAL" clId="{92F763A2-9C83-4598-AD83-C43573D893A8}" dt="2026-05-20T21:33:04.852" v="1716" actId="1076"/>
      <pc:docMkLst>
        <pc:docMk/>
      </pc:docMkLst>
      <pc:sldChg chg="addSp modSp mod">
        <pc:chgData name="Kolovich, Lisa" userId="705d1648-fc44-4335-a909-7bcc0ef9bfc0" providerId="ADAL" clId="{92F763A2-9C83-4598-AD83-C43573D893A8}" dt="2026-05-12T12:48:15.616" v="918" actId="20577"/>
        <pc:sldMkLst>
          <pc:docMk/>
          <pc:sldMk cId="1859181895" sldId="4399"/>
        </pc:sldMkLst>
        <pc:spChg chg="mod">
          <ac:chgData name="Kolovich, Lisa" userId="705d1648-fc44-4335-a909-7bcc0ef9bfc0" providerId="ADAL" clId="{92F763A2-9C83-4598-AD83-C43573D893A8}" dt="2026-05-12T12:29:52.424" v="650" actId="1076"/>
          <ac:spMkLst>
            <pc:docMk/>
            <pc:sldMk cId="1859181895" sldId="4399"/>
            <ac:spMk id="2" creationId="{0666992F-CA8C-1B6B-EB3A-2DA196B99C9F}"/>
          </ac:spMkLst>
        </pc:spChg>
        <pc:spChg chg="add mod">
          <ac:chgData name="Kolovich, Lisa" userId="705d1648-fc44-4335-a909-7bcc0ef9bfc0" providerId="ADAL" clId="{92F763A2-9C83-4598-AD83-C43573D893A8}" dt="2026-05-12T12:46:43.782" v="802" actId="1076"/>
          <ac:spMkLst>
            <pc:docMk/>
            <pc:sldMk cId="1859181895" sldId="4399"/>
            <ac:spMk id="3" creationId="{12F040F3-9C05-E38A-2997-BE387DE8D0E5}"/>
          </ac:spMkLst>
        </pc:spChg>
        <pc:spChg chg="mod">
          <ac:chgData name="Kolovich, Lisa" userId="705d1648-fc44-4335-a909-7bcc0ef9bfc0" providerId="ADAL" clId="{92F763A2-9C83-4598-AD83-C43573D893A8}" dt="2026-05-12T12:48:15.616" v="918" actId="20577"/>
          <ac:spMkLst>
            <pc:docMk/>
            <pc:sldMk cId="1859181895" sldId="4399"/>
            <ac:spMk id="4" creationId="{0802B207-A4D1-E660-8D51-FEC7841BFB90}"/>
          </ac:spMkLst>
        </pc:spChg>
        <pc:picChg chg="mod">
          <ac:chgData name="Kolovich, Lisa" userId="705d1648-fc44-4335-a909-7bcc0ef9bfc0" providerId="ADAL" clId="{92F763A2-9C83-4598-AD83-C43573D893A8}" dt="2026-05-12T12:47:05.103" v="808" actId="14100"/>
          <ac:picMkLst>
            <pc:docMk/>
            <pc:sldMk cId="1859181895" sldId="4399"/>
            <ac:picMk id="5" creationId="{552AA1DE-1BF8-54EC-629B-B0629E90F47F}"/>
          </ac:picMkLst>
        </pc:picChg>
      </pc:sldChg>
      <pc:sldChg chg="addSp delSp modSp mod">
        <pc:chgData name="Kolovich, Lisa" userId="705d1648-fc44-4335-a909-7bcc0ef9bfc0" providerId="ADAL" clId="{92F763A2-9C83-4598-AD83-C43573D893A8}" dt="2026-05-12T00:21:59.992" v="33" actId="403"/>
        <pc:sldMkLst>
          <pc:docMk/>
          <pc:sldMk cId="3183794586" sldId="4403"/>
        </pc:sldMkLst>
        <pc:spChg chg="mod">
          <ac:chgData name="Kolovich, Lisa" userId="705d1648-fc44-4335-a909-7bcc0ef9bfc0" providerId="ADAL" clId="{92F763A2-9C83-4598-AD83-C43573D893A8}" dt="2026-05-12T00:21:56.560" v="32" actId="20577"/>
          <ac:spMkLst>
            <pc:docMk/>
            <pc:sldMk cId="3183794586" sldId="4403"/>
            <ac:spMk id="3" creationId="{C790976C-718D-5FEC-E598-7447E35E08A4}"/>
          </ac:spMkLst>
        </pc:spChg>
        <pc:spChg chg="mod">
          <ac:chgData name="Kolovich, Lisa" userId="705d1648-fc44-4335-a909-7bcc0ef9bfc0" providerId="ADAL" clId="{92F763A2-9C83-4598-AD83-C43573D893A8}" dt="2026-05-12T00:21:59.992" v="33" actId="403"/>
          <ac:spMkLst>
            <pc:docMk/>
            <pc:sldMk cId="3183794586" sldId="4403"/>
            <ac:spMk id="6" creationId="{B3869339-4F70-1F66-65E1-8FCC87F4A888}"/>
          </ac:spMkLst>
        </pc:spChg>
      </pc:sldChg>
      <pc:sldChg chg="addSp modSp mod">
        <pc:chgData name="Kolovich, Lisa" userId="705d1648-fc44-4335-a909-7bcc0ef9bfc0" providerId="ADAL" clId="{92F763A2-9C83-4598-AD83-C43573D893A8}" dt="2026-05-12T12:15:57.715" v="244" actId="5793"/>
        <pc:sldMkLst>
          <pc:docMk/>
          <pc:sldMk cId="3861211137" sldId="4438"/>
        </pc:sldMkLst>
        <pc:spChg chg="mod">
          <ac:chgData name="Kolovich, Lisa" userId="705d1648-fc44-4335-a909-7bcc0ef9bfc0" providerId="ADAL" clId="{92F763A2-9C83-4598-AD83-C43573D893A8}" dt="2026-05-12T12:15:57.715" v="244" actId="5793"/>
          <ac:spMkLst>
            <pc:docMk/>
            <pc:sldMk cId="3861211137" sldId="4438"/>
            <ac:spMk id="2" creationId="{8DA6D918-E7BA-D51C-8390-2CC4DD70572A}"/>
          </ac:spMkLst>
        </pc:spChg>
        <pc:spChg chg="add mod">
          <ac:chgData name="Kolovich, Lisa" userId="705d1648-fc44-4335-a909-7bcc0ef9bfc0" providerId="ADAL" clId="{92F763A2-9C83-4598-AD83-C43573D893A8}" dt="2026-05-12T12:14:44.874" v="239" actId="1076"/>
          <ac:spMkLst>
            <pc:docMk/>
            <pc:sldMk cId="3861211137" sldId="4438"/>
            <ac:spMk id="3" creationId="{B1B74A35-D9D6-C28A-7682-880E9175E45D}"/>
          </ac:spMkLst>
        </pc:spChg>
        <pc:spChg chg="mod">
          <ac:chgData name="Kolovich, Lisa" userId="705d1648-fc44-4335-a909-7bcc0ef9bfc0" providerId="ADAL" clId="{92F763A2-9C83-4598-AD83-C43573D893A8}" dt="2026-05-12T12:11:48.152" v="68" actId="1076"/>
          <ac:spMkLst>
            <pc:docMk/>
            <pc:sldMk cId="3861211137" sldId="4438"/>
            <ac:spMk id="4" creationId="{1ED871A6-8247-6CB7-7C6E-CCEF1E4F0A98}"/>
          </ac:spMkLst>
        </pc:spChg>
        <pc:spChg chg="mod">
          <ac:chgData name="Kolovich, Lisa" userId="705d1648-fc44-4335-a909-7bcc0ef9bfc0" providerId="ADAL" clId="{92F763A2-9C83-4598-AD83-C43573D893A8}" dt="2026-05-12T12:12:26.498" v="72" actId="14100"/>
          <ac:spMkLst>
            <pc:docMk/>
            <pc:sldMk cId="3861211137" sldId="4438"/>
            <ac:spMk id="12" creationId="{D7A2ADD5-8087-803C-DB39-D963A6AC5EE5}"/>
          </ac:spMkLst>
        </pc:spChg>
        <pc:spChg chg="mod">
          <ac:chgData name="Kolovich, Lisa" userId="705d1648-fc44-4335-a909-7bcc0ef9bfc0" providerId="ADAL" clId="{92F763A2-9C83-4598-AD83-C43573D893A8}" dt="2026-05-12T12:12:26.498" v="72" actId="14100"/>
          <ac:spMkLst>
            <pc:docMk/>
            <pc:sldMk cId="3861211137" sldId="4438"/>
            <ac:spMk id="14" creationId="{86413694-39A4-C05A-E9AB-EE806E2F8C6E}"/>
          </ac:spMkLst>
        </pc:spChg>
        <pc:picChg chg="mod">
          <ac:chgData name="Kolovich, Lisa" userId="705d1648-fc44-4335-a909-7bcc0ef9bfc0" providerId="ADAL" clId="{92F763A2-9C83-4598-AD83-C43573D893A8}" dt="2026-05-12T12:13:50.848" v="205" actId="1076"/>
          <ac:picMkLst>
            <pc:docMk/>
            <pc:sldMk cId="3861211137" sldId="4438"/>
            <ac:picMk id="9" creationId="{FDBA0F9D-0363-770E-B247-B9176A899490}"/>
          </ac:picMkLst>
        </pc:picChg>
        <pc:picChg chg="mod">
          <ac:chgData name="Kolovich, Lisa" userId="705d1648-fc44-4335-a909-7bcc0ef9bfc0" providerId="ADAL" clId="{92F763A2-9C83-4598-AD83-C43573D893A8}" dt="2026-05-12T12:12:26.498" v="72" actId="14100"/>
          <ac:picMkLst>
            <pc:docMk/>
            <pc:sldMk cId="3861211137" sldId="4438"/>
            <ac:picMk id="10" creationId="{B5438DCE-CC07-EB88-2583-7A9AA0F8A38D}"/>
          </ac:picMkLst>
        </pc:picChg>
        <pc:picChg chg="mod">
          <ac:chgData name="Kolovich, Lisa" userId="705d1648-fc44-4335-a909-7bcc0ef9bfc0" providerId="ADAL" clId="{92F763A2-9C83-4598-AD83-C43573D893A8}" dt="2026-05-12T12:11:43.280" v="67" actId="1076"/>
          <ac:picMkLst>
            <pc:docMk/>
            <pc:sldMk cId="3861211137" sldId="4438"/>
            <ac:picMk id="15" creationId="{8DFF4136-FF07-084D-B340-4596DCEFA080}"/>
          </ac:picMkLst>
        </pc:picChg>
      </pc:sldChg>
      <pc:sldChg chg="addSp modSp mod">
        <pc:chgData name="Kolovich, Lisa" userId="705d1648-fc44-4335-a909-7bcc0ef9bfc0" providerId="ADAL" clId="{92F763A2-9C83-4598-AD83-C43573D893A8}" dt="2026-05-12T12:26:07.154" v="454" actId="20577"/>
        <pc:sldMkLst>
          <pc:docMk/>
          <pc:sldMk cId="2721008554" sldId="4457"/>
        </pc:sldMkLst>
        <pc:spChg chg="mod">
          <ac:chgData name="Kolovich, Lisa" userId="705d1648-fc44-4335-a909-7bcc0ef9bfc0" providerId="ADAL" clId="{92F763A2-9C83-4598-AD83-C43573D893A8}" dt="2026-05-12T12:19:13.320" v="339" actId="1076"/>
          <ac:spMkLst>
            <pc:docMk/>
            <pc:sldMk cId="2721008554" sldId="4457"/>
            <ac:spMk id="2" creationId="{39529B2A-4410-09E9-BE8E-CCB145D76A60}"/>
          </ac:spMkLst>
        </pc:spChg>
        <pc:spChg chg="add mod">
          <ac:chgData name="Kolovich, Lisa" userId="705d1648-fc44-4335-a909-7bcc0ef9bfc0" providerId="ADAL" clId="{92F763A2-9C83-4598-AD83-C43573D893A8}" dt="2026-05-12T12:26:07.154" v="454" actId="20577"/>
          <ac:spMkLst>
            <pc:docMk/>
            <pc:sldMk cId="2721008554" sldId="4457"/>
            <ac:spMk id="4" creationId="{613949F4-5B30-88ED-044A-095577958069}"/>
          </ac:spMkLst>
        </pc:spChg>
        <pc:spChg chg="mod">
          <ac:chgData name="Kolovich, Lisa" userId="705d1648-fc44-4335-a909-7bcc0ef9bfc0" providerId="ADAL" clId="{92F763A2-9C83-4598-AD83-C43573D893A8}" dt="2026-05-12T12:22:12.053" v="369" actId="1037"/>
          <ac:spMkLst>
            <pc:docMk/>
            <pc:sldMk cId="2721008554" sldId="4457"/>
            <ac:spMk id="6" creationId="{DADCEF5F-33F0-BDCA-874C-222358ABE3AF}"/>
          </ac:spMkLst>
        </pc:spChg>
        <pc:spChg chg="mod">
          <ac:chgData name="Kolovich, Lisa" userId="705d1648-fc44-4335-a909-7bcc0ef9bfc0" providerId="ADAL" clId="{92F763A2-9C83-4598-AD83-C43573D893A8}" dt="2026-05-12T12:22:18.567" v="388" actId="1038"/>
          <ac:spMkLst>
            <pc:docMk/>
            <pc:sldMk cId="2721008554" sldId="4457"/>
            <ac:spMk id="7" creationId="{A666404E-F349-1B29-EB43-986F030B03E3}"/>
          </ac:spMkLst>
        </pc:spChg>
        <pc:graphicFrameChg chg="mod">
          <ac:chgData name="Kolovich, Lisa" userId="705d1648-fc44-4335-a909-7bcc0ef9bfc0" providerId="ADAL" clId="{92F763A2-9C83-4598-AD83-C43573D893A8}" dt="2026-05-12T12:20:42.950" v="360" actId="403"/>
          <ac:graphicFrameMkLst>
            <pc:docMk/>
            <pc:sldMk cId="2721008554" sldId="4457"/>
            <ac:graphicFrameMk id="3" creationId="{78CDFCA0-7F9A-AAD1-D4D7-81C42C4DF13D}"/>
          </ac:graphicFrameMkLst>
        </pc:graphicFrameChg>
        <pc:graphicFrameChg chg="mod">
          <ac:chgData name="Kolovich, Lisa" userId="705d1648-fc44-4335-a909-7bcc0ef9bfc0" providerId="ADAL" clId="{92F763A2-9C83-4598-AD83-C43573D893A8}" dt="2026-05-12T12:20:37.611" v="358"/>
          <ac:graphicFrameMkLst>
            <pc:docMk/>
            <pc:sldMk cId="2721008554" sldId="4457"/>
            <ac:graphicFrameMk id="13" creationId="{31CABFFC-6E29-D82D-BE8B-BFDBC1C82B63}"/>
          </ac:graphicFrameMkLst>
        </pc:graphicFrameChg>
      </pc:sldChg>
      <pc:sldChg chg="modSp mod ord">
        <pc:chgData name="Kolovich, Lisa" userId="705d1648-fc44-4335-a909-7bcc0ef9bfc0" providerId="ADAL" clId="{92F763A2-9C83-4598-AD83-C43573D893A8}" dt="2026-05-20T21:33:04.852" v="1716" actId="1076"/>
        <pc:sldMkLst>
          <pc:docMk/>
          <pc:sldMk cId="1305749817" sldId="4460"/>
        </pc:sldMkLst>
        <pc:spChg chg="mod">
          <ac:chgData name="Kolovich, Lisa" userId="705d1648-fc44-4335-a909-7bcc0ef9bfc0" providerId="ADAL" clId="{92F763A2-9C83-4598-AD83-C43573D893A8}" dt="2026-05-20T21:33:04.852" v="1716" actId="1076"/>
          <ac:spMkLst>
            <pc:docMk/>
            <pc:sldMk cId="1305749817" sldId="4460"/>
            <ac:spMk id="22" creationId="{17625EF5-2AF6-350A-A4E4-0A6749259A03}"/>
          </ac:spMkLst>
        </pc:spChg>
        <pc:picChg chg="mod">
          <ac:chgData name="Kolovich, Lisa" userId="705d1648-fc44-4335-a909-7bcc0ef9bfc0" providerId="ADAL" clId="{92F763A2-9C83-4598-AD83-C43573D893A8}" dt="2026-05-20T21:33:01.664" v="1715" actId="14100"/>
          <ac:picMkLst>
            <pc:docMk/>
            <pc:sldMk cId="1305749817" sldId="4460"/>
            <ac:picMk id="6" creationId="{0E35EB85-8991-1BE2-C53B-CA50C4171B50}"/>
          </ac:picMkLst>
        </pc:picChg>
      </pc:sldChg>
      <pc:sldChg chg="addSp delSp modSp mod">
        <pc:chgData name="Kolovich, Lisa" userId="705d1648-fc44-4335-a909-7bcc0ef9bfc0" providerId="ADAL" clId="{92F763A2-9C83-4598-AD83-C43573D893A8}" dt="2026-05-12T12:26:30.334" v="456" actId="478"/>
        <pc:sldMkLst>
          <pc:docMk/>
          <pc:sldMk cId="41388489" sldId="4461"/>
        </pc:sldMkLst>
        <pc:spChg chg="mod">
          <ac:chgData name="Kolovich, Lisa" userId="705d1648-fc44-4335-a909-7bcc0ef9bfc0" providerId="ADAL" clId="{92F763A2-9C83-4598-AD83-C43573D893A8}" dt="2026-05-12T12:18:08.692" v="272" actId="5793"/>
          <ac:spMkLst>
            <pc:docMk/>
            <pc:sldMk cId="41388489" sldId="4461"/>
            <ac:spMk id="2" creationId="{AF51AB01-5DFE-0205-971E-2C6938D5579A}"/>
          </ac:spMkLst>
        </pc:spChg>
        <pc:graphicFrameChg chg="mod">
          <ac:chgData name="Kolovich, Lisa" userId="705d1648-fc44-4335-a909-7bcc0ef9bfc0" providerId="ADAL" clId="{92F763A2-9C83-4598-AD83-C43573D893A8}" dt="2026-05-12T12:16:17.361" v="263" actId="1076"/>
          <ac:graphicFrameMkLst>
            <pc:docMk/>
            <pc:sldMk cId="41388489" sldId="4461"/>
            <ac:graphicFrameMk id="4" creationId="{4EA37FF6-6D36-A652-347E-803ED3130514}"/>
          </ac:graphicFrameMkLst>
        </pc:graphicFrameChg>
        <pc:graphicFrameChg chg="mod">
          <ac:chgData name="Kolovich, Lisa" userId="705d1648-fc44-4335-a909-7bcc0ef9bfc0" providerId="ADAL" clId="{92F763A2-9C83-4598-AD83-C43573D893A8}" dt="2026-05-12T12:16:57.454" v="265" actId="692"/>
          <ac:graphicFrameMkLst>
            <pc:docMk/>
            <pc:sldMk cId="41388489" sldId="4461"/>
            <ac:graphicFrameMk id="6" creationId="{13EA757A-295E-033F-10C1-BB04B34C61E0}"/>
          </ac:graphicFrameMkLst>
        </pc:graphicFrameChg>
      </pc:sldChg>
      <pc:sldChg chg="modSp mod">
        <pc:chgData name="Kolovich, Lisa" userId="705d1648-fc44-4335-a909-7bcc0ef9bfc0" providerId="ADAL" clId="{92F763A2-9C83-4598-AD83-C43573D893A8}" dt="2026-05-12T12:18:15.254" v="282" actId="20577"/>
        <pc:sldMkLst>
          <pc:docMk/>
          <pc:sldMk cId="1665450809" sldId="4462"/>
        </pc:sldMkLst>
        <pc:spChg chg="mod">
          <ac:chgData name="Kolovich, Lisa" userId="705d1648-fc44-4335-a909-7bcc0ef9bfc0" providerId="ADAL" clId="{92F763A2-9C83-4598-AD83-C43573D893A8}" dt="2026-05-12T12:18:15.254" v="282" actId="20577"/>
          <ac:spMkLst>
            <pc:docMk/>
            <pc:sldMk cId="1665450809" sldId="4462"/>
            <ac:spMk id="2" creationId="{2D41BCBD-AC1E-397E-741E-29F6C6193D78}"/>
          </ac:spMkLst>
        </pc:spChg>
        <pc:graphicFrameChg chg="mod">
          <ac:chgData name="Kolovich, Lisa" userId="705d1648-fc44-4335-a909-7bcc0ef9bfc0" providerId="ADAL" clId="{92F763A2-9C83-4598-AD83-C43573D893A8}" dt="2026-05-12T12:17:49.333" v="267" actId="1076"/>
          <ac:graphicFrameMkLst>
            <pc:docMk/>
            <pc:sldMk cId="1665450809" sldId="4462"/>
            <ac:graphicFrameMk id="4" creationId="{D55CE6C6-6C1F-7864-C9A1-E8233E29D820}"/>
          </ac:graphicFrameMkLst>
        </pc:graphicFrameChg>
      </pc:sldChg>
      <pc:sldChg chg="addSp delSp modSp add mod">
        <pc:chgData name="Kolovich, Lisa" userId="705d1648-fc44-4335-a909-7bcc0ef9bfc0" providerId="ADAL" clId="{92F763A2-9C83-4598-AD83-C43573D893A8}" dt="2026-05-12T12:51:27.848" v="1159"/>
        <pc:sldMkLst>
          <pc:docMk/>
          <pc:sldMk cId="1486223575" sldId="4480"/>
        </pc:sldMkLst>
        <pc:spChg chg="mod">
          <ac:chgData name="Kolovich, Lisa" userId="705d1648-fc44-4335-a909-7bcc0ef9bfc0" providerId="ADAL" clId="{92F763A2-9C83-4598-AD83-C43573D893A8}" dt="2026-05-12T12:44:06.299" v="774" actId="1076"/>
          <ac:spMkLst>
            <pc:docMk/>
            <pc:sldMk cId="1486223575" sldId="4480"/>
            <ac:spMk id="2" creationId="{3895B3D3-1492-7B81-FB11-35141B2B0163}"/>
          </ac:spMkLst>
        </pc:spChg>
        <pc:spChg chg="mod">
          <ac:chgData name="Kolovich, Lisa" userId="705d1648-fc44-4335-a909-7bcc0ef9bfc0" providerId="ADAL" clId="{92F763A2-9C83-4598-AD83-C43573D893A8}" dt="2026-05-12T12:50:29.700" v="1135" actId="403"/>
          <ac:spMkLst>
            <pc:docMk/>
            <pc:sldMk cId="1486223575" sldId="4480"/>
            <ac:spMk id="3" creationId="{E17B5BA1-2C3A-1304-DE61-F920FB1EADE3}"/>
          </ac:spMkLst>
        </pc:spChg>
        <pc:spChg chg="add mod">
          <ac:chgData name="Kolovich, Lisa" userId="705d1648-fc44-4335-a909-7bcc0ef9bfc0" providerId="ADAL" clId="{92F763A2-9C83-4598-AD83-C43573D893A8}" dt="2026-05-12T12:51:23.048" v="1155" actId="404"/>
          <ac:spMkLst>
            <pc:docMk/>
            <pc:sldMk cId="1486223575" sldId="4480"/>
            <ac:spMk id="14" creationId="{28028E7F-51B7-0F29-0386-D9811867E739}"/>
          </ac:spMkLst>
        </pc:spChg>
        <pc:picChg chg="add mod">
          <ac:chgData name="Kolovich, Lisa" userId="705d1648-fc44-4335-a909-7bcc0ef9bfc0" providerId="ADAL" clId="{92F763A2-9C83-4598-AD83-C43573D893A8}" dt="2026-05-12T12:47:50.069" v="825" actId="26606"/>
          <ac:picMkLst>
            <pc:docMk/>
            <pc:sldMk cId="1486223575" sldId="4480"/>
            <ac:picMk id="7" creationId="{670F55B6-1F19-4E50-621B-B27873154400}"/>
          </ac:picMkLst>
        </pc:picChg>
      </pc:sldChg>
      <pc:sldChg chg="addSp delSp modSp add mod">
        <pc:chgData name="Kolovich, Lisa" userId="705d1648-fc44-4335-a909-7bcc0ef9bfc0" providerId="ADAL" clId="{92F763A2-9C83-4598-AD83-C43573D893A8}" dt="2026-05-12T13:21:08.515" v="1668" actId="26606"/>
        <pc:sldMkLst>
          <pc:docMk/>
          <pc:sldMk cId="621655820" sldId="4481"/>
        </pc:sldMkLst>
        <pc:spChg chg="mod">
          <ac:chgData name="Kolovich, Lisa" userId="705d1648-fc44-4335-a909-7bcc0ef9bfc0" providerId="ADAL" clId="{92F763A2-9C83-4598-AD83-C43573D893A8}" dt="2026-05-12T12:54:38.604" v="1415" actId="20577"/>
          <ac:spMkLst>
            <pc:docMk/>
            <pc:sldMk cId="621655820" sldId="4481"/>
            <ac:spMk id="2" creationId="{853285DF-6894-15DD-CC8E-4857B5DFCB2A}"/>
          </ac:spMkLst>
        </pc:spChg>
        <pc:spChg chg="mod">
          <ac:chgData name="Kolovich, Lisa" userId="705d1648-fc44-4335-a909-7bcc0ef9bfc0" providerId="ADAL" clId="{92F763A2-9C83-4598-AD83-C43573D893A8}" dt="2026-05-12T12:59:25.989" v="1441" actId="1076"/>
          <ac:spMkLst>
            <pc:docMk/>
            <pc:sldMk cId="621655820" sldId="4481"/>
            <ac:spMk id="14" creationId="{CA8DE7CE-A7AB-8341-FCA7-F6A0273EE18C}"/>
          </ac:spMkLst>
        </pc:spChg>
        <pc:spChg chg="add">
          <ac:chgData name="Kolovich, Lisa" userId="705d1648-fc44-4335-a909-7bcc0ef9bfc0" providerId="ADAL" clId="{92F763A2-9C83-4598-AD83-C43573D893A8}" dt="2026-05-12T13:21:08.515" v="1668" actId="26606"/>
          <ac:spMkLst>
            <pc:docMk/>
            <pc:sldMk cId="621655820" sldId="4481"/>
            <ac:spMk id="20" creationId="{00000000-0000-0000-0000-000000000000}"/>
          </ac:spMkLst>
        </pc:spChg>
        <pc:picChg chg="add mod">
          <ac:chgData name="Kolovich, Lisa" userId="705d1648-fc44-4335-a909-7bcc0ef9bfc0" providerId="ADAL" clId="{92F763A2-9C83-4598-AD83-C43573D893A8}" dt="2026-05-12T13:21:08.515" v="1668" actId="26606"/>
          <ac:picMkLst>
            <pc:docMk/>
            <pc:sldMk cId="621655820" sldId="4481"/>
            <ac:picMk id="9" creationId="{5E69A9FF-DCB2-D509-89B6-D36C3D7E11BF}"/>
          </ac:picMkLst>
        </pc:picChg>
      </pc:sldChg>
      <pc:sldChg chg="addSp delSp modSp add mod">
        <pc:chgData name="Kolovich, Lisa" userId="705d1648-fc44-4335-a909-7bcc0ef9bfc0" providerId="ADAL" clId="{92F763A2-9C83-4598-AD83-C43573D893A8}" dt="2026-05-12T13:19:31.295" v="1667" actId="1076"/>
        <pc:sldMkLst>
          <pc:docMk/>
          <pc:sldMk cId="3535085956" sldId="4482"/>
        </pc:sldMkLst>
        <pc:spChg chg="mod">
          <ac:chgData name="Kolovich, Lisa" userId="705d1648-fc44-4335-a909-7bcc0ef9bfc0" providerId="ADAL" clId="{92F763A2-9C83-4598-AD83-C43573D893A8}" dt="2026-05-12T13:19:25.450" v="1666" actId="6549"/>
          <ac:spMkLst>
            <pc:docMk/>
            <pc:sldMk cId="3535085956" sldId="4482"/>
            <ac:spMk id="2" creationId="{67FFF59B-8775-12EB-79A1-97407206E661}"/>
          </ac:spMkLst>
        </pc:spChg>
        <pc:spChg chg="add mod">
          <ac:chgData name="Kolovich, Lisa" userId="705d1648-fc44-4335-a909-7bcc0ef9bfc0" providerId="ADAL" clId="{92F763A2-9C83-4598-AD83-C43573D893A8}" dt="2026-05-12T13:19:31.295" v="1667" actId="1076"/>
          <ac:spMkLst>
            <pc:docMk/>
            <pc:sldMk cId="3535085956" sldId="4482"/>
            <ac:spMk id="5" creationId="{30FEB97C-D18A-3203-02AC-E003960B36E2}"/>
          </ac:spMkLst>
        </pc:spChg>
        <pc:spChg chg="mod">
          <ac:chgData name="Kolovich, Lisa" userId="705d1648-fc44-4335-a909-7bcc0ef9bfc0" providerId="ADAL" clId="{92F763A2-9C83-4598-AD83-C43573D893A8}" dt="2026-05-12T13:14:01.298" v="1450"/>
          <ac:spMkLst>
            <pc:docMk/>
            <pc:sldMk cId="3535085956" sldId="4482"/>
            <ac:spMk id="14" creationId="{C522985D-4CC0-3A6E-F0BF-CB53D0F48D9E}"/>
          </ac:spMkLst>
        </pc:spChg>
        <pc:picChg chg="add mod">
          <ac:chgData name="Kolovich, Lisa" userId="705d1648-fc44-4335-a909-7bcc0ef9bfc0" providerId="ADAL" clId="{92F763A2-9C83-4598-AD83-C43573D893A8}" dt="2026-05-12T13:14:19.290" v="1455" actId="1076"/>
          <ac:picMkLst>
            <pc:docMk/>
            <pc:sldMk cId="3535085956" sldId="4482"/>
            <ac:picMk id="4" creationId="{5E3F3468-C8E2-9DDE-AC5E-842F7DA40AFA}"/>
          </ac:picMkLst>
        </pc:picChg>
      </pc:sldChg>
      <pc:sldChg chg="addSp delSp modSp new mod">
        <pc:chgData name="Kolovich, Lisa" userId="705d1648-fc44-4335-a909-7bcc0ef9bfc0" providerId="ADAL" clId="{92F763A2-9C83-4598-AD83-C43573D893A8}" dt="2026-05-20T21:31:50.213" v="1699" actId="1076"/>
        <pc:sldMkLst>
          <pc:docMk/>
          <pc:sldMk cId="2784210801" sldId="4483"/>
        </pc:sldMkLst>
        <pc:spChg chg="mod">
          <ac:chgData name="Kolovich, Lisa" userId="705d1648-fc44-4335-a909-7bcc0ef9bfc0" providerId="ADAL" clId="{92F763A2-9C83-4598-AD83-C43573D893A8}" dt="2026-05-20T21:22:52.427" v="1690"/>
          <ac:spMkLst>
            <pc:docMk/>
            <pc:sldMk cId="2784210801" sldId="4483"/>
            <ac:spMk id="2" creationId="{4C728095-3BF9-73A8-B12F-71B1219DB286}"/>
          </ac:spMkLst>
        </pc:spChg>
        <pc:spChg chg="del">
          <ac:chgData name="Kolovich, Lisa" userId="705d1648-fc44-4335-a909-7bcc0ef9bfc0" providerId="ADAL" clId="{92F763A2-9C83-4598-AD83-C43573D893A8}" dt="2026-05-20T21:23:37.161" v="1691" actId="478"/>
          <ac:spMkLst>
            <pc:docMk/>
            <pc:sldMk cId="2784210801" sldId="4483"/>
            <ac:spMk id="3" creationId="{AF479188-9F98-4280-1CD4-F0E70F275596}"/>
          </ac:spMkLst>
        </pc:spChg>
        <pc:picChg chg="add del mod">
          <ac:chgData name="Kolovich, Lisa" userId="705d1648-fc44-4335-a909-7bcc0ef9bfc0" providerId="ADAL" clId="{92F763A2-9C83-4598-AD83-C43573D893A8}" dt="2026-05-20T21:31:47.663" v="1698" actId="478"/>
          <ac:picMkLst>
            <pc:docMk/>
            <pc:sldMk cId="2784210801" sldId="4483"/>
            <ac:picMk id="5" creationId="{31B4299A-0930-5329-2456-CAD9BCBF403B}"/>
          </ac:picMkLst>
        </pc:picChg>
        <pc:picChg chg="add mod">
          <ac:chgData name="Kolovich, Lisa" userId="705d1648-fc44-4335-a909-7bcc0ef9bfc0" providerId="ADAL" clId="{92F763A2-9C83-4598-AD83-C43573D893A8}" dt="2026-05-20T21:31:50.213" v="1699" actId="1076"/>
          <ac:picMkLst>
            <pc:docMk/>
            <pc:sldMk cId="2784210801" sldId="4483"/>
            <ac:picMk id="7" creationId="{8FDD2A92-F636-F086-AE14-C68B67326507}"/>
          </ac:picMkLst>
        </pc:picChg>
      </pc:sldChg>
      <pc:sldChg chg="modSp add mod">
        <pc:chgData name="Kolovich, Lisa" userId="705d1648-fc44-4335-a909-7bcc0ef9bfc0" providerId="ADAL" clId="{92F763A2-9C83-4598-AD83-C43573D893A8}" dt="2026-05-20T21:32:19.345" v="1712" actId="20577"/>
        <pc:sldMkLst>
          <pc:docMk/>
          <pc:sldMk cId="3948813393" sldId="4484"/>
        </pc:sldMkLst>
        <pc:spChg chg="mod">
          <ac:chgData name="Kolovich, Lisa" userId="705d1648-fc44-4335-a909-7bcc0ef9bfc0" providerId="ADAL" clId="{92F763A2-9C83-4598-AD83-C43573D893A8}" dt="2026-05-20T21:32:19.345" v="1712" actId="20577"/>
          <ac:spMkLst>
            <pc:docMk/>
            <pc:sldMk cId="3948813393" sldId="4484"/>
            <ac:spMk id="2" creationId="{31BB39AE-8752-2D09-4DB5-790F7399CA4E}"/>
          </ac:spMkLst>
        </pc:spChg>
      </pc:sldChg>
    </pc:docChg>
  </pc:docChgLst>
  <pc:docChgLst>
    <pc:chgData name="Kolovich, Lisa" userId="S::lkolovich@imf.org::705d1648-fc44-4335-a909-7bcc0ef9bfc0" providerId="AD" clId="Web-{8BA79B51-7D67-E8F3-7384-F6A24E2D4C75}"/>
    <pc:docChg chg="modSld">
      <pc:chgData name="Kolovich, Lisa" userId="S::lkolovich@imf.org::705d1648-fc44-4335-a909-7bcc0ef9bfc0" providerId="AD" clId="Web-{8BA79B51-7D67-E8F3-7384-F6A24E2D4C75}" dt="2026-05-12T00:21:10.741" v="1"/>
      <pc:docMkLst>
        <pc:docMk/>
      </pc:docMkLst>
      <pc:sldChg chg="modSp">
        <pc:chgData name="Kolovich, Lisa" userId="S::lkolovich@imf.org::705d1648-fc44-4335-a909-7bcc0ef9bfc0" providerId="AD" clId="Web-{8BA79B51-7D67-E8F3-7384-F6A24E2D4C75}" dt="2026-05-12T00:21:10.741" v="1"/>
        <pc:sldMkLst>
          <pc:docMk/>
          <pc:sldMk cId="3183794586" sldId="4403"/>
        </pc:sldMkLst>
        <pc:spChg chg="mod">
          <ac:chgData name="Kolovich, Lisa" userId="S::lkolovich@imf.org::705d1648-fc44-4335-a909-7bcc0ef9bfc0" providerId="AD" clId="Web-{8BA79B51-7D67-E8F3-7384-F6A24E2D4C75}" dt="2026-05-12T00:21:10.741" v="1"/>
          <ac:spMkLst>
            <pc:docMk/>
            <pc:sldMk cId="3183794586" sldId="4403"/>
            <ac:spMk id="6" creationId="{B3869339-4F70-1F66-65E1-8FCC87F4A888}"/>
          </ac:spMkLst>
        </pc:spChg>
      </pc:sldChg>
    </pc:docChg>
  </pc:docChgLst>
  <pc:docChgLst>
    <pc:chgData name="Kolovich, Lisa" userId="S::lkolovich@imf.org::705d1648-fc44-4335-a909-7bcc0ef9bfc0" providerId="AD" clId="Web-{B4809B13-C599-7F65-D19D-1018BD98BDD0}"/>
    <pc:docChg chg="addSld delSld modSection">
      <pc:chgData name="Kolovich, Lisa" userId="S::lkolovich@imf.org::705d1648-fc44-4335-a909-7bcc0ef9bfc0" providerId="AD" clId="Web-{B4809B13-C599-7F65-D19D-1018BD98BDD0}" dt="2026-05-21T14:21:10.509" v="2"/>
      <pc:docMkLst>
        <pc:docMk/>
      </pc:docMkLst>
      <pc:sldChg chg="del">
        <pc:chgData name="Kolovich, Lisa" userId="S::lkolovich@imf.org::705d1648-fc44-4335-a909-7bcc0ef9bfc0" providerId="AD" clId="Web-{B4809B13-C599-7F65-D19D-1018BD98BDD0}" dt="2026-05-21T14:20:54.851" v="1"/>
        <pc:sldMkLst>
          <pc:docMk/>
          <pc:sldMk cId="1859181895" sldId="4399"/>
        </pc:sldMkLst>
      </pc:sldChg>
      <pc:sldChg chg="add del">
        <pc:chgData name="Kolovich, Lisa" userId="S::lkolovich@imf.org::705d1648-fc44-4335-a909-7bcc0ef9bfc0" providerId="AD" clId="Web-{B4809B13-C599-7F65-D19D-1018BD98BDD0}" dt="2026-05-21T14:21:10.509" v="2"/>
        <pc:sldMkLst>
          <pc:docMk/>
          <pc:sldMk cId="2989097712" sldId="4485"/>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chartUserShapes" Target="../drawings/drawing1.xml"/><Relationship Id="rId2" Type="http://schemas.openxmlformats.org/officeDocument/2006/relationships/oleObject" Target="https://intlmonetaryfund.sharepoint.com/teams/SPRAIIG/Shared%20Documents/General/IMF%20Policy%20Papers/2024%20Gender%20Progress%20Report/4.%20Gender%20and%20Demography/Charts/Figure%201%20Charts%201%203%205%20dependency_ratios_oldyoung-formatted.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3" Type="http://schemas.openxmlformats.org/officeDocument/2006/relationships/chartUserShapes" Target="../drawings/drawing2.xml"/><Relationship Id="rId2" Type="http://schemas.openxmlformats.org/officeDocument/2006/relationships/oleObject" Target="https://intlmonetaryfund.sharepoint.com/teams/SPRAIIG/Shared%20Documents/General/IMF%20Policy%20Papers/2024%20Gender%20Progress%20Report/4.%20Gender%20and%20Demography/Charts/Figure%201%20Charts%201%203%205%20dependency_ratios_oldyoung-formatted.xlsx" TargetMode="External"/><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3" Type="http://schemas.openxmlformats.org/officeDocument/2006/relationships/chartUserShapes" Target="../drawings/drawing3.xml"/><Relationship Id="rId2" Type="http://schemas.openxmlformats.org/officeDocument/2006/relationships/oleObject" Target="https://intlmonetaryfund.sharepoint.com/teams/SPRAIIG/Shared%20Documents/General/IMF%20Policy%20Papers/2024%20Gender%20Progress%20Report/4.%20Gender%20and%20Demography/Charts/Figure%201%20Charts%201%203%205%20dependency_ratios_oldyoung-formatted.xlsx" TargetMode="External"/><Relationship Id="rId1" Type="http://schemas.openxmlformats.org/officeDocument/2006/relationships/themeOverride" Target="../theme/themeOverrid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jgu\AppData\Local\Microsoft\Windows\INetCache\Content.Outlook\H8E1CX2B\OutputGainsPopulationGrowthWAP_Toolkit_SDNcharts_v1.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jgu\AppData\Local\Microsoft\Windows\INetCache\Content.Outlook\H8E1CX2B\OutputGainsPopulationGrowthWAP_Toolkit_SDNcharts_v1.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xMode val="edge"/>
          <c:yMode val="edge"/>
          <c:x val="2.8056713406100674E-2"/>
          <c:y val="0.13640828476250291"/>
          <c:w val="0.93669999999999987"/>
          <c:h val="0.78739999999999999"/>
        </c:manualLayout>
      </c:layout>
      <c:lineChart>
        <c:grouping val="standard"/>
        <c:varyColors val="0"/>
        <c:ser>
          <c:idx val="0"/>
          <c:order val="0"/>
          <c:tx>
            <c:strRef>
              <c:f>'[Figure 1 Charts 1 3 5 dependency_ratios_oldyoung-formatted.xlsx]ae_em_old'!$D$2</c:f>
              <c:strCache>
                <c:ptCount val="1"/>
                <c:pt idx="0">
                  <c:v>Medium fertility</c:v>
                </c:pt>
              </c:strCache>
            </c:strRef>
          </c:tx>
          <c:spPr>
            <a:ln w="38100">
              <a:solidFill>
                <a:sysClr val="windowText" lastClr="000000"/>
              </a:solidFill>
              <a:prstDash val="solid"/>
            </a:ln>
            <a:effectLst/>
          </c:spPr>
          <c:marker>
            <c:symbol val="none"/>
          </c:marker>
          <c:cat>
            <c:numRef>
              <c:f>'[Figure 1 Charts 1 3 5 dependency_ratios_oldyoung-formatted.xlsx]ae_em_old'!$B$63:$B$153</c:f>
              <c:numCache>
                <c:formatCode>General</c:formatCode>
                <c:ptCount val="9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pt idx="41">
                  <c:v>2051</c:v>
                </c:pt>
                <c:pt idx="42">
                  <c:v>2052</c:v>
                </c:pt>
                <c:pt idx="43">
                  <c:v>2053</c:v>
                </c:pt>
                <c:pt idx="44">
                  <c:v>2054</c:v>
                </c:pt>
                <c:pt idx="45">
                  <c:v>2055</c:v>
                </c:pt>
                <c:pt idx="46">
                  <c:v>2056</c:v>
                </c:pt>
                <c:pt idx="47">
                  <c:v>2057</c:v>
                </c:pt>
                <c:pt idx="48">
                  <c:v>2058</c:v>
                </c:pt>
                <c:pt idx="49">
                  <c:v>2059</c:v>
                </c:pt>
                <c:pt idx="50">
                  <c:v>2060</c:v>
                </c:pt>
                <c:pt idx="51">
                  <c:v>2061</c:v>
                </c:pt>
                <c:pt idx="52">
                  <c:v>2062</c:v>
                </c:pt>
                <c:pt idx="53">
                  <c:v>2063</c:v>
                </c:pt>
                <c:pt idx="54">
                  <c:v>2064</c:v>
                </c:pt>
                <c:pt idx="55">
                  <c:v>2065</c:v>
                </c:pt>
                <c:pt idx="56">
                  <c:v>2066</c:v>
                </c:pt>
                <c:pt idx="57">
                  <c:v>2067</c:v>
                </c:pt>
                <c:pt idx="58">
                  <c:v>2068</c:v>
                </c:pt>
                <c:pt idx="59">
                  <c:v>2069</c:v>
                </c:pt>
                <c:pt idx="60">
                  <c:v>2070</c:v>
                </c:pt>
                <c:pt idx="61">
                  <c:v>2071</c:v>
                </c:pt>
                <c:pt idx="62">
                  <c:v>2072</c:v>
                </c:pt>
                <c:pt idx="63">
                  <c:v>2073</c:v>
                </c:pt>
                <c:pt idx="64">
                  <c:v>2074</c:v>
                </c:pt>
                <c:pt idx="65">
                  <c:v>2075</c:v>
                </c:pt>
                <c:pt idx="66">
                  <c:v>2076</c:v>
                </c:pt>
                <c:pt idx="67">
                  <c:v>2077</c:v>
                </c:pt>
                <c:pt idx="68">
                  <c:v>2078</c:v>
                </c:pt>
                <c:pt idx="69">
                  <c:v>2079</c:v>
                </c:pt>
                <c:pt idx="70">
                  <c:v>2080</c:v>
                </c:pt>
                <c:pt idx="71">
                  <c:v>2081</c:v>
                </c:pt>
                <c:pt idx="72">
                  <c:v>2082</c:v>
                </c:pt>
                <c:pt idx="73">
                  <c:v>2083</c:v>
                </c:pt>
                <c:pt idx="74">
                  <c:v>2084</c:v>
                </c:pt>
                <c:pt idx="75">
                  <c:v>2085</c:v>
                </c:pt>
                <c:pt idx="76">
                  <c:v>2086</c:v>
                </c:pt>
                <c:pt idx="77">
                  <c:v>2087</c:v>
                </c:pt>
                <c:pt idx="78">
                  <c:v>2088</c:v>
                </c:pt>
                <c:pt idx="79">
                  <c:v>2089</c:v>
                </c:pt>
                <c:pt idx="80">
                  <c:v>2090</c:v>
                </c:pt>
                <c:pt idx="81">
                  <c:v>2091</c:v>
                </c:pt>
                <c:pt idx="82">
                  <c:v>2092</c:v>
                </c:pt>
                <c:pt idx="83">
                  <c:v>2093</c:v>
                </c:pt>
                <c:pt idx="84">
                  <c:v>2094</c:v>
                </c:pt>
                <c:pt idx="85">
                  <c:v>2095</c:v>
                </c:pt>
                <c:pt idx="86">
                  <c:v>2096</c:v>
                </c:pt>
                <c:pt idx="87">
                  <c:v>2097</c:v>
                </c:pt>
                <c:pt idx="88">
                  <c:v>2098</c:v>
                </c:pt>
                <c:pt idx="89">
                  <c:v>2099</c:v>
                </c:pt>
                <c:pt idx="90">
                  <c:v>2100</c:v>
                </c:pt>
              </c:numCache>
            </c:numRef>
          </c:cat>
          <c:val>
            <c:numRef>
              <c:f>'[Figure 1 Charts 1 3 5 dependency_ratios_oldyoung-formatted.xlsx]ae_em_old'!$D$63:$D$153</c:f>
              <c:numCache>
                <c:formatCode>General</c:formatCode>
                <c:ptCount val="91"/>
                <c:pt idx="0">
                  <c:v>22.5128947368421</c:v>
                </c:pt>
                <c:pt idx="1">
                  <c:v>22.997894736842099</c:v>
                </c:pt>
                <c:pt idx="2">
                  <c:v>23.612631578947401</c:v>
                </c:pt>
                <c:pt idx="3">
                  <c:v>24.268105263157899</c:v>
                </c:pt>
                <c:pt idx="4">
                  <c:v>24.918447368421099</c:v>
                </c:pt>
                <c:pt idx="5">
                  <c:v>25.529552631578898</c:v>
                </c:pt>
                <c:pt idx="6">
                  <c:v>26.120473684210499</c:v>
                </c:pt>
                <c:pt idx="7">
                  <c:v>26.720447368421102</c:v>
                </c:pt>
                <c:pt idx="8">
                  <c:v>27.316236842105301</c:v>
                </c:pt>
                <c:pt idx="9">
                  <c:v>27.930315789473699</c:v>
                </c:pt>
                <c:pt idx="10">
                  <c:v>28.5625</c:v>
                </c:pt>
                <c:pt idx="11">
                  <c:v>29.196052631578901</c:v>
                </c:pt>
                <c:pt idx="12">
                  <c:v>29.850078947368399</c:v>
                </c:pt>
                <c:pt idx="13">
                  <c:v>30.577263157894699</c:v>
                </c:pt>
                <c:pt idx="14">
                  <c:v>31.3736315789474</c:v>
                </c:pt>
                <c:pt idx="15">
                  <c:v>32.199736842105303</c:v>
                </c:pt>
                <c:pt idx="16">
                  <c:v>33.045842105263198</c:v>
                </c:pt>
                <c:pt idx="17">
                  <c:v>33.899605263157902</c:v>
                </c:pt>
                <c:pt idx="18">
                  <c:v>34.7728684210526</c:v>
                </c:pt>
                <c:pt idx="19">
                  <c:v>35.668578947368403</c:v>
                </c:pt>
                <c:pt idx="20">
                  <c:v>36.548131578947398</c:v>
                </c:pt>
                <c:pt idx="21">
                  <c:v>37.374368421052601</c:v>
                </c:pt>
                <c:pt idx="22">
                  <c:v>38.170999999999999</c:v>
                </c:pt>
                <c:pt idx="23">
                  <c:v>38.9674210526316</c:v>
                </c:pt>
                <c:pt idx="24">
                  <c:v>39.765157894736802</c:v>
                </c:pt>
                <c:pt idx="25">
                  <c:v>40.571921052631602</c:v>
                </c:pt>
                <c:pt idx="26">
                  <c:v>41.391815789473704</c:v>
                </c:pt>
                <c:pt idx="27">
                  <c:v>42.201394736842097</c:v>
                </c:pt>
                <c:pt idx="28">
                  <c:v>42.976736842105304</c:v>
                </c:pt>
                <c:pt idx="29">
                  <c:v>43.740447368421101</c:v>
                </c:pt>
                <c:pt idx="30">
                  <c:v>44.494394736842096</c:v>
                </c:pt>
                <c:pt idx="31">
                  <c:v>45.222473684210499</c:v>
                </c:pt>
                <c:pt idx="32">
                  <c:v>45.931736842105302</c:v>
                </c:pt>
                <c:pt idx="33">
                  <c:v>46.632815789473703</c:v>
                </c:pt>
                <c:pt idx="34">
                  <c:v>47.352868421052598</c:v>
                </c:pt>
                <c:pt idx="35">
                  <c:v>48.104868421052601</c:v>
                </c:pt>
                <c:pt idx="36">
                  <c:v>48.850868421052603</c:v>
                </c:pt>
                <c:pt idx="37">
                  <c:v>49.581105263157902</c:v>
                </c:pt>
                <c:pt idx="38">
                  <c:v>50.301789473684202</c:v>
                </c:pt>
                <c:pt idx="39">
                  <c:v>50.994657894736797</c:v>
                </c:pt>
                <c:pt idx="40">
                  <c:v>51.6633157894737</c:v>
                </c:pt>
                <c:pt idx="41">
                  <c:v>52.320763157894703</c:v>
                </c:pt>
                <c:pt idx="42">
                  <c:v>52.9782894736842</c:v>
                </c:pt>
                <c:pt idx="43">
                  <c:v>53.661000000000001</c:v>
                </c:pt>
                <c:pt idx="44">
                  <c:v>54.363842105263203</c:v>
                </c:pt>
                <c:pt idx="45">
                  <c:v>55.073052631578904</c:v>
                </c:pt>
                <c:pt idx="46">
                  <c:v>55.776868421052598</c:v>
                </c:pt>
                <c:pt idx="47">
                  <c:v>56.452184210526298</c:v>
                </c:pt>
                <c:pt idx="48">
                  <c:v>57.073763157894703</c:v>
                </c:pt>
                <c:pt idx="49">
                  <c:v>57.619578947368403</c:v>
                </c:pt>
                <c:pt idx="50">
                  <c:v>58.100868421052603</c:v>
                </c:pt>
                <c:pt idx="51">
                  <c:v>58.538684210526299</c:v>
                </c:pt>
                <c:pt idx="52">
                  <c:v>58.936421052631601</c:v>
                </c:pt>
                <c:pt idx="53">
                  <c:v>59.279552631578902</c:v>
                </c:pt>
                <c:pt idx="54">
                  <c:v>59.580184210526298</c:v>
                </c:pt>
                <c:pt idx="55">
                  <c:v>59.8643157894737</c:v>
                </c:pt>
                <c:pt idx="56">
                  <c:v>60.082157894736802</c:v>
                </c:pt>
                <c:pt idx="57">
                  <c:v>60.203605263157897</c:v>
                </c:pt>
                <c:pt idx="58">
                  <c:v>60.292921052631598</c:v>
                </c:pt>
                <c:pt idx="59">
                  <c:v>60.384815789473699</c:v>
                </c:pt>
                <c:pt idx="60">
                  <c:v>60.488210526315797</c:v>
                </c:pt>
                <c:pt idx="61">
                  <c:v>60.625894736842099</c:v>
                </c:pt>
                <c:pt idx="62">
                  <c:v>60.820552631578899</c:v>
                </c:pt>
                <c:pt idx="63">
                  <c:v>61.082052631578897</c:v>
                </c:pt>
                <c:pt idx="64">
                  <c:v>61.383052631578899</c:v>
                </c:pt>
                <c:pt idx="65">
                  <c:v>61.694605263157897</c:v>
                </c:pt>
                <c:pt idx="66">
                  <c:v>62.008710526315802</c:v>
                </c:pt>
                <c:pt idx="67">
                  <c:v>62.311868421052601</c:v>
                </c:pt>
                <c:pt idx="68">
                  <c:v>62.580184210526298</c:v>
                </c:pt>
                <c:pt idx="69">
                  <c:v>62.834894736842102</c:v>
                </c:pt>
                <c:pt idx="70">
                  <c:v>63.1165263157895</c:v>
                </c:pt>
                <c:pt idx="71">
                  <c:v>63.430921052631597</c:v>
                </c:pt>
                <c:pt idx="72">
                  <c:v>63.726210526315803</c:v>
                </c:pt>
                <c:pt idx="73">
                  <c:v>63.944578947368399</c:v>
                </c:pt>
                <c:pt idx="74">
                  <c:v>64.115105263157901</c:v>
                </c:pt>
                <c:pt idx="75">
                  <c:v>64.2367631578947</c:v>
                </c:pt>
                <c:pt idx="76">
                  <c:v>64.315842105263201</c:v>
                </c:pt>
                <c:pt idx="77">
                  <c:v>64.389631578947402</c:v>
                </c:pt>
                <c:pt idx="78">
                  <c:v>64.468473684210494</c:v>
                </c:pt>
                <c:pt idx="79">
                  <c:v>64.552236842105302</c:v>
                </c:pt>
                <c:pt idx="80">
                  <c:v>64.637236842105295</c:v>
                </c:pt>
                <c:pt idx="81">
                  <c:v>64.724973684210497</c:v>
                </c:pt>
                <c:pt idx="82">
                  <c:v>64.816157894736804</c:v>
                </c:pt>
                <c:pt idx="83">
                  <c:v>64.91</c:v>
                </c:pt>
                <c:pt idx="84">
                  <c:v>65.004684210526307</c:v>
                </c:pt>
                <c:pt idx="85">
                  <c:v>65.099526315789504</c:v>
                </c:pt>
                <c:pt idx="86">
                  <c:v>65.197500000000005</c:v>
                </c:pt>
                <c:pt idx="87">
                  <c:v>65.298973684210495</c:v>
                </c:pt>
                <c:pt idx="88">
                  <c:v>65.402868421052602</c:v>
                </c:pt>
                <c:pt idx="89">
                  <c:v>65.5109473684211</c:v>
                </c:pt>
                <c:pt idx="90">
                  <c:v>65.624236842105304</c:v>
                </c:pt>
              </c:numCache>
            </c:numRef>
          </c:val>
          <c:smooth val="0"/>
          <c:extLst>
            <c:ext xmlns:c16="http://schemas.microsoft.com/office/drawing/2014/chart" uri="{C3380CC4-5D6E-409C-BE32-E72D297353CC}">
              <c16:uniqueId val="{00000000-4C0D-4360-9249-049FCB94DF75}"/>
            </c:ext>
          </c:extLst>
        </c:ser>
        <c:ser>
          <c:idx val="1"/>
          <c:order val="1"/>
          <c:tx>
            <c:strRef>
              <c:f>'[Figure 1 Charts 1 3 5 dependency_ratios_oldyoung-formatted.xlsx]ae_em_old'!$E$2</c:f>
              <c:strCache>
                <c:ptCount val="1"/>
                <c:pt idx="0">
                  <c:v>Low fertility</c:v>
                </c:pt>
              </c:strCache>
            </c:strRef>
          </c:tx>
          <c:spPr>
            <a:ln w="38100">
              <a:solidFill>
                <a:srgbClr val="C00000"/>
              </a:solidFill>
              <a:prstDash val="sysDash"/>
            </a:ln>
            <a:effectLst/>
          </c:spPr>
          <c:marker>
            <c:symbol val="none"/>
          </c:marker>
          <c:cat>
            <c:numRef>
              <c:f>'[Figure 1 Charts 1 3 5 dependency_ratios_oldyoung-formatted.xlsx]ae_em_old'!$B$63:$B$153</c:f>
              <c:numCache>
                <c:formatCode>General</c:formatCode>
                <c:ptCount val="9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pt idx="41">
                  <c:v>2051</c:v>
                </c:pt>
                <c:pt idx="42">
                  <c:v>2052</c:v>
                </c:pt>
                <c:pt idx="43">
                  <c:v>2053</c:v>
                </c:pt>
                <c:pt idx="44">
                  <c:v>2054</c:v>
                </c:pt>
                <c:pt idx="45">
                  <c:v>2055</c:v>
                </c:pt>
                <c:pt idx="46">
                  <c:v>2056</c:v>
                </c:pt>
                <c:pt idx="47">
                  <c:v>2057</c:v>
                </c:pt>
                <c:pt idx="48">
                  <c:v>2058</c:v>
                </c:pt>
                <c:pt idx="49">
                  <c:v>2059</c:v>
                </c:pt>
                <c:pt idx="50">
                  <c:v>2060</c:v>
                </c:pt>
                <c:pt idx="51">
                  <c:v>2061</c:v>
                </c:pt>
                <c:pt idx="52">
                  <c:v>2062</c:v>
                </c:pt>
                <c:pt idx="53">
                  <c:v>2063</c:v>
                </c:pt>
                <c:pt idx="54">
                  <c:v>2064</c:v>
                </c:pt>
                <c:pt idx="55">
                  <c:v>2065</c:v>
                </c:pt>
                <c:pt idx="56">
                  <c:v>2066</c:v>
                </c:pt>
                <c:pt idx="57">
                  <c:v>2067</c:v>
                </c:pt>
                <c:pt idx="58">
                  <c:v>2068</c:v>
                </c:pt>
                <c:pt idx="59">
                  <c:v>2069</c:v>
                </c:pt>
                <c:pt idx="60">
                  <c:v>2070</c:v>
                </c:pt>
                <c:pt idx="61">
                  <c:v>2071</c:v>
                </c:pt>
                <c:pt idx="62">
                  <c:v>2072</c:v>
                </c:pt>
                <c:pt idx="63">
                  <c:v>2073</c:v>
                </c:pt>
                <c:pt idx="64">
                  <c:v>2074</c:v>
                </c:pt>
                <c:pt idx="65">
                  <c:v>2075</c:v>
                </c:pt>
                <c:pt idx="66">
                  <c:v>2076</c:v>
                </c:pt>
                <c:pt idx="67">
                  <c:v>2077</c:v>
                </c:pt>
                <c:pt idx="68">
                  <c:v>2078</c:v>
                </c:pt>
                <c:pt idx="69">
                  <c:v>2079</c:v>
                </c:pt>
                <c:pt idx="70">
                  <c:v>2080</c:v>
                </c:pt>
                <c:pt idx="71">
                  <c:v>2081</c:v>
                </c:pt>
                <c:pt idx="72">
                  <c:v>2082</c:v>
                </c:pt>
                <c:pt idx="73">
                  <c:v>2083</c:v>
                </c:pt>
                <c:pt idx="74">
                  <c:v>2084</c:v>
                </c:pt>
                <c:pt idx="75">
                  <c:v>2085</c:v>
                </c:pt>
                <c:pt idx="76">
                  <c:v>2086</c:v>
                </c:pt>
                <c:pt idx="77">
                  <c:v>2087</c:v>
                </c:pt>
                <c:pt idx="78">
                  <c:v>2088</c:v>
                </c:pt>
                <c:pt idx="79">
                  <c:v>2089</c:v>
                </c:pt>
                <c:pt idx="80">
                  <c:v>2090</c:v>
                </c:pt>
                <c:pt idx="81">
                  <c:v>2091</c:v>
                </c:pt>
                <c:pt idx="82">
                  <c:v>2092</c:v>
                </c:pt>
                <c:pt idx="83">
                  <c:v>2093</c:v>
                </c:pt>
                <c:pt idx="84">
                  <c:v>2094</c:v>
                </c:pt>
                <c:pt idx="85">
                  <c:v>2095</c:v>
                </c:pt>
                <c:pt idx="86">
                  <c:v>2096</c:v>
                </c:pt>
                <c:pt idx="87">
                  <c:v>2097</c:v>
                </c:pt>
                <c:pt idx="88">
                  <c:v>2098</c:v>
                </c:pt>
                <c:pt idx="89">
                  <c:v>2099</c:v>
                </c:pt>
                <c:pt idx="90">
                  <c:v>2100</c:v>
                </c:pt>
              </c:numCache>
            </c:numRef>
          </c:cat>
          <c:val>
            <c:numRef>
              <c:f>'[Figure 1 Charts 1 3 5 dependency_ratios_oldyoung-formatted.xlsx]ae_em_old'!$E$63:$E$153</c:f>
              <c:numCache>
                <c:formatCode>General</c:formatCode>
                <c:ptCount val="91"/>
                <c:pt idx="0">
                  <c:v>22.5128947368421</c:v>
                </c:pt>
                <c:pt idx="1">
                  <c:v>22.997894736842099</c:v>
                </c:pt>
                <c:pt idx="2">
                  <c:v>23.612631578947401</c:v>
                </c:pt>
                <c:pt idx="3">
                  <c:v>24.268105263157899</c:v>
                </c:pt>
                <c:pt idx="4">
                  <c:v>24.918447368421099</c:v>
                </c:pt>
                <c:pt idx="5">
                  <c:v>25.529552631578898</c:v>
                </c:pt>
                <c:pt idx="6">
                  <c:v>26.120473684210499</c:v>
                </c:pt>
                <c:pt idx="7">
                  <c:v>26.720447368421102</c:v>
                </c:pt>
                <c:pt idx="8">
                  <c:v>27.316236842105301</c:v>
                </c:pt>
                <c:pt idx="9">
                  <c:v>27.930315789473699</c:v>
                </c:pt>
                <c:pt idx="10">
                  <c:v>28.5625</c:v>
                </c:pt>
                <c:pt idx="11">
                  <c:v>29.196052631578901</c:v>
                </c:pt>
                <c:pt idx="12">
                  <c:v>29.850078947368399</c:v>
                </c:pt>
                <c:pt idx="13">
                  <c:v>30.577263157894699</c:v>
                </c:pt>
                <c:pt idx="14">
                  <c:v>31.3736315789474</c:v>
                </c:pt>
                <c:pt idx="15">
                  <c:v>32.199736842105303</c:v>
                </c:pt>
                <c:pt idx="16">
                  <c:v>33.045842105263198</c:v>
                </c:pt>
                <c:pt idx="17">
                  <c:v>33.899605263157902</c:v>
                </c:pt>
                <c:pt idx="18">
                  <c:v>34.7728684210526</c:v>
                </c:pt>
                <c:pt idx="19">
                  <c:v>35.668578947368403</c:v>
                </c:pt>
                <c:pt idx="20">
                  <c:v>36.548131578947398</c:v>
                </c:pt>
                <c:pt idx="21">
                  <c:v>37.374368421052601</c:v>
                </c:pt>
                <c:pt idx="22">
                  <c:v>38.170999999999999</c:v>
                </c:pt>
                <c:pt idx="23">
                  <c:v>38.9674210526316</c:v>
                </c:pt>
                <c:pt idx="24">
                  <c:v>39.765157894736802</c:v>
                </c:pt>
                <c:pt idx="25">
                  <c:v>40.571921052631602</c:v>
                </c:pt>
                <c:pt idx="26">
                  <c:v>41.391815789473704</c:v>
                </c:pt>
                <c:pt idx="27">
                  <c:v>42.255710526315802</c:v>
                </c:pt>
                <c:pt idx="28">
                  <c:v>43.144184210526298</c:v>
                </c:pt>
                <c:pt idx="29">
                  <c:v>44.026000000000003</c:v>
                </c:pt>
                <c:pt idx="30">
                  <c:v>44.902999999999999</c:v>
                </c:pt>
                <c:pt idx="31">
                  <c:v>45.7587368421053</c:v>
                </c:pt>
                <c:pt idx="32">
                  <c:v>46.636289473684201</c:v>
                </c:pt>
                <c:pt idx="33">
                  <c:v>47.5495263157895</c:v>
                </c:pt>
                <c:pt idx="34">
                  <c:v>48.490973684210502</c:v>
                </c:pt>
                <c:pt idx="35">
                  <c:v>49.4748421052632</c:v>
                </c:pt>
                <c:pt idx="36">
                  <c:v>50.462473684210501</c:v>
                </c:pt>
                <c:pt idx="37">
                  <c:v>51.470578947368402</c:v>
                </c:pt>
                <c:pt idx="38">
                  <c:v>52.507842105263201</c:v>
                </c:pt>
                <c:pt idx="39">
                  <c:v>53.529000000000003</c:v>
                </c:pt>
                <c:pt idx="40">
                  <c:v>54.537500000000001</c:v>
                </c:pt>
                <c:pt idx="41">
                  <c:v>55.5477631578947</c:v>
                </c:pt>
                <c:pt idx="42">
                  <c:v>56.572605263157897</c:v>
                </c:pt>
                <c:pt idx="43">
                  <c:v>57.6407105263158</c:v>
                </c:pt>
                <c:pt idx="44">
                  <c:v>58.747736842105297</c:v>
                </c:pt>
                <c:pt idx="45">
                  <c:v>59.880157894736797</c:v>
                </c:pt>
                <c:pt idx="46">
                  <c:v>61.026157894736798</c:v>
                </c:pt>
                <c:pt idx="47">
                  <c:v>62.160368421052603</c:v>
                </c:pt>
                <c:pt idx="48">
                  <c:v>63.254815789473703</c:v>
                </c:pt>
                <c:pt idx="49">
                  <c:v>64.283026315789499</c:v>
                </c:pt>
                <c:pt idx="50">
                  <c:v>65.257210526315802</c:v>
                </c:pt>
                <c:pt idx="51">
                  <c:v>66.201842105263196</c:v>
                </c:pt>
                <c:pt idx="52">
                  <c:v>67.120184210526304</c:v>
                </c:pt>
                <c:pt idx="53">
                  <c:v>67.994184210526299</c:v>
                </c:pt>
                <c:pt idx="54">
                  <c:v>68.838131578947397</c:v>
                </c:pt>
                <c:pt idx="55">
                  <c:v>69.685315789473705</c:v>
                </c:pt>
                <c:pt idx="56">
                  <c:v>70.4745789473684</c:v>
                </c:pt>
                <c:pt idx="57">
                  <c:v>71.165973684210499</c:v>
                </c:pt>
                <c:pt idx="58">
                  <c:v>71.840052631578899</c:v>
                </c:pt>
                <c:pt idx="59">
                  <c:v>72.544078947368405</c:v>
                </c:pt>
                <c:pt idx="60">
                  <c:v>73.292236842105297</c:v>
                </c:pt>
                <c:pt idx="61">
                  <c:v>74.118078947368403</c:v>
                </c:pt>
                <c:pt idx="62">
                  <c:v>75.057315789473705</c:v>
                </c:pt>
                <c:pt idx="63">
                  <c:v>76.128973684210493</c:v>
                </c:pt>
                <c:pt idx="64">
                  <c:v>77.3010263157895</c:v>
                </c:pt>
                <c:pt idx="65">
                  <c:v>78.538394736842093</c:v>
                </c:pt>
                <c:pt idx="66">
                  <c:v>79.834605263157897</c:v>
                </c:pt>
                <c:pt idx="67">
                  <c:v>81.175105263157903</c:v>
                </c:pt>
                <c:pt idx="68">
                  <c:v>82.520131578947399</c:v>
                </c:pt>
                <c:pt idx="69">
                  <c:v>83.902552631578899</c:v>
                </c:pt>
                <c:pt idx="70">
                  <c:v>85.387078947368394</c:v>
                </c:pt>
                <c:pt idx="71">
                  <c:v>86.986921052631601</c:v>
                </c:pt>
                <c:pt idx="72">
                  <c:v>88.618394736842106</c:v>
                </c:pt>
                <c:pt idx="73">
                  <c:v>90.171921052631603</c:v>
                </c:pt>
                <c:pt idx="74">
                  <c:v>91.704526315789494</c:v>
                </c:pt>
                <c:pt idx="75">
                  <c:v>93.231605263157903</c:v>
                </c:pt>
                <c:pt idx="76">
                  <c:v>94.754947368421099</c:v>
                </c:pt>
                <c:pt idx="77">
                  <c:v>95.816421052631597</c:v>
                </c:pt>
                <c:pt idx="78">
                  <c:v>96.400052631578902</c:v>
                </c:pt>
                <c:pt idx="79">
                  <c:v>97.022684210526293</c:v>
                </c:pt>
                <c:pt idx="80">
                  <c:v>97.685500000000005</c:v>
                </c:pt>
                <c:pt idx="81">
                  <c:v>98.396947368421095</c:v>
                </c:pt>
                <c:pt idx="82">
                  <c:v>98.827763157894694</c:v>
                </c:pt>
                <c:pt idx="83">
                  <c:v>98.963289473684199</c:v>
                </c:pt>
                <c:pt idx="84">
                  <c:v>99.138052631578901</c:v>
                </c:pt>
                <c:pt idx="85">
                  <c:v>99.355605263157898</c:v>
                </c:pt>
                <c:pt idx="86">
                  <c:v>99.632763157894701</c:v>
                </c:pt>
                <c:pt idx="87">
                  <c:v>99.740973684210502</c:v>
                </c:pt>
                <c:pt idx="88">
                  <c:v>99.672078947368405</c:v>
                </c:pt>
                <c:pt idx="89">
                  <c:v>99.6721315789474</c:v>
                </c:pt>
                <c:pt idx="90">
                  <c:v>99.748999999999995</c:v>
                </c:pt>
              </c:numCache>
            </c:numRef>
          </c:val>
          <c:smooth val="0"/>
          <c:extLst>
            <c:ext xmlns:c16="http://schemas.microsoft.com/office/drawing/2014/chart" uri="{C3380CC4-5D6E-409C-BE32-E72D297353CC}">
              <c16:uniqueId val="{00000001-4C0D-4360-9249-049FCB94DF75}"/>
            </c:ext>
          </c:extLst>
        </c:ser>
        <c:ser>
          <c:idx val="2"/>
          <c:order val="2"/>
          <c:tx>
            <c:strRef>
              <c:f>'[Figure 1 Charts 1 3 5 dependency_ratios_oldyoung-formatted.xlsx]ae_em_old'!$F$2</c:f>
              <c:strCache>
                <c:ptCount val="1"/>
                <c:pt idx="0">
                  <c:v>High fertility</c:v>
                </c:pt>
              </c:strCache>
            </c:strRef>
          </c:tx>
          <c:spPr>
            <a:ln>
              <a:prstDash val="dash"/>
            </a:ln>
          </c:spPr>
          <c:marker>
            <c:symbol val="none"/>
          </c:marker>
          <c:cat>
            <c:numRef>
              <c:f>'[Figure 1 Charts 1 3 5 dependency_ratios_oldyoung-formatted.xlsx]ae_em_old'!$B$63:$B$153</c:f>
              <c:numCache>
                <c:formatCode>General</c:formatCode>
                <c:ptCount val="9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pt idx="41">
                  <c:v>2051</c:v>
                </c:pt>
                <c:pt idx="42">
                  <c:v>2052</c:v>
                </c:pt>
                <c:pt idx="43">
                  <c:v>2053</c:v>
                </c:pt>
                <c:pt idx="44">
                  <c:v>2054</c:v>
                </c:pt>
                <c:pt idx="45">
                  <c:v>2055</c:v>
                </c:pt>
                <c:pt idx="46">
                  <c:v>2056</c:v>
                </c:pt>
                <c:pt idx="47">
                  <c:v>2057</c:v>
                </c:pt>
                <c:pt idx="48">
                  <c:v>2058</c:v>
                </c:pt>
                <c:pt idx="49">
                  <c:v>2059</c:v>
                </c:pt>
                <c:pt idx="50">
                  <c:v>2060</c:v>
                </c:pt>
                <c:pt idx="51">
                  <c:v>2061</c:v>
                </c:pt>
                <c:pt idx="52">
                  <c:v>2062</c:v>
                </c:pt>
                <c:pt idx="53">
                  <c:v>2063</c:v>
                </c:pt>
                <c:pt idx="54">
                  <c:v>2064</c:v>
                </c:pt>
                <c:pt idx="55">
                  <c:v>2065</c:v>
                </c:pt>
                <c:pt idx="56">
                  <c:v>2066</c:v>
                </c:pt>
                <c:pt idx="57">
                  <c:v>2067</c:v>
                </c:pt>
                <c:pt idx="58">
                  <c:v>2068</c:v>
                </c:pt>
                <c:pt idx="59">
                  <c:v>2069</c:v>
                </c:pt>
                <c:pt idx="60">
                  <c:v>2070</c:v>
                </c:pt>
                <c:pt idx="61">
                  <c:v>2071</c:v>
                </c:pt>
                <c:pt idx="62">
                  <c:v>2072</c:v>
                </c:pt>
                <c:pt idx="63">
                  <c:v>2073</c:v>
                </c:pt>
                <c:pt idx="64">
                  <c:v>2074</c:v>
                </c:pt>
                <c:pt idx="65">
                  <c:v>2075</c:v>
                </c:pt>
                <c:pt idx="66">
                  <c:v>2076</c:v>
                </c:pt>
                <c:pt idx="67">
                  <c:v>2077</c:v>
                </c:pt>
                <c:pt idx="68">
                  <c:v>2078</c:v>
                </c:pt>
                <c:pt idx="69">
                  <c:v>2079</c:v>
                </c:pt>
                <c:pt idx="70">
                  <c:v>2080</c:v>
                </c:pt>
                <c:pt idx="71">
                  <c:v>2081</c:v>
                </c:pt>
                <c:pt idx="72">
                  <c:v>2082</c:v>
                </c:pt>
                <c:pt idx="73">
                  <c:v>2083</c:v>
                </c:pt>
                <c:pt idx="74">
                  <c:v>2084</c:v>
                </c:pt>
                <c:pt idx="75">
                  <c:v>2085</c:v>
                </c:pt>
                <c:pt idx="76">
                  <c:v>2086</c:v>
                </c:pt>
                <c:pt idx="77">
                  <c:v>2087</c:v>
                </c:pt>
                <c:pt idx="78">
                  <c:v>2088</c:v>
                </c:pt>
                <c:pt idx="79">
                  <c:v>2089</c:v>
                </c:pt>
                <c:pt idx="80">
                  <c:v>2090</c:v>
                </c:pt>
                <c:pt idx="81">
                  <c:v>2091</c:v>
                </c:pt>
                <c:pt idx="82">
                  <c:v>2092</c:v>
                </c:pt>
                <c:pt idx="83">
                  <c:v>2093</c:v>
                </c:pt>
                <c:pt idx="84">
                  <c:v>2094</c:v>
                </c:pt>
                <c:pt idx="85">
                  <c:v>2095</c:v>
                </c:pt>
                <c:pt idx="86">
                  <c:v>2096</c:v>
                </c:pt>
                <c:pt idx="87">
                  <c:v>2097</c:v>
                </c:pt>
                <c:pt idx="88">
                  <c:v>2098</c:v>
                </c:pt>
                <c:pt idx="89">
                  <c:v>2099</c:v>
                </c:pt>
                <c:pt idx="90">
                  <c:v>2100</c:v>
                </c:pt>
              </c:numCache>
            </c:numRef>
          </c:cat>
          <c:val>
            <c:numRef>
              <c:f>'[Figure 1 Charts 1 3 5 dependency_ratios_oldyoung-formatted.xlsx]ae_em_old'!$F$63:$F$153</c:f>
              <c:numCache>
                <c:formatCode>General</c:formatCode>
                <c:ptCount val="91"/>
                <c:pt idx="0">
                  <c:v>22.5128947368421</c:v>
                </c:pt>
                <c:pt idx="1">
                  <c:v>22.997894736842099</c:v>
                </c:pt>
                <c:pt idx="2">
                  <c:v>23.612631578947401</c:v>
                </c:pt>
                <c:pt idx="3">
                  <c:v>24.268105263157899</c:v>
                </c:pt>
                <c:pt idx="4">
                  <c:v>24.918447368421099</c:v>
                </c:pt>
                <c:pt idx="5">
                  <c:v>25.529552631578898</c:v>
                </c:pt>
                <c:pt idx="6">
                  <c:v>26.120473684210499</c:v>
                </c:pt>
                <c:pt idx="7">
                  <c:v>26.720447368421102</c:v>
                </c:pt>
                <c:pt idx="8">
                  <c:v>27.316236842105301</c:v>
                </c:pt>
                <c:pt idx="9">
                  <c:v>27.930315789473699</c:v>
                </c:pt>
                <c:pt idx="10">
                  <c:v>28.5625</c:v>
                </c:pt>
                <c:pt idx="11">
                  <c:v>29.196052631578901</c:v>
                </c:pt>
                <c:pt idx="12">
                  <c:v>29.850078947368399</c:v>
                </c:pt>
                <c:pt idx="13">
                  <c:v>30.577263157894699</c:v>
                </c:pt>
                <c:pt idx="14">
                  <c:v>31.3736315789474</c:v>
                </c:pt>
                <c:pt idx="15">
                  <c:v>32.199736842105303</c:v>
                </c:pt>
                <c:pt idx="16">
                  <c:v>33.045842105263198</c:v>
                </c:pt>
                <c:pt idx="17">
                  <c:v>33.899605263157902</c:v>
                </c:pt>
                <c:pt idx="18">
                  <c:v>34.7728684210526</c:v>
                </c:pt>
                <c:pt idx="19">
                  <c:v>35.668578947368403</c:v>
                </c:pt>
                <c:pt idx="20">
                  <c:v>36.548131578947398</c:v>
                </c:pt>
                <c:pt idx="21">
                  <c:v>37.374368421052601</c:v>
                </c:pt>
                <c:pt idx="22">
                  <c:v>38.170999999999999</c:v>
                </c:pt>
                <c:pt idx="23">
                  <c:v>38.9674210526316</c:v>
                </c:pt>
                <c:pt idx="24">
                  <c:v>39.765157894736802</c:v>
                </c:pt>
                <c:pt idx="25">
                  <c:v>40.571921052631602</c:v>
                </c:pt>
                <c:pt idx="26">
                  <c:v>41.391815789473704</c:v>
                </c:pt>
                <c:pt idx="27">
                  <c:v>42.147026315789503</c:v>
                </c:pt>
                <c:pt idx="28">
                  <c:v>42.810710526315802</c:v>
                </c:pt>
                <c:pt idx="29">
                  <c:v>43.458605263157899</c:v>
                </c:pt>
                <c:pt idx="30">
                  <c:v>44.093342105263197</c:v>
                </c:pt>
                <c:pt idx="31">
                  <c:v>44.698842105263203</c:v>
                </c:pt>
                <c:pt idx="32">
                  <c:v>45.248131578947401</c:v>
                </c:pt>
                <c:pt idx="33">
                  <c:v>45.7507894736842</c:v>
                </c:pt>
                <c:pt idx="34">
                  <c:v>46.267157894736798</c:v>
                </c:pt>
                <c:pt idx="35">
                  <c:v>46.808684210526302</c:v>
                </c:pt>
                <c:pt idx="36">
                  <c:v>47.338973684210501</c:v>
                </c:pt>
                <c:pt idx="37">
                  <c:v>47.8256578947368</c:v>
                </c:pt>
                <c:pt idx="38">
                  <c:v>48.274052631578897</c:v>
                </c:pt>
                <c:pt idx="39">
                  <c:v>48.690289473684203</c:v>
                </c:pt>
                <c:pt idx="40">
                  <c:v>49.0778684210526</c:v>
                </c:pt>
                <c:pt idx="41">
                  <c:v>49.449447368421097</c:v>
                </c:pt>
                <c:pt idx="42">
                  <c:v>49.8152368421053</c:v>
                </c:pt>
                <c:pt idx="43">
                  <c:v>50.1977368421053</c:v>
                </c:pt>
                <c:pt idx="44">
                  <c:v>50.591289473684199</c:v>
                </c:pt>
                <c:pt idx="45">
                  <c:v>50.983105263157903</c:v>
                </c:pt>
                <c:pt idx="46">
                  <c:v>51.3617631578947</c:v>
                </c:pt>
                <c:pt idx="47">
                  <c:v>51.705789473684199</c:v>
                </c:pt>
                <c:pt idx="48">
                  <c:v>51.993578947368398</c:v>
                </c:pt>
                <c:pt idx="49">
                  <c:v>52.206184210526303</c:v>
                </c:pt>
                <c:pt idx="50">
                  <c:v>52.354236842105301</c:v>
                </c:pt>
                <c:pt idx="51">
                  <c:v>52.456763157894699</c:v>
                </c:pt>
                <c:pt idx="52">
                  <c:v>52.516894736842097</c:v>
                </c:pt>
                <c:pt idx="53">
                  <c:v>52.522763157894701</c:v>
                </c:pt>
                <c:pt idx="54">
                  <c:v>52.484789473684202</c:v>
                </c:pt>
                <c:pt idx="55">
                  <c:v>52.424157894736801</c:v>
                </c:pt>
                <c:pt idx="56">
                  <c:v>52.2988157894737</c:v>
                </c:pt>
                <c:pt idx="57">
                  <c:v>52.085000000000001</c:v>
                </c:pt>
                <c:pt idx="58">
                  <c:v>51.835000000000001</c:v>
                </c:pt>
                <c:pt idx="59">
                  <c:v>51.576578947368397</c:v>
                </c:pt>
                <c:pt idx="60">
                  <c:v>51.315947368421</c:v>
                </c:pt>
                <c:pt idx="61">
                  <c:v>51.070473684210498</c:v>
                </c:pt>
                <c:pt idx="62">
                  <c:v>50.856789473684202</c:v>
                </c:pt>
                <c:pt idx="63">
                  <c:v>50.681447368421097</c:v>
                </c:pt>
                <c:pt idx="64">
                  <c:v>50.522315789473701</c:v>
                </c:pt>
                <c:pt idx="65">
                  <c:v>50.357657894736803</c:v>
                </c:pt>
                <c:pt idx="66">
                  <c:v>50.180763157894702</c:v>
                </c:pt>
                <c:pt idx="67">
                  <c:v>49.983078947368398</c:v>
                </c:pt>
                <c:pt idx="68">
                  <c:v>49.7502631578947</c:v>
                </c:pt>
                <c:pt idx="69">
                  <c:v>49.499842105263198</c:v>
                </c:pt>
                <c:pt idx="70">
                  <c:v>49.261973684210503</c:v>
                </c:pt>
                <c:pt idx="71">
                  <c:v>49.041473684210501</c:v>
                </c:pt>
                <c:pt idx="72">
                  <c:v>48.8042894736842</c:v>
                </c:pt>
                <c:pt idx="73">
                  <c:v>48.514499999999998</c:v>
                </c:pt>
                <c:pt idx="74">
                  <c:v>48.192631578947399</c:v>
                </c:pt>
                <c:pt idx="75">
                  <c:v>47.837421052631598</c:v>
                </c:pt>
                <c:pt idx="76">
                  <c:v>47.456289473684201</c:v>
                </c:pt>
                <c:pt idx="77">
                  <c:v>47.2527368421053</c:v>
                </c:pt>
                <c:pt idx="78">
                  <c:v>47.229763157894702</c:v>
                </c:pt>
                <c:pt idx="79">
                  <c:v>47.206131578947399</c:v>
                </c:pt>
                <c:pt idx="80">
                  <c:v>47.178026315789502</c:v>
                </c:pt>
                <c:pt idx="81">
                  <c:v>47.146342105263201</c:v>
                </c:pt>
                <c:pt idx="82">
                  <c:v>47.212157894736798</c:v>
                </c:pt>
                <c:pt idx="83">
                  <c:v>47.372289473684198</c:v>
                </c:pt>
                <c:pt idx="84">
                  <c:v>47.523052631578899</c:v>
                </c:pt>
                <c:pt idx="85">
                  <c:v>47.663421052631598</c:v>
                </c:pt>
                <c:pt idx="86">
                  <c:v>47.794342105263198</c:v>
                </c:pt>
                <c:pt idx="87">
                  <c:v>47.978999999999999</c:v>
                </c:pt>
                <c:pt idx="88">
                  <c:v>48.215736842105301</c:v>
                </c:pt>
                <c:pt idx="89">
                  <c:v>48.440605263157899</c:v>
                </c:pt>
                <c:pt idx="90">
                  <c:v>48.654499999999999</c:v>
                </c:pt>
              </c:numCache>
            </c:numRef>
          </c:val>
          <c:smooth val="0"/>
          <c:extLst>
            <c:ext xmlns:c16="http://schemas.microsoft.com/office/drawing/2014/chart" uri="{C3380CC4-5D6E-409C-BE32-E72D297353CC}">
              <c16:uniqueId val="{00000002-4C0D-4360-9249-049FCB94DF75}"/>
            </c:ext>
          </c:extLst>
        </c:ser>
        <c:ser>
          <c:idx val="3"/>
          <c:order val="3"/>
          <c:tx>
            <c:strRef>
              <c:f>'[Figure 1 Charts 1 3 5 dependency_ratios_oldyoung-formatted.xlsx]ae_em_old'!$G$2</c:f>
              <c:strCache>
                <c:ptCount val="1"/>
                <c:pt idx="0">
                  <c:v>Constant fertility</c:v>
                </c:pt>
              </c:strCache>
            </c:strRef>
          </c:tx>
          <c:spPr>
            <a:ln>
              <a:solidFill>
                <a:srgbClr val="4472C4"/>
              </a:solidFill>
              <a:prstDash val="dash"/>
            </a:ln>
          </c:spPr>
          <c:marker>
            <c:symbol val="none"/>
          </c:marker>
          <c:cat>
            <c:numRef>
              <c:f>'[Figure 1 Charts 1 3 5 dependency_ratios_oldyoung-formatted.xlsx]ae_em_old'!$B$63:$B$153</c:f>
              <c:numCache>
                <c:formatCode>General</c:formatCode>
                <c:ptCount val="9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pt idx="41">
                  <c:v>2051</c:v>
                </c:pt>
                <c:pt idx="42">
                  <c:v>2052</c:v>
                </c:pt>
                <c:pt idx="43">
                  <c:v>2053</c:v>
                </c:pt>
                <c:pt idx="44">
                  <c:v>2054</c:v>
                </c:pt>
                <c:pt idx="45">
                  <c:v>2055</c:v>
                </c:pt>
                <c:pt idx="46">
                  <c:v>2056</c:v>
                </c:pt>
                <c:pt idx="47">
                  <c:v>2057</c:v>
                </c:pt>
                <c:pt idx="48">
                  <c:v>2058</c:v>
                </c:pt>
                <c:pt idx="49">
                  <c:v>2059</c:v>
                </c:pt>
                <c:pt idx="50">
                  <c:v>2060</c:v>
                </c:pt>
                <c:pt idx="51">
                  <c:v>2061</c:v>
                </c:pt>
                <c:pt idx="52">
                  <c:v>2062</c:v>
                </c:pt>
                <c:pt idx="53">
                  <c:v>2063</c:v>
                </c:pt>
                <c:pt idx="54">
                  <c:v>2064</c:v>
                </c:pt>
                <c:pt idx="55">
                  <c:v>2065</c:v>
                </c:pt>
                <c:pt idx="56">
                  <c:v>2066</c:v>
                </c:pt>
                <c:pt idx="57">
                  <c:v>2067</c:v>
                </c:pt>
                <c:pt idx="58">
                  <c:v>2068</c:v>
                </c:pt>
                <c:pt idx="59">
                  <c:v>2069</c:v>
                </c:pt>
                <c:pt idx="60">
                  <c:v>2070</c:v>
                </c:pt>
                <c:pt idx="61">
                  <c:v>2071</c:v>
                </c:pt>
                <c:pt idx="62">
                  <c:v>2072</c:v>
                </c:pt>
                <c:pt idx="63">
                  <c:v>2073</c:v>
                </c:pt>
                <c:pt idx="64">
                  <c:v>2074</c:v>
                </c:pt>
                <c:pt idx="65">
                  <c:v>2075</c:v>
                </c:pt>
                <c:pt idx="66">
                  <c:v>2076</c:v>
                </c:pt>
                <c:pt idx="67">
                  <c:v>2077</c:v>
                </c:pt>
                <c:pt idx="68">
                  <c:v>2078</c:v>
                </c:pt>
                <c:pt idx="69">
                  <c:v>2079</c:v>
                </c:pt>
                <c:pt idx="70">
                  <c:v>2080</c:v>
                </c:pt>
                <c:pt idx="71">
                  <c:v>2081</c:v>
                </c:pt>
                <c:pt idx="72">
                  <c:v>2082</c:v>
                </c:pt>
                <c:pt idx="73">
                  <c:v>2083</c:v>
                </c:pt>
                <c:pt idx="74">
                  <c:v>2084</c:v>
                </c:pt>
                <c:pt idx="75">
                  <c:v>2085</c:v>
                </c:pt>
                <c:pt idx="76">
                  <c:v>2086</c:v>
                </c:pt>
                <c:pt idx="77">
                  <c:v>2087</c:v>
                </c:pt>
                <c:pt idx="78">
                  <c:v>2088</c:v>
                </c:pt>
                <c:pt idx="79">
                  <c:v>2089</c:v>
                </c:pt>
                <c:pt idx="80">
                  <c:v>2090</c:v>
                </c:pt>
                <c:pt idx="81">
                  <c:v>2091</c:v>
                </c:pt>
                <c:pt idx="82">
                  <c:v>2092</c:v>
                </c:pt>
                <c:pt idx="83">
                  <c:v>2093</c:v>
                </c:pt>
                <c:pt idx="84">
                  <c:v>2094</c:v>
                </c:pt>
                <c:pt idx="85">
                  <c:v>2095</c:v>
                </c:pt>
                <c:pt idx="86">
                  <c:v>2096</c:v>
                </c:pt>
                <c:pt idx="87">
                  <c:v>2097</c:v>
                </c:pt>
                <c:pt idx="88">
                  <c:v>2098</c:v>
                </c:pt>
                <c:pt idx="89">
                  <c:v>2099</c:v>
                </c:pt>
                <c:pt idx="90">
                  <c:v>2100</c:v>
                </c:pt>
              </c:numCache>
            </c:numRef>
          </c:cat>
          <c:val>
            <c:numRef>
              <c:f>'[Figure 1 Charts 1 3 5 dependency_ratios_oldyoung-formatted.xlsx]ae_em_old'!$G$63:$G$153</c:f>
              <c:numCache>
                <c:formatCode>General</c:formatCode>
                <c:ptCount val="91"/>
                <c:pt idx="0">
                  <c:v>22.5128947368421</c:v>
                </c:pt>
                <c:pt idx="1">
                  <c:v>22.997894736842099</c:v>
                </c:pt>
                <c:pt idx="2">
                  <c:v>23.612631578947401</c:v>
                </c:pt>
                <c:pt idx="3">
                  <c:v>24.268105263157899</c:v>
                </c:pt>
                <c:pt idx="4">
                  <c:v>24.918447368421099</c:v>
                </c:pt>
                <c:pt idx="5">
                  <c:v>25.529552631578898</c:v>
                </c:pt>
                <c:pt idx="6">
                  <c:v>26.120473684210499</c:v>
                </c:pt>
                <c:pt idx="7">
                  <c:v>26.720447368421102</c:v>
                </c:pt>
                <c:pt idx="8">
                  <c:v>27.316236842105301</c:v>
                </c:pt>
                <c:pt idx="9">
                  <c:v>27.930315789473699</c:v>
                </c:pt>
                <c:pt idx="10">
                  <c:v>28.5625</c:v>
                </c:pt>
                <c:pt idx="11">
                  <c:v>29.196052631578901</c:v>
                </c:pt>
                <c:pt idx="12">
                  <c:v>29.850078947368399</c:v>
                </c:pt>
                <c:pt idx="13">
                  <c:v>30.577263157894699</c:v>
                </c:pt>
                <c:pt idx="14">
                  <c:v>31.3736315789474</c:v>
                </c:pt>
                <c:pt idx="15">
                  <c:v>32.199736842105303</c:v>
                </c:pt>
                <c:pt idx="16">
                  <c:v>33.045842105263198</c:v>
                </c:pt>
                <c:pt idx="17">
                  <c:v>33.899605263157902</c:v>
                </c:pt>
                <c:pt idx="18">
                  <c:v>34.7728684210526</c:v>
                </c:pt>
                <c:pt idx="19">
                  <c:v>35.668578947368403</c:v>
                </c:pt>
                <c:pt idx="20">
                  <c:v>36.548131578947398</c:v>
                </c:pt>
                <c:pt idx="21">
                  <c:v>37.374368421052601</c:v>
                </c:pt>
                <c:pt idx="22">
                  <c:v>38.170999999999999</c:v>
                </c:pt>
                <c:pt idx="23">
                  <c:v>38.9674210526316</c:v>
                </c:pt>
                <c:pt idx="24">
                  <c:v>39.765157894736802</c:v>
                </c:pt>
                <c:pt idx="25">
                  <c:v>40.571921052631602</c:v>
                </c:pt>
                <c:pt idx="26">
                  <c:v>41.391815789473704</c:v>
                </c:pt>
                <c:pt idx="27">
                  <c:v>42.201394736842097</c:v>
                </c:pt>
                <c:pt idx="28">
                  <c:v>42.978131578947398</c:v>
                </c:pt>
                <c:pt idx="29">
                  <c:v>43.745868421052599</c:v>
                </c:pt>
                <c:pt idx="30">
                  <c:v>44.507263157894698</c:v>
                </c:pt>
                <c:pt idx="31">
                  <c:v>45.246000000000002</c:v>
                </c:pt>
                <c:pt idx="32">
                  <c:v>45.969473684210499</c:v>
                </c:pt>
                <c:pt idx="33">
                  <c:v>46.688447368421102</c:v>
                </c:pt>
                <c:pt idx="34">
                  <c:v>47.429578947368398</c:v>
                </c:pt>
                <c:pt idx="35">
                  <c:v>48.205815789473696</c:v>
                </c:pt>
                <c:pt idx="36">
                  <c:v>48.979921052631603</c:v>
                </c:pt>
                <c:pt idx="37">
                  <c:v>49.7423157894737</c:v>
                </c:pt>
                <c:pt idx="38">
                  <c:v>50.498710526315797</c:v>
                </c:pt>
                <c:pt idx="39">
                  <c:v>51.230499999999999</c:v>
                </c:pt>
                <c:pt idx="40">
                  <c:v>51.940815789473703</c:v>
                </c:pt>
                <c:pt idx="41">
                  <c:v>52.643105263157899</c:v>
                </c:pt>
                <c:pt idx="42">
                  <c:v>53.349210526315801</c:v>
                </c:pt>
                <c:pt idx="43">
                  <c:v>54.084789473684197</c:v>
                </c:pt>
                <c:pt idx="44">
                  <c:v>54.845210526315803</c:v>
                </c:pt>
                <c:pt idx="45">
                  <c:v>55.616657894736797</c:v>
                </c:pt>
                <c:pt idx="46">
                  <c:v>56.387342105263201</c:v>
                </c:pt>
                <c:pt idx="47">
                  <c:v>57.134473684210498</c:v>
                </c:pt>
                <c:pt idx="48">
                  <c:v>57.833605263157899</c:v>
                </c:pt>
                <c:pt idx="49">
                  <c:v>58.4621315789474</c:v>
                </c:pt>
                <c:pt idx="50">
                  <c:v>59.0316052631579</c:v>
                </c:pt>
                <c:pt idx="51">
                  <c:v>59.563263157894703</c:v>
                </c:pt>
                <c:pt idx="52">
                  <c:v>60.060236842105297</c:v>
                </c:pt>
                <c:pt idx="53">
                  <c:v>60.506</c:v>
                </c:pt>
                <c:pt idx="54">
                  <c:v>60.911868421052603</c:v>
                </c:pt>
                <c:pt idx="55">
                  <c:v>61.304447368421101</c:v>
                </c:pt>
                <c:pt idx="56">
                  <c:v>61.631842105263203</c:v>
                </c:pt>
                <c:pt idx="57">
                  <c:v>61.8621052631579</c:v>
                </c:pt>
                <c:pt idx="58">
                  <c:v>62.060710526315802</c:v>
                </c:pt>
                <c:pt idx="59">
                  <c:v>62.264499999999998</c:v>
                </c:pt>
                <c:pt idx="60">
                  <c:v>62.482710526315799</c:v>
                </c:pt>
                <c:pt idx="61">
                  <c:v>62.739736842105302</c:v>
                </c:pt>
                <c:pt idx="62">
                  <c:v>63.060552631579</c:v>
                </c:pt>
                <c:pt idx="63">
                  <c:v>63.456447368421102</c:v>
                </c:pt>
                <c:pt idx="64">
                  <c:v>63.897552631578897</c:v>
                </c:pt>
                <c:pt idx="65">
                  <c:v>64.355184210526303</c:v>
                </c:pt>
                <c:pt idx="66">
                  <c:v>64.824868421052599</c:v>
                </c:pt>
                <c:pt idx="67">
                  <c:v>65.293921052631603</c:v>
                </c:pt>
                <c:pt idx="68">
                  <c:v>65.7323421052632</c:v>
                </c:pt>
                <c:pt idx="69">
                  <c:v>66.163157894736798</c:v>
                </c:pt>
                <c:pt idx="70">
                  <c:v>66.630973684210502</c:v>
                </c:pt>
                <c:pt idx="71">
                  <c:v>67.143815789473706</c:v>
                </c:pt>
                <c:pt idx="72">
                  <c:v>67.644473684210496</c:v>
                </c:pt>
                <c:pt idx="73">
                  <c:v>68.0642631578947</c:v>
                </c:pt>
                <c:pt idx="74">
                  <c:v>68.435473684210507</c:v>
                </c:pt>
                <c:pt idx="75">
                  <c:v>68.756736842105298</c:v>
                </c:pt>
                <c:pt idx="76">
                  <c:v>69.0335526315789</c:v>
                </c:pt>
                <c:pt idx="77">
                  <c:v>69.309684210526299</c:v>
                </c:pt>
                <c:pt idx="78">
                  <c:v>69.590368421052602</c:v>
                </c:pt>
                <c:pt idx="79">
                  <c:v>69.866236842105295</c:v>
                </c:pt>
                <c:pt idx="80">
                  <c:v>70.133263157894703</c:v>
                </c:pt>
                <c:pt idx="81">
                  <c:v>70.391973684210498</c:v>
                </c:pt>
                <c:pt idx="82">
                  <c:v>70.643552631578899</c:v>
                </c:pt>
                <c:pt idx="83">
                  <c:v>70.888921052631602</c:v>
                </c:pt>
                <c:pt idx="84">
                  <c:v>71.128315789473703</c:v>
                </c:pt>
                <c:pt idx="85">
                  <c:v>71.362578947368405</c:v>
                </c:pt>
                <c:pt idx="86">
                  <c:v>71.592421052631593</c:v>
                </c:pt>
                <c:pt idx="87">
                  <c:v>71.8192105263158</c:v>
                </c:pt>
                <c:pt idx="88">
                  <c:v>72.044631578947403</c:v>
                </c:pt>
                <c:pt idx="89">
                  <c:v>72.270763157894706</c:v>
                </c:pt>
                <c:pt idx="90">
                  <c:v>72.500447368421007</c:v>
                </c:pt>
              </c:numCache>
            </c:numRef>
          </c:val>
          <c:smooth val="0"/>
          <c:extLst>
            <c:ext xmlns:c16="http://schemas.microsoft.com/office/drawing/2014/chart" uri="{C3380CC4-5D6E-409C-BE32-E72D297353CC}">
              <c16:uniqueId val="{00000003-4C0D-4360-9249-049FCB94DF75}"/>
            </c:ext>
          </c:extLst>
        </c:ser>
        <c:dLbls>
          <c:showLegendKey val="0"/>
          <c:showVal val="0"/>
          <c:showCatName val="0"/>
          <c:showSerName val="0"/>
          <c:showPercent val="0"/>
          <c:showBubbleSize val="0"/>
        </c:dLbls>
        <c:smooth val="0"/>
        <c:axId val="679385728"/>
        <c:axId val="679409920"/>
      </c:lineChart>
      <c:catAx>
        <c:axId val="679385728"/>
        <c:scaling>
          <c:orientation val="minMax"/>
        </c:scaling>
        <c:delete val="0"/>
        <c:axPos val="b"/>
        <c:numFmt formatCode="General" sourceLinked="1"/>
        <c:majorTickMark val="in"/>
        <c:minorTickMark val="none"/>
        <c:tickLblPos val="low"/>
        <c:spPr>
          <a:ln w="12700">
            <a:solidFill>
              <a:sysClr val="windowText" lastClr="000000"/>
            </a:solidFill>
            <a:prstDash val="solid"/>
          </a:ln>
        </c:spPr>
        <c:txPr>
          <a:bodyPr rot="-5400000" vert="horz"/>
          <a:lstStyle/>
          <a:p>
            <a:pPr>
              <a:defRPr sz="1800">
                <a:latin typeface="Segoe UI"/>
                <a:ea typeface="Segoe UI"/>
                <a:cs typeface="Segoe UI"/>
              </a:defRPr>
            </a:pPr>
            <a:endParaRPr lang="en-US"/>
          </a:p>
        </c:txPr>
        <c:crossAx val="679409920"/>
        <c:crosses val="autoZero"/>
        <c:auto val="1"/>
        <c:lblAlgn val="ctr"/>
        <c:lblOffset val="100"/>
        <c:tickLblSkip val="10"/>
        <c:tickMarkSkip val="10"/>
        <c:noMultiLvlLbl val="0"/>
      </c:catAx>
      <c:valAx>
        <c:axId val="679409920"/>
        <c:scaling>
          <c:orientation val="minMax"/>
        </c:scaling>
        <c:delete val="0"/>
        <c:axPos val="l"/>
        <c:numFmt formatCode="General" sourceLinked="0"/>
        <c:majorTickMark val="in"/>
        <c:minorTickMark val="none"/>
        <c:tickLblPos val="nextTo"/>
        <c:spPr>
          <a:ln w="12700">
            <a:solidFill>
              <a:sysClr val="windowText" lastClr="000000"/>
            </a:solidFill>
            <a:prstDash val="solid"/>
          </a:ln>
        </c:spPr>
        <c:txPr>
          <a:bodyPr rot="0" vert="horz"/>
          <a:lstStyle/>
          <a:p>
            <a:pPr>
              <a:defRPr sz="1800">
                <a:latin typeface="Segoe UI"/>
                <a:ea typeface="Segoe UI"/>
                <a:cs typeface="Segoe UI"/>
              </a:defRPr>
            </a:pPr>
            <a:endParaRPr lang="en-US"/>
          </a:p>
        </c:txPr>
        <c:crossAx val="679385728"/>
        <c:crosses val="autoZero"/>
        <c:crossBetween val="between"/>
      </c:valAx>
      <c:spPr>
        <a:solidFill>
          <a:srgbClr val="FFFFFF"/>
        </a:solidFill>
        <a:ln w="12700">
          <a:solidFill>
            <a:sysClr val="windowText" lastClr="000000"/>
          </a:solidFill>
          <a:prstDash val="solid"/>
        </a:ln>
      </c:spPr>
    </c:plotArea>
    <c:legend>
      <c:legendPos val="t"/>
      <c:layout>
        <c:manualLayout>
          <c:xMode val="edge"/>
          <c:yMode val="edge"/>
          <c:x val="0.12195765658136225"/>
          <c:y val="0.17886112292150178"/>
          <c:w val="0.49798749570003636"/>
          <c:h val="0.24610294052226528"/>
        </c:manualLayout>
      </c:layout>
      <c:overlay val="0"/>
      <c:spPr>
        <a:noFill/>
        <a:ln w="25400">
          <a:noFill/>
        </a:ln>
      </c:spPr>
      <c:txPr>
        <a:bodyPr/>
        <a:lstStyle/>
        <a:p>
          <a:pPr>
            <a:defRPr sz="1400">
              <a:latin typeface="Segoe UI"/>
              <a:ea typeface="Segoe UI"/>
              <a:cs typeface="Segoe UI"/>
            </a:defRPr>
          </a:pPr>
          <a:endParaRPr lang="en-US"/>
        </a:p>
      </c:txPr>
    </c:legend>
    <c:plotVisOnly val="1"/>
    <c:dispBlanksAs val="span"/>
    <c:showDLblsOverMax val="0"/>
  </c:chart>
  <c:spPr>
    <a:noFill/>
    <a:ln w="25400">
      <a:noFill/>
    </a:ln>
  </c:spPr>
  <c:txPr>
    <a:bodyPr/>
    <a:lstStyle/>
    <a:p>
      <a:pPr>
        <a:defRPr sz="1800" b="0" i="0" u="none" strike="noStrike" baseline="0">
          <a:solidFill>
            <a:srgbClr val="000000"/>
          </a:solidFill>
          <a:latin typeface="Segoe UI" pitchFamily="34" charset="0"/>
          <a:ea typeface="Frutiger LT Std 45 Light"/>
          <a:cs typeface="Segoe UI" pitchFamily="34" charset="0"/>
        </a:defRPr>
      </a:pPr>
      <a:endParaRPr lang="en-US"/>
    </a:p>
  </c:txPr>
  <c:externalData r:id="rId2">
    <c:autoUpdate val="0"/>
  </c:externalData>
  <c:userShapes r:id="rId3"/>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xMode val="edge"/>
          <c:yMode val="edge"/>
          <c:x val="2.8056713406100674E-2"/>
          <c:y val="0.13640828476250291"/>
          <c:w val="0.93669999999999987"/>
          <c:h val="0.78739999999999999"/>
        </c:manualLayout>
      </c:layout>
      <c:lineChart>
        <c:grouping val="standard"/>
        <c:varyColors val="0"/>
        <c:ser>
          <c:idx val="0"/>
          <c:order val="0"/>
          <c:tx>
            <c:strRef>
              <c:f>'[Figure 1 Charts 1 3 5 dependency_ratios_oldyoung-formatted.xlsx]ae_em_old'!$M$2</c:f>
              <c:strCache>
                <c:ptCount val="1"/>
                <c:pt idx="0">
                  <c:v>Medium fertility</c:v>
                </c:pt>
              </c:strCache>
            </c:strRef>
          </c:tx>
          <c:spPr>
            <a:ln>
              <a:solidFill>
                <a:sysClr val="windowText" lastClr="000000"/>
              </a:solidFill>
            </a:ln>
          </c:spPr>
          <c:marker>
            <c:symbol val="none"/>
          </c:marker>
          <c:cat>
            <c:numRef>
              <c:f>'[Figure 1 Charts 1 3 5 dependency_ratios_oldyoung-formatted.xlsx]ae_em_old'!$K$63:$K$153</c:f>
              <c:numCache>
                <c:formatCode>General</c:formatCode>
                <c:ptCount val="9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pt idx="41">
                  <c:v>2051</c:v>
                </c:pt>
                <c:pt idx="42">
                  <c:v>2052</c:v>
                </c:pt>
                <c:pt idx="43">
                  <c:v>2053</c:v>
                </c:pt>
                <c:pt idx="44">
                  <c:v>2054</c:v>
                </c:pt>
                <c:pt idx="45">
                  <c:v>2055</c:v>
                </c:pt>
                <c:pt idx="46">
                  <c:v>2056</c:v>
                </c:pt>
                <c:pt idx="47">
                  <c:v>2057</c:v>
                </c:pt>
                <c:pt idx="48">
                  <c:v>2058</c:v>
                </c:pt>
                <c:pt idx="49">
                  <c:v>2059</c:v>
                </c:pt>
                <c:pt idx="50">
                  <c:v>2060</c:v>
                </c:pt>
                <c:pt idx="51">
                  <c:v>2061</c:v>
                </c:pt>
                <c:pt idx="52">
                  <c:v>2062</c:v>
                </c:pt>
                <c:pt idx="53">
                  <c:v>2063</c:v>
                </c:pt>
                <c:pt idx="54">
                  <c:v>2064</c:v>
                </c:pt>
                <c:pt idx="55">
                  <c:v>2065</c:v>
                </c:pt>
                <c:pt idx="56">
                  <c:v>2066</c:v>
                </c:pt>
                <c:pt idx="57">
                  <c:v>2067</c:v>
                </c:pt>
                <c:pt idx="58">
                  <c:v>2068</c:v>
                </c:pt>
                <c:pt idx="59">
                  <c:v>2069</c:v>
                </c:pt>
                <c:pt idx="60">
                  <c:v>2070</c:v>
                </c:pt>
                <c:pt idx="61">
                  <c:v>2071</c:v>
                </c:pt>
                <c:pt idx="62">
                  <c:v>2072</c:v>
                </c:pt>
                <c:pt idx="63">
                  <c:v>2073</c:v>
                </c:pt>
                <c:pt idx="64">
                  <c:v>2074</c:v>
                </c:pt>
                <c:pt idx="65">
                  <c:v>2075</c:v>
                </c:pt>
                <c:pt idx="66">
                  <c:v>2076</c:v>
                </c:pt>
                <c:pt idx="67">
                  <c:v>2077</c:v>
                </c:pt>
                <c:pt idx="68">
                  <c:v>2078</c:v>
                </c:pt>
                <c:pt idx="69">
                  <c:v>2079</c:v>
                </c:pt>
                <c:pt idx="70">
                  <c:v>2080</c:v>
                </c:pt>
                <c:pt idx="71">
                  <c:v>2081</c:v>
                </c:pt>
                <c:pt idx="72">
                  <c:v>2082</c:v>
                </c:pt>
                <c:pt idx="73">
                  <c:v>2083</c:v>
                </c:pt>
                <c:pt idx="74">
                  <c:v>2084</c:v>
                </c:pt>
                <c:pt idx="75">
                  <c:v>2085</c:v>
                </c:pt>
                <c:pt idx="76">
                  <c:v>2086</c:v>
                </c:pt>
                <c:pt idx="77">
                  <c:v>2087</c:v>
                </c:pt>
                <c:pt idx="78">
                  <c:v>2088</c:v>
                </c:pt>
                <c:pt idx="79">
                  <c:v>2089</c:v>
                </c:pt>
                <c:pt idx="80">
                  <c:v>2090</c:v>
                </c:pt>
                <c:pt idx="81">
                  <c:v>2091</c:v>
                </c:pt>
                <c:pt idx="82">
                  <c:v>2092</c:v>
                </c:pt>
                <c:pt idx="83">
                  <c:v>2093</c:v>
                </c:pt>
                <c:pt idx="84">
                  <c:v>2094</c:v>
                </c:pt>
                <c:pt idx="85">
                  <c:v>2095</c:v>
                </c:pt>
                <c:pt idx="86">
                  <c:v>2096</c:v>
                </c:pt>
                <c:pt idx="87">
                  <c:v>2097</c:v>
                </c:pt>
                <c:pt idx="88">
                  <c:v>2098</c:v>
                </c:pt>
                <c:pt idx="89">
                  <c:v>2099</c:v>
                </c:pt>
                <c:pt idx="90">
                  <c:v>2100</c:v>
                </c:pt>
              </c:numCache>
            </c:numRef>
          </c:cat>
          <c:val>
            <c:numRef>
              <c:f>'[Figure 1 Charts 1 3 5 dependency_ratios_oldyoung-formatted.xlsx]ae_em_old'!$M$63:$M$153</c:f>
              <c:numCache>
                <c:formatCode>General</c:formatCode>
                <c:ptCount val="91"/>
                <c:pt idx="0">
                  <c:v>10.493630952381</c:v>
                </c:pt>
                <c:pt idx="1">
                  <c:v>10.5879404761905</c:v>
                </c:pt>
                <c:pt idx="2">
                  <c:v>10.742869047618999</c:v>
                </c:pt>
                <c:pt idx="3">
                  <c:v>10.935166666666699</c:v>
                </c:pt>
                <c:pt idx="4">
                  <c:v>11.1699880952381</c:v>
                </c:pt>
                <c:pt idx="5">
                  <c:v>11.4376785714286</c:v>
                </c:pt>
                <c:pt idx="6">
                  <c:v>11.7236071428571</c:v>
                </c:pt>
                <c:pt idx="7">
                  <c:v>12.0300714285714</c:v>
                </c:pt>
                <c:pt idx="8">
                  <c:v>12.3610476190476</c:v>
                </c:pt>
                <c:pt idx="9">
                  <c:v>12.7236785714286</c:v>
                </c:pt>
                <c:pt idx="10">
                  <c:v>13.0779642857143</c:v>
                </c:pt>
                <c:pt idx="11">
                  <c:v>13.3684404761905</c:v>
                </c:pt>
                <c:pt idx="12">
                  <c:v>13.630845238095199</c:v>
                </c:pt>
                <c:pt idx="13">
                  <c:v>13.9710238095238</c:v>
                </c:pt>
                <c:pt idx="14">
                  <c:v>14.3972380952381</c:v>
                </c:pt>
                <c:pt idx="15">
                  <c:v>14.868309523809501</c:v>
                </c:pt>
                <c:pt idx="16">
                  <c:v>15.348738095238099</c:v>
                </c:pt>
                <c:pt idx="17">
                  <c:v>15.829190476190499</c:v>
                </c:pt>
                <c:pt idx="18">
                  <c:v>16.314714285714299</c:v>
                </c:pt>
                <c:pt idx="19">
                  <c:v>16.795833333333299</c:v>
                </c:pt>
                <c:pt idx="20">
                  <c:v>17.266249999999999</c:v>
                </c:pt>
                <c:pt idx="21">
                  <c:v>17.730785714285702</c:v>
                </c:pt>
                <c:pt idx="22">
                  <c:v>18.196678571428599</c:v>
                </c:pt>
                <c:pt idx="23">
                  <c:v>18.681440476190499</c:v>
                </c:pt>
                <c:pt idx="24">
                  <c:v>19.1804880952381</c:v>
                </c:pt>
                <c:pt idx="25">
                  <c:v>19.683476190476199</c:v>
                </c:pt>
                <c:pt idx="26">
                  <c:v>20.191880952380998</c:v>
                </c:pt>
                <c:pt idx="27">
                  <c:v>20.705916666666699</c:v>
                </c:pt>
                <c:pt idx="28">
                  <c:v>21.228678571428599</c:v>
                </c:pt>
                <c:pt idx="29">
                  <c:v>21.7686071428571</c:v>
                </c:pt>
                <c:pt idx="30">
                  <c:v>22.329678571428602</c:v>
                </c:pt>
                <c:pt idx="31">
                  <c:v>22.908357142857099</c:v>
                </c:pt>
                <c:pt idx="32">
                  <c:v>23.501107142857101</c:v>
                </c:pt>
                <c:pt idx="33">
                  <c:v>24.111619047619001</c:v>
                </c:pt>
                <c:pt idx="34">
                  <c:v>24.747797619047599</c:v>
                </c:pt>
                <c:pt idx="35">
                  <c:v>25.412416666666701</c:v>
                </c:pt>
                <c:pt idx="36">
                  <c:v>26.097654761904799</c:v>
                </c:pt>
                <c:pt idx="37">
                  <c:v>26.802904761904799</c:v>
                </c:pt>
                <c:pt idx="38">
                  <c:v>27.532952380952398</c:v>
                </c:pt>
                <c:pt idx="39">
                  <c:v>28.279976190476201</c:v>
                </c:pt>
                <c:pt idx="40">
                  <c:v>29.038821428571399</c:v>
                </c:pt>
                <c:pt idx="41">
                  <c:v>29.802380952381</c:v>
                </c:pt>
                <c:pt idx="42">
                  <c:v>30.561499999999999</c:v>
                </c:pt>
                <c:pt idx="43">
                  <c:v>31.311714285714299</c:v>
                </c:pt>
                <c:pt idx="44">
                  <c:v>32.048595238095203</c:v>
                </c:pt>
                <c:pt idx="45">
                  <c:v>32.768833333333298</c:v>
                </c:pt>
                <c:pt idx="46">
                  <c:v>33.457440476190499</c:v>
                </c:pt>
                <c:pt idx="47">
                  <c:v>34.0981666666667</c:v>
                </c:pt>
                <c:pt idx="48">
                  <c:v>34.691380952381003</c:v>
                </c:pt>
                <c:pt idx="49">
                  <c:v>35.245059523809502</c:v>
                </c:pt>
                <c:pt idx="50">
                  <c:v>35.766392857142897</c:v>
                </c:pt>
                <c:pt idx="51">
                  <c:v>36.251892857142899</c:v>
                </c:pt>
                <c:pt idx="52">
                  <c:v>36.6943571428571</c:v>
                </c:pt>
                <c:pt idx="53">
                  <c:v>37.090047619047603</c:v>
                </c:pt>
                <c:pt idx="54">
                  <c:v>37.455261904761898</c:v>
                </c:pt>
                <c:pt idx="55">
                  <c:v>37.8085119047619</c:v>
                </c:pt>
                <c:pt idx="56">
                  <c:v>38.142761904761898</c:v>
                </c:pt>
                <c:pt idx="57">
                  <c:v>38.459392857142902</c:v>
                </c:pt>
                <c:pt idx="58">
                  <c:v>38.7742619047619</c:v>
                </c:pt>
                <c:pt idx="59">
                  <c:v>39.100083333333302</c:v>
                </c:pt>
                <c:pt idx="60">
                  <c:v>39.447511904761903</c:v>
                </c:pt>
                <c:pt idx="61">
                  <c:v>39.820583333333303</c:v>
                </c:pt>
                <c:pt idx="62">
                  <c:v>40.235666666666702</c:v>
                </c:pt>
                <c:pt idx="63">
                  <c:v>40.7132619047619</c:v>
                </c:pt>
                <c:pt idx="64">
                  <c:v>41.248869047619003</c:v>
                </c:pt>
                <c:pt idx="65">
                  <c:v>41.808380952381</c:v>
                </c:pt>
                <c:pt idx="66">
                  <c:v>42.378</c:v>
                </c:pt>
                <c:pt idx="67">
                  <c:v>42.980833333333301</c:v>
                </c:pt>
                <c:pt idx="68">
                  <c:v>43.607404761904803</c:v>
                </c:pt>
                <c:pt idx="69">
                  <c:v>44.248166666666698</c:v>
                </c:pt>
                <c:pt idx="70">
                  <c:v>44.892571428571401</c:v>
                </c:pt>
                <c:pt idx="71">
                  <c:v>45.515250000000002</c:v>
                </c:pt>
                <c:pt idx="72">
                  <c:v>46.105178571428603</c:v>
                </c:pt>
                <c:pt idx="73">
                  <c:v>46.6409047619048</c:v>
                </c:pt>
                <c:pt idx="74">
                  <c:v>47.120964285714301</c:v>
                </c:pt>
                <c:pt idx="75">
                  <c:v>47.553702380952402</c:v>
                </c:pt>
                <c:pt idx="76">
                  <c:v>47.947714285714298</c:v>
                </c:pt>
                <c:pt idx="77">
                  <c:v>48.314500000000002</c:v>
                </c:pt>
                <c:pt idx="78">
                  <c:v>48.663761904761898</c:v>
                </c:pt>
                <c:pt idx="79">
                  <c:v>49.000821428571399</c:v>
                </c:pt>
                <c:pt idx="80">
                  <c:v>49.327750000000002</c:v>
                </c:pt>
                <c:pt idx="81">
                  <c:v>49.647833333333303</c:v>
                </c:pt>
                <c:pt idx="82">
                  <c:v>49.963357142857099</c:v>
                </c:pt>
                <c:pt idx="83">
                  <c:v>50.275797619047601</c:v>
                </c:pt>
                <c:pt idx="84">
                  <c:v>50.588452380952397</c:v>
                </c:pt>
                <c:pt idx="85">
                  <c:v>50.9045357142857</c:v>
                </c:pt>
                <c:pt idx="86">
                  <c:v>51.225476190476201</c:v>
                </c:pt>
                <c:pt idx="87">
                  <c:v>51.552654761904797</c:v>
                </c:pt>
                <c:pt idx="88">
                  <c:v>51.888476190476197</c:v>
                </c:pt>
                <c:pt idx="89">
                  <c:v>52.234749999999998</c:v>
                </c:pt>
                <c:pt idx="90">
                  <c:v>52.593154761904799</c:v>
                </c:pt>
              </c:numCache>
            </c:numRef>
          </c:val>
          <c:smooth val="0"/>
          <c:extLst>
            <c:ext xmlns:c16="http://schemas.microsoft.com/office/drawing/2014/chart" uri="{C3380CC4-5D6E-409C-BE32-E72D297353CC}">
              <c16:uniqueId val="{00000000-2224-4766-98EF-F8CFECB34717}"/>
            </c:ext>
          </c:extLst>
        </c:ser>
        <c:ser>
          <c:idx val="1"/>
          <c:order val="1"/>
          <c:tx>
            <c:strRef>
              <c:f>'[Figure 1 Charts 1 3 5 dependency_ratios_oldyoung-formatted.xlsx]ae_em_old'!$N$2</c:f>
              <c:strCache>
                <c:ptCount val="1"/>
                <c:pt idx="0">
                  <c:v>Low fertility</c:v>
                </c:pt>
              </c:strCache>
            </c:strRef>
          </c:tx>
          <c:spPr>
            <a:ln w="31750">
              <a:prstDash val="dash"/>
            </a:ln>
          </c:spPr>
          <c:marker>
            <c:symbol val="none"/>
          </c:marker>
          <c:cat>
            <c:numRef>
              <c:f>'[Figure 1 Charts 1 3 5 dependency_ratios_oldyoung-formatted.xlsx]ae_em_old'!$K$63:$K$153</c:f>
              <c:numCache>
                <c:formatCode>General</c:formatCode>
                <c:ptCount val="9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pt idx="41">
                  <c:v>2051</c:v>
                </c:pt>
                <c:pt idx="42">
                  <c:v>2052</c:v>
                </c:pt>
                <c:pt idx="43">
                  <c:v>2053</c:v>
                </c:pt>
                <c:pt idx="44">
                  <c:v>2054</c:v>
                </c:pt>
                <c:pt idx="45">
                  <c:v>2055</c:v>
                </c:pt>
                <c:pt idx="46">
                  <c:v>2056</c:v>
                </c:pt>
                <c:pt idx="47">
                  <c:v>2057</c:v>
                </c:pt>
                <c:pt idx="48">
                  <c:v>2058</c:v>
                </c:pt>
                <c:pt idx="49">
                  <c:v>2059</c:v>
                </c:pt>
                <c:pt idx="50">
                  <c:v>2060</c:v>
                </c:pt>
                <c:pt idx="51">
                  <c:v>2061</c:v>
                </c:pt>
                <c:pt idx="52">
                  <c:v>2062</c:v>
                </c:pt>
                <c:pt idx="53">
                  <c:v>2063</c:v>
                </c:pt>
                <c:pt idx="54">
                  <c:v>2064</c:v>
                </c:pt>
                <c:pt idx="55">
                  <c:v>2065</c:v>
                </c:pt>
                <c:pt idx="56">
                  <c:v>2066</c:v>
                </c:pt>
                <c:pt idx="57">
                  <c:v>2067</c:v>
                </c:pt>
                <c:pt idx="58">
                  <c:v>2068</c:v>
                </c:pt>
                <c:pt idx="59">
                  <c:v>2069</c:v>
                </c:pt>
                <c:pt idx="60">
                  <c:v>2070</c:v>
                </c:pt>
                <c:pt idx="61">
                  <c:v>2071</c:v>
                </c:pt>
                <c:pt idx="62">
                  <c:v>2072</c:v>
                </c:pt>
                <c:pt idx="63">
                  <c:v>2073</c:v>
                </c:pt>
                <c:pt idx="64">
                  <c:v>2074</c:v>
                </c:pt>
                <c:pt idx="65">
                  <c:v>2075</c:v>
                </c:pt>
                <c:pt idx="66">
                  <c:v>2076</c:v>
                </c:pt>
                <c:pt idx="67">
                  <c:v>2077</c:v>
                </c:pt>
                <c:pt idx="68">
                  <c:v>2078</c:v>
                </c:pt>
                <c:pt idx="69">
                  <c:v>2079</c:v>
                </c:pt>
                <c:pt idx="70">
                  <c:v>2080</c:v>
                </c:pt>
                <c:pt idx="71">
                  <c:v>2081</c:v>
                </c:pt>
                <c:pt idx="72">
                  <c:v>2082</c:v>
                </c:pt>
                <c:pt idx="73">
                  <c:v>2083</c:v>
                </c:pt>
                <c:pt idx="74">
                  <c:v>2084</c:v>
                </c:pt>
                <c:pt idx="75">
                  <c:v>2085</c:v>
                </c:pt>
                <c:pt idx="76">
                  <c:v>2086</c:v>
                </c:pt>
                <c:pt idx="77">
                  <c:v>2087</c:v>
                </c:pt>
                <c:pt idx="78">
                  <c:v>2088</c:v>
                </c:pt>
                <c:pt idx="79">
                  <c:v>2089</c:v>
                </c:pt>
                <c:pt idx="80">
                  <c:v>2090</c:v>
                </c:pt>
                <c:pt idx="81">
                  <c:v>2091</c:v>
                </c:pt>
                <c:pt idx="82">
                  <c:v>2092</c:v>
                </c:pt>
                <c:pt idx="83">
                  <c:v>2093</c:v>
                </c:pt>
                <c:pt idx="84">
                  <c:v>2094</c:v>
                </c:pt>
                <c:pt idx="85">
                  <c:v>2095</c:v>
                </c:pt>
                <c:pt idx="86">
                  <c:v>2096</c:v>
                </c:pt>
                <c:pt idx="87">
                  <c:v>2097</c:v>
                </c:pt>
                <c:pt idx="88">
                  <c:v>2098</c:v>
                </c:pt>
                <c:pt idx="89">
                  <c:v>2099</c:v>
                </c:pt>
                <c:pt idx="90">
                  <c:v>2100</c:v>
                </c:pt>
              </c:numCache>
            </c:numRef>
          </c:cat>
          <c:val>
            <c:numRef>
              <c:f>'[Figure 1 Charts 1 3 5 dependency_ratios_oldyoung-formatted.xlsx]ae_em_old'!$N$63:$N$153</c:f>
              <c:numCache>
                <c:formatCode>General</c:formatCode>
                <c:ptCount val="91"/>
                <c:pt idx="0">
                  <c:v>10.493630952381</c:v>
                </c:pt>
                <c:pt idx="1">
                  <c:v>10.5879404761905</c:v>
                </c:pt>
                <c:pt idx="2">
                  <c:v>10.742869047618999</c:v>
                </c:pt>
                <c:pt idx="3">
                  <c:v>10.935166666666699</c:v>
                </c:pt>
                <c:pt idx="4">
                  <c:v>11.1699880952381</c:v>
                </c:pt>
                <c:pt idx="5">
                  <c:v>11.4376785714286</c:v>
                </c:pt>
                <c:pt idx="6">
                  <c:v>11.7236071428571</c:v>
                </c:pt>
                <c:pt idx="7">
                  <c:v>12.0300714285714</c:v>
                </c:pt>
                <c:pt idx="8">
                  <c:v>12.3610476190476</c:v>
                </c:pt>
                <c:pt idx="9">
                  <c:v>12.7236785714286</c:v>
                </c:pt>
                <c:pt idx="10">
                  <c:v>13.0779642857143</c:v>
                </c:pt>
                <c:pt idx="11">
                  <c:v>13.3684404761905</c:v>
                </c:pt>
                <c:pt idx="12">
                  <c:v>13.630845238095199</c:v>
                </c:pt>
                <c:pt idx="13">
                  <c:v>13.9710238095238</c:v>
                </c:pt>
                <c:pt idx="14">
                  <c:v>14.3972380952381</c:v>
                </c:pt>
                <c:pt idx="15">
                  <c:v>14.868309523809501</c:v>
                </c:pt>
                <c:pt idx="16">
                  <c:v>15.348738095238099</c:v>
                </c:pt>
                <c:pt idx="17">
                  <c:v>15.829190476190499</c:v>
                </c:pt>
                <c:pt idx="18">
                  <c:v>16.314714285714299</c:v>
                </c:pt>
                <c:pt idx="19">
                  <c:v>16.795833333333299</c:v>
                </c:pt>
                <c:pt idx="20">
                  <c:v>17.266249999999999</c:v>
                </c:pt>
                <c:pt idx="21">
                  <c:v>17.730785714285702</c:v>
                </c:pt>
                <c:pt idx="22">
                  <c:v>18.196678571428599</c:v>
                </c:pt>
                <c:pt idx="23">
                  <c:v>18.681440476190499</c:v>
                </c:pt>
                <c:pt idx="24">
                  <c:v>19.1804880952381</c:v>
                </c:pt>
                <c:pt idx="25">
                  <c:v>19.683476190476199</c:v>
                </c:pt>
                <c:pt idx="26">
                  <c:v>20.191880952380998</c:v>
                </c:pt>
                <c:pt idx="27">
                  <c:v>20.7325119047619</c:v>
                </c:pt>
                <c:pt idx="28">
                  <c:v>21.310619047618999</c:v>
                </c:pt>
                <c:pt idx="29">
                  <c:v>21.9087142857143</c:v>
                </c:pt>
                <c:pt idx="30">
                  <c:v>22.531047619047602</c:v>
                </c:pt>
                <c:pt idx="31">
                  <c:v>23.174214285714299</c:v>
                </c:pt>
                <c:pt idx="32">
                  <c:v>23.8530952380952</c:v>
                </c:pt>
                <c:pt idx="33">
                  <c:v>24.5736666666667</c:v>
                </c:pt>
                <c:pt idx="34">
                  <c:v>25.3266904761905</c:v>
                </c:pt>
                <c:pt idx="35">
                  <c:v>26.115797619047601</c:v>
                </c:pt>
                <c:pt idx="36">
                  <c:v>26.933690476190499</c:v>
                </c:pt>
                <c:pt idx="37">
                  <c:v>27.794809523809501</c:v>
                </c:pt>
                <c:pt idx="38">
                  <c:v>28.7068095238095</c:v>
                </c:pt>
                <c:pt idx="39">
                  <c:v>29.648583333333299</c:v>
                </c:pt>
                <c:pt idx="40">
                  <c:v>30.6155476190476</c:v>
                </c:pt>
                <c:pt idx="41">
                  <c:v>31.600940476190502</c:v>
                </c:pt>
                <c:pt idx="42">
                  <c:v>32.595654761904797</c:v>
                </c:pt>
                <c:pt idx="43">
                  <c:v>33.5954642857143</c:v>
                </c:pt>
                <c:pt idx="44">
                  <c:v>34.595999999999997</c:v>
                </c:pt>
                <c:pt idx="45">
                  <c:v>35.594416666666703</c:v>
                </c:pt>
                <c:pt idx="46">
                  <c:v>36.574285714285701</c:v>
                </c:pt>
                <c:pt idx="47">
                  <c:v>37.517345238095203</c:v>
                </c:pt>
                <c:pt idx="48">
                  <c:v>38.4235238095238</c:v>
                </c:pt>
                <c:pt idx="49">
                  <c:v>39.302095238095198</c:v>
                </c:pt>
                <c:pt idx="50">
                  <c:v>40.161404761904798</c:v>
                </c:pt>
                <c:pt idx="51">
                  <c:v>40.997964285714303</c:v>
                </c:pt>
                <c:pt idx="52">
                  <c:v>41.802904761904799</c:v>
                </c:pt>
                <c:pt idx="53">
                  <c:v>42.571297619047598</c:v>
                </c:pt>
                <c:pt idx="54">
                  <c:v>43.323404761904797</c:v>
                </c:pt>
                <c:pt idx="55">
                  <c:v>44.082452380952397</c:v>
                </c:pt>
                <c:pt idx="56">
                  <c:v>44.840654761904801</c:v>
                </c:pt>
                <c:pt idx="57">
                  <c:v>45.601428571428599</c:v>
                </c:pt>
                <c:pt idx="58">
                  <c:v>46.385785714285703</c:v>
                </c:pt>
                <c:pt idx="59">
                  <c:v>47.211023809523802</c:v>
                </c:pt>
                <c:pt idx="60">
                  <c:v>48.0934047619048</c:v>
                </c:pt>
                <c:pt idx="61">
                  <c:v>49.040869047618997</c:v>
                </c:pt>
                <c:pt idx="62">
                  <c:v>50.0784880952381</c:v>
                </c:pt>
                <c:pt idx="63">
                  <c:v>51.240202380952397</c:v>
                </c:pt>
                <c:pt idx="64">
                  <c:v>52.5273095238095</c:v>
                </c:pt>
                <c:pt idx="65">
                  <c:v>53.8973333333333</c:v>
                </c:pt>
                <c:pt idx="66">
                  <c:v>55.335071428571403</c:v>
                </c:pt>
                <c:pt idx="67">
                  <c:v>56.882821428571397</c:v>
                </c:pt>
                <c:pt idx="68">
                  <c:v>58.532869047619002</c:v>
                </c:pt>
                <c:pt idx="69">
                  <c:v>60.2768333333333</c:v>
                </c:pt>
                <c:pt idx="70">
                  <c:v>62.106297619047602</c:v>
                </c:pt>
                <c:pt idx="71">
                  <c:v>63.987619047618999</c:v>
                </c:pt>
                <c:pt idx="72">
                  <c:v>65.905154761904797</c:v>
                </c:pt>
                <c:pt idx="73">
                  <c:v>67.822988095238102</c:v>
                </c:pt>
                <c:pt idx="74">
                  <c:v>69.742107142857094</c:v>
                </c:pt>
                <c:pt idx="75">
                  <c:v>71.6832142857143</c:v>
                </c:pt>
                <c:pt idx="76">
                  <c:v>73.671059523809504</c:v>
                </c:pt>
                <c:pt idx="77">
                  <c:v>75.284630952380994</c:v>
                </c:pt>
                <c:pt idx="78">
                  <c:v>76.498000000000005</c:v>
                </c:pt>
                <c:pt idx="79">
                  <c:v>77.775571428571396</c:v>
                </c:pt>
                <c:pt idx="80">
                  <c:v>79.132726190476205</c:v>
                </c:pt>
                <c:pt idx="81">
                  <c:v>80.586809523809507</c:v>
                </c:pt>
                <c:pt idx="82">
                  <c:v>81.816083333333296</c:v>
                </c:pt>
                <c:pt idx="83">
                  <c:v>82.785142857142901</c:v>
                </c:pt>
                <c:pt idx="84">
                  <c:v>83.841869047618999</c:v>
                </c:pt>
                <c:pt idx="85">
                  <c:v>85.016511904761899</c:v>
                </c:pt>
                <c:pt idx="86">
                  <c:v>86.342904761904805</c:v>
                </c:pt>
                <c:pt idx="87">
                  <c:v>87.541416666666706</c:v>
                </c:pt>
                <c:pt idx="88">
                  <c:v>88.568511904761905</c:v>
                </c:pt>
                <c:pt idx="89">
                  <c:v>89.729666666666702</c:v>
                </c:pt>
                <c:pt idx="90">
                  <c:v>91.021333333333303</c:v>
                </c:pt>
              </c:numCache>
            </c:numRef>
          </c:val>
          <c:smooth val="0"/>
          <c:extLst>
            <c:ext xmlns:c16="http://schemas.microsoft.com/office/drawing/2014/chart" uri="{C3380CC4-5D6E-409C-BE32-E72D297353CC}">
              <c16:uniqueId val="{00000001-2224-4766-98EF-F8CFECB34717}"/>
            </c:ext>
          </c:extLst>
        </c:ser>
        <c:ser>
          <c:idx val="2"/>
          <c:order val="2"/>
          <c:tx>
            <c:strRef>
              <c:f>'[Figure 1 Charts 1 3 5 dependency_ratios_oldyoung-formatted.xlsx]ae_em_old'!$O$2</c:f>
              <c:strCache>
                <c:ptCount val="1"/>
                <c:pt idx="0">
                  <c:v>High fertility</c:v>
                </c:pt>
              </c:strCache>
            </c:strRef>
          </c:tx>
          <c:spPr>
            <a:ln>
              <a:prstDash val="dash"/>
            </a:ln>
          </c:spPr>
          <c:marker>
            <c:symbol val="none"/>
          </c:marker>
          <c:cat>
            <c:numRef>
              <c:f>'[Figure 1 Charts 1 3 5 dependency_ratios_oldyoung-formatted.xlsx]ae_em_old'!$K$63:$K$153</c:f>
              <c:numCache>
                <c:formatCode>General</c:formatCode>
                <c:ptCount val="9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pt idx="41">
                  <c:v>2051</c:v>
                </c:pt>
                <c:pt idx="42">
                  <c:v>2052</c:v>
                </c:pt>
                <c:pt idx="43">
                  <c:v>2053</c:v>
                </c:pt>
                <c:pt idx="44">
                  <c:v>2054</c:v>
                </c:pt>
                <c:pt idx="45">
                  <c:v>2055</c:v>
                </c:pt>
                <c:pt idx="46">
                  <c:v>2056</c:v>
                </c:pt>
                <c:pt idx="47">
                  <c:v>2057</c:v>
                </c:pt>
                <c:pt idx="48">
                  <c:v>2058</c:v>
                </c:pt>
                <c:pt idx="49">
                  <c:v>2059</c:v>
                </c:pt>
                <c:pt idx="50">
                  <c:v>2060</c:v>
                </c:pt>
                <c:pt idx="51">
                  <c:v>2061</c:v>
                </c:pt>
                <c:pt idx="52">
                  <c:v>2062</c:v>
                </c:pt>
                <c:pt idx="53">
                  <c:v>2063</c:v>
                </c:pt>
                <c:pt idx="54">
                  <c:v>2064</c:v>
                </c:pt>
                <c:pt idx="55">
                  <c:v>2065</c:v>
                </c:pt>
                <c:pt idx="56">
                  <c:v>2066</c:v>
                </c:pt>
                <c:pt idx="57">
                  <c:v>2067</c:v>
                </c:pt>
                <c:pt idx="58">
                  <c:v>2068</c:v>
                </c:pt>
                <c:pt idx="59">
                  <c:v>2069</c:v>
                </c:pt>
                <c:pt idx="60">
                  <c:v>2070</c:v>
                </c:pt>
                <c:pt idx="61">
                  <c:v>2071</c:v>
                </c:pt>
                <c:pt idx="62">
                  <c:v>2072</c:v>
                </c:pt>
                <c:pt idx="63">
                  <c:v>2073</c:v>
                </c:pt>
                <c:pt idx="64">
                  <c:v>2074</c:v>
                </c:pt>
                <c:pt idx="65">
                  <c:v>2075</c:v>
                </c:pt>
                <c:pt idx="66">
                  <c:v>2076</c:v>
                </c:pt>
                <c:pt idx="67">
                  <c:v>2077</c:v>
                </c:pt>
                <c:pt idx="68">
                  <c:v>2078</c:v>
                </c:pt>
                <c:pt idx="69">
                  <c:v>2079</c:v>
                </c:pt>
                <c:pt idx="70">
                  <c:v>2080</c:v>
                </c:pt>
                <c:pt idx="71">
                  <c:v>2081</c:v>
                </c:pt>
                <c:pt idx="72">
                  <c:v>2082</c:v>
                </c:pt>
                <c:pt idx="73">
                  <c:v>2083</c:v>
                </c:pt>
                <c:pt idx="74">
                  <c:v>2084</c:v>
                </c:pt>
                <c:pt idx="75">
                  <c:v>2085</c:v>
                </c:pt>
                <c:pt idx="76">
                  <c:v>2086</c:v>
                </c:pt>
                <c:pt idx="77">
                  <c:v>2087</c:v>
                </c:pt>
                <c:pt idx="78">
                  <c:v>2088</c:v>
                </c:pt>
                <c:pt idx="79">
                  <c:v>2089</c:v>
                </c:pt>
                <c:pt idx="80">
                  <c:v>2090</c:v>
                </c:pt>
                <c:pt idx="81">
                  <c:v>2091</c:v>
                </c:pt>
                <c:pt idx="82">
                  <c:v>2092</c:v>
                </c:pt>
                <c:pt idx="83">
                  <c:v>2093</c:v>
                </c:pt>
                <c:pt idx="84">
                  <c:v>2094</c:v>
                </c:pt>
                <c:pt idx="85">
                  <c:v>2095</c:v>
                </c:pt>
                <c:pt idx="86">
                  <c:v>2096</c:v>
                </c:pt>
                <c:pt idx="87">
                  <c:v>2097</c:v>
                </c:pt>
                <c:pt idx="88">
                  <c:v>2098</c:v>
                </c:pt>
                <c:pt idx="89">
                  <c:v>2099</c:v>
                </c:pt>
                <c:pt idx="90">
                  <c:v>2100</c:v>
                </c:pt>
              </c:numCache>
            </c:numRef>
          </c:cat>
          <c:val>
            <c:numRef>
              <c:f>'[Figure 1 Charts 1 3 5 dependency_ratios_oldyoung-formatted.xlsx]ae_em_old'!$O$63:$O$153</c:f>
              <c:numCache>
                <c:formatCode>General</c:formatCode>
                <c:ptCount val="91"/>
                <c:pt idx="0">
                  <c:v>10.493630952381</c:v>
                </c:pt>
                <c:pt idx="1">
                  <c:v>10.5879404761905</c:v>
                </c:pt>
                <c:pt idx="2">
                  <c:v>10.742869047618999</c:v>
                </c:pt>
                <c:pt idx="3">
                  <c:v>10.935166666666699</c:v>
                </c:pt>
                <c:pt idx="4">
                  <c:v>11.1699880952381</c:v>
                </c:pt>
                <c:pt idx="5">
                  <c:v>11.4376785714286</c:v>
                </c:pt>
                <c:pt idx="6">
                  <c:v>11.7236071428571</c:v>
                </c:pt>
                <c:pt idx="7">
                  <c:v>12.0300714285714</c:v>
                </c:pt>
                <c:pt idx="8">
                  <c:v>12.3610476190476</c:v>
                </c:pt>
                <c:pt idx="9">
                  <c:v>12.7236785714286</c:v>
                </c:pt>
                <c:pt idx="10">
                  <c:v>13.0779642857143</c:v>
                </c:pt>
                <c:pt idx="11">
                  <c:v>13.3684404761905</c:v>
                </c:pt>
                <c:pt idx="12">
                  <c:v>13.630845238095199</c:v>
                </c:pt>
                <c:pt idx="13">
                  <c:v>13.9710238095238</c:v>
                </c:pt>
                <c:pt idx="14">
                  <c:v>14.3972380952381</c:v>
                </c:pt>
                <c:pt idx="15">
                  <c:v>14.868309523809501</c:v>
                </c:pt>
                <c:pt idx="16">
                  <c:v>15.348738095238099</c:v>
                </c:pt>
                <c:pt idx="17">
                  <c:v>15.829190476190499</c:v>
                </c:pt>
                <c:pt idx="18">
                  <c:v>16.314714285714299</c:v>
                </c:pt>
                <c:pt idx="19">
                  <c:v>16.795833333333299</c:v>
                </c:pt>
                <c:pt idx="20">
                  <c:v>17.266249999999999</c:v>
                </c:pt>
                <c:pt idx="21">
                  <c:v>17.730785714285702</c:v>
                </c:pt>
                <c:pt idx="22">
                  <c:v>18.196678571428599</c:v>
                </c:pt>
                <c:pt idx="23">
                  <c:v>18.681440476190499</c:v>
                </c:pt>
                <c:pt idx="24">
                  <c:v>19.1804880952381</c:v>
                </c:pt>
                <c:pt idx="25">
                  <c:v>19.683476190476199</c:v>
                </c:pt>
                <c:pt idx="26">
                  <c:v>20.191880952380998</c:v>
                </c:pt>
                <c:pt idx="27">
                  <c:v>20.679309523809501</c:v>
                </c:pt>
                <c:pt idx="28">
                  <c:v>21.147345238095198</c:v>
                </c:pt>
                <c:pt idx="29">
                  <c:v>21.630321428571399</c:v>
                </c:pt>
                <c:pt idx="30">
                  <c:v>22.131904761904799</c:v>
                </c:pt>
                <c:pt idx="31">
                  <c:v>22.648666666666699</c:v>
                </c:pt>
                <c:pt idx="32">
                  <c:v>23.159476190476202</c:v>
                </c:pt>
                <c:pt idx="33">
                  <c:v>23.666976190476198</c:v>
                </c:pt>
                <c:pt idx="34">
                  <c:v>24.195178571428599</c:v>
                </c:pt>
                <c:pt idx="35">
                  <c:v>24.746428571428599</c:v>
                </c:pt>
                <c:pt idx="36">
                  <c:v>25.312571428571399</c:v>
                </c:pt>
                <c:pt idx="37">
                  <c:v>25.880023809523799</c:v>
                </c:pt>
                <c:pt idx="38">
                  <c:v>26.4523095238095</c:v>
                </c:pt>
                <c:pt idx="39">
                  <c:v>27.033404761904801</c:v>
                </c:pt>
                <c:pt idx="40">
                  <c:v>27.617964285714301</c:v>
                </c:pt>
                <c:pt idx="41">
                  <c:v>28.199071428571401</c:v>
                </c:pt>
                <c:pt idx="42">
                  <c:v>28.767904761904799</c:v>
                </c:pt>
                <c:pt idx="43">
                  <c:v>29.3204285714286</c:v>
                </c:pt>
                <c:pt idx="44">
                  <c:v>29.8522142857143</c:v>
                </c:pt>
                <c:pt idx="45">
                  <c:v>30.360023809523799</c:v>
                </c:pt>
                <c:pt idx="46">
                  <c:v>30.830380952380999</c:v>
                </c:pt>
                <c:pt idx="47">
                  <c:v>31.249095238095201</c:v>
                </c:pt>
                <c:pt idx="48">
                  <c:v>31.616559523809499</c:v>
                </c:pt>
                <c:pt idx="49">
                  <c:v>31.940273809523799</c:v>
                </c:pt>
                <c:pt idx="50">
                  <c:v>32.226404761904803</c:v>
                </c:pt>
                <c:pt idx="51">
                  <c:v>32.4719642857143</c:v>
                </c:pt>
                <c:pt idx="52">
                  <c:v>32.670928571428597</c:v>
                </c:pt>
                <c:pt idx="53">
                  <c:v>32.8203452380952</c:v>
                </c:pt>
                <c:pt idx="54">
                  <c:v>32.934202380952399</c:v>
                </c:pt>
                <c:pt idx="55">
                  <c:v>33.027892857142902</c:v>
                </c:pt>
                <c:pt idx="56">
                  <c:v>33.095404761904803</c:v>
                </c:pt>
                <c:pt idx="57">
                  <c:v>33.1376428571429</c:v>
                </c:pt>
                <c:pt idx="58">
                  <c:v>33.167666666666697</c:v>
                </c:pt>
                <c:pt idx="59">
                  <c:v>33.196166666666699</c:v>
                </c:pt>
                <c:pt idx="60">
                  <c:v>33.231380952381002</c:v>
                </c:pt>
                <c:pt idx="61">
                  <c:v>33.276095238095202</c:v>
                </c:pt>
                <c:pt idx="62">
                  <c:v>33.3428095238095</c:v>
                </c:pt>
                <c:pt idx="63">
                  <c:v>33.446428571428598</c:v>
                </c:pt>
                <c:pt idx="64">
                  <c:v>33.581523809523802</c:v>
                </c:pt>
                <c:pt idx="65">
                  <c:v>33.7218809523809</c:v>
                </c:pt>
                <c:pt idx="66">
                  <c:v>33.857035714285701</c:v>
                </c:pt>
                <c:pt idx="67">
                  <c:v>34.003142857142898</c:v>
                </c:pt>
                <c:pt idx="68">
                  <c:v>34.153154761904801</c:v>
                </c:pt>
                <c:pt idx="69">
                  <c:v>34.300809523809498</c:v>
                </c:pt>
                <c:pt idx="70">
                  <c:v>34.438321428571399</c:v>
                </c:pt>
                <c:pt idx="71">
                  <c:v>34.548535714285698</c:v>
                </c:pt>
                <c:pt idx="72">
                  <c:v>34.625226190476198</c:v>
                </c:pt>
                <c:pt idx="73">
                  <c:v>34.6563809523809</c:v>
                </c:pt>
                <c:pt idx="74">
                  <c:v>34.6428333333333</c:v>
                </c:pt>
                <c:pt idx="75">
                  <c:v>34.591678571428602</c:v>
                </c:pt>
                <c:pt idx="76">
                  <c:v>34.509440476190498</c:v>
                </c:pt>
                <c:pt idx="77">
                  <c:v>34.545333333333303</c:v>
                </c:pt>
                <c:pt idx="78">
                  <c:v>34.703595238095197</c:v>
                </c:pt>
                <c:pt idx="79">
                  <c:v>34.844630952381003</c:v>
                </c:pt>
                <c:pt idx="80">
                  <c:v>34.969571428571399</c:v>
                </c:pt>
                <c:pt idx="81">
                  <c:v>35.080464285714299</c:v>
                </c:pt>
                <c:pt idx="82">
                  <c:v>35.260964285714302</c:v>
                </c:pt>
                <c:pt idx="83">
                  <c:v>35.511404761904799</c:v>
                </c:pt>
                <c:pt idx="84">
                  <c:v>35.750250000000001</c:v>
                </c:pt>
                <c:pt idx="85">
                  <c:v>35.979107142857103</c:v>
                </c:pt>
                <c:pt idx="86">
                  <c:v>36.1983452380952</c:v>
                </c:pt>
                <c:pt idx="87">
                  <c:v>36.463892857142902</c:v>
                </c:pt>
                <c:pt idx="88">
                  <c:v>36.776297619047597</c:v>
                </c:pt>
                <c:pt idx="89">
                  <c:v>37.080904761904797</c:v>
                </c:pt>
                <c:pt idx="90">
                  <c:v>37.3783452380952</c:v>
                </c:pt>
              </c:numCache>
            </c:numRef>
          </c:val>
          <c:smooth val="0"/>
          <c:extLst>
            <c:ext xmlns:c16="http://schemas.microsoft.com/office/drawing/2014/chart" uri="{C3380CC4-5D6E-409C-BE32-E72D297353CC}">
              <c16:uniqueId val="{00000002-2224-4766-98EF-F8CFECB34717}"/>
            </c:ext>
          </c:extLst>
        </c:ser>
        <c:ser>
          <c:idx val="3"/>
          <c:order val="3"/>
          <c:tx>
            <c:strRef>
              <c:f>'[Figure 1 Charts 1 3 5 dependency_ratios_oldyoung-formatted.xlsx]ae_em_old'!$P$2</c:f>
              <c:strCache>
                <c:ptCount val="1"/>
                <c:pt idx="0">
                  <c:v>Constant fertility</c:v>
                </c:pt>
              </c:strCache>
            </c:strRef>
          </c:tx>
          <c:spPr>
            <a:ln>
              <a:solidFill>
                <a:srgbClr val="0070C0"/>
              </a:solidFill>
              <a:prstDash val="dash"/>
            </a:ln>
          </c:spPr>
          <c:marker>
            <c:symbol val="none"/>
          </c:marker>
          <c:cat>
            <c:numRef>
              <c:f>'[Figure 1 Charts 1 3 5 dependency_ratios_oldyoung-formatted.xlsx]ae_em_old'!$K$63:$K$153</c:f>
              <c:numCache>
                <c:formatCode>General</c:formatCode>
                <c:ptCount val="9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pt idx="41">
                  <c:v>2051</c:v>
                </c:pt>
                <c:pt idx="42">
                  <c:v>2052</c:v>
                </c:pt>
                <c:pt idx="43">
                  <c:v>2053</c:v>
                </c:pt>
                <c:pt idx="44">
                  <c:v>2054</c:v>
                </c:pt>
                <c:pt idx="45">
                  <c:v>2055</c:v>
                </c:pt>
                <c:pt idx="46">
                  <c:v>2056</c:v>
                </c:pt>
                <c:pt idx="47">
                  <c:v>2057</c:v>
                </c:pt>
                <c:pt idx="48">
                  <c:v>2058</c:v>
                </c:pt>
                <c:pt idx="49">
                  <c:v>2059</c:v>
                </c:pt>
                <c:pt idx="50">
                  <c:v>2060</c:v>
                </c:pt>
                <c:pt idx="51">
                  <c:v>2061</c:v>
                </c:pt>
                <c:pt idx="52">
                  <c:v>2062</c:v>
                </c:pt>
                <c:pt idx="53">
                  <c:v>2063</c:v>
                </c:pt>
                <c:pt idx="54">
                  <c:v>2064</c:v>
                </c:pt>
                <c:pt idx="55">
                  <c:v>2065</c:v>
                </c:pt>
                <c:pt idx="56">
                  <c:v>2066</c:v>
                </c:pt>
                <c:pt idx="57">
                  <c:v>2067</c:v>
                </c:pt>
                <c:pt idx="58">
                  <c:v>2068</c:v>
                </c:pt>
                <c:pt idx="59">
                  <c:v>2069</c:v>
                </c:pt>
                <c:pt idx="60">
                  <c:v>2070</c:v>
                </c:pt>
                <c:pt idx="61">
                  <c:v>2071</c:v>
                </c:pt>
                <c:pt idx="62">
                  <c:v>2072</c:v>
                </c:pt>
                <c:pt idx="63">
                  <c:v>2073</c:v>
                </c:pt>
                <c:pt idx="64">
                  <c:v>2074</c:v>
                </c:pt>
                <c:pt idx="65">
                  <c:v>2075</c:v>
                </c:pt>
                <c:pt idx="66">
                  <c:v>2076</c:v>
                </c:pt>
                <c:pt idx="67">
                  <c:v>2077</c:v>
                </c:pt>
                <c:pt idx="68">
                  <c:v>2078</c:v>
                </c:pt>
                <c:pt idx="69">
                  <c:v>2079</c:v>
                </c:pt>
                <c:pt idx="70">
                  <c:v>2080</c:v>
                </c:pt>
                <c:pt idx="71">
                  <c:v>2081</c:v>
                </c:pt>
                <c:pt idx="72">
                  <c:v>2082</c:v>
                </c:pt>
                <c:pt idx="73">
                  <c:v>2083</c:v>
                </c:pt>
                <c:pt idx="74">
                  <c:v>2084</c:v>
                </c:pt>
                <c:pt idx="75">
                  <c:v>2085</c:v>
                </c:pt>
                <c:pt idx="76">
                  <c:v>2086</c:v>
                </c:pt>
                <c:pt idx="77">
                  <c:v>2087</c:v>
                </c:pt>
                <c:pt idx="78">
                  <c:v>2088</c:v>
                </c:pt>
                <c:pt idx="79">
                  <c:v>2089</c:v>
                </c:pt>
                <c:pt idx="80">
                  <c:v>2090</c:v>
                </c:pt>
                <c:pt idx="81">
                  <c:v>2091</c:v>
                </c:pt>
                <c:pt idx="82">
                  <c:v>2092</c:v>
                </c:pt>
                <c:pt idx="83">
                  <c:v>2093</c:v>
                </c:pt>
                <c:pt idx="84">
                  <c:v>2094</c:v>
                </c:pt>
                <c:pt idx="85">
                  <c:v>2095</c:v>
                </c:pt>
                <c:pt idx="86">
                  <c:v>2096</c:v>
                </c:pt>
                <c:pt idx="87">
                  <c:v>2097</c:v>
                </c:pt>
                <c:pt idx="88">
                  <c:v>2098</c:v>
                </c:pt>
                <c:pt idx="89">
                  <c:v>2099</c:v>
                </c:pt>
                <c:pt idx="90">
                  <c:v>2100</c:v>
                </c:pt>
              </c:numCache>
            </c:numRef>
          </c:cat>
          <c:val>
            <c:numRef>
              <c:f>'[Figure 1 Charts 1 3 5 dependency_ratios_oldyoung-formatted.xlsx]ae_em_old'!$P$63:$P$153</c:f>
              <c:numCache>
                <c:formatCode>General</c:formatCode>
                <c:ptCount val="91"/>
                <c:pt idx="0">
                  <c:v>10.493630952381</c:v>
                </c:pt>
                <c:pt idx="1">
                  <c:v>10.5879404761905</c:v>
                </c:pt>
                <c:pt idx="2">
                  <c:v>10.742869047618999</c:v>
                </c:pt>
                <c:pt idx="3">
                  <c:v>10.935166666666699</c:v>
                </c:pt>
                <c:pt idx="4">
                  <c:v>11.1699880952381</c:v>
                </c:pt>
                <c:pt idx="5">
                  <c:v>11.4376785714286</c:v>
                </c:pt>
                <c:pt idx="6">
                  <c:v>11.7236071428571</c:v>
                </c:pt>
                <c:pt idx="7">
                  <c:v>12.0300714285714</c:v>
                </c:pt>
                <c:pt idx="8">
                  <c:v>12.3610476190476</c:v>
                </c:pt>
                <c:pt idx="9">
                  <c:v>12.7236785714286</c:v>
                </c:pt>
                <c:pt idx="10">
                  <c:v>13.0779642857143</c:v>
                </c:pt>
                <c:pt idx="11">
                  <c:v>13.3684404761905</c:v>
                </c:pt>
                <c:pt idx="12">
                  <c:v>13.630845238095199</c:v>
                </c:pt>
                <c:pt idx="13">
                  <c:v>13.9710238095238</c:v>
                </c:pt>
                <c:pt idx="14">
                  <c:v>14.3972380952381</c:v>
                </c:pt>
                <c:pt idx="15">
                  <c:v>14.868309523809501</c:v>
                </c:pt>
                <c:pt idx="16">
                  <c:v>15.348738095238099</c:v>
                </c:pt>
                <c:pt idx="17">
                  <c:v>15.829190476190499</c:v>
                </c:pt>
                <c:pt idx="18">
                  <c:v>16.314714285714299</c:v>
                </c:pt>
                <c:pt idx="19">
                  <c:v>16.795833333333299</c:v>
                </c:pt>
                <c:pt idx="20">
                  <c:v>17.266249999999999</c:v>
                </c:pt>
                <c:pt idx="21">
                  <c:v>17.730785714285702</c:v>
                </c:pt>
                <c:pt idx="22">
                  <c:v>18.196678571428599</c:v>
                </c:pt>
                <c:pt idx="23">
                  <c:v>18.681440476190499</c:v>
                </c:pt>
                <c:pt idx="24">
                  <c:v>19.1804880952381</c:v>
                </c:pt>
                <c:pt idx="25">
                  <c:v>19.683476190476199</c:v>
                </c:pt>
                <c:pt idx="26">
                  <c:v>20.191880952380998</c:v>
                </c:pt>
                <c:pt idx="27">
                  <c:v>20.705916666666699</c:v>
                </c:pt>
                <c:pt idx="28">
                  <c:v>21.227511904761901</c:v>
                </c:pt>
                <c:pt idx="29">
                  <c:v>21.764309523809501</c:v>
                </c:pt>
                <c:pt idx="30">
                  <c:v>22.320476190476199</c:v>
                </c:pt>
                <c:pt idx="31">
                  <c:v>22.8925952380952</c:v>
                </c:pt>
                <c:pt idx="32">
                  <c:v>23.477059523809501</c:v>
                </c:pt>
                <c:pt idx="33">
                  <c:v>24.077380952380999</c:v>
                </c:pt>
                <c:pt idx="34">
                  <c:v>24.701202380952399</c:v>
                </c:pt>
                <c:pt idx="35">
                  <c:v>25.351309523809501</c:v>
                </c:pt>
                <c:pt idx="36">
                  <c:v>26.019714285714301</c:v>
                </c:pt>
                <c:pt idx="37">
                  <c:v>26.705511904761899</c:v>
                </c:pt>
                <c:pt idx="38">
                  <c:v>27.413464285714301</c:v>
                </c:pt>
                <c:pt idx="39">
                  <c:v>28.135666666666701</c:v>
                </c:pt>
                <c:pt idx="40">
                  <c:v>28.866976190476201</c:v>
                </c:pt>
                <c:pt idx="41">
                  <c:v>29.600559523809501</c:v>
                </c:pt>
                <c:pt idx="42">
                  <c:v>30.327619047618999</c:v>
                </c:pt>
                <c:pt idx="43">
                  <c:v>31.043952380952401</c:v>
                </c:pt>
                <c:pt idx="44">
                  <c:v>31.744630952381002</c:v>
                </c:pt>
                <c:pt idx="45">
                  <c:v>32.427416666666701</c:v>
                </c:pt>
                <c:pt idx="46">
                  <c:v>33.077500000000001</c:v>
                </c:pt>
                <c:pt idx="47">
                  <c:v>33.678821428571403</c:v>
                </c:pt>
                <c:pt idx="48">
                  <c:v>34.231785714285699</c:v>
                </c:pt>
                <c:pt idx="49">
                  <c:v>34.744976190476201</c:v>
                </c:pt>
                <c:pt idx="50">
                  <c:v>35.225654761904799</c:v>
                </c:pt>
                <c:pt idx="51">
                  <c:v>35.670559523809501</c:v>
                </c:pt>
                <c:pt idx="52">
                  <c:v>36.0722738095238</c:v>
                </c:pt>
                <c:pt idx="53">
                  <c:v>36.425773809523797</c:v>
                </c:pt>
                <c:pt idx="54">
                  <c:v>36.747321428571396</c:v>
                </c:pt>
                <c:pt idx="55">
                  <c:v>37.054833333333299</c:v>
                </c:pt>
                <c:pt idx="56">
                  <c:v>37.3408333333333</c:v>
                </c:pt>
                <c:pt idx="57">
                  <c:v>37.606642857142901</c:v>
                </c:pt>
                <c:pt idx="58">
                  <c:v>37.867916666666702</c:v>
                </c:pt>
                <c:pt idx="59">
                  <c:v>38.1361428571429</c:v>
                </c:pt>
                <c:pt idx="60">
                  <c:v>38.421059523809497</c:v>
                </c:pt>
                <c:pt idx="61">
                  <c:v>38.726178571428598</c:v>
                </c:pt>
                <c:pt idx="62">
                  <c:v>39.067190476190497</c:v>
                </c:pt>
                <c:pt idx="63">
                  <c:v>39.465154761904799</c:v>
                </c:pt>
                <c:pt idx="64">
                  <c:v>39.915428571428599</c:v>
                </c:pt>
                <c:pt idx="65">
                  <c:v>40.382297619047598</c:v>
                </c:pt>
                <c:pt idx="66">
                  <c:v>40.852107142857101</c:v>
                </c:pt>
                <c:pt idx="67">
                  <c:v>41.351488095238103</c:v>
                </c:pt>
                <c:pt idx="68">
                  <c:v>41.8696428571429</c:v>
                </c:pt>
                <c:pt idx="69">
                  <c:v>42.396892857142902</c:v>
                </c:pt>
                <c:pt idx="70">
                  <c:v>42.923202380952397</c:v>
                </c:pt>
                <c:pt idx="71">
                  <c:v>43.424988095238099</c:v>
                </c:pt>
                <c:pt idx="72">
                  <c:v>43.892761904761898</c:v>
                </c:pt>
                <c:pt idx="73">
                  <c:v>44.302488095238097</c:v>
                </c:pt>
                <c:pt idx="74">
                  <c:v>44.653583333333302</c:v>
                </c:pt>
                <c:pt idx="75">
                  <c:v>44.955738095238097</c:v>
                </c:pt>
                <c:pt idx="76">
                  <c:v>45.217928571428601</c:v>
                </c:pt>
                <c:pt idx="77">
                  <c:v>45.453785714285701</c:v>
                </c:pt>
                <c:pt idx="78">
                  <c:v>45.679642857142902</c:v>
                </c:pt>
                <c:pt idx="79">
                  <c:v>45.905404761904798</c:v>
                </c:pt>
                <c:pt idx="80">
                  <c:v>46.130119047618997</c:v>
                </c:pt>
                <c:pt idx="81">
                  <c:v>46.354619047619003</c:v>
                </c:pt>
                <c:pt idx="82">
                  <c:v>46.580750000000002</c:v>
                </c:pt>
                <c:pt idx="83">
                  <c:v>46.810666666666698</c:v>
                </c:pt>
                <c:pt idx="84">
                  <c:v>47.0468571428571</c:v>
                </c:pt>
                <c:pt idx="85">
                  <c:v>47.291654761904802</c:v>
                </c:pt>
                <c:pt idx="86">
                  <c:v>47.5474523809524</c:v>
                </c:pt>
                <c:pt idx="87">
                  <c:v>47.816559523809502</c:v>
                </c:pt>
                <c:pt idx="88">
                  <c:v>48.101261904761898</c:v>
                </c:pt>
                <c:pt idx="89">
                  <c:v>48.403047619047598</c:v>
                </c:pt>
                <c:pt idx="90">
                  <c:v>48.722880952380997</c:v>
                </c:pt>
              </c:numCache>
            </c:numRef>
          </c:val>
          <c:smooth val="0"/>
          <c:extLst>
            <c:ext xmlns:c16="http://schemas.microsoft.com/office/drawing/2014/chart" uri="{C3380CC4-5D6E-409C-BE32-E72D297353CC}">
              <c16:uniqueId val="{00000003-2224-4766-98EF-F8CFECB34717}"/>
            </c:ext>
          </c:extLst>
        </c:ser>
        <c:dLbls>
          <c:showLegendKey val="0"/>
          <c:showVal val="0"/>
          <c:showCatName val="0"/>
          <c:showSerName val="0"/>
          <c:showPercent val="0"/>
          <c:showBubbleSize val="0"/>
        </c:dLbls>
        <c:smooth val="0"/>
        <c:axId val="679385728"/>
        <c:axId val="679409920"/>
      </c:lineChart>
      <c:catAx>
        <c:axId val="679385728"/>
        <c:scaling>
          <c:orientation val="minMax"/>
        </c:scaling>
        <c:delete val="0"/>
        <c:axPos val="b"/>
        <c:numFmt formatCode="General" sourceLinked="1"/>
        <c:majorTickMark val="in"/>
        <c:minorTickMark val="none"/>
        <c:tickLblPos val="low"/>
        <c:spPr>
          <a:ln w="12700">
            <a:solidFill>
              <a:sysClr val="windowText" lastClr="000000"/>
            </a:solidFill>
            <a:prstDash val="solid"/>
          </a:ln>
        </c:spPr>
        <c:txPr>
          <a:bodyPr rot="-5400000" vert="horz"/>
          <a:lstStyle/>
          <a:p>
            <a:pPr>
              <a:defRPr sz="1800">
                <a:latin typeface="Segoe UI"/>
                <a:ea typeface="Segoe UI"/>
                <a:cs typeface="Segoe UI"/>
              </a:defRPr>
            </a:pPr>
            <a:endParaRPr lang="en-US"/>
          </a:p>
        </c:txPr>
        <c:crossAx val="679409920"/>
        <c:crosses val="autoZero"/>
        <c:auto val="1"/>
        <c:lblAlgn val="ctr"/>
        <c:lblOffset val="100"/>
        <c:tickLblSkip val="10"/>
        <c:tickMarkSkip val="10"/>
        <c:noMultiLvlLbl val="0"/>
      </c:catAx>
      <c:valAx>
        <c:axId val="679409920"/>
        <c:scaling>
          <c:orientation val="minMax"/>
          <c:max val="120"/>
        </c:scaling>
        <c:delete val="0"/>
        <c:axPos val="l"/>
        <c:numFmt formatCode="General" sourceLinked="0"/>
        <c:majorTickMark val="in"/>
        <c:minorTickMark val="none"/>
        <c:tickLblPos val="nextTo"/>
        <c:spPr>
          <a:ln w="12700">
            <a:solidFill>
              <a:sysClr val="windowText" lastClr="000000"/>
            </a:solidFill>
            <a:prstDash val="solid"/>
          </a:ln>
        </c:spPr>
        <c:txPr>
          <a:bodyPr rot="0" vert="horz"/>
          <a:lstStyle/>
          <a:p>
            <a:pPr>
              <a:defRPr sz="1800">
                <a:latin typeface="Segoe UI"/>
                <a:ea typeface="Segoe UI"/>
                <a:cs typeface="Segoe UI"/>
              </a:defRPr>
            </a:pPr>
            <a:endParaRPr lang="en-US"/>
          </a:p>
        </c:txPr>
        <c:crossAx val="679385728"/>
        <c:crosses val="autoZero"/>
        <c:crossBetween val="between"/>
      </c:valAx>
      <c:spPr>
        <a:solidFill>
          <a:srgbClr val="FFFFFF"/>
        </a:solidFill>
        <a:ln w="12700">
          <a:solidFill>
            <a:sysClr val="windowText" lastClr="000000"/>
          </a:solidFill>
          <a:prstDash val="solid"/>
        </a:ln>
      </c:spPr>
    </c:plotArea>
    <c:legend>
      <c:legendPos val="t"/>
      <c:layout>
        <c:manualLayout>
          <c:xMode val="edge"/>
          <c:yMode val="edge"/>
          <c:x val="0.1236173027569291"/>
          <c:y val="0.17453573386876639"/>
          <c:w val="0.53806737309335695"/>
          <c:h val="0.27767179220738425"/>
        </c:manualLayout>
      </c:layout>
      <c:overlay val="0"/>
      <c:spPr>
        <a:noFill/>
        <a:ln w="25400">
          <a:noFill/>
        </a:ln>
      </c:spPr>
      <c:txPr>
        <a:bodyPr/>
        <a:lstStyle/>
        <a:p>
          <a:pPr>
            <a:defRPr sz="1400">
              <a:latin typeface="Segoe UI"/>
              <a:ea typeface="Segoe UI"/>
              <a:cs typeface="Segoe UI"/>
            </a:defRPr>
          </a:pPr>
          <a:endParaRPr lang="en-US"/>
        </a:p>
      </c:txPr>
    </c:legend>
    <c:plotVisOnly val="1"/>
    <c:dispBlanksAs val="span"/>
    <c:showDLblsOverMax val="0"/>
  </c:chart>
  <c:spPr>
    <a:noFill/>
    <a:ln w="25400">
      <a:noFill/>
    </a:ln>
  </c:spPr>
  <c:txPr>
    <a:bodyPr/>
    <a:lstStyle/>
    <a:p>
      <a:pPr>
        <a:defRPr sz="1800" b="0" i="0" u="none" strike="noStrike" baseline="0">
          <a:solidFill>
            <a:srgbClr val="000000"/>
          </a:solidFill>
          <a:latin typeface="Segoe UI" pitchFamily="34" charset="0"/>
          <a:ea typeface="Frutiger LT Std 45 Light"/>
          <a:cs typeface="Segoe UI" pitchFamily="34" charset="0"/>
        </a:defRPr>
      </a:pPr>
      <a:endParaRPr lang="en-US"/>
    </a:p>
  </c:txPr>
  <c:externalData r:id="rId2">
    <c:autoUpdate val="0"/>
  </c:externalData>
  <c:userShapes r:id="rId3"/>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xMode val="edge"/>
          <c:yMode val="edge"/>
          <c:x val="2.8056713406100674E-2"/>
          <c:y val="0.13640828476250291"/>
          <c:w val="0.93669999999999987"/>
          <c:h val="0.78739999999999999"/>
        </c:manualLayout>
      </c:layout>
      <c:lineChart>
        <c:grouping val="standard"/>
        <c:varyColors val="0"/>
        <c:ser>
          <c:idx val="0"/>
          <c:order val="0"/>
          <c:tx>
            <c:strRef>
              <c:f>'[Figure 1 Charts 1 3 5 dependency_ratios_oldyoung-formatted.xlsx]lidc_young_data'!$D$2</c:f>
              <c:strCache>
                <c:ptCount val="1"/>
                <c:pt idx="0">
                  <c:v>Medium fertility</c:v>
                </c:pt>
              </c:strCache>
            </c:strRef>
          </c:tx>
          <c:spPr>
            <a:ln w="38100">
              <a:solidFill>
                <a:sysClr val="windowText" lastClr="000000"/>
              </a:solidFill>
              <a:prstDash val="solid"/>
            </a:ln>
            <a:effectLst/>
          </c:spPr>
          <c:marker>
            <c:symbol val="none"/>
          </c:marker>
          <c:cat>
            <c:numRef>
              <c:f>'[Figure 1 Charts 1 3 5 dependency_ratios_oldyoung-formatted.xlsx]lidc_young_data'!$B$63:$B$153</c:f>
              <c:numCache>
                <c:formatCode>General</c:formatCode>
                <c:ptCount val="9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pt idx="41">
                  <c:v>2051</c:v>
                </c:pt>
                <c:pt idx="42">
                  <c:v>2052</c:v>
                </c:pt>
                <c:pt idx="43">
                  <c:v>2053</c:v>
                </c:pt>
                <c:pt idx="44">
                  <c:v>2054</c:v>
                </c:pt>
                <c:pt idx="45">
                  <c:v>2055</c:v>
                </c:pt>
                <c:pt idx="46">
                  <c:v>2056</c:v>
                </c:pt>
                <c:pt idx="47">
                  <c:v>2057</c:v>
                </c:pt>
                <c:pt idx="48">
                  <c:v>2058</c:v>
                </c:pt>
                <c:pt idx="49">
                  <c:v>2059</c:v>
                </c:pt>
                <c:pt idx="50">
                  <c:v>2060</c:v>
                </c:pt>
                <c:pt idx="51">
                  <c:v>2061</c:v>
                </c:pt>
                <c:pt idx="52">
                  <c:v>2062</c:v>
                </c:pt>
                <c:pt idx="53">
                  <c:v>2063</c:v>
                </c:pt>
                <c:pt idx="54">
                  <c:v>2064</c:v>
                </c:pt>
                <c:pt idx="55">
                  <c:v>2065</c:v>
                </c:pt>
                <c:pt idx="56">
                  <c:v>2066</c:v>
                </c:pt>
                <c:pt idx="57">
                  <c:v>2067</c:v>
                </c:pt>
                <c:pt idx="58">
                  <c:v>2068</c:v>
                </c:pt>
                <c:pt idx="59">
                  <c:v>2069</c:v>
                </c:pt>
                <c:pt idx="60">
                  <c:v>2070</c:v>
                </c:pt>
                <c:pt idx="61">
                  <c:v>2071</c:v>
                </c:pt>
                <c:pt idx="62">
                  <c:v>2072</c:v>
                </c:pt>
                <c:pt idx="63">
                  <c:v>2073</c:v>
                </c:pt>
                <c:pt idx="64">
                  <c:v>2074</c:v>
                </c:pt>
                <c:pt idx="65">
                  <c:v>2075</c:v>
                </c:pt>
                <c:pt idx="66">
                  <c:v>2076</c:v>
                </c:pt>
                <c:pt idx="67">
                  <c:v>2077</c:v>
                </c:pt>
                <c:pt idx="68">
                  <c:v>2078</c:v>
                </c:pt>
                <c:pt idx="69">
                  <c:v>2079</c:v>
                </c:pt>
                <c:pt idx="70">
                  <c:v>2080</c:v>
                </c:pt>
                <c:pt idx="71">
                  <c:v>2081</c:v>
                </c:pt>
                <c:pt idx="72">
                  <c:v>2082</c:v>
                </c:pt>
                <c:pt idx="73">
                  <c:v>2083</c:v>
                </c:pt>
                <c:pt idx="74">
                  <c:v>2084</c:v>
                </c:pt>
                <c:pt idx="75">
                  <c:v>2085</c:v>
                </c:pt>
                <c:pt idx="76">
                  <c:v>2086</c:v>
                </c:pt>
                <c:pt idx="77">
                  <c:v>2087</c:v>
                </c:pt>
                <c:pt idx="78">
                  <c:v>2088</c:v>
                </c:pt>
                <c:pt idx="79">
                  <c:v>2089</c:v>
                </c:pt>
                <c:pt idx="80">
                  <c:v>2090</c:v>
                </c:pt>
                <c:pt idx="81">
                  <c:v>2091</c:v>
                </c:pt>
                <c:pt idx="82">
                  <c:v>2092</c:v>
                </c:pt>
                <c:pt idx="83">
                  <c:v>2093</c:v>
                </c:pt>
                <c:pt idx="84">
                  <c:v>2094</c:v>
                </c:pt>
                <c:pt idx="85">
                  <c:v>2095</c:v>
                </c:pt>
                <c:pt idx="86">
                  <c:v>2096</c:v>
                </c:pt>
                <c:pt idx="87">
                  <c:v>2097</c:v>
                </c:pt>
                <c:pt idx="88">
                  <c:v>2098</c:v>
                </c:pt>
                <c:pt idx="89">
                  <c:v>2099</c:v>
                </c:pt>
                <c:pt idx="90">
                  <c:v>2100</c:v>
                </c:pt>
              </c:numCache>
            </c:numRef>
          </c:cat>
          <c:val>
            <c:numRef>
              <c:f>'[Figure 1 Charts 1 3 5 dependency_ratios_oldyoung-formatted.xlsx]lidc_young_data'!$D$63:$D$153</c:f>
              <c:numCache>
                <c:formatCode>General</c:formatCode>
                <c:ptCount val="91"/>
                <c:pt idx="0">
                  <c:v>74.9551379310345</c:v>
                </c:pt>
                <c:pt idx="1">
                  <c:v>74.430655172413793</c:v>
                </c:pt>
                <c:pt idx="2">
                  <c:v>73.988879310344799</c:v>
                </c:pt>
                <c:pt idx="3">
                  <c:v>73.572775862068994</c:v>
                </c:pt>
                <c:pt idx="4">
                  <c:v>73.125689655172394</c:v>
                </c:pt>
                <c:pt idx="5">
                  <c:v>72.666741379310295</c:v>
                </c:pt>
                <c:pt idx="6">
                  <c:v>72.138068965517206</c:v>
                </c:pt>
                <c:pt idx="7">
                  <c:v>71.5532068965517</c:v>
                </c:pt>
                <c:pt idx="8">
                  <c:v>70.869310344827596</c:v>
                </c:pt>
                <c:pt idx="9">
                  <c:v>70.063000000000002</c:v>
                </c:pt>
                <c:pt idx="10">
                  <c:v>69.178413793103402</c:v>
                </c:pt>
                <c:pt idx="11">
                  <c:v>68.2841034482759</c:v>
                </c:pt>
                <c:pt idx="12">
                  <c:v>67.357275862069002</c:v>
                </c:pt>
                <c:pt idx="13">
                  <c:v>66.400482758620697</c:v>
                </c:pt>
                <c:pt idx="14">
                  <c:v>65.438155172413801</c:v>
                </c:pt>
                <c:pt idx="15">
                  <c:v>64.442827586206903</c:v>
                </c:pt>
                <c:pt idx="16">
                  <c:v>63.4339482758621</c:v>
                </c:pt>
                <c:pt idx="17">
                  <c:v>62.422224137931003</c:v>
                </c:pt>
                <c:pt idx="18">
                  <c:v>61.427741379310298</c:v>
                </c:pt>
                <c:pt idx="19">
                  <c:v>60.4635172413793</c:v>
                </c:pt>
                <c:pt idx="20">
                  <c:v>59.530327586206901</c:v>
                </c:pt>
                <c:pt idx="21">
                  <c:v>58.632413793103403</c:v>
                </c:pt>
                <c:pt idx="22">
                  <c:v>57.776724137930998</c:v>
                </c:pt>
                <c:pt idx="23">
                  <c:v>56.9575517241379</c:v>
                </c:pt>
                <c:pt idx="24">
                  <c:v>56.160706896551702</c:v>
                </c:pt>
                <c:pt idx="25">
                  <c:v>55.384500000000003</c:v>
                </c:pt>
                <c:pt idx="26">
                  <c:v>54.625603448275903</c:v>
                </c:pt>
                <c:pt idx="27">
                  <c:v>53.888206896551701</c:v>
                </c:pt>
                <c:pt idx="28">
                  <c:v>53.171224137930999</c:v>
                </c:pt>
                <c:pt idx="29">
                  <c:v>52.471655172413797</c:v>
                </c:pt>
                <c:pt idx="30">
                  <c:v>51.792913793103402</c:v>
                </c:pt>
                <c:pt idx="31">
                  <c:v>51.130068965517196</c:v>
                </c:pt>
                <c:pt idx="32">
                  <c:v>50.477913793103397</c:v>
                </c:pt>
                <c:pt idx="33">
                  <c:v>49.836189655172397</c:v>
                </c:pt>
                <c:pt idx="34">
                  <c:v>49.205931034482802</c:v>
                </c:pt>
                <c:pt idx="35">
                  <c:v>48.5876034482759</c:v>
                </c:pt>
                <c:pt idx="36">
                  <c:v>47.981000000000002</c:v>
                </c:pt>
                <c:pt idx="37">
                  <c:v>47.382741379310303</c:v>
                </c:pt>
                <c:pt idx="38">
                  <c:v>46.791327586206897</c:v>
                </c:pt>
                <c:pt idx="39">
                  <c:v>46.206155172413801</c:v>
                </c:pt>
                <c:pt idx="40">
                  <c:v>45.627931034482799</c:v>
                </c:pt>
                <c:pt idx="41">
                  <c:v>45.060017241379299</c:v>
                </c:pt>
                <c:pt idx="42">
                  <c:v>44.503068965517201</c:v>
                </c:pt>
                <c:pt idx="43">
                  <c:v>43.955896551724102</c:v>
                </c:pt>
                <c:pt idx="44">
                  <c:v>43.419879310344797</c:v>
                </c:pt>
                <c:pt idx="45">
                  <c:v>42.8950517241379</c:v>
                </c:pt>
                <c:pt idx="46">
                  <c:v>42.3812586206897</c:v>
                </c:pt>
                <c:pt idx="47">
                  <c:v>41.881362068965501</c:v>
                </c:pt>
                <c:pt idx="48">
                  <c:v>41.392499999999998</c:v>
                </c:pt>
                <c:pt idx="49">
                  <c:v>40.911655172413802</c:v>
                </c:pt>
                <c:pt idx="50">
                  <c:v>40.442344827586197</c:v>
                </c:pt>
                <c:pt idx="51">
                  <c:v>39.986275862069</c:v>
                </c:pt>
                <c:pt idx="52">
                  <c:v>39.541724137930998</c:v>
                </c:pt>
                <c:pt idx="53">
                  <c:v>39.109620689655202</c:v>
                </c:pt>
                <c:pt idx="54">
                  <c:v>38.695741379310299</c:v>
                </c:pt>
                <c:pt idx="55">
                  <c:v>38.299517241379299</c:v>
                </c:pt>
                <c:pt idx="56">
                  <c:v>37.918844827586199</c:v>
                </c:pt>
                <c:pt idx="57">
                  <c:v>37.552551724137899</c:v>
                </c:pt>
                <c:pt idx="58">
                  <c:v>37.198620689655201</c:v>
                </c:pt>
                <c:pt idx="59">
                  <c:v>36.857293103448299</c:v>
                </c:pt>
                <c:pt idx="60">
                  <c:v>36.528120689655204</c:v>
                </c:pt>
                <c:pt idx="61">
                  <c:v>36.209741379310302</c:v>
                </c:pt>
                <c:pt idx="62">
                  <c:v>35.902275862068997</c:v>
                </c:pt>
                <c:pt idx="63">
                  <c:v>35.608068965517198</c:v>
                </c:pt>
                <c:pt idx="64">
                  <c:v>35.326500000000003</c:v>
                </c:pt>
                <c:pt idx="65">
                  <c:v>35.054517241379301</c:v>
                </c:pt>
                <c:pt idx="66">
                  <c:v>34.789637931034498</c:v>
                </c:pt>
                <c:pt idx="67">
                  <c:v>34.531534482758602</c:v>
                </c:pt>
                <c:pt idx="68">
                  <c:v>34.282293103448303</c:v>
                </c:pt>
                <c:pt idx="69">
                  <c:v>34.040241379310302</c:v>
                </c:pt>
                <c:pt idx="70">
                  <c:v>33.804344827586199</c:v>
                </c:pt>
                <c:pt idx="71">
                  <c:v>33.573810344827599</c:v>
                </c:pt>
                <c:pt idx="72">
                  <c:v>33.344982758620702</c:v>
                </c:pt>
                <c:pt idx="73">
                  <c:v>33.118948275862103</c:v>
                </c:pt>
                <c:pt idx="74">
                  <c:v>32.898913793103397</c:v>
                </c:pt>
                <c:pt idx="75">
                  <c:v>32.684568965517201</c:v>
                </c:pt>
                <c:pt idx="76">
                  <c:v>32.4745344827586</c:v>
                </c:pt>
                <c:pt idx="77">
                  <c:v>32.268879310344801</c:v>
                </c:pt>
                <c:pt idx="78">
                  <c:v>32.068620689655198</c:v>
                </c:pt>
                <c:pt idx="79">
                  <c:v>31.873000000000001</c:v>
                </c:pt>
                <c:pt idx="80">
                  <c:v>31.681396551724099</c:v>
                </c:pt>
                <c:pt idx="81">
                  <c:v>31.495362068965498</c:v>
                </c:pt>
                <c:pt idx="82">
                  <c:v>31.3157931034483</c:v>
                </c:pt>
                <c:pt idx="83">
                  <c:v>31.141862068965501</c:v>
                </c:pt>
                <c:pt idx="84">
                  <c:v>30.972586206896601</c:v>
                </c:pt>
                <c:pt idx="85">
                  <c:v>30.8071551724138</c:v>
                </c:pt>
                <c:pt idx="86">
                  <c:v>30.646051724137902</c:v>
                </c:pt>
                <c:pt idx="87">
                  <c:v>30.489948275862101</c:v>
                </c:pt>
                <c:pt idx="88">
                  <c:v>30.339551724137898</c:v>
                </c:pt>
                <c:pt idx="89">
                  <c:v>30.1943793103448</c:v>
                </c:pt>
                <c:pt idx="90">
                  <c:v>30.055</c:v>
                </c:pt>
              </c:numCache>
            </c:numRef>
          </c:val>
          <c:smooth val="0"/>
          <c:extLst>
            <c:ext xmlns:c16="http://schemas.microsoft.com/office/drawing/2014/chart" uri="{C3380CC4-5D6E-409C-BE32-E72D297353CC}">
              <c16:uniqueId val="{00000000-2F3D-48CA-9D62-E75B4BD069E6}"/>
            </c:ext>
          </c:extLst>
        </c:ser>
        <c:ser>
          <c:idx val="1"/>
          <c:order val="1"/>
          <c:tx>
            <c:strRef>
              <c:f>'[Figure 1 Charts 1 3 5 dependency_ratios_oldyoung-formatted.xlsx]lidc_young_data'!$E$2</c:f>
              <c:strCache>
                <c:ptCount val="1"/>
                <c:pt idx="0">
                  <c:v>Low fertility</c:v>
                </c:pt>
              </c:strCache>
            </c:strRef>
          </c:tx>
          <c:spPr>
            <a:ln w="38100">
              <a:solidFill>
                <a:srgbClr val="C00000"/>
              </a:solidFill>
              <a:prstDash val="sysDash"/>
            </a:ln>
            <a:effectLst/>
          </c:spPr>
          <c:marker>
            <c:symbol val="none"/>
          </c:marker>
          <c:cat>
            <c:numRef>
              <c:f>'[Figure 1 Charts 1 3 5 dependency_ratios_oldyoung-formatted.xlsx]lidc_young_data'!$B$63:$B$153</c:f>
              <c:numCache>
                <c:formatCode>General</c:formatCode>
                <c:ptCount val="9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pt idx="41">
                  <c:v>2051</c:v>
                </c:pt>
                <c:pt idx="42">
                  <c:v>2052</c:v>
                </c:pt>
                <c:pt idx="43">
                  <c:v>2053</c:v>
                </c:pt>
                <c:pt idx="44">
                  <c:v>2054</c:v>
                </c:pt>
                <c:pt idx="45">
                  <c:v>2055</c:v>
                </c:pt>
                <c:pt idx="46">
                  <c:v>2056</c:v>
                </c:pt>
                <c:pt idx="47">
                  <c:v>2057</c:v>
                </c:pt>
                <c:pt idx="48">
                  <c:v>2058</c:v>
                </c:pt>
                <c:pt idx="49">
                  <c:v>2059</c:v>
                </c:pt>
                <c:pt idx="50">
                  <c:v>2060</c:v>
                </c:pt>
                <c:pt idx="51">
                  <c:v>2061</c:v>
                </c:pt>
                <c:pt idx="52">
                  <c:v>2062</c:v>
                </c:pt>
                <c:pt idx="53">
                  <c:v>2063</c:v>
                </c:pt>
                <c:pt idx="54">
                  <c:v>2064</c:v>
                </c:pt>
                <c:pt idx="55">
                  <c:v>2065</c:v>
                </c:pt>
                <c:pt idx="56">
                  <c:v>2066</c:v>
                </c:pt>
                <c:pt idx="57">
                  <c:v>2067</c:v>
                </c:pt>
                <c:pt idx="58">
                  <c:v>2068</c:v>
                </c:pt>
                <c:pt idx="59">
                  <c:v>2069</c:v>
                </c:pt>
                <c:pt idx="60">
                  <c:v>2070</c:v>
                </c:pt>
                <c:pt idx="61">
                  <c:v>2071</c:v>
                </c:pt>
                <c:pt idx="62">
                  <c:v>2072</c:v>
                </c:pt>
                <c:pt idx="63">
                  <c:v>2073</c:v>
                </c:pt>
                <c:pt idx="64">
                  <c:v>2074</c:v>
                </c:pt>
                <c:pt idx="65">
                  <c:v>2075</c:v>
                </c:pt>
                <c:pt idx="66">
                  <c:v>2076</c:v>
                </c:pt>
                <c:pt idx="67">
                  <c:v>2077</c:v>
                </c:pt>
                <c:pt idx="68">
                  <c:v>2078</c:v>
                </c:pt>
                <c:pt idx="69">
                  <c:v>2079</c:v>
                </c:pt>
                <c:pt idx="70">
                  <c:v>2080</c:v>
                </c:pt>
                <c:pt idx="71">
                  <c:v>2081</c:v>
                </c:pt>
                <c:pt idx="72">
                  <c:v>2082</c:v>
                </c:pt>
                <c:pt idx="73">
                  <c:v>2083</c:v>
                </c:pt>
                <c:pt idx="74">
                  <c:v>2084</c:v>
                </c:pt>
                <c:pt idx="75">
                  <c:v>2085</c:v>
                </c:pt>
                <c:pt idx="76">
                  <c:v>2086</c:v>
                </c:pt>
                <c:pt idx="77">
                  <c:v>2087</c:v>
                </c:pt>
                <c:pt idx="78">
                  <c:v>2088</c:v>
                </c:pt>
                <c:pt idx="79">
                  <c:v>2089</c:v>
                </c:pt>
                <c:pt idx="80">
                  <c:v>2090</c:v>
                </c:pt>
                <c:pt idx="81">
                  <c:v>2091</c:v>
                </c:pt>
                <c:pt idx="82">
                  <c:v>2092</c:v>
                </c:pt>
                <c:pt idx="83">
                  <c:v>2093</c:v>
                </c:pt>
                <c:pt idx="84">
                  <c:v>2094</c:v>
                </c:pt>
                <c:pt idx="85">
                  <c:v>2095</c:v>
                </c:pt>
                <c:pt idx="86">
                  <c:v>2096</c:v>
                </c:pt>
                <c:pt idx="87">
                  <c:v>2097</c:v>
                </c:pt>
                <c:pt idx="88">
                  <c:v>2098</c:v>
                </c:pt>
                <c:pt idx="89">
                  <c:v>2099</c:v>
                </c:pt>
                <c:pt idx="90">
                  <c:v>2100</c:v>
                </c:pt>
              </c:numCache>
            </c:numRef>
          </c:cat>
          <c:val>
            <c:numRef>
              <c:f>'[Figure 1 Charts 1 3 5 dependency_ratios_oldyoung-formatted.xlsx]lidc_young_data'!$E$63:$E$153</c:f>
              <c:numCache>
                <c:formatCode>General</c:formatCode>
                <c:ptCount val="91"/>
                <c:pt idx="0">
                  <c:v>74.9551379310345</c:v>
                </c:pt>
                <c:pt idx="1">
                  <c:v>74.430655172413793</c:v>
                </c:pt>
                <c:pt idx="2">
                  <c:v>73.988879310344799</c:v>
                </c:pt>
                <c:pt idx="3">
                  <c:v>73.572775862068994</c:v>
                </c:pt>
                <c:pt idx="4">
                  <c:v>73.125689655172394</c:v>
                </c:pt>
                <c:pt idx="5">
                  <c:v>72.666741379310295</c:v>
                </c:pt>
                <c:pt idx="6">
                  <c:v>72.138068965517206</c:v>
                </c:pt>
                <c:pt idx="7">
                  <c:v>71.5532068965517</c:v>
                </c:pt>
                <c:pt idx="8">
                  <c:v>70.869310344827596</c:v>
                </c:pt>
                <c:pt idx="9">
                  <c:v>70.063000000000002</c:v>
                </c:pt>
                <c:pt idx="10">
                  <c:v>69.178413793103402</c:v>
                </c:pt>
                <c:pt idx="11">
                  <c:v>68.2841034482759</c:v>
                </c:pt>
                <c:pt idx="12">
                  <c:v>67.193810344827597</c:v>
                </c:pt>
                <c:pt idx="13">
                  <c:v>65.920293103448302</c:v>
                </c:pt>
                <c:pt idx="14">
                  <c:v>64.651206896551699</c:v>
                </c:pt>
                <c:pt idx="15">
                  <c:v>63.359327586206902</c:v>
                </c:pt>
                <c:pt idx="16">
                  <c:v>62.0630517241379</c:v>
                </c:pt>
                <c:pt idx="17">
                  <c:v>60.675465517241399</c:v>
                </c:pt>
                <c:pt idx="18">
                  <c:v>59.221913793103397</c:v>
                </c:pt>
                <c:pt idx="19">
                  <c:v>57.811431034482801</c:v>
                </c:pt>
                <c:pt idx="20">
                  <c:v>56.443448275862103</c:v>
                </c:pt>
                <c:pt idx="21">
                  <c:v>55.1210862068965</c:v>
                </c:pt>
                <c:pt idx="22">
                  <c:v>53.786362068965502</c:v>
                </c:pt>
                <c:pt idx="23">
                  <c:v>52.436155172413798</c:v>
                </c:pt>
                <c:pt idx="24">
                  <c:v>51.1201724137931</c:v>
                </c:pt>
                <c:pt idx="25">
                  <c:v>49.835431034482802</c:v>
                </c:pt>
                <c:pt idx="26">
                  <c:v>48.577741379310297</c:v>
                </c:pt>
                <c:pt idx="27">
                  <c:v>47.512103448275901</c:v>
                </c:pt>
                <c:pt idx="28">
                  <c:v>46.628689655172401</c:v>
                </c:pt>
                <c:pt idx="29">
                  <c:v>45.7596206896552</c:v>
                </c:pt>
                <c:pt idx="30">
                  <c:v>44.905706896551699</c:v>
                </c:pt>
                <c:pt idx="31">
                  <c:v>44.060793103448297</c:v>
                </c:pt>
                <c:pt idx="32">
                  <c:v>43.316844827586202</c:v>
                </c:pt>
                <c:pt idx="33">
                  <c:v>42.668620689655199</c:v>
                </c:pt>
                <c:pt idx="34">
                  <c:v>42.0182586206897</c:v>
                </c:pt>
                <c:pt idx="35">
                  <c:v>41.365689655172403</c:v>
                </c:pt>
                <c:pt idx="36">
                  <c:v>40.709741379310302</c:v>
                </c:pt>
                <c:pt idx="37">
                  <c:v>40.113568965517203</c:v>
                </c:pt>
                <c:pt idx="38">
                  <c:v>39.573034482758601</c:v>
                </c:pt>
                <c:pt idx="39">
                  <c:v>39.021051724137898</c:v>
                </c:pt>
                <c:pt idx="40">
                  <c:v>38.457672413793098</c:v>
                </c:pt>
                <c:pt idx="41">
                  <c:v>37.886310344827599</c:v>
                </c:pt>
                <c:pt idx="42">
                  <c:v>37.308155172413798</c:v>
                </c:pt>
                <c:pt idx="43">
                  <c:v>36.723086206896603</c:v>
                </c:pt>
                <c:pt idx="44">
                  <c:v>36.134327586206901</c:v>
                </c:pt>
                <c:pt idx="45">
                  <c:v>35.543931034482803</c:v>
                </c:pt>
                <c:pt idx="46">
                  <c:v>34.954224137931</c:v>
                </c:pt>
                <c:pt idx="47">
                  <c:v>34.370551724137897</c:v>
                </c:pt>
                <c:pt idx="48">
                  <c:v>33.792120689655199</c:v>
                </c:pt>
                <c:pt idx="49">
                  <c:v>33.218327586206897</c:v>
                </c:pt>
                <c:pt idx="50">
                  <c:v>32.654706896551701</c:v>
                </c:pt>
                <c:pt idx="51">
                  <c:v>32.105034482758597</c:v>
                </c:pt>
                <c:pt idx="52">
                  <c:v>31.5693793103448</c:v>
                </c:pt>
                <c:pt idx="53">
                  <c:v>31.050465517241399</c:v>
                </c:pt>
                <c:pt idx="54">
                  <c:v>30.5547413793103</c:v>
                </c:pt>
                <c:pt idx="55">
                  <c:v>30.0836896551724</c:v>
                </c:pt>
                <c:pt idx="56">
                  <c:v>29.636155172413801</c:v>
                </c:pt>
                <c:pt idx="57">
                  <c:v>29.212155172413802</c:v>
                </c:pt>
                <c:pt idx="58">
                  <c:v>28.8098448275862</c:v>
                </c:pt>
                <c:pt idx="59">
                  <c:v>28.430258620689699</c:v>
                </c:pt>
                <c:pt idx="60">
                  <c:v>28.0726379310345</c:v>
                </c:pt>
                <c:pt idx="61">
                  <c:v>27.735517241379299</c:v>
                </c:pt>
                <c:pt idx="62">
                  <c:v>27.418258620689699</c:v>
                </c:pt>
                <c:pt idx="63">
                  <c:v>27.122534482758599</c:v>
                </c:pt>
                <c:pt idx="64">
                  <c:v>26.847051724137899</c:v>
                </c:pt>
                <c:pt idx="65">
                  <c:v>26.587862068965499</c:v>
                </c:pt>
                <c:pt idx="66">
                  <c:v>26.341465517241399</c:v>
                </c:pt>
                <c:pt idx="67">
                  <c:v>26.106655172413799</c:v>
                </c:pt>
                <c:pt idx="68">
                  <c:v>25.8846034482759</c:v>
                </c:pt>
                <c:pt idx="69">
                  <c:v>25.672413793103399</c:v>
                </c:pt>
                <c:pt idx="70">
                  <c:v>25.4685862068966</c:v>
                </c:pt>
                <c:pt idx="71">
                  <c:v>25.271275862069</c:v>
                </c:pt>
                <c:pt idx="72">
                  <c:v>25.076655172413801</c:v>
                </c:pt>
                <c:pt idx="73">
                  <c:v>24.8851379310345</c:v>
                </c:pt>
                <c:pt idx="74">
                  <c:v>24.6994482758621</c:v>
                </c:pt>
                <c:pt idx="75">
                  <c:v>24.519034482758599</c:v>
                </c:pt>
                <c:pt idx="76">
                  <c:v>24.342931034482799</c:v>
                </c:pt>
                <c:pt idx="77">
                  <c:v>24.152724137930999</c:v>
                </c:pt>
                <c:pt idx="78">
                  <c:v>23.9488620689655</c:v>
                </c:pt>
                <c:pt idx="79">
                  <c:v>23.749465517241401</c:v>
                </c:pt>
                <c:pt idx="80">
                  <c:v>23.554603448275898</c:v>
                </c:pt>
                <c:pt idx="81">
                  <c:v>23.3663275862069</c:v>
                </c:pt>
                <c:pt idx="82">
                  <c:v>23.173775862069</c:v>
                </c:pt>
                <c:pt idx="83">
                  <c:v>22.9763620689655</c:v>
                </c:pt>
                <c:pt idx="84">
                  <c:v>22.786224137931001</c:v>
                </c:pt>
                <c:pt idx="85">
                  <c:v>22.603086206896599</c:v>
                </c:pt>
                <c:pt idx="86">
                  <c:v>22.4279137931034</c:v>
                </c:pt>
                <c:pt idx="87">
                  <c:v>22.252741379310301</c:v>
                </c:pt>
                <c:pt idx="88">
                  <c:v>22.078241379310299</c:v>
                </c:pt>
                <c:pt idx="89">
                  <c:v>21.913689655172401</c:v>
                </c:pt>
                <c:pt idx="90">
                  <c:v>21.7598448275862</c:v>
                </c:pt>
              </c:numCache>
            </c:numRef>
          </c:val>
          <c:smooth val="0"/>
          <c:extLst>
            <c:ext xmlns:c16="http://schemas.microsoft.com/office/drawing/2014/chart" uri="{C3380CC4-5D6E-409C-BE32-E72D297353CC}">
              <c16:uniqueId val="{00000001-2F3D-48CA-9D62-E75B4BD069E6}"/>
            </c:ext>
          </c:extLst>
        </c:ser>
        <c:ser>
          <c:idx val="2"/>
          <c:order val="2"/>
          <c:tx>
            <c:strRef>
              <c:f>'[Figure 1 Charts 1 3 5 dependency_ratios_oldyoung-formatted.xlsx]lidc_young_data'!$F$2</c:f>
              <c:strCache>
                <c:ptCount val="1"/>
                <c:pt idx="0">
                  <c:v>High fertility</c:v>
                </c:pt>
              </c:strCache>
            </c:strRef>
          </c:tx>
          <c:spPr>
            <a:ln>
              <a:prstDash val="dash"/>
            </a:ln>
          </c:spPr>
          <c:marker>
            <c:symbol val="none"/>
          </c:marker>
          <c:cat>
            <c:numRef>
              <c:f>'[Figure 1 Charts 1 3 5 dependency_ratios_oldyoung-formatted.xlsx]lidc_young_data'!$B$63:$B$153</c:f>
              <c:numCache>
                <c:formatCode>General</c:formatCode>
                <c:ptCount val="9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pt idx="41">
                  <c:v>2051</c:v>
                </c:pt>
                <c:pt idx="42">
                  <c:v>2052</c:v>
                </c:pt>
                <c:pt idx="43">
                  <c:v>2053</c:v>
                </c:pt>
                <c:pt idx="44">
                  <c:v>2054</c:v>
                </c:pt>
                <c:pt idx="45">
                  <c:v>2055</c:v>
                </c:pt>
                <c:pt idx="46">
                  <c:v>2056</c:v>
                </c:pt>
                <c:pt idx="47">
                  <c:v>2057</c:v>
                </c:pt>
                <c:pt idx="48">
                  <c:v>2058</c:v>
                </c:pt>
                <c:pt idx="49">
                  <c:v>2059</c:v>
                </c:pt>
                <c:pt idx="50">
                  <c:v>2060</c:v>
                </c:pt>
                <c:pt idx="51">
                  <c:v>2061</c:v>
                </c:pt>
                <c:pt idx="52">
                  <c:v>2062</c:v>
                </c:pt>
                <c:pt idx="53">
                  <c:v>2063</c:v>
                </c:pt>
                <c:pt idx="54">
                  <c:v>2064</c:v>
                </c:pt>
                <c:pt idx="55">
                  <c:v>2065</c:v>
                </c:pt>
                <c:pt idx="56">
                  <c:v>2066</c:v>
                </c:pt>
                <c:pt idx="57">
                  <c:v>2067</c:v>
                </c:pt>
                <c:pt idx="58">
                  <c:v>2068</c:v>
                </c:pt>
                <c:pt idx="59">
                  <c:v>2069</c:v>
                </c:pt>
                <c:pt idx="60">
                  <c:v>2070</c:v>
                </c:pt>
                <c:pt idx="61">
                  <c:v>2071</c:v>
                </c:pt>
                <c:pt idx="62">
                  <c:v>2072</c:v>
                </c:pt>
                <c:pt idx="63">
                  <c:v>2073</c:v>
                </c:pt>
                <c:pt idx="64">
                  <c:v>2074</c:v>
                </c:pt>
                <c:pt idx="65">
                  <c:v>2075</c:v>
                </c:pt>
                <c:pt idx="66">
                  <c:v>2076</c:v>
                </c:pt>
                <c:pt idx="67">
                  <c:v>2077</c:v>
                </c:pt>
                <c:pt idx="68">
                  <c:v>2078</c:v>
                </c:pt>
                <c:pt idx="69">
                  <c:v>2079</c:v>
                </c:pt>
                <c:pt idx="70">
                  <c:v>2080</c:v>
                </c:pt>
                <c:pt idx="71">
                  <c:v>2081</c:v>
                </c:pt>
                <c:pt idx="72">
                  <c:v>2082</c:v>
                </c:pt>
                <c:pt idx="73">
                  <c:v>2083</c:v>
                </c:pt>
                <c:pt idx="74">
                  <c:v>2084</c:v>
                </c:pt>
                <c:pt idx="75">
                  <c:v>2085</c:v>
                </c:pt>
                <c:pt idx="76">
                  <c:v>2086</c:v>
                </c:pt>
                <c:pt idx="77">
                  <c:v>2087</c:v>
                </c:pt>
                <c:pt idx="78">
                  <c:v>2088</c:v>
                </c:pt>
                <c:pt idx="79">
                  <c:v>2089</c:v>
                </c:pt>
                <c:pt idx="80">
                  <c:v>2090</c:v>
                </c:pt>
                <c:pt idx="81">
                  <c:v>2091</c:v>
                </c:pt>
                <c:pt idx="82">
                  <c:v>2092</c:v>
                </c:pt>
                <c:pt idx="83">
                  <c:v>2093</c:v>
                </c:pt>
                <c:pt idx="84">
                  <c:v>2094</c:v>
                </c:pt>
                <c:pt idx="85">
                  <c:v>2095</c:v>
                </c:pt>
                <c:pt idx="86">
                  <c:v>2096</c:v>
                </c:pt>
                <c:pt idx="87">
                  <c:v>2097</c:v>
                </c:pt>
                <c:pt idx="88">
                  <c:v>2098</c:v>
                </c:pt>
                <c:pt idx="89">
                  <c:v>2099</c:v>
                </c:pt>
                <c:pt idx="90">
                  <c:v>2100</c:v>
                </c:pt>
              </c:numCache>
            </c:numRef>
          </c:cat>
          <c:val>
            <c:numRef>
              <c:f>'[Figure 1 Charts 1 3 5 dependency_ratios_oldyoung-formatted.xlsx]lidc_young_data'!$F$63:$F$153</c:f>
              <c:numCache>
                <c:formatCode>General</c:formatCode>
                <c:ptCount val="91"/>
                <c:pt idx="0">
                  <c:v>74.9551379310345</c:v>
                </c:pt>
                <c:pt idx="1">
                  <c:v>74.430655172413793</c:v>
                </c:pt>
                <c:pt idx="2">
                  <c:v>73.988879310344799</c:v>
                </c:pt>
                <c:pt idx="3">
                  <c:v>73.572775862068994</c:v>
                </c:pt>
                <c:pt idx="4">
                  <c:v>73.125689655172394</c:v>
                </c:pt>
                <c:pt idx="5">
                  <c:v>72.666741379310295</c:v>
                </c:pt>
                <c:pt idx="6">
                  <c:v>72.138068965517206</c:v>
                </c:pt>
                <c:pt idx="7">
                  <c:v>71.5532068965517</c:v>
                </c:pt>
                <c:pt idx="8">
                  <c:v>70.869310344827596</c:v>
                </c:pt>
                <c:pt idx="9">
                  <c:v>70.063000000000002</c:v>
                </c:pt>
                <c:pt idx="10">
                  <c:v>69.178413793103402</c:v>
                </c:pt>
                <c:pt idx="11">
                  <c:v>68.2841034482759</c:v>
                </c:pt>
                <c:pt idx="12">
                  <c:v>67.520758620689705</c:v>
                </c:pt>
                <c:pt idx="13">
                  <c:v>66.880758620689704</c:v>
                </c:pt>
                <c:pt idx="14">
                  <c:v>66.224982758620698</c:v>
                </c:pt>
                <c:pt idx="15">
                  <c:v>65.526413793103401</c:v>
                </c:pt>
                <c:pt idx="16">
                  <c:v>64.805068965517194</c:v>
                </c:pt>
                <c:pt idx="17">
                  <c:v>64.169379310344794</c:v>
                </c:pt>
                <c:pt idx="18">
                  <c:v>63.634155172413799</c:v>
                </c:pt>
                <c:pt idx="19">
                  <c:v>63.116431034482801</c:v>
                </c:pt>
                <c:pt idx="20">
                  <c:v>62.618327586206902</c:v>
                </c:pt>
                <c:pt idx="21">
                  <c:v>62.145499999999998</c:v>
                </c:pt>
                <c:pt idx="22">
                  <c:v>61.7694310344828</c:v>
                </c:pt>
                <c:pt idx="23">
                  <c:v>61.481879310344802</c:v>
                </c:pt>
                <c:pt idx="24">
                  <c:v>61.204775862068999</c:v>
                </c:pt>
                <c:pt idx="25">
                  <c:v>60.937948275862098</c:v>
                </c:pt>
                <c:pt idx="26">
                  <c:v>60.678948275862098</c:v>
                </c:pt>
                <c:pt idx="27">
                  <c:v>60.256931034482797</c:v>
                </c:pt>
                <c:pt idx="28">
                  <c:v>59.6797413793103</c:v>
                </c:pt>
                <c:pt idx="29">
                  <c:v>59.123293103448297</c:v>
                </c:pt>
                <c:pt idx="30">
                  <c:v>58.594362068965502</c:v>
                </c:pt>
                <c:pt idx="31">
                  <c:v>58.090189655172402</c:v>
                </c:pt>
                <c:pt idx="32">
                  <c:v>57.501862068965501</c:v>
                </c:pt>
                <c:pt idx="33">
                  <c:v>56.835827586206896</c:v>
                </c:pt>
                <c:pt idx="34">
                  <c:v>56.199862068965501</c:v>
                </c:pt>
                <c:pt idx="35">
                  <c:v>55.595810344827598</c:v>
                </c:pt>
                <c:pt idx="36">
                  <c:v>55.024017241379298</c:v>
                </c:pt>
                <c:pt idx="37">
                  <c:v>54.4120344827586</c:v>
                </c:pt>
                <c:pt idx="38">
                  <c:v>53.762706896551698</c:v>
                </c:pt>
                <c:pt idx="39">
                  <c:v>53.145068965517197</c:v>
                </c:pt>
                <c:pt idx="40">
                  <c:v>52.559913793103398</c:v>
                </c:pt>
                <c:pt idx="41">
                  <c:v>52.009948275862101</c:v>
                </c:pt>
                <c:pt idx="42">
                  <c:v>51.495103448275898</c:v>
                </c:pt>
                <c:pt idx="43">
                  <c:v>51.012</c:v>
                </c:pt>
                <c:pt idx="44">
                  <c:v>50.559017241379301</c:v>
                </c:pt>
                <c:pt idx="45">
                  <c:v>50.132672413793102</c:v>
                </c:pt>
                <c:pt idx="46">
                  <c:v>49.7291034482759</c:v>
                </c:pt>
                <c:pt idx="47">
                  <c:v>49.347362068965502</c:v>
                </c:pt>
                <c:pt idx="48">
                  <c:v>48.980706896551702</c:v>
                </c:pt>
                <c:pt idx="49">
                  <c:v>48.623362068965498</c:v>
                </c:pt>
                <c:pt idx="50">
                  <c:v>48.275655172413799</c:v>
                </c:pt>
                <c:pt idx="51">
                  <c:v>47.936448275862098</c:v>
                </c:pt>
                <c:pt idx="52">
                  <c:v>47.6016896551724</c:v>
                </c:pt>
                <c:pt idx="53">
                  <c:v>47.2703103448276</c:v>
                </c:pt>
                <c:pt idx="54">
                  <c:v>46.9465</c:v>
                </c:pt>
                <c:pt idx="55">
                  <c:v>46.628362068965501</c:v>
                </c:pt>
                <c:pt idx="56">
                  <c:v>46.312741379310303</c:v>
                </c:pt>
                <c:pt idx="57">
                  <c:v>45.997844827586199</c:v>
                </c:pt>
                <c:pt idx="58">
                  <c:v>45.681586206896597</c:v>
                </c:pt>
                <c:pt idx="59">
                  <c:v>45.364982758620698</c:v>
                </c:pt>
                <c:pt idx="60">
                  <c:v>45.048534482758598</c:v>
                </c:pt>
                <c:pt idx="61">
                  <c:v>44.7320689655172</c:v>
                </c:pt>
                <c:pt idx="62">
                  <c:v>44.417103448275903</c:v>
                </c:pt>
                <c:pt idx="63">
                  <c:v>44.107620689655199</c:v>
                </c:pt>
                <c:pt idx="64">
                  <c:v>43.804775862069</c:v>
                </c:pt>
                <c:pt idx="65">
                  <c:v>43.506999999999998</c:v>
                </c:pt>
                <c:pt idx="66">
                  <c:v>43.213241379310297</c:v>
                </c:pt>
                <c:pt idx="67">
                  <c:v>42.924465517241401</c:v>
                </c:pt>
                <c:pt idx="68">
                  <c:v>42.644362068965499</c:v>
                </c:pt>
                <c:pt idx="69">
                  <c:v>42.371948275862103</c:v>
                </c:pt>
                <c:pt idx="70">
                  <c:v>42.107310344827603</c:v>
                </c:pt>
                <c:pt idx="71">
                  <c:v>41.849793103448299</c:v>
                </c:pt>
                <c:pt idx="72">
                  <c:v>41.596155172413802</c:v>
                </c:pt>
                <c:pt idx="73">
                  <c:v>41.347655172413802</c:v>
                </c:pt>
                <c:pt idx="74">
                  <c:v>41.107379310344797</c:v>
                </c:pt>
                <c:pt idx="75">
                  <c:v>40.874482758620701</c:v>
                </c:pt>
                <c:pt idx="76">
                  <c:v>40.647293103448298</c:v>
                </c:pt>
                <c:pt idx="77">
                  <c:v>40.442982758620701</c:v>
                </c:pt>
                <c:pt idx="78">
                  <c:v>40.261534482758599</c:v>
                </c:pt>
                <c:pt idx="79">
                  <c:v>40.083448275862096</c:v>
                </c:pt>
                <c:pt idx="80">
                  <c:v>39.907517241379303</c:v>
                </c:pt>
                <c:pt idx="81">
                  <c:v>39.733982758620698</c:v>
                </c:pt>
                <c:pt idx="82">
                  <c:v>39.574862068965501</c:v>
                </c:pt>
                <c:pt idx="83">
                  <c:v>39.428310344827601</c:v>
                </c:pt>
                <c:pt idx="84">
                  <c:v>39.281241379310302</c:v>
                </c:pt>
                <c:pt idx="85">
                  <c:v>39.132844827586197</c:v>
                </c:pt>
                <c:pt idx="86">
                  <c:v>38.983344827586201</c:v>
                </c:pt>
                <c:pt idx="87">
                  <c:v>38.841051724137898</c:v>
                </c:pt>
                <c:pt idx="88">
                  <c:v>38.706465517241398</c:v>
                </c:pt>
                <c:pt idx="89">
                  <c:v>38.571431034482799</c:v>
                </c:pt>
                <c:pt idx="90">
                  <c:v>38.436689655172401</c:v>
                </c:pt>
              </c:numCache>
            </c:numRef>
          </c:val>
          <c:smooth val="0"/>
          <c:extLst>
            <c:ext xmlns:c16="http://schemas.microsoft.com/office/drawing/2014/chart" uri="{C3380CC4-5D6E-409C-BE32-E72D297353CC}">
              <c16:uniqueId val="{00000002-2F3D-48CA-9D62-E75B4BD069E6}"/>
            </c:ext>
          </c:extLst>
        </c:ser>
        <c:ser>
          <c:idx val="3"/>
          <c:order val="3"/>
          <c:tx>
            <c:strRef>
              <c:f>'[Figure 1 Charts 1 3 5 dependency_ratios_oldyoung-formatted.xlsx]lidc_young_data'!$G$2</c:f>
              <c:strCache>
                <c:ptCount val="1"/>
                <c:pt idx="0">
                  <c:v>Constant fertility</c:v>
                </c:pt>
              </c:strCache>
            </c:strRef>
          </c:tx>
          <c:spPr>
            <a:ln>
              <a:solidFill>
                <a:srgbClr val="0070C0"/>
              </a:solidFill>
              <a:prstDash val="dash"/>
            </a:ln>
          </c:spPr>
          <c:marker>
            <c:symbol val="none"/>
          </c:marker>
          <c:cat>
            <c:numRef>
              <c:f>'[Figure 1 Charts 1 3 5 dependency_ratios_oldyoung-formatted.xlsx]lidc_young_data'!$B$63:$B$153</c:f>
              <c:numCache>
                <c:formatCode>General</c:formatCode>
                <c:ptCount val="9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pt idx="41">
                  <c:v>2051</c:v>
                </c:pt>
                <c:pt idx="42">
                  <c:v>2052</c:v>
                </c:pt>
                <c:pt idx="43">
                  <c:v>2053</c:v>
                </c:pt>
                <c:pt idx="44">
                  <c:v>2054</c:v>
                </c:pt>
                <c:pt idx="45">
                  <c:v>2055</c:v>
                </c:pt>
                <c:pt idx="46">
                  <c:v>2056</c:v>
                </c:pt>
                <c:pt idx="47">
                  <c:v>2057</c:v>
                </c:pt>
                <c:pt idx="48">
                  <c:v>2058</c:v>
                </c:pt>
                <c:pt idx="49">
                  <c:v>2059</c:v>
                </c:pt>
                <c:pt idx="50">
                  <c:v>2060</c:v>
                </c:pt>
                <c:pt idx="51">
                  <c:v>2061</c:v>
                </c:pt>
                <c:pt idx="52">
                  <c:v>2062</c:v>
                </c:pt>
                <c:pt idx="53">
                  <c:v>2063</c:v>
                </c:pt>
                <c:pt idx="54">
                  <c:v>2064</c:v>
                </c:pt>
                <c:pt idx="55">
                  <c:v>2065</c:v>
                </c:pt>
                <c:pt idx="56">
                  <c:v>2066</c:v>
                </c:pt>
                <c:pt idx="57">
                  <c:v>2067</c:v>
                </c:pt>
                <c:pt idx="58">
                  <c:v>2068</c:v>
                </c:pt>
                <c:pt idx="59">
                  <c:v>2069</c:v>
                </c:pt>
                <c:pt idx="60">
                  <c:v>2070</c:v>
                </c:pt>
                <c:pt idx="61">
                  <c:v>2071</c:v>
                </c:pt>
                <c:pt idx="62">
                  <c:v>2072</c:v>
                </c:pt>
                <c:pt idx="63">
                  <c:v>2073</c:v>
                </c:pt>
                <c:pt idx="64">
                  <c:v>2074</c:v>
                </c:pt>
                <c:pt idx="65">
                  <c:v>2075</c:v>
                </c:pt>
                <c:pt idx="66">
                  <c:v>2076</c:v>
                </c:pt>
                <c:pt idx="67">
                  <c:v>2077</c:v>
                </c:pt>
                <c:pt idx="68">
                  <c:v>2078</c:v>
                </c:pt>
                <c:pt idx="69">
                  <c:v>2079</c:v>
                </c:pt>
                <c:pt idx="70">
                  <c:v>2080</c:v>
                </c:pt>
                <c:pt idx="71">
                  <c:v>2081</c:v>
                </c:pt>
                <c:pt idx="72">
                  <c:v>2082</c:v>
                </c:pt>
                <c:pt idx="73">
                  <c:v>2083</c:v>
                </c:pt>
                <c:pt idx="74">
                  <c:v>2084</c:v>
                </c:pt>
                <c:pt idx="75">
                  <c:v>2085</c:v>
                </c:pt>
                <c:pt idx="76">
                  <c:v>2086</c:v>
                </c:pt>
                <c:pt idx="77">
                  <c:v>2087</c:v>
                </c:pt>
                <c:pt idx="78">
                  <c:v>2088</c:v>
                </c:pt>
                <c:pt idx="79">
                  <c:v>2089</c:v>
                </c:pt>
                <c:pt idx="80">
                  <c:v>2090</c:v>
                </c:pt>
                <c:pt idx="81">
                  <c:v>2091</c:v>
                </c:pt>
                <c:pt idx="82">
                  <c:v>2092</c:v>
                </c:pt>
                <c:pt idx="83">
                  <c:v>2093</c:v>
                </c:pt>
                <c:pt idx="84">
                  <c:v>2094</c:v>
                </c:pt>
                <c:pt idx="85">
                  <c:v>2095</c:v>
                </c:pt>
                <c:pt idx="86">
                  <c:v>2096</c:v>
                </c:pt>
                <c:pt idx="87">
                  <c:v>2097</c:v>
                </c:pt>
                <c:pt idx="88">
                  <c:v>2098</c:v>
                </c:pt>
                <c:pt idx="89">
                  <c:v>2099</c:v>
                </c:pt>
                <c:pt idx="90">
                  <c:v>2100</c:v>
                </c:pt>
              </c:numCache>
            </c:numRef>
          </c:cat>
          <c:val>
            <c:numRef>
              <c:f>'[Figure 1 Charts 1 3 5 dependency_ratios_oldyoung-formatted.xlsx]lidc_young_data'!$G$63:$G$153</c:f>
              <c:numCache>
                <c:formatCode>General</c:formatCode>
                <c:ptCount val="91"/>
                <c:pt idx="0">
                  <c:v>74.9551379310345</c:v>
                </c:pt>
                <c:pt idx="1">
                  <c:v>74.430655172413793</c:v>
                </c:pt>
                <c:pt idx="2">
                  <c:v>73.988879310344799</c:v>
                </c:pt>
                <c:pt idx="3">
                  <c:v>73.572775862068994</c:v>
                </c:pt>
                <c:pt idx="4">
                  <c:v>73.125689655172394</c:v>
                </c:pt>
                <c:pt idx="5">
                  <c:v>72.666741379310295</c:v>
                </c:pt>
                <c:pt idx="6">
                  <c:v>72.138068965517206</c:v>
                </c:pt>
                <c:pt idx="7">
                  <c:v>71.5532068965517</c:v>
                </c:pt>
                <c:pt idx="8">
                  <c:v>70.869310344827596</c:v>
                </c:pt>
                <c:pt idx="9">
                  <c:v>70.063000000000002</c:v>
                </c:pt>
                <c:pt idx="10">
                  <c:v>69.178413793103402</c:v>
                </c:pt>
                <c:pt idx="11">
                  <c:v>68.2841034482759</c:v>
                </c:pt>
                <c:pt idx="12">
                  <c:v>67.357275862069002</c:v>
                </c:pt>
                <c:pt idx="13">
                  <c:v>66.440155172413796</c:v>
                </c:pt>
                <c:pt idx="14">
                  <c:v>65.594965517241405</c:v>
                </c:pt>
                <c:pt idx="15">
                  <c:v>64.789482758620693</c:v>
                </c:pt>
                <c:pt idx="16">
                  <c:v>64.036327586206895</c:v>
                </c:pt>
                <c:pt idx="17">
                  <c:v>63.343172413793098</c:v>
                </c:pt>
                <c:pt idx="18">
                  <c:v>62.726706896551697</c:v>
                </c:pt>
                <c:pt idx="19">
                  <c:v>62.196448275862103</c:v>
                </c:pt>
                <c:pt idx="20">
                  <c:v>61.751948275862098</c:v>
                </c:pt>
                <c:pt idx="21">
                  <c:v>61.395706896551701</c:v>
                </c:pt>
                <c:pt idx="22">
                  <c:v>61.130293103448302</c:v>
                </c:pt>
                <c:pt idx="23">
                  <c:v>60.946482758620697</c:v>
                </c:pt>
                <c:pt idx="24">
                  <c:v>60.828724137930998</c:v>
                </c:pt>
                <c:pt idx="25">
                  <c:v>60.7730517241379</c:v>
                </c:pt>
                <c:pt idx="26">
                  <c:v>60.776655172413797</c:v>
                </c:pt>
                <c:pt idx="27">
                  <c:v>60.840258620689703</c:v>
                </c:pt>
                <c:pt idx="28">
                  <c:v>60.916913793103397</c:v>
                </c:pt>
                <c:pt idx="29">
                  <c:v>60.962155172413802</c:v>
                </c:pt>
                <c:pt idx="30">
                  <c:v>60.981327586206902</c:v>
                </c:pt>
                <c:pt idx="31">
                  <c:v>60.9736551724138</c:v>
                </c:pt>
                <c:pt idx="32">
                  <c:v>60.937672413793102</c:v>
                </c:pt>
                <c:pt idx="33">
                  <c:v>60.875172413793102</c:v>
                </c:pt>
                <c:pt idx="34">
                  <c:v>60.7900689655172</c:v>
                </c:pt>
                <c:pt idx="35">
                  <c:v>60.686448275862098</c:v>
                </c:pt>
                <c:pt idx="36">
                  <c:v>60.566724137930997</c:v>
                </c:pt>
                <c:pt idx="37">
                  <c:v>60.434155172413803</c:v>
                </c:pt>
                <c:pt idx="38">
                  <c:v>60.292999999999999</c:v>
                </c:pt>
                <c:pt idx="39">
                  <c:v>60.1473965517241</c:v>
                </c:pt>
                <c:pt idx="40">
                  <c:v>60.001086206896602</c:v>
                </c:pt>
                <c:pt idx="41">
                  <c:v>59.857568965517203</c:v>
                </c:pt>
                <c:pt idx="42">
                  <c:v>59.720275862069002</c:v>
                </c:pt>
                <c:pt idx="43">
                  <c:v>59.5926896551724</c:v>
                </c:pt>
                <c:pt idx="44">
                  <c:v>59.478603448275898</c:v>
                </c:pt>
                <c:pt idx="45">
                  <c:v>59.380103448275896</c:v>
                </c:pt>
                <c:pt idx="46">
                  <c:v>59.298051724137899</c:v>
                </c:pt>
                <c:pt idx="47">
                  <c:v>59.234000000000002</c:v>
                </c:pt>
                <c:pt idx="48">
                  <c:v>59.188344827586199</c:v>
                </c:pt>
                <c:pt idx="49">
                  <c:v>59.159258620689698</c:v>
                </c:pt>
                <c:pt idx="50">
                  <c:v>59.145706896551701</c:v>
                </c:pt>
                <c:pt idx="51">
                  <c:v>59.146620689655201</c:v>
                </c:pt>
                <c:pt idx="52">
                  <c:v>59.158862068965497</c:v>
                </c:pt>
                <c:pt idx="53">
                  <c:v>59.182051724137899</c:v>
                </c:pt>
                <c:pt idx="54">
                  <c:v>59.216999999999999</c:v>
                </c:pt>
                <c:pt idx="55">
                  <c:v>59.261706896551701</c:v>
                </c:pt>
                <c:pt idx="56">
                  <c:v>59.313517241379301</c:v>
                </c:pt>
                <c:pt idx="57">
                  <c:v>59.370051724137902</c:v>
                </c:pt>
                <c:pt idx="58">
                  <c:v>59.428482758620703</c:v>
                </c:pt>
                <c:pt idx="59">
                  <c:v>59.486965517241401</c:v>
                </c:pt>
                <c:pt idx="60">
                  <c:v>59.5439827586207</c:v>
                </c:pt>
                <c:pt idx="61">
                  <c:v>59.598017241379303</c:v>
                </c:pt>
                <c:pt idx="62">
                  <c:v>59.648155172413801</c:v>
                </c:pt>
                <c:pt idx="63">
                  <c:v>59.6929137931035</c:v>
                </c:pt>
                <c:pt idx="64">
                  <c:v>59.7320344827586</c:v>
                </c:pt>
                <c:pt idx="65">
                  <c:v>59.765379310344798</c:v>
                </c:pt>
                <c:pt idx="66">
                  <c:v>59.792068965517203</c:v>
                </c:pt>
                <c:pt idx="67">
                  <c:v>59.812568965517201</c:v>
                </c:pt>
                <c:pt idx="68">
                  <c:v>59.826017241379297</c:v>
                </c:pt>
                <c:pt idx="69">
                  <c:v>59.832344827586198</c:v>
                </c:pt>
                <c:pt idx="70">
                  <c:v>59.831499999999998</c:v>
                </c:pt>
                <c:pt idx="71">
                  <c:v>59.823672413793098</c:v>
                </c:pt>
                <c:pt idx="72">
                  <c:v>59.808448275862098</c:v>
                </c:pt>
                <c:pt idx="73">
                  <c:v>59.787586206896499</c:v>
                </c:pt>
                <c:pt idx="74">
                  <c:v>59.763344827586202</c:v>
                </c:pt>
                <c:pt idx="75">
                  <c:v>59.736413793103402</c:v>
                </c:pt>
                <c:pt idx="76">
                  <c:v>59.707396551724102</c:v>
                </c:pt>
                <c:pt idx="77">
                  <c:v>59.676189655172401</c:v>
                </c:pt>
                <c:pt idx="78">
                  <c:v>59.647793103448301</c:v>
                </c:pt>
                <c:pt idx="79">
                  <c:v>59.626258620689697</c:v>
                </c:pt>
                <c:pt idx="80">
                  <c:v>59.610293103448299</c:v>
                </c:pt>
                <c:pt idx="81">
                  <c:v>59.599844827586203</c:v>
                </c:pt>
                <c:pt idx="82">
                  <c:v>59.594431034482803</c:v>
                </c:pt>
                <c:pt idx="83">
                  <c:v>59.593844827586203</c:v>
                </c:pt>
                <c:pt idx="84">
                  <c:v>59.597448275862099</c:v>
                </c:pt>
                <c:pt idx="85">
                  <c:v>59.6043275862069</c:v>
                </c:pt>
                <c:pt idx="86">
                  <c:v>59.613844827586199</c:v>
                </c:pt>
                <c:pt idx="87">
                  <c:v>59.624948275862103</c:v>
                </c:pt>
                <c:pt idx="88">
                  <c:v>59.637241379310296</c:v>
                </c:pt>
                <c:pt idx="89">
                  <c:v>59.649637931034498</c:v>
                </c:pt>
                <c:pt idx="90">
                  <c:v>59.661499999999997</c:v>
                </c:pt>
              </c:numCache>
            </c:numRef>
          </c:val>
          <c:smooth val="0"/>
          <c:extLst>
            <c:ext xmlns:c16="http://schemas.microsoft.com/office/drawing/2014/chart" uri="{C3380CC4-5D6E-409C-BE32-E72D297353CC}">
              <c16:uniqueId val="{00000003-2F3D-48CA-9D62-E75B4BD069E6}"/>
            </c:ext>
          </c:extLst>
        </c:ser>
        <c:dLbls>
          <c:showLegendKey val="0"/>
          <c:showVal val="0"/>
          <c:showCatName val="0"/>
          <c:showSerName val="0"/>
          <c:showPercent val="0"/>
          <c:showBubbleSize val="0"/>
        </c:dLbls>
        <c:smooth val="0"/>
        <c:axId val="679385728"/>
        <c:axId val="679409920"/>
      </c:lineChart>
      <c:catAx>
        <c:axId val="679385728"/>
        <c:scaling>
          <c:orientation val="minMax"/>
        </c:scaling>
        <c:delete val="0"/>
        <c:axPos val="b"/>
        <c:numFmt formatCode="General" sourceLinked="1"/>
        <c:majorTickMark val="in"/>
        <c:minorTickMark val="none"/>
        <c:tickLblPos val="low"/>
        <c:spPr>
          <a:ln w="12700">
            <a:solidFill>
              <a:sysClr val="windowText" lastClr="000000"/>
            </a:solidFill>
            <a:prstDash val="solid"/>
          </a:ln>
        </c:spPr>
        <c:txPr>
          <a:bodyPr rot="-5400000" vert="horz"/>
          <a:lstStyle/>
          <a:p>
            <a:pPr>
              <a:defRPr sz="1800">
                <a:latin typeface="Segoe UI"/>
                <a:ea typeface="Segoe UI"/>
                <a:cs typeface="Segoe UI"/>
              </a:defRPr>
            </a:pPr>
            <a:endParaRPr lang="en-US"/>
          </a:p>
        </c:txPr>
        <c:crossAx val="679409920"/>
        <c:crosses val="autoZero"/>
        <c:auto val="1"/>
        <c:lblAlgn val="ctr"/>
        <c:lblOffset val="100"/>
        <c:tickLblSkip val="10"/>
        <c:tickMarkSkip val="10"/>
        <c:noMultiLvlLbl val="0"/>
      </c:catAx>
      <c:valAx>
        <c:axId val="679409920"/>
        <c:scaling>
          <c:orientation val="minMax"/>
        </c:scaling>
        <c:delete val="0"/>
        <c:axPos val="l"/>
        <c:numFmt formatCode="General" sourceLinked="0"/>
        <c:majorTickMark val="in"/>
        <c:minorTickMark val="none"/>
        <c:tickLblPos val="nextTo"/>
        <c:spPr>
          <a:ln w="12700">
            <a:solidFill>
              <a:sysClr val="windowText" lastClr="000000"/>
            </a:solidFill>
            <a:prstDash val="solid"/>
          </a:ln>
        </c:spPr>
        <c:txPr>
          <a:bodyPr rot="0" vert="horz"/>
          <a:lstStyle/>
          <a:p>
            <a:pPr>
              <a:defRPr sz="1800">
                <a:latin typeface="Segoe UI"/>
                <a:ea typeface="Segoe UI"/>
                <a:cs typeface="Segoe UI"/>
              </a:defRPr>
            </a:pPr>
            <a:endParaRPr lang="en-US"/>
          </a:p>
        </c:txPr>
        <c:crossAx val="679385728"/>
        <c:crosses val="autoZero"/>
        <c:crossBetween val="between"/>
      </c:valAx>
      <c:spPr>
        <a:solidFill>
          <a:srgbClr val="FFFFFF"/>
        </a:solidFill>
        <a:ln w="12700">
          <a:solidFill>
            <a:sysClr val="windowText" lastClr="000000"/>
          </a:solidFill>
          <a:prstDash val="solid"/>
        </a:ln>
      </c:spPr>
    </c:plotArea>
    <c:legend>
      <c:legendPos val="t"/>
      <c:layout>
        <c:manualLayout>
          <c:xMode val="edge"/>
          <c:yMode val="edge"/>
          <c:x val="0.31154457057211848"/>
          <c:y val="0.17075676488920416"/>
          <c:w val="0.64448885217314755"/>
          <c:h val="0.11454647202062682"/>
        </c:manualLayout>
      </c:layout>
      <c:overlay val="0"/>
      <c:spPr>
        <a:noFill/>
        <a:ln w="25400">
          <a:noFill/>
        </a:ln>
      </c:spPr>
      <c:txPr>
        <a:bodyPr/>
        <a:lstStyle/>
        <a:p>
          <a:pPr>
            <a:defRPr sz="1800">
              <a:latin typeface="Segoe UI"/>
              <a:ea typeface="Segoe UI"/>
              <a:cs typeface="Segoe UI"/>
            </a:defRPr>
          </a:pPr>
          <a:endParaRPr lang="en-US"/>
        </a:p>
      </c:txPr>
    </c:legend>
    <c:plotVisOnly val="1"/>
    <c:dispBlanksAs val="span"/>
    <c:showDLblsOverMax val="0"/>
  </c:chart>
  <c:spPr>
    <a:noFill/>
    <a:ln w="25400">
      <a:noFill/>
    </a:ln>
  </c:spPr>
  <c:txPr>
    <a:bodyPr/>
    <a:lstStyle/>
    <a:p>
      <a:pPr>
        <a:defRPr sz="1800" b="0" i="0" u="none" strike="noStrike" baseline="0">
          <a:solidFill>
            <a:srgbClr val="000000"/>
          </a:solidFill>
          <a:latin typeface="Segoe UI" pitchFamily="34" charset="0"/>
          <a:ea typeface="Frutiger LT Std 45 Light"/>
          <a:cs typeface="Segoe UI" pitchFamily="34" charset="0"/>
        </a:defRPr>
      </a:pPr>
      <a:endParaRPr lang="en-US"/>
    </a:p>
  </c:txPr>
  <c:externalData r:id="rId2">
    <c:autoUpdate val="0"/>
  </c:externalData>
  <c:userShapes r:id="rId3"/>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70543538427752"/>
          <c:y val="0.17581145853031302"/>
          <c:w val="0.85491486017171381"/>
          <c:h val="0.71745050914443609"/>
        </c:manualLayout>
      </c:layout>
      <c:lineChart>
        <c:grouping val="standard"/>
        <c:varyColors val="0"/>
        <c:ser>
          <c:idx val="0"/>
          <c:order val="0"/>
          <c:tx>
            <c:v>Population Change Only</c:v>
          </c:tx>
          <c:spPr>
            <a:ln w="44450" cap="rnd">
              <a:solidFill>
                <a:schemeClr val="accent1">
                  <a:lumMod val="75000"/>
                </a:schemeClr>
              </a:solidFill>
              <a:round/>
            </a:ln>
            <a:effectLst/>
          </c:spPr>
          <c:marker>
            <c:symbol val="none"/>
          </c:marker>
          <c:cat>
            <c:numRef>
              <c:f>Percentiles!$E$1:$AF$1</c:f>
              <c:numCache>
                <c:formatCode>General</c:formatCode>
                <c:ptCount val="28"/>
                <c:pt idx="0">
                  <c:v>2023</c:v>
                </c:pt>
                <c:pt idx="1">
                  <c:v>2024</c:v>
                </c:pt>
                <c:pt idx="2">
                  <c:v>2025</c:v>
                </c:pt>
                <c:pt idx="3">
                  <c:v>2026</c:v>
                </c:pt>
                <c:pt idx="4">
                  <c:v>2027</c:v>
                </c:pt>
                <c:pt idx="5">
                  <c:v>2028</c:v>
                </c:pt>
                <c:pt idx="6">
                  <c:v>2029</c:v>
                </c:pt>
                <c:pt idx="7">
                  <c:v>2030</c:v>
                </c:pt>
                <c:pt idx="8">
                  <c:v>2031</c:v>
                </c:pt>
                <c:pt idx="9">
                  <c:v>2032</c:v>
                </c:pt>
                <c:pt idx="10">
                  <c:v>2033</c:v>
                </c:pt>
                <c:pt idx="11">
                  <c:v>2034</c:v>
                </c:pt>
                <c:pt idx="12">
                  <c:v>2035</c:v>
                </c:pt>
                <c:pt idx="13">
                  <c:v>2036</c:v>
                </c:pt>
                <c:pt idx="14">
                  <c:v>2037</c:v>
                </c:pt>
                <c:pt idx="15">
                  <c:v>2038</c:v>
                </c:pt>
                <c:pt idx="16">
                  <c:v>2039</c:v>
                </c:pt>
                <c:pt idx="17">
                  <c:v>2040</c:v>
                </c:pt>
                <c:pt idx="18">
                  <c:v>2041</c:v>
                </c:pt>
                <c:pt idx="19">
                  <c:v>2042</c:v>
                </c:pt>
                <c:pt idx="20">
                  <c:v>2043</c:v>
                </c:pt>
                <c:pt idx="21">
                  <c:v>2044</c:v>
                </c:pt>
                <c:pt idx="22">
                  <c:v>2045</c:v>
                </c:pt>
                <c:pt idx="23">
                  <c:v>2046</c:v>
                </c:pt>
                <c:pt idx="24">
                  <c:v>2047</c:v>
                </c:pt>
                <c:pt idx="25">
                  <c:v>2048</c:v>
                </c:pt>
                <c:pt idx="26">
                  <c:v>2049</c:v>
                </c:pt>
                <c:pt idx="27">
                  <c:v>2050</c:v>
                </c:pt>
              </c:numCache>
              <c:extLst/>
            </c:numRef>
          </c:cat>
          <c:val>
            <c:numRef>
              <c:f>Sheet6!$B$24:$AC$24</c:f>
              <c:numCache>
                <c:formatCode>General</c:formatCode>
                <c:ptCount val="28"/>
                <c:pt idx="0">
                  <c:v>8.700273342715014E-3</c:v>
                </c:pt>
                <c:pt idx="1">
                  <c:v>1.623794526527067E-2</c:v>
                </c:pt>
                <c:pt idx="2">
                  <c:v>2.4032858086067477E-2</c:v>
                </c:pt>
                <c:pt idx="3">
                  <c:v>3.2041838216371077E-2</c:v>
                </c:pt>
                <c:pt idx="4">
                  <c:v>3.9026211284703183E-2</c:v>
                </c:pt>
                <c:pt idx="5">
                  <c:v>4.6722867078157204E-2</c:v>
                </c:pt>
                <c:pt idx="6">
                  <c:v>5.4752329149808543E-2</c:v>
                </c:pt>
                <c:pt idx="7">
                  <c:v>6.3850622943228963E-2</c:v>
                </c:pt>
                <c:pt idx="8">
                  <c:v>7.1716475257071255E-2</c:v>
                </c:pt>
                <c:pt idx="9">
                  <c:v>7.7174177228714003E-2</c:v>
                </c:pt>
                <c:pt idx="10">
                  <c:v>7.9463710813028832E-2</c:v>
                </c:pt>
                <c:pt idx="11">
                  <c:v>8.314891572112304E-2</c:v>
                </c:pt>
                <c:pt idx="12">
                  <c:v>8.8614184798572859E-2</c:v>
                </c:pt>
                <c:pt idx="13">
                  <c:v>9.2998114632856343E-2</c:v>
                </c:pt>
                <c:pt idx="14">
                  <c:v>9.7272998277991962E-2</c:v>
                </c:pt>
                <c:pt idx="15">
                  <c:v>0.10061859837008302</c:v>
                </c:pt>
                <c:pt idx="16">
                  <c:v>0.10252496213345452</c:v>
                </c:pt>
                <c:pt idx="17">
                  <c:v>0.10311906713467089</c:v>
                </c:pt>
                <c:pt idx="18">
                  <c:v>0.10302387763936971</c:v>
                </c:pt>
                <c:pt idx="19">
                  <c:v>0.10382179596311614</c:v>
                </c:pt>
                <c:pt idx="20">
                  <c:v>0.10430429425712029</c:v>
                </c:pt>
                <c:pt idx="21">
                  <c:v>0.10454447661223554</c:v>
                </c:pt>
                <c:pt idx="22">
                  <c:v>0.10443953135111406</c:v>
                </c:pt>
                <c:pt idx="23">
                  <c:v>0.10071957155155742</c:v>
                </c:pt>
                <c:pt idx="24">
                  <c:v>9.640418505361692E-2</c:v>
                </c:pt>
                <c:pt idx="25">
                  <c:v>9.1738918158785432E-2</c:v>
                </c:pt>
                <c:pt idx="26">
                  <c:v>8.6837454922982005E-2</c:v>
                </c:pt>
                <c:pt idx="27">
                  <c:v>8.2913718104706047E-2</c:v>
                </c:pt>
              </c:numCache>
              <c:extLst/>
            </c:numRef>
          </c:val>
          <c:smooth val="0"/>
          <c:extLst>
            <c:ext xmlns:c16="http://schemas.microsoft.com/office/drawing/2014/chart" uri="{C3380CC4-5D6E-409C-BE32-E72D297353CC}">
              <c16:uniqueId val="{00000000-441D-491D-BEF3-9E57539953AA}"/>
            </c:ext>
          </c:extLst>
        </c:ser>
        <c:ser>
          <c:idx val="1"/>
          <c:order val="1"/>
          <c:tx>
            <c:v>Population Change and FLFP Instant Increase</c:v>
          </c:tx>
          <c:spPr>
            <a:ln w="44450" cap="rnd">
              <a:solidFill>
                <a:schemeClr val="accent6">
                  <a:lumMod val="75000"/>
                </a:schemeClr>
              </a:solidFill>
              <a:prstDash val="dash"/>
              <a:round/>
            </a:ln>
            <a:effectLst/>
          </c:spPr>
          <c:marker>
            <c:symbol val="none"/>
          </c:marker>
          <c:cat>
            <c:numRef>
              <c:f>Percentiles!$E$1:$AF$1</c:f>
              <c:numCache>
                <c:formatCode>General</c:formatCode>
                <c:ptCount val="28"/>
                <c:pt idx="0">
                  <c:v>2023</c:v>
                </c:pt>
                <c:pt idx="1">
                  <c:v>2024</c:v>
                </c:pt>
                <c:pt idx="2">
                  <c:v>2025</c:v>
                </c:pt>
                <c:pt idx="3">
                  <c:v>2026</c:v>
                </c:pt>
                <c:pt idx="4">
                  <c:v>2027</c:v>
                </c:pt>
                <c:pt idx="5">
                  <c:v>2028</c:v>
                </c:pt>
                <c:pt idx="6">
                  <c:v>2029</c:v>
                </c:pt>
                <c:pt idx="7">
                  <c:v>2030</c:v>
                </c:pt>
                <c:pt idx="8">
                  <c:v>2031</c:v>
                </c:pt>
                <c:pt idx="9">
                  <c:v>2032</c:v>
                </c:pt>
                <c:pt idx="10">
                  <c:v>2033</c:v>
                </c:pt>
                <c:pt idx="11">
                  <c:v>2034</c:v>
                </c:pt>
                <c:pt idx="12">
                  <c:v>2035</c:v>
                </c:pt>
                <c:pt idx="13">
                  <c:v>2036</c:v>
                </c:pt>
                <c:pt idx="14">
                  <c:v>2037</c:v>
                </c:pt>
                <c:pt idx="15">
                  <c:v>2038</c:v>
                </c:pt>
                <c:pt idx="16">
                  <c:v>2039</c:v>
                </c:pt>
                <c:pt idx="17">
                  <c:v>2040</c:v>
                </c:pt>
                <c:pt idx="18">
                  <c:v>2041</c:v>
                </c:pt>
                <c:pt idx="19">
                  <c:v>2042</c:v>
                </c:pt>
                <c:pt idx="20">
                  <c:v>2043</c:v>
                </c:pt>
                <c:pt idx="21">
                  <c:v>2044</c:v>
                </c:pt>
                <c:pt idx="22">
                  <c:v>2045</c:v>
                </c:pt>
                <c:pt idx="23">
                  <c:v>2046</c:v>
                </c:pt>
                <c:pt idx="24">
                  <c:v>2047</c:v>
                </c:pt>
                <c:pt idx="25">
                  <c:v>2048</c:v>
                </c:pt>
                <c:pt idx="26">
                  <c:v>2049</c:v>
                </c:pt>
                <c:pt idx="27">
                  <c:v>2050</c:v>
                </c:pt>
              </c:numCache>
              <c:extLst/>
            </c:numRef>
          </c:cat>
          <c:val>
            <c:numRef>
              <c:f>Sheet6!$B$23:$AC$23</c:f>
              <c:numCache>
                <c:formatCode>General</c:formatCode>
                <c:ptCount val="28"/>
                <c:pt idx="0">
                  <c:v>0.10247067861725387</c:v>
                </c:pt>
                <c:pt idx="1">
                  <c:v>0.11240836686614752</c:v>
                </c:pt>
                <c:pt idx="2">
                  <c:v>0.1273591096780391</c:v>
                </c:pt>
                <c:pt idx="3">
                  <c:v>0.12977079830771365</c:v>
                </c:pt>
                <c:pt idx="4">
                  <c:v>0.14787553659583574</c:v>
                </c:pt>
                <c:pt idx="5">
                  <c:v>0.15369829015434333</c:v>
                </c:pt>
                <c:pt idx="6">
                  <c:v>0.15971151171003029</c:v>
                </c:pt>
                <c:pt idx="7">
                  <c:v>0.18076749061009312</c:v>
                </c:pt>
                <c:pt idx="8">
                  <c:v>0.19060794393772129</c:v>
                </c:pt>
                <c:pt idx="9">
                  <c:v>0.20457898538085684</c:v>
                </c:pt>
                <c:pt idx="10">
                  <c:v>0.21250514977153134</c:v>
                </c:pt>
                <c:pt idx="11">
                  <c:v>0.22633594988889194</c:v>
                </c:pt>
                <c:pt idx="12">
                  <c:v>0.23014891119507253</c:v>
                </c:pt>
                <c:pt idx="13">
                  <c:v>0.2335563705271988</c:v>
                </c:pt>
                <c:pt idx="14">
                  <c:v>0.23548259032739161</c:v>
                </c:pt>
                <c:pt idx="15">
                  <c:v>0.23911349896242595</c:v>
                </c:pt>
                <c:pt idx="16">
                  <c:v>0.24015196424787999</c:v>
                </c:pt>
                <c:pt idx="17">
                  <c:v>0.24057124873824809</c:v>
                </c:pt>
                <c:pt idx="18">
                  <c:v>0.24484217338995795</c:v>
                </c:pt>
                <c:pt idx="19">
                  <c:v>0.24771493029176028</c:v>
                </c:pt>
                <c:pt idx="20">
                  <c:v>0.25795396425787209</c:v>
                </c:pt>
                <c:pt idx="21">
                  <c:v>0.25290947436975619</c:v>
                </c:pt>
                <c:pt idx="22">
                  <c:v>0.24818749789011307</c:v>
                </c:pt>
                <c:pt idx="23">
                  <c:v>0.24842490001887008</c:v>
                </c:pt>
                <c:pt idx="24">
                  <c:v>0.24843238537074197</c:v>
                </c:pt>
                <c:pt idx="25">
                  <c:v>0.24828781282520662</c:v>
                </c:pt>
                <c:pt idx="26">
                  <c:v>0.24809974135585811</c:v>
                </c:pt>
                <c:pt idx="27">
                  <c:v>0.24812090443848756</c:v>
                </c:pt>
              </c:numCache>
              <c:extLst/>
            </c:numRef>
          </c:val>
          <c:smooth val="0"/>
          <c:extLst>
            <c:ext xmlns:c16="http://schemas.microsoft.com/office/drawing/2014/chart" uri="{C3380CC4-5D6E-409C-BE32-E72D297353CC}">
              <c16:uniqueId val="{00000001-441D-491D-BEF3-9E57539953AA}"/>
            </c:ext>
          </c:extLst>
        </c:ser>
        <c:ser>
          <c:idx val="2"/>
          <c:order val="2"/>
          <c:tx>
            <c:v>Population Change and FLFP Transition Increase</c:v>
          </c:tx>
          <c:spPr>
            <a:ln w="63500" cap="rnd">
              <a:solidFill>
                <a:srgbClr val="C00000"/>
              </a:solidFill>
              <a:prstDash val="sysDot"/>
              <a:round/>
            </a:ln>
            <a:effectLst/>
          </c:spPr>
          <c:marker>
            <c:symbol val="none"/>
          </c:marker>
          <c:cat>
            <c:strLit>
              <c:ptCount val="28"/>
              <c:pt idx="0">
                <c:v>2023</c:v>
              </c:pt>
              <c:pt idx="1">
                <c:v>2024</c:v>
              </c:pt>
              <c:pt idx="2">
                <c:v>2025</c:v>
              </c:pt>
              <c:pt idx="3">
                <c:v>2026</c:v>
              </c:pt>
              <c:pt idx="4">
                <c:v>2027</c:v>
              </c:pt>
              <c:pt idx="5">
                <c:v>2028</c:v>
              </c:pt>
              <c:pt idx="6">
                <c:v>2029</c:v>
              </c:pt>
              <c:pt idx="7">
                <c:v>2030</c:v>
              </c:pt>
              <c:pt idx="8">
                <c:v>2031</c:v>
              </c:pt>
              <c:pt idx="9">
                <c:v>2032</c:v>
              </c:pt>
              <c:pt idx="10">
                <c:v>2033</c:v>
              </c:pt>
              <c:pt idx="11">
                <c:v>2034</c:v>
              </c:pt>
              <c:pt idx="12">
                <c:v>2035</c:v>
              </c:pt>
              <c:pt idx="13">
                <c:v>2036</c:v>
              </c:pt>
              <c:pt idx="14">
                <c:v>2037</c:v>
              </c:pt>
              <c:pt idx="15">
                <c:v>2038</c:v>
              </c:pt>
              <c:pt idx="16">
                <c:v>2039</c:v>
              </c:pt>
              <c:pt idx="17">
                <c:v>2040</c:v>
              </c:pt>
              <c:pt idx="18">
                <c:v>2041</c:v>
              </c:pt>
              <c:pt idx="19">
                <c:v>2042</c:v>
              </c:pt>
              <c:pt idx="20">
                <c:v>2043</c:v>
              </c:pt>
              <c:pt idx="21">
                <c:v>2044</c:v>
              </c:pt>
              <c:pt idx="22">
                <c:v>2045</c:v>
              </c:pt>
              <c:pt idx="23">
                <c:v>2046</c:v>
              </c:pt>
              <c:pt idx="24">
                <c:v>2047</c:v>
              </c:pt>
              <c:pt idx="25">
                <c:v>2048</c:v>
              </c:pt>
              <c:pt idx="26">
                <c:v>2049</c:v>
              </c:pt>
              <c:pt idx="27">
                <c:v>2050</c:v>
              </c:pt>
              <c:extLst>
                <c:ext xmlns:c15="http://schemas.microsoft.com/office/drawing/2012/chart" uri="{02D57815-91ED-43cb-92C2-25804820EDAC}">
                  <c15:autoCat val="1"/>
                </c:ext>
              </c:extLst>
            </c:strLit>
          </c:cat>
          <c:val>
            <c:numRef>
              <c:f>Sheet6!$B$25:$AC$25</c:f>
              <c:numCache>
                <c:formatCode>General</c:formatCode>
                <c:ptCount val="28"/>
                <c:pt idx="0">
                  <c:v>1.6704438453700995E-2</c:v>
                </c:pt>
                <c:pt idx="1">
                  <c:v>3.0287639845624659E-2</c:v>
                </c:pt>
                <c:pt idx="2">
                  <c:v>4.5556894856736863E-2</c:v>
                </c:pt>
                <c:pt idx="3">
                  <c:v>6.2308643039476808E-2</c:v>
                </c:pt>
                <c:pt idx="4">
                  <c:v>7.8248200898224596E-2</c:v>
                </c:pt>
                <c:pt idx="5">
                  <c:v>9.3504140169746064E-2</c:v>
                </c:pt>
                <c:pt idx="6">
                  <c:v>0.10880196051922031</c:v>
                </c:pt>
                <c:pt idx="7">
                  <c:v>0.1237354389769223</c:v>
                </c:pt>
                <c:pt idx="8">
                  <c:v>0.13646862807909832</c:v>
                </c:pt>
                <c:pt idx="9">
                  <c:v>0.14793489620996647</c:v>
                </c:pt>
                <c:pt idx="10">
                  <c:v>0.15850159048494916</c:v>
                </c:pt>
                <c:pt idx="11">
                  <c:v>0.17152293309864119</c:v>
                </c:pt>
                <c:pt idx="12">
                  <c:v>0.18372800380053511</c:v>
                </c:pt>
                <c:pt idx="13">
                  <c:v>0.1938394656960889</c:v>
                </c:pt>
                <c:pt idx="14">
                  <c:v>0.20351811065889858</c:v>
                </c:pt>
                <c:pt idx="15">
                  <c:v>0.20908764543295155</c:v>
                </c:pt>
                <c:pt idx="16">
                  <c:v>0.22108204747027371</c:v>
                </c:pt>
                <c:pt idx="17">
                  <c:v>0.23010288136540402</c:v>
                </c:pt>
                <c:pt idx="18">
                  <c:v>0.23828072144261614</c:v>
                </c:pt>
                <c:pt idx="19">
                  <c:v>0.24771493029176028</c:v>
                </c:pt>
                <c:pt idx="20">
                  <c:v>0.25795396425787209</c:v>
                </c:pt>
                <c:pt idx="21">
                  <c:v>0.25290947436975619</c:v>
                </c:pt>
                <c:pt idx="22">
                  <c:v>0.24818749789011307</c:v>
                </c:pt>
                <c:pt idx="23">
                  <c:v>0.24842490001887008</c:v>
                </c:pt>
                <c:pt idx="24">
                  <c:v>0.24843238537074197</c:v>
                </c:pt>
                <c:pt idx="25">
                  <c:v>0.24828781282520662</c:v>
                </c:pt>
                <c:pt idx="26">
                  <c:v>0.24809974135585811</c:v>
                </c:pt>
                <c:pt idx="27">
                  <c:v>0.24812090443848756</c:v>
                </c:pt>
              </c:numCache>
              <c:extLst/>
            </c:numRef>
          </c:val>
          <c:smooth val="0"/>
          <c:extLst>
            <c:ext xmlns:c16="http://schemas.microsoft.com/office/drawing/2014/chart" uri="{C3380CC4-5D6E-409C-BE32-E72D297353CC}">
              <c16:uniqueId val="{00000002-441D-491D-BEF3-9E57539953AA}"/>
            </c:ext>
          </c:extLst>
        </c:ser>
        <c:dLbls>
          <c:showLegendKey val="0"/>
          <c:showVal val="0"/>
          <c:showCatName val="0"/>
          <c:showSerName val="0"/>
          <c:showPercent val="0"/>
          <c:showBubbleSize val="0"/>
        </c:dLbls>
        <c:smooth val="0"/>
        <c:axId val="488097360"/>
        <c:axId val="327592655"/>
      </c:lineChart>
      <c:catAx>
        <c:axId val="488097360"/>
        <c:scaling>
          <c:orientation val="minMax"/>
        </c:scaling>
        <c:delete val="0"/>
        <c:axPos val="b"/>
        <c:numFmt formatCode="General" sourceLinked="1"/>
        <c:majorTickMark val="none"/>
        <c:minorTickMark val="none"/>
        <c:tickLblPos val="low"/>
        <c:spPr>
          <a:noFill/>
          <a:ln w="12700" cap="flat" cmpd="sng" algn="ctr">
            <a:solidFill>
              <a:srgbClr val="B3B3B3"/>
            </a:solidFill>
            <a:prstDash val="solid"/>
            <a:round/>
          </a:ln>
          <a:effectLst/>
        </c:spPr>
        <c:txPr>
          <a:bodyPr rot="-60000000" spcFirstLastPara="1" vertOverflow="ellipsis" vert="horz" wrap="square" anchor="ctr" anchorCtr="1"/>
          <a:lstStyle/>
          <a:p>
            <a:pPr>
              <a:defRPr sz="900" b="0" i="0" u="none" strike="noStrike" kern="1200" baseline="0">
                <a:solidFill>
                  <a:srgbClr val="000000"/>
                </a:solidFill>
                <a:latin typeface="Segoe UI"/>
                <a:ea typeface="Segoe UI"/>
                <a:cs typeface="Segoe UI"/>
              </a:defRPr>
            </a:pPr>
            <a:endParaRPr lang="en-US"/>
          </a:p>
        </c:txPr>
        <c:crossAx val="327592655"/>
        <c:crosses val="autoZero"/>
        <c:auto val="1"/>
        <c:lblAlgn val="ctr"/>
        <c:lblOffset val="100"/>
        <c:tickLblSkip val="1"/>
        <c:noMultiLvlLbl val="0"/>
      </c:catAx>
      <c:valAx>
        <c:axId val="327592655"/>
        <c:scaling>
          <c:orientation val="minMax"/>
        </c:scaling>
        <c:delete val="0"/>
        <c:axPos val="l"/>
        <c:numFmt formatCode="0%" sourceLinked="0"/>
        <c:majorTickMark val="in"/>
        <c:minorTickMark val="none"/>
        <c:tickLblPos val="nextTo"/>
        <c:spPr>
          <a:noFill/>
          <a:ln w="12700">
            <a:solidFill>
              <a:srgbClr val="B3B3B3"/>
            </a:solidFill>
            <a:prstDash val="solid"/>
          </a:ln>
          <a:effectLst/>
        </c:spPr>
        <c:txPr>
          <a:bodyPr rot="-60000000" spcFirstLastPara="1" vertOverflow="ellipsis" vert="horz" wrap="square" anchor="ctr" anchorCtr="1"/>
          <a:lstStyle/>
          <a:p>
            <a:pPr>
              <a:defRPr sz="1000" b="0" i="0" u="none" strike="noStrike" kern="1200" baseline="0">
                <a:solidFill>
                  <a:srgbClr val="000000"/>
                </a:solidFill>
                <a:latin typeface="Segoe UI"/>
                <a:ea typeface="Segoe UI"/>
                <a:cs typeface="Segoe UI"/>
              </a:defRPr>
            </a:pPr>
            <a:endParaRPr lang="en-US"/>
          </a:p>
        </c:txPr>
        <c:crossAx val="488097360"/>
        <c:crosses val="autoZero"/>
        <c:crossBetween val="midCat"/>
        <c:majorUnit val="0.1"/>
      </c:valAx>
      <c:spPr>
        <a:solidFill>
          <a:srgbClr val="FFFFFF"/>
        </a:solidFill>
        <a:ln w="25400">
          <a:solidFill>
            <a:schemeClr val="tx1"/>
          </a:solidFill>
          <a:prstDash val="solid"/>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25400" cap="flat" cmpd="sng" algn="ctr">
      <a:noFill/>
      <a:round/>
    </a:ln>
    <a:effectLst/>
  </c:spPr>
  <c:txPr>
    <a:bodyPr/>
    <a:lstStyle/>
    <a:p>
      <a:pPr>
        <a:defRPr/>
      </a:pPr>
      <a:endParaRPr lang="en-US"/>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98265366135699"/>
          <c:y val="0.18652644246477171"/>
          <c:w val="0.82290730849220128"/>
          <c:h val="0.72047398347811031"/>
        </c:manualLayout>
      </c:layout>
      <c:lineChart>
        <c:grouping val="standard"/>
        <c:varyColors val="0"/>
        <c:ser>
          <c:idx val="0"/>
          <c:order val="0"/>
          <c:tx>
            <c:v>Population Change Only</c:v>
          </c:tx>
          <c:spPr>
            <a:ln w="44450" cap="rnd">
              <a:solidFill>
                <a:schemeClr val="accent1">
                  <a:lumMod val="75000"/>
                </a:schemeClr>
              </a:solidFill>
              <a:round/>
            </a:ln>
            <a:effectLst/>
          </c:spPr>
          <c:marker>
            <c:symbol val="none"/>
          </c:marker>
          <c:cat>
            <c:numRef>
              <c:f>Percentiles!$E$1:$AF$1</c:f>
              <c:numCache>
                <c:formatCode>General</c:formatCode>
                <c:ptCount val="28"/>
                <c:pt idx="0">
                  <c:v>2023</c:v>
                </c:pt>
                <c:pt idx="1">
                  <c:v>2024</c:v>
                </c:pt>
                <c:pt idx="2">
                  <c:v>2025</c:v>
                </c:pt>
                <c:pt idx="3">
                  <c:v>2026</c:v>
                </c:pt>
                <c:pt idx="4">
                  <c:v>2027</c:v>
                </c:pt>
                <c:pt idx="5">
                  <c:v>2028</c:v>
                </c:pt>
                <c:pt idx="6">
                  <c:v>2029</c:v>
                </c:pt>
                <c:pt idx="7">
                  <c:v>2030</c:v>
                </c:pt>
                <c:pt idx="8">
                  <c:v>2031</c:v>
                </c:pt>
                <c:pt idx="9">
                  <c:v>2032</c:v>
                </c:pt>
                <c:pt idx="10">
                  <c:v>2033</c:v>
                </c:pt>
                <c:pt idx="11">
                  <c:v>2034</c:v>
                </c:pt>
                <c:pt idx="12">
                  <c:v>2035</c:v>
                </c:pt>
                <c:pt idx="13">
                  <c:v>2036</c:v>
                </c:pt>
                <c:pt idx="14">
                  <c:v>2037</c:v>
                </c:pt>
                <c:pt idx="15">
                  <c:v>2038</c:v>
                </c:pt>
                <c:pt idx="16">
                  <c:v>2039</c:v>
                </c:pt>
                <c:pt idx="17">
                  <c:v>2040</c:v>
                </c:pt>
                <c:pt idx="18">
                  <c:v>2041</c:v>
                </c:pt>
                <c:pt idx="19">
                  <c:v>2042</c:v>
                </c:pt>
                <c:pt idx="20">
                  <c:v>2043</c:v>
                </c:pt>
                <c:pt idx="21">
                  <c:v>2044</c:v>
                </c:pt>
                <c:pt idx="22">
                  <c:v>2045</c:v>
                </c:pt>
                <c:pt idx="23">
                  <c:v>2046</c:v>
                </c:pt>
                <c:pt idx="24">
                  <c:v>2047</c:v>
                </c:pt>
                <c:pt idx="25">
                  <c:v>2048</c:v>
                </c:pt>
                <c:pt idx="26">
                  <c:v>2049</c:v>
                </c:pt>
                <c:pt idx="27">
                  <c:v>2050</c:v>
                </c:pt>
              </c:numCache>
              <c:extLst/>
            </c:numRef>
          </c:cat>
          <c:val>
            <c:numRef>
              <c:f>Sheet6!$B$27:$AC$27</c:f>
              <c:numCache>
                <c:formatCode>General</c:formatCode>
                <c:ptCount val="28"/>
                <c:pt idx="0">
                  <c:v>-5.0198470148856453E-4</c:v>
                </c:pt>
                <c:pt idx="1">
                  <c:v>-5.9933220201091597E-4</c:v>
                </c:pt>
                <c:pt idx="2">
                  <c:v>-2.7520989095956017E-3</c:v>
                </c:pt>
                <c:pt idx="3">
                  <c:v>-4.5350097550399537E-3</c:v>
                </c:pt>
                <c:pt idx="4">
                  <c:v>-9.1220463906351856E-3</c:v>
                </c:pt>
                <c:pt idx="5">
                  <c:v>-1.6137004118794818E-2</c:v>
                </c:pt>
                <c:pt idx="6">
                  <c:v>-2.288761643168058E-2</c:v>
                </c:pt>
                <c:pt idx="7">
                  <c:v>-2.4265137502907486E-2</c:v>
                </c:pt>
                <c:pt idx="8">
                  <c:v>-2.4800917055233906E-2</c:v>
                </c:pt>
                <c:pt idx="9">
                  <c:v>-2.5560976420161863E-2</c:v>
                </c:pt>
                <c:pt idx="10">
                  <c:v>-2.6530086721527457E-2</c:v>
                </c:pt>
                <c:pt idx="11">
                  <c:v>-2.7814850092480858E-2</c:v>
                </c:pt>
                <c:pt idx="12">
                  <c:v>-2.9862441714937571E-2</c:v>
                </c:pt>
                <c:pt idx="13">
                  <c:v>-3.2423661797117975E-2</c:v>
                </c:pt>
                <c:pt idx="14">
                  <c:v>-3.5105328445325545E-2</c:v>
                </c:pt>
                <c:pt idx="15">
                  <c:v>-3.8110954822846543E-2</c:v>
                </c:pt>
                <c:pt idx="16">
                  <c:v>-4.1889100554884928E-2</c:v>
                </c:pt>
                <c:pt idx="17">
                  <c:v>-4.6665429897329469E-2</c:v>
                </c:pt>
                <c:pt idx="18">
                  <c:v>-5.201076543100458E-2</c:v>
                </c:pt>
                <c:pt idx="19">
                  <c:v>-5.7937567145499136E-2</c:v>
                </c:pt>
                <c:pt idx="20">
                  <c:v>-6.4627197111497336E-2</c:v>
                </c:pt>
                <c:pt idx="21">
                  <c:v>-6.4830702906262028E-2</c:v>
                </c:pt>
                <c:pt idx="22">
                  <c:v>-6.4880717538532418E-2</c:v>
                </c:pt>
                <c:pt idx="23">
                  <c:v>-6.5229535266163263E-2</c:v>
                </c:pt>
                <c:pt idx="24">
                  <c:v>-6.5465255246951237E-2</c:v>
                </c:pt>
                <c:pt idx="25">
                  <c:v>-6.6828187896969649E-2</c:v>
                </c:pt>
                <c:pt idx="26">
                  <c:v>-6.8460158008854077E-2</c:v>
                </c:pt>
                <c:pt idx="27">
                  <c:v>-6.9725785886754155E-2</c:v>
                </c:pt>
              </c:numCache>
              <c:extLst/>
            </c:numRef>
          </c:val>
          <c:smooth val="0"/>
          <c:extLst>
            <c:ext xmlns:c16="http://schemas.microsoft.com/office/drawing/2014/chart" uri="{C3380CC4-5D6E-409C-BE32-E72D297353CC}">
              <c16:uniqueId val="{00000000-80BE-4381-99E1-3B63061F88E5}"/>
            </c:ext>
          </c:extLst>
        </c:ser>
        <c:ser>
          <c:idx val="1"/>
          <c:order val="1"/>
          <c:tx>
            <c:v>Population Change and FLFP Instant Increase</c:v>
          </c:tx>
          <c:spPr>
            <a:ln w="44450" cap="rnd">
              <a:solidFill>
                <a:schemeClr val="accent6">
                  <a:lumMod val="75000"/>
                </a:schemeClr>
              </a:solidFill>
              <a:prstDash val="dash"/>
              <a:round/>
            </a:ln>
            <a:effectLst/>
          </c:spPr>
          <c:marker>
            <c:symbol val="none"/>
          </c:marker>
          <c:cat>
            <c:numRef>
              <c:f>Percentiles!$E$1:$AF$1</c:f>
              <c:numCache>
                <c:formatCode>General</c:formatCode>
                <c:ptCount val="28"/>
                <c:pt idx="0">
                  <c:v>2023</c:v>
                </c:pt>
                <c:pt idx="1">
                  <c:v>2024</c:v>
                </c:pt>
                <c:pt idx="2">
                  <c:v>2025</c:v>
                </c:pt>
                <c:pt idx="3">
                  <c:v>2026</c:v>
                </c:pt>
                <c:pt idx="4">
                  <c:v>2027</c:v>
                </c:pt>
                <c:pt idx="5">
                  <c:v>2028</c:v>
                </c:pt>
                <c:pt idx="6">
                  <c:v>2029</c:v>
                </c:pt>
                <c:pt idx="7">
                  <c:v>2030</c:v>
                </c:pt>
                <c:pt idx="8">
                  <c:v>2031</c:v>
                </c:pt>
                <c:pt idx="9">
                  <c:v>2032</c:v>
                </c:pt>
                <c:pt idx="10">
                  <c:v>2033</c:v>
                </c:pt>
                <c:pt idx="11">
                  <c:v>2034</c:v>
                </c:pt>
                <c:pt idx="12">
                  <c:v>2035</c:v>
                </c:pt>
                <c:pt idx="13">
                  <c:v>2036</c:v>
                </c:pt>
                <c:pt idx="14">
                  <c:v>2037</c:v>
                </c:pt>
                <c:pt idx="15">
                  <c:v>2038</c:v>
                </c:pt>
                <c:pt idx="16">
                  <c:v>2039</c:v>
                </c:pt>
                <c:pt idx="17">
                  <c:v>2040</c:v>
                </c:pt>
                <c:pt idx="18">
                  <c:v>2041</c:v>
                </c:pt>
                <c:pt idx="19">
                  <c:v>2042</c:v>
                </c:pt>
                <c:pt idx="20">
                  <c:v>2043</c:v>
                </c:pt>
                <c:pt idx="21">
                  <c:v>2044</c:v>
                </c:pt>
                <c:pt idx="22">
                  <c:v>2045</c:v>
                </c:pt>
                <c:pt idx="23">
                  <c:v>2046</c:v>
                </c:pt>
                <c:pt idx="24">
                  <c:v>2047</c:v>
                </c:pt>
                <c:pt idx="25">
                  <c:v>2048</c:v>
                </c:pt>
                <c:pt idx="26">
                  <c:v>2049</c:v>
                </c:pt>
                <c:pt idx="27">
                  <c:v>2050</c:v>
                </c:pt>
              </c:numCache>
              <c:extLst/>
            </c:numRef>
          </c:cat>
          <c:val>
            <c:numRef>
              <c:f>Sheet6!$B$26:$AC$26</c:f>
              <c:numCache>
                <c:formatCode>General</c:formatCode>
                <c:ptCount val="28"/>
                <c:pt idx="0">
                  <c:v>2.2921706179968897E-2</c:v>
                </c:pt>
                <c:pt idx="1">
                  <c:v>2.0081607123504264E-2</c:v>
                </c:pt>
                <c:pt idx="2">
                  <c:v>2.0787091300244587E-2</c:v>
                </c:pt>
                <c:pt idx="3">
                  <c:v>2.266028749184068E-2</c:v>
                </c:pt>
                <c:pt idx="4">
                  <c:v>2.3789067937321606E-2</c:v>
                </c:pt>
                <c:pt idx="5">
                  <c:v>2.5900543045429325E-2</c:v>
                </c:pt>
                <c:pt idx="6">
                  <c:v>2.3864541328131317E-2</c:v>
                </c:pt>
                <c:pt idx="7">
                  <c:v>2.0376538152922175E-2</c:v>
                </c:pt>
                <c:pt idx="8">
                  <c:v>1.8747682654442377E-2</c:v>
                </c:pt>
                <c:pt idx="9">
                  <c:v>1.4201417563387775E-2</c:v>
                </c:pt>
                <c:pt idx="10">
                  <c:v>3.8710912901293026E-3</c:v>
                </c:pt>
                <c:pt idx="11">
                  <c:v>-9.7852801357434238E-5</c:v>
                </c:pt>
                <c:pt idx="12">
                  <c:v>-2.926363750219374E-3</c:v>
                </c:pt>
                <c:pt idx="13">
                  <c:v>-5.9317449675657663E-3</c:v>
                </c:pt>
                <c:pt idx="14">
                  <c:v>-8.6473227693510957E-3</c:v>
                </c:pt>
                <c:pt idx="15">
                  <c:v>-1.084480798103149E-2</c:v>
                </c:pt>
                <c:pt idx="16">
                  <c:v>-1.2504144537154649E-2</c:v>
                </c:pt>
                <c:pt idx="17">
                  <c:v>-1.3761282948504427E-2</c:v>
                </c:pt>
                <c:pt idx="18">
                  <c:v>-1.5020776938011071E-2</c:v>
                </c:pt>
                <c:pt idx="19">
                  <c:v>-1.6626944730016024E-2</c:v>
                </c:pt>
                <c:pt idx="20">
                  <c:v>-2.1759761533608812E-2</c:v>
                </c:pt>
                <c:pt idx="21">
                  <c:v>-3.282707209017055E-2</c:v>
                </c:pt>
                <c:pt idx="22">
                  <c:v>-4.0373556372485964E-2</c:v>
                </c:pt>
                <c:pt idx="23">
                  <c:v>-4.3677946906027887E-2</c:v>
                </c:pt>
                <c:pt idx="24">
                  <c:v>-4.3941481992112452E-2</c:v>
                </c:pt>
                <c:pt idx="25">
                  <c:v>-4.4117574253648262E-2</c:v>
                </c:pt>
                <c:pt idx="26">
                  <c:v>-4.4634200154033299E-2</c:v>
                </c:pt>
                <c:pt idx="27">
                  <c:v>-5.5834253053823946E-2</c:v>
                </c:pt>
              </c:numCache>
              <c:extLst/>
            </c:numRef>
          </c:val>
          <c:smooth val="0"/>
          <c:extLst>
            <c:ext xmlns:c16="http://schemas.microsoft.com/office/drawing/2014/chart" uri="{C3380CC4-5D6E-409C-BE32-E72D297353CC}">
              <c16:uniqueId val="{00000001-80BE-4381-99E1-3B63061F88E5}"/>
            </c:ext>
          </c:extLst>
        </c:ser>
        <c:ser>
          <c:idx val="2"/>
          <c:order val="2"/>
          <c:tx>
            <c:v>Population Change and FLFP Transition Increase</c:v>
          </c:tx>
          <c:spPr>
            <a:ln w="63500" cap="rnd">
              <a:solidFill>
                <a:srgbClr val="C00000"/>
              </a:solidFill>
              <a:prstDash val="sysDot"/>
              <a:round/>
            </a:ln>
            <a:effectLst/>
          </c:spPr>
          <c:marker>
            <c:symbol val="none"/>
          </c:marker>
          <c:cat>
            <c:strLit>
              <c:ptCount val="28"/>
              <c:pt idx="0">
                <c:v>2023</c:v>
              </c:pt>
              <c:pt idx="1">
                <c:v>2024</c:v>
              </c:pt>
              <c:pt idx="2">
                <c:v>2025</c:v>
              </c:pt>
              <c:pt idx="3">
                <c:v>2026</c:v>
              </c:pt>
              <c:pt idx="4">
                <c:v>2027</c:v>
              </c:pt>
              <c:pt idx="5">
                <c:v>2028</c:v>
              </c:pt>
              <c:pt idx="6">
                <c:v>2029</c:v>
              </c:pt>
              <c:pt idx="7">
                <c:v>2030</c:v>
              </c:pt>
              <c:pt idx="8">
                <c:v>2031</c:v>
              </c:pt>
              <c:pt idx="9">
                <c:v>2032</c:v>
              </c:pt>
              <c:pt idx="10">
                <c:v>2033</c:v>
              </c:pt>
              <c:pt idx="11">
                <c:v>2034</c:v>
              </c:pt>
              <c:pt idx="12">
                <c:v>2035</c:v>
              </c:pt>
              <c:pt idx="13">
                <c:v>2036</c:v>
              </c:pt>
              <c:pt idx="14">
                <c:v>2037</c:v>
              </c:pt>
              <c:pt idx="15">
                <c:v>2038</c:v>
              </c:pt>
              <c:pt idx="16">
                <c:v>2039</c:v>
              </c:pt>
              <c:pt idx="17">
                <c:v>2040</c:v>
              </c:pt>
              <c:pt idx="18">
                <c:v>2041</c:v>
              </c:pt>
              <c:pt idx="19">
                <c:v>2042</c:v>
              </c:pt>
              <c:pt idx="20">
                <c:v>2043</c:v>
              </c:pt>
              <c:pt idx="21">
                <c:v>2044</c:v>
              </c:pt>
              <c:pt idx="22">
                <c:v>2045</c:v>
              </c:pt>
              <c:pt idx="23">
                <c:v>2046</c:v>
              </c:pt>
              <c:pt idx="24">
                <c:v>2047</c:v>
              </c:pt>
              <c:pt idx="25">
                <c:v>2048</c:v>
              </c:pt>
              <c:pt idx="26">
                <c:v>2049</c:v>
              </c:pt>
              <c:pt idx="27">
                <c:v>2050</c:v>
              </c:pt>
              <c:extLst>
                <c:ext xmlns:c15="http://schemas.microsoft.com/office/drawing/2012/chart" uri="{02D57815-91ED-43cb-92C2-25804820EDAC}">
                  <c15:autoCat val="1"/>
                </c:ext>
              </c:extLst>
            </c:strLit>
          </c:cat>
          <c:val>
            <c:numRef>
              <c:f>Sheet6!$B$28:$AC$28</c:f>
              <c:numCache>
                <c:formatCode>General</c:formatCode>
                <c:ptCount val="28"/>
                <c:pt idx="0">
                  <c:v>8.1201622279474157E-4</c:v>
                </c:pt>
                <c:pt idx="1">
                  <c:v>1.3250038574400547E-3</c:v>
                </c:pt>
                <c:pt idx="2">
                  <c:v>6.8717057509448676E-4</c:v>
                </c:pt>
                <c:pt idx="3">
                  <c:v>1.2935576843637886E-3</c:v>
                </c:pt>
                <c:pt idx="4">
                  <c:v>1.6241776320290446E-3</c:v>
                </c:pt>
                <c:pt idx="5">
                  <c:v>8.8123310093390916E-4</c:v>
                </c:pt>
                <c:pt idx="6">
                  <c:v>-5.4435584435130746E-4</c:v>
                </c:pt>
                <c:pt idx="7">
                  <c:v>-2.149503651223128E-3</c:v>
                </c:pt>
                <c:pt idx="8">
                  <c:v>-3.5081858304975011E-3</c:v>
                </c:pt>
                <c:pt idx="9">
                  <c:v>-4.6455047677207428E-3</c:v>
                </c:pt>
                <c:pt idx="10">
                  <c:v>-5.7705671601054886E-3</c:v>
                </c:pt>
                <c:pt idx="11">
                  <c:v>-7.2027880712842718E-3</c:v>
                </c:pt>
                <c:pt idx="12">
                  <c:v>-9.1415826897324193E-3</c:v>
                </c:pt>
                <c:pt idx="13">
                  <c:v>-1.1257707169576969E-2</c:v>
                </c:pt>
                <c:pt idx="14">
                  <c:v>-1.3084486511338866E-2</c:v>
                </c:pt>
                <c:pt idx="15">
                  <c:v>-1.4393630231305243E-2</c:v>
                </c:pt>
                <c:pt idx="16">
                  <c:v>-1.5165080961075605E-2</c:v>
                </c:pt>
                <c:pt idx="17">
                  <c:v>-1.5534787914664672E-2</c:v>
                </c:pt>
                <c:pt idx="18">
                  <c:v>-1.5907303524374639E-2</c:v>
                </c:pt>
                <c:pt idx="19">
                  <c:v>-1.6626944730016024E-2</c:v>
                </c:pt>
                <c:pt idx="20">
                  <c:v>-2.1759761533608812E-2</c:v>
                </c:pt>
                <c:pt idx="21">
                  <c:v>-3.282707209017055E-2</c:v>
                </c:pt>
                <c:pt idx="22">
                  <c:v>-4.0373556372485964E-2</c:v>
                </c:pt>
                <c:pt idx="23">
                  <c:v>-4.3677946906027887E-2</c:v>
                </c:pt>
                <c:pt idx="24">
                  <c:v>-4.3941481992112452E-2</c:v>
                </c:pt>
                <c:pt idx="25">
                  <c:v>-4.4117574253648262E-2</c:v>
                </c:pt>
                <c:pt idx="26">
                  <c:v>-4.4634200154033299E-2</c:v>
                </c:pt>
                <c:pt idx="27">
                  <c:v>-5.5834253053823946E-2</c:v>
                </c:pt>
              </c:numCache>
              <c:extLst/>
            </c:numRef>
          </c:val>
          <c:smooth val="0"/>
          <c:extLst>
            <c:ext xmlns:c16="http://schemas.microsoft.com/office/drawing/2014/chart" uri="{C3380CC4-5D6E-409C-BE32-E72D297353CC}">
              <c16:uniqueId val="{00000002-80BE-4381-99E1-3B63061F88E5}"/>
            </c:ext>
          </c:extLst>
        </c:ser>
        <c:dLbls>
          <c:showLegendKey val="0"/>
          <c:showVal val="0"/>
          <c:showCatName val="0"/>
          <c:showSerName val="0"/>
          <c:showPercent val="0"/>
          <c:showBubbleSize val="0"/>
        </c:dLbls>
        <c:smooth val="0"/>
        <c:axId val="81321647"/>
        <c:axId val="352366351"/>
      </c:lineChart>
      <c:catAx>
        <c:axId val="81321647"/>
        <c:scaling>
          <c:orientation val="minMax"/>
        </c:scaling>
        <c:delete val="0"/>
        <c:axPos val="b"/>
        <c:numFmt formatCode="General" sourceLinked="1"/>
        <c:majorTickMark val="none"/>
        <c:minorTickMark val="none"/>
        <c:tickLblPos val="low"/>
        <c:spPr>
          <a:noFill/>
          <a:ln w="12700" cap="flat" cmpd="sng" algn="ctr">
            <a:solidFill>
              <a:srgbClr val="B3B3B3"/>
            </a:solidFill>
            <a:prstDash val="solid"/>
            <a:round/>
          </a:ln>
          <a:effectLst/>
        </c:spPr>
        <c:txPr>
          <a:bodyPr rot="-60000000" spcFirstLastPara="1" vertOverflow="ellipsis" vert="horz" wrap="square" anchor="ctr" anchorCtr="1"/>
          <a:lstStyle/>
          <a:p>
            <a:pPr>
              <a:defRPr sz="900" b="0" i="0" u="none" strike="noStrike" kern="1200" baseline="0">
                <a:solidFill>
                  <a:srgbClr val="000000"/>
                </a:solidFill>
                <a:latin typeface="Segoe UI"/>
                <a:ea typeface="Segoe UI"/>
                <a:cs typeface="Segoe UI"/>
              </a:defRPr>
            </a:pPr>
            <a:endParaRPr lang="en-US"/>
          </a:p>
        </c:txPr>
        <c:crossAx val="352366351"/>
        <c:crosses val="autoZero"/>
        <c:auto val="0"/>
        <c:lblAlgn val="ctr"/>
        <c:lblOffset val="100"/>
        <c:tickLblSkip val="1"/>
        <c:tickMarkSkip val="2"/>
        <c:noMultiLvlLbl val="0"/>
      </c:catAx>
      <c:valAx>
        <c:axId val="352366351"/>
        <c:scaling>
          <c:orientation val="minMax"/>
        </c:scaling>
        <c:delete val="0"/>
        <c:axPos val="l"/>
        <c:numFmt formatCode="0%" sourceLinked="0"/>
        <c:majorTickMark val="in"/>
        <c:minorTickMark val="none"/>
        <c:tickLblPos val="nextTo"/>
        <c:spPr>
          <a:noFill/>
          <a:ln w="12700">
            <a:solidFill>
              <a:srgbClr val="B3B3B3"/>
            </a:solidFill>
            <a:prstDash val="solid"/>
          </a:ln>
          <a:effectLst/>
        </c:spPr>
        <c:txPr>
          <a:bodyPr rot="-60000000" spcFirstLastPara="1" vertOverflow="ellipsis" vert="horz" wrap="square" anchor="ctr" anchorCtr="1"/>
          <a:lstStyle/>
          <a:p>
            <a:pPr>
              <a:defRPr sz="1000" b="0" i="0" u="none" strike="noStrike" kern="1200" baseline="0">
                <a:solidFill>
                  <a:srgbClr val="000000"/>
                </a:solidFill>
                <a:latin typeface="Segoe UI"/>
                <a:ea typeface="Segoe UI"/>
                <a:cs typeface="Segoe UI"/>
              </a:defRPr>
            </a:pPr>
            <a:endParaRPr lang="en-US"/>
          </a:p>
        </c:txPr>
        <c:crossAx val="81321647"/>
        <c:crosses val="autoZero"/>
        <c:crossBetween val="midCat"/>
      </c:valAx>
      <c:spPr>
        <a:solidFill>
          <a:srgbClr val="FFFFFF"/>
        </a:solidFill>
        <a:ln w="25400">
          <a:solidFill>
            <a:schemeClr val="tx1"/>
          </a:solidFill>
          <a:prstDash val="solid"/>
        </a:ln>
        <a:effectLst/>
      </c:spPr>
    </c:plotArea>
    <c:legend>
      <c:legendPos val="r"/>
      <c:layout>
        <c:manualLayout>
          <c:xMode val="edge"/>
          <c:yMode val="edge"/>
          <c:x val="8.1259327054431674E-2"/>
          <c:y val="0.6957454019617747"/>
          <c:w val="0.70041956528599958"/>
          <c:h val="0.1722383286413405"/>
        </c:manualLayout>
      </c:layout>
      <c:overlay val="0"/>
      <c:spPr>
        <a:noFill/>
        <a:ln>
          <a:noFill/>
        </a:ln>
        <a:effectLst/>
      </c:spPr>
      <c:txPr>
        <a:bodyPr rot="0" spcFirstLastPara="1" vertOverflow="ellipsis" vert="horz" wrap="square" anchor="ctr" anchorCtr="1"/>
        <a:lstStyle/>
        <a:p>
          <a:pPr>
            <a:defRPr sz="1050" b="0"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25400" cap="flat" cmpd="sng" algn="ctr">
      <a:noFill/>
      <a:round/>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cdr:x>
      <cdr:y>0</cdr:y>
    </cdr:from>
    <cdr:to>
      <cdr:x>0.92891</cdr:x>
      <cdr:y>0.11597</cdr:y>
    </cdr:to>
    <cdr:sp macro="" textlink="">
      <cdr:nvSpPr>
        <cdr:cNvPr id="4" name="Text Box 1"/>
        <cdr:cNvSpPr txBox="1">
          <a:spLocks xmlns:a="http://schemas.openxmlformats.org/drawingml/2006/main" noChangeArrowheads="1"/>
        </cdr:cNvSpPr>
      </cdr:nvSpPr>
      <cdr:spPr bwMode="auto">
        <a:xfrm xmlns:a="http://schemas.openxmlformats.org/drawingml/2006/main">
          <a:off x="0" y="0"/>
          <a:ext cx="5483168" cy="533992"/>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vertOverflow="clip" wrap="none" lIns="54864" tIns="41148" rIns="0" bIns="0" anchor="t" upright="1">
          <a:spAutoFit/>
        </a:bodyPr>
        <a:lstStyle xmlns:a="http://schemas.openxmlformats.org/drawingml/2006/main"/>
        <a:p xmlns:a="http://schemas.openxmlformats.org/drawingml/2006/main">
          <a:pPr algn="l" rtl="0">
            <a:defRPr sz="1000"/>
          </a:pPr>
          <a:r>
            <a:rPr lang="en-US" sz="1800" b="1" i="0" u="none" strike="noStrike" baseline="0" dirty="0">
              <a:solidFill>
                <a:srgbClr val="004C97"/>
              </a:solidFill>
              <a:latin typeface="Segoe UI"/>
              <a:cs typeface="Arial"/>
            </a:rPr>
            <a:t>Advanced Economies: Dependency Ratio, Old</a:t>
          </a:r>
          <a:r>
            <a:rPr lang="en-US" sz="1800" b="0" i="0" u="none" strike="noStrike" baseline="0" dirty="0">
              <a:solidFill>
                <a:srgbClr val="004C97"/>
              </a:solidFill>
              <a:latin typeface="Segoe UI"/>
              <a:cs typeface="Arial"/>
            </a:rPr>
            <a:t>
</a:t>
          </a:r>
          <a:r>
            <a:rPr lang="en-US" sz="1400" b="0" i="0" u="none" strike="noStrike" baseline="0" dirty="0">
              <a:solidFill>
                <a:srgbClr val="004C97"/>
              </a:solidFill>
              <a:latin typeface="Segoe UI"/>
              <a:cs typeface="Arial"/>
            </a:rPr>
            <a:t>(Percent, population age 64+ compared to working age population) </a:t>
          </a:r>
        </a:p>
      </cdr:txBody>
    </cdr:sp>
  </cdr:relSizeAnchor>
  <cdr:relSizeAnchor xmlns:cdr="http://schemas.openxmlformats.org/drawingml/2006/chartDrawing">
    <cdr:from>
      <cdr:x>0.04417</cdr:x>
      <cdr:y>0.93879</cdr:y>
    </cdr:from>
    <cdr:to>
      <cdr:x>0.82704</cdr:x>
      <cdr:y>0.9936</cdr:y>
    </cdr:to>
    <cdr:sp macro="" textlink="">
      <cdr:nvSpPr>
        <cdr:cNvPr id="5" name="Text Box 4"/>
        <cdr:cNvSpPr txBox="1">
          <a:spLocks xmlns:a="http://schemas.openxmlformats.org/drawingml/2006/main" noChangeArrowheads="1"/>
        </cdr:cNvSpPr>
      </cdr:nvSpPr>
      <cdr:spPr bwMode="auto">
        <a:xfrm xmlns:a="http://schemas.openxmlformats.org/drawingml/2006/main">
          <a:off x="260726" y="4322807"/>
          <a:ext cx="4621137" cy="252377"/>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vertOverflow="clip" wrap="none" lIns="45720" tIns="36576" rIns="0" bIns="0" anchor="t" upright="1">
          <a:spAutoFit/>
        </a:bodyPr>
        <a:lstStyle xmlns:a="http://schemas.openxmlformats.org/drawingml/2006/main"/>
        <a:p xmlns:a="http://schemas.openxmlformats.org/drawingml/2006/main">
          <a:pPr algn="l" rtl="0">
            <a:defRPr sz="1000"/>
          </a:pPr>
          <a:r>
            <a:rPr lang="en-US" sz="1400" b="0" i="0" u="none" strike="noStrike" baseline="0" dirty="0">
              <a:solidFill>
                <a:srgbClr val="000000"/>
              </a:solidFill>
              <a:latin typeface="Segoe UI"/>
              <a:cs typeface="Arial"/>
            </a:rPr>
            <a:t>Source: UN Population Division and IMF staff calculations.</a:t>
          </a:r>
        </a:p>
      </cdr:txBody>
    </cdr:sp>
  </cdr:relSizeAnchor>
</c:userShapes>
</file>

<file path=ppt/drawings/drawing2.xml><?xml version="1.0" encoding="utf-8"?>
<c:userShapes xmlns:c="http://schemas.openxmlformats.org/drawingml/2006/chart">
  <cdr:relSizeAnchor xmlns:cdr="http://schemas.openxmlformats.org/drawingml/2006/chartDrawing">
    <cdr:from>
      <cdr:x>0.0394</cdr:x>
      <cdr:y>0</cdr:y>
    </cdr:from>
    <cdr:to>
      <cdr:x>0.84961</cdr:x>
      <cdr:y>0.13546</cdr:y>
    </cdr:to>
    <cdr:sp macro="" textlink="">
      <cdr:nvSpPr>
        <cdr:cNvPr id="4" name="Text Box 1"/>
        <cdr:cNvSpPr txBox="1">
          <a:spLocks xmlns:a="http://schemas.openxmlformats.org/drawingml/2006/main" noChangeArrowheads="1"/>
        </cdr:cNvSpPr>
      </cdr:nvSpPr>
      <cdr:spPr bwMode="auto">
        <a:xfrm xmlns:a="http://schemas.openxmlformats.org/drawingml/2006/main">
          <a:off x="309500" y="0"/>
          <a:ext cx="6364462" cy="762000"/>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vertOverflow="clip" wrap="none" lIns="54864" tIns="41148" rIns="0" bIns="0" anchor="t" upright="1">
          <a:noAutofit/>
        </a:bodyPr>
        <a:lstStyle xmlns:a="http://schemas.openxmlformats.org/drawingml/2006/main"/>
        <a:p xmlns:a="http://schemas.openxmlformats.org/drawingml/2006/main">
          <a:pPr algn="l" rtl="0">
            <a:defRPr sz="1000"/>
          </a:pPr>
          <a:r>
            <a:rPr lang="en-US" sz="1800" b="1" i="0" u="none" strike="noStrike" baseline="0" dirty="0">
              <a:solidFill>
                <a:srgbClr val="004C97"/>
              </a:solidFill>
              <a:latin typeface="Segoe UI"/>
              <a:cs typeface="Arial"/>
            </a:rPr>
            <a:t>Emerging Markets: Dependency Ratio, Old</a:t>
          </a:r>
          <a:r>
            <a:rPr lang="en-US" sz="1800" b="0" i="0" u="none" strike="noStrike" baseline="0" dirty="0">
              <a:solidFill>
                <a:srgbClr val="004C97"/>
              </a:solidFill>
              <a:latin typeface="Segoe UI"/>
              <a:cs typeface="Arial"/>
            </a:rPr>
            <a:t>
</a:t>
          </a:r>
          <a:r>
            <a:rPr lang="en-US" sz="1400" b="0" i="0" u="none" strike="noStrike" baseline="0" dirty="0">
              <a:solidFill>
                <a:srgbClr val="004C97"/>
              </a:solidFill>
              <a:latin typeface="Segoe UI"/>
              <a:cs typeface="Arial"/>
            </a:rPr>
            <a:t>(Percent, population age 64+ compared to working age population</a:t>
          </a:r>
          <a:r>
            <a:rPr lang="en-US" sz="1800" b="0" i="0" u="none" strike="noStrike" baseline="0" dirty="0">
              <a:solidFill>
                <a:srgbClr val="004C97"/>
              </a:solidFill>
              <a:latin typeface="Segoe UI"/>
              <a:cs typeface="Arial"/>
            </a:rPr>
            <a:t>) </a:t>
          </a:r>
        </a:p>
      </cdr:txBody>
    </cdr:sp>
  </cdr:relSizeAnchor>
  <cdr:relSizeAnchor xmlns:cdr="http://schemas.openxmlformats.org/drawingml/2006/chartDrawing">
    <cdr:from>
      <cdr:x>0.04417</cdr:x>
      <cdr:y>0.93885</cdr:y>
    </cdr:from>
    <cdr:to>
      <cdr:x>0.80613</cdr:x>
      <cdr:y>0.99101</cdr:y>
    </cdr:to>
    <cdr:sp macro="" textlink="">
      <cdr:nvSpPr>
        <cdr:cNvPr id="5" name="Text Box 4"/>
        <cdr:cNvSpPr txBox="1">
          <a:spLocks xmlns:a="http://schemas.openxmlformats.org/drawingml/2006/main" noChangeArrowheads="1"/>
        </cdr:cNvSpPr>
      </cdr:nvSpPr>
      <cdr:spPr bwMode="auto">
        <a:xfrm xmlns:a="http://schemas.openxmlformats.org/drawingml/2006/main">
          <a:off x="267882" y="4542822"/>
          <a:ext cx="4621137" cy="252377"/>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vertOverflow="clip" wrap="none" lIns="45720" tIns="36576" rIns="0" bIns="0" anchor="t" upright="1">
          <a:spAutoFit/>
        </a:bodyPr>
        <a:lstStyle xmlns:a="http://schemas.openxmlformats.org/drawingml/2006/main"/>
        <a:p xmlns:a="http://schemas.openxmlformats.org/drawingml/2006/main">
          <a:pPr algn="l" rtl="0">
            <a:defRPr sz="1000"/>
          </a:pPr>
          <a:r>
            <a:rPr lang="en-US" sz="1400" b="0" i="0" u="none" strike="noStrike" baseline="0" dirty="0">
              <a:solidFill>
                <a:srgbClr val="000000"/>
              </a:solidFill>
              <a:latin typeface="Segoe UI"/>
              <a:cs typeface="Arial"/>
            </a:rPr>
            <a:t>Source: UN Population Division and IMF staff calculations.</a:t>
          </a:r>
        </a:p>
      </cdr:txBody>
    </cdr:sp>
  </cdr:relSizeAnchor>
</c:userShapes>
</file>

<file path=ppt/drawings/drawing3.xml><?xml version="1.0" encoding="utf-8"?>
<c:userShapes xmlns:c="http://schemas.openxmlformats.org/drawingml/2006/chart">
  <cdr:relSizeAnchor xmlns:cdr="http://schemas.openxmlformats.org/drawingml/2006/chartDrawing">
    <cdr:from>
      <cdr:x>0.0394</cdr:x>
      <cdr:y>0</cdr:y>
    </cdr:from>
    <cdr:to>
      <cdr:x>0.98981</cdr:x>
      <cdr:y>0.1768</cdr:y>
    </cdr:to>
    <cdr:sp macro="" textlink="">
      <cdr:nvSpPr>
        <cdr:cNvPr id="4" name="Text Box 1"/>
        <cdr:cNvSpPr txBox="1">
          <a:spLocks xmlns:a="http://schemas.openxmlformats.org/drawingml/2006/main" noChangeArrowheads="1"/>
        </cdr:cNvSpPr>
      </cdr:nvSpPr>
      <cdr:spPr bwMode="auto">
        <a:xfrm xmlns:a="http://schemas.openxmlformats.org/drawingml/2006/main">
          <a:off x="309447" y="0"/>
          <a:ext cx="7464479" cy="903324"/>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vertOverflow="clip" wrap="none" lIns="54864" tIns="41148" rIns="0" bIns="0" anchor="t" upright="1">
          <a:spAutoFit/>
        </a:bodyPr>
        <a:lstStyle xmlns:a="http://schemas.openxmlformats.org/drawingml/2006/main"/>
        <a:p xmlns:a="http://schemas.openxmlformats.org/drawingml/2006/main">
          <a:pPr algn="l" rtl="0">
            <a:defRPr sz="1000"/>
          </a:pPr>
          <a:r>
            <a:rPr lang="en-US" sz="2000" b="1" i="0" u="none" strike="noStrike" baseline="0" dirty="0">
              <a:solidFill>
                <a:srgbClr val="004C97"/>
              </a:solidFill>
              <a:latin typeface="Segoe UI"/>
              <a:cs typeface="Arial"/>
            </a:rPr>
            <a:t>LIDC: Dependency Ratio, Young, 2010–2100</a:t>
          </a:r>
          <a:r>
            <a:rPr lang="en-US" sz="1800" b="0" i="0" u="none" strike="noStrike" baseline="0" dirty="0">
              <a:solidFill>
                <a:srgbClr val="004C97"/>
              </a:solidFill>
              <a:latin typeface="Segoe UI"/>
              <a:cs typeface="Arial"/>
            </a:rPr>
            <a:t>
(Percent, population below age 15 compared to working age population)</a:t>
          </a:r>
        </a:p>
        <a:p xmlns:a="http://schemas.openxmlformats.org/drawingml/2006/main">
          <a:pPr algn="l" rtl="0">
            <a:defRPr sz="1000"/>
          </a:pPr>
          <a:endParaRPr lang="en-US" sz="1800" b="0" i="0" u="none" strike="noStrike" baseline="0" dirty="0">
            <a:solidFill>
              <a:srgbClr val="4B82AD"/>
            </a:solidFill>
            <a:latin typeface="Segoe UI"/>
            <a:cs typeface="Arial"/>
          </a:endParaRPr>
        </a:p>
      </cdr:txBody>
    </cdr:sp>
  </cdr:relSizeAnchor>
  <cdr:relSizeAnchor xmlns:cdr="http://schemas.openxmlformats.org/drawingml/2006/chartDrawing">
    <cdr:from>
      <cdr:x>0.04417</cdr:x>
      <cdr:y>0.93882</cdr:y>
    </cdr:from>
    <cdr:to>
      <cdr:x>0.79681</cdr:x>
      <cdr:y>1</cdr:y>
    </cdr:to>
    <cdr:sp macro="" textlink="">
      <cdr:nvSpPr>
        <cdr:cNvPr id="5" name="Text Box 4"/>
        <cdr:cNvSpPr txBox="1">
          <a:spLocks xmlns:a="http://schemas.openxmlformats.org/drawingml/2006/main" noChangeArrowheads="1"/>
        </cdr:cNvSpPr>
      </cdr:nvSpPr>
      <cdr:spPr bwMode="auto">
        <a:xfrm xmlns:a="http://schemas.openxmlformats.org/drawingml/2006/main">
          <a:off x="347220" y="5279188"/>
          <a:ext cx="5916491" cy="344005"/>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vertOverflow="clip" wrap="none" lIns="45720" tIns="36576" rIns="0" bIns="0" anchor="t" upright="1">
          <a:spAutoFit/>
        </a:bodyPr>
        <a:lstStyle xmlns:a="http://schemas.openxmlformats.org/drawingml/2006/main"/>
        <a:p xmlns:a="http://schemas.openxmlformats.org/drawingml/2006/main">
          <a:pPr algn="l" rtl="0">
            <a:defRPr sz="1000"/>
          </a:pPr>
          <a:r>
            <a:rPr lang="en-US" sz="1800" b="0" i="0" u="none" strike="noStrike" baseline="0">
              <a:solidFill>
                <a:srgbClr val="000000"/>
              </a:solidFill>
              <a:latin typeface="Segoe UI"/>
              <a:cs typeface="Arial"/>
            </a:rPr>
            <a:t>Source: UN Population Division and IMF staff calculations.</a:t>
          </a:r>
        </a:p>
      </cdr:txBody>
    </cdr:sp>
  </cdr:relSizeAnchor>
</c:userShapes>
</file>

<file path=ppt/drawings/drawing4.xml><?xml version="1.0" encoding="utf-8"?>
<c:userShapes xmlns:c="http://schemas.openxmlformats.org/drawingml/2006/chart">
  <cdr:relSizeAnchor xmlns:cdr="http://schemas.openxmlformats.org/drawingml/2006/chartDrawing">
    <cdr:from>
      <cdr:x>0.0026</cdr:x>
      <cdr:y>0</cdr:y>
    </cdr:from>
    <cdr:to>
      <cdr:x>1</cdr:x>
      <cdr:y>0.14936</cdr:y>
    </cdr:to>
    <cdr:sp macro="" textlink="">
      <cdr:nvSpPr>
        <cdr:cNvPr id="2" name="TBTitle">
          <a:extLst xmlns:a="http://schemas.openxmlformats.org/drawingml/2006/main">
            <a:ext uri="{FF2B5EF4-FFF2-40B4-BE49-F238E27FC236}">
              <a16:creationId xmlns:a16="http://schemas.microsoft.com/office/drawing/2014/main" id="{00000000-0008-0000-0000-000002000000}"/>
            </a:ext>
          </a:extLst>
        </cdr:cNvPr>
        <cdr:cNvSpPr txBox="1">
          <a:spLocks xmlns:a="http://schemas.openxmlformats.org/drawingml/2006/main" noChangeArrowheads="1"/>
        </cdr:cNvSpPr>
      </cdr:nvSpPr>
      <cdr:spPr bwMode="auto">
        <a:xfrm xmlns:a="http://schemas.openxmlformats.org/drawingml/2006/main">
          <a:off x="13566" y="0"/>
          <a:ext cx="5204530" cy="595641"/>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wrap="square" lIns="54864" tIns="41148" rIns="0" bIns="0" anchor="t" upright="1"/>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rtl="0">
            <a:defRPr sz="1000"/>
          </a:pPr>
          <a:r>
            <a:rPr lang="en-US" sz="1600" b="1" i="0" u="none" strike="noStrike" baseline="0" dirty="0">
              <a:solidFill>
                <a:schemeClr val="tx2"/>
              </a:solidFill>
              <a:latin typeface="Segoe UI"/>
              <a:cs typeface="Arial"/>
            </a:rPr>
            <a:t>EMs: Median Change in GDP</a:t>
          </a:r>
        </a:p>
        <a:p xmlns:a="http://schemas.openxmlformats.org/drawingml/2006/main">
          <a:pPr algn="l" rtl="0">
            <a:defRPr sz="1000"/>
          </a:pPr>
          <a:r>
            <a:rPr lang="en-US" sz="1600" dirty="0">
              <a:solidFill>
                <a:schemeClr val="tx2"/>
              </a:solidFill>
              <a:latin typeface="Segoe UI"/>
              <a:cs typeface="Arial"/>
            </a:rPr>
            <a:t>(% change, under median population growth projection)</a:t>
          </a:r>
        </a:p>
      </cdr:txBody>
    </cdr:sp>
  </cdr:relSizeAnchor>
</c:userShapes>
</file>

<file path=ppt/drawings/drawing5.xml><?xml version="1.0" encoding="utf-8"?>
<c:userShapes xmlns:c="http://schemas.openxmlformats.org/drawingml/2006/chart">
  <cdr:relSizeAnchor xmlns:cdr="http://schemas.openxmlformats.org/drawingml/2006/chartDrawing">
    <cdr:from>
      <cdr:x>0.01662</cdr:x>
      <cdr:y>0</cdr:y>
    </cdr:from>
    <cdr:to>
      <cdr:x>1</cdr:x>
      <cdr:y>0.13236</cdr:y>
    </cdr:to>
    <cdr:sp macro="" textlink="">
      <cdr:nvSpPr>
        <cdr:cNvPr id="2" name="TBTitle">
          <a:extLst xmlns:a="http://schemas.openxmlformats.org/drawingml/2006/main">
            <a:ext uri="{FF2B5EF4-FFF2-40B4-BE49-F238E27FC236}">
              <a16:creationId xmlns:a16="http://schemas.microsoft.com/office/drawing/2014/main" id="{00000000-0008-0000-0000-000002000000}"/>
            </a:ext>
          </a:extLst>
        </cdr:cNvPr>
        <cdr:cNvSpPr txBox="1">
          <a:spLocks xmlns:a="http://schemas.openxmlformats.org/drawingml/2006/main" noChangeArrowheads="1"/>
        </cdr:cNvSpPr>
      </cdr:nvSpPr>
      <cdr:spPr bwMode="auto">
        <a:xfrm xmlns:a="http://schemas.openxmlformats.org/drawingml/2006/main">
          <a:off x="89027" y="0"/>
          <a:ext cx="5267566" cy="527846"/>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wrap="square" lIns="54864" tIns="41148" rIns="0" bIns="0" anchor="t" upright="1"/>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rtl="0">
            <a:defRPr sz="1000"/>
          </a:pPr>
          <a:r>
            <a:rPr lang="en-US" sz="1200" b="1" dirty="0">
              <a:solidFill>
                <a:schemeClr val="accent1">
                  <a:lumMod val="75000"/>
                </a:schemeClr>
              </a:solidFill>
              <a:latin typeface="Segoe UI"/>
              <a:cs typeface="Arial"/>
            </a:rPr>
            <a:t> </a:t>
          </a:r>
          <a:r>
            <a:rPr lang="en-US" sz="1600" b="1" dirty="0">
              <a:solidFill>
                <a:schemeClr val="tx2"/>
              </a:solidFill>
              <a:latin typeface="Segoe UI"/>
              <a:cs typeface="Arial"/>
            </a:rPr>
            <a:t>AEs: Median Change in GDP</a:t>
          </a:r>
        </a:p>
        <a:p xmlns:a="http://schemas.openxmlformats.org/drawingml/2006/main">
          <a:pPr algn="l" rtl="0">
            <a:defRPr sz="1000"/>
          </a:pPr>
          <a:r>
            <a:rPr lang="en-US" sz="1600" dirty="0">
              <a:solidFill>
                <a:schemeClr val="tx2"/>
              </a:solidFill>
              <a:latin typeface="Segoe UI"/>
              <a:cs typeface="Arial"/>
            </a:rPr>
            <a:t>(% change, under median population growth projection)</a:t>
          </a:r>
          <a:endParaRPr lang="en-US" sz="1600" b="0" i="0" u="none" strike="noStrike" baseline="0" dirty="0">
            <a:solidFill>
              <a:schemeClr val="tx2"/>
            </a:solidFill>
            <a:latin typeface="Segoe UI"/>
            <a:cs typeface="Arial"/>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2" y="12"/>
            <a:ext cx="3043447" cy="464977"/>
          </a:xfrm>
          <a:prstGeom prst="rect">
            <a:avLst/>
          </a:prstGeom>
        </p:spPr>
        <p:txBody>
          <a:bodyPr vert="horz" lIns="91239" tIns="45618" rIns="91239" bIns="45618" rtlCol="0"/>
          <a:lstStyle>
            <a:lvl1pPr algn="l">
              <a:defRPr sz="1200"/>
            </a:lvl1pPr>
          </a:lstStyle>
          <a:p>
            <a:endParaRPr lang="en-US"/>
          </a:p>
        </p:txBody>
      </p:sp>
      <p:sp>
        <p:nvSpPr>
          <p:cNvPr id="4" name="Footer Placeholder 3"/>
          <p:cNvSpPr>
            <a:spLocks noGrp="1"/>
          </p:cNvSpPr>
          <p:nvPr>
            <p:ph type="ftr" sz="quarter" idx="2"/>
          </p:nvPr>
        </p:nvSpPr>
        <p:spPr>
          <a:xfrm>
            <a:off x="12" y="8842547"/>
            <a:ext cx="3043447" cy="464977"/>
          </a:xfrm>
          <a:prstGeom prst="rect">
            <a:avLst/>
          </a:prstGeom>
        </p:spPr>
        <p:txBody>
          <a:bodyPr vert="horz" lIns="91239" tIns="45618" rIns="91239" bIns="45618" rtlCol="0" anchor="b"/>
          <a:lstStyle>
            <a:lvl1pPr algn="l">
              <a:defRPr sz="1200"/>
            </a:lvl1pPr>
          </a:lstStyle>
          <a:p>
            <a:endParaRPr lang="en-US"/>
          </a:p>
        </p:txBody>
      </p:sp>
      <p:sp>
        <p:nvSpPr>
          <p:cNvPr id="5" name="Slide Number Placeholder 4"/>
          <p:cNvSpPr>
            <a:spLocks noGrp="1"/>
          </p:cNvSpPr>
          <p:nvPr>
            <p:ph type="sldNum" sz="quarter" idx="3"/>
          </p:nvPr>
        </p:nvSpPr>
        <p:spPr>
          <a:xfrm>
            <a:off x="3978075" y="8842547"/>
            <a:ext cx="3043447" cy="464977"/>
          </a:xfrm>
          <a:prstGeom prst="rect">
            <a:avLst/>
          </a:prstGeom>
        </p:spPr>
        <p:txBody>
          <a:bodyPr vert="horz" lIns="91239" tIns="45618" rIns="91239" bIns="45618" rtlCol="0" anchor="b"/>
          <a:lstStyle>
            <a:lvl1pPr algn="r">
              <a:defRPr sz="1200"/>
            </a:lvl1pPr>
          </a:lstStyle>
          <a:p>
            <a:fld id="{70787CFD-D5C7-455D-B121-683BFE13FBD4}" type="slidenum">
              <a:rPr lang="en-US" smtClean="0"/>
              <a:pPr/>
              <a:t>‹#›</a:t>
            </a:fld>
            <a:endParaRPr lang="en-US"/>
          </a:p>
        </p:txBody>
      </p:sp>
    </p:spTree>
    <p:extLst>
      <p:ext uri="{BB962C8B-B14F-4D97-AF65-F5344CB8AC3E}">
        <p14:creationId xmlns:p14="http://schemas.microsoft.com/office/powerpoint/2010/main" val="3391989844"/>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6"/>
            <a:ext cx="3043343" cy="465455"/>
          </a:xfrm>
          <a:prstGeom prst="rect">
            <a:avLst/>
          </a:prstGeom>
        </p:spPr>
        <p:txBody>
          <a:bodyPr vert="horz" lIns="93134" tIns="46567" rIns="93134" bIns="46567" rtlCol="0"/>
          <a:lstStyle>
            <a:lvl1pPr algn="l">
              <a:defRPr sz="1200"/>
            </a:lvl1pPr>
          </a:lstStyle>
          <a:p>
            <a:endParaRPr lang="en-US"/>
          </a:p>
        </p:txBody>
      </p:sp>
      <p:sp>
        <p:nvSpPr>
          <p:cNvPr id="3" name="Date Placeholder 2"/>
          <p:cNvSpPr>
            <a:spLocks noGrp="1"/>
          </p:cNvSpPr>
          <p:nvPr>
            <p:ph type="dt" idx="1"/>
          </p:nvPr>
        </p:nvSpPr>
        <p:spPr>
          <a:xfrm>
            <a:off x="3978139" y="6"/>
            <a:ext cx="3043343" cy="465455"/>
          </a:xfrm>
          <a:prstGeom prst="rect">
            <a:avLst/>
          </a:prstGeom>
        </p:spPr>
        <p:txBody>
          <a:bodyPr vert="horz" lIns="93134" tIns="46567" rIns="93134" bIns="46567" rtlCol="0"/>
          <a:lstStyle>
            <a:lvl1pPr algn="r">
              <a:defRPr sz="1200"/>
            </a:lvl1pPr>
          </a:lstStyle>
          <a:p>
            <a:fld id="{F2FB1009-8102-467C-88A3-A8200E3708E5}" type="datetime1">
              <a:rPr lang="en-US" smtClean="0"/>
              <a:t>5/21/2026</a:t>
            </a:fld>
            <a:endParaRPr lang="en-US"/>
          </a:p>
        </p:txBody>
      </p:sp>
      <p:sp>
        <p:nvSpPr>
          <p:cNvPr id="4" name="Slide Image Placeholder 3"/>
          <p:cNvSpPr>
            <a:spLocks noGrp="1" noRot="1" noChangeAspect="1"/>
          </p:cNvSpPr>
          <p:nvPr>
            <p:ph type="sldImg" idx="2"/>
          </p:nvPr>
        </p:nvSpPr>
        <p:spPr>
          <a:xfrm>
            <a:off x="409575" y="698500"/>
            <a:ext cx="6203950" cy="3490913"/>
          </a:xfrm>
          <a:prstGeom prst="rect">
            <a:avLst/>
          </a:prstGeom>
          <a:noFill/>
          <a:ln w="12700">
            <a:solidFill>
              <a:prstClr val="black"/>
            </a:solidFill>
          </a:ln>
        </p:spPr>
        <p:txBody>
          <a:bodyPr vert="horz" lIns="93134" tIns="46567" rIns="93134" bIns="46567" rtlCol="0" anchor="ctr"/>
          <a:lstStyle/>
          <a:p>
            <a:endParaRPr lang="en-US"/>
          </a:p>
        </p:txBody>
      </p:sp>
      <p:sp>
        <p:nvSpPr>
          <p:cNvPr id="5" name="Notes Placeholder 4"/>
          <p:cNvSpPr>
            <a:spLocks noGrp="1"/>
          </p:cNvSpPr>
          <p:nvPr>
            <p:ph type="body" sz="quarter" idx="3"/>
          </p:nvPr>
        </p:nvSpPr>
        <p:spPr>
          <a:xfrm>
            <a:off x="702313" y="4421825"/>
            <a:ext cx="5618480" cy="4189095"/>
          </a:xfrm>
          <a:prstGeom prst="rect">
            <a:avLst/>
          </a:prstGeom>
        </p:spPr>
        <p:txBody>
          <a:bodyPr vert="horz" lIns="93134" tIns="46567" rIns="93134" bIns="46567"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42036"/>
            <a:ext cx="3043343" cy="465455"/>
          </a:xfrm>
          <a:prstGeom prst="rect">
            <a:avLst/>
          </a:prstGeom>
        </p:spPr>
        <p:txBody>
          <a:bodyPr vert="horz" lIns="93134" tIns="46567" rIns="93134" bIns="46567" rtlCol="0" anchor="b"/>
          <a:lstStyle>
            <a:lvl1pPr algn="l">
              <a:defRPr sz="1200"/>
            </a:lvl1pPr>
          </a:lstStyle>
          <a:p>
            <a:endParaRPr lang="en-US"/>
          </a:p>
        </p:txBody>
      </p:sp>
      <p:sp>
        <p:nvSpPr>
          <p:cNvPr id="7" name="Slide Number Placeholder 6"/>
          <p:cNvSpPr>
            <a:spLocks noGrp="1"/>
          </p:cNvSpPr>
          <p:nvPr>
            <p:ph type="sldNum" sz="quarter" idx="5"/>
          </p:nvPr>
        </p:nvSpPr>
        <p:spPr>
          <a:xfrm>
            <a:off x="3978139" y="8842036"/>
            <a:ext cx="3043343" cy="465455"/>
          </a:xfrm>
          <a:prstGeom prst="rect">
            <a:avLst/>
          </a:prstGeom>
        </p:spPr>
        <p:txBody>
          <a:bodyPr vert="horz" lIns="93134" tIns="46567" rIns="93134" bIns="46567" rtlCol="0" anchor="b"/>
          <a:lstStyle>
            <a:lvl1pPr algn="r">
              <a:defRPr sz="1200"/>
            </a:lvl1pPr>
          </a:lstStyle>
          <a:p>
            <a:fld id="{BA49F774-CCF9-492C-9AEB-F2814D4A6625}" type="slidenum">
              <a:rPr lang="en-US" smtClean="0"/>
              <a:pPr/>
              <a:t>‹#›</a:t>
            </a:fld>
            <a:endParaRPr lang="en-US"/>
          </a:p>
        </p:txBody>
      </p:sp>
    </p:spTree>
    <p:extLst>
      <p:ext uri="{BB962C8B-B14F-4D97-AF65-F5344CB8AC3E}">
        <p14:creationId xmlns:p14="http://schemas.microsoft.com/office/powerpoint/2010/main" val="1913010238"/>
      </p:ext>
    </p:extLst>
  </p:cSld>
  <p:clrMap bg1="lt1" tx1="dk1" bg2="lt2" tx2="dk2" accent1="accent1" accent2="accent2" accent3="accent3" accent4="accent4" accent5="accent5" accent6="accent6" hlink="hlink" folHlink="folHlink"/>
  <p:hf hdr="0" ftr="0"/>
  <p:notesStyle>
    <a:lvl1pPr marL="0" algn="l" defTabSz="914314" rtl="0" eaLnBrk="1" latinLnBrk="0" hangingPunct="1">
      <a:defRPr sz="1200" kern="1200">
        <a:solidFill>
          <a:schemeClr val="tx1"/>
        </a:solidFill>
        <a:latin typeface="+mn-lt"/>
        <a:ea typeface="+mn-ea"/>
        <a:cs typeface="+mn-cs"/>
      </a:defRPr>
    </a:lvl1pPr>
    <a:lvl2pPr marL="457157" algn="l" defTabSz="914314" rtl="0" eaLnBrk="1" latinLnBrk="0" hangingPunct="1">
      <a:defRPr sz="1200" kern="1200">
        <a:solidFill>
          <a:schemeClr val="tx1"/>
        </a:solidFill>
        <a:latin typeface="+mn-lt"/>
        <a:ea typeface="+mn-ea"/>
        <a:cs typeface="+mn-cs"/>
      </a:defRPr>
    </a:lvl2pPr>
    <a:lvl3pPr marL="914314" algn="l" defTabSz="914314" rtl="0" eaLnBrk="1" latinLnBrk="0" hangingPunct="1">
      <a:defRPr sz="1200" kern="1200">
        <a:solidFill>
          <a:schemeClr val="tx1"/>
        </a:solidFill>
        <a:latin typeface="+mn-lt"/>
        <a:ea typeface="+mn-ea"/>
        <a:cs typeface="+mn-cs"/>
      </a:defRPr>
    </a:lvl3pPr>
    <a:lvl4pPr marL="1371472" algn="l" defTabSz="914314" rtl="0" eaLnBrk="1" latinLnBrk="0" hangingPunct="1">
      <a:defRPr sz="1200" kern="1200">
        <a:solidFill>
          <a:schemeClr val="tx1"/>
        </a:solidFill>
        <a:latin typeface="+mn-lt"/>
        <a:ea typeface="+mn-ea"/>
        <a:cs typeface="+mn-cs"/>
      </a:defRPr>
    </a:lvl4pPr>
    <a:lvl5pPr marL="1828628" algn="l" defTabSz="914314" rtl="0" eaLnBrk="1" latinLnBrk="0" hangingPunct="1">
      <a:defRPr sz="1200" kern="1200">
        <a:solidFill>
          <a:schemeClr val="tx1"/>
        </a:solidFill>
        <a:latin typeface="+mn-lt"/>
        <a:ea typeface="+mn-ea"/>
        <a:cs typeface="+mn-cs"/>
      </a:defRPr>
    </a:lvl5pPr>
    <a:lvl6pPr marL="2285785" algn="l" defTabSz="914314" rtl="0" eaLnBrk="1" latinLnBrk="0" hangingPunct="1">
      <a:defRPr sz="1200" kern="1200">
        <a:solidFill>
          <a:schemeClr val="tx1"/>
        </a:solidFill>
        <a:latin typeface="+mn-lt"/>
        <a:ea typeface="+mn-ea"/>
        <a:cs typeface="+mn-cs"/>
      </a:defRPr>
    </a:lvl6pPr>
    <a:lvl7pPr marL="2742942" algn="l" defTabSz="914314" rtl="0" eaLnBrk="1" latinLnBrk="0" hangingPunct="1">
      <a:defRPr sz="1200" kern="1200">
        <a:solidFill>
          <a:schemeClr val="tx1"/>
        </a:solidFill>
        <a:latin typeface="+mn-lt"/>
        <a:ea typeface="+mn-ea"/>
        <a:cs typeface="+mn-cs"/>
      </a:defRPr>
    </a:lvl7pPr>
    <a:lvl8pPr marL="3200100" algn="l" defTabSz="914314" rtl="0" eaLnBrk="1" latinLnBrk="0" hangingPunct="1">
      <a:defRPr sz="1200" kern="1200">
        <a:solidFill>
          <a:schemeClr val="tx1"/>
        </a:solidFill>
        <a:latin typeface="+mn-lt"/>
        <a:ea typeface="+mn-ea"/>
        <a:cs typeface="+mn-cs"/>
      </a:defRPr>
    </a:lvl8pPr>
    <a:lvl9pPr marL="3657257" algn="l" defTabSz="91431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F2FB1009-8102-467C-88A3-A8200E3708E5}"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1</a:t>
            </a:fld>
            <a:endParaRPr lang="en-US"/>
          </a:p>
        </p:txBody>
      </p:sp>
    </p:spTree>
    <p:extLst>
      <p:ext uri="{BB962C8B-B14F-4D97-AF65-F5344CB8AC3E}">
        <p14:creationId xmlns:p14="http://schemas.microsoft.com/office/powerpoint/2010/main" val="4119526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F2FB1009-8102-467C-88A3-A8200E3708E5}"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3</a:t>
            </a:fld>
            <a:endParaRPr lang="en-US"/>
          </a:p>
        </p:txBody>
      </p:sp>
    </p:spTree>
    <p:extLst>
      <p:ext uri="{BB962C8B-B14F-4D97-AF65-F5344CB8AC3E}">
        <p14:creationId xmlns:p14="http://schemas.microsoft.com/office/powerpoint/2010/main" val="41788461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F2FB1009-8102-467C-88A3-A8200E3708E5}"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4</a:t>
            </a:fld>
            <a:endParaRPr lang="en-US"/>
          </a:p>
        </p:txBody>
      </p:sp>
    </p:spTree>
    <p:extLst>
      <p:ext uri="{BB962C8B-B14F-4D97-AF65-F5344CB8AC3E}">
        <p14:creationId xmlns:p14="http://schemas.microsoft.com/office/powerpoint/2010/main" val="4224791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49E4E862-E263-8B4A-AFB5-DFAAA754BCA9}"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6</a:t>
            </a:fld>
            <a:endParaRPr lang="en-US"/>
          </a:p>
        </p:txBody>
      </p:sp>
    </p:spTree>
    <p:extLst>
      <p:ext uri="{BB962C8B-B14F-4D97-AF65-F5344CB8AC3E}">
        <p14:creationId xmlns:p14="http://schemas.microsoft.com/office/powerpoint/2010/main" val="547969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marL="171450" marR="0" lvl="0" indent="-171450" algn="l" defTabSz="91431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OECD time use data based on people of age between 15 to 64.</a:t>
            </a:r>
          </a:p>
          <a:p>
            <a:pPr marL="171450" marR="0" lvl="0" indent="-171450" algn="l" defTabSz="91431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31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Demographics is not a stand-alone issue. The choice of fertility, labor market participation and human capital are linked joint decisions.</a:t>
            </a:r>
          </a:p>
          <a:p>
            <a:pPr marL="177571" indent="-177571">
              <a:buFont typeface="Arial" panose="020B0604020202020204" pitchFamily="34" charset="0"/>
              <a:buChar char="•"/>
            </a:pPr>
            <a:endParaRPr lang="en-US" dirty="0"/>
          </a:p>
          <a:p>
            <a:pPr marL="177571" indent="-177571">
              <a:buFont typeface="Arial" panose="020B0604020202020204" pitchFamily="34" charset="0"/>
              <a:buChar char="•"/>
            </a:pPr>
            <a:r>
              <a:rPr lang="en-US" dirty="0"/>
              <a:t>When households make these choices, they roughly have two constraints, time allocation and resource allocation. The time constraint, resource constraint, together with the distribution of household bargaining power and preferences shape the fertility and work decisions of households. </a:t>
            </a:r>
          </a:p>
          <a:p>
            <a:pPr marL="177571" indent="-177571">
              <a:buFont typeface="Arial" panose="020B0604020202020204" pitchFamily="34" charset="0"/>
              <a:buChar char="•"/>
            </a:pPr>
            <a:endParaRPr lang="en-US" dirty="0"/>
          </a:p>
          <a:p>
            <a:pPr marL="177571" indent="-177571">
              <a:buFont typeface="Arial" panose="020B0604020202020204" pitchFamily="34" charset="0"/>
              <a:buChar char="•"/>
            </a:pPr>
            <a:r>
              <a:rPr lang="en-US" dirty="0"/>
              <a:t>This framework allows us to think of the diverging demographic trends in a unified framework.</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On the left, we present the time allocation of by male and female. As you see, women tend to spend more time on unpaid work and men tend to spend more time on paid work and leisure. </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In a setting where barriers for women to participate in labor market is high, women tend to spend more time in unpaid work. They may have more children, but due to the limited resources, they may choose to invest less in the education of each child. </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When we think of policies, we can think about how polices can address each of the constraints:</a:t>
            </a:r>
          </a:p>
          <a:p>
            <a:pPr marL="171450" indent="-171450">
              <a:buFont typeface="Arial" panose="020B0604020202020204" pitchFamily="34" charset="0"/>
              <a:buChar char="•"/>
            </a:pPr>
            <a:r>
              <a:rPr lang="en-US" dirty="0"/>
              <a:t>For example, transportation and road infrastructure could reduce the time women spent on fetching water, and allow them more time for other activates such as paid work, so it could relax both time and resource constraint. </a:t>
            </a:r>
          </a:p>
          <a:p>
            <a:pPr marL="171450" indent="-171450">
              <a:buFont typeface="Arial" panose="020B0604020202020204" pitchFamily="34" charset="0"/>
              <a:buChar char="•"/>
            </a:pPr>
            <a:r>
              <a:rPr lang="en-US" dirty="0"/>
              <a:t>Subsidized schooling can help household overcome the resource constraint and at the same time allow the household member who use to watch the children some free time for other activities. </a:t>
            </a:r>
          </a:p>
          <a:p>
            <a:pPr marL="171450" indent="-171450">
              <a:buFont typeface="Arial" panose="020B0604020202020204" pitchFamily="34" charset="0"/>
              <a:buChar char="•"/>
            </a:pPr>
            <a:r>
              <a:rPr lang="en-US" dirty="0"/>
              <a:t>Designing polices to facilitate women’s work-life choice, increasing female’s participation in the paid economic activities contributes to a more inclusive and resilient macro economy.</a:t>
            </a:r>
          </a:p>
          <a:p>
            <a:endParaRPr lang="en-US" dirty="0"/>
          </a:p>
        </p:txBody>
      </p:sp>
      <p:sp>
        <p:nvSpPr>
          <p:cNvPr id="4" name="Date Placeholder 3"/>
          <p:cNvSpPr>
            <a:spLocks noGrp="1"/>
          </p:cNvSpPr>
          <p:nvPr>
            <p:ph type="dt" idx="1"/>
          </p:nvPr>
        </p:nvSpPr>
        <p:spPr/>
        <p:txBody>
          <a:bodyPr/>
          <a:lstStyle/>
          <a:p>
            <a:fld id="{49E4E862-E263-8B4A-AFB5-DFAAA754BCA9}" type="datetime1">
              <a:rPr lang="en-US" smtClean="0"/>
              <a:t>5/21/2026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8</a:t>
            </a:fld>
            <a:endParaRPr lang="en-US"/>
          </a:p>
        </p:txBody>
      </p:sp>
    </p:spTree>
    <p:extLst>
      <p:ext uri="{BB962C8B-B14F-4D97-AF65-F5344CB8AC3E}">
        <p14:creationId xmlns:p14="http://schemas.microsoft.com/office/powerpoint/2010/main" val="126038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28394-5F61-317D-22B2-35F9A2744F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ECBF2F-71DB-425E-D83F-746AF1C703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0A9AB6-38C9-E554-DDBB-E08050142871}"/>
              </a:ext>
            </a:extLst>
          </p:cNvPr>
          <p:cNvSpPr>
            <a:spLocks noGrp="1"/>
          </p:cNvSpPr>
          <p:nvPr>
            <p:ph type="body" idx="1"/>
          </p:nvPr>
        </p:nvSpPr>
        <p:spPr/>
        <p:txBody>
          <a:bodyPr>
            <a:normAutofit fontScale="85000" lnSpcReduction="10000"/>
          </a:bodyPr>
          <a:lstStyle/>
          <a:p>
            <a:pPr marL="171450" marR="0" lvl="0" indent="-171450" algn="l" defTabSz="91431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OECD time use data based on people of age between 15 to 64.</a:t>
            </a:r>
          </a:p>
          <a:p>
            <a:pPr marL="171450" marR="0" lvl="0" indent="-171450" algn="l" defTabSz="91431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31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Demographics is not a stand-alone issue. The choice of fertility, labor market participation and human capital are linked joint decisions.</a:t>
            </a:r>
          </a:p>
          <a:p>
            <a:pPr marL="177571" indent="-177571">
              <a:buFont typeface="Arial" panose="020B0604020202020204" pitchFamily="34" charset="0"/>
              <a:buChar char="•"/>
            </a:pPr>
            <a:endParaRPr lang="en-US" dirty="0"/>
          </a:p>
          <a:p>
            <a:pPr marL="177571" indent="-177571">
              <a:buFont typeface="Arial" panose="020B0604020202020204" pitchFamily="34" charset="0"/>
              <a:buChar char="•"/>
            </a:pPr>
            <a:r>
              <a:rPr lang="en-US" dirty="0"/>
              <a:t>When households make these choices, they roughly have two constraints, time allocation and resource allocation. The time constraint, resource constraint, together with the distribution of household bargaining power and preferences shape the fertility and work decisions of households. </a:t>
            </a:r>
          </a:p>
          <a:p>
            <a:pPr marL="177571" indent="-177571">
              <a:buFont typeface="Arial" panose="020B0604020202020204" pitchFamily="34" charset="0"/>
              <a:buChar char="•"/>
            </a:pPr>
            <a:endParaRPr lang="en-US" dirty="0"/>
          </a:p>
          <a:p>
            <a:pPr marL="177571" indent="-177571">
              <a:buFont typeface="Arial" panose="020B0604020202020204" pitchFamily="34" charset="0"/>
              <a:buChar char="•"/>
            </a:pPr>
            <a:r>
              <a:rPr lang="en-US" dirty="0"/>
              <a:t>This framework allows us to think of the diverging demographic trends in a unified framework.</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On the left, we present the time allocation of by male and female. As you see, women tend to spend more time on unpaid work and men tend to spend more time on paid work and leisure. </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In a setting where barriers for women to participate in labor market is high, women tend to spend more time in unpaid work. They may have more children, but due to the limited resources, they may choose to invest less in the education of each child. </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When we think of policies, we can think about how polices can address each of the constraints:</a:t>
            </a:r>
          </a:p>
          <a:p>
            <a:pPr marL="171450" indent="-171450">
              <a:buFont typeface="Arial" panose="020B0604020202020204" pitchFamily="34" charset="0"/>
              <a:buChar char="•"/>
            </a:pPr>
            <a:r>
              <a:rPr lang="en-US" dirty="0"/>
              <a:t>For example, transportation and road infrastructure could reduce the time women spent on fetching water, and allow them more time for other activates such as paid work, so it could relax both time and resource constraint. </a:t>
            </a:r>
          </a:p>
          <a:p>
            <a:pPr marL="171450" indent="-171450">
              <a:buFont typeface="Arial" panose="020B0604020202020204" pitchFamily="34" charset="0"/>
              <a:buChar char="•"/>
            </a:pPr>
            <a:r>
              <a:rPr lang="en-US" dirty="0"/>
              <a:t>Subsidized schooling can help household overcome the resource constraint and at the same time allow the household member who use to watch the children some free time for other activities. </a:t>
            </a:r>
          </a:p>
          <a:p>
            <a:pPr marL="171450" indent="-171450">
              <a:buFont typeface="Arial" panose="020B0604020202020204" pitchFamily="34" charset="0"/>
              <a:buChar char="•"/>
            </a:pPr>
            <a:r>
              <a:rPr lang="en-US" dirty="0"/>
              <a:t>Designing polices to facilitate women’s work-life choice, increasing female’s participation in the paid economic activities contributes to a more inclusive and resilient macro economy.</a:t>
            </a:r>
          </a:p>
          <a:p>
            <a:endParaRPr lang="en-US" dirty="0"/>
          </a:p>
        </p:txBody>
      </p:sp>
      <p:sp>
        <p:nvSpPr>
          <p:cNvPr id="4" name="Date Placeholder 3">
            <a:extLst>
              <a:ext uri="{FF2B5EF4-FFF2-40B4-BE49-F238E27FC236}">
                <a16:creationId xmlns:a16="http://schemas.microsoft.com/office/drawing/2014/main" id="{FBD9F6BE-6CE4-FDA1-4996-F0BD5720F0C2}"/>
              </a:ext>
            </a:extLst>
          </p:cNvPr>
          <p:cNvSpPr>
            <a:spLocks noGrp="1"/>
          </p:cNvSpPr>
          <p:nvPr>
            <p:ph type="dt" idx="1"/>
          </p:nvPr>
        </p:nvSpPr>
        <p:spPr/>
        <p:txBody>
          <a:bodyPr/>
          <a:lstStyle/>
          <a:p>
            <a:fld id="{49E4E862-E263-8B4A-AFB5-DFAAA754BCA9}" type="datetime1">
              <a:rPr lang="en-US" smtClean="0"/>
              <a:t>5/21/2026</a:t>
            </a:fld>
            <a:endParaRPr lang="en-US"/>
          </a:p>
        </p:txBody>
      </p:sp>
      <p:sp>
        <p:nvSpPr>
          <p:cNvPr id="5" name="Slide Number Placeholder 4">
            <a:extLst>
              <a:ext uri="{FF2B5EF4-FFF2-40B4-BE49-F238E27FC236}">
                <a16:creationId xmlns:a16="http://schemas.microsoft.com/office/drawing/2014/main" id="{2BB37D1E-FFA3-702A-4107-F150DEB13DD2}"/>
              </a:ext>
            </a:extLst>
          </p:cNvPr>
          <p:cNvSpPr>
            <a:spLocks noGrp="1"/>
          </p:cNvSpPr>
          <p:nvPr>
            <p:ph type="sldNum" sz="quarter" idx="5"/>
          </p:nvPr>
        </p:nvSpPr>
        <p:spPr/>
        <p:txBody>
          <a:bodyPr/>
          <a:lstStyle/>
          <a:p>
            <a:fld id="{BA49F774-CCF9-492C-9AEB-F2814D4A6625}" type="slidenum">
              <a:rPr lang="en-US" smtClean="0"/>
              <a:pPr/>
              <a:t>10</a:t>
            </a:fld>
            <a:endParaRPr lang="en-US"/>
          </a:p>
        </p:txBody>
      </p:sp>
    </p:spTree>
    <p:extLst>
      <p:ext uri="{BB962C8B-B14F-4D97-AF65-F5344CB8AC3E}">
        <p14:creationId xmlns:p14="http://schemas.microsoft.com/office/powerpoint/2010/main" val="17575105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936A6-755C-230F-B231-B0F02AE30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49B6DC-67BB-70C0-4BD1-54535F5EDD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063E8A-E272-4FF6-BA09-222080B8FE45}"/>
              </a:ext>
            </a:extLst>
          </p:cNvPr>
          <p:cNvSpPr>
            <a:spLocks noGrp="1"/>
          </p:cNvSpPr>
          <p:nvPr>
            <p:ph type="body" idx="1"/>
          </p:nvPr>
        </p:nvSpPr>
        <p:spPr/>
        <p:txBody>
          <a:bodyPr>
            <a:normAutofit fontScale="85000" lnSpcReduction="10000"/>
          </a:bodyPr>
          <a:lstStyle/>
          <a:p>
            <a:pPr marL="171450" marR="0" lvl="0" indent="-171450" algn="l" defTabSz="91431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OECD time use data based on people of age between 15 to 64.</a:t>
            </a:r>
          </a:p>
          <a:p>
            <a:pPr marL="171450" marR="0" lvl="0" indent="-171450" algn="l" defTabSz="91431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31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Demographics is not a stand-alone issue. The choice of fertility, labor market participation and human capital are linked joint decisions.</a:t>
            </a:r>
          </a:p>
          <a:p>
            <a:pPr marL="177571" indent="-177571">
              <a:buFont typeface="Arial" panose="020B0604020202020204" pitchFamily="34" charset="0"/>
              <a:buChar char="•"/>
            </a:pPr>
            <a:endParaRPr lang="en-US" dirty="0"/>
          </a:p>
          <a:p>
            <a:pPr marL="177571" indent="-177571">
              <a:buFont typeface="Arial" panose="020B0604020202020204" pitchFamily="34" charset="0"/>
              <a:buChar char="•"/>
            </a:pPr>
            <a:r>
              <a:rPr lang="en-US" dirty="0"/>
              <a:t>When households make these choices, they roughly have two constraints, time allocation and resource allocation. The time constraint, resource constraint, together with the distribution of household bargaining power and preferences shape the fertility and work decisions of households. </a:t>
            </a:r>
          </a:p>
          <a:p>
            <a:pPr marL="177571" indent="-177571">
              <a:buFont typeface="Arial" panose="020B0604020202020204" pitchFamily="34" charset="0"/>
              <a:buChar char="•"/>
            </a:pPr>
            <a:endParaRPr lang="en-US" dirty="0"/>
          </a:p>
          <a:p>
            <a:pPr marL="177571" indent="-177571">
              <a:buFont typeface="Arial" panose="020B0604020202020204" pitchFamily="34" charset="0"/>
              <a:buChar char="•"/>
            </a:pPr>
            <a:r>
              <a:rPr lang="en-US" dirty="0"/>
              <a:t>This framework allows us to think of the diverging demographic trends in a unified framework.</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On the left, we present the time allocation of by male and female. As you see, women tend to spend more time on unpaid work and men tend to spend more time on paid work and leisure. </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In a setting where barriers for women to participate in labor market is high, women tend to spend more time in unpaid work. They may have more children, but due to the limited resources, they may choose to invest less in the education of each child. </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When we think of policies, we can think about how polices can address each of the constraints:</a:t>
            </a:r>
          </a:p>
          <a:p>
            <a:pPr marL="171450" indent="-171450">
              <a:buFont typeface="Arial" panose="020B0604020202020204" pitchFamily="34" charset="0"/>
              <a:buChar char="•"/>
            </a:pPr>
            <a:r>
              <a:rPr lang="en-US" dirty="0"/>
              <a:t>For example, transportation and road infrastructure could reduce the time women spent on fetching water, and allow them more time for other activates such as paid work, so it could relax both time and resource constraint. </a:t>
            </a:r>
          </a:p>
          <a:p>
            <a:pPr marL="171450" indent="-171450">
              <a:buFont typeface="Arial" panose="020B0604020202020204" pitchFamily="34" charset="0"/>
              <a:buChar char="•"/>
            </a:pPr>
            <a:r>
              <a:rPr lang="en-US" dirty="0"/>
              <a:t>Subsidized schooling can help household overcome the resource constraint and at the same time allow the household member who use to watch the children some free time for other activities. </a:t>
            </a:r>
          </a:p>
          <a:p>
            <a:pPr marL="171450" indent="-171450">
              <a:buFont typeface="Arial" panose="020B0604020202020204" pitchFamily="34" charset="0"/>
              <a:buChar char="•"/>
            </a:pPr>
            <a:r>
              <a:rPr lang="en-US" dirty="0"/>
              <a:t>Designing polices to facilitate women’s work-life choice, increasing female’s participation in the paid economic activities contributes to a more inclusive and resilient macro economy.</a:t>
            </a:r>
          </a:p>
          <a:p>
            <a:endParaRPr lang="en-US" dirty="0"/>
          </a:p>
        </p:txBody>
      </p:sp>
      <p:sp>
        <p:nvSpPr>
          <p:cNvPr id="4" name="Date Placeholder 3">
            <a:extLst>
              <a:ext uri="{FF2B5EF4-FFF2-40B4-BE49-F238E27FC236}">
                <a16:creationId xmlns:a16="http://schemas.microsoft.com/office/drawing/2014/main" id="{B0B9416D-C026-0474-8EE7-FF171B9C3AE1}"/>
              </a:ext>
            </a:extLst>
          </p:cNvPr>
          <p:cNvSpPr>
            <a:spLocks noGrp="1"/>
          </p:cNvSpPr>
          <p:nvPr>
            <p:ph type="dt" idx="1"/>
          </p:nvPr>
        </p:nvSpPr>
        <p:spPr/>
        <p:txBody>
          <a:bodyPr/>
          <a:lstStyle/>
          <a:p>
            <a:fld id="{49E4E862-E263-8B4A-AFB5-DFAAA754BCA9}" type="datetime1">
              <a:rPr lang="en-US" smtClean="0"/>
              <a:t>5/21/2026</a:t>
            </a:fld>
            <a:endParaRPr lang="en-US"/>
          </a:p>
        </p:txBody>
      </p:sp>
      <p:sp>
        <p:nvSpPr>
          <p:cNvPr id="5" name="Slide Number Placeholder 4">
            <a:extLst>
              <a:ext uri="{FF2B5EF4-FFF2-40B4-BE49-F238E27FC236}">
                <a16:creationId xmlns:a16="http://schemas.microsoft.com/office/drawing/2014/main" id="{9385A5CB-8A48-8B41-92FF-23C695A808E3}"/>
              </a:ext>
            </a:extLst>
          </p:cNvPr>
          <p:cNvSpPr>
            <a:spLocks noGrp="1"/>
          </p:cNvSpPr>
          <p:nvPr>
            <p:ph type="sldNum" sz="quarter" idx="5"/>
          </p:nvPr>
        </p:nvSpPr>
        <p:spPr/>
        <p:txBody>
          <a:bodyPr/>
          <a:lstStyle/>
          <a:p>
            <a:fld id="{BA49F774-CCF9-492C-9AEB-F2814D4A6625}" type="slidenum">
              <a:rPr lang="en-US" smtClean="0"/>
              <a:pPr/>
              <a:t>11</a:t>
            </a:fld>
            <a:endParaRPr lang="en-US"/>
          </a:p>
        </p:txBody>
      </p:sp>
    </p:spTree>
    <p:extLst>
      <p:ext uri="{BB962C8B-B14F-4D97-AF65-F5344CB8AC3E}">
        <p14:creationId xmlns:p14="http://schemas.microsoft.com/office/powerpoint/2010/main" val="23468735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C5757-0997-AFF0-A3AE-E329E99C0D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CDF814-8859-0935-7DA4-CFDAFA0739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38BE07-6873-4BE7-C5FA-E09E1AD5FADB}"/>
              </a:ext>
            </a:extLst>
          </p:cNvPr>
          <p:cNvSpPr>
            <a:spLocks noGrp="1"/>
          </p:cNvSpPr>
          <p:nvPr>
            <p:ph type="body" idx="1"/>
          </p:nvPr>
        </p:nvSpPr>
        <p:spPr/>
        <p:txBody>
          <a:bodyPr>
            <a:normAutofit fontScale="85000" lnSpcReduction="10000"/>
          </a:bodyPr>
          <a:lstStyle/>
          <a:p>
            <a:pPr marL="171450" marR="0" lvl="0" indent="-171450" algn="l" defTabSz="91431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OECD time use data based on people of age between 15 to 64.</a:t>
            </a:r>
          </a:p>
          <a:p>
            <a:pPr marL="171450" marR="0" lvl="0" indent="-171450" algn="l" defTabSz="91431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31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Demographics is not a stand-alone issue. The choice of fertility, labor market participation and human capital are linked joint decisions.</a:t>
            </a:r>
          </a:p>
          <a:p>
            <a:pPr marL="177571" indent="-177571">
              <a:buFont typeface="Arial" panose="020B0604020202020204" pitchFamily="34" charset="0"/>
              <a:buChar char="•"/>
            </a:pPr>
            <a:endParaRPr lang="en-US" dirty="0"/>
          </a:p>
          <a:p>
            <a:pPr marL="177571" indent="-177571">
              <a:buFont typeface="Arial" panose="020B0604020202020204" pitchFamily="34" charset="0"/>
              <a:buChar char="•"/>
            </a:pPr>
            <a:r>
              <a:rPr lang="en-US" dirty="0"/>
              <a:t>When households make these choices, they roughly have two constraints, time allocation and resource allocation. The time constraint, resource constraint, together with the distribution of household bargaining power and preferences shape the fertility and work decisions of households. </a:t>
            </a:r>
          </a:p>
          <a:p>
            <a:pPr marL="177571" indent="-177571">
              <a:buFont typeface="Arial" panose="020B0604020202020204" pitchFamily="34" charset="0"/>
              <a:buChar char="•"/>
            </a:pPr>
            <a:endParaRPr lang="en-US" dirty="0"/>
          </a:p>
          <a:p>
            <a:pPr marL="177571" indent="-177571">
              <a:buFont typeface="Arial" panose="020B0604020202020204" pitchFamily="34" charset="0"/>
              <a:buChar char="•"/>
            </a:pPr>
            <a:r>
              <a:rPr lang="en-US" dirty="0"/>
              <a:t>This framework allows us to think of the diverging demographic trends in a unified framework.</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On the left, we present the time allocation of by male and female. As you see, women tend to spend more time on unpaid work and men tend to spend more time on paid work and leisure. </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In a setting where barriers for women to participate in labor market is high, women tend to spend more time in unpaid work. They may have more children, but due to the limited resources, they may choose to invest less in the education of each child. </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When we think of policies, we can think about how polices can address each of the constraints:</a:t>
            </a:r>
          </a:p>
          <a:p>
            <a:pPr marL="171450" indent="-171450">
              <a:buFont typeface="Arial" panose="020B0604020202020204" pitchFamily="34" charset="0"/>
              <a:buChar char="•"/>
            </a:pPr>
            <a:r>
              <a:rPr lang="en-US" dirty="0"/>
              <a:t>For example, transportation and road infrastructure could reduce the time women spent on fetching water, and allow them more time for other activates such as paid work, so it could relax both time and resource constraint. </a:t>
            </a:r>
          </a:p>
          <a:p>
            <a:pPr marL="171450" indent="-171450">
              <a:buFont typeface="Arial" panose="020B0604020202020204" pitchFamily="34" charset="0"/>
              <a:buChar char="•"/>
            </a:pPr>
            <a:r>
              <a:rPr lang="en-US" dirty="0"/>
              <a:t>Subsidized schooling can help household overcome the resource constraint and at the same time allow the household member who use to watch the children some free time for other activities. </a:t>
            </a:r>
          </a:p>
          <a:p>
            <a:pPr marL="171450" indent="-171450">
              <a:buFont typeface="Arial" panose="020B0604020202020204" pitchFamily="34" charset="0"/>
              <a:buChar char="•"/>
            </a:pPr>
            <a:r>
              <a:rPr lang="en-US" dirty="0"/>
              <a:t>Designing polices to facilitate women’s work-life choice, increasing female’s participation in the paid economic activities contributes to a more inclusive and resilient macro economy.</a:t>
            </a:r>
          </a:p>
          <a:p>
            <a:endParaRPr lang="en-US" dirty="0"/>
          </a:p>
        </p:txBody>
      </p:sp>
      <p:sp>
        <p:nvSpPr>
          <p:cNvPr id="4" name="Date Placeholder 3">
            <a:extLst>
              <a:ext uri="{FF2B5EF4-FFF2-40B4-BE49-F238E27FC236}">
                <a16:creationId xmlns:a16="http://schemas.microsoft.com/office/drawing/2014/main" id="{22AF08BB-702A-C2B7-8832-AB2AF61572A7}"/>
              </a:ext>
            </a:extLst>
          </p:cNvPr>
          <p:cNvSpPr>
            <a:spLocks noGrp="1"/>
          </p:cNvSpPr>
          <p:nvPr>
            <p:ph type="dt" idx="1"/>
          </p:nvPr>
        </p:nvSpPr>
        <p:spPr/>
        <p:txBody>
          <a:bodyPr/>
          <a:lstStyle/>
          <a:p>
            <a:fld id="{49E4E862-E263-8B4A-AFB5-DFAAA754BCA9}" type="datetime1">
              <a:rPr lang="en-US" smtClean="0"/>
              <a:t>5/21/2026</a:t>
            </a:fld>
            <a:endParaRPr lang="en-US"/>
          </a:p>
        </p:txBody>
      </p:sp>
      <p:sp>
        <p:nvSpPr>
          <p:cNvPr id="5" name="Slide Number Placeholder 4">
            <a:extLst>
              <a:ext uri="{FF2B5EF4-FFF2-40B4-BE49-F238E27FC236}">
                <a16:creationId xmlns:a16="http://schemas.microsoft.com/office/drawing/2014/main" id="{C34F6FBF-EDED-2EA2-4A39-D4BC28A5F2EE}"/>
              </a:ext>
            </a:extLst>
          </p:cNvPr>
          <p:cNvSpPr>
            <a:spLocks noGrp="1"/>
          </p:cNvSpPr>
          <p:nvPr>
            <p:ph type="sldNum" sz="quarter" idx="5"/>
          </p:nvPr>
        </p:nvSpPr>
        <p:spPr/>
        <p:txBody>
          <a:bodyPr/>
          <a:lstStyle/>
          <a:p>
            <a:fld id="{BA49F774-CCF9-492C-9AEB-F2814D4A6625}" type="slidenum">
              <a:rPr lang="en-US" smtClean="0"/>
              <a:pPr/>
              <a:t>12</a:t>
            </a:fld>
            <a:endParaRPr lang="en-US"/>
          </a:p>
        </p:txBody>
      </p:sp>
    </p:spTree>
    <p:extLst>
      <p:ext uri="{BB962C8B-B14F-4D97-AF65-F5344CB8AC3E}">
        <p14:creationId xmlns:p14="http://schemas.microsoft.com/office/powerpoint/2010/main" val="3496233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r="70119"/>
          <a:stretch/>
        </p:blipFill>
        <p:spPr>
          <a:xfrm>
            <a:off x="5623560" y="749808"/>
            <a:ext cx="1095647" cy="1143159"/>
          </a:xfrm>
          <a:prstGeom prst="rect">
            <a:avLst/>
          </a:prstGeom>
        </p:spPr>
      </p:pic>
      <p:sp>
        <p:nvSpPr>
          <p:cNvPr id="7" name="Title 6">
            <a:extLst>
              <a:ext uri="{FF2B5EF4-FFF2-40B4-BE49-F238E27FC236}">
                <a16:creationId xmlns:a16="http://schemas.microsoft.com/office/drawing/2014/main" id="{246B1B04-9B4F-40A9-ADCB-3504786ABDD3}"/>
              </a:ext>
            </a:extLst>
          </p:cNvPr>
          <p:cNvSpPr>
            <a:spLocks noGrp="1"/>
          </p:cNvSpPr>
          <p:nvPr>
            <p:ph type="title"/>
          </p:nvPr>
        </p:nvSpPr>
        <p:spPr/>
        <p:txBody>
          <a:bodyPr/>
          <a:lstStyle/>
          <a:p>
            <a:r>
              <a:rPr lang="en-US"/>
              <a:t>Click to edit Master title style</a:t>
            </a:r>
          </a:p>
        </p:txBody>
      </p:sp>
    </p:spTree>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orient="horz" pos="3799" userDrawn="1">
          <p15:clr>
            <a:srgbClr val="FBAE40"/>
          </p15:clr>
        </p15:guide>
        <p15:guide id="3" pos="3600" userDrawn="1">
          <p15:clr>
            <a:srgbClr val="FBAE40"/>
          </p15:clr>
        </p15:guide>
        <p15:guide id="4" pos="308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pt. 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5741048" y="1940930"/>
            <a:ext cx="5515284" cy="2239337"/>
          </a:xfrm>
        </p:spPr>
        <p:txBody>
          <a:bodyPr lIns="0" tIns="0" rIns="0" bIns="45720" anchor="b" anchorCtr="0">
            <a:normAutofit/>
          </a:bodyPr>
          <a:lstStyle>
            <a:lvl1pPr algn="l">
              <a:lnSpc>
                <a:spcPct val="95000"/>
              </a:lnSpc>
              <a:defRPr sz="4000" b="0" i="0">
                <a:solidFill>
                  <a:schemeClr val="tx2"/>
                </a:solidFill>
                <a:latin typeface="Arial Black" panose="020B0604020202020204" pitchFamily="34" charset="0"/>
                <a:cs typeface="Arial Black" panose="020B0604020202020204" pitchFamily="34" charset="0"/>
              </a:defRPr>
            </a:lvl1pPr>
          </a:lstStyle>
          <a:p>
            <a:r>
              <a:rPr lang="en-US"/>
              <a:t>Presentation Title up to three lines in length</a:t>
            </a:r>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11" name="Graphic 10">
            <a:extLst>
              <a:ext uri="{FF2B5EF4-FFF2-40B4-BE49-F238E27FC236}">
                <a16:creationId xmlns:a16="http://schemas.microsoft.com/office/drawing/2014/main" id="{297D2D33-B99A-B046-B49A-16CB982B1BBF}"/>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23560" y="749808"/>
            <a:ext cx="3666226" cy="1143000"/>
          </a:xfrm>
          <a:prstGeom prst="rect">
            <a:avLst/>
          </a:prstGeom>
        </p:spPr>
      </p:pic>
    </p:spTree>
    <p:extLst>
      <p:ext uri="{BB962C8B-B14F-4D97-AF65-F5344CB8AC3E}">
        <p14:creationId xmlns:p14="http://schemas.microsoft.com/office/powerpoint/2010/main" val="35853188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guide id="5" pos="3632" userDrawn="1">
          <p15:clr>
            <a:srgbClr val="FBAE40"/>
          </p15:clr>
        </p15:guide>
        <p15:guide id="6" orient="horz" pos="83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r="70119"/>
          <a:stretch/>
        </p:blipFill>
        <p:spPr>
          <a:xfrm>
            <a:off x="5623560" y="749808"/>
            <a:ext cx="1095647" cy="1143159"/>
          </a:xfrm>
          <a:prstGeom prst="rect">
            <a:avLst/>
          </a:prstGeom>
        </p:spPr>
      </p:pic>
      <p:sp>
        <p:nvSpPr>
          <p:cNvPr id="7" name="Title 6">
            <a:extLst>
              <a:ext uri="{FF2B5EF4-FFF2-40B4-BE49-F238E27FC236}">
                <a16:creationId xmlns:a16="http://schemas.microsoft.com/office/drawing/2014/main" id="{246B1B04-9B4F-40A9-ADCB-3504786ABDD3}"/>
              </a:ext>
            </a:extLst>
          </p:cNvPr>
          <p:cNvSpPr>
            <a:spLocks noGrp="1"/>
          </p:cNvSpPr>
          <p:nvPr>
            <p:ph type="title"/>
          </p:nvPr>
        </p:nvSpPr>
        <p:spPr/>
        <p:txBody>
          <a:bodyPr/>
          <a:lstStyle/>
          <a:p>
            <a:r>
              <a:rPr lang="en-US"/>
              <a:t>Click to edit Master title style</a:t>
            </a:r>
          </a:p>
        </p:txBody>
      </p:sp>
    </p:spTree>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orient="horz" pos="3799" userDrawn="1">
          <p15:clr>
            <a:srgbClr val="FBAE40"/>
          </p15:clr>
        </p15:guide>
        <p15:guide id="3" pos="3600" userDrawn="1">
          <p15:clr>
            <a:srgbClr val="FBAE40"/>
          </p15:clr>
        </p15:guide>
        <p15:guide id="4" pos="308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pt. 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5741048" y="1940930"/>
            <a:ext cx="5515284" cy="2239337"/>
          </a:xfrm>
        </p:spPr>
        <p:txBody>
          <a:bodyPr lIns="0" tIns="0" rIns="0" bIns="45720" anchor="b" anchorCtr="0">
            <a:normAutofit/>
          </a:bodyPr>
          <a:lstStyle>
            <a:lvl1pPr algn="l">
              <a:lnSpc>
                <a:spcPct val="95000"/>
              </a:lnSpc>
              <a:defRPr sz="4000" b="0" i="0">
                <a:solidFill>
                  <a:schemeClr val="tx2"/>
                </a:solidFill>
                <a:latin typeface="Arial Black" panose="020B0604020202020204" pitchFamily="34" charset="0"/>
                <a:cs typeface="Arial Black" panose="020B0604020202020204" pitchFamily="34" charset="0"/>
              </a:defRPr>
            </a:lvl1pPr>
          </a:lstStyle>
          <a:p>
            <a:r>
              <a:rPr lang="en-US"/>
              <a:t>Presentation Title up to three lines in length</a:t>
            </a:r>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11" name="Graphic 10">
            <a:extLst>
              <a:ext uri="{FF2B5EF4-FFF2-40B4-BE49-F238E27FC236}">
                <a16:creationId xmlns:a16="http://schemas.microsoft.com/office/drawing/2014/main" id="{297D2D33-B99A-B046-B49A-16CB982B1BBF}"/>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23560" y="749808"/>
            <a:ext cx="3666226" cy="1143000"/>
          </a:xfrm>
          <a:prstGeom prst="rect">
            <a:avLst/>
          </a:prstGeom>
        </p:spPr>
      </p:pic>
    </p:spTree>
    <p:extLst>
      <p:ext uri="{BB962C8B-B14F-4D97-AF65-F5344CB8AC3E}">
        <p14:creationId xmlns:p14="http://schemas.microsoft.com/office/powerpoint/2010/main" val="35853188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guide id="5" pos="3632" userDrawn="1">
          <p15:clr>
            <a:srgbClr val="FBAE40"/>
          </p15:clr>
        </p15:guide>
        <p15:guide id="6" orient="horz" pos="83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Cya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(Cyan)</a:t>
            </a: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370987336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Green)">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(Green)</a:t>
            </a: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601591089"/>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Yellow)">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(Yellow)</a:t>
            </a: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6579912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Agenda">
    <p:bg>
      <p:bgPr>
        <a:solidFill>
          <a:schemeClr val="accent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6DC936A-9C43-D84B-9C24-0185515D689C}"/>
              </a:ext>
            </a:extLst>
          </p:cNvPr>
          <p:cNvSpPr/>
          <p:nvPr userDrawn="1"/>
        </p:nvSpPr>
        <p:spPr>
          <a:xfrm>
            <a:off x="-1" y="6638778"/>
            <a:ext cx="12192001" cy="2192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10" name="Content Placeholder 9">
            <a:extLst>
              <a:ext uri="{FF2B5EF4-FFF2-40B4-BE49-F238E27FC236}">
                <a16:creationId xmlns:a16="http://schemas.microsoft.com/office/drawing/2014/main" id="{07CE3741-921D-834E-8354-54991BEB2BDD}"/>
              </a:ext>
            </a:extLst>
          </p:cNvPr>
          <p:cNvSpPr>
            <a:spLocks noGrp="1"/>
          </p:cNvSpPr>
          <p:nvPr>
            <p:ph sz="quarter" idx="11" hasCustomPrompt="1"/>
          </p:nvPr>
        </p:nvSpPr>
        <p:spPr>
          <a:xfrm>
            <a:off x="1235964" y="683639"/>
            <a:ext cx="9372600" cy="5486400"/>
          </a:xfrm>
        </p:spPr>
        <p:txBody>
          <a:bodyPr tIns="0" bIns="365760" anchor="ctr" anchorCtr="0"/>
          <a:lstStyle>
            <a:lvl1pPr>
              <a:spcBef>
                <a:spcPts val="0"/>
              </a:spcBef>
              <a:spcAft>
                <a:spcPts val="2400"/>
              </a:spcAft>
              <a:buClrTx/>
              <a:defRPr sz="3400" b="0" i="0">
                <a:solidFill>
                  <a:schemeClr val="bg1"/>
                </a:solidFill>
                <a:latin typeface="Arial Black" panose="020B0604020202020204" pitchFamily="34" charset="0"/>
                <a:cs typeface="Arial Black" panose="020B0604020202020204" pitchFamily="34" charset="0"/>
              </a:defRPr>
            </a:lvl1pPr>
            <a:lvl2pPr marL="342900" indent="-342900">
              <a:spcBef>
                <a:spcPts val="900"/>
              </a:spcBef>
              <a:spcAft>
                <a:spcPts val="0"/>
              </a:spcAft>
              <a:buClrTx/>
              <a:tabLst/>
              <a:defRPr sz="3200" b="0">
                <a:solidFill>
                  <a:schemeClr val="bg1"/>
                </a:solidFill>
              </a:defRPr>
            </a:lvl2pPr>
            <a:lvl3pPr marL="342900" indent="-342900">
              <a:spcBef>
                <a:spcPts val="900"/>
              </a:spcBef>
              <a:spcAft>
                <a:spcPts val="0"/>
              </a:spcAft>
              <a:buClrTx/>
              <a:buSzPct val="100000"/>
              <a:buFont typeface="Wingdings" pitchFamily="2" charset="2"/>
              <a:buChar char="§"/>
              <a:tabLst/>
              <a:defRPr sz="3200" b="1">
                <a:solidFill>
                  <a:schemeClr val="accent2">
                    <a:lumMod val="60000"/>
                    <a:lumOff val="40000"/>
                  </a:schemeClr>
                </a:solidFill>
              </a:defRPr>
            </a:lvl3pPr>
            <a:lvl4pPr marL="514350" indent="-171450">
              <a:spcBef>
                <a:spcPts val="0"/>
              </a:spcBef>
              <a:spcAft>
                <a:spcPts val="300"/>
              </a:spcAft>
              <a:buClrTx/>
              <a:buFont typeface="Arial" panose="020B0604020202020204" pitchFamily="34" charset="0"/>
              <a:buChar char="•"/>
              <a:tabLst/>
              <a:defRPr sz="2100" b="0">
                <a:solidFill>
                  <a:schemeClr val="bg1"/>
                </a:solidFill>
              </a:defRPr>
            </a:lvl4pPr>
            <a:lvl5pPr marL="514350" indent="-171450">
              <a:spcBef>
                <a:spcPts val="0"/>
              </a:spcBef>
              <a:spcAft>
                <a:spcPts val="300"/>
              </a:spcAft>
              <a:buClrTx/>
              <a:buFont typeface="Arial" panose="020B0604020202020204" pitchFamily="34" charset="0"/>
              <a:buChar char="•"/>
              <a:tabLst/>
              <a:defRPr sz="2100" b="1">
                <a:solidFill>
                  <a:schemeClr val="accent2">
                    <a:lumMod val="60000"/>
                    <a:lumOff val="40000"/>
                  </a:schemeClr>
                </a:solidFill>
              </a:defRPr>
            </a:lvl5pPr>
          </a:lstStyle>
          <a:p>
            <a:pPr lvl="0"/>
            <a:r>
              <a:rPr lang="en-US"/>
              <a:t>Title for Divider–Agenda</a:t>
            </a:r>
          </a:p>
          <a:p>
            <a:pPr lvl="1"/>
            <a:r>
              <a:rPr lang="en-US"/>
              <a:t>Agenda Item—Inactive</a:t>
            </a:r>
          </a:p>
          <a:p>
            <a:pPr lvl="2"/>
            <a:r>
              <a:rPr lang="en-US"/>
              <a:t>Agenda Item—Active</a:t>
            </a:r>
          </a:p>
          <a:p>
            <a:pPr lvl="3"/>
            <a:r>
              <a:rPr lang="en-US"/>
              <a:t>Second level</a:t>
            </a:r>
          </a:p>
          <a:p>
            <a:pPr lvl="4"/>
            <a:r>
              <a:rPr lang="en-US"/>
              <a:t>Third level</a:t>
            </a:r>
          </a:p>
        </p:txBody>
      </p:sp>
    </p:spTree>
    <p:extLst>
      <p:ext uri="{BB962C8B-B14F-4D97-AF65-F5344CB8AC3E}">
        <p14:creationId xmlns:p14="http://schemas.microsoft.com/office/powerpoint/2010/main" val="1683390435"/>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399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W)">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799140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80802756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781" userDrawn="1">
          <p15:clr>
            <a:srgbClr val="FBAE40"/>
          </p15:clr>
        </p15:guide>
        <p15:guide id="4" pos="690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Two-Column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 Placeholder 2">
            <a:extLst>
              <a:ext uri="{FF2B5EF4-FFF2-40B4-BE49-F238E27FC236}">
                <a16:creationId xmlns:a16="http://schemas.microsoft.com/office/drawing/2014/main" id="{0BF7038D-D496-7248-87EC-9540380F1D12}"/>
              </a:ext>
            </a:extLst>
          </p:cNvPr>
          <p:cNvSpPr>
            <a:spLocks noGrp="1"/>
          </p:cNvSpPr>
          <p:nvPr>
            <p:ph type="body" sz="quarter" idx="13" hasCustomPrompt="1"/>
          </p:nvPr>
        </p:nvSpPr>
        <p:spPr>
          <a:xfrm>
            <a:off x="63833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219820882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Text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Photo+Text</a:t>
            </a:r>
            <a:r>
              <a:rPr lang="en-US"/>
              <a:t> (W)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marL="917575" marR="0"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marL="917575" marR="0" lvl="4"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a:pPr>
            <a:r>
              <a:rPr lang="en-US"/>
              <a:t>Quadruple-click the “Indent More” button (above) for fourth-level bullets</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1239838" y="1669499"/>
            <a:ext cx="4856162" cy="44805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239839" y="5889219"/>
            <a:ext cx="4856162"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53670137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340806" y="491385"/>
            <a:ext cx="3670259" cy="978486"/>
          </a:xfrm>
          <a:prstGeom prst="rect">
            <a:avLst/>
          </a:prstGeom>
        </p:spPr>
        <p:txBody>
          <a:bodyPr vert="horz" lIns="0" tIns="0" rIns="0" bIns="0" rtlCol="0" anchor="ctr">
            <a:normAutofit/>
          </a:bodyPr>
          <a:lstStyle>
            <a:lvl1pPr algn="l">
              <a:defRPr lang="en-US" sz="2400" dirty="0">
                <a:solidFill>
                  <a:schemeClr val="tx2"/>
                </a:solidFill>
                <a:latin typeface="Arial Black" charset="0"/>
                <a:ea typeface="Arial Black" charset="0"/>
                <a:cs typeface="Arial Black" charset="0"/>
              </a:defRPr>
            </a:lvl1pPr>
          </a:lstStyle>
          <a:p>
            <a:pPr marL="0" lvl="0"/>
            <a:r>
              <a:rPr lang="en-US"/>
              <a:t>Title for </a:t>
            </a:r>
            <a:r>
              <a:rPr lang="en-US" err="1"/>
              <a:t>Text+Photo</a:t>
            </a:r>
            <a:r>
              <a:rPr lang="en-US"/>
              <a:t>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340806" y="1469871"/>
            <a:ext cx="3670259"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Picture Placeholder 2">
            <a:extLst>
              <a:ext uri="{FF2B5EF4-FFF2-40B4-BE49-F238E27FC236}">
                <a16:creationId xmlns:a16="http://schemas.microsoft.com/office/drawing/2014/main" id="{47569D7D-6010-454B-A86B-B6C69D7E2E6B}"/>
              </a:ext>
            </a:extLst>
          </p:cNvPr>
          <p:cNvSpPr>
            <a:spLocks noGrp="1"/>
          </p:cNvSpPr>
          <p:nvPr>
            <p:ph type="pic" sz="quarter" idx="11" hasCustomPrompt="1"/>
          </p:nvPr>
        </p:nvSpPr>
        <p:spPr>
          <a:xfrm>
            <a:off x="4191000" y="-1"/>
            <a:ext cx="8001000" cy="662940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FD26CCD3-E500-1F49-8DD8-1545E2CBF0B3}"/>
              </a:ext>
            </a:extLst>
          </p:cNvPr>
          <p:cNvSpPr>
            <a:spLocks noGrp="1"/>
          </p:cNvSpPr>
          <p:nvPr>
            <p:ph type="body" sz="quarter" idx="12" hasCustomPrompt="1"/>
          </p:nvPr>
        </p:nvSpPr>
        <p:spPr>
          <a:xfrm rot="5400000">
            <a:off x="8746884" y="3184281"/>
            <a:ext cx="6629396"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401658498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hoto+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Photo+Photo</a:t>
            </a:r>
            <a:r>
              <a:rPr lang="en-US"/>
              <a:t> (W) Layout</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0"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8" name="Picture Placeholder 4">
            <a:extLst>
              <a:ext uri="{FF2B5EF4-FFF2-40B4-BE49-F238E27FC236}">
                <a16:creationId xmlns:a16="http://schemas.microsoft.com/office/drawing/2014/main" id="{57E259A3-746A-2044-822B-3F7D859E7F10}"/>
              </a:ext>
            </a:extLst>
          </p:cNvPr>
          <p:cNvSpPr>
            <a:spLocks noGrp="1"/>
          </p:cNvSpPr>
          <p:nvPr>
            <p:ph type="pic" sz="quarter" idx="14" hasCustomPrompt="1"/>
          </p:nvPr>
        </p:nvSpPr>
        <p:spPr>
          <a:xfrm>
            <a:off x="6093439"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9" name="Text Placeholder 4">
            <a:extLst>
              <a:ext uri="{FF2B5EF4-FFF2-40B4-BE49-F238E27FC236}">
                <a16:creationId xmlns:a16="http://schemas.microsoft.com/office/drawing/2014/main" id="{E3F54B41-918E-644B-B610-DDE8277FB261}"/>
              </a:ext>
            </a:extLst>
          </p:cNvPr>
          <p:cNvSpPr>
            <a:spLocks noGrp="1"/>
          </p:cNvSpPr>
          <p:nvPr>
            <p:ph type="body" sz="quarter" idx="15" hasCustomPrompt="1"/>
          </p:nvPr>
        </p:nvSpPr>
        <p:spPr>
          <a:xfrm>
            <a:off x="6093440"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60850190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rge Photo+Title (W)">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1" y="5349453"/>
            <a:ext cx="12192000" cy="1508547"/>
          </a:xfrm>
          <a:prstGeom prst="rect">
            <a:avLst/>
          </a:prstGeom>
        </p:spPr>
        <p:txBody>
          <a:bodyPr vert="horz" lIns="457200" tIns="182880" rIns="457200" bIns="182880" rtlCol="0" anchor="t" anchorCtr="0">
            <a:noAutofit/>
          </a:bodyPr>
          <a:lstStyle>
            <a:lvl1pPr algn="ctr">
              <a:defRPr lang="en-US" sz="2400" dirty="0">
                <a:solidFill>
                  <a:schemeClr val="tx2"/>
                </a:solidFill>
                <a:latin typeface="Arial Black" charset="0"/>
                <a:ea typeface="Arial Black" charset="0"/>
                <a:cs typeface="Arial Black" charset="0"/>
              </a:defRPr>
            </a:lvl1pPr>
          </a:lstStyle>
          <a:p>
            <a:pPr marL="0" lvl="0"/>
            <a:r>
              <a:rPr lang="en-US"/>
              <a:t>Title for Large Photo (W) Layout</a:t>
            </a:r>
          </a:p>
        </p:txBody>
      </p:sp>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0"/>
            <a:ext cx="12192000" cy="5349875"/>
          </a:xfrm>
          <a:solidFill>
            <a:schemeClr val="bg1">
              <a:lumMod val="90000"/>
            </a:schemeClr>
          </a:solidFill>
        </p:spPr>
        <p:txBody>
          <a:bodyPr tIns="0" bIns="20574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168799884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xtra-Large Photo+Title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172200"/>
          </a:xfrm>
          <a:solidFill>
            <a:schemeClr val="bg1">
              <a:lumMod val="90000"/>
            </a:schemeClr>
          </a:solidFill>
        </p:spPr>
        <p:txBody>
          <a:bodyPr tIns="0" bIns="256032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975483" y="2955682"/>
            <a:ext cx="617219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0" y="6172200"/>
            <a:ext cx="12202245" cy="685800"/>
          </a:xfrm>
          <a:prstGeom prst="rect">
            <a:avLst/>
          </a:prstGeom>
        </p:spPr>
        <p:txBody>
          <a:bodyPr vert="horz" lIns="457200" tIns="91440" rIns="457200" bIns="182880" rtlCol="0" anchor="t" anchorCtr="0">
            <a:normAutofit/>
          </a:bodyPr>
          <a:lstStyle>
            <a:lvl1pPr algn="ctr">
              <a:defRPr lang="en-US" sz="2200" dirty="0">
                <a:solidFill>
                  <a:schemeClr val="tx2"/>
                </a:solidFill>
                <a:latin typeface="Arial Black" charset="0"/>
                <a:ea typeface="Arial Black" charset="0"/>
                <a:cs typeface="Arial Black" charset="0"/>
              </a:defRPr>
            </a:lvl1pPr>
          </a:lstStyle>
          <a:p>
            <a:pPr marL="0" lvl="0"/>
            <a:r>
              <a:rPr lang="en-US"/>
              <a:t>Title for Extra-Large </a:t>
            </a:r>
            <a:r>
              <a:rPr lang="en-US" err="1"/>
              <a:t>Photo+Title</a:t>
            </a:r>
            <a:r>
              <a:rPr lang="en-US"/>
              <a:t> (W) Layout</a:t>
            </a:r>
          </a:p>
        </p:txBody>
      </p:sp>
    </p:spTree>
    <p:extLst>
      <p:ext uri="{BB962C8B-B14F-4D97-AF65-F5344CB8AC3E}">
        <p14:creationId xmlns:p14="http://schemas.microsoft.com/office/powerpoint/2010/main" val="115190021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xtra-Large Photo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58368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769743" y="3161422"/>
            <a:ext cx="658367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40168843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ingle-Column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Single-Column (B)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marL="0" marR="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solidFill>
                  <a:schemeClr val="bg1"/>
                </a:solidFill>
              </a:defRPr>
            </a:lvl1pPr>
            <a:lvl2pPr>
              <a:buClr>
                <a:schemeClr val="tx2">
                  <a:lumMod val="40000"/>
                  <a:lumOff val="60000"/>
                </a:schemeClr>
              </a:buClr>
              <a:defRPr>
                <a:solidFill>
                  <a:schemeClr val="bg1"/>
                </a:solidFill>
              </a:defRPr>
            </a:lvl2pPr>
            <a:lvl3pPr>
              <a:buClr>
                <a:schemeClr val="bg1">
                  <a:lumMod val="75000"/>
                </a:schemeClr>
              </a:buClr>
              <a:defRPr>
                <a:solidFill>
                  <a:schemeClr val="bg1"/>
                </a:solidFill>
              </a:defRPr>
            </a:lvl3pPr>
            <a:lvl4pPr>
              <a:buClr>
                <a:schemeClr val="tx2">
                  <a:lumMod val="40000"/>
                  <a:lumOff val="60000"/>
                </a:schemeClr>
              </a:buClr>
              <a:defRPr>
                <a:solidFill>
                  <a:schemeClr val="bg1"/>
                </a:solidFill>
              </a:defRPr>
            </a:lvl4pPr>
            <a:lvl5pPr>
              <a:buClr>
                <a:schemeClr val="bg1">
                  <a:lumMod val="75000"/>
                </a:schemeClr>
              </a:buClr>
              <a:defRPr>
                <a:solidFill>
                  <a:schemeClr val="bg1"/>
                </a:solidFill>
              </a:defRPr>
            </a:lvl5pPr>
          </a:lstStyle>
          <a:p>
            <a:pPr marL="0" marR="0" lvl="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pPr>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5" name="TextBox 4">
            <a:extLst>
              <a:ext uri="{FF2B5EF4-FFF2-40B4-BE49-F238E27FC236}">
                <a16:creationId xmlns:a16="http://schemas.microsoft.com/office/drawing/2014/main" id="{E06FD9C8-9F14-B64C-88D7-AFEADAB39B39}"/>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287926854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wo-Column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Two-Column (B)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Box 5">
            <a:extLst>
              <a:ext uri="{FF2B5EF4-FFF2-40B4-BE49-F238E27FC236}">
                <a16:creationId xmlns:a16="http://schemas.microsoft.com/office/drawing/2014/main" id="{77362889-E692-BF4A-B8C8-D6FF23EE4CF0}"/>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cxnSp>
        <p:nvCxnSpPr>
          <p:cNvPr id="7" name="Straight Connector 6">
            <a:extLst>
              <a:ext uri="{FF2B5EF4-FFF2-40B4-BE49-F238E27FC236}">
                <a16:creationId xmlns:a16="http://schemas.microsoft.com/office/drawing/2014/main" id="{DCB5B26B-2A1F-084E-BAF6-BEA91A8E38A5}"/>
              </a:ext>
            </a:extLst>
          </p:cNvPr>
          <p:cNvCxnSpPr>
            <a:cxnSpLocks/>
          </p:cNvCxnSpPr>
          <p:nvPr userDrawn="1"/>
        </p:nvCxnSpPr>
        <p:spPr>
          <a:xfrm>
            <a:off x="6096000" y="1670538"/>
            <a:ext cx="0" cy="4425462"/>
          </a:xfrm>
          <a:prstGeom prst="line">
            <a:avLst/>
          </a:prstGeom>
          <a:ln w="95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15890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Photo+Text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a:t>
            </a:r>
            <a:r>
              <a:rPr lang="en-US" err="1"/>
              <a:t>Photo+Text</a:t>
            </a:r>
            <a:r>
              <a:rPr lang="en-US"/>
              <a:t> (B)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Box 5">
            <a:extLst>
              <a:ext uri="{FF2B5EF4-FFF2-40B4-BE49-F238E27FC236}">
                <a16:creationId xmlns:a16="http://schemas.microsoft.com/office/drawing/2014/main" id="{77362889-E692-BF4A-B8C8-D6FF23EE4CF0}"/>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9" name="Picture Placeholder 4">
            <a:extLst>
              <a:ext uri="{FF2B5EF4-FFF2-40B4-BE49-F238E27FC236}">
                <a16:creationId xmlns:a16="http://schemas.microsoft.com/office/drawing/2014/main" id="{ADC7D600-7783-1F4F-AD62-06B784E129FD}"/>
              </a:ext>
            </a:extLst>
          </p:cNvPr>
          <p:cNvSpPr>
            <a:spLocks noGrp="1"/>
          </p:cNvSpPr>
          <p:nvPr>
            <p:ph type="pic" sz="quarter" idx="13" hasCustomPrompt="1"/>
          </p:nvPr>
        </p:nvSpPr>
        <p:spPr>
          <a:xfrm>
            <a:off x="1239838" y="1672046"/>
            <a:ext cx="4855464" cy="44805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10" name="Text Placeholder 4">
            <a:extLst>
              <a:ext uri="{FF2B5EF4-FFF2-40B4-BE49-F238E27FC236}">
                <a16:creationId xmlns:a16="http://schemas.microsoft.com/office/drawing/2014/main" id="{A3893C67-9BAE-6946-9896-78E2472B03D8}"/>
              </a:ext>
            </a:extLst>
          </p:cNvPr>
          <p:cNvSpPr>
            <a:spLocks noGrp="1"/>
          </p:cNvSpPr>
          <p:nvPr>
            <p:ph type="body" sz="quarter" idx="14" hasCustomPrompt="1"/>
          </p:nvPr>
        </p:nvSpPr>
        <p:spPr>
          <a:xfrm>
            <a:off x="1239838" y="5891766"/>
            <a:ext cx="4855464"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111576932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1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Photo+Photo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a:t>
            </a:r>
            <a:r>
              <a:rPr lang="en-US" err="1"/>
              <a:t>Photo+Photo</a:t>
            </a:r>
            <a:r>
              <a:rPr lang="en-US"/>
              <a:t> (B) Layout</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0" y="1469871"/>
            <a:ext cx="6096000" cy="42519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 y="5460991"/>
            <a:ext cx="6096000"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8" name="Picture Placeholder 4">
            <a:extLst>
              <a:ext uri="{FF2B5EF4-FFF2-40B4-BE49-F238E27FC236}">
                <a16:creationId xmlns:a16="http://schemas.microsoft.com/office/drawing/2014/main" id="{57E259A3-746A-2044-822B-3F7D859E7F10}"/>
              </a:ext>
            </a:extLst>
          </p:cNvPr>
          <p:cNvSpPr>
            <a:spLocks noGrp="1"/>
          </p:cNvSpPr>
          <p:nvPr>
            <p:ph type="pic" sz="quarter" idx="14" hasCustomPrompt="1"/>
          </p:nvPr>
        </p:nvSpPr>
        <p:spPr>
          <a:xfrm>
            <a:off x="6093439" y="1469871"/>
            <a:ext cx="6096000" cy="42519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9" name="Text Placeholder 4">
            <a:extLst>
              <a:ext uri="{FF2B5EF4-FFF2-40B4-BE49-F238E27FC236}">
                <a16:creationId xmlns:a16="http://schemas.microsoft.com/office/drawing/2014/main" id="{E3F54B41-918E-644B-B610-DDE8277FB261}"/>
              </a:ext>
            </a:extLst>
          </p:cNvPr>
          <p:cNvSpPr>
            <a:spLocks noGrp="1"/>
          </p:cNvSpPr>
          <p:nvPr>
            <p:ph type="body" sz="quarter" idx="15" hasCustomPrompt="1"/>
          </p:nvPr>
        </p:nvSpPr>
        <p:spPr>
          <a:xfrm>
            <a:off x="6093440" y="5460991"/>
            <a:ext cx="6096000"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11" name="TextBox 10">
            <a:extLst>
              <a:ext uri="{FF2B5EF4-FFF2-40B4-BE49-F238E27FC236}">
                <a16:creationId xmlns:a16="http://schemas.microsoft.com/office/drawing/2014/main" id="{DF7CAC3A-914C-D94C-9254-C253E5803F2C}"/>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19452614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Large-Photo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0" y="5349450"/>
            <a:ext cx="12191999" cy="1508547"/>
          </a:xfrm>
          <a:prstGeom prst="rect">
            <a:avLst/>
          </a:prstGeom>
        </p:spPr>
        <p:txBody>
          <a:bodyPr vert="horz" lIns="457200" tIns="182880" rIns="457200" bIns="182880" rtlCol="0" anchor="t">
            <a:normAutofit/>
          </a:bodyPr>
          <a:lstStyle>
            <a:lvl1pPr algn="ctr">
              <a:defRPr lang="en-US" sz="2400" dirty="0">
                <a:solidFill>
                  <a:schemeClr val="bg1"/>
                </a:solidFill>
                <a:latin typeface="Arial Black" charset="0"/>
                <a:ea typeface="Arial Black" charset="0"/>
                <a:cs typeface="Arial Black" charset="0"/>
              </a:defRPr>
            </a:lvl1pPr>
          </a:lstStyle>
          <a:p>
            <a:pPr marL="0" lvl="0"/>
            <a:r>
              <a:rPr lang="en-US"/>
              <a:t>Title for Large-Photo (B) Layout</a:t>
            </a:r>
          </a:p>
        </p:txBody>
      </p:sp>
      <p:sp>
        <p:nvSpPr>
          <p:cNvPr id="3" name="Picture Placeholder 2">
            <a:extLst>
              <a:ext uri="{FF2B5EF4-FFF2-40B4-BE49-F238E27FC236}">
                <a16:creationId xmlns:a16="http://schemas.microsoft.com/office/drawing/2014/main" id="{6B57DE7E-D5A7-934A-BDAA-810E25C7A254}"/>
              </a:ext>
            </a:extLst>
          </p:cNvPr>
          <p:cNvSpPr>
            <a:spLocks noGrp="1"/>
          </p:cNvSpPr>
          <p:nvPr>
            <p:ph type="pic" sz="quarter" idx="10" hasCustomPrompt="1"/>
          </p:nvPr>
        </p:nvSpPr>
        <p:spPr>
          <a:xfrm>
            <a:off x="0" y="0"/>
            <a:ext cx="12192000" cy="5349875"/>
          </a:xfrm>
          <a:solidFill>
            <a:schemeClr val="tx2">
              <a:lumMod val="50000"/>
            </a:schemeClr>
          </a:solidFill>
        </p:spPr>
        <p:txBody>
          <a:bodyPr tIns="0" bIns="2057400" anchor="b"/>
          <a:lstStyle>
            <a:lvl1pPr algn="ctr">
              <a:defRPr i="1">
                <a:solidFill>
                  <a:schemeClr val="tx2"/>
                </a:solidFill>
              </a:defRPr>
            </a:lvl1pPr>
          </a:lstStyle>
          <a:p>
            <a:r>
              <a:rPr lang="en-US"/>
              <a:t>Click icon to insert a photo.</a:t>
            </a:r>
          </a:p>
        </p:txBody>
      </p:sp>
      <p:sp>
        <p:nvSpPr>
          <p:cNvPr id="5" name="Text Placeholder 4">
            <a:extLst>
              <a:ext uri="{FF2B5EF4-FFF2-40B4-BE49-F238E27FC236}">
                <a16:creationId xmlns:a16="http://schemas.microsoft.com/office/drawing/2014/main" id="{7096E3DB-FA3A-7842-8A68-4AE4AACEC5FF}"/>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13" name="TextBox 12">
            <a:extLst>
              <a:ext uri="{FF2B5EF4-FFF2-40B4-BE49-F238E27FC236}">
                <a16:creationId xmlns:a16="http://schemas.microsoft.com/office/drawing/2014/main" id="{5558205F-7910-2A4D-9D13-3F4027CE12D3}"/>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55125"/>
          <a:stretch/>
        </p:blipFill>
        <p:spPr>
          <a:xfrm>
            <a:off x="5623560" y="749808"/>
            <a:ext cx="1103811" cy="1143561"/>
          </a:xfrm>
          <a:prstGeom prst="rect">
            <a:avLst/>
          </a:prstGeom>
        </p:spPr>
      </p:pic>
    </p:spTree>
    <p:extLst>
      <p:ext uri="{BB962C8B-B14F-4D97-AF65-F5344CB8AC3E}">
        <p14:creationId xmlns:p14="http://schemas.microsoft.com/office/powerpoint/2010/main" val="409717044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ARTTAC TIT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013E802-0087-4A88-B9F3-B27074E51DA2}"/>
              </a:ext>
            </a:extLst>
          </p:cNvPr>
          <p:cNvSpPr>
            <a:spLocks noGrp="1"/>
          </p:cNvSpPr>
          <p:nvPr>
            <p:ph type="sldNum" sz="quarter" idx="12"/>
          </p:nvPr>
        </p:nvSpPr>
        <p:spPr>
          <a:xfrm>
            <a:off x="9132569"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00EF9D1-8FE4-4A6C-8373-E5034EFA4A90}" type="slidenum">
              <a:rPr lang="en-US" smtClean="0"/>
              <a:pPr/>
              <a:t>‹#›</a:t>
            </a:fld>
            <a:endParaRPr lang="en-US"/>
          </a:p>
        </p:txBody>
      </p:sp>
      <p:pic>
        <p:nvPicPr>
          <p:cNvPr id="17" name="Picture 16">
            <a:extLst>
              <a:ext uri="{FF2B5EF4-FFF2-40B4-BE49-F238E27FC236}">
                <a16:creationId xmlns:a16="http://schemas.microsoft.com/office/drawing/2014/main" id="{264E6205-D9A5-4D27-BFB4-F7BCEB65AA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808059" y="3079268"/>
            <a:ext cx="6567856" cy="349678"/>
          </a:xfrm>
          <a:prstGeom prst="rect">
            <a:avLst/>
          </a:prstGeom>
        </p:spPr>
      </p:pic>
      <p:sp>
        <p:nvSpPr>
          <p:cNvPr id="28" name="Rectangle 27">
            <a:extLst>
              <a:ext uri="{FF2B5EF4-FFF2-40B4-BE49-F238E27FC236}">
                <a16:creationId xmlns:a16="http://schemas.microsoft.com/office/drawing/2014/main" id="{13B1E383-8E3E-4961-9E67-7569E541E23B}"/>
              </a:ext>
            </a:extLst>
          </p:cNvPr>
          <p:cNvSpPr/>
          <p:nvPr/>
        </p:nvSpPr>
        <p:spPr>
          <a:xfrm>
            <a:off x="-7068" y="6538035"/>
            <a:ext cx="12273893" cy="365125"/>
          </a:xfrm>
          <a:prstGeom prst="rect">
            <a:avLst/>
          </a:prstGeom>
          <a:solidFill>
            <a:srgbClr val="F2A900"/>
          </a:solidFill>
          <a:ln>
            <a:solidFill>
              <a:srgbClr val="F2A900"/>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1800"/>
          </a:p>
        </p:txBody>
      </p:sp>
      <p:sp>
        <p:nvSpPr>
          <p:cNvPr id="18" name="Text Box 2">
            <a:extLst>
              <a:ext uri="{FF2B5EF4-FFF2-40B4-BE49-F238E27FC236}">
                <a16:creationId xmlns:a16="http://schemas.microsoft.com/office/drawing/2014/main" id="{9327A731-E579-490F-A267-6AACC1A09895}"/>
              </a:ext>
            </a:extLst>
          </p:cNvPr>
          <p:cNvSpPr txBox="1"/>
          <p:nvPr/>
        </p:nvSpPr>
        <p:spPr>
          <a:xfrm>
            <a:off x="106544" y="4244701"/>
            <a:ext cx="1987550" cy="4191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1600" b="1" cap="small" baseline="0">
                <a:solidFill>
                  <a:srgbClr val="FFFFFF"/>
                </a:solidFill>
                <a:effectLst/>
                <a:latin typeface="+mn-lt"/>
                <a:ea typeface="SimSun" panose="02010600030101010101" pitchFamily="2" charset="-122"/>
                <a:cs typeface="Times New Roman" panose="02020603050405020304" pitchFamily="18" charset="0"/>
              </a:rPr>
              <a:t>member countries</a:t>
            </a:r>
            <a:endParaRPr lang="en-US" sz="1600" b="1" cap="small" baseline="0">
              <a:effectLst/>
              <a:latin typeface="+mn-lt"/>
              <a:ea typeface="SimSun" panose="02010600030101010101" pitchFamily="2" charset="-122"/>
              <a:cs typeface="Times New Roman" panose="02020603050405020304" pitchFamily="18" charset="0"/>
            </a:endParaRPr>
          </a:p>
        </p:txBody>
      </p:sp>
      <p:cxnSp>
        <p:nvCxnSpPr>
          <p:cNvPr id="15" name="Straight Connector 14">
            <a:extLst>
              <a:ext uri="{FF2B5EF4-FFF2-40B4-BE49-F238E27FC236}">
                <a16:creationId xmlns:a16="http://schemas.microsoft.com/office/drawing/2014/main" id="{4DD74BBD-1874-42BC-AB24-65343EF71610}"/>
              </a:ext>
            </a:extLst>
          </p:cNvPr>
          <p:cNvCxnSpPr>
            <a:cxnSpLocks/>
          </p:cNvCxnSpPr>
          <p:nvPr/>
        </p:nvCxnSpPr>
        <p:spPr>
          <a:xfrm flipV="1">
            <a:off x="186553" y="4584288"/>
            <a:ext cx="4833204" cy="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Text Box 2">
            <a:extLst>
              <a:ext uri="{FF2B5EF4-FFF2-40B4-BE49-F238E27FC236}">
                <a16:creationId xmlns:a16="http://schemas.microsoft.com/office/drawing/2014/main" id="{B6760F4B-0E53-4873-811E-91CFF0C3FA44}"/>
              </a:ext>
            </a:extLst>
          </p:cNvPr>
          <p:cNvSpPr txBox="1"/>
          <p:nvPr/>
        </p:nvSpPr>
        <p:spPr>
          <a:xfrm>
            <a:off x="80042" y="5422821"/>
            <a:ext cx="2531412" cy="4191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1600" b="1" cap="small" baseline="0">
                <a:solidFill>
                  <a:srgbClr val="FFFFFF"/>
                </a:solidFill>
                <a:effectLst/>
                <a:latin typeface="+mn-lt"/>
                <a:ea typeface="SimSun" panose="02010600030101010101" pitchFamily="2" charset="-122"/>
                <a:cs typeface="Times New Roman" panose="02020603050405020304" pitchFamily="18" charset="0"/>
              </a:rPr>
              <a:t>development partners</a:t>
            </a:r>
            <a:endParaRPr lang="en-US" sz="1600" b="1" cap="small" baseline="0">
              <a:effectLst/>
              <a:latin typeface="+mn-lt"/>
              <a:ea typeface="SimSun" panose="02010600030101010101" pitchFamily="2" charset="-122"/>
              <a:cs typeface="Times New Roman" panose="02020603050405020304" pitchFamily="18" charset="0"/>
            </a:endParaRPr>
          </a:p>
        </p:txBody>
      </p:sp>
      <p:cxnSp>
        <p:nvCxnSpPr>
          <p:cNvPr id="37" name="Straight Connector 36">
            <a:extLst>
              <a:ext uri="{FF2B5EF4-FFF2-40B4-BE49-F238E27FC236}">
                <a16:creationId xmlns:a16="http://schemas.microsoft.com/office/drawing/2014/main" id="{3AE5E040-1BD7-4446-A6F1-1EBE8A0590EA}"/>
              </a:ext>
            </a:extLst>
          </p:cNvPr>
          <p:cNvCxnSpPr>
            <a:cxnSpLocks/>
          </p:cNvCxnSpPr>
          <p:nvPr/>
        </p:nvCxnSpPr>
        <p:spPr>
          <a:xfrm flipV="1">
            <a:off x="160051" y="5760417"/>
            <a:ext cx="4833204" cy="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9" name="Picture 78" descr="A picture containing text&#10;&#10;Description automatically generated">
            <a:extLst>
              <a:ext uri="{FF2B5EF4-FFF2-40B4-BE49-F238E27FC236}">
                <a16:creationId xmlns:a16="http://schemas.microsoft.com/office/drawing/2014/main" id="{6B05876D-8396-4524-AB44-3AC466521B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6992" y="5820054"/>
            <a:ext cx="1522744" cy="369598"/>
          </a:xfrm>
          <a:prstGeom prst="rect">
            <a:avLst/>
          </a:prstGeom>
        </p:spPr>
      </p:pic>
      <p:sp>
        <p:nvSpPr>
          <p:cNvPr id="103" name="Text Box 2">
            <a:extLst>
              <a:ext uri="{FF2B5EF4-FFF2-40B4-BE49-F238E27FC236}">
                <a16:creationId xmlns:a16="http://schemas.microsoft.com/office/drawing/2014/main" id="{055F566B-93E6-4A71-B2B1-18231CC3E9FB}"/>
              </a:ext>
            </a:extLst>
          </p:cNvPr>
          <p:cNvSpPr txBox="1"/>
          <p:nvPr/>
        </p:nvSpPr>
        <p:spPr>
          <a:xfrm>
            <a:off x="164128" y="5093348"/>
            <a:ext cx="750318"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8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Bangladesh</a:t>
            </a:r>
            <a:endParaRPr lang="en-US" sz="80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104" name="Text Box 2">
            <a:extLst>
              <a:ext uri="{FF2B5EF4-FFF2-40B4-BE49-F238E27FC236}">
                <a16:creationId xmlns:a16="http://schemas.microsoft.com/office/drawing/2014/main" id="{6A4F2024-16FB-41A6-91E1-ECDDF91FA78C}"/>
              </a:ext>
            </a:extLst>
          </p:cNvPr>
          <p:cNvSpPr txBox="1"/>
          <p:nvPr/>
        </p:nvSpPr>
        <p:spPr>
          <a:xfrm>
            <a:off x="1056253" y="5106079"/>
            <a:ext cx="530423"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8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Bhutan</a:t>
            </a:r>
            <a:endParaRPr lang="en-US" sz="80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106" name="Text Box 2">
            <a:extLst>
              <a:ext uri="{FF2B5EF4-FFF2-40B4-BE49-F238E27FC236}">
                <a16:creationId xmlns:a16="http://schemas.microsoft.com/office/drawing/2014/main" id="{8FB12644-5B3A-45F7-8851-A9F07291388E}"/>
              </a:ext>
            </a:extLst>
          </p:cNvPr>
          <p:cNvSpPr txBox="1"/>
          <p:nvPr/>
        </p:nvSpPr>
        <p:spPr>
          <a:xfrm>
            <a:off x="1931593" y="5089364"/>
            <a:ext cx="496439"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9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India</a:t>
            </a:r>
            <a:endParaRPr lang="en-US" sz="90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107" name="Text Box 2">
            <a:extLst>
              <a:ext uri="{FF2B5EF4-FFF2-40B4-BE49-F238E27FC236}">
                <a16:creationId xmlns:a16="http://schemas.microsoft.com/office/drawing/2014/main" id="{343B0394-3A95-499F-9024-683962B64689}"/>
              </a:ext>
            </a:extLst>
          </p:cNvPr>
          <p:cNvSpPr txBox="1"/>
          <p:nvPr/>
        </p:nvSpPr>
        <p:spPr>
          <a:xfrm>
            <a:off x="2673999" y="5108639"/>
            <a:ext cx="628679"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8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Maldives</a:t>
            </a:r>
            <a:endParaRPr lang="en-US" sz="80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108" name="Text Box 2">
            <a:extLst>
              <a:ext uri="{FF2B5EF4-FFF2-40B4-BE49-F238E27FC236}">
                <a16:creationId xmlns:a16="http://schemas.microsoft.com/office/drawing/2014/main" id="{23D860F5-B5E6-4F02-B526-922F1D3D46FA}"/>
              </a:ext>
            </a:extLst>
          </p:cNvPr>
          <p:cNvSpPr txBox="1"/>
          <p:nvPr/>
        </p:nvSpPr>
        <p:spPr>
          <a:xfrm>
            <a:off x="3411254" y="5108639"/>
            <a:ext cx="491920"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8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Nepal</a:t>
            </a:r>
            <a:endParaRPr lang="en-US" sz="800">
              <a:effectLst/>
              <a:latin typeface="Arial" panose="020B0604020202020204" pitchFamily="34" charset="0"/>
              <a:ea typeface="SimSun" panose="02010600030101010101" pitchFamily="2" charset="-122"/>
              <a:cs typeface="Times New Roman" panose="02020603050405020304" pitchFamily="18" charset="0"/>
            </a:endParaRPr>
          </a:p>
        </p:txBody>
      </p:sp>
      <p:sp>
        <p:nvSpPr>
          <p:cNvPr id="109" name="Text Box 2">
            <a:extLst>
              <a:ext uri="{FF2B5EF4-FFF2-40B4-BE49-F238E27FC236}">
                <a16:creationId xmlns:a16="http://schemas.microsoft.com/office/drawing/2014/main" id="{BA7AD0F8-FCBA-4156-AFB1-F623DB42E273}"/>
              </a:ext>
            </a:extLst>
          </p:cNvPr>
          <p:cNvSpPr txBox="1"/>
          <p:nvPr/>
        </p:nvSpPr>
        <p:spPr>
          <a:xfrm>
            <a:off x="4117024" y="5121700"/>
            <a:ext cx="628679" cy="2479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25000"/>
              </a:lnSpc>
              <a:spcBef>
                <a:spcPts val="800"/>
              </a:spcBef>
              <a:spcAft>
                <a:spcPts val="0"/>
              </a:spcAft>
            </a:pPr>
            <a:r>
              <a:rPr lang="en-US" sz="800">
                <a:solidFill>
                  <a:srgbClr val="FFFFFF"/>
                </a:solidFill>
                <a:effectLst/>
                <a:latin typeface="Arial" panose="020B0604020202020204" pitchFamily="34" charset="0"/>
                <a:ea typeface="SimSun" panose="02010600030101010101" pitchFamily="2" charset="-122"/>
                <a:cs typeface="Times New Roman" panose="02020603050405020304" pitchFamily="18" charset="0"/>
              </a:rPr>
              <a:t>Sri Lanka</a:t>
            </a:r>
            <a:endParaRPr lang="en-US" sz="800">
              <a:effectLst/>
              <a:latin typeface="Arial" panose="020B060402020202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08181419"/>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1_Divider (Cyan)">
    <p:bg>
      <p:bgPr>
        <a:solidFill>
          <a:srgbClr val="90152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a:t>
            </a:r>
          </a:p>
        </p:txBody>
      </p:sp>
      <p:sp>
        <p:nvSpPr>
          <p:cNvPr id="3" name="TextBox 2">
            <a:extLst>
              <a:ext uri="{FF2B5EF4-FFF2-40B4-BE49-F238E27FC236}">
                <a16:creationId xmlns:a16="http://schemas.microsoft.com/office/drawing/2014/main" id="{387B958B-EF8E-214B-9B02-2EE3EF507FDD}"/>
              </a:ext>
            </a:extLst>
          </p:cNvPr>
          <p:cNvSpPr txBox="1"/>
          <p:nvPr/>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a:t>
            </a:r>
            <a:endParaRPr lang="en-US" sz="900" b="0">
              <a:solidFill>
                <a:schemeClr val="bg1"/>
              </a:solidFill>
              <a:latin typeface="+mn-lt"/>
              <a:cs typeface="Arial Black" charset="0"/>
            </a:endParaRPr>
          </a:p>
        </p:txBody>
      </p:sp>
      <p:sp>
        <p:nvSpPr>
          <p:cNvPr id="4" name="TextBox 3">
            <a:extLst>
              <a:ext uri="{FF2B5EF4-FFF2-40B4-BE49-F238E27FC236}">
                <a16:creationId xmlns:a16="http://schemas.microsoft.com/office/drawing/2014/main" id="{D498BA64-B15C-8146-85CE-EE4EA1ADA406}"/>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663509806"/>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Divider Agenda">
    <p:bg>
      <p:bgPr>
        <a:solidFill>
          <a:srgbClr val="90152D"/>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6DC936A-9C43-D84B-9C24-0185515D689C}"/>
              </a:ext>
            </a:extLst>
          </p:cNvPr>
          <p:cNvSpPr/>
          <p:nvPr/>
        </p:nvSpPr>
        <p:spPr>
          <a:xfrm>
            <a:off x="-1" y="6638778"/>
            <a:ext cx="12192001" cy="219221"/>
          </a:xfrm>
          <a:prstGeom prst="rect">
            <a:avLst/>
          </a:prstGeom>
          <a:solidFill>
            <a:srgbClr val="9015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 name="TextBox 2">
            <a:extLst>
              <a:ext uri="{FF2B5EF4-FFF2-40B4-BE49-F238E27FC236}">
                <a16:creationId xmlns:a16="http://schemas.microsoft.com/office/drawing/2014/main" id="{387B958B-EF8E-214B-9B02-2EE3EF507FDD}"/>
              </a:ext>
            </a:extLst>
          </p:cNvPr>
          <p:cNvSpPr txBox="1"/>
          <p:nvPr/>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 </a:t>
            </a:r>
            <a:r>
              <a:rPr lang="en-US" sz="900" b="0">
                <a:solidFill>
                  <a:schemeClr val="bg1"/>
                </a:solidFill>
                <a:latin typeface="+mn-lt"/>
                <a:cs typeface="Arial Black" charset="0"/>
              </a:rPr>
              <a:t>| South Asia Regional Training and Technical Assistance Center— SARTTAC</a:t>
            </a:r>
          </a:p>
        </p:txBody>
      </p:sp>
      <p:sp>
        <p:nvSpPr>
          <p:cNvPr id="4" name="TextBox 3">
            <a:extLst>
              <a:ext uri="{FF2B5EF4-FFF2-40B4-BE49-F238E27FC236}">
                <a16:creationId xmlns:a16="http://schemas.microsoft.com/office/drawing/2014/main" id="{D498BA64-B15C-8146-85CE-EE4EA1ADA406}"/>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10" name="Content Placeholder 9">
            <a:extLst>
              <a:ext uri="{FF2B5EF4-FFF2-40B4-BE49-F238E27FC236}">
                <a16:creationId xmlns:a16="http://schemas.microsoft.com/office/drawing/2014/main" id="{07CE3741-921D-834E-8354-54991BEB2BDD}"/>
              </a:ext>
            </a:extLst>
          </p:cNvPr>
          <p:cNvSpPr>
            <a:spLocks noGrp="1"/>
          </p:cNvSpPr>
          <p:nvPr>
            <p:ph sz="quarter" idx="11" hasCustomPrompt="1"/>
          </p:nvPr>
        </p:nvSpPr>
        <p:spPr>
          <a:xfrm>
            <a:off x="1235964" y="683639"/>
            <a:ext cx="9372600" cy="5486400"/>
          </a:xfrm>
        </p:spPr>
        <p:txBody>
          <a:bodyPr tIns="0" bIns="365760" anchor="ctr" anchorCtr="0"/>
          <a:lstStyle>
            <a:lvl1pPr>
              <a:spcBef>
                <a:spcPts val="0"/>
              </a:spcBef>
              <a:spcAft>
                <a:spcPts val="2400"/>
              </a:spcAft>
              <a:buClrTx/>
              <a:defRPr sz="3400" b="0" i="0">
                <a:solidFill>
                  <a:schemeClr val="bg1"/>
                </a:solidFill>
                <a:latin typeface="Arial Black" panose="020B0604020202020204" pitchFamily="34" charset="0"/>
                <a:cs typeface="Arial Black" panose="020B0604020202020204" pitchFamily="34" charset="0"/>
              </a:defRPr>
            </a:lvl1pPr>
            <a:lvl2pPr marL="342900" indent="-342900">
              <a:spcBef>
                <a:spcPts val="900"/>
              </a:spcBef>
              <a:spcAft>
                <a:spcPts val="0"/>
              </a:spcAft>
              <a:buClrTx/>
              <a:tabLst/>
              <a:defRPr sz="3200" b="0">
                <a:solidFill>
                  <a:schemeClr val="bg1"/>
                </a:solidFill>
              </a:defRPr>
            </a:lvl2pPr>
            <a:lvl3pPr marL="342900" indent="-342900">
              <a:spcBef>
                <a:spcPts val="900"/>
              </a:spcBef>
              <a:spcAft>
                <a:spcPts val="0"/>
              </a:spcAft>
              <a:buClrTx/>
              <a:buSzPct val="100000"/>
              <a:buFont typeface="Wingdings" pitchFamily="2" charset="2"/>
              <a:buChar char="§"/>
              <a:tabLst/>
              <a:defRPr sz="3200" b="1">
                <a:solidFill>
                  <a:schemeClr val="accent2">
                    <a:lumMod val="60000"/>
                    <a:lumOff val="40000"/>
                  </a:schemeClr>
                </a:solidFill>
              </a:defRPr>
            </a:lvl3pPr>
            <a:lvl4pPr marL="514350" indent="-171450">
              <a:spcBef>
                <a:spcPts val="0"/>
              </a:spcBef>
              <a:spcAft>
                <a:spcPts val="300"/>
              </a:spcAft>
              <a:buClrTx/>
              <a:buFont typeface="Arial" panose="020B0604020202020204" pitchFamily="34" charset="0"/>
              <a:buChar char="•"/>
              <a:tabLst/>
              <a:defRPr sz="2100" b="0">
                <a:solidFill>
                  <a:schemeClr val="bg1"/>
                </a:solidFill>
              </a:defRPr>
            </a:lvl4pPr>
            <a:lvl5pPr marL="514350" indent="-171450">
              <a:spcBef>
                <a:spcPts val="0"/>
              </a:spcBef>
              <a:spcAft>
                <a:spcPts val="300"/>
              </a:spcAft>
              <a:buClrTx/>
              <a:buFont typeface="Arial" panose="020B0604020202020204" pitchFamily="34" charset="0"/>
              <a:buChar char="•"/>
              <a:tabLst/>
              <a:defRPr sz="2100" b="1">
                <a:solidFill>
                  <a:schemeClr val="accent2">
                    <a:lumMod val="60000"/>
                    <a:lumOff val="40000"/>
                  </a:schemeClr>
                </a:solidFill>
              </a:defRPr>
            </a:lvl5pPr>
          </a:lstStyle>
          <a:p>
            <a:pPr lvl="0"/>
            <a:r>
              <a:rPr lang="en-US"/>
              <a:t>Title for Divider–Agenda</a:t>
            </a:r>
          </a:p>
          <a:p>
            <a:pPr lvl="1"/>
            <a:r>
              <a:rPr lang="en-US"/>
              <a:t>Agenda Item—Inactive</a:t>
            </a:r>
          </a:p>
          <a:p>
            <a:pPr lvl="2"/>
            <a:r>
              <a:rPr lang="en-US"/>
              <a:t>Agenda Item—Active</a:t>
            </a:r>
          </a:p>
          <a:p>
            <a:pPr lvl="3"/>
            <a:r>
              <a:rPr lang="en-US"/>
              <a:t>Second level</a:t>
            </a:r>
          </a:p>
          <a:p>
            <a:pPr lvl="4"/>
            <a:r>
              <a:rPr lang="en-US"/>
              <a:t>Third level</a:t>
            </a:r>
          </a:p>
        </p:txBody>
      </p:sp>
      <p:sp>
        <p:nvSpPr>
          <p:cNvPr id="6" name="Rectangle 5">
            <a:extLst>
              <a:ext uri="{FF2B5EF4-FFF2-40B4-BE49-F238E27FC236}">
                <a16:creationId xmlns:a16="http://schemas.microsoft.com/office/drawing/2014/main" id="{C8FA9CB8-B07F-44FD-836E-BCE0675149B4}"/>
              </a:ext>
            </a:extLst>
          </p:cNvPr>
          <p:cNvSpPr/>
          <p:nvPr userDrawn="1"/>
        </p:nvSpPr>
        <p:spPr>
          <a:xfrm>
            <a:off x="-1" y="6638778"/>
            <a:ext cx="12192001" cy="2192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7" name="TextBox 6">
            <a:extLst>
              <a:ext uri="{FF2B5EF4-FFF2-40B4-BE49-F238E27FC236}">
                <a16:creationId xmlns:a16="http://schemas.microsoft.com/office/drawing/2014/main" id="{9B984127-8999-4E06-9847-DAECC8470BF5}"/>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1353398900"/>
      </p:ext>
    </p:extLst>
  </p:cSld>
  <p:clrMapOvr>
    <a:masterClrMapping/>
  </p:clrMapOvr>
  <p:transition>
    <p:fade/>
  </p:transition>
  <p:extLst>
    <p:ext uri="{DCECCB84-F9BA-43D5-87BE-67443E8EF086}">
      <p15:sldGuideLst xmlns:p15="http://schemas.microsoft.com/office/powerpoint/2012/main">
        <p15:guide id="4" orient="horz" pos="2160" userDrawn="1">
          <p15:clr>
            <a:srgbClr val="FBAE40"/>
          </p15:clr>
        </p15:guide>
        <p15:guide id="5" pos="3840" userDrawn="1">
          <p15:clr>
            <a:srgbClr val="FBAE40"/>
          </p15:clr>
        </p15:guide>
        <p15:guide id="6" orient="horz" pos="399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4018520089"/>
      </p:ext>
    </p:extLst>
  </p:cSld>
  <p:clrMapOvr>
    <a:masterClrMapping/>
  </p:clrMapOvr>
  <p:transition>
    <p:fade/>
  </p:transition>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guide id="7" pos="781" userDrawn="1">
          <p15:clr>
            <a:srgbClr val="FBAE40"/>
          </p15:clr>
        </p15:guide>
        <p15:guide id="8" pos="6901"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Two-Column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 Placeholder 2">
            <a:extLst>
              <a:ext uri="{FF2B5EF4-FFF2-40B4-BE49-F238E27FC236}">
                <a16:creationId xmlns:a16="http://schemas.microsoft.com/office/drawing/2014/main" id="{0BF7038D-D496-7248-87EC-9540380F1D12}"/>
              </a:ext>
            </a:extLst>
          </p:cNvPr>
          <p:cNvSpPr>
            <a:spLocks noGrp="1"/>
          </p:cNvSpPr>
          <p:nvPr>
            <p:ph type="body" sz="quarter" idx="13" hasCustomPrompt="1"/>
          </p:nvPr>
        </p:nvSpPr>
        <p:spPr>
          <a:xfrm>
            <a:off x="63833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322076766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Photo+Text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Photo+Text</a:t>
            </a:r>
            <a:r>
              <a:rPr lang="en-US"/>
              <a:t> (W)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marL="917575" marR="0"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marL="917575" marR="0" lvl="4"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a:pPr>
            <a:r>
              <a:rPr lang="en-US"/>
              <a:t>Quadruple-click the “Indent More” button (above) for fourth-level bullets</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1239838" y="1669499"/>
            <a:ext cx="4856162" cy="44805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239839" y="5889219"/>
            <a:ext cx="4856162"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79977786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xt+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340806" y="491385"/>
            <a:ext cx="3670259" cy="978486"/>
          </a:xfrm>
          <a:prstGeom prst="rect">
            <a:avLst/>
          </a:prstGeom>
        </p:spPr>
        <p:txBody>
          <a:bodyPr vert="horz" lIns="0" tIns="0" rIns="0" bIns="0" rtlCol="0" anchor="ctr">
            <a:normAutofit/>
          </a:bodyPr>
          <a:lstStyle>
            <a:lvl1pPr algn="l">
              <a:defRPr lang="en-US" sz="2400" dirty="0">
                <a:solidFill>
                  <a:schemeClr val="tx2"/>
                </a:solidFill>
                <a:latin typeface="Arial Black" charset="0"/>
                <a:ea typeface="Arial Black" charset="0"/>
                <a:cs typeface="Arial Black" charset="0"/>
              </a:defRPr>
            </a:lvl1pPr>
          </a:lstStyle>
          <a:p>
            <a:pPr marL="0" lvl="0"/>
            <a:r>
              <a:rPr lang="en-US"/>
              <a:t>Title for </a:t>
            </a:r>
            <a:r>
              <a:rPr lang="en-US" err="1"/>
              <a:t>Text+Photo</a:t>
            </a:r>
            <a:r>
              <a:rPr lang="en-US"/>
              <a:t>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340806" y="1469871"/>
            <a:ext cx="3670259"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Picture Placeholder 2">
            <a:extLst>
              <a:ext uri="{FF2B5EF4-FFF2-40B4-BE49-F238E27FC236}">
                <a16:creationId xmlns:a16="http://schemas.microsoft.com/office/drawing/2014/main" id="{47569D7D-6010-454B-A86B-B6C69D7E2E6B}"/>
              </a:ext>
            </a:extLst>
          </p:cNvPr>
          <p:cNvSpPr>
            <a:spLocks noGrp="1"/>
          </p:cNvSpPr>
          <p:nvPr>
            <p:ph type="pic" sz="quarter" idx="11" hasCustomPrompt="1"/>
          </p:nvPr>
        </p:nvSpPr>
        <p:spPr>
          <a:xfrm>
            <a:off x="4191000" y="-1"/>
            <a:ext cx="8001000" cy="662940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FD26CCD3-E500-1F49-8DD8-1545E2CBF0B3}"/>
              </a:ext>
            </a:extLst>
          </p:cNvPr>
          <p:cNvSpPr>
            <a:spLocks noGrp="1"/>
          </p:cNvSpPr>
          <p:nvPr>
            <p:ph type="body" sz="quarter" idx="12" hasCustomPrompt="1"/>
          </p:nvPr>
        </p:nvSpPr>
        <p:spPr>
          <a:xfrm rot="5400000">
            <a:off x="8746884" y="3184281"/>
            <a:ext cx="6629396"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427586796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hoto+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Photo+Photo</a:t>
            </a:r>
            <a:r>
              <a:rPr lang="en-US"/>
              <a:t> (W) Layout</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0"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8" name="Picture Placeholder 4">
            <a:extLst>
              <a:ext uri="{FF2B5EF4-FFF2-40B4-BE49-F238E27FC236}">
                <a16:creationId xmlns:a16="http://schemas.microsoft.com/office/drawing/2014/main" id="{57E259A3-746A-2044-822B-3F7D859E7F10}"/>
              </a:ext>
            </a:extLst>
          </p:cNvPr>
          <p:cNvSpPr>
            <a:spLocks noGrp="1"/>
          </p:cNvSpPr>
          <p:nvPr>
            <p:ph type="pic" sz="quarter" idx="14" hasCustomPrompt="1"/>
          </p:nvPr>
        </p:nvSpPr>
        <p:spPr>
          <a:xfrm>
            <a:off x="6093439"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9" name="Text Placeholder 4">
            <a:extLst>
              <a:ext uri="{FF2B5EF4-FFF2-40B4-BE49-F238E27FC236}">
                <a16:creationId xmlns:a16="http://schemas.microsoft.com/office/drawing/2014/main" id="{E3F54B41-918E-644B-B610-DDE8277FB261}"/>
              </a:ext>
            </a:extLst>
          </p:cNvPr>
          <p:cNvSpPr>
            <a:spLocks noGrp="1"/>
          </p:cNvSpPr>
          <p:nvPr>
            <p:ph type="body" sz="quarter" idx="15" hasCustomPrompt="1"/>
          </p:nvPr>
        </p:nvSpPr>
        <p:spPr>
          <a:xfrm>
            <a:off x="6093440"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74843804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rge Photo+Title (W)">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1" y="5349453"/>
            <a:ext cx="12192000" cy="1508547"/>
          </a:xfrm>
          <a:prstGeom prst="rect">
            <a:avLst/>
          </a:prstGeom>
        </p:spPr>
        <p:txBody>
          <a:bodyPr vert="horz" lIns="457200" tIns="182880" rIns="457200" bIns="182880" rtlCol="0" anchor="t" anchorCtr="0">
            <a:noAutofit/>
          </a:bodyPr>
          <a:lstStyle>
            <a:lvl1pPr algn="ctr">
              <a:defRPr lang="en-US" sz="2400" dirty="0">
                <a:solidFill>
                  <a:schemeClr val="tx2"/>
                </a:solidFill>
                <a:latin typeface="Arial Black" charset="0"/>
                <a:ea typeface="Arial Black" charset="0"/>
                <a:cs typeface="Arial Black" charset="0"/>
              </a:defRPr>
            </a:lvl1pPr>
          </a:lstStyle>
          <a:p>
            <a:pPr marL="0" lvl="0"/>
            <a:r>
              <a:rPr lang="en-US"/>
              <a:t>Title for Large Photo (W) Layout</a:t>
            </a:r>
          </a:p>
        </p:txBody>
      </p:sp>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0"/>
            <a:ext cx="12192000" cy="5349875"/>
          </a:xfrm>
          <a:solidFill>
            <a:schemeClr val="bg1">
              <a:lumMod val="90000"/>
            </a:schemeClr>
          </a:solidFill>
        </p:spPr>
        <p:txBody>
          <a:bodyPr tIns="0" bIns="20574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07459998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Extra-Large Photo+Title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172200"/>
          </a:xfrm>
          <a:solidFill>
            <a:schemeClr val="bg1">
              <a:lumMod val="90000"/>
            </a:schemeClr>
          </a:solidFill>
        </p:spPr>
        <p:txBody>
          <a:bodyPr tIns="0" bIns="256032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975483" y="2955682"/>
            <a:ext cx="617219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0" y="6172200"/>
            <a:ext cx="12202245" cy="685800"/>
          </a:xfrm>
          <a:prstGeom prst="rect">
            <a:avLst/>
          </a:prstGeom>
        </p:spPr>
        <p:txBody>
          <a:bodyPr vert="horz" lIns="457200" tIns="91440" rIns="457200" bIns="182880" rtlCol="0" anchor="t" anchorCtr="0">
            <a:normAutofit/>
          </a:bodyPr>
          <a:lstStyle>
            <a:lvl1pPr algn="ctr">
              <a:defRPr lang="en-US" sz="2200" dirty="0">
                <a:solidFill>
                  <a:schemeClr val="tx2"/>
                </a:solidFill>
                <a:latin typeface="Arial Black" charset="0"/>
                <a:ea typeface="Arial Black" charset="0"/>
                <a:cs typeface="Arial Black" charset="0"/>
              </a:defRPr>
            </a:lvl1pPr>
          </a:lstStyle>
          <a:p>
            <a:pPr marL="0" lvl="0"/>
            <a:r>
              <a:rPr lang="en-US"/>
              <a:t>Title for Extra-Large </a:t>
            </a:r>
            <a:r>
              <a:rPr lang="en-US" err="1"/>
              <a:t>Photo+Title</a:t>
            </a:r>
            <a:r>
              <a:rPr lang="en-US"/>
              <a:t> (W) Layout</a:t>
            </a:r>
          </a:p>
        </p:txBody>
      </p:sp>
    </p:spTree>
    <p:extLst>
      <p:ext uri="{BB962C8B-B14F-4D97-AF65-F5344CB8AC3E}">
        <p14:creationId xmlns:p14="http://schemas.microsoft.com/office/powerpoint/2010/main" val="212132069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Extra-Large Photo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58368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769743" y="3161422"/>
            <a:ext cx="658367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173662313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r="70119"/>
          <a:stretch/>
        </p:blipFill>
        <p:spPr>
          <a:xfrm>
            <a:off x="5623560" y="749808"/>
            <a:ext cx="1095647" cy="1143159"/>
          </a:xfrm>
          <a:prstGeom prst="rect">
            <a:avLst/>
          </a:prstGeom>
        </p:spPr>
      </p:pic>
      <p:sp>
        <p:nvSpPr>
          <p:cNvPr id="7" name="Title 6">
            <a:extLst>
              <a:ext uri="{FF2B5EF4-FFF2-40B4-BE49-F238E27FC236}">
                <a16:creationId xmlns:a16="http://schemas.microsoft.com/office/drawing/2014/main" id="{246B1B04-9B4F-40A9-ADCB-3504786ABDD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6789072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0C45A-1DFA-4A98-9CFC-E737FF48E4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2C9212-6CF3-428D-833E-9884E5B94F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4F7FD1-F24E-4011-8D2B-0EF8A8DBD8B8}"/>
              </a:ext>
            </a:extLst>
          </p:cNvPr>
          <p:cNvSpPr>
            <a:spLocks noGrp="1"/>
          </p:cNvSpPr>
          <p:nvPr>
            <p:ph type="dt" sz="half" idx="10"/>
          </p:nvPr>
        </p:nvSpPr>
        <p:spPr/>
        <p:txBody>
          <a:bodyPr/>
          <a:lstStyle/>
          <a:p>
            <a:fld id="{9DBE3075-8294-44BB-A707-64D12E6B055B}" type="datetimeFigureOut">
              <a:rPr lang="en-US" smtClean="0"/>
              <a:t>5/21/2026</a:t>
            </a:fld>
            <a:endParaRPr lang="en-US"/>
          </a:p>
        </p:txBody>
      </p:sp>
      <p:sp>
        <p:nvSpPr>
          <p:cNvPr id="5" name="Footer Placeholder 4">
            <a:extLst>
              <a:ext uri="{FF2B5EF4-FFF2-40B4-BE49-F238E27FC236}">
                <a16:creationId xmlns:a16="http://schemas.microsoft.com/office/drawing/2014/main" id="{4AC4AA69-D0CE-4E95-AE2B-060B9B8D0B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57728-51FC-473C-8CA3-352C1FE1AA34}"/>
              </a:ext>
            </a:extLst>
          </p:cNvPr>
          <p:cNvSpPr>
            <a:spLocks noGrp="1"/>
          </p:cNvSpPr>
          <p:nvPr>
            <p:ph type="sldNum" sz="quarter" idx="12"/>
          </p:nvPr>
        </p:nvSpPr>
        <p:spPr/>
        <p:txBody>
          <a:bodyPr/>
          <a:lstStyle/>
          <a:p>
            <a:fld id="{14BDDADC-2B7E-4835-8C4D-8E8B74895ECB}" type="slidenum">
              <a:rPr lang="en-US" smtClean="0"/>
              <a:t>‹#›</a:t>
            </a:fld>
            <a:endParaRPr lang="en-US"/>
          </a:p>
        </p:txBody>
      </p:sp>
    </p:spTree>
    <p:extLst>
      <p:ext uri="{BB962C8B-B14F-4D97-AF65-F5344CB8AC3E}">
        <p14:creationId xmlns:p14="http://schemas.microsoft.com/office/powerpoint/2010/main" val="1578680897"/>
      </p:ext>
    </p:extLst>
  </p:cSld>
  <p:clrMapOvr>
    <a:masterClrMapping/>
  </p:clrMapOvr>
  <p:hf sldNum="0" hdr="0" ftr="0"/>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55125"/>
          <a:stretch/>
        </p:blipFill>
        <p:spPr>
          <a:xfrm>
            <a:off x="5623560" y="749808"/>
            <a:ext cx="1103811" cy="1143561"/>
          </a:xfrm>
          <a:prstGeom prst="rect">
            <a:avLst/>
          </a:prstGeom>
        </p:spPr>
      </p:pic>
    </p:spTree>
    <p:extLst>
      <p:ext uri="{BB962C8B-B14F-4D97-AF65-F5344CB8AC3E}">
        <p14:creationId xmlns:p14="http://schemas.microsoft.com/office/powerpoint/2010/main" val="20756627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2_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8250"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3387580494"/>
      </p:ext>
    </p:extLst>
  </p:cSld>
  <p:clrMapOvr>
    <a:masterClrMapping/>
  </p:clrMapOvr>
  <p:transition>
    <p:fade/>
  </p:transition>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Single-Column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Single-Column (B)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marL="0" marR="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solidFill>
                  <a:schemeClr val="bg1"/>
                </a:solidFill>
              </a:defRPr>
            </a:lvl1pPr>
            <a:lvl2pPr>
              <a:buClr>
                <a:schemeClr val="tx2">
                  <a:lumMod val="40000"/>
                  <a:lumOff val="60000"/>
                </a:schemeClr>
              </a:buClr>
              <a:defRPr>
                <a:solidFill>
                  <a:schemeClr val="bg1"/>
                </a:solidFill>
              </a:defRPr>
            </a:lvl2pPr>
            <a:lvl3pPr>
              <a:buClr>
                <a:schemeClr val="bg1">
                  <a:lumMod val="75000"/>
                </a:schemeClr>
              </a:buClr>
              <a:defRPr>
                <a:solidFill>
                  <a:schemeClr val="bg1"/>
                </a:solidFill>
              </a:defRPr>
            </a:lvl3pPr>
            <a:lvl4pPr>
              <a:buClr>
                <a:schemeClr val="tx2">
                  <a:lumMod val="40000"/>
                  <a:lumOff val="60000"/>
                </a:schemeClr>
              </a:buClr>
              <a:defRPr>
                <a:solidFill>
                  <a:schemeClr val="bg1"/>
                </a:solidFill>
              </a:defRPr>
            </a:lvl4pPr>
            <a:lvl5pPr>
              <a:buClr>
                <a:schemeClr val="bg1">
                  <a:lumMod val="75000"/>
                </a:schemeClr>
              </a:buClr>
              <a:defRPr>
                <a:solidFill>
                  <a:schemeClr val="bg1"/>
                </a:solidFill>
              </a:defRPr>
            </a:lvl5pPr>
          </a:lstStyle>
          <a:p>
            <a:pPr marL="0" marR="0" lvl="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pPr>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5" name="TextBox 4">
            <a:extLst>
              <a:ext uri="{FF2B5EF4-FFF2-40B4-BE49-F238E27FC236}">
                <a16:creationId xmlns:a16="http://schemas.microsoft.com/office/drawing/2014/main" id="{E06FD9C8-9F14-B64C-88D7-AFEADAB39B39}"/>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215311577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83436" y="71412"/>
            <a:ext cx="9025128" cy="854884"/>
          </a:xfrm>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838200" y="1803156"/>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907428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56313" y="136523"/>
            <a:ext cx="10666675" cy="706094"/>
          </a:xfrm>
        </p:spPr>
        <p:txBody>
          <a:bodyPr anchor="b">
            <a:normAutofit/>
          </a:bodyPr>
          <a:lstStyle>
            <a:lvl1pPr>
              <a:defRPr sz="36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1" y="4589465"/>
            <a:ext cx="10515600" cy="1500187"/>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B8249D-73BB-4688-B427-EB89B5DAF030}"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127768961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5B8249D-73BB-4688-B427-EB89B5DAF030}"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365893964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lvl1pPr>
              <a:defRPr>
                <a:solidFill>
                  <a:srgbClr val="004C97"/>
                </a:solidFill>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5B8249D-73BB-4688-B427-EB89B5DAF030}" type="datetimeFigureOut">
              <a:rPr lang="en-US" smtClean="0"/>
              <a:t>5/21/2026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23376961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p:cNvSpPr>
            <a:spLocks noGrp="1"/>
          </p:cNvSpPr>
          <p:nvPr>
            <p:ph type="dt" sz="half" idx="10"/>
          </p:nvPr>
        </p:nvSpPr>
        <p:spPr/>
        <p:txBody>
          <a:bodyPr/>
          <a:lstStyle/>
          <a:p>
            <a:fld id="{B5B8249D-73BB-4688-B427-EB89B5DAF030}" type="datetimeFigureOut">
              <a:rPr lang="en-US" smtClean="0"/>
              <a:t>5/21/2026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8523059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B8249D-73BB-4688-B427-EB89B5DAF030}" type="datetimeFigureOut">
              <a:rPr lang="en-US" smtClean="0"/>
              <a:t>5/21/2026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329887232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004C97"/>
                </a:solidFill>
              </a:defRPr>
            </a:lvl1pPr>
          </a:lstStyle>
          <a:p>
            <a:r>
              <a:rPr lang="en-US"/>
              <a:t>Click to edit Master title style</a:t>
            </a:r>
          </a:p>
        </p:txBody>
      </p:sp>
      <p:sp>
        <p:nvSpPr>
          <p:cNvPr id="3" name="Content Placeholder 2"/>
          <p:cNvSpPr>
            <a:spLocks noGrp="1"/>
          </p:cNvSpPr>
          <p:nvPr>
            <p:ph idx="1"/>
          </p:nvPr>
        </p:nvSpPr>
        <p:spPr>
          <a:xfrm>
            <a:off x="5183188" y="987427"/>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B8249D-73BB-4688-B427-EB89B5DAF030}"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368256425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004C97"/>
                </a:solidFill>
              </a:defRPr>
            </a:lvl1pPr>
          </a:lstStyle>
          <a:p>
            <a:r>
              <a:rPr lang="en-US"/>
              <a:t>Click to edit Master title style</a:t>
            </a:r>
          </a:p>
        </p:txBody>
      </p:sp>
      <p:sp>
        <p:nvSpPr>
          <p:cNvPr id="3" name="Picture Placeholder 2"/>
          <p:cNvSpPr>
            <a:spLocks noGrp="1" noChangeAspect="1"/>
          </p:cNvSpPr>
          <p:nvPr>
            <p:ph type="pic" idx="1"/>
          </p:nvPr>
        </p:nvSpPr>
        <p:spPr>
          <a:xfrm>
            <a:off x="5183188" y="987427"/>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B8249D-73BB-4688-B427-EB89B5DAF030}"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30918082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838200" y="1855442"/>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B8249D-73BB-4688-B427-EB89B5DAF030}"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6593952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B8249D-73BB-4688-B427-EB89B5DAF030}"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15037468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r="70119"/>
          <a:stretch/>
        </p:blipFill>
        <p:spPr>
          <a:xfrm>
            <a:off x="5623560" y="749808"/>
            <a:ext cx="1095647" cy="1143159"/>
          </a:xfrm>
          <a:prstGeom prst="rect">
            <a:avLst/>
          </a:prstGeom>
        </p:spPr>
      </p:pic>
      <p:sp>
        <p:nvSpPr>
          <p:cNvPr id="7" name="Title 6">
            <a:extLst>
              <a:ext uri="{FF2B5EF4-FFF2-40B4-BE49-F238E27FC236}">
                <a16:creationId xmlns:a16="http://schemas.microsoft.com/office/drawing/2014/main" id="{246B1B04-9B4F-40A9-ADCB-3504786ABDD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3671628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cSld name="Divider Agenda">
    <p:bg>
      <p:bgPr>
        <a:solidFill>
          <a:srgbClr val="90152D"/>
        </a:solidFill>
        <a:effectLst/>
      </p:bgPr>
    </p:bg>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07CE3741-921D-834E-8354-54991BEB2BDD}"/>
              </a:ext>
            </a:extLst>
          </p:cNvPr>
          <p:cNvSpPr>
            <a:spLocks noGrp="1"/>
          </p:cNvSpPr>
          <p:nvPr>
            <p:ph sz="quarter" idx="11" hasCustomPrompt="1"/>
          </p:nvPr>
        </p:nvSpPr>
        <p:spPr>
          <a:xfrm>
            <a:off x="1235964" y="683639"/>
            <a:ext cx="9372600" cy="5486400"/>
          </a:xfrm>
        </p:spPr>
        <p:txBody>
          <a:bodyPr tIns="0" bIns="365760" anchor="ctr" anchorCtr="0"/>
          <a:lstStyle>
            <a:lvl1pPr>
              <a:spcBef>
                <a:spcPts val="0"/>
              </a:spcBef>
              <a:spcAft>
                <a:spcPts val="2400"/>
              </a:spcAft>
              <a:buClrTx/>
              <a:defRPr sz="3400" b="0" i="0">
                <a:solidFill>
                  <a:schemeClr val="bg1"/>
                </a:solidFill>
                <a:latin typeface="Arial Black" panose="020B0604020202020204" pitchFamily="34" charset="0"/>
                <a:cs typeface="Arial Black" panose="020B0604020202020204" pitchFamily="34" charset="0"/>
              </a:defRPr>
            </a:lvl1pPr>
            <a:lvl2pPr marL="342900" indent="-342900">
              <a:spcBef>
                <a:spcPts val="900"/>
              </a:spcBef>
              <a:spcAft>
                <a:spcPts val="0"/>
              </a:spcAft>
              <a:buClrTx/>
              <a:tabLst/>
              <a:defRPr sz="3200" b="0">
                <a:solidFill>
                  <a:schemeClr val="bg1"/>
                </a:solidFill>
              </a:defRPr>
            </a:lvl2pPr>
            <a:lvl3pPr marL="342900" indent="-342900">
              <a:spcBef>
                <a:spcPts val="900"/>
              </a:spcBef>
              <a:spcAft>
                <a:spcPts val="0"/>
              </a:spcAft>
              <a:buClrTx/>
              <a:buSzPct val="100000"/>
              <a:buFont typeface="Wingdings" pitchFamily="2" charset="2"/>
              <a:buChar char="§"/>
              <a:tabLst/>
              <a:defRPr sz="3200" b="1">
                <a:solidFill>
                  <a:schemeClr val="accent2">
                    <a:lumMod val="60000"/>
                    <a:lumOff val="40000"/>
                  </a:schemeClr>
                </a:solidFill>
              </a:defRPr>
            </a:lvl3pPr>
            <a:lvl4pPr marL="514350" indent="-171450">
              <a:spcBef>
                <a:spcPts val="0"/>
              </a:spcBef>
              <a:spcAft>
                <a:spcPts val="300"/>
              </a:spcAft>
              <a:buClrTx/>
              <a:buFont typeface="Arial" panose="020B0604020202020204" pitchFamily="34" charset="0"/>
              <a:buChar char="•"/>
              <a:tabLst/>
              <a:defRPr sz="2100" b="0">
                <a:solidFill>
                  <a:schemeClr val="bg1"/>
                </a:solidFill>
              </a:defRPr>
            </a:lvl4pPr>
            <a:lvl5pPr marL="514350" indent="-171450">
              <a:spcBef>
                <a:spcPts val="0"/>
              </a:spcBef>
              <a:spcAft>
                <a:spcPts val="300"/>
              </a:spcAft>
              <a:buClrTx/>
              <a:buFont typeface="Arial" panose="020B0604020202020204" pitchFamily="34" charset="0"/>
              <a:buChar char="•"/>
              <a:tabLst/>
              <a:defRPr sz="2100" b="1">
                <a:solidFill>
                  <a:schemeClr val="accent2">
                    <a:lumMod val="60000"/>
                    <a:lumOff val="40000"/>
                  </a:schemeClr>
                </a:solidFill>
              </a:defRPr>
            </a:lvl5pPr>
          </a:lstStyle>
          <a:p>
            <a:pPr lvl="0"/>
            <a:r>
              <a:rPr lang="en-US"/>
              <a:t>Title for Divider–Agenda</a:t>
            </a:r>
          </a:p>
          <a:p>
            <a:pPr lvl="1"/>
            <a:r>
              <a:rPr lang="en-US"/>
              <a:t>Agenda Item—Inactive</a:t>
            </a:r>
          </a:p>
          <a:p>
            <a:pPr lvl="2"/>
            <a:r>
              <a:rPr lang="en-US"/>
              <a:t>Agenda Item—Active</a:t>
            </a:r>
          </a:p>
          <a:p>
            <a:pPr lvl="3"/>
            <a:r>
              <a:rPr lang="en-US"/>
              <a:t>Second level</a:t>
            </a:r>
          </a:p>
          <a:p>
            <a:pPr lvl="4"/>
            <a:r>
              <a:rPr lang="en-US"/>
              <a:t>Third level</a:t>
            </a:r>
          </a:p>
        </p:txBody>
      </p:sp>
      <p:sp>
        <p:nvSpPr>
          <p:cNvPr id="6" name="Rectangle 5">
            <a:extLst>
              <a:ext uri="{FF2B5EF4-FFF2-40B4-BE49-F238E27FC236}">
                <a16:creationId xmlns:a16="http://schemas.microsoft.com/office/drawing/2014/main" id="{C8FA9CB8-B07F-44FD-836E-BCE0675149B4}"/>
              </a:ext>
            </a:extLst>
          </p:cNvPr>
          <p:cNvSpPr/>
          <p:nvPr userDrawn="1"/>
        </p:nvSpPr>
        <p:spPr>
          <a:xfrm>
            <a:off x="-1" y="6638778"/>
            <a:ext cx="12192001" cy="2192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7" name="TextBox 6">
            <a:extLst>
              <a:ext uri="{FF2B5EF4-FFF2-40B4-BE49-F238E27FC236}">
                <a16:creationId xmlns:a16="http://schemas.microsoft.com/office/drawing/2014/main" id="{9B984127-8999-4E06-9847-DAECC8470BF5}"/>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2118408903"/>
      </p:ext>
    </p:extLst>
  </p:cSld>
  <p:clrMapOvr>
    <a:masterClrMapping/>
  </p:clrMapOvr>
  <p:transition>
    <p:fade/>
  </p:transition>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8250"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2387919636"/>
      </p:ext>
    </p:extLst>
  </p:cSld>
  <p:clrMapOvr>
    <a:masterClrMapping/>
  </p:clrMapOvr>
  <p:transition>
    <p:fade/>
  </p:transition>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0C45A-1DFA-4A98-9CFC-E737FF48E4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2C9212-6CF3-428D-833E-9884E5B94F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4F7FD1-F24E-4011-8D2B-0EF8A8DBD8B8}"/>
              </a:ext>
            </a:extLst>
          </p:cNvPr>
          <p:cNvSpPr>
            <a:spLocks noGrp="1"/>
          </p:cNvSpPr>
          <p:nvPr>
            <p:ph type="dt" sz="half" idx="10"/>
          </p:nvPr>
        </p:nvSpPr>
        <p:spPr/>
        <p:txBody>
          <a:bodyPr/>
          <a:lstStyle/>
          <a:p>
            <a:fld id="{9DBE3075-8294-44BB-A707-64D12E6B055B}" type="datetimeFigureOut">
              <a:rPr lang="en-US" smtClean="0"/>
              <a:t>5/21/2026</a:t>
            </a:fld>
            <a:endParaRPr lang="en-US"/>
          </a:p>
        </p:txBody>
      </p:sp>
      <p:sp>
        <p:nvSpPr>
          <p:cNvPr id="5" name="Footer Placeholder 4">
            <a:extLst>
              <a:ext uri="{FF2B5EF4-FFF2-40B4-BE49-F238E27FC236}">
                <a16:creationId xmlns:a16="http://schemas.microsoft.com/office/drawing/2014/main" id="{4AC4AA69-D0CE-4E95-AE2B-060B9B8D0B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57728-51FC-473C-8CA3-352C1FE1AA34}"/>
              </a:ext>
            </a:extLst>
          </p:cNvPr>
          <p:cNvSpPr>
            <a:spLocks noGrp="1"/>
          </p:cNvSpPr>
          <p:nvPr>
            <p:ph type="sldNum" sz="quarter" idx="12"/>
          </p:nvPr>
        </p:nvSpPr>
        <p:spPr/>
        <p:txBody>
          <a:bodyPr/>
          <a:lstStyle/>
          <a:p>
            <a:fld id="{14BDDADC-2B7E-4835-8C4D-8E8B74895ECB}" type="slidenum">
              <a:rPr lang="en-US" smtClean="0"/>
              <a:t>‹#›</a:t>
            </a:fld>
            <a:endParaRPr lang="en-US"/>
          </a:p>
        </p:txBody>
      </p:sp>
    </p:spTree>
    <p:extLst>
      <p:ext uri="{BB962C8B-B14F-4D97-AF65-F5344CB8AC3E}">
        <p14:creationId xmlns:p14="http://schemas.microsoft.com/office/powerpoint/2010/main" val="802132700"/>
      </p:ext>
    </p:extLst>
  </p:cSld>
  <p:clrMapOvr>
    <a:masterClrMapping/>
  </p:clrMapOvr>
  <p:hf sldNum="0"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theme" Target="../theme/theme2.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image" Target="../media/image5.png"/><Relationship Id="rId2" Type="http://schemas.openxmlformats.org/officeDocument/2006/relationships/slideLayout" Target="../slideLayouts/slideLayout41.xml"/><Relationship Id="rId16" Type="http://schemas.openxmlformats.org/officeDocument/2006/relationships/image" Target="../media/image3.png"/><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theme" Target="../theme/theme3.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2"/>
            <a:ext cx="10972800" cy="4791806"/>
          </a:xfrm>
          <a:prstGeom prst="rect">
            <a:avLst/>
          </a:prstGeom>
        </p:spPr>
        <p:txBody>
          <a:bodyPr vert="horz" lIns="0" tIns="137160" rIns="0" bIns="0" rtlCol="0">
            <a:normAutofit/>
          </a:bodyPr>
          <a:lstStyle/>
          <a:p>
            <a:pPr lvl="0"/>
            <a:r>
              <a:rPr lang="en-US"/>
              <a:t>Paragraph type</a:t>
            </a:r>
          </a:p>
          <a:p>
            <a:pPr lvl="1"/>
            <a:r>
              <a:rPr lang="en-US"/>
              <a:t>Click the “Indent More” button (above) for first-level bullets</a:t>
            </a:r>
          </a:p>
          <a:p>
            <a:pPr lvl="2"/>
            <a:r>
              <a:rPr lang="en-US"/>
              <a:t>Click the “Indent More” button (above) twice for second-level bullets</a:t>
            </a:r>
          </a:p>
          <a:p>
            <a:pPr lvl="3"/>
            <a:r>
              <a:rPr lang="en-US"/>
              <a:t>Click the “Indent More” button (above) three times for third-level bullets</a:t>
            </a:r>
          </a:p>
          <a:p>
            <a:pPr lvl="4"/>
            <a:r>
              <a:rPr lang="en-US"/>
              <a:t>Click the “Indent More” button (above) four times for fourth-level bullets</a:t>
            </a:r>
          </a:p>
        </p:txBody>
      </p:sp>
      <p:sp>
        <p:nvSpPr>
          <p:cNvPr id="2" name="Title Placeholder 1"/>
          <p:cNvSpPr>
            <a:spLocks noGrp="1"/>
          </p:cNvSpPr>
          <p:nvPr>
            <p:ph type="title"/>
          </p:nvPr>
        </p:nvSpPr>
        <p:spPr>
          <a:xfrm>
            <a:off x="609600" y="482138"/>
            <a:ext cx="10972800" cy="1118064"/>
          </a:xfrm>
          <a:prstGeom prst="rect">
            <a:avLst/>
          </a:prstGeom>
        </p:spPr>
        <p:txBody>
          <a:bodyPr vert="horz" lIns="0" tIns="0" rIns="0" bIns="0" rtlCol="0" anchor="ctr">
            <a:normAutofit/>
          </a:bodyPr>
          <a:lstStyle/>
          <a:p>
            <a:r>
              <a:rPr lang="en-US"/>
              <a:t>Master Slide Title</a:t>
            </a:r>
          </a:p>
        </p:txBody>
      </p:sp>
      <p:sp>
        <p:nvSpPr>
          <p:cNvPr id="5" name="TextBox 4">
            <a:extLst>
              <a:ext uri="{FF2B5EF4-FFF2-40B4-BE49-F238E27FC236}">
                <a16:creationId xmlns:a16="http://schemas.microsoft.com/office/drawing/2014/main" id="{00B5D478-FD4A-2240-B032-46F4E3BAB6E8}"/>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accent1"/>
                </a:solidFill>
              </a:rPr>
              <a:pPr algn="r"/>
              <a:t>‹#›</a:t>
            </a:fld>
            <a:endParaRPr lang="en-US" sz="1000">
              <a:solidFill>
                <a:schemeClr val="accent1"/>
              </a:solidFill>
            </a:endParaRPr>
          </a:p>
        </p:txBody>
      </p:sp>
    </p:spTree>
  </p:cSld>
  <p:clrMap bg1="lt1" tx1="dk1" bg2="lt2" tx2="dk2" accent1="accent1" accent2="accent2" accent3="accent3" accent4="accent4" accent5="accent5" accent6="accent6" hlink="hlink" folHlink="folHlink"/>
  <p:sldLayoutIdLst>
    <p:sldLayoutId id="2147483797" r:id="rId1"/>
    <p:sldLayoutId id="2147483798" r:id="rId2"/>
    <p:sldLayoutId id="2147483661" r:id="rId3"/>
    <p:sldLayoutId id="2147483760" r:id="rId4"/>
    <p:sldLayoutId id="2147483754" r:id="rId5"/>
    <p:sldLayoutId id="2147483755" r:id="rId6"/>
    <p:sldLayoutId id="2147483756" r:id="rId7"/>
    <p:sldLayoutId id="2147483758" r:id="rId8"/>
    <p:sldLayoutId id="2147483757" r:id="rId9"/>
    <p:sldLayoutId id="2147483707" r:id="rId10"/>
    <p:sldLayoutId id="2147483759" r:id="rId11"/>
    <p:sldLayoutId id="2147483748" r:id="rId12"/>
    <p:sldLayoutId id="2147483744" r:id="rId13"/>
    <p:sldLayoutId id="2147483750" r:id="rId14"/>
    <p:sldLayoutId id="2147483747" r:id="rId15"/>
    <p:sldLayoutId id="2147483752" r:id="rId16"/>
    <p:sldLayoutId id="2147483751" r:id="rId17"/>
    <p:sldLayoutId id="2147483745" r:id="rId18"/>
    <p:sldLayoutId id="2147483746" r:id="rId19"/>
    <p:sldLayoutId id="2147483749" r:id="rId20"/>
    <p:sldLayoutId id="2147483753" r:id="rId21"/>
    <p:sldLayoutId id="2147483743" r:id="rId22"/>
    <p:sldLayoutId id="2147483792" r:id="rId23"/>
  </p:sldLayoutIdLst>
  <p:transition>
    <p:fade/>
  </p:transition>
  <p:hf hdr="0" ftr="0" dt="0"/>
  <p:txStyles>
    <p:titleStyle>
      <a:lvl1pPr algn="l" defTabSz="914314" rtl="0" eaLnBrk="1" latinLnBrk="0" hangingPunct="1">
        <a:lnSpc>
          <a:spcPct val="90000"/>
        </a:lnSpc>
        <a:spcBef>
          <a:spcPct val="0"/>
        </a:spcBef>
        <a:buNone/>
        <a:defRPr sz="3600" b="1" i="0" kern="1200">
          <a:solidFill>
            <a:schemeClr val="tx2"/>
          </a:solidFill>
          <a:latin typeface="Arial Black" panose="020B0604020202020204" pitchFamily="34" charset="0"/>
          <a:ea typeface="+mj-ea"/>
          <a:cs typeface="Arial Black" panose="020B0604020202020204" pitchFamily="34" charset="0"/>
        </a:defRPr>
      </a:lvl1pPr>
    </p:titleStyle>
    <p:body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14" rtl="0" eaLnBrk="1" latinLnBrk="0" hangingPunct="1">
        <a:defRPr sz="1800" kern="1200">
          <a:solidFill>
            <a:schemeClr val="tx1"/>
          </a:solidFill>
          <a:latin typeface="+mn-lt"/>
          <a:ea typeface="+mn-ea"/>
          <a:cs typeface="+mn-cs"/>
        </a:defRPr>
      </a:lvl1pPr>
      <a:lvl2pPr marL="457157" algn="l" defTabSz="914314" rtl="0" eaLnBrk="1" latinLnBrk="0" hangingPunct="1">
        <a:defRPr sz="1800" kern="1200">
          <a:solidFill>
            <a:schemeClr val="tx1"/>
          </a:solidFill>
          <a:latin typeface="+mn-lt"/>
          <a:ea typeface="+mn-ea"/>
          <a:cs typeface="+mn-cs"/>
        </a:defRPr>
      </a:lvl2pPr>
      <a:lvl3pPr marL="914314" algn="l" defTabSz="914314" rtl="0" eaLnBrk="1" latinLnBrk="0" hangingPunct="1">
        <a:defRPr sz="1800" kern="1200">
          <a:solidFill>
            <a:schemeClr val="tx1"/>
          </a:solidFill>
          <a:latin typeface="+mn-lt"/>
          <a:ea typeface="+mn-ea"/>
          <a:cs typeface="+mn-cs"/>
        </a:defRPr>
      </a:lvl3pPr>
      <a:lvl4pPr marL="1371472" algn="l" defTabSz="914314" rtl="0" eaLnBrk="1" latinLnBrk="0" hangingPunct="1">
        <a:defRPr sz="1800" kern="1200">
          <a:solidFill>
            <a:schemeClr val="tx1"/>
          </a:solidFill>
          <a:latin typeface="+mn-lt"/>
          <a:ea typeface="+mn-ea"/>
          <a:cs typeface="+mn-cs"/>
        </a:defRPr>
      </a:lvl4pPr>
      <a:lvl5pPr marL="1828628" algn="l" defTabSz="914314" rtl="0" eaLnBrk="1" latinLnBrk="0" hangingPunct="1">
        <a:defRPr sz="1800" kern="1200">
          <a:solidFill>
            <a:schemeClr val="tx1"/>
          </a:solidFill>
          <a:latin typeface="+mn-lt"/>
          <a:ea typeface="+mn-ea"/>
          <a:cs typeface="+mn-cs"/>
        </a:defRPr>
      </a:lvl5pPr>
      <a:lvl6pPr marL="2285785" algn="l" defTabSz="914314" rtl="0" eaLnBrk="1" latinLnBrk="0" hangingPunct="1">
        <a:defRPr sz="1800" kern="1200">
          <a:solidFill>
            <a:schemeClr val="tx1"/>
          </a:solidFill>
          <a:latin typeface="+mn-lt"/>
          <a:ea typeface="+mn-ea"/>
          <a:cs typeface="+mn-cs"/>
        </a:defRPr>
      </a:lvl6pPr>
      <a:lvl7pPr marL="2742942" algn="l" defTabSz="914314" rtl="0" eaLnBrk="1" latinLnBrk="0" hangingPunct="1">
        <a:defRPr sz="1800" kern="1200">
          <a:solidFill>
            <a:schemeClr val="tx1"/>
          </a:solidFill>
          <a:latin typeface="+mn-lt"/>
          <a:ea typeface="+mn-ea"/>
          <a:cs typeface="+mn-cs"/>
        </a:defRPr>
      </a:lvl7pPr>
      <a:lvl8pPr marL="3200100" algn="l" defTabSz="914314" rtl="0" eaLnBrk="1" latinLnBrk="0" hangingPunct="1">
        <a:defRPr sz="1800" kern="1200">
          <a:solidFill>
            <a:schemeClr val="tx1"/>
          </a:solidFill>
          <a:latin typeface="+mn-lt"/>
          <a:ea typeface="+mn-ea"/>
          <a:cs typeface="+mn-cs"/>
        </a:defRPr>
      </a:lvl8pPr>
      <a:lvl9pPr marL="3657257" algn="l" defTabSz="914314"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2"/>
            <a:ext cx="10972800" cy="4791806"/>
          </a:xfrm>
          <a:prstGeom prst="rect">
            <a:avLst/>
          </a:prstGeom>
        </p:spPr>
        <p:txBody>
          <a:bodyPr vert="horz" lIns="0" tIns="137160" rIns="0" bIns="0" rtlCol="0">
            <a:normAutofit/>
          </a:bodyPr>
          <a:lstStyle/>
          <a:p>
            <a:pPr lvl="0"/>
            <a:r>
              <a:rPr lang="en-US"/>
              <a:t>Paragraph type</a:t>
            </a:r>
          </a:p>
          <a:p>
            <a:pPr lvl="1"/>
            <a:r>
              <a:rPr lang="en-US"/>
              <a:t>Click the “Indent More” button (above) for first-level bullets</a:t>
            </a:r>
          </a:p>
          <a:p>
            <a:pPr lvl="2"/>
            <a:r>
              <a:rPr lang="en-US"/>
              <a:t>Click the “Indent More” button (above) twice for second-level bullets</a:t>
            </a:r>
          </a:p>
          <a:p>
            <a:pPr lvl="3"/>
            <a:r>
              <a:rPr lang="en-US"/>
              <a:t>Click the “Indent More” button (above) three times for third-level bullets</a:t>
            </a:r>
          </a:p>
          <a:p>
            <a:pPr lvl="4"/>
            <a:r>
              <a:rPr lang="en-US"/>
              <a:t>Click the “Indent More” button (above) four times for fourth-level bullets</a:t>
            </a:r>
          </a:p>
        </p:txBody>
      </p:sp>
      <p:sp>
        <p:nvSpPr>
          <p:cNvPr id="2" name="Title Placeholder 1"/>
          <p:cNvSpPr>
            <a:spLocks noGrp="1"/>
          </p:cNvSpPr>
          <p:nvPr>
            <p:ph type="title"/>
          </p:nvPr>
        </p:nvSpPr>
        <p:spPr>
          <a:xfrm>
            <a:off x="609600" y="482138"/>
            <a:ext cx="10972800" cy="1118064"/>
          </a:xfrm>
          <a:prstGeom prst="rect">
            <a:avLst/>
          </a:prstGeom>
        </p:spPr>
        <p:txBody>
          <a:bodyPr vert="horz" lIns="0" tIns="0" rIns="0" bIns="0" rtlCol="0" anchor="ctr">
            <a:normAutofit/>
          </a:bodyPr>
          <a:lstStyle/>
          <a:p>
            <a:r>
              <a:rPr lang="en-US"/>
              <a:t>Master Slide Title</a:t>
            </a:r>
          </a:p>
        </p:txBody>
      </p:sp>
      <p:sp>
        <p:nvSpPr>
          <p:cNvPr id="4" name="TextBox 3">
            <a:extLst>
              <a:ext uri="{FF2B5EF4-FFF2-40B4-BE49-F238E27FC236}">
                <a16:creationId xmlns:a16="http://schemas.microsoft.com/office/drawing/2014/main" id="{8069C718-696D-8C48-95E3-35ACB84AD8D9}"/>
              </a:ext>
            </a:extLst>
          </p:cNvPr>
          <p:cNvSpPr txBox="1"/>
          <p:nvPr/>
        </p:nvSpPr>
        <p:spPr>
          <a:xfrm>
            <a:off x="-1" y="6638779"/>
            <a:ext cx="9144000" cy="230832"/>
          </a:xfrm>
          <a:prstGeom prst="rect">
            <a:avLst/>
          </a:prstGeom>
          <a:noFill/>
        </p:spPr>
        <p:txBody>
          <a:bodyPr wrap="square" rtlCol="0">
            <a:spAutoFit/>
          </a:bodyPr>
          <a:lstStyle/>
          <a:p>
            <a:r>
              <a:rPr lang="en-US" sz="900" b="1">
                <a:solidFill>
                  <a:schemeClr val="bg1">
                    <a:lumMod val="75000"/>
                  </a:schemeClr>
                </a:solidFill>
                <a:latin typeface="Arial Black" charset="0"/>
                <a:cs typeface="Arial Black" charset="0"/>
              </a:rPr>
              <a:t>IMF</a:t>
            </a:r>
            <a:endParaRPr lang="en-US" sz="900" b="0">
              <a:solidFill>
                <a:schemeClr val="bg1">
                  <a:lumMod val="75000"/>
                </a:schemeClr>
              </a:solidFill>
              <a:latin typeface="+mn-lt"/>
              <a:cs typeface="Arial Black" charset="0"/>
            </a:endParaRPr>
          </a:p>
        </p:txBody>
      </p:sp>
      <p:sp>
        <p:nvSpPr>
          <p:cNvPr id="5" name="TextBox 4">
            <a:extLst>
              <a:ext uri="{FF2B5EF4-FFF2-40B4-BE49-F238E27FC236}">
                <a16:creationId xmlns:a16="http://schemas.microsoft.com/office/drawing/2014/main" id="{00B5D478-FD4A-2240-B032-46F4E3BAB6E8}"/>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accent1"/>
                </a:solidFill>
              </a:rPr>
              <a:pPr algn="r"/>
              <a:t>‹#›</a:t>
            </a:fld>
            <a:endParaRPr lang="en-US" sz="1000">
              <a:solidFill>
                <a:schemeClr val="accent1"/>
              </a:solidFill>
            </a:endParaRPr>
          </a:p>
        </p:txBody>
      </p:sp>
      <p:sp>
        <p:nvSpPr>
          <p:cNvPr id="6" name="TextBox 5">
            <a:extLst>
              <a:ext uri="{FF2B5EF4-FFF2-40B4-BE49-F238E27FC236}">
                <a16:creationId xmlns:a16="http://schemas.microsoft.com/office/drawing/2014/main" id="{9E8C54C7-734D-43A7-BEFB-A9BE6BF97DF4}"/>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accent1"/>
                </a:solidFill>
              </a:rPr>
              <a:pPr algn="r"/>
              <a:t>‹#›</a:t>
            </a:fld>
            <a:endParaRPr lang="en-US" sz="1000">
              <a:solidFill>
                <a:schemeClr val="accent1"/>
              </a:solidFill>
            </a:endParaRPr>
          </a:p>
        </p:txBody>
      </p:sp>
    </p:spTree>
    <p:extLst>
      <p:ext uri="{BB962C8B-B14F-4D97-AF65-F5344CB8AC3E}">
        <p14:creationId xmlns:p14="http://schemas.microsoft.com/office/powerpoint/2010/main" val="2582906804"/>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91" r:id="rId14"/>
    <p:sldLayoutId id="2147483799" r:id="rId15"/>
    <p:sldLayoutId id="2147483800" r:id="rId16"/>
  </p:sldLayoutIdLst>
  <p:transition>
    <p:fade/>
  </p:transition>
  <p:hf hdr="0" ftr="0" dt="0"/>
  <p:txStyles>
    <p:titleStyle>
      <a:lvl1pPr algn="l" defTabSz="914314" rtl="0" eaLnBrk="1" latinLnBrk="0" hangingPunct="1">
        <a:lnSpc>
          <a:spcPct val="90000"/>
        </a:lnSpc>
        <a:spcBef>
          <a:spcPct val="0"/>
        </a:spcBef>
        <a:buNone/>
        <a:defRPr sz="3600" b="1" i="0" kern="1200">
          <a:solidFill>
            <a:schemeClr val="tx2"/>
          </a:solidFill>
          <a:latin typeface="Arial Black" panose="020B0604020202020204" pitchFamily="34" charset="0"/>
          <a:ea typeface="+mj-ea"/>
          <a:cs typeface="Arial Black" panose="020B0604020202020204" pitchFamily="34" charset="0"/>
        </a:defRPr>
      </a:lvl1pPr>
    </p:titleStyle>
    <p:body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14" rtl="0" eaLnBrk="1" latinLnBrk="0" hangingPunct="1">
        <a:defRPr sz="1800" kern="1200">
          <a:solidFill>
            <a:schemeClr val="tx1"/>
          </a:solidFill>
          <a:latin typeface="+mn-lt"/>
          <a:ea typeface="+mn-ea"/>
          <a:cs typeface="+mn-cs"/>
        </a:defRPr>
      </a:lvl1pPr>
      <a:lvl2pPr marL="457157" algn="l" defTabSz="914314" rtl="0" eaLnBrk="1" latinLnBrk="0" hangingPunct="1">
        <a:defRPr sz="1800" kern="1200">
          <a:solidFill>
            <a:schemeClr val="tx1"/>
          </a:solidFill>
          <a:latin typeface="+mn-lt"/>
          <a:ea typeface="+mn-ea"/>
          <a:cs typeface="+mn-cs"/>
        </a:defRPr>
      </a:lvl2pPr>
      <a:lvl3pPr marL="914314" algn="l" defTabSz="914314" rtl="0" eaLnBrk="1" latinLnBrk="0" hangingPunct="1">
        <a:defRPr sz="1800" kern="1200">
          <a:solidFill>
            <a:schemeClr val="tx1"/>
          </a:solidFill>
          <a:latin typeface="+mn-lt"/>
          <a:ea typeface="+mn-ea"/>
          <a:cs typeface="+mn-cs"/>
        </a:defRPr>
      </a:lvl3pPr>
      <a:lvl4pPr marL="1371472" algn="l" defTabSz="914314" rtl="0" eaLnBrk="1" latinLnBrk="0" hangingPunct="1">
        <a:defRPr sz="1800" kern="1200">
          <a:solidFill>
            <a:schemeClr val="tx1"/>
          </a:solidFill>
          <a:latin typeface="+mn-lt"/>
          <a:ea typeface="+mn-ea"/>
          <a:cs typeface="+mn-cs"/>
        </a:defRPr>
      </a:lvl4pPr>
      <a:lvl5pPr marL="1828628" algn="l" defTabSz="914314" rtl="0" eaLnBrk="1" latinLnBrk="0" hangingPunct="1">
        <a:defRPr sz="1800" kern="1200">
          <a:solidFill>
            <a:schemeClr val="tx1"/>
          </a:solidFill>
          <a:latin typeface="+mn-lt"/>
          <a:ea typeface="+mn-ea"/>
          <a:cs typeface="+mn-cs"/>
        </a:defRPr>
      </a:lvl5pPr>
      <a:lvl6pPr marL="2285785" algn="l" defTabSz="914314" rtl="0" eaLnBrk="1" latinLnBrk="0" hangingPunct="1">
        <a:defRPr sz="1800" kern="1200">
          <a:solidFill>
            <a:schemeClr val="tx1"/>
          </a:solidFill>
          <a:latin typeface="+mn-lt"/>
          <a:ea typeface="+mn-ea"/>
          <a:cs typeface="+mn-cs"/>
        </a:defRPr>
      </a:lvl6pPr>
      <a:lvl7pPr marL="2742942" algn="l" defTabSz="914314" rtl="0" eaLnBrk="1" latinLnBrk="0" hangingPunct="1">
        <a:defRPr sz="1800" kern="1200">
          <a:solidFill>
            <a:schemeClr val="tx1"/>
          </a:solidFill>
          <a:latin typeface="+mn-lt"/>
          <a:ea typeface="+mn-ea"/>
          <a:cs typeface="+mn-cs"/>
        </a:defRPr>
      </a:lvl7pPr>
      <a:lvl8pPr marL="3200100" algn="l" defTabSz="914314" rtl="0" eaLnBrk="1" latinLnBrk="0" hangingPunct="1">
        <a:defRPr sz="1800" kern="1200">
          <a:solidFill>
            <a:schemeClr val="tx1"/>
          </a:solidFill>
          <a:latin typeface="+mn-lt"/>
          <a:ea typeface="+mn-ea"/>
          <a:cs typeface="+mn-cs"/>
        </a:defRPr>
      </a:lvl8pPr>
      <a:lvl9pPr marL="3657257" algn="l" defTabSz="914314"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2" name="Picture 51">
            <a:extLst>
              <a:ext uri="{FF2B5EF4-FFF2-40B4-BE49-F238E27FC236}">
                <a16:creationId xmlns:a16="http://schemas.microsoft.com/office/drawing/2014/main" id="{A2D1FFAD-683D-4DF5-8667-FE7C943F0946}"/>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405" y="6549163"/>
            <a:ext cx="12316389" cy="305954"/>
          </a:xfrm>
          <a:prstGeom prst="rect">
            <a:avLst/>
          </a:prstGeom>
        </p:spPr>
      </p:pic>
      <p:pic>
        <p:nvPicPr>
          <p:cNvPr id="49" name="Picture 48">
            <a:extLst>
              <a:ext uri="{FF2B5EF4-FFF2-40B4-BE49-F238E27FC236}">
                <a16:creationId xmlns:a16="http://schemas.microsoft.com/office/drawing/2014/main" id="{D539B6A2-25B6-414C-8964-4BB73BDD4DA0}"/>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405" y="1105"/>
            <a:ext cx="12274927" cy="998531"/>
          </a:xfrm>
          <a:prstGeom prst="rect">
            <a:avLst/>
          </a:prstGeom>
        </p:spPr>
      </p:pic>
      <p:sp>
        <p:nvSpPr>
          <p:cNvPr id="2" name="Title Placeholder 1"/>
          <p:cNvSpPr>
            <a:spLocks noGrp="1"/>
          </p:cNvSpPr>
          <p:nvPr>
            <p:ph type="title"/>
          </p:nvPr>
        </p:nvSpPr>
        <p:spPr>
          <a:xfrm>
            <a:off x="1541488" y="133440"/>
            <a:ext cx="9049421" cy="73385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08398" y="1676538"/>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B8249D-73BB-4688-B427-EB89B5DAF030}" type="datetimeFigureOut">
              <a:rPr lang="en-US" smtClean="0"/>
              <a:t>5/21/2026</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pic>
        <p:nvPicPr>
          <p:cNvPr id="29" name="Picture 28">
            <a:extLst>
              <a:ext uri="{FF2B5EF4-FFF2-40B4-BE49-F238E27FC236}">
                <a16:creationId xmlns:a16="http://schemas.microsoft.com/office/drawing/2014/main" id="{5E4E6BEC-FFD1-403D-AE66-D9C4578DCD25}"/>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04959" y="72826"/>
            <a:ext cx="868467" cy="852107"/>
          </a:xfrm>
          <a:prstGeom prst="rect">
            <a:avLst/>
          </a:prstGeom>
        </p:spPr>
      </p:pic>
      <p:sp>
        <p:nvSpPr>
          <p:cNvPr id="53" name="TextBox 52">
            <a:extLst>
              <a:ext uri="{FF2B5EF4-FFF2-40B4-BE49-F238E27FC236}">
                <a16:creationId xmlns:a16="http://schemas.microsoft.com/office/drawing/2014/main" id="{4A752841-1F14-472B-8136-14C2A87C7CD3}"/>
              </a:ext>
            </a:extLst>
          </p:cNvPr>
          <p:cNvSpPr txBox="1"/>
          <p:nvPr/>
        </p:nvSpPr>
        <p:spPr>
          <a:xfrm>
            <a:off x="117984" y="6594418"/>
            <a:ext cx="12192000" cy="230832"/>
          </a:xfrm>
          <a:prstGeom prst="rect">
            <a:avLst/>
          </a:prstGeom>
          <a:noFill/>
        </p:spPr>
        <p:txBody>
          <a:bodyPr wrap="square" rtlCol="0">
            <a:spAutoFit/>
          </a:bodyPr>
          <a:lstStyle/>
          <a:p>
            <a:r>
              <a:rPr lang="en-US" sz="900" b="1">
                <a:solidFill>
                  <a:schemeClr val="bg1"/>
                </a:solidFill>
                <a:latin typeface="Arial" panose="020B0604020202020204" pitchFamily="34" charset="0"/>
                <a:cs typeface="Arial" panose="020B0604020202020204" pitchFamily="34" charset="0"/>
              </a:rPr>
              <a:t>IMF</a:t>
            </a:r>
            <a:endParaRPr lang="en-US" sz="900" b="0">
              <a:solidFill>
                <a:schemeClr val="bg1"/>
              </a:solidFill>
              <a:latin typeface="Arial" panose="020B0604020202020204" pitchFamily="34" charset="0"/>
              <a:cs typeface="Arial" panose="020B0604020202020204" pitchFamily="34" charset="0"/>
            </a:endParaRPr>
          </a:p>
        </p:txBody>
      </p:sp>
      <p:sp>
        <p:nvSpPr>
          <p:cNvPr id="54" name="TextBox 53">
            <a:extLst>
              <a:ext uri="{FF2B5EF4-FFF2-40B4-BE49-F238E27FC236}">
                <a16:creationId xmlns:a16="http://schemas.microsoft.com/office/drawing/2014/main" id="{53EC36D0-8578-4449-B610-88EB05D95480}"/>
              </a:ext>
            </a:extLst>
          </p:cNvPr>
          <p:cNvSpPr txBox="1"/>
          <p:nvPr/>
        </p:nvSpPr>
        <p:spPr>
          <a:xfrm>
            <a:off x="10372855" y="6579030"/>
            <a:ext cx="1613877"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857613731"/>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Lst>
  <p:txStyles>
    <p:titleStyle>
      <a:lvl1pPr algn="ctr" defTabSz="914400" rtl="0" eaLnBrk="1" latinLnBrk="0" hangingPunct="1">
        <a:lnSpc>
          <a:spcPct val="90000"/>
        </a:lnSpc>
        <a:spcBef>
          <a:spcPct val="0"/>
        </a:spcBef>
        <a:buNone/>
        <a:defRPr sz="36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8.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8.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4.xml"/><Relationship Id="rId1" Type="http://schemas.openxmlformats.org/officeDocument/2006/relationships/slideLayout" Target="../slideLayouts/slideLayout38.xml"/><Relationship Id="rId5" Type="http://schemas.openxmlformats.org/officeDocument/2006/relationships/hyperlink" Target="https://www.imf.org/-/media/files/publications/gns/2024/english/gnsea2024002.pdf" TargetMode="External"/><Relationship Id="rId4" Type="http://schemas.openxmlformats.org/officeDocument/2006/relationships/chart" Target="../charts/char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8.xml"/><Relationship Id="rId4" Type="http://schemas.openxmlformats.org/officeDocument/2006/relationships/hyperlink" Target="https://statistics.knbs.or.ke/nada/index.php/catalog/127/related-materials"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statsmauritius.govmu.org/Documents/Census_and_Surveys/LCS/TUS_report_Year_2018-19_050321.pdf" TargetMode="External"/><Relationship Id="rId2" Type="http://schemas.openxmlformats.org/officeDocument/2006/relationships/notesSlide" Target="../notesSlides/notesSlide7.xml"/><Relationship Id="rId1" Type="http://schemas.openxmlformats.org/officeDocument/2006/relationships/slideLayout" Target="../slideLayouts/slideLayout38.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hyperlink" Target="https://www.elibrary.imf.org/display/book/9798400246968/CH017.xml" TargetMode="External"/><Relationship Id="rId2" Type="http://schemas.openxmlformats.org/officeDocument/2006/relationships/notesSlide" Target="../notesSlides/notesSlide8.xml"/><Relationship Id="rId1" Type="http://schemas.openxmlformats.org/officeDocument/2006/relationships/slideLayout" Target="../slideLayouts/slideLayout38.xml"/><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population.un.org/dataportal/home?df=2b26b349-1527-4fcd-b98d-d5275ffab390" TargetMode="External"/><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90976C-718D-5FEC-E598-7447E35E08A4}"/>
              </a:ext>
            </a:extLst>
          </p:cNvPr>
          <p:cNvSpPr>
            <a:spLocks noGrp="1"/>
          </p:cNvSpPr>
          <p:nvPr>
            <p:ph type="body" sz="quarter" idx="10"/>
          </p:nvPr>
        </p:nvSpPr>
        <p:spPr/>
        <p:txBody>
          <a:bodyPr/>
          <a:lstStyle/>
          <a:p>
            <a:r>
              <a:rPr lang="en-US" dirty="0"/>
              <a:t>Lisa Kolovich, IMF</a:t>
            </a:r>
          </a:p>
          <a:p>
            <a:endParaRPr lang="en-US" dirty="0"/>
          </a:p>
        </p:txBody>
      </p:sp>
      <p:sp>
        <p:nvSpPr>
          <p:cNvPr id="4" name="Picture Placeholder 3">
            <a:extLst>
              <a:ext uri="{FF2B5EF4-FFF2-40B4-BE49-F238E27FC236}">
                <a16:creationId xmlns:a16="http://schemas.microsoft.com/office/drawing/2014/main" id="{12CEBC88-9314-E6C9-4F35-778283058F25}"/>
              </a:ext>
            </a:extLst>
          </p:cNvPr>
          <p:cNvSpPr>
            <a:spLocks noGrp="1"/>
          </p:cNvSpPr>
          <p:nvPr>
            <p:ph type="pic" sz="quarter" idx="11"/>
          </p:nvPr>
        </p:nvSpPr>
        <p:spPr/>
        <p:txBody>
          <a:bodyPr/>
          <a:lstStyle/>
          <a:p>
            <a:endParaRPr lang="en-US"/>
          </a:p>
        </p:txBody>
      </p:sp>
      <p:sp>
        <p:nvSpPr>
          <p:cNvPr id="5" name="Text Placeholder 4">
            <a:extLst>
              <a:ext uri="{FF2B5EF4-FFF2-40B4-BE49-F238E27FC236}">
                <a16:creationId xmlns:a16="http://schemas.microsoft.com/office/drawing/2014/main" id="{8AAED39C-2E2D-BAF1-AB9D-6F039558AE56}"/>
              </a:ext>
            </a:extLst>
          </p:cNvPr>
          <p:cNvSpPr>
            <a:spLocks noGrp="1"/>
          </p:cNvSpPr>
          <p:nvPr>
            <p:ph type="body" sz="quarter" idx="12"/>
          </p:nvPr>
        </p:nvSpPr>
        <p:spPr/>
        <p:txBody>
          <a:bodyPr/>
          <a:lstStyle/>
          <a:p>
            <a:endParaRPr lang="en-US" dirty="0"/>
          </a:p>
        </p:txBody>
      </p:sp>
      <p:sp>
        <p:nvSpPr>
          <p:cNvPr id="6" name="Title 5">
            <a:extLst>
              <a:ext uri="{FF2B5EF4-FFF2-40B4-BE49-F238E27FC236}">
                <a16:creationId xmlns:a16="http://schemas.microsoft.com/office/drawing/2014/main" id="{B3869339-4F70-1F66-65E1-8FCC87F4A888}"/>
              </a:ext>
            </a:extLst>
          </p:cNvPr>
          <p:cNvSpPr>
            <a:spLocks noGrp="1"/>
          </p:cNvSpPr>
          <p:nvPr>
            <p:ph type="title"/>
          </p:nvPr>
        </p:nvSpPr>
        <p:spPr>
          <a:xfrm>
            <a:off x="5741048" y="1978269"/>
            <a:ext cx="6008841" cy="2201998"/>
          </a:xfrm>
        </p:spPr>
        <p:txBody>
          <a:bodyPr>
            <a:normAutofit/>
          </a:bodyPr>
          <a:lstStyle/>
          <a:p>
            <a:r>
              <a:rPr lang="en-US" b="1" dirty="0">
                <a:latin typeface="Arial Black" panose="020B0A04020102020204" pitchFamily="34" charset="0"/>
                <a:ea typeface="Arial"/>
                <a:cs typeface="Arial"/>
              </a:rPr>
              <a:t>Demographic Shifts and Macroeconomic Outcomes: A Distributional Lens </a:t>
            </a:r>
            <a:endParaRPr lang="en-US" dirty="0">
              <a:latin typeface="Arial Black" panose="020B0A04020102020204" pitchFamily="34" charset="0"/>
              <a:cs typeface="Arial"/>
            </a:endParaRPr>
          </a:p>
        </p:txBody>
      </p:sp>
    </p:spTree>
    <p:extLst>
      <p:ext uri="{BB962C8B-B14F-4D97-AF65-F5344CB8AC3E}">
        <p14:creationId xmlns:p14="http://schemas.microsoft.com/office/powerpoint/2010/main" val="318379458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DB25-DF2B-AD8F-2584-A56B9364D0EF}"/>
              </a:ext>
            </a:extLst>
          </p:cNvPr>
          <p:cNvSpPr>
            <a:spLocks noGrp="1"/>
          </p:cNvSpPr>
          <p:nvPr>
            <p:ph type="title"/>
          </p:nvPr>
        </p:nvSpPr>
        <p:spPr>
          <a:xfrm>
            <a:off x="1389857" y="3005985"/>
            <a:ext cx="9715500" cy="978486"/>
          </a:xfrm>
        </p:spPr>
        <p:txBody>
          <a:bodyPr/>
          <a:lstStyle/>
          <a:p>
            <a:pPr algn="ctr"/>
            <a:r>
              <a:rPr lang="en-US" dirty="0"/>
              <a:t>Global Trends</a:t>
            </a:r>
          </a:p>
        </p:txBody>
      </p:sp>
    </p:spTree>
    <p:extLst>
      <p:ext uri="{BB962C8B-B14F-4D97-AF65-F5344CB8AC3E}">
        <p14:creationId xmlns:p14="http://schemas.microsoft.com/office/powerpoint/2010/main" val="221094757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6D918-E7BA-D51C-8390-2CC4DD70572A}"/>
              </a:ext>
            </a:extLst>
          </p:cNvPr>
          <p:cNvSpPr>
            <a:spLocks noGrp="1"/>
          </p:cNvSpPr>
          <p:nvPr>
            <p:ph type="title"/>
          </p:nvPr>
        </p:nvSpPr>
        <p:spPr>
          <a:xfrm>
            <a:off x="469900" y="157906"/>
            <a:ext cx="10483850" cy="978486"/>
          </a:xfrm>
        </p:spPr>
        <p:txBody>
          <a:bodyPr>
            <a:normAutofit/>
          </a:bodyPr>
          <a:lstStyle/>
          <a:p>
            <a:r>
              <a:rPr lang="en-US" dirty="0">
                <a:latin typeface="Arial Black"/>
                <a:cs typeface="Calibri"/>
              </a:rPr>
              <a:t>Two diverging demographic trends…</a:t>
            </a:r>
          </a:p>
        </p:txBody>
      </p:sp>
      <p:pic>
        <p:nvPicPr>
          <p:cNvPr id="9" name="Picture 8">
            <a:extLst>
              <a:ext uri="{FF2B5EF4-FFF2-40B4-BE49-F238E27FC236}">
                <a16:creationId xmlns:a16="http://schemas.microsoft.com/office/drawing/2014/main" id="{FDBA0F9D-0363-770E-B247-B9176A8994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9436" y="1915973"/>
            <a:ext cx="4920220" cy="3345338"/>
          </a:xfrm>
          <a:prstGeom prst="rect">
            <a:avLst/>
          </a:prstGeom>
        </p:spPr>
      </p:pic>
      <p:pic>
        <p:nvPicPr>
          <p:cNvPr id="10" name="Picture 9">
            <a:extLst>
              <a:ext uri="{FF2B5EF4-FFF2-40B4-BE49-F238E27FC236}">
                <a16:creationId xmlns:a16="http://schemas.microsoft.com/office/drawing/2014/main" id="{B5438DCE-CC07-EB88-2583-7A9AA0F8A38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19789" y="1947749"/>
            <a:ext cx="4917602" cy="3345338"/>
          </a:xfrm>
          <a:prstGeom prst="rect">
            <a:avLst/>
          </a:prstGeom>
        </p:spPr>
      </p:pic>
      <p:sp>
        <p:nvSpPr>
          <p:cNvPr id="12" name="TextBox 11">
            <a:extLst>
              <a:ext uri="{FF2B5EF4-FFF2-40B4-BE49-F238E27FC236}">
                <a16:creationId xmlns:a16="http://schemas.microsoft.com/office/drawing/2014/main" id="{D7A2ADD5-8087-803C-DB39-D963A6AC5EE5}"/>
              </a:ext>
            </a:extLst>
          </p:cNvPr>
          <p:cNvSpPr txBox="1"/>
          <p:nvPr/>
        </p:nvSpPr>
        <p:spPr>
          <a:xfrm>
            <a:off x="641606" y="969263"/>
            <a:ext cx="4859338" cy="923330"/>
          </a:xfrm>
          <a:prstGeom prst="rect">
            <a:avLst/>
          </a:prstGeom>
          <a:noFill/>
        </p:spPr>
        <p:txBody>
          <a:bodyPr wrap="square">
            <a:spAutoFit/>
          </a:bodyPr>
          <a:lstStyle/>
          <a:p>
            <a:r>
              <a:rPr lang="en-US" b="1" dirty="0">
                <a:solidFill>
                  <a:schemeClr val="tx2"/>
                </a:solidFill>
              </a:rPr>
              <a:t>Dependency Ratio, Old</a:t>
            </a:r>
          </a:p>
          <a:p>
            <a:r>
              <a:rPr lang="en-US" dirty="0">
                <a:solidFill>
                  <a:schemeClr val="tx2"/>
                </a:solidFill>
              </a:rPr>
              <a:t>(Population age 64+ compared to working age population)</a:t>
            </a:r>
          </a:p>
        </p:txBody>
      </p:sp>
      <p:sp>
        <p:nvSpPr>
          <p:cNvPr id="14" name="TextBox 13">
            <a:extLst>
              <a:ext uri="{FF2B5EF4-FFF2-40B4-BE49-F238E27FC236}">
                <a16:creationId xmlns:a16="http://schemas.microsoft.com/office/drawing/2014/main" id="{86413694-39A4-C05A-E9AB-EE806E2F8C6E}"/>
              </a:ext>
            </a:extLst>
          </p:cNvPr>
          <p:cNvSpPr txBox="1"/>
          <p:nvPr/>
        </p:nvSpPr>
        <p:spPr>
          <a:xfrm>
            <a:off x="5711825" y="969263"/>
            <a:ext cx="4796868" cy="923330"/>
          </a:xfrm>
          <a:prstGeom prst="rect">
            <a:avLst/>
          </a:prstGeom>
          <a:noFill/>
        </p:spPr>
        <p:txBody>
          <a:bodyPr wrap="square">
            <a:spAutoFit/>
          </a:bodyPr>
          <a:lstStyle/>
          <a:p>
            <a:r>
              <a:rPr lang="en-US" b="1" dirty="0">
                <a:solidFill>
                  <a:schemeClr val="tx2"/>
                </a:solidFill>
              </a:rPr>
              <a:t>Dependency Ratio, Young</a:t>
            </a:r>
          </a:p>
          <a:p>
            <a:r>
              <a:rPr lang="en-US" dirty="0">
                <a:solidFill>
                  <a:schemeClr val="tx2"/>
                </a:solidFill>
              </a:rPr>
              <a:t>(Population below age 15 compared to working age population)</a:t>
            </a:r>
          </a:p>
        </p:txBody>
      </p:sp>
      <p:pic>
        <p:nvPicPr>
          <p:cNvPr id="15" name="Picture 14">
            <a:extLst>
              <a:ext uri="{FF2B5EF4-FFF2-40B4-BE49-F238E27FC236}">
                <a16:creationId xmlns:a16="http://schemas.microsoft.com/office/drawing/2014/main" id="{8DFF4136-FF07-084D-B340-4596DCEFA080}"/>
              </a:ext>
            </a:extLst>
          </p:cNvPr>
          <p:cNvPicPr>
            <a:picLocks noChangeAspect="1"/>
          </p:cNvPicPr>
          <p:nvPr/>
        </p:nvPicPr>
        <p:blipFill>
          <a:blip r:embed="rId5"/>
          <a:stretch>
            <a:fillRect/>
          </a:stretch>
        </p:blipFill>
        <p:spPr>
          <a:xfrm>
            <a:off x="1100293" y="2257472"/>
            <a:ext cx="2853338" cy="367726"/>
          </a:xfrm>
          <a:prstGeom prst="rect">
            <a:avLst/>
          </a:prstGeom>
        </p:spPr>
      </p:pic>
      <p:sp>
        <p:nvSpPr>
          <p:cNvPr id="4" name="TextBox 3">
            <a:extLst>
              <a:ext uri="{FF2B5EF4-FFF2-40B4-BE49-F238E27FC236}">
                <a16:creationId xmlns:a16="http://schemas.microsoft.com/office/drawing/2014/main" id="{1ED871A6-8247-6CB7-7C6E-CCEF1E4F0A98}"/>
              </a:ext>
            </a:extLst>
          </p:cNvPr>
          <p:cNvSpPr txBox="1"/>
          <p:nvPr/>
        </p:nvSpPr>
        <p:spPr>
          <a:xfrm>
            <a:off x="339436" y="6405798"/>
            <a:ext cx="966038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cs typeface="Arial"/>
              </a:rPr>
              <a:t>Note: AE is Advanced Economies; EM, Emerging Markets; and LIDC, Low-income and Developing Countries</a:t>
            </a:r>
            <a:endParaRPr lang="en-US" sz="1600" dirty="0">
              <a:cs typeface="Arial" panose="020B0604020202020204"/>
            </a:endParaRPr>
          </a:p>
        </p:txBody>
      </p:sp>
      <p:sp>
        <p:nvSpPr>
          <p:cNvPr id="3" name="TextBox 2">
            <a:extLst>
              <a:ext uri="{FF2B5EF4-FFF2-40B4-BE49-F238E27FC236}">
                <a16:creationId xmlns:a16="http://schemas.microsoft.com/office/drawing/2014/main" id="{B1B74A35-D9D6-C28A-7682-880E9175E45D}"/>
              </a:ext>
            </a:extLst>
          </p:cNvPr>
          <p:cNvSpPr txBox="1"/>
          <p:nvPr/>
        </p:nvSpPr>
        <p:spPr>
          <a:xfrm>
            <a:off x="254156" y="5563704"/>
            <a:ext cx="11683688" cy="923330"/>
          </a:xfrm>
          <a:prstGeom prst="rect">
            <a:avLst/>
          </a:prstGeom>
          <a:noFill/>
        </p:spPr>
        <p:txBody>
          <a:bodyPr wrap="square" rtlCol="0">
            <a:spAutoFit/>
          </a:bodyPr>
          <a:lstStyle/>
          <a:p>
            <a:pPr fontAlgn="base"/>
            <a:r>
              <a:rPr lang="en-US" dirty="0">
                <a:solidFill>
                  <a:schemeClr val="tx2"/>
                </a:solidFill>
              </a:rPr>
              <a:t>Old-age dependency ratios in AEs and EMs have been rising, reflecting longer lifespans and declining birth rates.</a:t>
            </a:r>
          </a:p>
          <a:p>
            <a:pPr fontAlgn="base"/>
            <a:r>
              <a:rPr lang="en-US" dirty="0">
                <a:solidFill>
                  <a:schemeClr val="tx2"/>
                </a:solidFill>
              </a:rPr>
              <a:t>Young dependency ratios remain elevated in LIDCs, creating opportunities for demographic dividend.</a:t>
            </a:r>
          </a:p>
          <a:p>
            <a:endParaRPr lang="en-US" dirty="0"/>
          </a:p>
        </p:txBody>
      </p:sp>
    </p:spTree>
    <p:extLst>
      <p:ext uri="{BB962C8B-B14F-4D97-AF65-F5344CB8AC3E}">
        <p14:creationId xmlns:p14="http://schemas.microsoft.com/office/powerpoint/2010/main" val="386121113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1AB01-5DFE-0205-971E-2C6938D5579A}"/>
              </a:ext>
            </a:extLst>
          </p:cNvPr>
          <p:cNvSpPr>
            <a:spLocks noGrp="1"/>
          </p:cNvSpPr>
          <p:nvPr>
            <p:ph type="title"/>
          </p:nvPr>
        </p:nvSpPr>
        <p:spPr>
          <a:xfrm>
            <a:off x="285749" y="215135"/>
            <a:ext cx="11959399" cy="978486"/>
          </a:xfrm>
        </p:spPr>
        <p:txBody>
          <a:bodyPr/>
          <a:lstStyle/>
          <a:p>
            <a:r>
              <a:rPr lang="en-US" dirty="0">
                <a:latin typeface="Arial Black"/>
              </a:rPr>
              <a:t>The aging trend in AEs and EMs is projected to continue…</a:t>
            </a:r>
          </a:p>
        </p:txBody>
      </p:sp>
      <p:graphicFrame>
        <p:nvGraphicFramePr>
          <p:cNvPr id="4" name="Chart 3">
            <a:extLst>
              <a:ext uri="{FF2B5EF4-FFF2-40B4-BE49-F238E27FC236}">
                <a16:creationId xmlns:a16="http://schemas.microsoft.com/office/drawing/2014/main" id="{4EA37FF6-6D36-A652-347E-803ED3130514}"/>
              </a:ext>
            </a:extLst>
          </p:cNvPr>
          <p:cNvGraphicFramePr>
            <a:graphicFrameLocks noGrp="1"/>
          </p:cNvGraphicFramePr>
          <p:nvPr>
            <p:extLst>
              <p:ext uri="{D42A27DB-BD31-4B8C-83A1-F6EECF244321}">
                <p14:modId xmlns:p14="http://schemas.microsoft.com/office/powerpoint/2010/main" val="2042592681"/>
              </p:ext>
            </p:extLst>
          </p:nvPr>
        </p:nvGraphicFramePr>
        <p:xfrm>
          <a:off x="285749" y="1322243"/>
          <a:ext cx="5725887" cy="483870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13EA757A-295E-033F-10C1-BB04B34C61E0}"/>
              </a:ext>
            </a:extLst>
          </p:cNvPr>
          <p:cNvGraphicFramePr>
            <a:graphicFrameLocks noGrp="1"/>
          </p:cNvGraphicFramePr>
          <p:nvPr>
            <p:extLst>
              <p:ext uri="{D42A27DB-BD31-4B8C-83A1-F6EECF244321}">
                <p14:modId xmlns:p14="http://schemas.microsoft.com/office/powerpoint/2010/main" val="2207624466"/>
              </p:ext>
            </p:extLst>
          </p:nvPr>
        </p:nvGraphicFramePr>
        <p:xfrm>
          <a:off x="6011636" y="1322242"/>
          <a:ext cx="6064784" cy="483870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138848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1BCBD-AC1E-397E-741E-29F6C6193D78}"/>
              </a:ext>
            </a:extLst>
          </p:cNvPr>
          <p:cNvSpPr>
            <a:spLocks noGrp="1"/>
          </p:cNvSpPr>
          <p:nvPr>
            <p:ph type="title"/>
          </p:nvPr>
        </p:nvSpPr>
        <p:spPr>
          <a:xfrm>
            <a:off x="287442" y="241795"/>
            <a:ext cx="10436678" cy="978486"/>
          </a:xfrm>
        </p:spPr>
        <p:txBody>
          <a:bodyPr>
            <a:normAutofit fontScale="90000"/>
          </a:bodyPr>
          <a:lstStyle/>
          <a:p>
            <a:r>
              <a:rPr lang="en-US" dirty="0">
                <a:latin typeface="Arial Black"/>
              </a:rPr>
              <a:t>…and in low-income and developing countries (LIDCs), the young dependency ratio is projected to remain elevated. </a:t>
            </a:r>
          </a:p>
        </p:txBody>
      </p:sp>
      <p:graphicFrame>
        <p:nvGraphicFramePr>
          <p:cNvPr id="4" name="Chart 3">
            <a:extLst>
              <a:ext uri="{FF2B5EF4-FFF2-40B4-BE49-F238E27FC236}">
                <a16:creationId xmlns:a16="http://schemas.microsoft.com/office/drawing/2014/main" id="{D55CE6C6-6C1F-7864-C9A1-E8233E29D820}"/>
              </a:ext>
            </a:extLst>
          </p:cNvPr>
          <p:cNvGraphicFramePr>
            <a:graphicFrameLocks noGrp="1"/>
          </p:cNvGraphicFramePr>
          <p:nvPr>
            <p:extLst>
              <p:ext uri="{D42A27DB-BD31-4B8C-83A1-F6EECF244321}">
                <p14:modId xmlns:p14="http://schemas.microsoft.com/office/powerpoint/2010/main" val="3667543712"/>
              </p:ext>
            </p:extLst>
          </p:nvPr>
        </p:nvGraphicFramePr>
        <p:xfrm>
          <a:off x="2169011" y="1352922"/>
          <a:ext cx="7853977" cy="510926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6545080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29B2A-4410-09E9-BE8E-CCB145D76A60}"/>
              </a:ext>
            </a:extLst>
          </p:cNvPr>
          <p:cNvSpPr>
            <a:spLocks noGrp="1"/>
          </p:cNvSpPr>
          <p:nvPr>
            <p:ph type="title"/>
          </p:nvPr>
        </p:nvSpPr>
        <p:spPr>
          <a:xfrm>
            <a:off x="608054" y="269891"/>
            <a:ext cx="11583945" cy="978486"/>
          </a:xfrm>
        </p:spPr>
        <p:txBody>
          <a:bodyPr>
            <a:normAutofit fontScale="90000"/>
          </a:bodyPr>
          <a:lstStyle/>
          <a:p>
            <a:r>
              <a:rPr lang="en-US" dirty="0">
                <a:latin typeface="Arial Black"/>
                <a:cs typeface="Calibri"/>
              </a:rPr>
              <a:t>For aging economies, increasing female labor force participation (FLFP) helps mitigate the effects of demographic shifts.</a:t>
            </a:r>
          </a:p>
        </p:txBody>
      </p:sp>
      <p:sp>
        <p:nvSpPr>
          <p:cNvPr id="6" name="TextBox 5">
            <a:extLst>
              <a:ext uri="{FF2B5EF4-FFF2-40B4-BE49-F238E27FC236}">
                <a16:creationId xmlns:a16="http://schemas.microsoft.com/office/drawing/2014/main" id="{DADCEF5F-33F0-BDCA-874C-222358ABE3AF}"/>
              </a:ext>
            </a:extLst>
          </p:cNvPr>
          <p:cNvSpPr txBox="1"/>
          <p:nvPr/>
        </p:nvSpPr>
        <p:spPr>
          <a:xfrm>
            <a:off x="1022493" y="5688310"/>
            <a:ext cx="4856162" cy="461665"/>
          </a:xfrm>
          <a:prstGeom prst="rect">
            <a:avLst/>
          </a:prstGeom>
          <a:noFill/>
        </p:spPr>
        <p:txBody>
          <a:bodyPr wrap="square" rtlCol="0">
            <a:spAutoFit/>
          </a:bodyPr>
          <a:lstStyle/>
          <a:p>
            <a:r>
              <a:rPr lang="en-US" sz="1200" dirty="0"/>
              <a:t>Note: In AEs, we assume FLFP increases such that MLFP-FLFP is no more than 7 percentage points. </a:t>
            </a:r>
          </a:p>
        </p:txBody>
      </p:sp>
      <p:sp>
        <p:nvSpPr>
          <p:cNvPr id="7" name="TextBox 6">
            <a:extLst>
              <a:ext uri="{FF2B5EF4-FFF2-40B4-BE49-F238E27FC236}">
                <a16:creationId xmlns:a16="http://schemas.microsoft.com/office/drawing/2014/main" id="{A666404E-F349-1B29-EB43-986F030B03E3}"/>
              </a:ext>
            </a:extLst>
          </p:cNvPr>
          <p:cNvSpPr txBox="1"/>
          <p:nvPr/>
        </p:nvSpPr>
        <p:spPr>
          <a:xfrm>
            <a:off x="6708443" y="5692512"/>
            <a:ext cx="5170474" cy="461665"/>
          </a:xfrm>
          <a:prstGeom prst="rect">
            <a:avLst/>
          </a:prstGeom>
          <a:noFill/>
        </p:spPr>
        <p:txBody>
          <a:bodyPr wrap="square" rtlCol="0">
            <a:spAutoFit/>
          </a:bodyPr>
          <a:lstStyle/>
          <a:p>
            <a:r>
              <a:rPr lang="en-US" sz="1200" dirty="0"/>
              <a:t>Note: In EMs, we assume FLFP increases such that MLFP-FLFP is no more than 10.25 percentage points.</a:t>
            </a:r>
          </a:p>
        </p:txBody>
      </p:sp>
      <p:sp>
        <p:nvSpPr>
          <p:cNvPr id="8" name="TextBox 7">
            <a:extLst>
              <a:ext uri="{FF2B5EF4-FFF2-40B4-BE49-F238E27FC236}">
                <a16:creationId xmlns:a16="http://schemas.microsoft.com/office/drawing/2014/main" id="{1CC7D6FD-DB47-49C2-3D96-21F1C4F5BA2B}"/>
              </a:ext>
            </a:extLst>
          </p:cNvPr>
          <p:cNvSpPr txBox="1"/>
          <p:nvPr/>
        </p:nvSpPr>
        <p:spPr>
          <a:xfrm>
            <a:off x="1079908" y="2448357"/>
            <a:ext cx="313508" cy="369332"/>
          </a:xfrm>
          <a:prstGeom prst="rect">
            <a:avLst/>
          </a:prstGeom>
          <a:solidFill>
            <a:schemeClr val="bg1"/>
          </a:solidFill>
        </p:spPr>
        <p:txBody>
          <a:bodyPr wrap="square" rtlCol="0">
            <a:spAutoFit/>
          </a:bodyPr>
          <a:lstStyle/>
          <a:p>
            <a:endParaRPr lang="en-US"/>
          </a:p>
        </p:txBody>
      </p:sp>
      <p:sp>
        <p:nvSpPr>
          <p:cNvPr id="9" name="TextBox 8">
            <a:extLst>
              <a:ext uri="{FF2B5EF4-FFF2-40B4-BE49-F238E27FC236}">
                <a16:creationId xmlns:a16="http://schemas.microsoft.com/office/drawing/2014/main" id="{2FEEA3D8-03CA-A68D-7871-C33A043D2331}"/>
              </a:ext>
            </a:extLst>
          </p:cNvPr>
          <p:cNvSpPr txBox="1"/>
          <p:nvPr/>
        </p:nvSpPr>
        <p:spPr>
          <a:xfrm>
            <a:off x="6053596" y="1943861"/>
            <a:ext cx="313508" cy="369332"/>
          </a:xfrm>
          <a:prstGeom prst="rect">
            <a:avLst/>
          </a:prstGeom>
          <a:solidFill>
            <a:schemeClr val="bg1"/>
          </a:solidFill>
        </p:spPr>
        <p:txBody>
          <a:bodyPr wrap="square" rtlCol="0">
            <a:spAutoFit/>
          </a:bodyPr>
          <a:lstStyle/>
          <a:p>
            <a:endParaRPr lang="en-US"/>
          </a:p>
        </p:txBody>
      </p:sp>
      <p:graphicFrame>
        <p:nvGraphicFramePr>
          <p:cNvPr id="3" name="Chart 2">
            <a:extLst>
              <a:ext uri="{FF2B5EF4-FFF2-40B4-BE49-F238E27FC236}">
                <a16:creationId xmlns:a16="http://schemas.microsoft.com/office/drawing/2014/main" id="{78CDFCA0-7F9A-AAD1-D4D7-81C42C4DF13D}"/>
              </a:ext>
            </a:extLst>
          </p:cNvPr>
          <p:cNvGraphicFramePr>
            <a:graphicFrameLocks noGrp="1"/>
          </p:cNvGraphicFramePr>
          <p:nvPr>
            <p:extLst>
              <p:ext uri="{D42A27DB-BD31-4B8C-83A1-F6EECF244321}">
                <p14:modId xmlns:p14="http://schemas.microsoft.com/office/powerpoint/2010/main" val="1346756913"/>
              </p:ext>
            </p:extLst>
          </p:nvPr>
        </p:nvGraphicFramePr>
        <p:xfrm>
          <a:off x="6210349" y="1346886"/>
          <a:ext cx="5512093" cy="42227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31CABFFC-6E29-D82D-BE8B-BFDBC1C82B63}"/>
              </a:ext>
            </a:extLst>
          </p:cNvPr>
          <p:cNvGraphicFramePr>
            <a:graphicFrameLocks noGrp="1"/>
          </p:cNvGraphicFramePr>
          <p:nvPr>
            <p:extLst>
              <p:ext uri="{D42A27DB-BD31-4B8C-83A1-F6EECF244321}">
                <p14:modId xmlns:p14="http://schemas.microsoft.com/office/powerpoint/2010/main" val="912393967"/>
              </p:ext>
            </p:extLst>
          </p:nvPr>
        </p:nvGraphicFramePr>
        <p:xfrm>
          <a:off x="469557" y="1346886"/>
          <a:ext cx="5545025" cy="4127793"/>
        </p:xfrm>
        <a:graphic>
          <a:graphicData uri="http://schemas.openxmlformats.org/drawingml/2006/chart">
            <c:chart xmlns:c="http://schemas.openxmlformats.org/drawingml/2006/chart" xmlns:r="http://schemas.openxmlformats.org/officeDocument/2006/relationships" r:id="rId4"/>
          </a:graphicData>
        </a:graphic>
      </p:graphicFrame>
      <p:sp>
        <p:nvSpPr>
          <p:cNvPr id="4" name="TextBox 3">
            <a:extLst>
              <a:ext uri="{FF2B5EF4-FFF2-40B4-BE49-F238E27FC236}">
                <a16:creationId xmlns:a16="http://schemas.microsoft.com/office/drawing/2014/main" id="{613949F4-5B30-88ED-044A-095577958069}"/>
              </a:ext>
            </a:extLst>
          </p:cNvPr>
          <p:cNvSpPr txBox="1"/>
          <p:nvPr/>
        </p:nvSpPr>
        <p:spPr>
          <a:xfrm>
            <a:off x="469557" y="6301762"/>
            <a:ext cx="8957662" cy="369332"/>
          </a:xfrm>
          <a:prstGeom prst="rect">
            <a:avLst/>
          </a:prstGeom>
          <a:noFill/>
        </p:spPr>
        <p:txBody>
          <a:bodyPr wrap="square" rtlCol="0">
            <a:spAutoFit/>
          </a:bodyPr>
          <a:lstStyle/>
          <a:p>
            <a:r>
              <a:rPr lang="en-US" dirty="0"/>
              <a:t>Source: </a:t>
            </a:r>
            <a:r>
              <a:rPr lang="en-US" dirty="0">
                <a:hlinkClick r:id="rId5"/>
              </a:rPr>
              <a:t>Promoting Gender Equality and Tackling Demographic Challenges</a:t>
            </a:r>
            <a:endParaRPr lang="en-US" dirty="0"/>
          </a:p>
        </p:txBody>
      </p:sp>
    </p:spTree>
    <p:extLst>
      <p:ext uri="{BB962C8B-B14F-4D97-AF65-F5344CB8AC3E}">
        <p14:creationId xmlns:p14="http://schemas.microsoft.com/office/powerpoint/2010/main" val="272100855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DB25-DF2B-AD8F-2584-A56B9364D0EF}"/>
              </a:ext>
            </a:extLst>
          </p:cNvPr>
          <p:cNvSpPr>
            <a:spLocks noGrp="1"/>
          </p:cNvSpPr>
          <p:nvPr>
            <p:ph type="title"/>
          </p:nvPr>
        </p:nvSpPr>
        <p:spPr>
          <a:xfrm>
            <a:off x="1389857" y="3005985"/>
            <a:ext cx="9715500" cy="978486"/>
          </a:xfrm>
        </p:spPr>
        <p:txBody>
          <a:bodyPr/>
          <a:lstStyle/>
          <a:p>
            <a:pPr algn="ctr"/>
            <a:r>
              <a:rPr lang="en-US" dirty="0"/>
              <a:t>Policies</a:t>
            </a:r>
          </a:p>
        </p:txBody>
      </p:sp>
    </p:spTree>
    <p:extLst>
      <p:ext uri="{BB962C8B-B14F-4D97-AF65-F5344CB8AC3E}">
        <p14:creationId xmlns:p14="http://schemas.microsoft.com/office/powerpoint/2010/main" val="117498928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6992F-CA8C-1B6B-EB3A-2DA196B99C9F}"/>
              </a:ext>
            </a:extLst>
          </p:cNvPr>
          <p:cNvSpPr>
            <a:spLocks noGrp="1"/>
          </p:cNvSpPr>
          <p:nvPr>
            <p:ph type="title"/>
          </p:nvPr>
        </p:nvSpPr>
        <p:spPr>
          <a:xfrm>
            <a:off x="570451" y="156917"/>
            <a:ext cx="10907720" cy="978486"/>
          </a:xfrm>
        </p:spPr>
        <p:txBody>
          <a:bodyPr>
            <a:normAutofit/>
          </a:bodyPr>
          <a:lstStyle/>
          <a:p>
            <a:r>
              <a:rPr lang="en-US" dirty="0">
                <a:latin typeface="Arial Black" panose="020B0A04020102020204" pitchFamily="34" charset="0"/>
                <a:cs typeface="Calibri" panose="020F0502020204030204" pitchFamily="34" charset="0"/>
              </a:rPr>
              <a:t>How Do We Think About The Fertility, Human Capital Investment And Work Choices?  </a:t>
            </a:r>
          </a:p>
        </p:txBody>
      </p:sp>
      <p:sp>
        <p:nvSpPr>
          <p:cNvPr id="22" name="Text Placeholder 2">
            <a:extLst>
              <a:ext uri="{FF2B5EF4-FFF2-40B4-BE49-F238E27FC236}">
                <a16:creationId xmlns:a16="http://schemas.microsoft.com/office/drawing/2014/main" id="{17625EF5-2AF6-350A-A4E4-0A6749259A03}"/>
              </a:ext>
            </a:extLst>
          </p:cNvPr>
          <p:cNvSpPr txBox="1">
            <a:spLocks/>
          </p:cNvSpPr>
          <p:nvPr/>
        </p:nvSpPr>
        <p:spPr>
          <a:xfrm>
            <a:off x="2641794" y="1135403"/>
            <a:ext cx="6419313" cy="579723"/>
          </a:xfrm>
          <a:prstGeom prst="rect">
            <a:avLst/>
          </a:prstGeom>
        </p:spPr>
        <p:txBody>
          <a:bodyPr vert="horz" lIns="0" tIns="137160" rIns="0" bIns="0" rtlCol="0">
            <a:noAutofit/>
          </a:bodyPr>
          <a:lst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sz="1800" b="1" dirty="0">
                <a:latin typeface="Arial" panose="020B0604020202020204" pitchFamily="34" charset="0"/>
                <a:ea typeface="Times New Roman" panose="02020603050405020304" pitchFamily="18" charset="0"/>
                <a:cs typeface="Arial" panose="020B0604020202020204" pitchFamily="34" charset="0"/>
              </a:rPr>
              <a:t>Policies should alleviate time and resource constraints.</a:t>
            </a:r>
            <a:endParaRPr lang="en-US" sz="1800" dirty="0">
              <a:latin typeface="Arial" panose="020B0604020202020204" pitchFamily="34" charset="0"/>
              <a:ea typeface="SimSun" panose="02010600030101010101" pitchFamily="2" charset="-122"/>
              <a:cs typeface="Times New Roman" panose="02020603050405020304" pitchFamily="18" charset="0"/>
            </a:endParaRPr>
          </a:p>
        </p:txBody>
      </p:sp>
      <p:pic>
        <p:nvPicPr>
          <p:cNvPr id="6" name="Picture 5">
            <a:extLst>
              <a:ext uri="{FF2B5EF4-FFF2-40B4-BE49-F238E27FC236}">
                <a16:creationId xmlns:a16="http://schemas.microsoft.com/office/drawing/2014/main" id="{0E35EB85-8991-1BE2-C53B-CA50C4171B50}"/>
              </a:ext>
            </a:extLst>
          </p:cNvPr>
          <p:cNvPicPr>
            <a:picLocks noChangeAspect="1"/>
          </p:cNvPicPr>
          <p:nvPr/>
        </p:nvPicPr>
        <p:blipFill>
          <a:blip r:embed="rId3"/>
          <a:stretch>
            <a:fillRect/>
          </a:stretch>
        </p:blipFill>
        <p:spPr>
          <a:xfrm>
            <a:off x="1967023" y="1626734"/>
            <a:ext cx="8002363" cy="4946222"/>
          </a:xfrm>
          <a:prstGeom prst="rect">
            <a:avLst/>
          </a:prstGeom>
        </p:spPr>
      </p:pic>
    </p:spTree>
    <p:extLst>
      <p:ext uri="{BB962C8B-B14F-4D97-AF65-F5344CB8AC3E}">
        <p14:creationId xmlns:p14="http://schemas.microsoft.com/office/powerpoint/2010/main" val="130574981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E234A-41F7-CDC3-E2AC-5DA103E078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95B3D3-1492-7B81-FB11-35141B2B0163}"/>
              </a:ext>
            </a:extLst>
          </p:cNvPr>
          <p:cNvSpPr>
            <a:spLocks noGrp="1"/>
          </p:cNvSpPr>
          <p:nvPr>
            <p:ph type="title"/>
          </p:nvPr>
        </p:nvSpPr>
        <p:spPr>
          <a:xfrm>
            <a:off x="445470" y="222421"/>
            <a:ext cx="10907720" cy="978486"/>
          </a:xfrm>
        </p:spPr>
        <p:txBody>
          <a:bodyPr>
            <a:normAutofit/>
          </a:bodyPr>
          <a:lstStyle/>
          <a:p>
            <a:r>
              <a:rPr lang="en-US" dirty="0">
                <a:latin typeface="Arial Black" panose="020B0A04020102020204" pitchFamily="34" charset="0"/>
                <a:cs typeface="Calibri" panose="020F0502020204030204" pitchFamily="34" charset="0"/>
              </a:rPr>
              <a:t>Kenya Time Use Survey Shows Gaps Between Rural, Urban and Men and Women</a:t>
            </a:r>
          </a:p>
        </p:txBody>
      </p:sp>
      <p:sp>
        <p:nvSpPr>
          <p:cNvPr id="3" name="TextBox 2">
            <a:extLst>
              <a:ext uri="{FF2B5EF4-FFF2-40B4-BE49-F238E27FC236}">
                <a16:creationId xmlns:a16="http://schemas.microsoft.com/office/drawing/2014/main" id="{E17B5BA1-2C3A-1304-DE61-F920FB1EADE3}"/>
              </a:ext>
            </a:extLst>
          </p:cNvPr>
          <p:cNvSpPr txBox="1"/>
          <p:nvPr/>
        </p:nvSpPr>
        <p:spPr>
          <a:xfrm>
            <a:off x="8291384" y="1274564"/>
            <a:ext cx="3756454" cy="4739759"/>
          </a:xfrm>
          <a:prstGeom prst="rect">
            <a:avLst/>
          </a:prstGeom>
          <a:noFill/>
        </p:spPr>
        <p:txBody>
          <a:bodyPr wrap="square" rtlCol="0">
            <a:spAutoFit/>
          </a:bodyPr>
          <a:lstStyle/>
          <a:p>
            <a:r>
              <a:rPr lang="en-US" b="1" dirty="0">
                <a:solidFill>
                  <a:schemeClr val="tx2"/>
                </a:solidFill>
              </a:rPr>
              <a:t>Key Takeaways</a:t>
            </a:r>
          </a:p>
          <a:p>
            <a:endParaRPr lang="en-US" sz="800" dirty="0">
              <a:solidFill>
                <a:schemeClr val="tx2"/>
              </a:solidFill>
            </a:endParaRPr>
          </a:p>
          <a:p>
            <a:pPr marL="171450" indent="-171450">
              <a:buChar char="•"/>
            </a:pPr>
            <a:r>
              <a:rPr lang="en-US" sz="1600" dirty="0">
                <a:solidFill>
                  <a:schemeClr val="tx2"/>
                </a:solidFill>
              </a:rPr>
              <a:t>Women spend significantly more time on unpaid care and domestic work, with rural women having the highest burden. </a:t>
            </a:r>
          </a:p>
          <a:p>
            <a:pPr marL="171450" indent="-171450">
              <a:buChar char="•"/>
            </a:pPr>
            <a:endParaRPr lang="en-US" sz="1600" dirty="0">
              <a:solidFill>
                <a:schemeClr val="tx2"/>
              </a:solidFill>
            </a:endParaRPr>
          </a:p>
          <a:p>
            <a:pPr marL="171450" indent="-171450">
              <a:buChar char="•"/>
            </a:pPr>
            <a:r>
              <a:rPr lang="en-US" sz="1600" dirty="0">
                <a:solidFill>
                  <a:schemeClr val="tx2"/>
                </a:solidFill>
              </a:rPr>
              <a:t>Women also spend less time learning than men. </a:t>
            </a:r>
          </a:p>
          <a:p>
            <a:pPr marL="171450" indent="-171450">
              <a:buChar char="•"/>
            </a:pPr>
            <a:endParaRPr lang="en-US" sz="1600" dirty="0">
              <a:solidFill>
                <a:schemeClr val="tx2"/>
              </a:solidFill>
            </a:endParaRPr>
          </a:p>
          <a:p>
            <a:pPr marL="171450" indent="-171450">
              <a:buChar char="•"/>
            </a:pPr>
            <a:r>
              <a:rPr lang="en-US" sz="1600" dirty="0">
                <a:solidFill>
                  <a:schemeClr val="tx2"/>
                </a:solidFill>
              </a:rPr>
              <a:t>Men spend more time on socializing/ communication, culture/leisure, and self-care than women. </a:t>
            </a:r>
          </a:p>
          <a:p>
            <a:pPr marL="171450" indent="-171450">
              <a:buChar char="•"/>
            </a:pPr>
            <a:endParaRPr lang="en-US" sz="1000" dirty="0">
              <a:solidFill>
                <a:schemeClr val="tx2"/>
              </a:solidFill>
            </a:endParaRPr>
          </a:p>
          <a:p>
            <a:pPr marL="171450" indent="-171450">
              <a:buChar char="•"/>
            </a:pPr>
            <a:endParaRPr lang="en-US" sz="1000" dirty="0">
              <a:solidFill>
                <a:schemeClr val="tx2"/>
              </a:solidFill>
            </a:endParaRPr>
          </a:p>
          <a:p>
            <a:pPr marL="171450" indent="-171450">
              <a:buChar char="•"/>
            </a:pPr>
            <a:r>
              <a:rPr lang="en-US" sz="1600" dirty="0">
                <a:solidFill>
                  <a:schemeClr val="tx2"/>
                </a:solidFill>
              </a:rPr>
              <a:t>Gender-disaggregated time use data is essential for designing targeted interventions—rural and urban contexts require tailored policy responses.</a:t>
            </a:r>
          </a:p>
        </p:txBody>
      </p:sp>
      <p:pic>
        <p:nvPicPr>
          <p:cNvPr id="7" name="Picture 6">
            <a:extLst>
              <a:ext uri="{FF2B5EF4-FFF2-40B4-BE49-F238E27FC236}">
                <a16:creationId xmlns:a16="http://schemas.microsoft.com/office/drawing/2014/main" id="{670F55B6-1F19-4E50-621B-B27873154400}"/>
              </a:ext>
            </a:extLst>
          </p:cNvPr>
          <p:cNvPicPr>
            <a:picLocks noChangeAspect="1"/>
          </p:cNvPicPr>
          <p:nvPr/>
        </p:nvPicPr>
        <p:blipFill>
          <a:blip r:embed="rId3"/>
          <a:stretch>
            <a:fillRect/>
          </a:stretch>
        </p:blipFill>
        <p:spPr>
          <a:xfrm>
            <a:off x="564292" y="1099752"/>
            <a:ext cx="7467319" cy="5362170"/>
          </a:xfrm>
          <a:prstGeom prst="rect">
            <a:avLst/>
          </a:prstGeom>
        </p:spPr>
      </p:pic>
      <p:sp>
        <p:nvSpPr>
          <p:cNvPr id="14" name="TextBox 13">
            <a:extLst>
              <a:ext uri="{FF2B5EF4-FFF2-40B4-BE49-F238E27FC236}">
                <a16:creationId xmlns:a16="http://schemas.microsoft.com/office/drawing/2014/main" id="{28028E7F-51B7-0F29-0386-D9811867E739}"/>
              </a:ext>
            </a:extLst>
          </p:cNvPr>
          <p:cNvSpPr txBox="1"/>
          <p:nvPr/>
        </p:nvSpPr>
        <p:spPr>
          <a:xfrm>
            <a:off x="8322276" y="6087980"/>
            <a:ext cx="3305432" cy="523220"/>
          </a:xfrm>
          <a:prstGeom prst="rect">
            <a:avLst/>
          </a:prstGeom>
          <a:noFill/>
        </p:spPr>
        <p:txBody>
          <a:bodyPr wrap="square" rtlCol="0">
            <a:spAutoFit/>
          </a:bodyPr>
          <a:lstStyle/>
          <a:p>
            <a:r>
              <a:rPr lang="en-US" sz="1400" dirty="0"/>
              <a:t>Source: </a:t>
            </a:r>
            <a:r>
              <a:rPr lang="en-US" sz="1400" dirty="0">
                <a:hlinkClick r:id="rId4"/>
              </a:rPr>
              <a:t>Kenya - 2021 Kenya Time Use Survey</a:t>
            </a:r>
            <a:endParaRPr lang="en-US" sz="1400" dirty="0"/>
          </a:p>
        </p:txBody>
      </p:sp>
    </p:spTree>
    <p:extLst>
      <p:ext uri="{BB962C8B-B14F-4D97-AF65-F5344CB8AC3E}">
        <p14:creationId xmlns:p14="http://schemas.microsoft.com/office/powerpoint/2010/main" val="148622357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18BA0-BB44-7AD0-7DF1-D2EA7D7EFB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3285DF-6894-15DD-CC8E-4857B5DFCB2A}"/>
              </a:ext>
            </a:extLst>
          </p:cNvPr>
          <p:cNvSpPr>
            <a:spLocks noGrp="1"/>
          </p:cNvSpPr>
          <p:nvPr>
            <p:ph type="title"/>
          </p:nvPr>
        </p:nvSpPr>
        <p:spPr>
          <a:xfrm>
            <a:off x="445470" y="222421"/>
            <a:ext cx="10907720" cy="978486"/>
          </a:xfrm>
        </p:spPr>
        <p:txBody>
          <a:bodyPr>
            <a:normAutofit/>
          </a:bodyPr>
          <a:lstStyle/>
          <a:p>
            <a:r>
              <a:rPr lang="en-US" dirty="0">
                <a:latin typeface="Arial Black" panose="020B0A04020102020204" pitchFamily="34" charset="0"/>
                <a:cs typeface="Calibri" panose="020F0502020204030204" pitchFamily="34" charset="0"/>
              </a:rPr>
              <a:t>Mauritius time use data also points to gender gaps.</a:t>
            </a:r>
          </a:p>
        </p:txBody>
      </p:sp>
      <p:sp>
        <p:nvSpPr>
          <p:cNvPr id="14" name="TextBox 13">
            <a:extLst>
              <a:ext uri="{FF2B5EF4-FFF2-40B4-BE49-F238E27FC236}">
                <a16:creationId xmlns:a16="http://schemas.microsoft.com/office/drawing/2014/main" id="{CA8DE7CE-A7AB-8341-FCA7-F6A0273EE18C}"/>
              </a:ext>
            </a:extLst>
          </p:cNvPr>
          <p:cNvSpPr txBox="1"/>
          <p:nvPr/>
        </p:nvSpPr>
        <p:spPr>
          <a:xfrm>
            <a:off x="445470" y="6155034"/>
            <a:ext cx="10095470" cy="307777"/>
          </a:xfrm>
          <a:prstGeom prst="rect">
            <a:avLst/>
          </a:prstGeom>
          <a:noFill/>
        </p:spPr>
        <p:txBody>
          <a:bodyPr wrap="square" rtlCol="0">
            <a:spAutoFit/>
          </a:bodyPr>
          <a:lstStyle/>
          <a:p>
            <a:r>
              <a:rPr lang="en-US" sz="1400" dirty="0"/>
              <a:t>Source: </a:t>
            </a:r>
            <a:r>
              <a:rPr lang="en-US" sz="1400" dirty="0">
                <a:hlinkClick r:id="rId3"/>
              </a:rPr>
              <a:t>TUS_report_Year_2018-19_050321.pdf</a:t>
            </a:r>
            <a:endParaRPr lang="en-US" sz="1400" dirty="0"/>
          </a:p>
        </p:txBody>
      </p:sp>
      <p:pic>
        <p:nvPicPr>
          <p:cNvPr id="9" name="Picture 8">
            <a:extLst>
              <a:ext uri="{FF2B5EF4-FFF2-40B4-BE49-F238E27FC236}">
                <a16:creationId xmlns:a16="http://schemas.microsoft.com/office/drawing/2014/main" id="{5E69A9FF-DCB2-D509-89B6-D36C3D7E11BF}"/>
              </a:ext>
            </a:extLst>
          </p:cNvPr>
          <p:cNvPicPr>
            <a:picLocks noChangeAspect="1"/>
          </p:cNvPicPr>
          <p:nvPr/>
        </p:nvPicPr>
        <p:blipFill>
          <a:blip r:embed="rId4"/>
          <a:stretch>
            <a:fillRect/>
          </a:stretch>
        </p:blipFill>
        <p:spPr>
          <a:xfrm>
            <a:off x="318618" y="1133854"/>
            <a:ext cx="7600000" cy="5021180"/>
          </a:xfrm>
          <a:prstGeom prst="rect">
            <a:avLst/>
          </a:prstGeom>
        </p:spPr>
      </p:pic>
      <p:sp>
        <p:nvSpPr>
          <p:cNvPr id="20" name="TextBox 19"/>
          <p:cNvSpPr txBox="1"/>
          <p:nvPr/>
        </p:nvSpPr>
        <p:spPr>
          <a:xfrm>
            <a:off x="8100000" y="1300000"/>
            <a:ext cx="3800000" cy="4800000"/>
          </a:xfrm>
          <a:prstGeom prst="rect">
            <a:avLst/>
          </a:prstGeom>
        </p:spPr>
        <p:txBody>
          <a:bodyPr wrap="square" rtlCol="0"/>
          <a:lstStyle/>
          <a:p>
            <a:r>
              <a:rPr lang="en-US" sz="1400" b="1" dirty="0">
                <a:solidFill>
                  <a:srgbClr val="003764"/>
                </a:solidFill>
              </a:rPr>
              <a:t>Key Takeaways</a:t>
            </a:r>
          </a:p>
          <a:p>
            <a:endParaRPr lang="en-US" sz="600"/>
          </a:p>
          <a:p>
            <a:pPr marL="171450" indent="-171450">
              <a:buChar char="•"/>
            </a:pPr>
            <a:r>
              <a:rPr lang="en-US" sz="1200">
                <a:solidFill>
                  <a:srgbClr val="003764"/>
                </a:solidFill>
              </a:rPr>
              <a:t>Unpaid care work represents a significant share of GDP across sub-Saharan Africa—ranging from about 3 percent in Mauritius to over 8 percent in Madagascar—yet remains excluded from national income measurement.</a:t>
            </a:r>
          </a:p>
          <a:p>
            <a:endParaRPr lang="en-US" sz="600"/>
          </a:p>
          <a:p>
            <a:pPr marL="171450" indent="-171450">
              <a:buChar char="•"/>
            </a:pPr>
            <a:r>
              <a:rPr lang="en-US" sz="1200">
                <a:solidFill>
                  <a:srgbClr val="003764"/>
                </a:solidFill>
              </a:rPr>
              <a:t>Women bear a disproportionate share of this burden, with their unpaid care contributions consistently exceeding those of men across all countries in the sample.</a:t>
            </a:r>
          </a:p>
          <a:p>
            <a:endParaRPr lang="en-US" sz="600"/>
          </a:p>
          <a:p>
            <a:pPr marL="171450" indent="-171450">
              <a:buChar char="•"/>
            </a:pPr>
            <a:r>
              <a:rPr lang="en-US" sz="1200">
                <a:solidFill>
                  <a:srgbClr val="003764"/>
                </a:solidFill>
              </a:rPr>
              <a:t>Market-based income measures understate the returns to public investment in time-saving infrastructure and care services, as the resulting gains in women’s productivity and labor supply are not fully captured.</a:t>
            </a:r>
          </a:p>
          <a:p>
            <a:endParaRPr lang="en-US" sz="600"/>
          </a:p>
          <a:p>
            <a:pPr marL="171450" indent="-171450">
              <a:buChar char="•"/>
            </a:pPr>
            <a:r>
              <a:rPr lang="en-US" sz="1200">
                <a:solidFill>
                  <a:srgbClr val="003764"/>
                </a:solidFill>
              </a:rPr>
              <a:t>Improved sex-disaggregated time use data collection is needed to inform more effective policy design, given considerable heterogeneity across countries and contexts.</a:t>
            </a:r>
          </a:p>
        </p:txBody>
      </p:sp>
    </p:spTree>
    <p:extLst>
      <p:ext uri="{BB962C8B-B14F-4D97-AF65-F5344CB8AC3E}">
        <p14:creationId xmlns:p14="http://schemas.microsoft.com/office/powerpoint/2010/main" val="62165582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AEFD8-5ACB-2586-CD41-80CC974BF5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FFF59B-8775-12EB-79A1-97407206E661}"/>
              </a:ext>
            </a:extLst>
          </p:cNvPr>
          <p:cNvSpPr>
            <a:spLocks noGrp="1"/>
          </p:cNvSpPr>
          <p:nvPr>
            <p:ph type="title"/>
          </p:nvPr>
        </p:nvSpPr>
        <p:spPr>
          <a:xfrm>
            <a:off x="445470" y="222421"/>
            <a:ext cx="10907720" cy="978486"/>
          </a:xfrm>
        </p:spPr>
        <p:txBody>
          <a:bodyPr>
            <a:normAutofit/>
          </a:bodyPr>
          <a:lstStyle/>
          <a:p>
            <a:r>
              <a:rPr lang="en-US" dirty="0">
                <a:latin typeface="Arial Black" panose="020B0A04020102020204" pitchFamily="34" charset="0"/>
                <a:cs typeface="Calibri" panose="020F0502020204030204" pitchFamily="34" charset="0"/>
              </a:rPr>
              <a:t>Both men and women perform unpaid care work, but it is not captured in GDP measures. </a:t>
            </a:r>
          </a:p>
        </p:txBody>
      </p:sp>
      <p:sp>
        <p:nvSpPr>
          <p:cNvPr id="14" name="TextBox 13">
            <a:extLst>
              <a:ext uri="{FF2B5EF4-FFF2-40B4-BE49-F238E27FC236}">
                <a16:creationId xmlns:a16="http://schemas.microsoft.com/office/drawing/2014/main" id="{C522985D-4CC0-3A6E-F0BF-CB53D0F48D9E}"/>
              </a:ext>
            </a:extLst>
          </p:cNvPr>
          <p:cNvSpPr txBox="1"/>
          <p:nvPr/>
        </p:nvSpPr>
        <p:spPr>
          <a:xfrm>
            <a:off x="445470" y="6155034"/>
            <a:ext cx="10095470" cy="523220"/>
          </a:xfrm>
          <a:prstGeom prst="rect">
            <a:avLst/>
          </a:prstGeom>
          <a:noFill/>
        </p:spPr>
        <p:txBody>
          <a:bodyPr wrap="square" rtlCol="0">
            <a:spAutoFit/>
          </a:bodyPr>
          <a:lstStyle/>
          <a:p>
            <a:r>
              <a:rPr lang="en-US" sz="1400" dirty="0"/>
              <a:t>Source: </a:t>
            </a:r>
            <a:r>
              <a:rPr lang="en-US" sz="1400" dirty="0">
                <a:hlinkClick r:id="rId3"/>
              </a:rPr>
              <a:t>Chapter 17 Gender Inequality and Care Work: Valuing and Investing in Care in: Gender Equality and Economic Development in Sub-Saharan Africa</a:t>
            </a:r>
            <a:endParaRPr lang="en-US" sz="1400" dirty="0"/>
          </a:p>
        </p:txBody>
      </p:sp>
      <p:pic>
        <p:nvPicPr>
          <p:cNvPr id="4" name="Picture 3">
            <a:extLst>
              <a:ext uri="{FF2B5EF4-FFF2-40B4-BE49-F238E27FC236}">
                <a16:creationId xmlns:a16="http://schemas.microsoft.com/office/drawing/2014/main" id="{5E3F3468-C8E2-9DDE-AC5E-842F7DA40A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6119" y="2063836"/>
            <a:ext cx="7698260" cy="3919114"/>
          </a:xfrm>
          <a:prstGeom prst="rect">
            <a:avLst/>
          </a:prstGeom>
        </p:spPr>
      </p:pic>
      <p:sp>
        <p:nvSpPr>
          <p:cNvPr id="5" name="TextBox 4">
            <a:extLst>
              <a:ext uri="{FF2B5EF4-FFF2-40B4-BE49-F238E27FC236}">
                <a16:creationId xmlns:a16="http://schemas.microsoft.com/office/drawing/2014/main" id="{30FEB97C-D18A-3203-02AC-E003960B36E2}"/>
              </a:ext>
            </a:extLst>
          </p:cNvPr>
          <p:cNvSpPr txBox="1"/>
          <p:nvPr/>
        </p:nvSpPr>
        <p:spPr>
          <a:xfrm>
            <a:off x="1414849" y="1372991"/>
            <a:ext cx="5807676" cy="646331"/>
          </a:xfrm>
          <a:prstGeom prst="rect">
            <a:avLst/>
          </a:prstGeom>
          <a:noFill/>
        </p:spPr>
        <p:txBody>
          <a:bodyPr wrap="square" rtlCol="0">
            <a:spAutoFit/>
          </a:bodyPr>
          <a:lstStyle/>
          <a:p>
            <a:pPr algn="ctr"/>
            <a:r>
              <a:rPr lang="en-US" b="1" dirty="0">
                <a:solidFill>
                  <a:schemeClr val="tx2"/>
                </a:solidFill>
              </a:rPr>
              <a:t>Value of Unpaid Care Work as a Percentage of GDP, US Dollar PPP 2011, by Gender and Country</a:t>
            </a:r>
            <a:endParaRPr lang="en-US" dirty="0">
              <a:solidFill>
                <a:schemeClr val="tx2"/>
              </a:solidFill>
            </a:endParaRPr>
          </a:p>
        </p:txBody>
      </p:sp>
    </p:spTree>
    <p:extLst>
      <p:ext uri="{BB962C8B-B14F-4D97-AF65-F5344CB8AC3E}">
        <p14:creationId xmlns:p14="http://schemas.microsoft.com/office/powerpoint/2010/main" val="353508595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9BE6B-1A37-BA8F-D016-F8DC79190D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BB39AE-8752-2D09-4DB5-790F7399CA4E}"/>
              </a:ext>
            </a:extLst>
          </p:cNvPr>
          <p:cNvSpPr>
            <a:spLocks noGrp="1"/>
          </p:cNvSpPr>
          <p:nvPr>
            <p:ph type="title"/>
          </p:nvPr>
        </p:nvSpPr>
        <p:spPr>
          <a:xfrm>
            <a:off x="1389857" y="3005985"/>
            <a:ext cx="9715500" cy="978486"/>
          </a:xfrm>
        </p:spPr>
        <p:txBody>
          <a:bodyPr/>
          <a:lstStyle/>
          <a:p>
            <a:pPr algn="ctr"/>
            <a:r>
              <a:rPr lang="en-US" dirty="0"/>
              <a:t>Data</a:t>
            </a:r>
          </a:p>
        </p:txBody>
      </p:sp>
    </p:spTree>
    <p:extLst>
      <p:ext uri="{BB962C8B-B14F-4D97-AF65-F5344CB8AC3E}">
        <p14:creationId xmlns:p14="http://schemas.microsoft.com/office/powerpoint/2010/main" val="394881339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28095-3BF9-73A8-B12F-71B1219DB286}"/>
              </a:ext>
            </a:extLst>
          </p:cNvPr>
          <p:cNvSpPr>
            <a:spLocks noGrp="1"/>
          </p:cNvSpPr>
          <p:nvPr>
            <p:ph type="title"/>
          </p:nvPr>
        </p:nvSpPr>
        <p:spPr/>
        <p:txBody>
          <a:bodyPr/>
          <a:lstStyle/>
          <a:p>
            <a:r>
              <a:rPr lang="en-US" dirty="0"/>
              <a:t>UNDP Data Portal: </a:t>
            </a:r>
            <a:r>
              <a:rPr lang="en-US" dirty="0">
                <a:hlinkClick r:id="rId2"/>
              </a:rPr>
              <a:t>Home Page | Data Portal</a:t>
            </a:r>
            <a:endParaRPr lang="en-US" dirty="0"/>
          </a:p>
        </p:txBody>
      </p:sp>
      <p:pic>
        <p:nvPicPr>
          <p:cNvPr id="7" name="Picture 6">
            <a:extLst>
              <a:ext uri="{FF2B5EF4-FFF2-40B4-BE49-F238E27FC236}">
                <a16:creationId xmlns:a16="http://schemas.microsoft.com/office/drawing/2014/main" id="{8FDD2A92-F636-F086-AE14-C68B67326507}"/>
              </a:ext>
            </a:extLst>
          </p:cNvPr>
          <p:cNvPicPr>
            <a:picLocks noChangeAspect="1"/>
          </p:cNvPicPr>
          <p:nvPr/>
        </p:nvPicPr>
        <p:blipFill>
          <a:blip r:embed="rId3"/>
          <a:stretch>
            <a:fillRect/>
          </a:stretch>
        </p:blipFill>
        <p:spPr>
          <a:xfrm>
            <a:off x="1052623" y="1469871"/>
            <a:ext cx="9500269" cy="4980022"/>
          </a:xfrm>
          <a:prstGeom prst="rect">
            <a:avLst/>
          </a:prstGeom>
        </p:spPr>
      </p:pic>
    </p:spTree>
    <p:extLst>
      <p:ext uri="{BB962C8B-B14F-4D97-AF65-F5344CB8AC3E}">
        <p14:creationId xmlns:p14="http://schemas.microsoft.com/office/powerpoint/2010/main" val="278421080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DB25-DF2B-AD8F-2584-A56B9364D0EF}"/>
              </a:ext>
            </a:extLst>
          </p:cNvPr>
          <p:cNvSpPr>
            <a:spLocks noGrp="1"/>
          </p:cNvSpPr>
          <p:nvPr>
            <p:ph type="title"/>
          </p:nvPr>
        </p:nvSpPr>
        <p:spPr>
          <a:xfrm>
            <a:off x="1389857" y="3005985"/>
            <a:ext cx="9715500" cy="978486"/>
          </a:xfrm>
        </p:spPr>
        <p:txBody>
          <a:bodyPr/>
          <a:lstStyle/>
          <a:p>
            <a:pPr algn="ctr"/>
            <a:r>
              <a:rPr lang="en-US" dirty="0"/>
              <a:t>Thank you!</a:t>
            </a:r>
          </a:p>
        </p:txBody>
      </p:sp>
    </p:spTree>
    <p:extLst>
      <p:ext uri="{BB962C8B-B14F-4D97-AF65-F5344CB8AC3E}">
        <p14:creationId xmlns:p14="http://schemas.microsoft.com/office/powerpoint/2010/main" val="2290359850"/>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CURRENTXMLFILE" val="\\data3\users1\abarajas\My Documents\ICD\Courses\Courses 2023\Gender Inequality and Macroeconomics\Other Presentations\Presentations for Translation\L1 - Gender Inequality_ Dimensions &amp; Trends.xml"/>
  <p:tag name="XMLFILE" val="\\data3\users1\abarajas\My Documents\ICD\Courses\Courses 2023\Gender Inequality and Macroeconomics\Other Presentations\Presentations for Translation\L1 - Gender Inequality_ Dimensions &amp; Trends.xml"/>
  <p:tag name="CUMFILE" val="\\data3\users1\abarajas\My Documents\ICD\Courses\Courses 2023\Gender Inequality and Macroeconomics\Other Presentations\Presentations for Translation\L1 - Gender Inequality_ Dimensions &amp; Trends.cul"/>
  <p:tag name="PPTXFILE" val="\\data3\users1\abarajas\My Documents\ICD\Courses\Courses 2023\Gender Inequality and Macroeconomics\Other Presentations\Presentations for Translation\L1 - Gender Inequality_ Dimensions &amp; Trends.pptx"/>
</p:tagLst>
</file>

<file path=ppt/theme/theme1.xml><?xml version="1.0" encoding="utf-8"?>
<a:theme xmlns:a="http://schemas.openxmlformats.org/drawingml/2006/main" name="Custom Design">
  <a:themeElements>
    <a:clrScheme name="IMF Colors V2">
      <a:dk1>
        <a:srgbClr val="000000"/>
      </a:dk1>
      <a:lt1>
        <a:srgbClr val="FEFEFE"/>
      </a:lt1>
      <a:dk2>
        <a:srgbClr val="004C97"/>
      </a:dk2>
      <a:lt2>
        <a:srgbClr val="CAEDFE"/>
      </a:lt2>
      <a:accent1>
        <a:srgbClr val="009CDE"/>
      </a:accent1>
      <a:accent2>
        <a:srgbClr val="F2A900"/>
      </a:accent2>
      <a:accent3>
        <a:srgbClr val="8030A7"/>
      </a:accent3>
      <a:accent4>
        <a:srgbClr val="DA281C"/>
      </a:accent4>
      <a:accent5>
        <a:srgbClr val="78BE20"/>
      </a:accent5>
      <a:accent6>
        <a:srgbClr val="00B0B9"/>
      </a:accent6>
      <a:hlink>
        <a:srgbClr val="0065B3"/>
      </a:hlink>
      <a:folHlink>
        <a:srgbClr val="FFBD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MF-LEG_PresentationTemplate-General" id="{13F5556C-5BC5-9542-AB57-73990FD9E90C}" vid="{2B303AC9-B9EA-B048-9D5C-6C975EA17091}"/>
    </a:ext>
  </a:extLst>
</a:theme>
</file>

<file path=ppt/theme/theme2.xml><?xml version="1.0" encoding="utf-8"?>
<a:theme xmlns:a="http://schemas.openxmlformats.org/drawingml/2006/main" name="1_Custom Design">
  <a:themeElements>
    <a:clrScheme name="Fund Standard Colors">
      <a:dk1>
        <a:sysClr val="windowText" lastClr="000000"/>
      </a:dk1>
      <a:lt1>
        <a:sysClr val="window" lastClr="FFFFFF"/>
      </a:lt1>
      <a:dk2>
        <a:srgbClr val="004C97"/>
      </a:dk2>
      <a:lt2>
        <a:srgbClr val="CAEDFE"/>
      </a:lt2>
      <a:accent1>
        <a:srgbClr val="009CDE"/>
      </a:accent1>
      <a:accent2>
        <a:srgbClr val="F2A900"/>
      </a:accent2>
      <a:accent3>
        <a:srgbClr val="8031A7"/>
      </a:accent3>
      <a:accent4>
        <a:srgbClr val="DA291C"/>
      </a:accent4>
      <a:accent5>
        <a:srgbClr val="78BE20"/>
      </a:accent5>
      <a:accent6>
        <a:srgbClr val="FF8200"/>
      </a:accent6>
      <a:hlink>
        <a:srgbClr val="009CDE"/>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ARTTAC-PPT-Template-Wide-15-Dec-2021.potx" id="{F628AFBA-17EB-49E5-BC69-C6AE953424D6}" vid="{F72D32AC-F563-4E54-A5C2-D8F0BC37EE7E}"/>
    </a:ext>
  </a:extLst>
</a:theme>
</file>

<file path=ppt/theme/theme3.xml><?xml version="1.0" encoding="utf-8"?>
<a:theme xmlns:a="http://schemas.openxmlformats.org/drawingml/2006/main" name="Office Theme">
  <a:themeElements>
    <a:clrScheme name="Fund Standard Colors">
      <a:dk1>
        <a:sysClr val="windowText" lastClr="000000"/>
      </a:dk1>
      <a:lt1>
        <a:sysClr val="window" lastClr="FFFFFF"/>
      </a:lt1>
      <a:dk2>
        <a:srgbClr val="004C97"/>
      </a:dk2>
      <a:lt2>
        <a:srgbClr val="CAEDFE"/>
      </a:lt2>
      <a:accent1>
        <a:srgbClr val="009CDE"/>
      </a:accent1>
      <a:accent2>
        <a:srgbClr val="F2A900"/>
      </a:accent2>
      <a:accent3>
        <a:srgbClr val="8031A7"/>
      </a:accent3>
      <a:accent4>
        <a:srgbClr val="DA291C"/>
      </a:accent4>
      <a:accent5>
        <a:srgbClr val="78BE20"/>
      </a:accent5>
      <a:accent6>
        <a:srgbClr val="FF8200"/>
      </a:accent6>
      <a:hlink>
        <a:srgbClr val="009CDE"/>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RTTAC-PPT-Template-Wide-15-Dec-2021.potx" id="{F628AFBA-17EB-49E5-BC69-C6AE953424D6}" vid="{6BC5DA02-7E34-41B8-ADA6-35A3853989A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808F46CC7369E44A38836926FD52CA4" ma:contentTypeVersion="17" ma:contentTypeDescription="Create a new document." ma:contentTypeScope="" ma:versionID="34d57240de38c5ca99423c2d81288a91">
  <xsd:schema xmlns:xsd="http://www.w3.org/2001/XMLSchema" xmlns:xs="http://www.w3.org/2001/XMLSchema" xmlns:p="http://schemas.microsoft.com/office/2006/metadata/properties" xmlns:ns2="3b9dc015-dd13-448b-b628-7af3b634cca4" xmlns:ns3="0c6f1c3b-ea25-4e6f-91c5-aeb92d62b0fb" targetNamespace="http://schemas.microsoft.com/office/2006/metadata/properties" ma:root="true" ma:fieldsID="e270c38f22e04ee44ccb8e6601e8d1f8" ns2:_="" ns3:_="">
    <xsd:import namespace="3b9dc015-dd13-448b-b628-7af3b634cca4"/>
    <xsd:import namespace="0c6f1c3b-ea25-4e6f-91c5-aeb92d62b0f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9dc015-dd13-448b-b628-7af3b634cc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81b0229-19ef-4425-8520-9f00e8db620a"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c6f1c3b-ea25-4e6f-91c5-aeb92d62b0f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14a2595-35b6-44ef-becd-33de771bf95a}" ma:internalName="TaxCatchAll" ma:showField="CatchAllData" ma:web="0c6f1c3b-ea25-4e6f-91c5-aeb92d62b0fb">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0c6f1c3b-ea25-4e6f-91c5-aeb92d62b0fb" xsi:nil="true"/>
    <lcf76f155ced4ddcb4097134ff3c332f xmlns="3b9dc015-dd13-448b-b628-7af3b634cca4">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1253913-9233-4D5E-9447-4C28330D27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9dc015-dd13-448b-b628-7af3b634cca4"/>
    <ds:schemaRef ds:uri="0c6f1c3b-ea25-4e6f-91c5-aeb92d62b0f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D0AC045-0708-4EF3-BE6A-CA4E594A0743}">
  <ds:schemaRefs>
    <ds:schemaRef ds:uri="http://purl.org/dc/dcmitype/"/>
    <ds:schemaRef ds:uri="http://purl.org/dc/terms/"/>
    <ds:schemaRef ds:uri="http://purl.org/dc/elements/1.1/"/>
    <ds:schemaRef ds:uri="http://schemas.microsoft.com/office/infopath/2007/PartnerControls"/>
    <ds:schemaRef ds:uri="http://schemas.microsoft.com/office/2006/documentManagement/types"/>
    <ds:schemaRef ds:uri="http://schemas.microsoft.com/office/2006/metadata/properties"/>
    <ds:schemaRef ds:uri="http://www.w3.org/XML/1998/namespace"/>
    <ds:schemaRef ds:uri="http://schemas.openxmlformats.org/package/2006/metadata/core-properties"/>
    <ds:schemaRef ds:uri="0c6f1c3b-ea25-4e6f-91c5-aeb92d62b0fb"/>
    <ds:schemaRef ds:uri="3b9dc015-dd13-448b-b628-7af3b634cca4"/>
  </ds:schemaRefs>
</ds:datastoreItem>
</file>

<file path=customXml/itemProps3.xml><?xml version="1.0" encoding="utf-8"?>
<ds:datastoreItem xmlns:ds="http://schemas.openxmlformats.org/officeDocument/2006/customXml" ds:itemID="{DBC96193-877C-46EA-BD01-2ACB11A8A0A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8391</TotalTime>
  <Words>2278</Words>
  <Application>Microsoft Office PowerPoint</Application>
  <PresentationFormat>Widescreen</PresentationFormat>
  <Paragraphs>164</Paragraphs>
  <Slides>14</Slides>
  <Notes>8</Notes>
  <HiddenSlides>0</HiddenSlides>
  <MMClips>0</MMClips>
  <ScaleCrop>false</ScaleCrop>
  <HeadingPairs>
    <vt:vector size="4" baseType="variant">
      <vt:variant>
        <vt:lpstr>Theme</vt:lpstr>
      </vt:variant>
      <vt:variant>
        <vt:i4>3</vt:i4>
      </vt:variant>
      <vt:variant>
        <vt:lpstr>Slide Titles</vt:lpstr>
      </vt:variant>
      <vt:variant>
        <vt:i4>14</vt:i4>
      </vt:variant>
    </vt:vector>
  </HeadingPairs>
  <TitlesOfParts>
    <vt:vector size="17" baseType="lpstr">
      <vt:lpstr>Custom Design</vt:lpstr>
      <vt:lpstr>1_Custom Design</vt:lpstr>
      <vt:lpstr>Office Theme</vt:lpstr>
      <vt:lpstr>Demographic Shifts and Macroeconomic Outcomes: A Distributional Lens </vt:lpstr>
      <vt:lpstr>Global Trends</vt:lpstr>
      <vt:lpstr>Two diverging demographic trends…</vt:lpstr>
      <vt:lpstr>The aging trend in AEs and EMs is projected to continue…</vt:lpstr>
      <vt:lpstr>…and in low-income and developing countries (LIDCs), the young dependency ratio is projected to remain elevated. </vt:lpstr>
      <vt:lpstr>For aging economies, increasing female labor force participation (FLFP) helps mitigate the effects of demographic shifts.</vt:lpstr>
      <vt:lpstr>Policies</vt:lpstr>
      <vt:lpstr>How Do We Think About The Fertility, Human Capital Investment And Work Choices?  </vt:lpstr>
      <vt:lpstr>Kenya Time Use Survey Shows Gaps Between Rural, Urban and Men and Women</vt:lpstr>
      <vt:lpstr>Mauritius time use data also points to gender gaps.</vt:lpstr>
      <vt:lpstr>Both men and women perform unpaid care work, but it is not captured in GDP measures. </vt:lpstr>
      <vt:lpstr>Data</vt:lpstr>
      <vt:lpstr>UNDP Data Portal: Home Page | Data Portal</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 and Instructions</dc:title>
  <dc:creator>Spatafora, Nikola</dc:creator>
  <cp:lastModifiedBy>Kolovich, Lisa</cp:lastModifiedBy>
  <cp:revision>85</cp:revision>
  <cp:lastPrinted>2018-06-28T11:42:50Z</cp:lastPrinted>
  <dcterms:created xsi:type="dcterms:W3CDTF">2019-01-15T17:35:17Z</dcterms:created>
  <dcterms:modified xsi:type="dcterms:W3CDTF">2026-05-21T14:21:19Z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ContentTypeId">
    <vt:lpwstr>0x0101003808F46CC7369E44A38836926FD52CA4</vt:lpwstr>
  </property>
  <property fmtid="{D5CDD505-2E9C-101B-9397-08002B2CF9AE}" pid="4" name="MMSClassification">
    <vt:lpwstr>1</vt:lpwstr>
  </property>
  <property fmtid="{D5CDD505-2E9C-101B-9397-08002B2CF9AE}" pid="5" name="Order">
    <vt:r8>2200</vt:r8>
  </property>
  <property fmtid="{D5CDD505-2E9C-101B-9397-08002B2CF9AE}" pid="6" name="MMSTopics">
    <vt:lpwstr/>
  </property>
  <property fmtid="{D5CDD505-2E9C-101B-9397-08002B2CF9AE}" pid="7" name="MMSCountries">
    <vt:lpwstr/>
  </property>
  <property fmtid="{D5CDD505-2E9C-101B-9397-08002B2CF9AE}" pid="8" name="MMSDepartments">
    <vt:lpwstr>33</vt:lpwstr>
  </property>
  <property fmtid="{D5CDD505-2E9C-101B-9397-08002B2CF9AE}" pid="9" name="eDOCS AutoSave">
    <vt:lpwstr/>
  </property>
  <property fmtid="{D5CDD505-2E9C-101B-9397-08002B2CF9AE}" pid="10" name="MSIP_Label_0c07ed86-5dc5-4593-ad03-a8684b843815_Enabled">
    <vt:lpwstr>true</vt:lpwstr>
  </property>
  <property fmtid="{D5CDD505-2E9C-101B-9397-08002B2CF9AE}" pid="11" name="MSIP_Label_0c07ed86-5dc5-4593-ad03-a8684b843815_SetDate">
    <vt:lpwstr>2023-08-10T16:29:55Z</vt:lpwstr>
  </property>
  <property fmtid="{D5CDD505-2E9C-101B-9397-08002B2CF9AE}" pid="12" name="MSIP_Label_0c07ed86-5dc5-4593-ad03-a8684b843815_Method">
    <vt:lpwstr>Standard</vt:lpwstr>
  </property>
  <property fmtid="{D5CDD505-2E9C-101B-9397-08002B2CF9AE}" pid="13" name="MSIP_Label_0c07ed86-5dc5-4593-ad03-a8684b843815_Name">
    <vt:lpwstr>0c07ed86-5dc5-4593-ad03-a8684b843815</vt:lpwstr>
  </property>
  <property fmtid="{D5CDD505-2E9C-101B-9397-08002B2CF9AE}" pid="14" name="MSIP_Label_0c07ed86-5dc5-4593-ad03-a8684b843815_SiteId">
    <vt:lpwstr>8085fa43-302e-45bd-b171-a6648c3b6be7</vt:lpwstr>
  </property>
  <property fmtid="{D5CDD505-2E9C-101B-9397-08002B2CF9AE}" pid="15" name="MSIP_Label_0c07ed86-5dc5-4593-ad03-a8684b843815_ActionId">
    <vt:lpwstr>bdaf899b-2077-417e-aab4-0d763181fea1</vt:lpwstr>
  </property>
  <property fmtid="{D5CDD505-2E9C-101B-9397-08002B2CF9AE}" pid="16" name="MSIP_Label_0c07ed86-5dc5-4593-ad03-a8684b843815_ContentBits">
    <vt:lpwstr>0</vt:lpwstr>
  </property>
  <property fmtid="{D5CDD505-2E9C-101B-9397-08002B2CF9AE}" pid="17" name="MediaServiceImageTags">
    <vt:lpwstr/>
  </property>
</Properties>
</file>