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79" r:id="rId5"/>
  </p:sldMasterIdLst>
  <p:notesMasterIdLst>
    <p:notesMasterId r:id="rId33"/>
  </p:notesMasterIdLst>
  <p:handoutMasterIdLst>
    <p:handoutMasterId r:id="rId34"/>
  </p:handoutMasterIdLst>
  <p:sldIdLst>
    <p:sldId id="4292" r:id="rId6"/>
    <p:sldId id="4313" r:id="rId7"/>
    <p:sldId id="4314" r:id="rId8"/>
    <p:sldId id="4532" r:id="rId9"/>
    <p:sldId id="4523" r:id="rId10"/>
    <p:sldId id="1233" r:id="rId11"/>
    <p:sldId id="4517" r:id="rId12"/>
    <p:sldId id="4266" r:id="rId13"/>
    <p:sldId id="4320" r:id="rId14"/>
    <p:sldId id="4316" r:id="rId15"/>
    <p:sldId id="4304" r:id="rId16"/>
    <p:sldId id="4321" r:id="rId17"/>
    <p:sldId id="817" r:id="rId18"/>
    <p:sldId id="4243" r:id="rId19"/>
    <p:sldId id="4240" r:id="rId20"/>
    <p:sldId id="2142533241" r:id="rId21"/>
    <p:sldId id="4323" r:id="rId22"/>
    <p:sldId id="4322" r:id="rId23"/>
    <p:sldId id="812" r:id="rId24"/>
    <p:sldId id="2142533240" r:id="rId25"/>
    <p:sldId id="4324" r:id="rId26"/>
    <p:sldId id="2142533203" r:id="rId27"/>
    <p:sldId id="4277" r:id="rId28"/>
    <p:sldId id="2142533239" r:id="rId29"/>
    <p:sldId id="2142533242" r:id="rId30"/>
    <p:sldId id="814" r:id="rId31"/>
    <p:sldId id="4318" r:id="rId32"/>
  </p:sldIdLst>
  <p:sldSz cx="12192000" cy="6858000"/>
  <p:notesSz cx="7315200" cy="9601200"/>
  <p:defaultText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1754463-30FA-824E-9681-17E0926DDDD5}">
          <p14:sldIdLst>
            <p14:sldId id="4292"/>
            <p14:sldId id="4313"/>
            <p14:sldId id="4314"/>
            <p14:sldId id="4532"/>
            <p14:sldId id="4523"/>
            <p14:sldId id="1233"/>
            <p14:sldId id="4517"/>
            <p14:sldId id="4266"/>
            <p14:sldId id="4320"/>
            <p14:sldId id="4316"/>
            <p14:sldId id="4304"/>
            <p14:sldId id="4321"/>
            <p14:sldId id="817"/>
            <p14:sldId id="4243"/>
            <p14:sldId id="4240"/>
            <p14:sldId id="2142533241"/>
            <p14:sldId id="4323"/>
            <p14:sldId id="4322"/>
            <p14:sldId id="812"/>
            <p14:sldId id="2142533240"/>
            <p14:sldId id="4324"/>
            <p14:sldId id="2142533203"/>
            <p14:sldId id="4277"/>
            <p14:sldId id="2142533239"/>
            <p14:sldId id="2142533242"/>
            <p14:sldId id="814"/>
            <p14:sldId id="4318"/>
          </p14:sldIdLst>
        </p14:section>
      </p14:sectionLst>
    </p:ext>
    <p:ext uri="{2D200454-40CA-4A62-9FC3-DE9A4176ACB9}">
      <p15:notesGuideLst xmlns:p15="http://schemas.microsoft.com/office/powerpoint/2012/main">
        <p15:guide id="1" orient="horz" pos="2934" userDrawn="1">
          <p15:clr>
            <a:srgbClr val="A4A3A4"/>
          </p15:clr>
        </p15:guide>
        <p15:guide id="2" pos="2212" userDrawn="1">
          <p15:clr>
            <a:srgbClr val="A4A3A4"/>
          </p15:clr>
        </p15:guide>
        <p15:guide id="3" orient="horz" pos="3024" userDrawn="1">
          <p15:clr>
            <a:srgbClr val="A4A3A4"/>
          </p15:clr>
        </p15:guide>
        <p15:guide id="4"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9A2F19-CB1E-740C-50CD-B91678F8B4AE}" name="Newiak, Monique" initials="MN" userId="S::MNewiak@imf.org::d81357e1-9dfe-4194-af64-4cbd758c7fe5" providerId="AD"/>
  <p188:author id="{C56BBA1C-3FF8-F7CC-1273-C91F9599EBC4}" name="Chiapello, Mattia" initials="CM" userId="S::mchiapello@imf.org::5d6fd680-78ea-4042-9465-8f380d898ad6" providerId="AD"/>
  <p188:author id="{5854C73E-3583-11C1-CE13-22776D3A641A}" name="Kolovich, Lisa" initials="KL" userId="S::LKolovich@IMF.ORG::705d1648-fc44-4335-a909-7bcc0ef9bfc0" providerId="AD"/>
  <p188:author id="{A7876F80-758E-7676-EEC9-FCDF247842A4}" name="Priano, Sahar" initials="PS" userId="S::SPriano@imf.org::3b5d6782-612c-4d81-97dc-e201bbd10b85" providerId="AD"/>
  <p188:author id="{8F3D4AA5-6CAE-C03C-D0E6-295E01968A3B}" name="Raissi, Mehdi" initials="RM" userId="S::mraissi@imf.org::f6393861-7977-47b1-91ff-d9b70d36a3c2" providerId="AD"/>
  <p188:author id="{3BF418A9-978B-1A9F-2A89-B71B282588FE}" name="Kolovich, Lisa" initials="KL" userId="S::lkolovich@imf.org::705d1648-fc44-4335-a909-7bcc0ef9bfc0" providerId="AD"/>
  <p188:author id="{99268ECB-3706-9D82-E8DB-E7F09471D57E}" name="Flamini, Valentina" initials="FV" userId="S::VFlamini@IMF.ORG::eff897fc-c4bd-42df-a72a-53fc4146d5ad" providerId="AD"/>
  <p188:author id="{9FAD53CC-1FDD-5674-9B3D-61CF34229D24}" name="Hanna, Christel" initials="CH" userId="S::channa@imf.org::f72fb5f2-2329-411f-9245-3b4649f41975" providerId="AD"/>
  <p188:author id="{2708D3D2-1E49-BB83-2378-9650164C949B}" name="Kolovich, Lisa" initials="LK" userId="S::LKolovich@imf.org::705d1648-fc44-4335-a909-7bcc0ef9bfc0" providerId="AD"/>
  <p188:author id="{0D8F83E4-EF17-15AA-7DA0-1A43993D769E}" name="Malta, Vivian" initials="" userId="S::VMalta@imf.org::c9130ee9-f22b-44aa-bb73-83a935e86cf9" providerId="AD"/>
  <p188:author id="{F153D5E6-D81B-117C-025B-055F1FE4F3D2}" name="Priano, Sahar" initials="PS" userId="S::spriano@imf.org::3b5d6782-612c-4d81-97dc-e201bbd10b8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dwa, Boaz" initials="NB" lastIdx="10" clrIdx="0"/>
  <p:cmAuthor id="2" name="Kamil Dybczak" initials="KD" lastIdx="10" clrIdx="1"/>
  <p:cmAuthor id="3" name="Tamirisa, Natalia" initials="TN" lastIdx="12" clrIdx="2"/>
  <p:cmAuthor id="4" name="Almalik, Mansour" initials="AM" lastIdx="6" clrIdx="3"/>
  <p:cmAuthor id="5" name="Pierre, Gaelle" initials="PG" lastIdx="3" clrIdx="4"/>
  <p:cmAuthor id="6" name="Basile, Gregory" initials="BG" lastIdx="9" clrIdx="5"/>
  <p:cmAuthor id="7" name="Fabrizio, Stefania" initials="FS" lastIdx="6" clrIdx="6">
    <p:extLst>
      <p:ext uri="{19B8F6BF-5375-455C-9EA6-DF929625EA0E}">
        <p15:presenceInfo xmlns:p15="http://schemas.microsoft.com/office/powerpoint/2012/main" userId="S::SFabrizio@IMF.ORG::6b56a1ff-da59-4ea7-80b7-fcbcc4110b46" providerId="AD"/>
      </p:ext>
    </p:extLst>
  </p:cmAuthor>
  <p:cmAuthor id="8" name="Chabert, Guillaume" initials="CG" lastIdx="32" clrIdx="7">
    <p:extLst>
      <p:ext uri="{19B8F6BF-5375-455C-9EA6-DF929625EA0E}">
        <p15:presenceInfo xmlns:p15="http://schemas.microsoft.com/office/powerpoint/2012/main" userId="S::GChabert@imf.org::38c85545-1ee6-48a6-b252-764ce4069f3e" providerId="AD"/>
      </p:ext>
    </p:extLst>
  </p:cmAuthor>
  <p:cmAuthor id="9" name="Palomba, Geremia" initials="PG" lastIdx="1" clrIdx="8">
    <p:extLst>
      <p:ext uri="{19B8F6BF-5375-455C-9EA6-DF929625EA0E}">
        <p15:presenceInfo xmlns:p15="http://schemas.microsoft.com/office/powerpoint/2012/main" userId="S::GPalomba@imf.org::90bc7c4f-4345-4053-88b0-b1e4cb5367c4" providerId="AD"/>
      </p:ext>
    </p:extLst>
  </p:cmAuthor>
  <p:cmAuthor id="10" name="Shang, Baoping" initials="SB" lastIdx="1" clrIdx="9">
    <p:extLst>
      <p:ext uri="{19B8F6BF-5375-455C-9EA6-DF929625EA0E}">
        <p15:presenceInfo xmlns:p15="http://schemas.microsoft.com/office/powerpoint/2012/main" userId="S::BShang@imf.org::e648c2e3-4876-43f9-9a51-a725a6df752c" providerId="AD"/>
      </p:ext>
    </p:extLst>
  </p:cmAuthor>
  <p:cmAuthor id="11" name="Newiak, Monique" initials="NM" lastIdx="6" clrIdx="10">
    <p:extLst>
      <p:ext uri="{19B8F6BF-5375-455C-9EA6-DF929625EA0E}">
        <p15:presenceInfo xmlns:p15="http://schemas.microsoft.com/office/powerpoint/2012/main" userId="S::MNewiak@IMF.ORG::d81357e1-9dfe-4194-af64-4cbd758c7fe5" providerId="AD"/>
      </p:ext>
    </p:extLst>
  </p:cmAuthor>
  <p:cmAuthor id="12" name="Kolovich, Lisa" initials="KL" lastIdx="1" clrIdx="11">
    <p:extLst>
      <p:ext uri="{19B8F6BF-5375-455C-9EA6-DF929625EA0E}">
        <p15:presenceInfo xmlns:p15="http://schemas.microsoft.com/office/powerpoint/2012/main" userId="S::LKolovich@imf.org::705d1648-fc44-4335-a909-7bcc0ef9bfc0" providerId="AD"/>
      </p:ext>
    </p:extLst>
  </p:cmAuthor>
  <p:cmAuthor id="13" name="Flamini, Valentina" initials="FV" lastIdx="1" clrIdx="12">
    <p:extLst>
      <p:ext uri="{19B8F6BF-5375-455C-9EA6-DF929625EA0E}">
        <p15:presenceInfo xmlns:p15="http://schemas.microsoft.com/office/powerpoint/2012/main" userId="S::VFlamini@IMF.ORG::eff897fc-c4bd-42df-a72a-53fc4146d5a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A297"/>
    <a:srgbClr val="004C97"/>
    <a:srgbClr val="009BDE"/>
    <a:srgbClr val="539635"/>
    <a:srgbClr val="000000"/>
    <a:srgbClr val="79D9FF"/>
    <a:srgbClr val="525E9A"/>
    <a:srgbClr val="005F9F"/>
    <a:srgbClr val="ED7D31"/>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C8D83B-54DE-4797-27DD-B54C0A7AFFEE}" v="96" dt="2026-05-21T14:13:46.8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934"/>
        <p:guide pos="2212"/>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intlmonetaryfund.sharepoint.com/teams/SPRAIIG/Shared%20Documents/General/SGIAG/Output%20gains%20from%20reforms.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intlmonetaryfund.sharepoint.com/teams/SPRAIIG/Shared%20Documents/General/SGIAG/Output%20gains%20from%20reform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909286930986602E-2"/>
          <c:y val="0.22729187418659555"/>
          <c:w val="0.90855463433476513"/>
          <c:h val="0.67462077761405825"/>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1-0074-43A1-8222-D5F43E46228A}"/>
              </c:ext>
            </c:extLst>
          </c:dPt>
          <c:dPt>
            <c:idx val="1"/>
            <c:invertIfNegative val="0"/>
            <c:bubble3D val="0"/>
            <c:spPr>
              <a:solidFill>
                <a:schemeClr val="bg1">
                  <a:lumMod val="75000"/>
                </a:schemeClr>
              </a:solidFill>
              <a:ln>
                <a:noFill/>
              </a:ln>
              <a:effectLst/>
            </c:spPr>
            <c:extLst>
              <c:ext xmlns:c16="http://schemas.microsoft.com/office/drawing/2014/chart" uri="{C3380CC4-5D6E-409C-BE32-E72D297353CC}">
                <c16:uniqueId val="{00000003-0074-43A1-8222-D5F43E46228A}"/>
              </c:ext>
            </c:extLst>
          </c:dPt>
          <c:dPt>
            <c:idx val="2"/>
            <c:invertIfNegative val="0"/>
            <c:bubble3D val="0"/>
            <c:spPr>
              <a:solidFill>
                <a:schemeClr val="bg1">
                  <a:lumMod val="75000"/>
                </a:schemeClr>
              </a:solidFill>
              <a:ln>
                <a:noFill/>
              </a:ln>
              <a:effectLst/>
            </c:spPr>
            <c:extLst>
              <c:ext xmlns:c16="http://schemas.microsoft.com/office/drawing/2014/chart" uri="{C3380CC4-5D6E-409C-BE32-E72D297353CC}">
                <c16:uniqueId val="{00000005-0074-43A1-8222-D5F43E46228A}"/>
              </c:ext>
            </c:extLst>
          </c:dPt>
          <c:dPt>
            <c:idx val="3"/>
            <c:invertIfNegative val="0"/>
            <c:bubble3D val="0"/>
            <c:spPr>
              <a:solidFill>
                <a:schemeClr val="bg1">
                  <a:lumMod val="75000"/>
                </a:schemeClr>
              </a:solidFill>
              <a:ln>
                <a:noFill/>
              </a:ln>
              <a:effectLst/>
            </c:spPr>
            <c:extLst>
              <c:ext xmlns:c16="http://schemas.microsoft.com/office/drawing/2014/chart" uri="{C3380CC4-5D6E-409C-BE32-E72D297353CC}">
                <c16:uniqueId val="{00000007-0074-43A1-8222-D5F43E46228A}"/>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0074-43A1-8222-D5F43E46228A}"/>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5"/>
                <c:pt idx="0">
                  <c:v>Governance</c:v>
                </c:pt>
                <c:pt idx="1">
                  <c:v>Product Market</c:v>
                </c:pt>
                <c:pt idx="2">
                  <c:v>Labor Market</c:v>
                </c:pt>
                <c:pt idx="3">
                  <c:v>Domestic Finance</c:v>
                </c:pt>
                <c:pt idx="4">
                  <c:v>Gender</c:v>
                </c:pt>
              </c:strCache>
            </c:strRef>
          </c:cat>
          <c:val>
            <c:numRef>
              <c:f>Sheet1!$C$4:$C$8</c:f>
              <c:numCache>
                <c:formatCode>0.0</c:formatCode>
                <c:ptCount val="5"/>
                <c:pt idx="0">
                  <c:v>1.94</c:v>
                </c:pt>
                <c:pt idx="1">
                  <c:v>4.0599999999999996</c:v>
                </c:pt>
                <c:pt idx="2">
                  <c:v>5.21</c:v>
                </c:pt>
                <c:pt idx="3">
                  <c:v>7.31</c:v>
                </c:pt>
                <c:pt idx="4">
                  <c:v>7.7</c:v>
                </c:pt>
              </c:numCache>
            </c:numRef>
          </c:val>
          <c:extLst>
            <c:ext xmlns:c16="http://schemas.microsoft.com/office/drawing/2014/chart" uri="{C3380CC4-5D6E-409C-BE32-E72D297353CC}">
              <c16:uniqueId val="{0000000A-0074-43A1-8222-D5F43E46228A}"/>
            </c:ext>
          </c:extLst>
        </c:ser>
        <c:dLbls>
          <c:showLegendKey val="0"/>
          <c:showVal val="0"/>
          <c:showCatName val="0"/>
          <c:showSerName val="0"/>
          <c:showPercent val="0"/>
          <c:showBubbleSize val="0"/>
        </c:dLbls>
        <c:gapWidth val="219"/>
        <c:overlap val="-27"/>
        <c:axId val="1794537600"/>
        <c:axId val="1794541760"/>
      </c:barChart>
      <c:catAx>
        <c:axId val="1794537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794541760"/>
        <c:crosses val="autoZero"/>
        <c:auto val="1"/>
        <c:lblAlgn val="ctr"/>
        <c:lblOffset val="100"/>
        <c:noMultiLvlLbl val="0"/>
      </c:catAx>
      <c:valAx>
        <c:axId val="1794541760"/>
        <c:scaling>
          <c:orientation val="minMax"/>
          <c:max val="50"/>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794537600"/>
        <c:crosses val="autoZero"/>
        <c:crossBetween val="between"/>
        <c:majorUnit val="10"/>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356285140911318E-2"/>
          <c:y val="0.23343777776674296"/>
          <c:w val="0.92257748625267266"/>
          <c:h val="0.71181157297289244"/>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Sheet1!$A$10:$A$13</c:f>
              <c:strCache>
                <c:ptCount val="4"/>
                <c:pt idx="0">
                  <c:v>P25</c:v>
                </c:pt>
                <c:pt idx="1">
                  <c:v>Median</c:v>
                </c:pt>
                <c:pt idx="2">
                  <c:v>P75</c:v>
                </c:pt>
                <c:pt idx="3">
                  <c:v>P90</c:v>
                </c:pt>
              </c:strCache>
            </c:strRef>
          </c:cat>
          <c:val>
            <c:numRef>
              <c:f>Sheet1!$C$10:$C$13</c:f>
              <c:numCache>
                <c:formatCode>0.0</c:formatCode>
                <c:ptCount val="4"/>
                <c:pt idx="0">
                  <c:v>8</c:v>
                </c:pt>
                <c:pt idx="1">
                  <c:v>14.9</c:v>
                </c:pt>
                <c:pt idx="2">
                  <c:v>25.2</c:v>
                </c:pt>
                <c:pt idx="3">
                  <c:v>45.2</c:v>
                </c:pt>
              </c:numCache>
            </c:numRef>
          </c:val>
          <c:extLst>
            <c:ext xmlns:c16="http://schemas.microsoft.com/office/drawing/2014/chart" uri="{C3380CC4-5D6E-409C-BE32-E72D297353CC}">
              <c16:uniqueId val="{00000000-651C-4184-820E-5EC1DCCD1B86}"/>
            </c:ext>
          </c:extLst>
        </c:ser>
        <c:dLbls>
          <c:showLegendKey val="0"/>
          <c:showVal val="0"/>
          <c:showCatName val="0"/>
          <c:showSerName val="0"/>
          <c:showPercent val="0"/>
          <c:showBubbleSize val="0"/>
        </c:dLbls>
        <c:gapWidth val="219"/>
        <c:overlap val="-27"/>
        <c:axId val="1794537600"/>
        <c:axId val="1794541760"/>
      </c:barChart>
      <c:catAx>
        <c:axId val="1794537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794541760"/>
        <c:crosses val="autoZero"/>
        <c:auto val="1"/>
        <c:lblAlgn val="ctr"/>
        <c:lblOffset val="100"/>
        <c:noMultiLvlLbl val="0"/>
      </c:catAx>
      <c:valAx>
        <c:axId val="1794541760"/>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794537600"/>
        <c:crosses val="autoZero"/>
        <c:crossBetween val="between"/>
        <c:majorUnit val="10"/>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C2B5E6-67C1-4B42-BE9D-8AEFC077FF0F}" type="doc">
      <dgm:prSet loTypeId="urn:microsoft.com/office/officeart/2005/8/layout/hList7" loCatId="list" qsTypeId="urn:microsoft.com/office/officeart/2005/8/quickstyle/simple1" qsCatId="simple" csTypeId="urn:microsoft.com/office/officeart/2005/8/colors/accent0_3" csCatId="mainScheme" phldr="1"/>
      <dgm:spPr/>
      <dgm:t>
        <a:bodyPr/>
        <a:lstStyle/>
        <a:p>
          <a:endParaRPr lang="en-US"/>
        </a:p>
      </dgm:t>
    </dgm:pt>
    <dgm:pt modelId="{85C22A65-D9CD-457E-90FC-54A04E679462}">
      <dgm:prSet phldrT="[Text]" custT="1"/>
      <dgm:spPr>
        <a:noFill/>
        <a:ln>
          <a:solidFill>
            <a:srgbClr val="000000"/>
          </a:solidFill>
        </a:ln>
      </dgm:spPr>
      <dgm:t>
        <a:bodyPr/>
        <a:lstStyle/>
        <a:p>
          <a:pPr>
            <a:buNone/>
          </a:pPr>
          <a:r>
            <a:rPr lang="en-US" sz="1800" b="1">
              <a:solidFill>
                <a:schemeClr val="tx1"/>
              </a:solidFill>
              <a:latin typeface="Calibri" panose="020F0502020204030204" pitchFamily="34" charset="0"/>
              <a:cs typeface="Calibri" panose="020F0502020204030204" pitchFamily="34" charset="0"/>
            </a:rPr>
            <a:t>Legal reforms</a:t>
          </a:r>
        </a:p>
      </dgm:t>
    </dgm:pt>
    <dgm:pt modelId="{B93638A8-D6A4-4C89-BDF8-D93EE89D0A8C}" type="parTrans" cxnId="{93E155BF-8EAE-4E52-8DD0-A1CB3F1094F2}">
      <dgm:prSet/>
      <dgm:spPr/>
      <dgm:t>
        <a:bodyPr/>
        <a:lstStyle/>
        <a:p>
          <a:endParaRPr lang="en-US" sz="2000">
            <a:latin typeface="Calibri" panose="020F0502020204030204" pitchFamily="34" charset="0"/>
            <a:cs typeface="Calibri" panose="020F0502020204030204" pitchFamily="34" charset="0"/>
          </a:endParaRPr>
        </a:p>
      </dgm:t>
    </dgm:pt>
    <dgm:pt modelId="{2992FBAE-B68F-4A17-9E9B-E5162CE67164}" type="sibTrans" cxnId="{93E155BF-8EAE-4E52-8DD0-A1CB3F1094F2}">
      <dgm:prSet/>
      <dgm:spPr/>
      <dgm:t>
        <a:bodyPr/>
        <a:lstStyle/>
        <a:p>
          <a:endParaRPr lang="en-US" sz="2000">
            <a:latin typeface="Calibri" panose="020F0502020204030204" pitchFamily="34" charset="0"/>
            <a:cs typeface="Calibri" panose="020F0502020204030204" pitchFamily="34" charset="0"/>
          </a:endParaRPr>
        </a:p>
      </dgm:t>
    </dgm:pt>
    <dgm:pt modelId="{4C7C8E93-04BB-4BE9-ADAC-BA529B5A7191}">
      <dgm:prSet phldrT="[Text]" custT="1"/>
      <dgm:spPr>
        <a:noFill/>
        <a:ln>
          <a:solidFill>
            <a:srgbClr val="000000"/>
          </a:solidFill>
        </a:ln>
      </dgm:spPr>
      <dgm:t>
        <a:bodyPr/>
        <a:lstStyle/>
        <a:p>
          <a:pPr>
            <a:buNone/>
          </a:pPr>
          <a:r>
            <a:rPr lang="en-US" sz="1800" b="1">
              <a:solidFill>
                <a:schemeClr val="tx1"/>
              </a:solidFill>
              <a:latin typeface="Calibri" panose="020F0502020204030204" pitchFamily="34" charset="0"/>
              <a:cs typeface="Calibri" panose="020F0502020204030204" pitchFamily="34" charset="0"/>
            </a:rPr>
            <a:t>Fiscal policies </a:t>
          </a:r>
        </a:p>
      </dgm:t>
    </dgm:pt>
    <dgm:pt modelId="{B735156E-EEA1-4218-BD58-05CFF3D91A50}" type="parTrans" cxnId="{003CAF84-2606-42BA-AEEC-3B62B105EE20}">
      <dgm:prSet/>
      <dgm:spPr/>
      <dgm:t>
        <a:bodyPr/>
        <a:lstStyle/>
        <a:p>
          <a:endParaRPr lang="en-US" sz="2000">
            <a:latin typeface="Calibri" panose="020F0502020204030204" pitchFamily="34" charset="0"/>
            <a:cs typeface="Calibri" panose="020F0502020204030204" pitchFamily="34" charset="0"/>
          </a:endParaRPr>
        </a:p>
      </dgm:t>
    </dgm:pt>
    <dgm:pt modelId="{AC9FA2BA-75C3-4F11-9B4C-8A3E04DF38C7}" type="sibTrans" cxnId="{003CAF84-2606-42BA-AEEC-3B62B105EE20}">
      <dgm:prSet/>
      <dgm:spPr/>
      <dgm:t>
        <a:bodyPr/>
        <a:lstStyle/>
        <a:p>
          <a:endParaRPr lang="en-US" sz="2000">
            <a:latin typeface="Calibri" panose="020F0502020204030204" pitchFamily="34" charset="0"/>
            <a:cs typeface="Calibri" panose="020F0502020204030204" pitchFamily="34" charset="0"/>
          </a:endParaRPr>
        </a:p>
      </dgm:t>
    </dgm:pt>
    <dgm:pt modelId="{575EB003-5FAD-4FE6-93FE-892253193214}">
      <dgm:prSet phldrT="[Text]" custT="1"/>
      <dgm:spPr>
        <a:noFill/>
        <a:ln>
          <a:solidFill>
            <a:srgbClr val="000000"/>
          </a:solidFill>
        </a:ln>
      </dgm:spPr>
      <dgm:t>
        <a:bodyPr/>
        <a:lstStyle/>
        <a:p>
          <a:pPr>
            <a:buNone/>
          </a:pPr>
          <a:r>
            <a:rPr lang="en-US" sz="1800" b="1">
              <a:solidFill>
                <a:schemeClr val="tx1"/>
              </a:solidFill>
              <a:latin typeface="Calibri" panose="020F0502020204030204" pitchFamily="34" charset="0"/>
              <a:cs typeface="Calibri" panose="020F0502020204030204" pitchFamily="34" charset="0"/>
            </a:rPr>
            <a:t>Financial sector policies</a:t>
          </a:r>
        </a:p>
      </dgm:t>
    </dgm:pt>
    <dgm:pt modelId="{8F804B53-C149-448F-B57B-DD222A4B524E}" type="parTrans" cxnId="{373E031B-779B-4BF1-81E5-1E7819A80E98}">
      <dgm:prSet/>
      <dgm:spPr/>
      <dgm:t>
        <a:bodyPr/>
        <a:lstStyle/>
        <a:p>
          <a:endParaRPr lang="en-US" sz="2000">
            <a:latin typeface="Calibri" panose="020F0502020204030204" pitchFamily="34" charset="0"/>
            <a:cs typeface="Calibri" panose="020F0502020204030204" pitchFamily="34" charset="0"/>
          </a:endParaRPr>
        </a:p>
      </dgm:t>
    </dgm:pt>
    <dgm:pt modelId="{671F52A1-7C31-4F4E-BB43-2C3F767B885C}" type="sibTrans" cxnId="{373E031B-779B-4BF1-81E5-1E7819A80E98}">
      <dgm:prSet/>
      <dgm:spPr/>
      <dgm:t>
        <a:bodyPr/>
        <a:lstStyle/>
        <a:p>
          <a:endParaRPr lang="en-US" sz="2000">
            <a:latin typeface="Calibri" panose="020F0502020204030204" pitchFamily="34" charset="0"/>
            <a:cs typeface="Calibri" panose="020F0502020204030204" pitchFamily="34" charset="0"/>
          </a:endParaRPr>
        </a:p>
      </dgm:t>
    </dgm:pt>
    <dgm:pt modelId="{FFF583C4-B91C-42E8-B77E-B98688E6D1F8}">
      <dgm:prSet phldrT="[Text]" custT="1"/>
      <dgm:spPr>
        <a:noFill/>
        <a:ln>
          <a:solidFill>
            <a:srgbClr val="000000"/>
          </a:solidFill>
        </a:ln>
      </dgm:spPr>
      <dgm:t>
        <a:bodyPr/>
        <a:lstStyle/>
        <a:p>
          <a:pPr>
            <a:buNone/>
          </a:pPr>
          <a:r>
            <a:rPr lang="en-US" sz="1800" b="1">
              <a:solidFill>
                <a:schemeClr val="tx1"/>
              </a:solidFill>
              <a:latin typeface="Calibri" panose="020F0502020204030204" pitchFamily="34" charset="0"/>
              <a:cs typeface="Calibri" panose="020F0502020204030204" pitchFamily="34" charset="0"/>
            </a:rPr>
            <a:t>Policies matter despite social norms:</a:t>
          </a:r>
        </a:p>
      </dgm:t>
    </dgm:pt>
    <dgm:pt modelId="{0A64C802-D9A8-4AF4-A8B1-10C56FE69724}" type="parTrans" cxnId="{4577A1D6-E60F-43A1-B0AE-AEAFF9326403}">
      <dgm:prSet/>
      <dgm:spPr/>
      <dgm:t>
        <a:bodyPr/>
        <a:lstStyle/>
        <a:p>
          <a:endParaRPr lang="en-US" sz="2000">
            <a:latin typeface="Calibri" panose="020F0502020204030204" pitchFamily="34" charset="0"/>
            <a:cs typeface="Calibri" panose="020F0502020204030204" pitchFamily="34" charset="0"/>
          </a:endParaRPr>
        </a:p>
      </dgm:t>
    </dgm:pt>
    <dgm:pt modelId="{9B0AECAC-827D-47C0-AF00-8D1A499D53B7}" type="sibTrans" cxnId="{4577A1D6-E60F-43A1-B0AE-AEAFF9326403}">
      <dgm:prSet/>
      <dgm:spPr/>
      <dgm:t>
        <a:bodyPr/>
        <a:lstStyle/>
        <a:p>
          <a:endParaRPr lang="en-US" sz="2000">
            <a:latin typeface="Calibri" panose="020F0502020204030204" pitchFamily="34" charset="0"/>
            <a:cs typeface="Calibri" panose="020F0502020204030204" pitchFamily="34" charset="0"/>
          </a:endParaRPr>
        </a:p>
      </dgm:t>
    </dgm:pt>
    <dgm:pt modelId="{2A09FF5A-E7AB-4518-9ACD-A8179F576867}">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Constitutional law and civil rights</a:t>
          </a:r>
        </a:p>
      </dgm:t>
    </dgm:pt>
    <dgm:pt modelId="{95AF53A5-BBF4-4D2E-B4B6-AEBBE600F87A}" type="parTrans" cxnId="{F9F3C344-6001-449E-A50C-DD4A66FB7787}">
      <dgm:prSet/>
      <dgm:spPr/>
      <dgm:t>
        <a:bodyPr/>
        <a:lstStyle/>
        <a:p>
          <a:endParaRPr lang="en-US" sz="2000">
            <a:latin typeface="Calibri" panose="020F0502020204030204" pitchFamily="34" charset="0"/>
            <a:cs typeface="Calibri" panose="020F0502020204030204" pitchFamily="34" charset="0"/>
          </a:endParaRPr>
        </a:p>
      </dgm:t>
    </dgm:pt>
    <dgm:pt modelId="{E0068C39-E24A-4881-8EC7-89EFE7469F61}" type="sibTrans" cxnId="{F9F3C344-6001-449E-A50C-DD4A66FB7787}">
      <dgm:prSet/>
      <dgm:spPr/>
      <dgm:t>
        <a:bodyPr/>
        <a:lstStyle/>
        <a:p>
          <a:endParaRPr lang="en-US" sz="2000">
            <a:latin typeface="Calibri" panose="020F0502020204030204" pitchFamily="34" charset="0"/>
            <a:cs typeface="Calibri" panose="020F0502020204030204" pitchFamily="34" charset="0"/>
          </a:endParaRPr>
        </a:p>
      </dgm:t>
    </dgm:pt>
    <dgm:pt modelId="{0601114C-2441-4B34-8300-01180383234D}">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Family law</a:t>
          </a:r>
        </a:p>
      </dgm:t>
    </dgm:pt>
    <dgm:pt modelId="{2EA9F76D-3288-48E4-A395-3016A20E3966}" type="parTrans" cxnId="{9E788E86-14A0-463E-8A91-5FDF9C0984C1}">
      <dgm:prSet/>
      <dgm:spPr/>
      <dgm:t>
        <a:bodyPr/>
        <a:lstStyle/>
        <a:p>
          <a:endParaRPr lang="en-US" sz="2000">
            <a:latin typeface="Calibri" panose="020F0502020204030204" pitchFamily="34" charset="0"/>
            <a:cs typeface="Calibri" panose="020F0502020204030204" pitchFamily="34" charset="0"/>
          </a:endParaRPr>
        </a:p>
      </dgm:t>
    </dgm:pt>
    <dgm:pt modelId="{BC8258DD-91AF-4FC3-973C-22892ECA0D89}" type="sibTrans" cxnId="{9E788E86-14A0-463E-8A91-5FDF9C0984C1}">
      <dgm:prSet/>
      <dgm:spPr/>
      <dgm:t>
        <a:bodyPr/>
        <a:lstStyle/>
        <a:p>
          <a:endParaRPr lang="en-US" sz="2000">
            <a:latin typeface="Calibri" panose="020F0502020204030204" pitchFamily="34" charset="0"/>
            <a:cs typeface="Calibri" panose="020F0502020204030204" pitchFamily="34" charset="0"/>
          </a:endParaRPr>
        </a:p>
      </dgm:t>
    </dgm:pt>
    <dgm:pt modelId="{091F3A81-AA88-46F7-897E-899031161181}">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Property law</a:t>
          </a:r>
        </a:p>
      </dgm:t>
    </dgm:pt>
    <dgm:pt modelId="{177AC777-DA7C-4339-8561-E9EFC0693AEA}" type="parTrans" cxnId="{222CEA59-0580-433F-81BF-C5D41542B95A}">
      <dgm:prSet/>
      <dgm:spPr/>
      <dgm:t>
        <a:bodyPr/>
        <a:lstStyle/>
        <a:p>
          <a:endParaRPr lang="en-US" sz="2000">
            <a:latin typeface="Calibri" panose="020F0502020204030204" pitchFamily="34" charset="0"/>
            <a:cs typeface="Calibri" panose="020F0502020204030204" pitchFamily="34" charset="0"/>
          </a:endParaRPr>
        </a:p>
      </dgm:t>
    </dgm:pt>
    <dgm:pt modelId="{82ADE1C3-D87B-4AED-82E0-A11F5EF6C0F4}" type="sibTrans" cxnId="{222CEA59-0580-433F-81BF-C5D41542B95A}">
      <dgm:prSet/>
      <dgm:spPr/>
      <dgm:t>
        <a:bodyPr/>
        <a:lstStyle/>
        <a:p>
          <a:endParaRPr lang="en-US" sz="2000">
            <a:latin typeface="Calibri" panose="020F0502020204030204" pitchFamily="34" charset="0"/>
            <a:cs typeface="Calibri" panose="020F0502020204030204" pitchFamily="34" charset="0"/>
          </a:endParaRPr>
        </a:p>
      </dgm:t>
    </dgm:pt>
    <dgm:pt modelId="{3940D8BD-A369-4A1C-97B7-4E09C2FE5BD4}">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Strategic budgeting</a:t>
          </a:r>
        </a:p>
      </dgm:t>
    </dgm:pt>
    <dgm:pt modelId="{AEA10D38-1148-4011-9207-C773A8F9F80C}" type="parTrans" cxnId="{C6DA00EA-093B-4ED8-9088-90DDCCD841BC}">
      <dgm:prSet/>
      <dgm:spPr/>
      <dgm:t>
        <a:bodyPr/>
        <a:lstStyle/>
        <a:p>
          <a:endParaRPr lang="en-US" sz="2000">
            <a:latin typeface="Calibri" panose="020F0502020204030204" pitchFamily="34" charset="0"/>
            <a:cs typeface="Calibri" panose="020F0502020204030204" pitchFamily="34" charset="0"/>
          </a:endParaRPr>
        </a:p>
      </dgm:t>
    </dgm:pt>
    <dgm:pt modelId="{0003E25F-9417-4433-8C9F-4F8F13B601CA}" type="sibTrans" cxnId="{C6DA00EA-093B-4ED8-9088-90DDCCD841BC}">
      <dgm:prSet/>
      <dgm:spPr/>
      <dgm:t>
        <a:bodyPr/>
        <a:lstStyle/>
        <a:p>
          <a:endParaRPr lang="en-US" sz="2000">
            <a:latin typeface="Calibri" panose="020F0502020204030204" pitchFamily="34" charset="0"/>
            <a:cs typeface="Calibri" panose="020F0502020204030204" pitchFamily="34" charset="0"/>
          </a:endParaRPr>
        </a:p>
      </dgm:t>
    </dgm:pt>
    <dgm:pt modelId="{4A264D96-7143-46A8-BA62-57D314A845E5}">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Access to digital infrastructure (mobile phones, high-speed internet, digital ID)</a:t>
          </a:r>
        </a:p>
      </dgm:t>
    </dgm:pt>
    <dgm:pt modelId="{49FB3B8A-DF9E-4C1B-A4D2-AE879EEA42D7}" type="parTrans" cxnId="{32184106-5CD9-4B8C-9A4A-359B7DB11B3E}">
      <dgm:prSet/>
      <dgm:spPr/>
      <dgm:t>
        <a:bodyPr/>
        <a:lstStyle/>
        <a:p>
          <a:endParaRPr lang="en-US" sz="2000">
            <a:latin typeface="Calibri" panose="020F0502020204030204" pitchFamily="34" charset="0"/>
            <a:cs typeface="Calibri" panose="020F0502020204030204" pitchFamily="34" charset="0"/>
          </a:endParaRPr>
        </a:p>
      </dgm:t>
    </dgm:pt>
    <dgm:pt modelId="{2126AFF0-1B70-4D5B-A366-C9F8379438CC}" type="sibTrans" cxnId="{32184106-5CD9-4B8C-9A4A-359B7DB11B3E}">
      <dgm:prSet/>
      <dgm:spPr/>
      <dgm:t>
        <a:bodyPr/>
        <a:lstStyle/>
        <a:p>
          <a:endParaRPr lang="en-US" sz="2000">
            <a:latin typeface="Calibri" panose="020F0502020204030204" pitchFamily="34" charset="0"/>
            <a:cs typeface="Calibri" panose="020F0502020204030204" pitchFamily="34" charset="0"/>
          </a:endParaRPr>
        </a:p>
      </dgm:t>
    </dgm:pt>
    <dgm:pt modelId="{191F1335-D8FB-4867-8684-1BDEBE6BC990}">
      <dgm:prSet phldrT="[Text]" custT="1"/>
      <dgm:spPr>
        <a:noFill/>
        <a:ln>
          <a:solidFill>
            <a:srgbClr val="000000"/>
          </a:solidFill>
        </a:ln>
      </dgm:spPr>
      <dgm:t>
        <a:bodyPr/>
        <a:lstStyle/>
        <a:p>
          <a:pPr>
            <a:buNone/>
          </a:pPr>
          <a:r>
            <a:rPr lang="en-US" sz="1800" b="1">
              <a:solidFill>
                <a:schemeClr val="tx1"/>
              </a:solidFill>
              <a:latin typeface="Calibri" panose="020F0502020204030204" pitchFamily="34" charset="0"/>
              <a:cs typeface="Calibri" panose="020F0502020204030204" pitchFamily="34" charset="0"/>
            </a:rPr>
            <a:t>Labor market policies</a:t>
          </a:r>
        </a:p>
      </dgm:t>
    </dgm:pt>
    <dgm:pt modelId="{5F34B261-2904-4201-8E27-AF4AC516030E}" type="parTrans" cxnId="{C0D1F826-9698-4C57-8ABB-889C91730998}">
      <dgm:prSet/>
      <dgm:spPr/>
      <dgm:t>
        <a:bodyPr/>
        <a:lstStyle/>
        <a:p>
          <a:endParaRPr lang="en-US" sz="2000">
            <a:latin typeface="Calibri" panose="020F0502020204030204" pitchFamily="34" charset="0"/>
            <a:cs typeface="Calibri" panose="020F0502020204030204" pitchFamily="34" charset="0"/>
          </a:endParaRPr>
        </a:p>
      </dgm:t>
    </dgm:pt>
    <dgm:pt modelId="{C549E027-20EB-452D-AE47-880972ED08C8}" type="sibTrans" cxnId="{C0D1F826-9698-4C57-8ABB-889C91730998}">
      <dgm:prSet/>
      <dgm:spPr/>
      <dgm:t>
        <a:bodyPr/>
        <a:lstStyle/>
        <a:p>
          <a:endParaRPr lang="en-US" sz="2000">
            <a:latin typeface="Calibri" panose="020F0502020204030204" pitchFamily="34" charset="0"/>
            <a:cs typeface="Calibri" panose="020F0502020204030204" pitchFamily="34" charset="0"/>
          </a:endParaRPr>
        </a:p>
      </dgm:t>
    </dgm:pt>
    <dgm:pt modelId="{78F901AB-422E-40CC-ADD8-23AA3A230E67}">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Recruitment, promotion and retention policies</a:t>
          </a:r>
        </a:p>
      </dgm:t>
    </dgm:pt>
    <dgm:pt modelId="{F718967D-3903-4169-B1D7-F4F44F2E6CCE}" type="parTrans" cxnId="{CD5DAD70-C68C-44AD-919F-E7487ACD748E}">
      <dgm:prSet/>
      <dgm:spPr/>
      <dgm:t>
        <a:bodyPr/>
        <a:lstStyle/>
        <a:p>
          <a:endParaRPr lang="en-US" sz="2000">
            <a:latin typeface="Calibri" panose="020F0502020204030204" pitchFamily="34" charset="0"/>
            <a:cs typeface="Calibri" panose="020F0502020204030204" pitchFamily="34" charset="0"/>
          </a:endParaRPr>
        </a:p>
      </dgm:t>
    </dgm:pt>
    <dgm:pt modelId="{BEE9BB70-0424-4D25-9E43-D3DE24C02AD1}" type="sibTrans" cxnId="{CD5DAD70-C68C-44AD-919F-E7487ACD748E}">
      <dgm:prSet/>
      <dgm:spPr/>
      <dgm:t>
        <a:bodyPr/>
        <a:lstStyle/>
        <a:p>
          <a:endParaRPr lang="en-US" sz="2000">
            <a:latin typeface="Calibri" panose="020F0502020204030204" pitchFamily="34" charset="0"/>
            <a:cs typeface="Calibri" panose="020F0502020204030204" pitchFamily="34" charset="0"/>
          </a:endParaRPr>
        </a:p>
      </dgm:t>
    </dgm:pt>
    <dgm:pt modelId="{4D51B4B7-7486-45AC-B227-DB701DBD2B97}">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Labor law</a:t>
          </a:r>
        </a:p>
      </dgm:t>
    </dgm:pt>
    <dgm:pt modelId="{9BC4D656-00D8-4F34-B181-5EDAE8CDC2AB}" type="parTrans" cxnId="{6C1DE4A2-D9CF-48DB-BD6D-0C39B9C0A459}">
      <dgm:prSet/>
      <dgm:spPr/>
      <dgm:t>
        <a:bodyPr/>
        <a:lstStyle/>
        <a:p>
          <a:endParaRPr lang="en-US"/>
        </a:p>
      </dgm:t>
    </dgm:pt>
    <dgm:pt modelId="{28BA716F-A2C6-4273-9286-63CD9A498628}" type="sibTrans" cxnId="{6C1DE4A2-D9CF-48DB-BD6D-0C39B9C0A459}">
      <dgm:prSet/>
      <dgm:spPr/>
      <dgm:t>
        <a:bodyPr/>
        <a:lstStyle/>
        <a:p>
          <a:endParaRPr lang="en-US"/>
        </a:p>
      </dgm:t>
    </dgm:pt>
    <dgm:pt modelId="{86A1E7F0-05F1-4DA1-91C2-3B2860E9419C}">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Tax law</a:t>
          </a:r>
        </a:p>
      </dgm:t>
    </dgm:pt>
    <dgm:pt modelId="{B6087608-5BB5-4C10-910F-BA3474C29930}" type="parTrans" cxnId="{98FACE80-7E4F-4EB6-A618-B8FD21546C14}">
      <dgm:prSet/>
      <dgm:spPr/>
      <dgm:t>
        <a:bodyPr/>
        <a:lstStyle/>
        <a:p>
          <a:endParaRPr lang="en-US"/>
        </a:p>
      </dgm:t>
    </dgm:pt>
    <dgm:pt modelId="{B6AD057F-400E-4E01-816E-6A5C5A1C167B}" type="sibTrans" cxnId="{98FACE80-7E4F-4EB6-A618-B8FD21546C14}">
      <dgm:prSet/>
      <dgm:spPr/>
      <dgm:t>
        <a:bodyPr/>
        <a:lstStyle/>
        <a:p>
          <a:endParaRPr lang="en-US"/>
        </a:p>
      </dgm:t>
    </dgm:pt>
    <dgm:pt modelId="{A8B5E5C7-E952-497E-B955-369B9D395EF6}">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Direct/indirect taxation</a:t>
          </a:r>
        </a:p>
      </dgm:t>
    </dgm:pt>
    <dgm:pt modelId="{8451AEFE-8E7D-45A4-B957-ADB774BF51C9}" type="parTrans" cxnId="{2B88BE0F-BF7F-4161-A7FE-66A9062EE189}">
      <dgm:prSet/>
      <dgm:spPr/>
      <dgm:t>
        <a:bodyPr/>
        <a:lstStyle/>
        <a:p>
          <a:endParaRPr lang="en-US"/>
        </a:p>
      </dgm:t>
    </dgm:pt>
    <dgm:pt modelId="{D312F436-8128-4E74-AE50-C6BCA70C925F}" type="sibTrans" cxnId="{2B88BE0F-BF7F-4161-A7FE-66A9062EE189}">
      <dgm:prSet/>
      <dgm:spPr/>
      <dgm:t>
        <a:bodyPr/>
        <a:lstStyle/>
        <a:p>
          <a:endParaRPr lang="en-US"/>
        </a:p>
      </dgm:t>
    </dgm:pt>
    <dgm:pt modelId="{1B1EEEA3-F203-4EA8-BB6A-407B5AF1E35B}">
      <dgm:prSet phldrT="[Text]" custT="1"/>
      <dgm:spPr>
        <a:noFill/>
        <a:ln>
          <a:solidFill>
            <a:srgbClr val="000000"/>
          </a:solidFill>
        </a:ln>
      </dgm:spPr>
      <dgm:t>
        <a:bodyPr/>
        <a:lstStyle/>
        <a:p>
          <a:pPr>
            <a:buFont typeface="Wingdings" panose="05000000000000000000" pitchFamily="2" charset="2"/>
            <a:buChar char="v"/>
          </a:pPr>
          <a:endParaRPr lang="en-US" sz="1400">
            <a:solidFill>
              <a:schemeClr val="tx1"/>
            </a:solidFill>
            <a:latin typeface="Calibri" panose="020F0502020204030204" pitchFamily="34" charset="0"/>
            <a:cs typeface="Calibri" panose="020F0502020204030204" pitchFamily="34" charset="0"/>
          </a:endParaRPr>
        </a:p>
      </dgm:t>
    </dgm:pt>
    <dgm:pt modelId="{16D1F756-5B3D-48A8-8DB7-D7F7C0290052}" type="parTrans" cxnId="{AED05C4C-A9EE-4F65-B7F3-6D585A8FD7C0}">
      <dgm:prSet/>
      <dgm:spPr/>
      <dgm:t>
        <a:bodyPr/>
        <a:lstStyle/>
        <a:p>
          <a:endParaRPr lang="en-US"/>
        </a:p>
      </dgm:t>
    </dgm:pt>
    <dgm:pt modelId="{ED05273C-3350-416A-9D10-36C2CF0018D1}" type="sibTrans" cxnId="{AED05C4C-A9EE-4F65-B7F3-6D585A8FD7C0}">
      <dgm:prSet/>
      <dgm:spPr/>
      <dgm:t>
        <a:bodyPr/>
        <a:lstStyle/>
        <a:p>
          <a:endParaRPr lang="en-US"/>
        </a:p>
      </dgm:t>
    </dgm:pt>
    <dgm:pt modelId="{793DDD76-97B9-4670-8BB6-A9B6433EED5A}">
      <dgm:prSet phldrT="[Text]" custT="1"/>
      <dgm:spPr>
        <a:noFill/>
        <a:ln>
          <a:solidFill>
            <a:srgbClr val="000000"/>
          </a:solidFill>
        </a:ln>
      </dgm:spPr>
      <dgm:t>
        <a:bodyPr/>
        <a:lstStyle/>
        <a:p>
          <a:pPr>
            <a:buFont typeface="Wingdings" panose="05000000000000000000" pitchFamily="2" charset="2"/>
            <a:buNone/>
          </a:pPr>
          <a:r>
            <a:rPr lang="en-US" sz="1400">
              <a:solidFill>
                <a:schemeClr val="tx1"/>
              </a:solidFill>
              <a:latin typeface="Calibri" panose="020F0502020204030204" pitchFamily="34" charset="0"/>
              <a:cs typeface="Calibri" panose="020F0502020204030204" pitchFamily="34" charset="0"/>
            </a:rPr>
            <a:t> </a:t>
          </a:r>
        </a:p>
      </dgm:t>
    </dgm:pt>
    <dgm:pt modelId="{E35BCB7F-8401-4B93-9826-3AC0144D2694}" type="parTrans" cxnId="{1C1DB63B-C05D-4905-B5F4-9A0532028800}">
      <dgm:prSet/>
      <dgm:spPr/>
      <dgm:t>
        <a:bodyPr/>
        <a:lstStyle/>
        <a:p>
          <a:endParaRPr lang="en-US"/>
        </a:p>
      </dgm:t>
    </dgm:pt>
    <dgm:pt modelId="{D04ADDE8-572B-4B6C-8CC9-5EE859AEA445}" type="sibTrans" cxnId="{1C1DB63B-C05D-4905-B5F4-9A0532028800}">
      <dgm:prSet/>
      <dgm:spPr/>
      <dgm:t>
        <a:bodyPr/>
        <a:lstStyle/>
        <a:p>
          <a:endParaRPr lang="en-US"/>
        </a:p>
      </dgm:t>
    </dgm:pt>
    <dgm:pt modelId="{C8177BC6-F446-4788-989D-640C4482A220}">
      <dgm:prSet phldrT="[Text]" custT="1"/>
      <dgm:spPr>
        <a:noFill/>
        <a:ln>
          <a:solidFill>
            <a:srgbClr val="000000"/>
          </a:solidFill>
        </a:ln>
      </dgm:spPr>
      <dgm:t>
        <a:bodyPr/>
        <a:lstStyle/>
        <a:p>
          <a:pPr>
            <a:buFont typeface="Wingdings" panose="05000000000000000000" pitchFamily="2" charset="2"/>
            <a:buChar char="v"/>
          </a:pPr>
          <a:endParaRPr lang="en-US" sz="1400">
            <a:solidFill>
              <a:schemeClr val="tx1"/>
            </a:solidFill>
            <a:latin typeface="Calibri" panose="020F0502020204030204" pitchFamily="34" charset="0"/>
            <a:cs typeface="Calibri" panose="020F0502020204030204" pitchFamily="34" charset="0"/>
          </a:endParaRPr>
        </a:p>
      </dgm:t>
    </dgm:pt>
    <dgm:pt modelId="{616A585C-4D78-4090-8F70-FFA0D834D9C8}" type="parTrans" cxnId="{9C69190B-B705-4591-94A1-BC00BF74CA1F}">
      <dgm:prSet/>
      <dgm:spPr/>
      <dgm:t>
        <a:bodyPr/>
        <a:lstStyle/>
        <a:p>
          <a:endParaRPr lang="en-US"/>
        </a:p>
      </dgm:t>
    </dgm:pt>
    <dgm:pt modelId="{261D8C93-541B-4C8C-8152-053F160FE6BE}" type="sibTrans" cxnId="{9C69190B-B705-4591-94A1-BC00BF74CA1F}">
      <dgm:prSet/>
      <dgm:spPr/>
      <dgm:t>
        <a:bodyPr/>
        <a:lstStyle/>
        <a:p>
          <a:endParaRPr lang="en-US"/>
        </a:p>
      </dgm:t>
    </dgm:pt>
    <dgm:pt modelId="{4E97D756-87F9-4D48-96DD-83189C5243CE}">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Spending on education, health, infrastructure and well-targeted social assistance</a:t>
          </a:r>
        </a:p>
      </dgm:t>
    </dgm:pt>
    <dgm:pt modelId="{95C7936C-7A39-46A0-934F-F24E08F91F2E}" type="parTrans" cxnId="{C305777D-36C0-4B53-A803-BBD5E7DAC410}">
      <dgm:prSet/>
      <dgm:spPr/>
      <dgm:t>
        <a:bodyPr/>
        <a:lstStyle/>
        <a:p>
          <a:endParaRPr lang="en-US"/>
        </a:p>
      </dgm:t>
    </dgm:pt>
    <dgm:pt modelId="{4240CC55-178B-4110-9EE1-C429D7153503}" type="sibTrans" cxnId="{C305777D-36C0-4B53-A803-BBD5E7DAC410}">
      <dgm:prSet/>
      <dgm:spPr/>
      <dgm:t>
        <a:bodyPr/>
        <a:lstStyle/>
        <a:p>
          <a:endParaRPr lang="en-US"/>
        </a:p>
      </dgm:t>
    </dgm:pt>
    <dgm:pt modelId="{54CA0C58-9D4A-4B66-BA0F-0377F59FF673}">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Training and skills enhancement </a:t>
          </a:r>
        </a:p>
      </dgm:t>
    </dgm:pt>
    <dgm:pt modelId="{68C9B453-EBE5-40AC-88A9-C69A684CA42F}" type="parTrans" cxnId="{D6D1D48D-7580-4839-96AE-A87DD86E1E2D}">
      <dgm:prSet/>
      <dgm:spPr/>
      <dgm:t>
        <a:bodyPr/>
        <a:lstStyle/>
        <a:p>
          <a:endParaRPr lang="en-US"/>
        </a:p>
      </dgm:t>
    </dgm:pt>
    <dgm:pt modelId="{12FE8E7D-44AC-4DD3-A9BD-8652AF6E50E0}" type="sibTrans" cxnId="{D6D1D48D-7580-4839-96AE-A87DD86E1E2D}">
      <dgm:prSet/>
      <dgm:spPr/>
      <dgm:t>
        <a:bodyPr/>
        <a:lstStyle/>
        <a:p>
          <a:endParaRPr lang="en-US"/>
        </a:p>
      </dgm:t>
    </dgm:pt>
    <dgm:pt modelId="{26B10B57-EF00-4499-9C1A-77F4FDCD2EFA}">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Public sector wage policies</a:t>
          </a:r>
        </a:p>
      </dgm:t>
    </dgm:pt>
    <dgm:pt modelId="{7A3596E0-A732-4CB8-B71C-C798B5134F8E}" type="sibTrans" cxnId="{0FFA3546-2D29-4C78-8FA9-95B041187B82}">
      <dgm:prSet/>
      <dgm:spPr/>
      <dgm:t>
        <a:bodyPr/>
        <a:lstStyle/>
        <a:p>
          <a:endParaRPr lang="en-US"/>
        </a:p>
      </dgm:t>
    </dgm:pt>
    <dgm:pt modelId="{23589996-F4E1-4C24-93FD-47409EC19DB9}" type="parTrans" cxnId="{0FFA3546-2D29-4C78-8FA9-95B041187B82}">
      <dgm:prSet/>
      <dgm:spPr/>
      <dgm:t>
        <a:bodyPr/>
        <a:lstStyle/>
        <a:p>
          <a:endParaRPr lang="en-US"/>
        </a:p>
      </dgm:t>
    </dgm:pt>
    <dgm:pt modelId="{16BC76CB-2AA9-4339-84A6-04C590BEBC7A}">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Parental leave and child/elderly care</a:t>
          </a:r>
        </a:p>
      </dgm:t>
    </dgm:pt>
    <dgm:pt modelId="{B09F91E6-0EF7-43CA-A9A8-683F1020C5D3}" type="parTrans" cxnId="{B50F6421-0841-4D88-991F-247021E28BA8}">
      <dgm:prSet/>
      <dgm:spPr/>
      <dgm:t>
        <a:bodyPr/>
        <a:lstStyle/>
        <a:p>
          <a:endParaRPr lang="en-US"/>
        </a:p>
      </dgm:t>
    </dgm:pt>
    <dgm:pt modelId="{521805C7-857F-4F60-A029-E76E59E509EC}" type="sibTrans" cxnId="{B50F6421-0841-4D88-991F-247021E28BA8}">
      <dgm:prSet/>
      <dgm:spPr/>
      <dgm:t>
        <a:bodyPr/>
        <a:lstStyle/>
        <a:p>
          <a:endParaRPr lang="en-US"/>
        </a:p>
      </dgm:t>
    </dgm:pt>
    <dgm:pt modelId="{0174374F-2B02-42B9-A4FA-ACAC1130A414}">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Supervisory guidance</a:t>
          </a:r>
        </a:p>
      </dgm:t>
    </dgm:pt>
    <dgm:pt modelId="{A443AC3E-9852-4F05-8F04-ED81042528CB}" type="parTrans" cxnId="{6F61D647-9BC8-402C-BC28-626F847E9BE4}">
      <dgm:prSet/>
      <dgm:spPr/>
      <dgm:t>
        <a:bodyPr/>
        <a:lstStyle/>
        <a:p>
          <a:endParaRPr lang="en-US"/>
        </a:p>
      </dgm:t>
    </dgm:pt>
    <dgm:pt modelId="{FDAA4099-E5E9-4306-B709-EB10AB9F639D}" type="sibTrans" cxnId="{6F61D647-9BC8-402C-BC28-626F847E9BE4}">
      <dgm:prSet/>
      <dgm:spPr/>
      <dgm:t>
        <a:bodyPr/>
        <a:lstStyle/>
        <a:p>
          <a:endParaRPr lang="en-US"/>
        </a:p>
      </dgm:t>
    </dgm:pt>
    <dgm:pt modelId="{D971EE62-B0F4-497D-8463-8773BC526133}">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Investing in digital and financial literacy</a:t>
          </a:r>
        </a:p>
      </dgm:t>
    </dgm:pt>
    <dgm:pt modelId="{8107B2FE-CCED-48AF-9CFA-405D0530CB23}" type="parTrans" cxnId="{E8EE451D-216E-4967-9A3F-11AEA20C108E}">
      <dgm:prSet/>
      <dgm:spPr/>
      <dgm:t>
        <a:bodyPr/>
        <a:lstStyle/>
        <a:p>
          <a:endParaRPr lang="en-US"/>
        </a:p>
      </dgm:t>
    </dgm:pt>
    <dgm:pt modelId="{076F0DF3-1153-4750-A669-25F4234B1C99}" type="sibTrans" cxnId="{E8EE451D-216E-4967-9A3F-11AEA20C108E}">
      <dgm:prSet/>
      <dgm:spPr/>
      <dgm:t>
        <a:bodyPr/>
        <a:lstStyle/>
        <a:p>
          <a:endParaRPr lang="en-US"/>
        </a:p>
      </dgm:t>
    </dgm:pt>
    <dgm:pt modelId="{9A962D88-776E-47FA-BCEB-895F82D1416A}">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Taxation</a:t>
          </a:r>
        </a:p>
      </dgm:t>
    </dgm:pt>
    <dgm:pt modelId="{8C245E98-B4C9-4BB9-8CAB-BB8471E4ECC9}" type="parTrans" cxnId="{28B6EBD9-B5DC-479D-9973-B43F68EF5D12}">
      <dgm:prSet/>
      <dgm:spPr/>
      <dgm:t>
        <a:bodyPr/>
        <a:lstStyle/>
        <a:p>
          <a:endParaRPr lang="en-US"/>
        </a:p>
      </dgm:t>
    </dgm:pt>
    <dgm:pt modelId="{EA98089C-407A-4A3D-9C30-D95677CE6934}" type="sibTrans" cxnId="{28B6EBD9-B5DC-479D-9973-B43F68EF5D12}">
      <dgm:prSet/>
      <dgm:spPr/>
      <dgm:t>
        <a:bodyPr/>
        <a:lstStyle/>
        <a:p>
          <a:endParaRPr lang="en-US"/>
        </a:p>
      </dgm:t>
    </dgm:pt>
    <dgm:pt modelId="{B65E8502-9D68-4733-B260-5A99C97F3224}">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Childcare</a:t>
          </a:r>
        </a:p>
      </dgm:t>
    </dgm:pt>
    <dgm:pt modelId="{F0720244-A809-479D-904E-2F31B6EFC506}" type="parTrans" cxnId="{08F137D2-3C90-4966-B7DA-23F66A4AB3E0}">
      <dgm:prSet/>
      <dgm:spPr/>
      <dgm:t>
        <a:bodyPr/>
        <a:lstStyle/>
        <a:p>
          <a:endParaRPr lang="en-US"/>
        </a:p>
      </dgm:t>
    </dgm:pt>
    <dgm:pt modelId="{B70FC9A8-D952-47CE-9746-DBDFCDFBDA84}" type="sibTrans" cxnId="{08F137D2-3C90-4966-B7DA-23F66A4AB3E0}">
      <dgm:prSet/>
      <dgm:spPr/>
      <dgm:t>
        <a:bodyPr/>
        <a:lstStyle/>
        <a:p>
          <a:endParaRPr lang="en-US"/>
        </a:p>
      </dgm:t>
    </dgm:pt>
    <dgm:pt modelId="{C87925B8-90FD-4D21-B566-A59088B8F295}">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Parental leave</a:t>
          </a:r>
        </a:p>
      </dgm:t>
    </dgm:pt>
    <dgm:pt modelId="{550923A5-BE10-4B10-A993-B492DC57A426}" type="parTrans" cxnId="{900C9328-289E-42D8-9ABC-5A7AEF19F186}">
      <dgm:prSet/>
      <dgm:spPr/>
      <dgm:t>
        <a:bodyPr/>
        <a:lstStyle/>
        <a:p>
          <a:endParaRPr lang="en-US"/>
        </a:p>
      </dgm:t>
    </dgm:pt>
    <dgm:pt modelId="{1D2DFDC0-51F8-424B-B86B-55BBEDEA4D6C}" type="sibTrans" cxnId="{900C9328-289E-42D8-9ABC-5A7AEF19F186}">
      <dgm:prSet/>
      <dgm:spPr/>
      <dgm:t>
        <a:bodyPr/>
        <a:lstStyle/>
        <a:p>
          <a:endParaRPr lang="en-US"/>
        </a:p>
      </dgm:t>
    </dgm:pt>
    <dgm:pt modelId="{7984284F-0D3E-4030-B2AC-1301B2196843}">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Education</a:t>
          </a:r>
        </a:p>
      </dgm:t>
    </dgm:pt>
    <dgm:pt modelId="{AD8ABFD8-42B2-432C-9DEC-3FF492BBB7D8}" type="parTrans" cxnId="{61E2920A-B005-430D-A5E3-712310BA73B8}">
      <dgm:prSet/>
      <dgm:spPr/>
      <dgm:t>
        <a:bodyPr/>
        <a:lstStyle/>
        <a:p>
          <a:endParaRPr lang="en-US"/>
        </a:p>
      </dgm:t>
    </dgm:pt>
    <dgm:pt modelId="{46B6C9E7-A1D1-4672-8355-E74AD71CB439}" type="sibTrans" cxnId="{61E2920A-B005-430D-A5E3-712310BA73B8}">
      <dgm:prSet/>
      <dgm:spPr/>
      <dgm:t>
        <a:bodyPr/>
        <a:lstStyle/>
        <a:p>
          <a:endParaRPr lang="en-US"/>
        </a:p>
      </dgm:t>
    </dgm:pt>
    <dgm:pt modelId="{EF14AE40-F623-4DF4-8A34-E68F4E70A6A1}">
      <dgm:prSet phldrT="[Text]" custT="1"/>
      <dgm:spPr>
        <a:noFill/>
        <a:ln>
          <a:solidFill>
            <a:srgbClr val="000000"/>
          </a:solidFill>
        </a:ln>
      </dgm:spPr>
      <dgm:t>
        <a:bodyPr/>
        <a:lstStyle/>
        <a:p>
          <a:pPr>
            <a:buFont typeface="Wingdings" panose="05000000000000000000" pitchFamily="2" charset="2"/>
            <a:buChar char="v"/>
          </a:pPr>
          <a:r>
            <a:rPr lang="en-US" sz="1400">
              <a:solidFill>
                <a:schemeClr val="tx1"/>
              </a:solidFill>
              <a:latin typeface="Calibri" panose="020F0502020204030204" pitchFamily="34" charset="0"/>
              <a:cs typeface="Calibri" panose="020F0502020204030204" pitchFamily="34" charset="0"/>
            </a:rPr>
            <a:t>Family allowances</a:t>
          </a:r>
        </a:p>
      </dgm:t>
    </dgm:pt>
    <dgm:pt modelId="{723C55C1-E72A-4300-A5F1-DE0E315FFD2A}" type="parTrans" cxnId="{405BFBA0-D780-4E4C-80CD-96B37C80487E}">
      <dgm:prSet/>
      <dgm:spPr/>
      <dgm:t>
        <a:bodyPr/>
        <a:lstStyle/>
        <a:p>
          <a:endParaRPr lang="en-US"/>
        </a:p>
      </dgm:t>
    </dgm:pt>
    <dgm:pt modelId="{EF8207B2-3AE0-481E-8FDA-86C15C23EFD9}" type="sibTrans" cxnId="{405BFBA0-D780-4E4C-80CD-96B37C80487E}">
      <dgm:prSet/>
      <dgm:spPr/>
      <dgm:t>
        <a:bodyPr/>
        <a:lstStyle/>
        <a:p>
          <a:endParaRPr lang="en-US"/>
        </a:p>
      </dgm:t>
    </dgm:pt>
    <dgm:pt modelId="{338A4185-B1D2-440E-A0E7-43D1107DF5AE}" type="pres">
      <dgm:prSet presAssocID="{E0C2B5E6-67C1-4B42-BE9D-8AEFC077FF0F}" presName="Name0" presStyleCnt="0">
        <dgm:presLayoutVars>
          <dgm:dir/>
          <dgm:resizeHandles val="exact"/>
        </dgm:presLayoutVars>
      </dgm:prSet>
      <dgm:spPr/>
    </dgm:pt>
    <dgm:pt modelId="{D3B8DC0D-5D4C-418A-87CE-3BC034DFC215}" type="pres">
      <dgm:prSet presAssocID="{E0C2B5E6-67C1-4B42-BE9D-8AEFC077FF0F}" presName="fgShape" presStyleLbl="fgShp" presStyleIdx="0" presStyleCnt="1" custFlipVert="0" custScaleY="20620" custLinFactNeighborX="-632" custLinFactNeighborY="51693"/>
      <dgm:spPr>
        <a:noFill/>
        <a:ln>
          <a:noFill/>
        </a:ln>
      </dgm:spPr>
    </dgm:pt>
    <dgm:pt modelId="{BC4D1A8D-953F-4FDB-B2A5-700D6EB02C02}" type="pres">
      <dgm:prSet presAssocID="{E0C2B5E6-67C1-4B42-BE9D-8AEFC077FF0F}" presName="linComp" presStyleCnt="0"/>
      <dgm:spPr/>
    </dgm:pt>
    <dgm:pt modelId="{AD50AD09-7677-4C2C-A54C-F358234162ED}" type="pres">
      <dgm:prSet presAssocID="{85C22A65-D9CD-457E-90FC-54A04E679462}" presName="compNode" presStyleCnt="0"/>
      <dgm:spPr/>
    </dgm:pt>
    <dgm:pt modelId="{A29E77C6-8010-4DD5-8B76-AD0FE8725733}" type="pres">
      <dgm:prSet presAssocID="{85C22A65-D9CD-457E-90FC-54A04E679462}" presName="bkgdShape" presStyleLbl="node1" presStyleIdx="0" presStyleCnt="5" custLinFactNeighborX="-1670"/>
      <dgm:spPr/>
    </dgm:pt>
    <dgm:pt modelId="{836B4CA0-E9E9-4867-AE68-864BAEE98E7F}" type="pres">
      <dgm:prSet presAssocID="{85C22A65-D9CD-457E-90FC-54A04E679462}" presName="nodeTx" presStyleLbl="node1" presStyleIdx="0" presStyleCnt="5">
        <dgm:presLayoutVars>
          <dgm:bulletEnabled val="1"/>
        </dgm:presLayoutVars>
      </dgm:prSet>
      <dgm:spPr/>
    </dgm:pt>
    <dgm:pt modelId="{A8D79233-BA4F-42C8-B7C4-18DAF6293BCC}" type="pres">
      <dgm:prSet presAssocID="{85C22A65-D9CD-457E-90FC-54A04E679462}" presName="invisiNode" presStyleLbl="node1" presStyleIdx="0" presStyleCnt="5"/>
      <dgm:spPr/>
    </dgm:pt>
    <dgm:pt modelId="{85DC69AD-B0A9-4C91-BD33-E8E2E662B5BD}" type="pres">
      <dgm:prSet presAssocID="{85C22A65-D9CD-457E-90FC-54A04E679462}" presName="imagNode" presStyleLbl="fgImgPlace1" presStyleIdx="0" presStyleCnt="5"/>
      <dgm:spPr>
        <a:blipFill>
          <a:blip xmlns:r="http://schemas.openxmlformats.org/officeDocument/2006/relationships">
            <a:alphaModFix/>
            <a:extLst>
              <a:ext uri="{96DAC541-7B7A-43D3-8B79-37D633B846F1}">
                <asvg:svgBlip xmlns:asvg="http://schemas.microsoft.com/office/drawing/2016/SVG/main" r:embed="rId1"/>
              </a:ext>
            </a:extLst>
          </a:blip>
          <a:stretch>
            <a:fillRect/>
          </a:stretch>
        </a:blipFill>
        <a:ln>
          <a:solidFill>
            <a:schemeClr val="tx2">
              <a:lumMod val="75000"/>
            </a:schemeClr>
          </a:solidFill>
        </a:ln>
      </dgm:spPr>
    </dgm:pt>
    <dgm:pt modelId="{40F9C3FE-E129-40ED-A863-45D384D7FEE4}" type="pres">
      <dgm:prSet presAssocID="{2992FBAE-B68F-4A17-9E9B-E5162CE67164}" presName="sibTrans" presStyleLbl="sibTrans2D1" presStyleIdx="0" presStyleCnt="0"/>
      <dgm:spPr/>
    </dgm:pt>
    <dgm:pt modelId="{D4334134-F07B-4CB6-9342-D8DAB7ABF2A9}" type="pres">
      <dgm:prSet presAssocID="{4C7C8E93-04BB-4BE9-ADAC-BA529B5A7191}" presName="compNode" presStyleCnt="0"/>
      <dgm:spPr/>
    </dgm:pt>
    <dgm:pt modelId="{A69CF96E-A7DE-4E45-A45B-70481139A67E}" type="pres">
      <dgm:prSet presAssocID="{4C7C8E93-04BB-4BE9-ADAC-BA529B5A7191}" presName="bkgdShape" presStyleLbl="node1" presStyleIdx="1" presStyleCnt="5"/>
      <dgm:spPr/>
    </dgm:pt>
    <dgm:pt modelId="{A125F6D6-E7A7-425D-970B-B3C6C95AF839}" type="pres">
      <dgm:prSet presAssocID="{4C7C8E93-04BB-4BE9-ADAC-BA529B5A7191}" presName="nodeTx" presStyleLbl="node1" presStyleIdx="1" presStyleCnt="5">
        <dgm:presLayoutVars>
          <dgm:bulletEnabled val="1"/>
        </dgm:presLayoutVars>
      </dgm:prSet>
      <dgm:spPr/>
    </dgm:pt>
    <dgm:pt modelId="{D299114F-D217-4705-8781-7BC6B5302E6A}" type="pres">
      <dgm:prSet presAssocID="{4C7C8E93-04BB-4BE9-ADAC-BA529B5A7191}" presName="invisiNode" presStyleLbl="node1" presStyleIdx="1" presStyleCnt="5"/>
      <dgm:spPr/>
    </dgm:pt>
    <dgm:pt modelId="{EBA0200A-C908-413E-9B79-0C1C9E070E96}" type="pres">
      <dgm:prSet presAssocID="{4C7C8E93-04BB-4BE9-ADAC-BA529B5A7191}" presName="imagNode" presStyleLbl="fgImgPlace1" presStyleIdx="1" presStyleCnt="5"/>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a:stretch>
        </a:blipFill>
        <a:ln>
          <a:solidFill>
            <a:schemeClr val="accent2">
              <a:lumMod val="75000"/>
            </a:schemeClr>
          </a:solidFill>
        </a:ln>
      </dgm:spPr>
      <dgm:extLst>
        <a:ext uri="{E40237B7-FDA0-4F09-8148-C483321AD2D9}">
          <dgm14:cNvPr xmlns:dgm14="http://schemas.microsoft.com/office/drawing/2010/diagram" id="0" name="" descr="Family with girl with solid fill"/>
        </a:ext>
      </dgm:extLst>
    </dgm:pt>
    <dgm:pt modelId="{89BAC2C2-D20D-44C6-9B38-1ED66A63759A}" type="pres">
      <dgm:prSet presAssocID="{AC9FA2BA-75C3-4F11-9B4C-8A3E04DF38C7}" presName="sibTrans" presStyleLbl="sibTrans2D1" presStyleIdx="0" presStyleCnt="0"/>
      <dgm:spPr/>
    </dgm:pt>
    <dgm:pt modelId="{1A4F1D30-2ED8-4CB8-AF0E-B6F0249BF228}" type="pres">
      <dgm:prSet presAssocID="{575EB003-5FAD-4FE6-93FE-892253193214}" presName="compNode" presStyleCnt="0"/>
      <dgm:spPr/>
    </dgm:pt>
    <dgm:pt modelId="{85B8E0F9-3B18-47CA-86DD-29CED24D6EB6}" type="pres">
      <dgm:prSet presAssocID="{575EB003-5FAD-4FE6-93FE-892253193214}" presName="bkgdShape" presStyleLbl="node1" presStyleIdx="2" presStyleCnt="5"/>
      <dgm:spPr/>
    </dgm:pt>
    <dgm:pt modelId="{8DF4F614-448E-4608-8D9D-8067C64B58A0}" type="pres">
      <dgm:prSet presAssocID="{575EB003-5FAD-4FE6-93FE-892253193214}" presName="nodeTx" presStyleLbl="node1" presStyleIdx="2" presStyleCnt="5">
        <dgm:presLayoutVars>
          <dgm:bulletEnabled val="1"/>
        </dgm:presLayoutVars>
      </dgm:prSet>
      <dgm:spPr/>
    </dgm:pt>
    <dgm:pt modelId="{FA72CFFB-4EAB-413E-854F-A72773CA5B0B}" type="pres">
      <dgm:prSet presAssocID="{575EB003-5FAD-4FE6-93FE-892253193214}" presName="invisiNode" presStyleLbl="node1" presStyleIdx="2" presStyleCnt="5"/>
      <dgm:spPr/>
    </dgm:pt>
    <dgm:pt modelId="{ACD2ACED-847C-4E84-96CC-E7B48F931109}" type="pres">
      <dgm:prSet presAssocID="{575EB003-5FAD-4FE6-93FE-892253193214}" presName="imagNode" presStyleLbl="fgImgPlace1" presStyleIdx="2" presStyleCnt="5" custLinFactX="100000" custLinFactNeighborX="157194" custLinFactNeighborY="-2860"/>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a:blipFill>
        <a:ln>
          <a:solidFill>
            <a:schemeClr val="accent5">
              <a:lumMod val="75000"/>
            </a:schemeClr>
          </a:solidFill>
        </a:ln>
      </dgm:spPr>
      <dgm:extLst>
        <a:ext uri="{E40237B7-FDA0-4F09-8148-C483321AD2D9}">
          <dgm14:cNvPr xmlns:dgm14="http://schemas.microsoft.com/office/drawing/2010/diagram" id="0" name="" descr="Home with solid fill"/>
        </a:ext>
      </dgm:extLst>
    </dgm:pt>
    <dgm:pt modelId="{4C7A5279-BBF5-4E5D-842F-3AB1EBB81491}" type="pres">
      <dgm:prSet presAssocID="{671F52A1-7C31-4F4E-BB43-2C3F767B885C}" presName="sibTrans" presStyleLbl="sibTrans2D1" presStyleIdx="0" presStyleCnt="0"/>
      <dgm:spPr/>
    </dgm:pt>
    <dgm:pt modelId="{CFFBC479-C8F7-446A-A2CC-EB979EFCC644}" type="pres">
      <dgm:prSet presAssocID="{191F1335-D8FB-4867-8684-1BDEBE6BC990}" presName="compNode" presStyleCnt="0"/>
      <dgm:spPr/>
    </dgm:pt>
    <dgm:pt modelId="{90486CE5-6CC2-47FE-B922-43C155078C74}" type="pres">
      <dgm:prSet presAssocID="{191F1335-D8FB-4867-8684-1BDEBE6BC990}" presName="bkgdShape" presStyleLbl="node1" presStyleIdx="3" presStyleCnt="5"/>
      <dgm:spPr/>
    </dgm:pt>
    <dgm:pt modelId="{19277732-F9C3-4136-BB7C-E6FC5934346C}" type="pres">
      <dgm:prSet presAssocID="{191F1335-D8FB-4867-8684-1BDEBE6BC990}" presName="nodeTx" presStyleLbl="node1" presStyleIdx="3" presStyleCnt="5">
        <dgm:presLayoutVars>
          <dgm:bulletEnabled val="1"/>
        </dgm:presLayoutVars>
      </dgm:prSet>
      <dgm:spPr/>
    </dgm:pt>
    <dgm:pt modelId="{E35C7F57-9EE6-4D3F-9485-79003FF54966}" type="pres">
      <dgm:prSet presAssocID="{191F1335-D8FB-4867-8684-1BDEBE6BC990}" presName="invisiNode" presStyleLbl="node1" presStyleIdx="3" presStyleCnt="5"/>
      <dgm:spPr/>
    </dgm:pt>
    <dgm:pt modelId="{5F1D95E6-39A4-4E61-8A07-C7D0B10011B2}" type="pres">
      <dgm:prSet presAssocID="{191F1335-D8FB-4867-8684-1BDEBE6BC990}" presName="imagNode" presStyleLbl="fgImgPlace1" presStyleIdx="3" presStyleCnt="5"/>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a:ln>
          <a:solidFill>
            <a:schemeClr val="accent4">
              <a:lumMod val="75000"/>
            </a:schemeClr>
          </a:solidFill>
        </a:ln>
      </dgm:spPr>
      <dgm:extLst>
        <a:ext uri="{E40237B7-FDA0-4F09-8148-C483321AD2D9}">
          <dgm14:cNvPr xmlns:dgm14="http://schemas.microsoft.com/office/drawing/2010/diagram" id="0" name="" descr="Office worker female with solid fill"/>
        </a:ext>
      </dgm:extLst>
    </dgm:pt>
    <dgm:pt modelId="{C3077E06-02F4-488F-98A1-DAC3F6738B6A}" type="pres">
      <dgm:prSet presAssocID="{C549E027-20EB-452D-AE47-880972ED08C8}" presName="sibTrans" presStyleLbl="sibTrans2D1" presStyleIdx="0" presStyleCnt="0"/>
      <dgm:spPr/>
    </dgm:pt>
    <dgm:pt modelId="{DF52BE8C-EB65-40F2-9DF8-384B9D28552C}" type="pres">
      <dgm:prSet presAssocID="{FFF583C4-B91C-42E8-B77E-B98688E6D1F8}" presName="compNode" presStyleCnt="0"/>
      <dgm:spPr/>
    </dgm:pt>
    <dgm:pt modelId="{FC169443-8077-49B7-AF08-6C95B316AA17}" type="pres">
      <dgm:prSet presAssocID="{FFF583C4-B91C-42E8-B77E-B98688E6D1F8}" presName="bkgdShape" presStyleLbl="node1" presStyleIdx="4" presStyleCnt="5"/>
      <dgm:spPr/>
    </dgm:pt>
    <dgm:pt modelId="{CCF773B1-2AC8-411B-841B-396BAC867618}" type="pres">
      <dgm:prSet presAssocID="{FFF583C4-B91C-42E8-B77E-B98688E6D1F8}" presName="nodeTx" presStyleLbl="node1" presStyleIdx="4" presStyleCnt="5">
        <dgm:presLayoutVars>
          <dgm:bulletEnabled val="1"/>
        </dgm:presLayoutVars>
      </dgm:prSet>
      <dgm:spPr/>
    </dgm:pt>
    <dgm:pt modelId="{2FF7A7BE-4AAF-4F63-AA20-614540455939}" type="pres">
      <dgm:prSet presAssocID="{FFF583C4-B91C-42E8-B77E-B98688E6D1F8}" presName="invisiNode" presStyleLbl="node1" presStyleIdx="4" presStyleCnt="5"/>
      <dgm:spPr/>
    </dgm:pt>
    <dgm:pt modelId="{CF9AAE62-BB45-4C1C-A17F-9B73D125ECB5}" type="pres">
      <dgm:prSet presAssocID="{FFF583C4-B91C-42E8-B77E-B98688E6D1F8}" presName="imagNode" presStyleLbl="fgImgPlace1" presStyleIdx="4" presStyleCnt="5" custLinFactX="-100000" custLinFactNeighborX="-162600" custLinFactNeighborY="-3010"/>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a:ln>
          <a:solidFill>
            <a:schemeClr val="accent3">
              <a:lumMod val="75000"/>
            </a:schemeClr>
          </a:solidFill>
        </a:ln>
      </dgm:spPr>
      <dgm:extLst>
        <a:ext uri="{E40237B7-FDA0-4F09-8148-C483321AD2D9}">
          <dgm14:cNvPr xmlns:dgm14="http://schemas.microsoft.com/office/drawing/2010/diagram" id="0" name="" descr="Tax with solid fill"/>
        </a:ext>
      </dgm:extLst>
    </dgm:pt>
  </dgm:ptLst>
  <dgm:cxnLst>
    <dgm:cxn modelId="{D5394A01-2D3D-4611-8A1D-BB26FD2FE0CE}" type="presOf" srcId="{A8B5E5C7-E952-497E-B955-369B9D395EF6}" destId="{A125F6D6-E7A7-425D-970B-B3C6C95AF839}" srcOrd="1" destOrd="3" presId="urn:microsoft.com/office/officeart/2005/8/layout/hList7"/>
    <dgm:cxn modelId="{6E6BBB03-564C-4C85-BB8B-52B216F7E077}" type="presOf" srcId="{54CA0C58-9D4A-4B66-BA0F-0377F59FF673}" destId="{19277732-F9C3-4136-BB7C-E6FC5934346C}" srcOrd="1" destOrd="3" presId="urn:microsoft.com/office/officeart/2005/8/layout/hList7"/>
    <dgm:cxn modelId="{32184106-5CD9-4B8C-9A4A-359B7DB11B3E}" srcId="{575EB003-5FAD-4FE6-93FE-892253193214}" destId="{4A264D96-7143-46A8-BA62-57D314A845E5}" srcOrd="2" destOrd="0" parTransId="{49FB3B8A-DF9E-4C1B-A4D2-AE879EEA42D7}" sibTransId="{2126AFF0-1B70-4D5B-A366-C9F8379438CC}"/>
    <dgm:cxn modelId="{61E2920A-B005-430D-A5E3-712310BA73B8}" srcId="{FFF583C4-B91C-42E8-B77E-B98688E6D1F8}" destId="{7984284F-0D3E-4030-B2AC-1301B2196843}" srcOrd="4" destOrd="0" parTransId="{AD8ABFD8-42B2-432C-9DEC-3FF492BBB7D8}" sibTransId="{46B6C9E7-A1D1-4672-8355-E74AD71CB439}"/>
    <dgm:cxn modelId="{9C69190B-B705-4591-94A1-BC00BF74CA1F}" srcId="{4C7C8E93-04BB-4BE9-ADAC-BA529B5A7191}" destId="{C8177BC6-F446-4788-989D-640C4482A220}" srcOrd="4" destOrd="0" parTransId="{616A585C-4D78-4090-8F70-FFA0D834D9C8}" sibTransId="{261D8C93-541B-4C8C-8152-053F160FE6BE}"/>
    <dgm:cxn modelId="{6B69D30E-991F-4ED0-BDCD-12B983509496}" type="presOf" srcId="{4D51B4B7-7486-45AC-B227-DB701DBD2B97}" destId="{836B4CA0-E9E9-4867-AE68-864BAEE98E7F}" srcOrd="1" destOrd="4" presId="urn:microsoft.com/office/officeart/2005/8/layout/hList7"/>
    <dgm:cxn modelId="{B249150F-B4E7-4F6F-B00D-7C5D66DFE7FE}" type="presOf" srcId="{4E97D756-87F9-4D48-96DD-83189C5243CE}" destId="{A69CF96E-A7DE-4E45-A45B-70481139A67E}" srcOrd="0" destOrd="2" presId="urn:microsoft.com/office/officeart/2005/8/layout/hList7"/>
    <dgm:cxn modelId="{2B88BE0F-BF7F-4161-A7FE-66A9062EE189}" srcId="{4C7C8E93-04BB-4BE9-ADAC-BA529B5A7191}" destId="{A8B5E5C7-E952-497E-B955-369B9D395EF6}" srcOrd="2" destOrd="0" parTransId="{8451AEFE-8E7D-45A4-B957-ADB774BF51C9}" sibTransId="{D312F436-8128-4E74-AE50-C6BCA70C925F}"/>
    <dgm:cxn modelId="{9AF27E10-92C4-4EAE-992A-04C1F7CC0493}" type="presOf" srcId="{191F1335-D8FB-4867-8684-1BDEBE6BC990}" destId="{90486CE5-6CC2-47FE-B922-43C155078C74}" srcOrd="0" destOrd="0" presId="urn:microsoft.com/office/officeart/2005/8/layout/hList7"/>
    <dgm:cxn modelId="{93EA4612-944C-48C4-8A54-2ED839BCAB16}" type="presOf" srcId="{9A962D88-776E-47FA-BCEB-895F82D1416A}" destId="{FC169443-8077-49B7-AF08-6C95B316AA17}" srcOrd="0" destOrd="1" presId="urn:microsoft.com/office/officeart/2005/8/layout/hList7"/>
    <dgm:cxn modelId="{F8B0C713-4B7A-467C-A9E3-5D67EEF0E8CD}" type="presOf" srcId="{C8177BC6-F446-4788-989D-640C4482A220}" destId="{A69CF96E-A7DE-4E45-A45B-70481139A67E}" srcOrd="0" destOrd="5" presId="urn:microsoft.com/office/officeart/2005/8/layout/hList7"/>
    <dgm:cxn modelId="{05440216-795C-4532-A72E-BE6BC241663A}" type="presOf" srcId="{793DDD76-97B9-4670-8BB6-A9B6433EED5A}" destId="{A125F6D6-E7A7-425D-970B-B3C6C95AF839}" srcOrd="1" destOrd="6" presId="urn:microsoft.com/office/officeart/2005/8/layout/hList7"/>
    <dgm:cxn modelId="{373E031B-779B-4BF1-81E5-1E7819A80E98}" srcId="{E0C2B5E6-67C1-4B42-BE9D-8AEFC077FF0F}" destId="{575EB003-5FAD-4FE6-93FE-892253193214}" srcOrd="2" destOrd="0" parTransId="{8F804B53-C149-448F-B57B-DD222A4B524E}" sibTransId="{671F52A1-7C31-4F4E-BB43-2C3F767B885C}"/>
    <dgm:cxn modelId="{E8EE451D-216E-4967-9A3F-11AEA20C108E}" srcId="{575EB003-5FAD-4FE6-93FE-892253193214}" destId="{D971EE62-B0F4-497D-8463-8773BC526133}" srcOrd="1" destOrd="0" parTransId="{8107B2FE-CCED-48AF-9CFA-405D0530CB23}" sibTransId="{076F0DF3-1153-4750-A669-25F4234B1C99}"/>
    <dgm:cxn modelId="{6C6E8F20-37A7-4C3D-AAF5-3CF680D92BE6}" type="presOf" srcId="{AC9FA2BA-75C3-4F11-9B4C-8A3E04DF38C7}" destId="{89BAC2C2-D20D-44C6-9B38-1ED66A63759A}" srcOrd="0" destOrd="0" presId="urn:microsoft.com/office/officeart/2005/8/layout/hList7"/>
    <dgm:cxn modelId="{B50F6421-0841-4D88-991F-247021E28BA8}" srcId="{191F1335-D8FB-4867-8684-1BDEBE6BC990}" destId="{16BC76CB-2AA9-4339-84A6-04C590BEBC7A}" srcOrd="1" destOrd="0" parTransId="{B09F91E6-0EF7-43CA-A9A8-683F1020C5D3}" sibTransId="{521805C7-857F-4F60-A029-E76E59E509EC}"/>
    <dgm:cxn modelId="{45E66724-146B-4601-8142-96F1C59B7E1A}" type="presOf" srcId="{0601114C-2441-4B34-8300-01180383234D}" destId="{836B4CA0-E9E9-4867-AE68-864BAEE98E7F}" srcOrd="1" destOrd="2" presId="urn:microsoft.com/office/officeart/2005/8/layout/hList7"/>
    <dgm:cxn modelId="{C0D1F826-9698-4C57-8ABB-889C91730998}" srcId="{E0C2B5E6-67C1-4B42-BE9D-8AEFC077FF0F}" destId="{191F1335-D8FB-4867-8684-1BDEBE6BC990}" srcOrd="3" destOrd="0" parTransId="{5F34B261-2904-4201-8E27-AF4AC516030E}" sibTransId="{C549E027-20EB-452D-AE47-880972ED08C8}"/>
    <dgm:cxn modelId="{900C9328-289E-42D8-9ABC-5A7AEF19F186}" srcId="{FFF583C4-B91C-42E8-B77E-B98688E6D1F8}" destId="{C87925B8-90FD-4D21-B566-A59088B8F295}" srcOrd="3" destOrd="0" parTransId="{550923A5-BE10-4B10-A993-B492DC57A426}" sibTransId="{1D2DFDC0-51F8-424B-B86B-55BBEDEA4D6C}"/>
    <dgm:cxn modelId="{F77BDE28-0A80-4BF9-BB63-A931895F4D9A}" type="presOf" srcId="{85C22A65-D9CD-457E-90FC-54A04E679462}" destId="{836B4CA0-E9E9-4867-AE68-864BAEE98E7F}" srcOrd="1" destOrd="0" presId="urn:microsoft.com/office/officeart/2005/8/layout/hList7"/>
    <dgm:cxn modelId="{1041E529-1E42-4628-B485-5D818C3E684C}" type="presOf" srcId="{4A264D96-7143-46A8-BA62-57D314A845E5}" destId="{8DF4F614-448E-4608-8D9D-8067C64B58A0}" srcOrd="1" destOrd="3" presId="urn:microsoft.com/office/officeart/2005/8/layout/hList7"/>
    <dgm:cxn modelId="{6716582B-DC71-4619-BC64-31CDB54A32F6}" type="presOf" srcId="{C87925B8-90FD-4D21-B566-A59088B8F295}" destId="{FC169443-8077-49B7-AF08-6C95B316AA17}" srcOrd="0" destOrd="4" presId="urn:microsoft.com/office/officeart/2005/8/layout/hList7"/>
    <dgm:cxn modelId="{9D01032E-71AC-4F0A-BC9D-9ABB400BEC2E}" type="presOf" srcId="{4D51B4B7-7486-45AC-B227-DB701DBD2B97}" destId="{A29E77C6-8010-4DD5-8B76-AD0FE8725733}" srcOrd="0" destOrd="4" presId="urn:microsoft.com/office/officeart/2005/8/layout/hList7"/>
    <dgm:cxn modelId="{EFFD672F-46C1-4B95-B79F-F411AE1BB86D}" type="presOf" srcId="{4E97D756-87F9-4D48-96DD-83189C5243CE}" destId="{A125F6D6-E7A7-425D-970B-B3C6C95AF839}" srcOrd="1" destOrd="2" presId="urn:microsoft.com/office/officeart/2005/8/layout/hList7"/>
    <dgm:cxn modelId="{EC3BCB31-487D-4B91-B356-04C9B3C965F8}" type="presOf" srcId="{78F901AB-422E-40CC-ADD8-23AA3A230E67}" destId="{90486CE5-6CC2-47FE-B922-43C155078C74}" srcOrd="0" destOrd="1" presId="urn:microsoft.com/office/officeart/2005/8/layout/hList7"/>
    <dgm:cxn modelId="{D2EDD032-40EC-409E-AF21-A21D0993FEBB}" type="presOf" srcId="{EF14AE40-F623-4DF4-8A34-E68F4E70A6A1}" destId="{FC169443-8077-49B7-AF08-6C95B316AA17}" srcOrd="0" destOrd="2" presId="urn:microsoft.com/office/officeart/2005/8/layout/hList7"/>
    <dgm:cxn modelId="{60B1CB38-EE7B-41E4-8B4A-A63CED703AED}" type="presOf" srcId="{191F1335-D8FB-4867-8684-1BDEBE6BC990}" destId="{19277732-F9C3-4136-BB7C-E6FC5934346C}" srcOrd="1" destOrd="0" presId="urn:microsoft.com/office/officeart/2005/8/layout/hList7"/>
    <dgm:cxn modelId="{1C1DB63B-C05D-4905-B5F4-9A0532028800}" srcId="{4C7C8E93-04BB-4BE9-ADAC-BA529B5A7191}" destId="{793DDD76-97B9-4670-8BB6-A9B6433EED5A}" srcOrd="5" destOrd="0" parTransId="{E35BCB7F-8401-4B93-9826-3AC0144D2694}" sibTransId="{D04ADDE8-572B-4B6C-8CC9-5EE859AEA445}"/>
    <dgm:cxn modelId="{1D007261-CDFB-4923-BAA0-05DFCA8B46C9}" type="presOf" srcId="{86A1E7F0-05F1-4DA1-91C2-3B2860E9419C}" destId="{836B4CA0-E9E9-4867-AE68-864BAEE98E7F}" srcOrd="1" destOrd="5" presId="urn:microsoft.com/office/officeart/2005/8/layout/hList7"/>
    <dgm:cxn modelId="{22276862-C5DA-4E8B-806F-DF408AC73F82}" type="presOf" srcId="{3940D8BD-A369-4A1C-97B7-4E09C2FE5BD4}" destId="{A125F6D6-E7A7-425D-970B-B3C6C95AF839}" srcOrd="1" destOrd="1" presId="urn:microsoft.com/office/officeart/2005/8/layout/hList7"/>
    <dgm:cxn modelId="{F55D3F44-2852-47BD-9F6A-350C1AA028E2}" type="presOf" srcId="{C8177BC6-F446-4788-989D-640C4482A220}" destId="{A125F6D6-E7A7-425D-970B-B3C6C95AF839}" srcOrd="1" destOrd="5" presId="urn:microsoft.com/office/officeart/2005/8/layout/hList7"/>
    <dgm:cxn modelId="{B571B144-46F4-4C27-AA2E-93063A4F7C86}" type="presOf" srcId="{B65E8502-9D68-4733-B260-5A99C97F3224}" destId="{FC169443-8077-49B7-AF08-6C95B316AA17}" srcOrd="0" destOrd="3" presId="urn:microsoft.com/office/officeart/2005/8/layout/hList7"/>
    <dgm:cxn modelId="{F9F3C344-6001-449E-A50C-DD4A66FB7787}" srcId="{85C22A65-D9CD-457E-90FC-54A04E679462}" destId="{2A09FF5A-E7AB-4518-9ACD-A8179F576867}" srcOrd="0" destOrd="0" parTransId="{95AF53A5-BBF4-4D2E-B4B6-AEBBE600F87A}" sibTransId="{E0068C39-E24A-4881-8EC7-89EFE7469F61}"/>
    <dgm:cxn modelId="{0FFA3546-2D29-4C78-8FA9-95B041187B82}" srcId="{4C7C8E93-04BB-4BE9-ADAC-BA529B5A7191}" destId="{26B10B57-EF00-4499-9C1A-77F4FDCD2EFA}" srcOrd="3" destOrd="0" parTransId="{23589996-F4E1-4C24-93FD-47409EC19DB9}" sibTransId="{7A3596E0-A732-4CB8-B71C-C798B5134F8E}"/>
    <dgm:cxn modelId="{6F61D647-9BC8-402C-BC28-626F847E9BE4}" srcId="{575EB003-5FAD-4FE6-93FE-892253193214}" destId="{0174374F-2B02-42B9-A4FA-ACAC1130A414}" srcOrd="0" destOrd="0" parTransId="{A443AC3E-9852-4F05-8F04-ED81042528CB}" sibTransId="{FDAA4099-E5E9-4306-B709-EB10AB9F639D}"/>
    <dgm:cxn modelId="{AED05C4C-A9EE-4F65-B7F3-6D585A8FD7C0}" srcId="{4C7C8E93-04BB-4BE9-ADAC-BA529B5A7191}" destId="{1B1EEEA3-F203-4EA8-BB6A-407B5AF1E35B}" srcOrd="6" destOrd="0" parTransId="{16D1F756-5B3D-48A8-8DB7-D7F7C0290052}" sibTransId="{ED05273C-3350-416A-9D10-36C2CF0018D1}"/>
    <dgm:cxn modelId="{5C548A6C-E63B-4E4E-ADA6-496D9EAE1914}" type="presOf" srcId="{0174374F-2B02-42B9-A4FA-ACAC1130A414}" destId="{8DF4F614-448E-4608-8D9D-8067C64B58A0}" srcOrd="1" destOrd="1" presId="urn:microsoft.com/office/officeart/2005/8/layout/hList7"/>
    <dgm:cxn modelId="{E9FF106E-122D-4496-B341-5D52CEFC613E}" type="presOf" srcId="{4C7C8E93-04BB-4BE9-ADAC-BA529B5A7191}" destId="{A69CF96E-A7DE-4E45-A45B-70481139A67E}" srcOrd="0" destOrd="0" presId="urn:microsoft.com/office/officeart/2005/8/layout/hList7"/>
    <dgm:cxn modelId="{5A4C3750-9AC7-44C8-9215-DA9ABF36B9FB}" type="presOf" srcId="{16BC76CB-2AA9-4339-84A6-04C590BEBC7A}" destId="{90486CE5-6CC2-47FE-B922-43C155078C74}" srcOrd="0" destOrd="2" presId="urn:microsoft.com/office/officeart/2005/8/layout/hList7"/>
    <dgm:cxn modelId="{CD5DAD70-C68C-44AD-919F-E7487ACD748E}" srcId="{191F1335-D8FB-4867-8684-1BDEBE6BC990}" destId="{78F901AB-422E-40CC-ADD8-23AA3A230E67}" srcOrd="0" destOrd="0" parTransId="{F718967D-3903-4169-B1D7-F4F44F2E6CCE}" sibTransId="{BEE9BB70-0424-4D25-9E43-D3DE24C02AD1}"/>
    <dgm:cxn modelId="{7CA4E470-04EF-49F9-83D1-801F58E8F0B6}" type="presOf" srcId="{091F3A81-AA88-46F7-897E-899031161181}" destId="{A29E77C6-8010-4DD5-8B76-AD0FE8725733}" srcOrd="0" destOrd="3" presId="urn:microsoft.com/office/officeart/2005/8/layout/hList7"/>
    <dgm:cxn modelId="{5A9B2452-3C65-4002-887C-2B96C16BBE65}" type="presOf" srcId="{793DDD76-97B9-4670-8BB6-A9B6433EED5A}" destId="{A69CF96E-A7DE-4E45-A45B-70481139A67E}" srcOrd="0" destOrd="6" presId="urn:microsoft.com/office/officeart/2005/8/layout/hList7"/>
    <dgm:cxn modelId="{A09F4252-6717-43C3-AEA5-1EE9347089E2}" type="presOf" srcId="{9A962D88-776E-47FA-BCEB-895F82D1416A}" destId="{CCF773B1-2AC8-411B-841B-396BAC867618}" srcOrd="1" destOrd="1" presId="urn:microsoft.com/office/officeart/2005/8/layout/hList7"/>
    <dgm:cxn modelId="{E03F4A55-FBC8-4060-9EFD-0EEA5FB4872B}" type="presOf" srcId="{2A09FF5A-E7AB-4518-9ACD-A8179F576867}" destId="{A29E77C6-8010-4DD5-8B76-AD0FE8725733}" srcOrd="0" destOrd="1" presId="urn:microsoft.com/office/officeart/2005/8/layout/hList7"/>
    <dgm:cxn modelId="{1D109275-1761-466D-B6C0-54D48B1ECBE5}" type="presOf" srcId="{26B10B57-EF00-4499-9C1A-77F4FDCD2EFA}" destId="{A69CF96E-A7DE-4E45-A45B-70481139A67E}" srcOrd="0" destOrd="4" presId="urn:microsoft.com/office/officeart/2005/8/layout/hList7"/>
    <dgm:cxn modelId="{222CEA59-0580-433F-81BF-C5D41542B95A}" srcId="{85C22A65-D9CD-457E-90FC-54A04E679462}" destId="{091F3A81-AA88-46F7-897E-899031161181}" srcOrd="2" destOrd="0" parTransId="{177AC777-DA7C-4339-8561-E9EFC0693AEA}" sibTransId="{82ADE1C3-D87B-4AED-82E0-A11F5EF6C0F4}"/>
    <dgm:cxn modelId="{CA5A2C7A-7511-4439-951A-8A4C58BF5743}" type="presOf" srcId="{0601114C-2441-4B34-8300-01180383234D}" destId="{A29E77C6-8010-4DD5-8B76-AD0FE8725733}" srcOrd="0" destOrd="2" presId="urn:microsoft.com/office/officeart/2005/8/layout/hList7"/>
    <dgm:cxn modelId="{C305777D-36C0-4B53-A803-BBD5E7DAC410}" srcId="{4C7C8E93-04BB-4BE9-ADAC-BA529B5A7191}" destId="{4E97D756-87F9-4D48-96DD-83189C5243CE}" srcOrd="1" destOrd="0" parTransId="{95C7936C-7A39-46A0-934F-F24E08F91F2E}" sibTransId="{4240CC55-178B-4110-9EE1-C429D7153503}"/>
    <dgm:cxn modelId="{118FA67E-077C-48AF-A8CF-5D728CC8D5A1}" type="presOf" srcId="{1B1EEEA3-F203-4EA8-BB6A-407B5AF1E35B}" destId="{A69CF96E-A7DE-4E45-A45B-70481139A67E}" srcOrd="0" destOrd="7" presId="urn:microsoft.com/office/officeart/2005/8/layout/hList7"/>
    <dgm:cxn modelId="{98FACE80-7E4F-4EB6-A618-B8FD21546C14}" srcId="{85C22A65-D9CD-457E-90FC-54A04E679462}" destId="{86A1E7F0-05F1-4DA1-91C2-3B2860E9419C}" srcOrd="4" destOrd="0" parTransId="{B6087608-5BB5-4C10-910F-BA3474C29930}" sibTransId="{B6AD057F-400E-4E01-816E-6A5C5A1C167B}"/>
    <dgm:cxn modelId="{003CAF84-2606-42BA-AEEC-3B62B105EE20}" srcId="{E0C2B5E6-67C1-4B42-BE9D-8AEFC077FF0F}" destId="{4C7C8E93-04BB-4BE9-ADAC-BA529B5A7191}" srcOrd="1" destOrd="0" parTransId="{B735156E-EEA1-4218-BD58-05CFF3D91A50}" sibTransId="{AC9FA2BA-75C3-4F11-9B4C-8A3E04DF38C7}"/>
    <dgm:cxn modelId="{9E788E86-14A0-463E-8A91-5FDF9C0984C1}" srcId="{85C22A65-D9CD-457E-90FC-54A04E679462}" destId="{0601114C-2441-4B34-8300-01180383234D}" srcOrd="1" destOrd="0" parTransId="{2EA9F76D-3288-48E4-A395-3016A20E3966}" sibTransId="{BC8258DD-91AF-4FC3-973C-22892ECA0D89}"/>
    <dgm:cxn modelId="{54A3F687-6F4D-41A2-800C-30BD6068791B}" type="presOf" srcId="{E0C2B5E6-67C1-4B42-BE9D-8AEFC077FF0F}" destId="{338A4185-B1D2-440E-A0E7-43D1107DF5AE}" srcOrd="0" destOrd="0" presId="urn:microsoft.com/office/officeart/2005/8/layout/hList7"/>
    <dgm:cxn modelId="{35A09F88-7DE7-42F4-AA4D-22BBAB8B51B0}" type="presOf" srcId="{7984284F-0D3E-4030-B2AC-1301B2196843}" destId="{CCF773B1-2AC8-411B-841B-396BAC867618}" srcOrd="1" destOrd="5" presId="urn:microsoft.com/office/officeart/2005/8/layout/hList7"/>
    <dgm:cxn modelId="{7BD5DF88-91DD-4B41-977B-8071BB887133}" type="presOf" srcId="{3940D8BD-A369-4A1C-97B7-4E09C2FE5BD4}" destId="{A69CF96E-A7DE-4E45-A45B-70481139A67E}" srcOrd="0" destOrd="1" presId="urn:microsoft.com/office/officeart/2005/8/layout/hList7"/>
    <dgm:cxn modelId="{F844BF8A-C90E-42C9-A1B6-22286AA725A5}" type="presOf" srcId="{4A264D96-7143-46A8-BA62-57D314A845E5}" destId="{85B8E0F9-3B18-47CA-86DD-29CED24D6EB6}" srcOrd="0" destOrd="3" presId="urn:microsoft.com/office/officeart/2005/8/layout/hList7"/>
    <dgm:cxn modelId="{DA23BE8C-AF41-4C5D-AA9D-596981553C01}" type="presOf" srcId="{D971EE62-B0F4-497D-8463-8773BC526133}" destId="{8DF4F614-448E-4608-8D9D-8067C64B58A0}" srcOrd="1" destOrd="2" presId="urn:microsoft.com/office/officeart/2005/8/layout/hList7"/>
    <dgm:cxn modelId="{D6D1D48D-7580-4839-96AE-A87DD86E1E2D}" srcId="{191F1335-D8FB-4867-8684-1BDEBE6BC990}" destId="{54CA0C58-9D4A-4B66-BA0F-0377F59FF673}" srcOrd="2" destOrd="0" parTransId="{68C9B453-EBE5-40AC-88A9-C69A684CA42F}" sibTransId="{12FE8E7D-44AC-4DD3-A9BD-8652AF6E50E0}"/>
    <dgm:cxn modelId="{3D7D3E8E-DFC0-4163-BF3F-6F154B45B684}" type="presOf" srcId="{A8B5E5C7-E952-497E-B955-369B9D395EF6}" destId="{A69CF96E-A7DE-4E45-A45B-70481139A67E}" srcOrd="0" destOrd="3" presId="urn:microsoft.com/office/officeart/2005/8/layout/hList7"/>
    <dgm:cxn modelId="{09843995-3585-46CB-B556-C00B37C3BF8E}" type="presOf" srcId="{C87925B8-90FD-4D21-B566-A59088B8F295}" destId="{CCF773B1-2AC8-411B-841B-396BAC867618}" srcOrd="1" destOrd="4" presId="urn:microsoft.com/office/officeart/2005/8/layout/hList7"/>
    <dgm:cxn modelId="{0026E896-8CED-4FEC-BDB8-1F86E4FBD79E}" type="presOf" srcId="{575EB003-5FAD-4FE6-93FE-892253193214}" destId="{85B8E0F9-3B18-47CA-86DD-29CED24D6EB6}" srcOrd="0" destOrd="0" presId="urn:microsoft.com/office/officeart/2005/8/layout/hList7"/>
    <dgm:cxn modelId="{8E7A7F9B-8FBE-4BBF-9795-8AAC5FA0D929}" type="presOf" srcId="{54CA0C58-9D4A-4B66-BA0F-0377F59FF673}" destId="{90486CE5-6CC2-47FE-B922-43C155078C74}" srcOrd="0" destOrd="3" presId="urn:microsoft.com/office/officeart/2005/8/layout/hList7"/>
    <dgm:cxn modelId="{6846D69C-4250-4A04-8523-7769AE8DBEEA}" type="presOf" srcId="{D971EE62-B0F4-497D-8463-8773BC526133}" destId="{85B8E0F9-3B18-47CA-86DD-29CED24D6EB6}" srcOrd="0" destOrd="2" presId="urn:microsoft.com/office/officeart/2005/8/layout/hList7"/>
    <dgm:cxn modelId="{5A09099F-0CA8-4398-8724-440DB1008493}" type="presOf" srcId="{26B10B57-EF00-4499-9C1A-77F4FDCD2EFA}" destId="{A125F6D6-E7A7-425D-970B-B3C6C95AF839}" srcOrd="1" destOrd="4" presId="urn:microsoft.com/office/officeart/2005/8/layout/hList7"/>
    <dgm:cxn modelId="{405BFBA0-D780-4E4C-80CD-96B37C80487E}" srcId="{FFF583C4-B91C-42E8-B77E-B98688E6D1F8}" destId="{EF14AE40-F623-4DF4-8A34-E68F4E70A6A1}" srcOrd="1" destOrd="0" parTransId="{723C55C1-E72A-4300-A5F1-DE0E315FFD2A}" sibTransId="{EF8207B2-3AE0-481E-8FDA-86C15C23EFD9}"/>
    <dgm:cxn modelId="{6C1DE4A2-D9CF-48DB-BD6D-0C39B9C0A459}" srcId="{85C22A65-D9CD-457E-90FC-54A04E679462}" destId="{4D51B4B7-7486-45AC-B227-DB701DBD2B97}" srcOrd="3" destOrd="0" parTransId="{9BC4D656-00D8-4F34-B181-5EDAE8CDC2AB}" sibTransId="{28BA716F-A2C6-4273-9286-63CD9A498628}"/>
    <dgm:cxn modelId="{E7AB87A3-D1CC-4AF0-A575-E4E228230ED1}" type="presOf" srcId="{EF14AE40-F623-4DF4-8A34-E68F4E70A6A1}" destId="{CCF773B1-2AC8-411B-841B-396BAC867618}" srcOrd="1" destOrd="2" presId="urn:microsoft.com/office/officeart/2005/8/layout/hList7"/>
    <dgm:cxn modelId="{350C4AA6-A6FF-425B-A79D-FA31BFCCE588}" type="presOf" srcId="{B65E8502-9D68-4733-B260-5A99C97F3224}" destId="{CCF773B1-2AC8-411B-841B-396BAC867618}" srcOrd="1" destOrd="3" presId="urn:microsoft.com/office/officeart/2005/8/layout/hList7"/>
    <dgm:cxn modelId="{135B1EAD-64FC-4A1C-AA12-3E860A040E9F}" type="presOf" srcId="{2992FBAE-B68F-4A17-9E9B-E5162CE67164}" destId="{40F9C3FE-E129-40ED-A863-45D384D7FEE4}" srcOrd="0" destOrd="0" presId="urn:microsoft.com/office/officeart/2005/8/layout/hList7"/>
    <dgm:cxn modelId="{D69A0EAE-ACF9-4B46-9044-543932F7DD95}" type="presOf" srcId="{86A1E7F0-05F1-4DA1-91C2-3B2860E9419C}" destId="{A29E77C6-8010-4DD5-8B76-AD0FE8725733}" srcOrd="0" destOrd="5" presId="urn:microsoft.com/office/officeart/2005/8/layout/hList7"/>
    <dgm:cxn modelId="{675772B3-ED5D-4811-A702-8D9921F0B3C1}" type="presOf" srcId="{0174374F-2B02-42B9-A4FA-ACAC1130A414}" destId="{85B8E0F9-3B18-47CA-86DD-29CED24D6EB6}" srcOrd="0" destOrd="1" presId="urn:microsoft.com/office/officeart/2005/8/layout/hList7"/>
    <dgm:cxn modelId="{CDBEB5B5-F14F-43DD-AD0F-6F9B4E4B1171}" type="presOf" srcId="{4C7C8E93-04BB-4BE9-ADAC-BA529B5A7191}" destId="{A125F6D6-E7A7-425D-970B-B3C6C95AF839}" srcOrd="1" destOrd="0" presId="urn:microsoft.com/office/officeart/2005/8/layout/hList7"/>
    <dgm:cxn modelId="{815600B7-8EA2-4247-B727-695E9D7802F9}" type="presOf" srcId="{16BC76CB-2AA9-4339-84A6-04C590BEBC7A}" destId="{19277732-F9C3-4136-BB7C-E6FC5934346C}" srcOrd="1" destOrd="2" presId="urn:microsoft.com/office/officeart/2005/8/layout/hList7"/>
    <dgm:cxn modelId="{A88D98B9-A2DB-49F3-A02F-2513D70E3844}" type="presOf" srcId="{7984284F-0D3E-4030-B2AC-1301B2196843}" destId="{FC169443-8077-49B7-AF08-6C95B316AA17}" srcOrd="0" destOrd="5" presId="urn:microsoft.com/office/officeart/2005/8/layout/hList7"/>
    <dgm:cxn modelId="{93E155BF-8EAE-4E52-8DD0-A1CB3F1094F2}" srcId="{E0C2B5E6-67C1-4B42-BE9D-8AEFC077FF0F}" destId="{85C22A65-D9CD-457E-90FC-54A04E679462}" srcOrd="0" destOrd="0" parTransId="{B93638A8-D6A4-4C89-BDF8-D93EE89D0A8C}" sibTransId="{2992FBAE-B68F-4A17-9E9B-E5162CE67164}"/>
    <dgm:cxn modelId="{1D3E74C3-D631-451B-BF62-D9AFDA93803C}" type="presOf" srcId="{1B1EEEA3-F203-4EA8-BB6A-407B5AF1E35B}" destId="{A125F6D6-E7A7-425D-970B-B3C6C95AF839}" srcOrd="1" destOrd="7" presId="urn:microsoft.com/office/officeart/2005/8/layout/hList7"/>
    <dgm:cxn modelId="{BA4F8AC4-B1FB-4C97-BD9B-F537A1E9AF2F}" type="presOf" srcId="{FFF583C4-B91C-42E8-B77E-B98688E6D1F8}" destId="{CCF773B1-2AC8-411B-841B-396BAC867618}" srcOrd="1" destOrd="0" presId="urn:microsoft.com/office/officeart/2005/8/layout/hList7"/>
    <dgm:cxn modelId="{8037CFC5-D3A4-4421-96AF-4783E2473917}" type="presOf" srcId="{091F3A81-AA88-46F7-897E-899031161181}" destId="{836B4CA0-E9E9-4867-AE68-864BAEE98E7F}" srcOrd="1" destOrd="3" presId="urn:microsoft.com/office/officeart/2005/8/layout/hList7"/>
    <dgm:cxn modelId="{08F137D2-3C90-4966-B7DA-23F66A4AB3E0}" srcId="{FFF583C4-B91C-42E8-B77E-B98688E6D1F8}" destId="{B65E8502-9D68-4733-B260-5A99C97F3224}" srcOrd="2" destOrd="0" parTransId="{F0720244-A809-479D-904E-2F31B6EFC506}" sibTransId="{B70FC9A8-D952-47CE-9746-DBDFCDFBDA84}"/>
    <dgm:cxn modelId="{5EA89DD4-44E6-40AD-809D-4B3DE6ACDEB4}" type="presOf" srcId="{FFF583C4-B91C-42E8-B77E-B98688E6D1F8}" destId="{FC169443-8077-49B7-AF08-6C95B316AA17}" srcOrd="0" destOrd="0" presId="urn:microsoft.com/office/officeart/2005/8/layout/hList7"/>
    <dgm:cxn modelId="{28F85BD6-F8A6-4537-9D11-BD4ECF3C535B}" type="presOf" srcId="{78F901AB-422E-40CC-ADD8-23AA3A230E67}" destId="{19277732-F9C3-4136-BB7C-E6FC5934346C}" srcOrd="1" destOrd="1" presId="urn:microsoft.com/office/officeart/2005/8/layout/hList7"/>
    <dgm:cxn modelId="{4577A1D6-E60F-43A1-B0AE-AEAFF9326403}" srcId="{E0C2B5E6-67C1-4B42-BE9D-8AEFC077FF0F}" destId="{FFF583C4-B91C-42E8-B77E-B98688E6D1F8}" srcOrd="4" destOrd="0" parTransId="{0A64C802-D9A8-4AF4-A8B1-10C56FE69724}" sibTransId="{9B0AECAC-827D-47C0-AF00-8D1A499D53B7}"/>
    <dgm:cxn modelId="{28B6EBD9-B5DC-479D-9973-B43F68EF5D12}" srcId="{FFF583C4-B91C-42E8-B77E-B98688E6D1F8}" destId="{9A962D88-776E-47FA-BCEB-895F82D1416A}" srcOrd="0" destOrd="0" parTransId="{8C245E98-B4C9-4BB9-8CAB-BB8471E4ECC9}" sibTransId="{EA98089C-407A-4A3D-9C30-D95677CE6934}"/>
    <dgm:cxn modelId="{EFC35DDB-28B6-4866-8FA1-30E3C2E46BA7}" type="presOf" srcId="{C549E027-20EB-452D-AE47-880972ED08C8}" destId="{C3077E06-02F4-488F-98A1-DAC3F6738B6A}" srcOrd="0" destOrd="0" presId="urn:microsoft.com/office/officeart/2005/8/layout/hList7"/>
    <dgm:cxn modelId="{199E13DE-8149-410F-9702-6CD632DFF949}" type="presOf" srcId="{85C22A65-D9CD-457E-90FC-54A04E679462}" destId="{A29E77C6-8010-4DD5-8B76-AD0FE8725733}" srcOrd="0" destOrd="0" presId="urn:microsoft.com/office/officeart/2005/8/layout/hList7"/>
    <dgm:cxn modelId="{B6D94EE3-89F9-4FD4-9FA6-CC6366ADC9B8}" type="presOf" srcId="{2A09FF5A-E7AB-4518-9ACD-A8179F576867}" destId="{836B4CA0-E9E9-4867-AE68-864BAEE98E7F}" srcOrd="1" destOrd="1" presId="urn:microsoft.com/office/officeart/2005/8/layout/hList7"/>
    <dgm:cxn modelId="{C6DA00EA-093B-4ED8-9088-90DDCCD841BC}" srcId="{4C7C8E93-04BB-4BE9-ADAC-BA529B5A7191}" destId="{3940D8BD-A369-4A1C-97B7-4E09C2FE5BD4}" srcOrd="0" destOrd="0" parTransId="{AEA10D38-1148-4011-9207-C773A8F9F80C}" sibTransId="{0003E25F-9417-4433-8C9F-4F8F13B601CA}"/>
    <dgm:cxn modelId="{066CCFF4-9B8A-4AA8-AD7A-DDDFCEBF39BB}" type="presOf" srcId="{575EB003-5FAD-4FE6-93FE-892253193214}" destId="{8DF4F614-448E-4608-8D9D-8067C64B58A0}" srcOrd="1" destOrd="0" presId="urn:microsoft.com/office/officeart/2005/8/layout/hList7"/>
    <dgm:cxn modelId="{11AFA0FA-F25C-4ACD-B6EB-B1FF26803943}" type="presOf" srcId="{671F52A1-7C31-4F4E-BB43-2C3F767B885C}" destId="{4C7A5279-BBF5-4E5D-842F-3AB1EBB81491}" srcOrd="0" destOrd="0" presId="urn:microsoft.com/office/officeart/2005/8/layout/hList7"/>
    <dgm:cxn modelId="{16ACF27C-200E-4826-9F34-4C206262FE21}" type="presParOf" srcId="{338A4185-B1D2-440E-A0E7-43D1107DF5AE}" destId="{D3B8DC0D-5D4C-418A-87CE-3BC034DFC215}" srcOrd="0" destOrd="0" presId="urn:microsoft.com/office/officeart/2005/8/layout/hList7"/>
    <dgm:cxn modelId="{1F99C983-83A4-4EEC-8DFC-6760EC87B0CE}" type="presParOf" srcId="{338A4185-B1D2-440E-A0E7-43D1107DF5AE}" destId="{BC4D1A8D-953F-4FDB-B2A5-700D6EB02C02}" srcOrd="1" destOrd="0" presId="urn:microsoft.com/office/officeart/2005/8/layout/hList7"/>
    <dgm:cxn modelId="{6DABEBFA-5D8E-419D-AEFF-8D0B4B2DCA1F}" type="presParOf" srcId="{BC4D1A8D-953F-4FDB-B2A5-700D6EB02C02}" destId="{AD50AD09-7677-4C2C-A54C-F358234162ED}" srcOrd="0" destOrd="0" presId="urn:microsoft.com/office/officeart/2005/8/layout/hList7"/>
    <dgm:cxn modelId="{41E0D111-BDDB-49C6-A2AA-9EC84204C81F}" type="presParOf" srcId="{AD50AD09-7677-4C2C-A54C-F358234162ED}" destId="{A29E77C6-8010-4DD5-8B76-AD0FE8725733}" srcOrd="0" destOrd="0" presId="urn:microsoft.com/office/officeart/2005/8/layout/hList7"/>
    <dgm:cxn modelId="{FC0E9054-5D7A-4097-A939-0ABCC24A1B3C}" type="presParOf" srcId="{AD50AD09-7677-4C2C-A54C-F358234162ED}" destId="{836B4CA0-E9E9-4867-AE68-864BAEE98E7F}" srcOrd="1" destOrd="0" presId="urn:microsoft.com/office/officeart/2005/8/layout/hList7"/>
    <dgm:cxn modelId="{8C977910-5651-4656-9005-CCEAD4219E8A}" type="presParOf" srcId="{AD50AD09-7677-4C2C-A54C-F358234162ED}" destId="{A8D79233-BA4F-42C8-B7C4-18DAF6293BCC}" srcOrd="2" destOrd="0" presId="urn:microsoft.com/office/officeart/2005/8/layout/hList7"/>
    <dgm:cxn modelId="{7876F796-932D-4FEB-9B49-6C51B66FEAE8}" type="presParOf" srcId="{AD50AD09-7677-4C2C-A54C-F358234162ED}" destId="{85DC69AD-B0A9-4C91-BD33-E8E2E662B5BD}" srcOrd="3" destOrd="0" presId="urn:microsoft.com/office/officeart/2005/8/layout/hList7"/>
    <dgm:cxn modelId="{1CD62BDD-0EBF-4E3F-A584-24A79E60FDD6}" type="presParOf" srcId="{BC4D1A8D-953F-4FDB-B2A5-700D6EB02C02}" destId="{40F9C3FE-E129-40ED-A863-45D384D7FEE4}" srcOrd="1" destOrd="0" presId="urn:microsoft.com/office/officeart/2005/8/layout/hList7"/>
    <dgm:cxn modelId="{E19E7BDF-CBE4-4488-92ED-0B695C5FAC6E}" type="presParOf" srcId="{BC4D1A8D-953F-4FDB-B2A5-700D6EB02C02}" destId="{D4334134-F07B-4CB6-9342-D8DAB7ABF2A9}" srcOrd="2" destOrd="0" presId="urn:microsoft.com/office/officeart/2005/8/layout/hList7"/>
    <dgm:cxn modelId="{872289C3-74F7-49F1-9792-62A0144F5906}" type="presParOf" srcId="{D4334134-F07B-4CB6-9342-D8DAB7ABF2A9}" destId="{A69CF96E-A7DE-4E45-A45B-70481139A67E}" srcOrd="0" destOrd="0" presId="urn:microsoft.com/office/officeart/2005/8/layout/hList7"/>
    <dgm:cxn modelId="{915115E8-01FF-409D-BD08-7FD47254CD08}" type="presParOf" srcId="{D4334134-F07B-4CB6-9342-D8DAB7ABF2A9}" destId="{A125F6D6-E7A7-425D-970B-B3C6C95AF839}" srcOrd="1" destOrd="0" presId="urn:microsoft.com/office/officeart/2005/8/layout/hList7"/>
    <dgm:cxn modelId="{9F935E8D-23D6-4609-8CE1-C4D0898809CC}" type="presParOf" srcId="{D4334134-F07B-4CB6-9342-D8DAB7ABF2A9}" destId="{D299114F-D217-4705-8781-7BC6B5302E6A}" srcOrd="2" destOrd="0" presId="urn:microsoft.com/office/officeart/2005/8/layout/hList7"/>
    <dgm:cxn modelId="{784DA1F4-E66D-41C7-ABCC-C2578F67FA1A}" type="presParOf" srcId="{D4334134-F07B-4CB6-9342-D8DAB7ABF2A9}" destId="{EBA0200A-C908-413E-9B79-0C1C9E070E96}" srcOrd="3" destOrd="0" presId="urn:microsoft.com/office/officeart/2005/8/layout/hList7"/>
    <dgm:cxn modelId="{190EBE19-1E3C-498C-A6BB-D3D3963E1582}" type="presParOf" srcId="{BC4D1A8D-953F-4FDB-B2A5-700D6EB02C02}" destId="{89BAC2C2-D20D-44C6-9B38-1ED66A63759A}" srcOrd="3" destOrd="0" presId="urn:microsoft.com/office/officeart/2005/8/layout/hList7"/>
    <dgm:cxn modelId="{CE79C54E-433E-4566-ADB7-CCBD8357042D}" type="presParOf" srcId="{BC4D1A8D-953F-4FDB-B2A5-700D6EB02C02}" destId="{1A4F1D30-2ED8-4CB8-AF0E-B6F0249BF228}" srcOrd="4" destOrd="0" presId="urn:microsoft.com/office/officeart/2005/8/layout/hList7"/>
    <dgm:cxn modelId="{BCD66E2C-46F6-439A-A74E-EB73A4B50DBB}" type="presParOf" srcId="{1A4F1D30-2ED8-4CB8-AF0E-B6F0249BF228}" destId="{85B8E0F9-3B18-47CA-86DD-29CED24D6EB6}" srcOrd="0" destOrd="0" presId="urn:microsoft.com/office/officeart/2005/8/layout/hList7"/>
    <dgm:cxn modelId="{05DAFA11-B8E3-404E-8EC7-34A060BE64E1}" type="presParOf" srcId="{1A4F1D30-2ED8-4CB8-AF0E-B6F0249BF228}" destId="{8DF4F614-448E-4608-8D9D-8067C64B58A0}" srcOrd="1" destOrd="0" presId="urn:microsoft.com/office/officeart/2005/8/layout/hList7"/>
    <dgm:cxn modelId="{602F0410-9BD5-4D3D-A273-81AD8139DE08}" type="presParOf" srcId="{1A4F1D30-2ED8-4CB8-AF0E-B6F0249BF228}" destId="{FA72CFFB-4EAB-413E-854F-A72773CA5B0B}" srcOrd="2" destOrd="0" presId="urn:microsoft.com/office/officeart/2005/8/layout/hList7"/>
    <dgm:cxn modelId="{B832DA41-5ED4-4C13-95C5-ADCB912B5FEC}" type="presParOf" srcId="{1A4F1D30-2ED8-4CB8-AF0E-B6F0249BF228}" destId="{ACD2ACED-847C-4E84-96CC-E7B48F931109}" srcOrd="3" destOrd="0" presId="urn:microsoft.com/office/officeart/2005/8/layout/hList7"/>
    <dgm:cxn modelId="{CD6D0990-1E0F-4C51-9322-C8DD85BB1BF1}" type="presParOf" srcId="{BC4D1A8D-953F-4FDB-B2A5-700D6EB02C02}" destId="{4C7A5279-BBF5-4E5D-842F-3AB1EBB81491}" srcOrd="5" destOrd="0" presId="urn:microsoft.com/office/officeart/2005/8/layout/hList7"/>
    <dgm:cxn modelId="{5C0EE88E-B8A1-483C-8AD2-B6CDFDAD3503}" type="presParOf" srcId="{BC4D1A8D-953F-4FDB-B2A5-700D6EB02C02}" destId="{CFFBC479-C8F7-446A-A2CC-EB979EFCC644}" srcOrd="6" destOrd="0" presId="urn:microsoft.com/office/officeart/2005/8/layout/hList7"/>
    <dgm:cxn modelId="{78B07130-7C78-4905-9C25-E94FC2A55392}" type="presParOf" srcId="{CFFBC479-C8F7-446A-A2CC-EB979EFCC644}" destId="{90486CE5-6CC2-47FE-B922-43C155078C74}" srcOrd="0" destOrd="0" presId="urn:microsoft.com/office/officeart/2005/8/layout/hList7"/>
    <dgm:cxn modelId="{5C2392FB-91BA-413E-9DA1-6BB52BA69B2C}" type="presParOf" srcId="{CFFBC479-C8F7-446A-A2CC-EB979EFCC644}" destId="{19277732-F9C3-4136-BB7C-E6FC5934346C}" srcOrd="1" destOrd="0" presId="urn:microsoft.com/office/officeart/2005/8/layout/hList7"/>
    <dgm:cxn modelId="{4FCF1A06-FBDC-4AB5-9F67-2B02E9E9610F}" type="presParOf" srcId="{CFFBC479-C8F7-446A-A2CC-EB979EFCC644}" destId="{E35C7F57-9EE6-4D3F-9485-79003FF54966}" srcOrd="2" destOrd="0" presId="urn:microsoft.com/office/officeart/2005/8/layout/hList7"/>
    <dgm:cxn modelId="{4831D61A-DE20-4D29-B489-24D5FF7DB84B}" type="presParOf" srcId="{CFFBC479-C8F7-446A-A2CC-EB979EFCC644}" destId="{5F1D95E6-39A4-4E61-8A07-C7D0B10011B2}" srcOrd="3" destOrd="0" presId="urn:microsoft.com/office/officeart/2005/8/layout/hList7"/>
    <dgm:cxn modelId="{8AD2A73F-3E4A-4FE4-B83D-A8F9292599D5}" type="presParOf" srcId="{BC4D1A8D-953F-4FDB-B2A5-700D6EB02C02}" destId="{C3077E06-02F4-488F-98A1-DAC3F6738B6A}" srcOrd="7" destOrd="0" presId="urn:microsoft.com/office/officeart/2005/8/layout/hList7"/>
    <dgm:cxn modelId="{C5A467F7-00CC-4DFD-AF8F-CEB173F21F6F}" type="presParOf" srcId="{BC4D1A8D-953F-4FDB-B2A5-700D6EB02C02}" destId="{DF52BE8C-EB65-40F2-9DF8-384B9D28552C}" srcOrd="8" destOrd="0" presId="urn:microsoft.com/office/officeart/2005/8/layout/hList7"/>
    <dgm:cxn modelId="{EC3CD226-4B08-4116-A612-E5CFFA255573}" type="presParOf" srcId="{DF52BE8C-EB65-40F2-9DF8-384B9D28552C}" destId="{FC169443-8077-49B7-AF08-6C95B316AA17}" srcOrd="0" destOrd="0" presId="urn:microsoft.com/office/officeart/2005/8/layout/hList7"/>
    <dgm:cxn modelId="{CF9E6D8D-3784-425A-9099-FB542168528D}" type="presParOf" srcId="{DF52BE8C-EB65-40F2-9DF8-384B9D28552C}" destId="{CCF773B1-2AC8-411B-841B-396BAC867618}" srcOrd="1" destOrd="0" presId="urn:microsoft.com/office/officeart/2005/8/layout/hList7"/>
    <dgm:cxn modelId="{0BC46550-0404-4B4E-81E5-37178396CF7A}" type="presParOf" srcId="{DF52BE8C-EB65-40F2-9DF8-384B9D28552C}" destId="{2FF7A7BE-4AAF-4F63-AA20-614540455939}" srcOrd="2" destOrd="0" presId="urn:microsoft.com/office/officeart/2005/8/layout/hList7"/>
    <dgm:cxn modelId="{DD9D1F17-3412-48B6-8446-3EAD3954176B}" type="presParOf" srcId="{DF52BE8C-EB65-40F2-9DF8-384B9D28552C}" destId="{CF9AAE62-BB45-4C1C-A17F-9B73D125ECB5}" srcOrd="3" destOrd="0" presId="urn:microsoft.com/office/officeart/2005/8/layout/hList7"/>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807BE37-B7D9-4121-A768-5DD5973F60E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997609D-E81F-4AE8-8662-6814797C6016}">
      <dgm:prSet phldrT="[Text]" custT="1"/>
      <dgm:spPr/>
      <dgm:t>
        <a:bodyPr/>
        <a:lstStyle/>
        <a:p>
          <a:r>
            <a:rPr lang="en-US" sz="2400">
              <a:latin typeface="Arial" panose="020B0604020202020204" pitchFamily="34" charset="0"/>
              <a:cs typeface="Arial" panose="020B0604020202020204" pitchFamily="34" charset="0"/>
            </a:rPr>
            <a:t>Women’s property rights and legal capacity </a:t>
          </a:r>
          <a:r>
            <a:rPr lang="en-US" sz="2400" b="0">
              <a:latin typeface="Arial" panose="020B0604020202020204" pitchFamily="34" charset="0"/>
              <a:cs typeface="Arial" panose="020B0604020202020204" pitchFamily="34" charset="0"/>
            </a:rPr>
            <a:t>over 50 years shows that reforms expanding women’s rights and legal protection were associated with…</a:t>
          </a:r>
          <a:endParaRPr lang="en-US" sz="3200">
            <a:latin typeface="Arial" panose="020B0604020202020204" pitchFamily="34" charset="0"/>
            <a:cs typeface="Arial" panose="020B0604020202020204" pitchFamily="34" charset="0"/>
          </a:endParaRPr>
        </a:p>
      </dgm:t>
    </dgm:pt>
    <dgm:pt modelId="{650492BD-4BB4-4FE5-82A6-2661920F49A1}" type="parTrans" cxnId="{1278D0EB-571F-4047-BA31-257382DCF5E4}">
      <dgm:prSet/>
      <dgm:spPr/>
      <dgm:t>
        <a:bodyPr/>
        <a:lstStyle/>
        <a:p>
          <a:endParaRPr lang="en-US"/>
        </a:p>
      </dgm:t>
    </dgm:pt>
    <dgm:pt modelId="{C647B471-D638-4530-9638-992370E9B461}" type="sibTrans" cxnId="{1278D0EB-571F-4047-BA31-257382DCF5E4}">
      <dgm:prSet/>
      <dgm:spPr/>
      <dgm:t>
        <a:bodyPr/>
        <a:lstStyle/>
        <a:p>
          <a:endParaRPr lang="en-US"/>
        </a:p>
      </dgm:t>
    </dgm:pt>
    <dgm:pt modelId="{AD49C23A-4C1A-4EA2-A0FB-561DE577D198}">
      <dgm:prSet custT="1"/>
      <dgm:spPr/>
      <dgm:t>
        <a:bodyPr/>
        <a:lstStyle/>
        <a:p>
          <a:r>
            <a:rPr lang="en-US" sz="2400" b="0">
              <a:latin typeface="Arial" panose="020B0604020202020204" pitchFamily="34" charset="0"/>
              <a:cs typeface="Arial" panose="020B0604020202020204" pitchFamily="34" charset="0"/>
            </a:rPr>
            <a:t>Increased movement out of agricultural employment for women, </a:t>
          </a:r>
        </a:p>
      </dgm:t>
    </dgm:pt>
    <dgm:pt modelId="{2E9A6118-38D8-4D08-9D58-D0FA36B2EC94}" type="parTrans" cxnId="{C02B3279-ABB6-42AD-8984-91BC28D44E0B}">
      <dgm:prSet/>
      <dgm:spPr/>
      <dgm:t>
        <a:bodyPr/>
        <a:lstStyle/>
        <a:p>
          <a:endParaRPr lang="en-US"/>
        </a:p>
      </dgm:t>
    </dgm:pt>
    <dgm:pt modelId="{C4329C7A-862E-40AF-8C7A-6BC0CD0F9DF7}" type="sibTrans" cxnId="{C02B3279-ABB6-42AD-8984-91BC28D44E0B}">
      <dgm:prSet/>
      <dgm:spPr/>
      <dgm:t>
        <a:bodyPr/>
        <a:lstStyle/>
        <a:p>
          <a:endParaRPr lang="en-US"/>
        </a:p>
      </dgm:t>
    </dgm:pt>
    <dgm:pt modelId="{3600BC4C-6469-4575-B074-FB192B3E3448}">
      <dgm:prSet custT="1"/>
      <dgm:spPr/>
      <dgm:t>
        <a:bodyPr/>
        <a:lstStyle/>
        <a:p>
          <a:r>
            <a:rPr lang="en-US" sz="2400" b="0">
              <a:latin typeface="Arial" panose="020B0604020202020204" pitchFamily="34" charset="0"/>
              <a:cs typeface="Arial" panose="020B0604020202020204" pitchFamily="34" charset="0"/>
            </a:rPr>
            <a:t>Larger shares of women in wage employment.</a:t>
          </a:r>
        </a:p>
      </dgm:t>
    </dgm:pt>
    <dgm:pt modelId="{35FB72EF-E053-4867-B724-79226383A44B}" type="parTrans" cxnId="{044D991A-2AAE-4F49-9C75-135B192750F1}">
      <dgm:prSet/>
      <dgm:spPr/>
      <dgm:t>
        <a:bodyPr/>
        <a:lstStyle/>
        <a:p>
          <a:endParaRPr lang="en-US"/>
        </a:p>
      </dgm:t>
    </dgm:pt>
    <dgm:pt modelId="{3BACBAAD-5D4B-420E-9953-00C6876F03D9}" type="sibTrans" cxnId="{044D991A-2AAE-4F49-9C75-135B192750F1}">
      <dgm:prSet/>
      <dgm:spPr/>
      <dgm:t>
        <a:bodyPr/>
        <a:lstStyle/>
        <a:p>
          <a:endParaRPr lang="en-US"/>
        </a:p>
      </dgm:t>
    </dgm:pt>
    <dgm:pt modelId="{A1ED0501-0977-4650-BDE9-5EFCA76364AC}">
      <dgm:prSet custT="1"/>
      <dgm:spPr/>
      <dgm:t>
        <a:bodyPr/>
        <a:lstStyle/>
        <a:p>
          <a:r>
            <a:rPr lang="en-US" sz="2400" b="0">
              <a:latin typeface="Arial" panose="020B0604020202020204" pitchFamily="34" charset="0"/>
              <a:cs typeface="Arial" panose="020B0604020202020204" pitchFamily="34" charset="0"/>
            </a:rPr>
            <a:t>Higher female labor force participation, </a:t>
          </a:r>
        </a:p>
      </dgm:t>
    </dgm:pt>
    <dgm:pt modelId="{AB01BC22-7644-427C-8992-3948911F7B35}" type="sibTrans" cxnId="{1B160BF6-F92F-431D-A3B8-B7682D24BBCB}">
      <dgm:prSet/>
      <dgm:spPr/>
      <dgm:t>
        <a:bodyPr/>
        <a:lstStyle/>
        <a:p>
          <a:endParaRPr lang="en-US"/>
        </a:p>
      </dgm:t>
    </dgm:pt>
    <dgm:pt modelId="{D723C4AC-8AF1-42FB-820D-A37239B54D92}" type="parTrans" cxnId="{1B160BF6-F92F-431D-A3B8-B7682D24BBCB}">
      <dgm:prSet/>
      <dgm:spPr/>
      <dgm:t>
        <a:bodyPr/>
        <a:lstStyle/>
        <a:p>
          <a:endParaRPr lang="en-US"/>
        </a:p>
      </dgm:t>
    </dgm:pt>
    <dgm:pt modelId="{7F46681B-5384-4689-907E-E3ED15FEE9B7}" type="pres">
      <dgm:prSet presAssocID="{F807BE37-B7D9-4121-A768-5DD5973F60E1}" presName="linear" presStyleCnt="0">
        <dgm:presLayoutVars>
          <dgm:dir/>
          <dgm:animLvl val="lvl"/>
          <dgm:resizeHandles val="exact"/>
        </dgm:presLayoutVars>
      </dgm:prSet>
      <dgm:spPr/>
    </dgm:pt>
    <dgm:pt modelId="{12CF9169-8396-4410-83B5-EB724DB2E845}" type="pres">
      <dgm:prSet presAssocID="{D997609D-E81F-4AE8-8662-6814797C6016}" presName="parentLin" presStyleCnt="0"/>
      <dgm:spPr/>
    </dgm:pt>
    <dgm:pt modelId="{133C534A-6836-4F8B-949E-E50963CBC6F6}" type="pres">
      <dgm:prSet presAssocID="{D997609D-E81F-4AE8-8662-6814797C6016}" presName="parentLeftMargin" presStyleLbl="node1" presStyleIdx="0" presStyleCnt="1"/>
      <dgm:spPr/>
    </dgm:pt>
    <dgm:pt modelId="{B2557C99-D5D4-454B-B046-75227C95A348}" type="pres">
      <dgm:prSet presAssocID="{D997609D-E81F-4AE8-8662-6814797C6016}" presName="parentText" presStyleLbl="node1" presStyleIdx="0" presStyleCnt="1" custScaleX="142857" custLinFactNeighborX="-95995" custLinFactNeighborY="-18806">
        <dgm:presLayoutVars>
          <dgm:chMax val="0"/>
          <dgm:bulletEnabled val="1"/>
        </dgm:presLayoutVars>
      </dgm:prSet>
      <dgm:spPr/>
    </dgm:pt>
    <dgm:pt modelId="{58E1FFB9-9AAD-4844-A070-48DFD51ADD2E}" type="pres">
      <dgm:prSet presAssocID="{D997609D-E81F-4AE8-8662-6814797C6016}" presName="negativeSpace" presStyleCnt="0"/>
      <dgm:spPr/>
    </dgm:pt>
    <dgm:pt modelId="{8783F329-D3E3-437C-A4D3-832C66AD8068}" type="pres">
      <dgm:prSet presAssocID="{D997609D-E81F-4AE8-8662-6814797C6016}" presName="childText" presStyleLbl="conFgAcc1" presStyleIdx="0" presStyleCnt="1" custLinFactNeighborX="-1701" custLinFactNeighborY="-62744">
        <dgm:presLayoutVars>
          <dgm:bulletEnabled val="1"/>
        </dgm:presLayoutVars>
      </dgm:prSet>
      <dgm:spPr/>
    </dgm:pt>
  </dgm:ptLst>
  <dgm:cxnLst>
    <dgm:cxn modelId="{A371050F-E53C-4E7B-8DBD-5E8A6A82C6DA}" type="presOf" srcId="{A1ED0501-0977-4650-BDE9-5EFCA76364AC}" destId="{8783F329-D3E3-437C-A4D3-832C66AD8068}" srcOrd="0" destOrd="0" presId="urn:microsoft.com/office/officeart/2005/8/layout/list1"/>
    <dgm:cxn modelId="{044D991A-2AAE-4F49-9C75-135B192750F1}" srcId="{D997609D-E81F-4AE8-8662-6814797C6016}" destId="{3600BC4C-6469-4575-B074-FB192B3E3448}" srcOrd="2" destOrd="0" parTransId="{35FB72EF-E053-4867-B724-79226383A44B}" sibTransId="{3BACBAAD-5D4B-420E-9953-00C6876F03D9}"/>
    <dgm:cxn modelId="{DE7F2165-4069-48BC-81D2-315326D05604}" type="presOf" srcId="{D997609D-E81F-4AE8-8662-6814797C6016}" destId="{B2557C99-D5D4-454B-B046-75227C95A348}" srcOrd="1" destOrd="0" presId="urn:microsoft.com/office/officeart/2005/8/layout/list1"/>
    <dgm:cxn modelId="{661DC871-D36D-4B15-9690-DD442394B0F8}" type="presOf" srcId="{3600BC4C-6469-4575-B074-FB192B3E3448}" destId="{8783F329-D3E3-437C-A4D3-832C66AD8068}" srcOrd="0" destOrd="2" presId="urn:microsoft.com/office/officeart/2005/8/layout/list1"/>
    <dgm:cxn modelId="{C02B3279-ABB6-42AD-8984-91BC28D44E0B}" srcId="{D997609D-E81F-4AE8-8662-6814797C6016}" destId="{AD49C23A-4C1A-4EA2-A0FB-561DE577D198}" srcOrd="1" destOrd="0" parTransId="{2E9A6118-38D8-4D08-9D58-D0FA36B2EC94}" sibTransId="{C4329C7A-862E-40AF-8C7A-6BC0CD0F9DF7}"/>
    <dgm:cxn modelId="{D80A8E95-E090-4EC9-8E39-9509F0C5FF62}" type="presOf" srcId="{AD49C23A-4C1A-4EA2-A0FB-561DE577D198}" destId="{8783F329-D3E3-437C-A4D3-832C66AD8068}" srcOrd="0" destOrd="1" presId="urn:microsoft.com/office/officeart/2005/8/layout/list1"/>
    <dgm:cxn modelId="{C0174DA1-35B6-455C-92E7-EF46A29E3F53}" type="presOf" srcId="{F807BE37-B7D9-4121-A768-5DD5973F60E1}" destId="{7F46681B-5384-4689-907E-E3ED15FEE9B7}" srcOrd="0" destOrd="0" presId="urn:microsoft.com/office/officeart/2005/8/layout/list1"/>
    <dgm:cxn modelId="{6303B1AB-6632-4947-A2BB-F349FBF63513}" type="presOf" srcId="{D997609D-E81F-4AE8-8662-6814797C6016}" destId="{133C534A-6836-4F8B-949E-E50963CBC6F6}" srcOrd="0" destOrd="0" presId="urn:microsoft.com/office/officeart/2005/8/layout/list1"/>
    <dgm:cxn modelId="{1278D0EB-571F-4047-BA31-257382DCF5E4}" srcId="{F807BE37-B7D9-4121-A768-5DD5973F60E1}" destId="{D997609D-E81F-4AE8-8662-6814797C6016}" srcOrd="0" destOrd="0" parTransId="{650492BD-4BB4-4FE5-82A6-2661920F49A1}" sibTransId="{C647B471-D638-4530-9638-992370E9B461}"/>
    <dgm:cxn modelId="{1B160BF6-F92F-431D-A3B8-B7682D24BBCB}" srcId="{D997609D-E81F-4AE8-8662-6814797C6016}" destId="{A1ED0501-0977-4650-BDE9-5EFCA76364AC}" srcOrd="0" destOrd="0" parTransId="{D723C4AC-8AF1-42FB-820D-A37239B54D92}" sibTransId="{AB01BC22-7644-427C-8992-3948911F7B35}"/>
    <dgm:cxn modelId="{40B63391-A96D-4B57-ABF8-E3732FDC00FB}" type="presParOf" srcId="{7F46681B-5384-4689-907E-E3ED15FEE9B7}" destId="{12CF9169-8396-4410-83B5-EB724DB2E845}" srcOrd="0" destOrd="0" presId="urn:microsoft.com/office/officeart/2005/8/layout/list1"/>
    <dgm:cxn modelId="{9F45837D-68C8-4659-B6D7-8C0D3078A397}" type="presParOf" srcId="{12CF9169-8396-4410-83B5-EB724DB2E845}" destId="{133C534A-6836-4F8B-949E-E50963CBC6F6}" srcOrd="0" destOrd="0" presId="urn:microsoft.com/office/officeart/2005/8/layout/list1"/>
    <dgm:cxn modelId="{C202AB17-7D4A-4D86-ADCA-47F42397E47A}" type="presParOf" srcId="{12CF9169-8396-4410-83B5-EB724DB2E845}" destId="{B2557C99-D5D4-454B-B046-75227C95A348}" srcOrd="1" destOrd="0" presId="urn:microsoft.com/office/officeart/2005/8/layout/list1"/>
    <dgm:cxn modelId="{6A65D25A-2478-4F6F-BD9A-939C1AE699B7}" type="presParOf" srcId="{7F46681B-5384-4689-907E-E3ED15FEE9B7}" destId="{58E1FFB9-9AAD-4844-A070-48DFD51ADD2E}" srcOrd="1" destOrd="0" presId="urn:microsoft.com/office/officeart/2005/8/layout/list1"/>
    <dgm:cxn modelId="{CD22E16B-CD9E-4D5D-8EAD-82ED02B1983E}" type="presParOf" srcId="{7F46681B-5384-4689-907E-E3ED15FEE9B7}" destId="{8783F329-D3E3-437C-A4D3-832C66AD8068}"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C2B5E6-67C1-4B42-BE9D-8AEFC077FF0F}" type="doc">
      <dgm:prSet loTypeId="urn:microsoft.com/office/officeart/2005/8/layout/hList7" loCatId="list" qsTypeId="urn:microsoft.com/office/officeart/2005/8/quickstyle/simple1" qsCatId="simple" csTypeId="urn:microsoft.com/office/officeart/2005/8/colors/accent0_3" csCatId="mainScheme" phldr="1"/>
      <dgm:spPr/>
      <dgm:t>
        <a:bodyPr/>
        <a:lstStyle/>
        <a:p>
          <a:endParaRPr lang="en-US"/>
        </a:p>
      </dgm:t>
    </dgm:pt>
    <dgm:pt modelId="{85C22A65-D9CD-457E-90FC-54A04E679462}">
      <dgm:prSet phldrT="[Text]" custT="1"/>
      <dgm:spPr>
        <a:noFill/>
        <a:ln>
          <a:noFill/>
        </a:ln>
      </dgm:spPr>
      <dgm:t>
        <a:bodyPr/>
        <a:lstStyle/>
        <a:p>
          <a:r>
            <a:rPr lang="en-US" sz="2000" b="1">
              <a:solidFill>
                <a:schemeClr val="tx1"/>
              </a:solidFill>
            </a:rPr>
            <a:t>Constitutional Law &amp; Civil Rights</a:t>
          </a:r>
        </a:p>
      </dgm:t>
    </dgm:pt>
    <dgm:pt modelId="{B93638A8-D6A4-4C89-BDF8-D93EE89D0A8C}" type="parTrans" cxnId="{93E155BF-8EAE-4E52-8DD0-A1CB3F1094F2}">
      <dgm:prSet/>
      <dgm:spPr/>
      <dgm:t>
        <a:bodyPr/>
        <a:lstStyle/>
        <a:p>
          <a:endParaRPr lang="en-US" sz="2000"/>
        </a:p>
      </dgm:t>
    </dgm:pt>
    <dgm:pt modelId="{2992FBAE-B68F-4A17-9E9B-E5162CE67164}" type="sibTrans" cxnId="{93E155BF-8EAE-4E52-8DD0-A1CB3F1094F2}">
      <dgm:prSet/>
      <dgm:spPr/>
      <dgm:t>
        <a:bodyPr/>
        <a:lstStyle/>
        <a:p>
          <a:endParaRPr lang="en-US" sz="2000"/>
        </a:p>
      </dgm:t>
    </dgm:pt>
    <dgm:pt modelId="{4C7C8E93-04BB-4BE9-ADAC-BA529B5A7191}">
      <dgm:prSet phldrT="[Text]" custT="1"/>
      <dgm:spPr>
        <a:noFill/>
        <a:ln>
          <a:noFill/>
        </a:ln>
      </dgm:spPr>
      <dgm:t>
        <a:bodyPr/>
        <a:lstStyle/>
        <a:p>
          <a:r>
            <a:rPr lang="en-US" sz="2000" b="1">
              <a:solidFill>
                <a:schemeClr val="tx1"/>
              </a:solidFill>
            </a:rPr>
            <a:t>Family Law</a:t>
          </a:r>
        </a:p>
      </dgm:t>
    </dgm:pt>
    <dgm:pt modelId="{B735156E-EEA1-4218-BD58-05CFF3D91A50}" type="parTrans" cxnId="{003CAF84-2606-42BA-AEEC-3B62B105EE20}">
      <dgm:prSet/>
      <dgm:spPr/>
      <dgm:t>
        <a:bodyPr/>
        <a:lstStyle/>
        <a:p>
          <a:endParaRPr lang="en-US" sz="2000"/>
        </a:p>
      </dgm:t>
    </dgm:pt>
    <dgm:pt modelId="{AC9FA2BA-75C3-4F11-9B4C-8A3E04DF38C7}" type="sibTrans" cxnId="{003CAF84-2606-42BA-AEEC-3B62B105EE20}">
      <dgm:prSet/>
      <dgm:spPr/>
      <dgm:t>
        <a:bodyPr/>
        <a:lstStyle/>
        <a:p>
          <a:endParaRPr lang="en-US" sz="2000"/>
        </a:p>
      </dgm:t>
    </dgm:pt>
    <dgm:pt modelId="{575EB003-5FAD-4FE6-93FE-892253193214}">
      <dgm:prSet phldrT="[Text]" custT="1"/>
      <dgm:spPr>
        <a:noFill/>
        <a:ln>
          <a:noFill/>
        </a:ln>
      </dgm:spPr>
      <dgm:t>
        <a:bodyPr/>
        <a:lstStyle/>
        <a:p>
          <a:r>
            <a:rPr lang="en-US" sz="2000" b="1">
              <a:solidFill>
                <a:schemeClr val="tx1"/>
              </a:solidFill>
            </a:rPr>
            <a:t>Property Law</a:t>
          </a:r>
        </a:p>
      </dgm:t>
    </dgm:pt>
    <dgm:pt modelId="{8F804B53-C149-448F-B57B-DD222A4B524E}" type="parTrans" cxnId="{373E031B-779B-4BF1-81E5-1E7819A80E98}">
      <dgm:prSet/>
      <dgm:spPr/>
      <dgm:t>
        <a:bodyPr/>
        <a:lstStyle/>
        <a:p>
          <a:endParaRPr lang="en-US" sz="2000"/>
        </a:p>
      </dgm:t>
    </dgm:pt>
    <dgm:pt modelId="{671F52A1-7C31-4F4E-BB43-2C3F767B885C}" type="sibTrans" cxnId="{373E031B-779B-4BF1-81E5-1E7819A80E98}">
      <dgm:prSet/>
      <dgm:spPr/>
      <dgm:t>
        <a:bodyPr/>
        <a:lstStyle/>
        <a:p>
          <a:endParaRPr lang="en-US" sz="2000"/>
        </a:p>
      </dgm:t>
    </dgm:pt>
    <dgm:pt modelId="{FFF583C4-B91C-42E8-B77E-B98688E6D1F8}">
      <dgm:prSet phldrT="[Text]" custT="1"/>
      <dgm:spPr>
        <a:noFill/>
        <a:ln>
          <a:noFill/>
        </a:ln>
      </dgm:spPr>
      <dgm:t>
        <a:bodyPr/>
        <a:lstStyle/>
        <a:p>
          <a:r>
            <a:rPr lang="en-US" sz="2400" b="1">
              <a:solidFill>
                <a:schemeClr val="tx1"/>
              </a:solidFill>
            </a:rPr>
            <a:t>Tax Law</a:t>
          </a:r>
        </a:p>
      </dgm:t>
    </dgm:pt>
    <dgm:pt modelId="{0A64C802-D9A8-4AF4-A8B1-10C56FE69724}" type="parTrans" cxnId="{4577A1D6-E60F-43A1-B0AE-AEAFF9326403}">
      <dgm:prSet/>
      <dgm:spPr/>
      <dgm:t>
        <a:bodyPr/>
        <a:lstStyle/>
        <a:p>
          <a:endParaRPr lang="en-US" sz="2000"/>
        </a:p>
      </dgm:t>
    </dgm:pt>
    <dgm:pt modelId="{9B0AECAC-827D-47C0-AF00-8D1A499D53B7}" type="sibTrans" cxnId="{4577A1D6-E60F-43A1-B0AE-AEAFF9326403}">
      <dgm:prSet/>
      <dgm:spPr/>
      <dgm:t>
        <a:bodyPr/>
        <a:lstStyle/>
        <a:p>
          <a:endParaRPr lang="en-US" sz="2000"/>
        </a:p>
      </dgm:t>
    </dgm:pt>
    <dgm:pt modelId="{2A09FF5A-E7AB-4518-9ACD-A8179F576867}">
      <dgm:prSet phldrT="[Text]" custT="1"/>
      <dgm:spPr>
        <a:noFill/>
        <a:ln>
          <a:noFill/>
        </a:ln>
      </dgm:spPr>
      <dgm:t>
        <a:bodyPr/>
        <a:lstStyle/>
        <a:p>
          <a:r>
            <a:rPr lang="en-US" sz="1600">
              <a:solidFill>
                <a:schemeClr val="tx1"/>
              </a:solidFill>
            </a:rPr>
            <a:t>Legal rights related to citizenship, right to vote, freedom of movement</a:t>
          </a:r>
        </a:p>
      </dgm:t>
    </dgm:pt>
    <dgm:pt modelId="{95AF53A5-BBF4-4D2E-B4B6-AEBBE600F87A}" type="parTrans" cxnId="{F9F3C344-6001-449E-A50C-DD4A66FB7787}">
      <dgm:prSet/>
      <dgm:spPr/>
      <dgm:t>
        <a:bodyPr/>
        <a:lstStyle/>
        <a:p>
          <a:endParaRPr lang="en-US" sz="2000"/>
        </a:p>
      </dgm:t>
    </dgm:pt>
    <dgm:pt modelId="{E0068C39-E24A-4881-8EC7-89EFE7469F61}" type="sibTrans" cxnId="{F9F3C344-6001-449E-A50C-DD4A66FB7787}">
      <dgm:prSet/>
      <dgm:spPr/>
      <dgm:t>
        <a:bodyPr/>
        <a:lstStyle/>
        <a:p>
          <a:endParaRPr lang="en-US" sz="2000"/>
        </a:p>
      </dgm:t>
    </dgm:pt>
    <dgm:pt modelId="{0601114C-2441-4B34-8300-01180383234D}">
      <dgm:prSet phldrT="[Text]" custT="1"/>
      <dgm:spPr>
        <a:noFill/>
        <a:ln>
          <a:noFill/>
        </a:ln>
      </dgm:spPr>
      <dgm:t>
        <a:bodyPr/>
        <a:lstStyle/>
        <a:p>
          <a:r>
            <a:rPr lang="en-US" sz="1600">
              <a:solidFill>
                <a:schemeClr val="tx1"/>
              </a:solidFill>
            </a:rPr>
            <a:t>Political participation </a:t>
          </a:r>
        </a:p>
      </dgm:t>
    </dgm:pt>
    <dgm:pt modelId="{2EA9F76D-3288-48E4-A395-3016A20E3966}" type="parTrans" cxnId="{9E788E86-14A0-463E-8A91-5FDF9C0984C1}">
      <dgm:prSet/>
      <dgm:spPr/>
      <dgm:t>
        <a:bodyPr/>
        <a:lstStyle/>
        <a:p>
          <a:endParaRPr lang="en-US" sz="2000"/>
        </a:p>
      </dgm:t>
    </dgm:pt>
    <dgm:pt modelId="{BC8258DD-91AF-4FC3-973C-22892ECA0D89}" type="sibTrans" cxnId="{9E788E86-14A0-463E-8A91-5FDF9C0984C1}">
      <dgm:prSet/>
      <dgm:spPr/>
      <dgm:t>
        <a:bodyPr/>
        <a:lstStyle/>
        <a:p>
          <a:endParaRPr lang="en-US" sz="2000"/>
        </a:p>
      </dgm:t>
    </dgm:pt>
    <dgm:pt modelId="{091F3A81-AA88-46F7-897E-899031161181}">
      <dgm:prSet phldrT="[Text]" custT="1"/>
      <dgm:spPr>
        <a:noFill/>
        <a:ln>
          <a:noFill/>
        </a:ln>
      </dgm:spPr>
      <dgm:t>
        <a:bodyPr/>
        <a:lstStyle/>
        <a:p>
          <a:r>
            <a:rPr lang="en-US" sz="1600">
              <a:solidFill>
                <a:schemeClr val="tx1"/>
              </a:solidFill>
            </a:rPr>
            <a:t>Access to justice for women</a:t>
          </a:r>
        </a:p>
      </dgm:t>
    </dgm:pt>
    <dgm:pt modelId="{177AC777-DA7C-4339-8561-E9EFC0693AEA}" type="parTrans" cxnId="{222CEA59-0580-433F-81BF-C5D41542B95A}">
      <dgm:prSet/>
      <dgm:spPr/>
      <dgm:t>
        <a:bodyPr/>
        <a:lstStyle/>
        <a:p>
          <a:endParaRPr lang="en-US" sz="2000"/>
        </a:p>
      </dgm:t>
    </dgm:pt>
    <dgm:pt modelId="{82ADE1C3-D87B-4AED-82E0-A11F5EF6C0F4}" type="sibTrans" cxnId="{222CEA59-0580-433F-81BF-C5D41542B95A}">
      <dgm:prSet/>
      <dgm:spPr/>
      <dgm:t>
        <a:bodyPr/>
        <a:lstStyle/>
        <a:p>
          <a:endParaRPr lang="en-US" sz="2000"/>
        </a:p>
      </dgm:t>
    </dgm:pt>
    <dgm:pt modelId="{3940D8BD-A369-4A1C-97B7-4E09C2FE5BD4}">
      <dgm:prSet phldrT="[Text]" custT="1"/>
      <dgm:spPr>
        <a:noFill/>
        <a:ln>
          <a:noFill/>
        </a:ln>
      </dgm:spPr>
      <dgm:t>
        <a:bodyPr/>
        <a:lstStyle/>
        <a:p>
          <a:r>
            <a:rPr lang="en-US" sz="1600">
              <a:solidFill>
                <a:schemeClr val="tx1"/>
              </a:solidFill>
            </a:rPr>
            <a:t>Legal age of marriage</a:t>
          </a:r>
        </a:p>
      </dgm:t>
    </dgm:pt>
    <dgm:pt modelId="{AEA10D38-1148-4011-9207-C773A8F9F80C}" type="parTrans" cxnId="{C6DA00EA-093B-4ED8-9088-90DDCCD841BC}">
      <dgm:prSet/>
      <dgm:spPr/>
      <dgm:t>
        <a:bodyPr/>
        <a:lstStyle/>
        <a:p>
          <a:endParaRPr lang="en-US" sz="2000"/>
        </a:p>
      </dgm:t>
    </dgm:pt>
    <dgm:pt modelId="{0003E25F-9417-4433-8C9F-4F8F13B601CA}" type="sibTrans" cxnId="{C6DA00EA-093B-4ED8-9088-90DDCCD841BC}">
      <dgm:prSet/>
      <dgm:spPr/>
      <dgm:t>
        <a:bodyPr/>
        <a:lstStyle/>
        <a:p>
          <a:endParaRPr lang="en-US" sz="2000"/>
        </a:p>
      </dgm:t>
    </dgm:pt>
    <dgm:pt modelId="{73E9F7A8-E1FC-4A5E-9147-FEB01735256A}">
      <dgm:prSet phldrT="[Text]" custT="1"/>
      <dgm:spPr>
        <a:noFill/>
        <a:ln>
          <a:noFill/>
        </a:ln>
      </dgm:spPr>
      <dgm:t>
        <a:bodyPr/>
        <a:lstStyle/>
        <a:p>
          <a:r>
            <a:rPr lang="en-US" sz="1600">
              <a:solidFill>
                <a:schemeClr val="tx1"/>
              </a:solidFill>
            </a:rPr>
            <a:t>Ability to run/head households</a:t>
          </a:r>
        </a:p>
      </dgm:t>
    </dgm:pt>
    <dgm:pt modelId="{7C8C3BFC-ED67-4543-A8E6-E0C74E1A5D6A}" type="parTrans" cxnId="{6FE33E3A-7B54-401B-85E9-64663EABB51E}">
      <dgm:prSet/>
      <dgm:spPr/>
      <dgm:t>
        <a:bodyPr/>
        <a:lstStyle/>
        <a:p>
          <a:endParaRPr lang="en-US" sz="2000"/>
        </a:p>
      </dgm:t>
    </dgm:pt>
    <dgm:pt modelId="{DFCAEB76-CA4C-42C4-928E-C63604EB4035}" type="sibTrans" cxnId="{6FE33E3A-7B54-401B-85E9-64663EABB51E}">
      <dgm:prSet/>
      <dgm:spPr/>
      <dgm:t>
        <a:bodyPr/>
        <a:lstStyle/>
        <a:p>
          <a:endParaRPr lang="en-US" sz="2000"/>
        </a:p>
      </dgm:t>
    </dgm:pt>
    <dgm:pt modelId="{635FFEE5-7BAF-4E5F-A2B7-96DA0AB13B7A}">
      <dgm:prSet phldrT="[Text]" custT="1"/>
      <dgm:spPr>
        <a:noFill/>
        <a:ln>
          <a:noFill/>
        </a:ln>
      </dgm:spPr>
      <dgm:t>
        <a:bodyPr/>
        <a:lstStyle/>
        <a:p>
          <a:r>
            <a:rPr lang="en-US" sz="1600">
              <a:solidFill>
                <a:schemeClr val="tx1"/>
              </a:solidFill>
            </a:rPr>
            <a:t>Rights to divorce/end marriages</a:t>
          </a:r>
        </a:p>
      </dgm:t>
    </dgm:pt>
    <dgm:pt modelId="{83A1E3BB-6535-4C00-8379-2426284B9CFD}" type="parTrans" cxnId="{EAB71439-FC71-4221-AE13-33202C8F57C7}">
      <dgm:prSet/>
      <dgm:spPr/>
      <dgm:t>
        <a:bodyPr/>
        <a:lstStyle/>
        <a:p>
          <a:endParaRPr lang="en-US" sz="2000"/>
        </a:p>
      </dgm:t>
    </dgm:pt>
    <dgm:pt modelId="{238AF3D3-6DB3-44F1-8814-490BC0A407AB}" type="sibTrans" cxnId="{EAB71439-FC71-4221-AE13-33202C8F57C7}">
      <dgm:prSet/>
      <dgm:spPr/>
      <dgm:t>
        <a:bodyPr/>
        <a:lstStyle/>
        <a:p>
          <a:endParaRPr lang="en-US" sz="2000"/>
        </a:p>
      </dgm:t>
    </dgm:pt>
    <dgm:pt modelId="{CFF8AD4C-4F63-4EC7-956C-C9FAF64A73C9}">
      <dgm:prSet phldrT="[Text]" custT="1"/>
      <dgm:spPr>
        <a:noFill/>
        <a:ln>
          <a:noFill/>
        </a:ln>
      </dgm:spPr>
      <dgm:t>
        <a:bodyPr/>
        <a:lstStyle/>
        <a:p>
          <a:r>
            <a:rPr lang="en-US" sz="1600">
              <a:solidFill>
                <a:schemeClr val="tx1"/>
              </a:solidFill>
            </a:rPr>
            <a:t>Ability to collect, own, </a:t>
          </a:r>
          <a:r>
            <a:rPr lang="en-US" sz="1600">
              <a:solidFill>
                <a:schemeClr val="tx1"/>
              </a:solidFill>
              <a:latin typeface="Calibri Light" panose="020F0302020204030204"/>
            </a:rPr>
            <a:t>manage</a:t>
          </a:r>
          <a:r>
            <a:rPr lang="en-US" sz="1600">
              <a:solidFill>
                <a:schemeClr val="tx1"/>
              </a:solidFill>
            </a:rPr>
            <a:t> and transfer assets</a:t>
          </a:r>
        </a:p>
      </dgm:t>
    </dgm:pt>
    <dgm:pt modelId="{2B354E59-44C3-4C70-9C34-FE896655B13C}" type="parTrans" cxnId="{6BBA5121-2203-4EA3-AD1E-413D6DA19141}">
      <dgm:prSet/>
      <dgm:spPr/>
      <dgm:t>
        <a:bodyPr/>
        <a:lstStyle/>
        <a:p>
          <a:endParaRPr lang="en-US" sz="2000"/>
        </a:p>
      </dgm:t>
    </dgm:pt>
    <dgm:pt modelId="{DDF1271E-2BB2-4950-8C58-27C6851868B4}" type="sibTrans" cxnId="{6BBA5121-2203-4EA3-AD1E-413D6DA19141}">
      <dgm:prSet/>
      <dgm:spPr/>
      <dgm:t>
        <a:bodyPr/>
        <a:lstStyle/>
        <a:p>
          <a:endParaRPr lang="en-US" sz="2000"/>
        </a:p>
      </dgm:t>
    </dgm:pt>
    <dgm:pt modelId="{4A264D96-7143-46A8-BA62-57D314A845E5}">
      <dgm:prSet phldrT="[Text]" custT="1"/>
      <dgm:spPr>
        <a:noFill/>
        <a:ln>
          <a:noFill/>
        </a:ln>
      </dgm:spPr>
      <dgm:t>
        <a:bodyPr/>
        <a:lstStyle/>
        <a:p>
          <a:r>
            <a:rPr lang="en-US" sz="1600">
              <a:solidFill>
                <a:schemeClr val="tx1"/>
              </a:solidFill>
            </a:rPr>
            <a:t>Inheritance laws</a:t>
          </a:r>
        </a:p>
      </dgm:t>
    </dgm:pt>
    <dgm:pt modelId="{49FB3B8A-DF9E-4C1B-A4D2-AE879EEA42D7}" type="parTrans" cxnId="{32184106-5CD9-4B8C-9A4A-359B7DB11B3E}">
      <dgm:prSet/>
      <dgm:spPr/>
      <dgm:t>
        <a:bodyPr/>
        <a:lstStyle/>
        <a:p>
          <a:endParaRPr lang="en-US" sz="2000"/>
        </a:p>
      </dgm:t>
    </dgm:pt>
    <dgm:pt modelId="{2126AFF0-1B70-4D5B-A366-C9F8379438CC}" type="sibTrans" cxnId="{32184106-5CD9-4B8C-9A4A-359B7DB11B3E}">
      <dgm:prSet/>
      <dgm:spPr/>
      <dgm:t>
        <a:bodyPr/>
        <a:lstStyle/>
        <a:p>
          <a:endParaRPr lang="en-US" sz="2000"/>
        </a:p>
      </dgm:t>
    </dgm:pt>
    <dgm:pt modelId="{191F1335-D8FB-4867-8684-1BDEBE6BC990}">
      <dgm:prSet phldrT="[Text]" custT="1"/>
      <dgm:spPr>
        <a:noFill/>
        <a:ln>
          <a:noFill/>
        </a:ln>
      </dgm:spPr>
      <dgm:t>
        <a:bodyPr/>
        <a:lstStyle/>
        <a:p>
          <a:r>
            <a:rPr lang="en-US" sz="2000" b="1">
              <a:solidFill>
                <a:schemeClr val="tx1"/>
              </a:solidFill>
            </a:rPr>
            <a:t>Labor Law</a:t>
          </a:r>
        </a:p>
      </dgm:t>
    </dgm:pt>
    <dgm:pt modelId="{5F34B261-2904-4201-8E27-AF4AC516030E}" type="parTrans" cxnId="{C0D1F826-9698-4C57-8ABB-889C91730998}">
      <dgm:prSet/>
      <dgm:spPr/>
      <dgm:t>
        <a:bodyPr/>
        <a:lstStyle/>
        <a:p>
          <a:endParaRPr lang="en-US" sz="2000"/>
        </a:p>
      </dgm:t>
    </dgm:pt>
    <dgm:pt modelId="{C549E027-20EB-452D-AE47-880972ED08C8}" type="sibTrans" cxnId="{C0D1F826-9698-4C57-8ABB-889C91730998}">
      <dgm:prSet/>
      <dgm:spPr/>
      <dgm:t>
        <a:bodyPr/>
        <a:lstStyle/>
        <a:p>
          <a:endParaRPr lang="en-US" sz="2000"/>
        </a:p>
      </dgm:t>
    </dgm:pt>
    <dgm:pt modelId="{465D76A8-7AC3-432B-9A2D-7380928AAACC}">
      <dgm:prSet phldrT="[Text]" custT="1"/>
      <dgm:spPr>
        <a:noFill/>
        <a:ln>
          <a:noFill/>
        </a:ln>
      </dgm:spPr>
      <dgm:t>
        <a:bodyPr/>
        <a:lstStyle/>
        <a:p>
          <a:r>
            <a:rPr lang="en-US" sz="1600">
              <a:solidFill>
                <a:schemeClr val="tx1"/>
              </a:solidFill>
            </a:rPr>
            <a:t>Access &amp; distribution of property during or after marriage</a:t>
          </a:r>
        </a:p>
      </dgm:t>
    </dgm:pt>
    <dgm:pt modelId="{D2D75F89-FE00-4EAF-8DA1-016F27D6D535}" type="parTrans" cxnId="{3719A988-8FE7-49BA-8968-A26D933EED2F}">
      <dgm:prSet/>
      <dgm:spPr/>
      <dgm:t>
        <a:bodyPr/>
        <a:lstStyle/>
        <a:p>
          <a:endParaRPr lang="en-US" sz="2000"/>
        </a:p>
      </dgm:t>
    </dgm:pt>
    <dgm:pt modelId="{B783A6FF-31E3-40E1-89B2-A1FB4943DFAE}" type="sibTrans" cxnId="{3719A988-8FE7-49BA-8968-A26D933EED2F}">
      <dgm:prSet/>
      <dgm:spPr/>
      <dgm:t>
        <a:bodyPr/>
        <a:lstStyle/>
        <a:p>
          <a:endParaRPr lang="en-US" sz="2000"/>
        </a:p>
      </dgm:t>
    </dgm:pt>
    <dgm:pt modelId="{78F901AB-422E-40CC-ADD8-23AA3A230E67}">
      <dgm:prSet phldrT="[Text]" custT="1"/>
      <dgm:spPr>
        <a:noFill/>
        <a:ln>
          <a:noFill/>
        </a:ln>
      </dgm:spPr>
      <dgm:t>
        <a:bodyPr/>
        <a:lstStyle/>
        <a:p>
          <a:r>
            <a:rPr lang="en-US" sz="1600">
              <a:solidFill>
                <a:schemeClr val="tx1"/>
              </a:solidFill>
              <a:latin typeface="Calibri Light" panose="020F0302020204030204"/>
            </a:rPr>
            <a:t>Legal</a:t>
          </a:r>
          <a:r>
            <a:rPr lang="en-US" sz="1600">
              <a:solidFill>
                <a:schemeClr val="tx1"/>
              </a:solidFill>
            </a:rPr>
            <a:t> restrictions to work</a:t>
          </a:r>
        </a:p>
      </dgm:t>
    </dgm:pt>
    <dgm:pt modelId="{F718967D-3903-4169-B1D7-F4F44F2E6CCE}" type="parTrans" cxnId="{CD5DAD70-C68C-44AD-919F-E7487ACD748E}">
      <dgm:prSet/>
      <dgm:spPr/>
      <dgm:t>
        <a:bodyPr/>
        <a:lstStyle/>
        <a:p>
          <a:endParaRPr lang="en-US" sz="2000"/>
        </a:p>
      </dgm:t>
    </dgm:pt>
    <dgm:pt modelId="{BEE9BB70-0424-4D25-9E43-D3DE24C02AD1}" type="sibTrans" cxnId="{CD5DAD70-C68C-44AD-919F-E7487ACD748E}">
      <dgm:prSet/>
      <dgm:spPr/>
      <dgm:t>
        <a:bodyPr/>
        <a:lstStyle/>
        <a:p>
          <a:endParaRPr lang="en-US" sz="2000"/>
        </a:p>
      </dgm:t>
    </dgm:pt>
    <dgm:pt modelId="{C398B05C-5950-485E-B91D-C98C8B5892A6}">
      <dgm:prSet phldrT="[Text]" custT="1"/>
      <dgm:spPr>
        <a:noFill/>
        <a:ln>
          <a:noFill/>
        </a:ln>
      </dgm:spPr>
      <dgm:t>
        <a:bodyPr/>
        <a:lstStyle/>
        <a:p>
          <a:r>
            <a:rPr lang="en-US" sz="1600">
              <a:solidFill>
                <a:schemeClr val="tx1"/>
              </a:solidFill>
            </a:rPr>
            <a:t>Equal pay</a:t>
          </a:r>
        </a:p>
      </dgm:t>
    </dgm:pt>
    <dgm:pt modelId="{F6DF67A0-4D30-4733-AE18-8E6DF4BFF744}" type="parTrans" cxnId="{A52B02DD-BEB2-4D21-87BD-53FAE89596B4}">
      <dgm:prSet/>
      <dgm:spPr/>
      <dgm:t>
        <a:bodyPr/>
        <a:lstStyle/>
        <a:p>
          <a:endParaRPr lang="en-US" sz="2000"/>
        </a:p>
      </dgm:t>
    </dgm:pt>
    <dgm:pt modelId="{BC77E228-BD5B-46B2-BD60-49D938ABADA4}" type="sibTrans" cxnId="{A52B02DD-BEB2-4D21-87BD-53FAE89596B4}">
      <dgm:prSet/>
      <dgm:spPr/>
      <dgm:t>
        <a:bodyPr/>
        <a:lstStyle/>
        <a:p>
          <a:endParaRPr lang="en-US" sz="2000"/>
        </a:p>
      </dgm:t>
    </dgm:pt>
    <dgm:pt modelId="{E4034C3B-E933-43EF-AB5E-D64733E4392B}">
      <dgm:prSet phldrT="[Text]" custT="1"/>
      <dgm:spPr>
        <a:noFill/>
        <a:ln>
          <a:noFill/>
        </a:ln>
      </dgm:spPr>
      <dgm:t>
        <a:bodyPr/>
        <a:lstStyle/>
        <a:p>
          <a:r>
            <a:rPr lang="en-US" sz="1600">
              <a:solidFill>
                <a:schemeClr val="tx1"/>
              </a:solidFill>
            </a:rPr>
            <a:t>Parental leave and childcare rights</a:t>
          </a:r>
        </a:p>
      </dgm:t>
    </dgm:pt>
    <dgm:pt modelId="{A7C245A1-683B-4842-948F-2205832CAC23}" type="parTrans" cxnId="{F1FAADE6-DCAC-4EB8-AD29-4EDB5CF740BD}">
      <dgm:prSet/>
      <dgm:spPr/>
      <dgm:t>
        <a:bodyPr/>
        <a:lstStyle/>
        <a:p>
          <a:endParaRPr lang="en-US" sz="2000"/>
        </a:p>
      </dgm:t>
    </dgm:pt>
    <dgm:pt modelId="{DB994A61-8DEF-4388-A154-FCFB8F303C9D}" type="sibTrans" cxnId="{F1FAADE6-DCAC-4EB8-AD29-4EDB5CF740BD}">
      <dgm:prSet/>
      <dgm:spPr/>
      <dgm:t>
        <a:bodyPr/>
        <a:lstStyle/>
        <a:p>
          <a:endParaRPr lang="en-US" sz="2000"/>
        </a:p>
      </dgm:t>
    </dgm:pt>
    <dgm:pt modelId="{B50CA05F-E4BF-4ED9-9361-3F72A3509A5D}">
      <dgm:prSet phldrT="[Text]" custT="1"/>
      <dgm:spPr>
        <a:noFill/>
        <a:ln>
          <a:noFill/>
        </a:ln>
      </dgm:spPr>
      <dgm:t>
        <a:bodyPr/>
        <a:lstStyle/>
        <a:p>
          <a:r>
            <a:rPr lang="en-US" sz="1600">
              <a:solidFill>
                <a:schemeClr val="tx1"/>
              </a:solidFill>
              <a:latin typeface="Calibri Light" panose="020F0302020204030204"/>
            </a:rPr>
            <a:t>Discriminatory</a:t>
          </a:r>
          <a:r>
            <a:rPr lang="en-US" sz="1600">
              <a:solidFill>
                <a:schemeClr val="tx1"/>
              </a:solidFill>
            </a:rPr>
            <a:t> tax burdens</a:t>
          </a:r>
        </a:p>
      </dgm:t>
    </dgm:pt>
    <dgm:pt modelId="{6EDCEF7F-E023-4637-9AC7-55602A36C54A}" type="parTrans" cxnId="{4039451B-8DA2-437F-BE90-3CFC5B93B927}">
      <dgm:prSet/>
      <dgm:spPr/>
      <dgm:t>
        <a:bodyPr/>
        <a:lstStyle/>
        <a:p>
          <a:endParaRPr lang="en-US" sz="2000"/>
        </a:p>
      </dgm:t>
    </dgm:pt>
    <dgm:pt modelId="{54DBD454-D955-423D-9D20-39733042D477}" type="sibTrans" cxnId="{4039451B-8DA2-437F-BE90-3CFC5B93B927}">
      <dgm:prSet/>
      <dgm:spPr/>
      <dgm:t>
        <a:bodyPr/>
        <a:lstStyle/>
        <a:p>
          <a:endParaRPr lang="en-US" sz="2000"/>
        </a:p>
      </dgm:t>
    </dgm:pt>
    <dgm:pt modelId="{988F1EE8-F831-4AAA-83D1-B798A1C494A2}">
      <dgm:prSet phldrT="[Text]" custT="1"/>
      <dgm:spPr>
        <a:noFill/>
        <a:ln>
          <a:noFill/>
        </a:ln>
      </dgm:spPr>
      <dgm:t>
        <a:bodyPr/>
        <a:lstStyle/>
        <a:p>
          <a:r>
            <a:rPr lang="en-US" sz="1600">
              <a:solidFill>
                <a:schemeClr val="tx1"/>
              </a:solidFill>
            </a:rPr>
            <a:t>Tax and subsidy incentives that increase women’s participation in the labor market</a:t>
          </a:r>
        </a:p>
      </dgm:t>
    </dgm:pt>
    <dgm:pt modelId="{5CA2C5FA-8C54-4659-A194-1F56047955A8}" type="parTrans" cxnId="{A783C189-A142-46C7-9D65-BFE310C4F997}">
      <dgm:prSet/>
      <dgm:spPr/>
      <dgm:t>
        <a:bodyPr/>
        <a:lstStyle/>
        <a:p>
          <a:endParaRPr lang="en-US"/>
        </a:p>
      </dgm:t>
    </dgm:pt>
    <dgm:pt modelId="{A8171AC6-8C03-4281-B2B9-C89DF13AE381}" type="sibTrans" cxnId="{A783C189-A142-46C7-9D65-BFE310C4F997}">
      <dgm:prSet/>
      <dgm:spPr/>
      <dgm:t>
        <a:bodyPr/>
        <a:lstStyle/>
        <a:p>
          <a:endParaRPr lang="en-US"/>
        </a:p>
      </dgm:t>
    </dgm:pt>
    <dgm:pt modelId="{338A4185-B1D2-440E-A0E7-43D1107DF5AE}" type="pres">
      <dgm:prSet presAssocID="{E0C2B5E6-67C1-4B42-BE9D-8AEFC077FF0F}" presName="Name0" presStyleCnt="0">
        <dgm:presLayoutVars>
          <dgm:dir/>
          <dgm:resizeHandles val="exact"/>
        </dgm:presLayoutVars>
      </dgm:prSet>
      <dgm:spPr/>
    </dgm:pt>
    <dgm:pt modelId="{D3B8DC0D-5D4C-418A-87CE-3BC034DFC215}" type="pres">
      <dgm:prSet presAssocID="{E0C2B5E6-67C1-4B42-BE9D-8AEFC077FF0F}" presName="fgShape" presStyleLbl="fgShp" presStyleIdx="0" presStyleCnt="1"/>
      <dgm:spPr>
        <a:noFill/>
        <a:ln>
          <a:noFill/>
        </a:ln>
      </dgm:spPr>
    </dgm:pt>
    <dgm:pt modelId="{BC4D1A8D-953F-4FDB-B2A5-700D6EB02C02}" type="pres">
      <dgm:prSet presAssocID="{E0C2B5E6-67C1-4B42-BE9D-8AEFC077FF0F}" presName="linComp" presStyleCnt="0"/>
      <dgm:spPr/>
    </dgm:pt>
    <dgm:pt modelId="{AD50AD09-7677-4C2C-A54C-F358234162ED}" type="pres">
      <dgm:prSet presAssocID="{85C22A65-D9CD-457E-90FC-54A04E679462}" presName="compNode" presStyleCnt="0"/>
      <dgm:spPr/>
    </dgm:pt>
    <dgm:pt modelId="{A29E77C6-8010-4DD5-8B76-AD0FE8725733}" type="pres">
      <dgm:prSet presAssocID="{85C22A65-D9CD-457E-90FC-54A04E679462}" presName="bkgdShape" presStyleLbl="node1" presStyleIdx="0" presStyleCnt="5" custLinFactNeighborX="1704" custLinFactNeighborY="284"/>
      <dgm:spPr/>
    </dgm:pt>
    <dgm:pt modelId="{836B4CA0-E9E9-4867-AE68-864BAEE98E7F}" type="pres">
      <dgm:prSet presAssocID="{85C22A65-D9CD-457E-90FC-54A04E679462}" presName="nodeTx" presStyleLbl="node1" presStyleIdx="0" presStyleCnt="5">
        <dgm:presLayoutVars>
          <dgm:bulletEnabled val="1"/>
        </dgm:presLayoutVars>
      </dgm:prSet>
      <dgm:spPr/>
    </dgm:pt>
    <dgm:pt modelId="{A8D79233-BA4F-42C8-B7C4-18DAF6293BCC}" type="pres">
      <dgm:prSet presAssocID="{85C22A65-D9CD-457E-90FC-54A04E679462}" presName="invisiNode" presStyleLbl="node1" presStyleIdx="0" presStyleCnt="5"/>
      <dgm:spPr/>
    </dgm:pt>
    <dgm:pt modelId="{85DC69AD-B0A9-4C91-BD33-E8E2E662B5BD}" type="pres">
      <dgm:prSet presAssocID="{85C22A65-D9CD-457E-90FC-54A04E679462}" presName="imagNode" presStyleLbl="fgImgPlace1" presStyleIdx="0" presStyleCnt="5"/>
      <dgm:spPr>
        <a:blipFill>
          <a:blip xmlns:r="http://schemas.openxmlformats.org/officeDocument/2006/relationships">
            <a:alphaModFix/>
            <a:extLst>
              <a:ext uri="{96DAC541-7B7A-43D3-8B79-37D633B846F1}">
                <asvg:svgBlip xmlns:asvg="http://schemas.microsoft.com/office/drawing/2016/SVG/main" r:embed="rId1"/>
              </a:ext>
            </a:extLst>
          </a:blip>
          <a:stretch>
            <a:fillRect/>
          </a:stretch>
        </a:blipFill>
        <a:ln>
          <a:solidFill>
            <a:schemeClr val="tx2">
              <a:lumMod val="75000"/>
            </a:schemeClr>
          </a:solidFill>
        </a:ln>
      </dgm:spPr>
    </dgm:pt>
    <dgm:pt modelId="{40F9C3FE-E129-40ED-A863-45D384D7FEE4}" type="pres">
      <dgm:prSet presAssocID="{2992FBAE-B68F-4A17-9E9B-E5162CE67164}" presName="sibTrans" presStyleLbl="sibTrans2D1" presStyleIdx="0" presStyleCnt="0"/>
      <dgm:spPr/>
    </dgm:pt>
    <dgm:pt modelId="{D4334134-F07B-4CB6-9342-D8DAB7ABF2A9}" type="pres">
      <dgm:prSet presAssocID="{4C7C8E93-04BB-4BE9-ADAC-BA529B5A7191}" presName="compNode" presStyleCnt="0"/>
      <dgm:spPr/>
    </dgm:pt>
    <dgm:pt modelId="{A69CF96E-A7DE-4E45-A45B-70481139A67E}" type="pres">
      <dgm:prSet presAssocID="{4C7C8E93-04BB-4BE9-ADAC-BA529B5A7191}" presName="bkgdShape" presStyleLbl="node1" presStyleIdx="1" presStyleCnt="5"/>
      <dgm:spPr/>
    </dgm:pt>
    <dgm:pt modelId="{A125F6D6-E7A7-425D-970B-B3C6C95AF839}" type="pres">
      <dgm:prSet presAssocID="{4C7C8E93-04BB-4BE9-ADAC-BA529B5A7191}" presName="nodeTx" presStyleLbl="node1" presStyleIdx="1" presStyleCnt="5">
        <dgm:presLayoutVars>
          <dgm:bulletEnabled val="1"/>
        </dgm:presLayoutVars>
      </dgm:prSet>
      <dgm:spPr/>
    </dgm:pt>
    <dgm:pt modelId="{D299114F-D217-4705-8781-7BC6B5302E6A}" type="pres">
      <dgm:prSet presAssocID="{4C7C8E93-04BB-4BE9-ADAC-BA529B5A7191}" presName="invisiNode" presStyleLbl="node1" presStyleIdx="1" presStyleCnt="5"/>
      <dgm:spPr/>
    </dgm:pt>
    <dgm:pt modelId="{EBA0200A-C908-413E-9B79-0C1C9E070E96}" type="pres">
      <dgm:prSet presAssocID="{4C7C8E93-04BB-4BE9-ADAC-BA529B5A7191}" presName="imagNode" presStyleLbl="fgImgPlac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solidFill>
            <a:schemeClr val="accent2">
              <a:lumMod val="75000"/>
            </a:schemeClr>
          </a:solidFill>
        </a:ln>
      </dgm:spPr>
      <dgm:extLst>
        <a:ext uri="{E40237B7-FDA0-4F09-8148-C483321AD2D9}">
          <dgm14:cNvPr xmlns:dgm14="http://schemas.microsoft.com/office/drawing/2010/diagram" id="0" name="" descr="Family with girl with solid fill"/>
        </a:ext>
      </dgm:extLst>
    </dgm:pt>
    <dgm:pt modelId="{89BAC2C2-D20D-44C6-9B38-1ED66A63759A}" type="pres">
      <dgm:prSet presAssocID="{AC9FA2BA-75C3-4F11-9B4C-8A3E04DF38C7}" presName="sibTrans" presStyleLbl="sibTrans2D1" presStyleIdx="0" presStyleCnt="0"/>
      <dgm:spPr/>
    </dgm:pt>
    <dgm:pt modelId="{1A4F1D30-2ED8-4CB8-AF0E-B6F0249BF228}" type="pres">
      <dgm:prSet presAssocID="{575EB003-5FAD-4FE6-93FE-892253193214}" presName="compNode" presStyleCnt="0"/>
      <dgm:spPr/>
    </dgm:pt>
    <dgm:pt modelId="{85B8E0F9-3B18-47CA-86DD-29CED24D6EB6}" type="pres">
      <dgm:prSet presAssocID="{575EB003-5FAD-4FE6-93FE-892253193214}" presName="bkgdShape" presStyleLbl="node1" presStyleIdx="2" presStyleCnt="5"/>
      <dgm:spPr/>
    </dgm:pt>
    <dgm:pt modelId="{8DF4F614-448E-4608-8D9D-8067C64B58A0}" type="pres">
      <dgm:prSet presAssocID="{575EB003-5FAD-4FE6-93FE-892253193214}" presName="nodeTx" presStyleLbl="node1" presStyleIdx="2" presStyleCnt="5">
        <dgm:presLayoutVars>
          <dgm:bulletEnabled val="1"/>
        </dgm:presLayoutVars>
      </dgm:prSet>
      <dgm:spPr/>
    </dgm:pt>
    <dgm:pt modelId="{FA72CFFB-4EAB-413E-854F-A72773CA5B0B}" type="pres">
      <dgm:prSet presAssocID="{575EB003-5FAD-4FE6-93FE-892253193214}" presName="invisiNode" presStyleLbl="node1" presStyleIdx="2" presStyleCnt="5"/>
      <dgm:spPr/>
    </dgm:pt>
    <dgm:pt modelId="{ACD2ACED-847C-4E84-96CC-E7B48F931109}" type="pres">
      <dgm:prSet presAssocID="{575EB003-5FAD-4FE6-93FE-892253193214}" presName="imagNode" presStyleLbl="fgImgPlac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solidFill>
            <a:schemeClr val="accent5">
              <a:lumMod val="75000"/>
            </a:schemeClr>
          </a:solidFill>
        </a:ln>
      </dgm:spPr>
      <dgm:extLst>
        <a:ext uri="{E40237B7-FDA0-4F09-8148-C483321AD2D9}">
          <dgm14:cNvPr xmlns:dgm14="http://schemas.microsoft.com/office/drawing/2010/diagram" id="0" name="" descr="Home with solid fill"/>
        </a:ext>
      </dgm:extLst>
    </dgm:pt>
    <dgm:pt modelId="{4C7A5279-BBF5-4E5D-842F-3AB1EBB81491}" type="pres">
      <dgm:prSet presAssocID="{671F52A1-7C31-4F4E-BB43-2C3F767B885C}" presName="sibTrans" presStyleLbl="sibTrans2D1" presStyleIdx="0" presStyleCnt="0"/>
      <dgm:spPr/>
    </dgm:pt>
    <dgm:pt modelId="{CFFBC479-C8F7-446A-A2CC-EB979EFCC644}" type="pres">
      <dgm:prSet presAssocID="{191F1335-D8FB-4867-8684-1BDEBE6BC990}" presName="compNode" presStyleCnt="0"/>
      <dgm:spPr/>
    </dgm:pt>
    <dgm:pt modelId="{90486CE5-6CC2-47FE-B922-43C155078C74}" type="pres">
      <dgm:prSet presAssocID="{191F1335-D8FB-4867-8684-1BDEBE6BC990}" presName="bkgdShape" presStyleLbl="node1" presStyleIdx="3" presStyleCnt="5"/>
      <dgm:spPr/>
    </dgm:pt>
    <dgm:pt modelId="{19277732-F9C3-4136-BB7C-E6FC5934346C}" type="pres">
      <dgm:prSet presAssocID="{191F1335-D8FB-4867-8684-1BDEBE6BC990}" presName="nodeTx" presStyleLbl="node1" presStyleIdx="3" presStyleCnt="5">
        <dgm:presLayoutVars>
          <dgm:bulletEnabled val="1"/>
        </dgm:presLayoutVars>
      </dgm:prSet>
      <dgm:spPr/>
    </dgm:pt>
    <dgm:pt modelId="{E35C7F57-9EE6-4D3F-9485-79003FF54966}" type="pres">
      <dgm:prSet presAssocID="{191F1335-D8FB-4867-8684-1BDEBE6BC990}" presName="invisiNode" presStyleLbl="node1" presStyleIdx="3" presStyleCnt="5"/>
      <dgm:spPr/>
    </dgm:pt>
    <dgm:pt modelId="{5F1D95E6-39A4-4E61-8A07-C7D0B10011B2}" type="pres">
      <dgm:prSet presAssocID="{191F1335-D8FB-4867-8684-1BDEBE6BC990}" presName="imagNode" presStyleLbl="fgImgPlac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solidFill>
            <a:schemeClr val="accent4">
              <a:lumMod val="75000"/>
            </a:schemeClr>
          </a:solidFill>
        </a:ln>
      </dgm:spPr>
      <dgm:extLst>
        <a:ext uri="{E40237B7-FDA0-4F09-8148-C483321AD2D9}">
          <dgm14:cNvPr xmlns:dgm14="http://schemas.microsoft.com/office/drawing/2010/diagram" id="0" name="" descr="Office worker female with solid fill"/>
        </a:ext>
      </dgm:extLst>
    </dgm:pt>
    <dgm:pt modelId="{C3077E06-02F4-488F-98A1-DAC3F6738B6A}" type="pres">
      <dgm:prSet presAssocID="{C549E027-20EB-452D-AE47-880972ED08C8}" presName="sibTrans" presStyleLbl="sibTrans2D1" presStyleIdx="0" presStyleCnt="0"/>
      <dgm:spPr/>
    </dgm:pt>
    <dgm:pt modelId="{DF52BE8C-EB65-40F2-9DF8-384B9D28552C}" type="pres">
      <dgm:prSet presAssocID="{FFF583C4-B91C-42E8-B77E-B98688E6D1F8}" presName="compNode" presStyleCnt="0"/>
      <dgm:spPr/>
    </dgm:pt>
    <dgm:pt modelId="{FC169443-8077-49B7-AF08-6C95B316AA17}" type="pres">
      <dgm:prSet presAssocID="{FFF583C4-B91C-42E8-B77E-B98688E6D1F8}" presName="bkgdShape" presStyleLbl="node1" presStyleIdx="4" presStyleCnt="5"/>
      <dgm:spPr/>
    </dgm:pt>
    <dgm:pt modelId="{CCF773B1-2AC8-411B-841B-396BAC867618}" type="pres">
      <dgm:prSet presAssocID="{FFF583C4-B91C-42E8-B77E-B98688E6D1F8}" presName="nodeTx" presStyleLbl="node1" presStyleIdx="4" presStyleCnt="5">
        <dgm:presLayoutVars>
          <dgm:bulletEnabled val="1"/>
        </dgm:presLayoutVars>
      </dgm:prSet>
      <dgm:spPr/>
    </dgm:pt>
    <dgm:pt modelId="{2FF7A7BE-4AAF-4F63-AA20-614540455939}" type="pres">
      <dgm:prSet presAssocID="{FFF583C4-B91C-42E8-B77E-B98688E6D1F8}" presName="invisiNode" presStyleLbl="node1" presStyleIdx="4" presStyleCnt="5"/>
      <dgm:spPr/>
    </dgm:pt>
    <dgm:pt modelId="{CF9AAE62-BB45-4C1C-A17F-9B73D125ECB5}" type="pres">
      <dgm:prSet presAssocID="{FFF583C4-B91C-42E8-B77E-B98688E6D1F8}" presName="imagNode" presStyleLbl="fgImgPlace1" presStyleIdx="4" presStyleCnt="5" custLinFactNeighborX="1848" custLinFactNeighborY="-59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solidFill>
            <a:schemeClr val="accent3">
              <a:lumMod val="75000"/>
            </a:schemeClr>
          </a:solidFill>
        </a:ln>
      </dgm:spPr>
      <dgm:extLst>
        <a:ext uri="{E40237B7-FDA0-4F09-8148-C483321AD2D9}">
          <dgm14:cNvPr xmlns:dgm14="http://schemas.microsoft.com/office/drawing/2010/diagram" id="0" name="" descr="Tax with solid fill"/>
        </a:ext>
      </dgm:extLst>
    </dgm:pt>
  </dgm:ptLst>
  <dgm:cxnLst>
    <dgm:cxn modelId="{32184106-5CD9-4B8C-9A4A-359B7DB11B3E}" srcId="{575EB003-5FAD-4FE6-93FE-892253193214}" destId="{4A264D96-7143-46A8-BA62-57D314A845E5}" srcOrd="1" destOrd="0" parTransId="{49FB3B8A-DF9E-4C1B-A4D2-AE879EEA42D7}" sibTransId="{2126AFF0-1B70-4D5B-A366-C9F8379438CC}"/>
    <dgm:cxn modelId="{9AF27E10-92C4-4EAE-992A-04C1F7CC0493}" type="presOf" srcId="{191F1335-D8FB-4867-8684-1BDEBE6BC990}" destId="{90486CE5-6CC2-47FE-B922-43C155078C74}" srcOrd="0" destOrd="0" presId="urn:microsoft.com/office/officeart/2005/8/layout/hList7"/>
    <dgm:cxn modelId="{373E031B-779B-4BF1-81E5-1E7819A80E98}" srcId="{E0C2B5E6-67C1-4B42-BE9D-8AEFC077FF0F}" destId="{575EB003-5FAD-4FE6-93FE-892253193214}" srcOrd="2" destOrd="0" parTransId="{8F804B53-C149-448F-B57B-DD222A4B524E}" sibTransId="{671F52A1-7C31-4F4E-BB43-2C3F767B885C}"/>
    <dgm:cxn modelId="{4039451B-8DA2-437F-BE90-3CFC5B93B927}" srcId="{FFF583C4-B91C-42E8-B77E-B98688E6D1F8}" destId="{B50CA05F-E4BF-4ED9-9361-3F72A3509A5D}" srcOrd="0" destOrd="0" parTransId="{6EDCEF7F-E023-4637-9AC7-55602A36C54A}" sibTransId="{54DBD454-D955-423D-9D20-39733042D477}"/>
    <dgm:cxn modelId="{6C6E8F20-37A7-4C3D-AAF5-3CF680D92BE6}" type="presOf" srcId="{AC9FA2BA-75C3-4F11-9B4C-8A3E04DF38C7}" destId="{89BAC2C2-D20D-44C6-9B38-1ED66A63759A}" srcOrd="0" destOrd="0" presId="urn:microsoft.com/office/officeart/2005/8/layout/hList7"/>
    <dgm:cxn modelId="{6BBA5121-2203-4EA3-AD1E-413D6DA19141}" srcId="{575EB003-5FAD-4FE6-93FE-892253193214}" destId="{CFF8AD4C-4F63-4EC7-956C-C9FAF64A73C9}" srcOrd="0" destOrd="0" parTransId="{2B354E59-44C3-4C70-9C34-FE896655B13C}" sibTransId="{DDF1271E-2BB2-4950-8C58-27C6851868B4}"/>
    <dgm:cxn modelId="{45E66724-146B-4601-8142-96F1C59B7E1A}" type="presOf" srcId="{0601114C-2441-4B34-8300-01180383234D}" destId="{836B4CA0-E9E9-4867-AE68-864BAEE98E7F}" srcOrd="1" destOrd="2" presId="urn:microsoft.com/office/officeart/2005/8/layout/hList7"/>
    <dgm:cxn modelId="{A5C21526-B10F-4F6F-B97A-6B68C9747D4A}" type="presOf" srcId="{C398B05C-5950-485E-B91D-C98C8B5892A6}" destId="{19277732-F9C3-4136-BB7C-E6FC5934346C}" srcOrd="1" destOrd="2" presId="urn:microsoft.com/office/officeart/2005/8/layout/hList7"/>
    <dgm:cxn modelId="{C0D1F826-9698-4C57-8ABB-889C91730998}" srcId="{E0C2B5E6-67C1-4B42-BE9D-8AEFC077FF0F}" destId="{191F1335-D8FB-4867-8684-1BDEBE6BC990}" srcOrd="3" destOrd="0" parTransId="{5F34B261-2904-4201-8E27-AF4AC516030E}" sibTransId="{C549E027-20EB-452D-AE47-880972ED08C8}"/>
    <dgm:cxn modelId="{F77BDE28-0A80-4BF9-BB63-A931895F4D9A}" type="presOf" srcId="{85C22A65-D9CD-457E-90FC-54A04E679462}" destId="{836B4CA0-E9E9-4867-AE68-864BAEE98E7F}" srcOrd="1" destOrd="0" presId="urn:microsoft.com/office/officeart/2005/8/layout/hList7"/>
    <dgm:cxn modelId="{1041E529-1E42-4628-B485-5D818C3E684C}" type="presOf" srcId="{4A264D96-7143-46A8-BA62-57D314A845E5}" destId="{8DF4F614-448E-4608-8D9D-8067C64B58A0}" srcOrd="1" destOrd="2" presId="urn:microsoft.com/office/officeart/2005/8/layout/hList7"/>
    <dgm:cxn modelId="{EC3BCB31-487D-4B91-B356-04C9B3C965F8}" type="presOf" srcId="{78F901AB-422E-40CC-ADD8-23AA3A230E67}" destId="{90486CE5-6CC2-47FE-B922-43C155078C74}" srcOrd="0" destOrd="1" presId="urn:microsoft.com/office/officeart/2005/8/layout/hList7"/>
    <dgm:cxn modelId="{60B1CB38-EE7B-41E4-8B4A-A63CED703AED}" type="presOf" srcId="{191F1335-D8FB-4867-8684-1BDEBE6BC990}" destId="{19277732-F9C3-4136-BB7C-E6FC5934346C}" srcOrd="1" destOrd="0" presId="urn:microsoft.com/office/officeart/2005/8/layout/hList7"/>
    <dgm:cxn modelId="{EAB71439-FC71-4221-AE13-33202C8F57C7}" srcId="{4C7C8E93-04BB-4BE9-ADAC-BA529B5A7191}" destId="{635FFEE5-7BAF-4E5F-A2B7-96DA0AB13B7A}" srcOrd="2" destOrd="0" parTransId="{83A1E3BB-6535-4C00-8379-2426284B9CFD}" sibTransId="{238AF3D3-6DB3-44F1-8814-490BC0A407AB}"/>
    <dgm:cxn modelId="{6FE33E3A-7B54-401B-85E9-64663EABB51E}" srcId="{4C7C8E93-04BB-4BE9-ADAC-BA529B5A7191}" destId="{73E9F7A8-E1FC-4A5E-9147-FEB01735256A}" srcOrd="1" destOrd="0" parTransId="{7C8C3BFC-ED67-4543-A8E6-E0C74E1A5D6A}" sibTransId="{DFCAEB76-CA4C-42C4-928E-C63604EB4035}"/>
    <dgm:cxn modelId="{6B63B460-A0D0-4CFA-BBDB-74115688FBED}" type="presOf" srcId="{B50CA05F-E4BF-4ED9-9361-3F72A3509A5D}" destId="{CCF773B1-2AC8-411B-841B-396BAC867618}" srcOrd="1" destOrd="1" presId="urn:microsoft.com/office/officeart/2005/8/layout/hList7"/>
    <dgm:cxn modelId="{22276862-C5DA-4E8B-806F-DF408AC73F82}" type="presOf" srcId="{3940D8BD-A369-4A1C-97B7-4E09C2FE5BD4}" destId="{A125F6D6-E7A7-425D-970B-B3C6C95AF839}" srcOrd="1" destOrd="1" presId="urn:microsoft.com/office/officeart/2005/8/layout/hList7"/>
    <dgm:cxn modelId="{A68DC342-F345-4AF3-9201-23FBA2F4F670}" type="presOf" srcId="{B50CA05F-E4BF-4ED9-9361-3F72A3509A5D}" destId="{FC169443-8077-49B7-AF08-6C95B316AA17}" srcOrd="0" destOrd="1" presId="urn:microsoft.com/office/officeart/2005/8/layout/hList7"/>
    <dgm:cxn modelId="{F9F3C344-6001-449E-A50C-DD4A66FB7787}" srcId="{85C22A65-D9CD-457E-90FC-54A04E679462}" destId="{2A09FF5A-E7AB-4518-9ACD-A8179F576867}" srcOrd="0" destOrd="0" parTransId="{95AF53A5-BBF4-4D2E-B4B6-AEBBE600F87A}" sibTransId="{E0068C39-E24A-4881-8EC7-89EFE7469F61}"/>
    <dgm:cxn modelId="{1ACDE865-13BC-444F-9E1D-19D5E68A6DC7}" type="presOf" srcId="{73E9F7A8-E1FC-4A5E-9147-FEB01735256A}" destId="{A69CF96E-A7DE-4E45-A45B-70481139A67E}" srcOrd="0" destOrd="2" presId="urn:microsoft.com/office/officeart/2005/8/layout/hList7"/>
    <dgm:cxn modelId="{DAD59C69-4E6A-41C9-92AE-BBF1B9253BD0}" type="presOf" srcId="{635FFEE5-7BAF-4E5F-A2B7-96DA0AB13B7A}" destId="{A125F6D6-E7A7-425D-970B-B3C6C95AF839}" srcOrd="1" destOrd="3" presId="urn:microsoft.com/office/officeart/2005/8/layout/hList7"/>
    <dgm:cxn modelId="{03ECBC6C-E683-4837-91C3-6637CE92EB2E}" type="presOf" srcId="{E4034C3B-E933-43EF-AB5E-D64733E4392B}" destId="{19277732-F9C3-4136-BB7C-E6FC5934346C}" srcOrd="1" destOrd="3" presId="urn:microsoft.com/office/officeart/2005/8/layout/hList7"/>
    <dgm:cxn modelId="{E9FF106E-122D-4496-B341-5D52CEFC613E}" type="presOf" srcId="{4C7C8E93-04BB-4BE9-ADAC-BA529B5A7191}" destId="{A69CF96E-A7DE-4E45-A45B-70481139A67E}" srcOrd="0" destOrd="0" presId="urn:microsoft.com/office/officeart/2005/8/layout/hList7"/>
    <dgm:cxn modelId="{CD5DAD70-C68C-44AD-919F-E7487ACD748E}" srcId="{191F1335-D8FB-4867-8684-1BDEBE6BC990}" destId="{78F901AB-422E-40CC-ADD8-23AA3A230E67}" srcOrd="0" destOrd="0" parTransId="{F718967D-3903-4169-B1D7-F4F44F2E6CCE}" sibTransId="{BEE9BB70-0424-4D25-9E43-D3DE24C02AD1}"/>
    <dgm:cxn modelId="{7CA4E470-04EF-49F9-83D1-801F58E8F0B6}" type="presOf" srcId="{091F3A81-AA88-46F7-897E-899031161181}" destId="{A29E77C6-8010-4DD5-8B76-AD0FE8725733}" srcOrd="0" destOrd="3" presId="urn:microsoft.com/office/officeart/2005/8/layout/hList7"/>
    <dgm:cxn modelId="{E03F4A55-FBC8-4060-9EFD-0EEA5FB4872B}" type="presOf" srcId="{2A09FF5A-E7AB-4518-9ACD-A8179F576867}" destId="{A29E77C6-8010-4DD5-8B76-AD0FE8725733}" srcOrd="0" destOrd="1" presId="urn:microsoft.com/office/officeart/2005/8/layout/hList7"/>
    <dgm:cxn modelId="{222CEA59-0580-433F-81BF-C5D41542B95A}" srcId="{85C22A65-D9CD-457E-90FC-54A04E679462}" destId="{091F3A81-AA88-46F7-897E-899031161181}" srcOrd="2" destOrd="0" parTransId="{177AC777-DA7C-4339-8561-E9EFC0693AEA}" sibTransId="{82ADE1C3-D87B-4AED-82E0-A11F5EF6C0F4}"/>
    <dgm:cxn modelId="{CA5A2C7A-7511-4439-951A-8A4C58BF5743}" type="presOf" srcId="{0601114C-2441-4B34-8300-01180383234D}" destId="{A29E77C6-8010-4DD5-8B76-AD0FE8725733}" srcOrd="0" destOrd="2" presId="urn:microsoft.com/office/officeart/2005/8/layout/hList7"/>
    <dgm:cxn modelId="{003CAF84-2606-42BA-AEEC-3B62B105EE20}" srcId="{E0C2B5E6-67C1-4B42-BE9D-8AEFC077FF0F}" destId="{4C7C8E93-04BB-4BE9-ADAC-BA529B5A7191}" srcOrd="1" destOrd="0" parTransId="{B735156E-EEA1-4218-BD58-05CFF3D91A50}" sibTransId="{AC9FA2BA-75C3-4F11-9B4C-8A3E04DF38C7}"/>
    <dgm:cxn modelId="{9E788E86-14A0-463E-8A91-5FDF9C0984C1}" srcId="{85C22A65-D9CD-457E-90FC-54A04E679462}" destId="{0601114C-2441-4B34-8300-01180383234D}" srcOrd="1" destOrd="0" parTransId="{2EA9F76D-3288-48E4-A395-3016A20E3966}" sibTransId="{BC8258DD-91AF-4FC3-973C-22892ECA0D89}"/>
    <dgm:cxn modelId="{92EBAC87-2276-4FE7-9038-6C647FC248C3}" type="presOf" srcId="{C398B05C-5950-485E-B91D-C98C8B5892A6}" destId="{90486CE5-6CC2-47FE-B922-43C155078C74}" srcOrd="0" destOrd="2" presId="urn:microsoft.com/office/officeart/2005/8/layout/hList7"/>
    <dgm:cxn modelId="{54A3F687-6F4D-41A2-800C-30BD6068791B}" type="presOf" srcId="{E0C2B5E6-67C1-4B42-BE9D-8AEFC077FF0F}" destId="{338A4185-B1D2-440E-A0E7-43D1107DF5AE}" srcOrd="0" destOrd="0" presId="urn:microsoft.com/office/officeart/2005/8/layout/hList7"/>
    <dgm:cxn modelId="{3719A988-8FE7-49BA-8968-A26D933EED2F}" srcId="{575EB003-5FAD-4FE6-93FE-892253193214}" destId="{465D76A8-7AC3-432B-9A2D-7380928AAACC}" srcOrd="2" destOrd="0" parTransId="{D2D75F89-FE00-4EAF-8DA1-016F27D6D535}" sibTransId="{B783A6FF-31E3-40E1-89B2-A1FB4943DFAE}"/>
    <dgm:cxn modelId="{7BD5DF88-91DD-4B41-977B-8071BB887133}" type="presOf" srcId="{3940D8BD-A369-4A1C-97B7-4E09C2FE5BD4}" destId="{A69CF96E-A7DE-4E45-A45B-70481139A67E}" srcOrd="0" destOrd="1" presId="urn:microsoft.com/office/officeart/2005/8/layout/hList7"/>
    <dgm:cxn modelId="{A783C189-A142-46C7-9D65-BFE310C4F997}" srcId="{FFF583C4-B91C-42E8-B77E-B98688E6D1F8}" destId="{988F1EE8-F831-4AAA-83D1-B798A1C494A2}" srcOrd="1" destOrd="0" parTransId="{5CA2C5FA-8C54-4659-A194-1F56047955A8}" sibTransId="{A8171AC6-8C03-4281-B2B9-C89DF13AE381}"/>
    <dgm:cxn modelId="{F844BF8A-C90E-42C9-A1B6-22286AA725A5}" type="presOf" srcId="{4A264D96-7143-46A8-BA62-57D314A845E5}" destId="{85B8E0F9-3B18-47CA-86DD-29CED24D6EB6}" srcOrd="0" destOrd="2" presId="urn:microsoft.com/office/officeart/2005/8/layout/hList7"/>
    <dgm:cxn modelId="{0026E896-8CED-4FEC-BDB8-1F86E4FBD79E}" type="presOf" srcId="{575EB003-5FAD-4FE6-93FE-892253193214}" destId="{85B8E0F9-3B18-47CA-86DD-29CED24D6EB6}" srcOrd="0" destOrd="0" presId="urn:microsoft.com/office/officeart/2005/8/layout/hList7"/>
    <dgm:cxn modelId="{76E4E1A7-EEF6-4502-98A4-D049F6E32BDC}" type="presOf" srcId="{CFF8AD4C-4F63-4EC7-956C-C9FAF64A73C9}" destId="{85B8E0F9-3B18-47CA-86DD-29CED24D6EB6}" srcOrd="0" destOrd="1" presId="urn:microsoft.com/office/officeart/2005/8/layout/hList7"/>
    <dgm:cxn modelId="{135B1EAD-64FC-4A1C-AA12-3E860A040E9F}" type="presOf" srcId="{2992FBAE-B68F-4A17-9E9B-E5162CE67164}" destId="{40F9C3FE-E129-40ED-A863-45D384D7FEE4}" srcOrd="0" destOrd="0" presId="urn:microsoft.com/office/officeart/2005/8/layout/hList7"/>
    <dgm:cxn modelId="{CDBEB5B5-F14F-43DD-AD0F-6F9B4E4B1171}" type="presOf" srcId="{4C7C8E93-04BB-4BE9-ADAC-BA529B5A7191}" destId="{A125F6D6-E7A7-425D-970B-B3C6C95AF839}" srcOrd="1" destOrd="0" presId="urn:microsoft.com/office/officeart/2005/8/layout/hList7"/>
    <dgm:cxn modelId="{B7CBC3B7-B11D-42BF-8B69-C99BC58773FB}" type="presOf" srcId="{E4034C3B-E933-43EF-AB5E-D64733E4392B}" destId="{90486CE5-6CC2-47FE-B922-43C155078C74}" srcOrd="0" destOrd="3" presId="urn:microsoft.com/office/officeart/2005/8/layout/hList7"/>
    <dgm:cxn modelId="{981EF1B7-13D0-48A9-BFE8-B68AE809B018}" type="presOf" srcId="{465D76A8-7AC3-432B-9A2D-7380928AAACC}" destId="{8DF4F614-448E-4608-8D9D-8067C64B58A0}" srcOrd="1" destOrd="3" presId="urn:microsoft.com/office/officeart/2005/8/layout/hList7"/>
    <dgm:cxn modelId="{4D3B5CBB-62A7-4522-8B1A-1B2562969224}" type="presOf" srcId="{CFF8AD4C-4F63-4EC7-956C-C9FAF64A73C9}" destId="{8DF4F614-448E-4608-8D9D-8067C64B58A0}" srcOrd="1" destOrd="1" presId="urn:microsoft.com/office/officeart/2005/8/layout/hList7"/>
    <dgm:cxn modelId="{151229BF-BC29-48E6-87A7-39C52C7ED510}" type="presOf" srcId="{73E9F7A8-E1FC-4A5E-9147-FEB01735256A}" destId="{A125F6D6-E7A7-425D-970B-B3C6C95AF839}" srcOrd="1" destOrd="2" presId="urn:microsoft.com/office/officeart/2005/8/layout/hList7"/>
    <dgm:cxn modelId="{93E155BF-8EAE-4E52-8DD0-A1CB3F1094F2}" srcId="{E0C2B5E6-67C1-4B42-BE9D-8AEFC077FF0F}" destId="{85C22A65-D9CD-457E-90FC-54A04E679462}" srcOrd="0" destOrd="0" parTransId="{B93638A8-D6A4-4C89-BDF8-D93EE89D0A8C}" sibTransId="{2992FBAE-B68F-4A17-9E9B-E5162CE67164}"/>
    <dgm:cxn modelId="{BA4F8AC4-B1FB-4C97-BD9B-F537A1E9AF2F}" type="presOf" srcId="{FFF583C4-B91C-42E8-B77E-B98688E6D1F8}" destId="{CCF773B1-2AC8-411B-841B-396BAC867618}" srcOrd="1" destOrd="0" presId="urn:microsoft.com/office/officeart/2005/8/layout/hList7"/>
    <dgm:cxn modelId="{8037CFC5-D3A4-4421-96AF-4783E2473917}" type="presOf" srcId="{091F3A81-AA88-46F7-897E-899031161181}" destId="{836B4CA0-E9E9-4867-AE68-864BAEE98E7F}" srcOrd="1" destOrd="3" presId="urn:microsoft.com/office/officeart/2005/8/layout/hList7"/>
    <dgm:cxn modelId="{5EA89DD4-44E6-40AD-809D-4B3DE6ACDEB4}" type="presOf" srcId="{FFF583C4-B91C-42E8-B77E-B98688E6D1F8}" destId="{FC169443-8077-49B7-AF08-6C95B316AA17}" srcOrd="0" destOrd="0" presId="urn:microsoft.com/office/officeart/2005/8/layout/hList7"/>
    <dgm:cxn modelId="{28F85BD6-F8A6-4537-9D11-BD4ECF3C535B}" type="presOf" srcId="{78F901AB-422E-40CC-ADD8-23AA3A230E67}" destId="{19277732-F9C3-4136-BB7C-E6FC5934346C}" srcOrd="1" destOrd="1" presId="urn:microsoft.com/office/officeart/2005/8/layout/hList7"/>
    <dgm:cxn modelId="{4577A1D6-E60F-43A1-B0AE-AEAFF9326403}" srcId="{E0C2B5E6-67C1-4B42-BE9D-8AEFC077FF0F}" destId="{FFF583C4-B91C-42E8-B77E-B98688E6D1F8}" srcOrd="4" destOrd="0" parTransId="{0A64C802-D9A8-4AF4-A8B1-10C56FE69724}" sibTransId="{9B0AECAC-827D-47C0-AF00-8D1A499D53B7}"/>
    <dgm:cxn modelId="{CBB7C9D9-1CE8-49B4-82BB-40244BA12A86}" type="presOf" srcId="{988F1EE8-F831-4AAA-83D1-B798A1C494A2}" destId="{CCF773B1-2AC8-411B-841B-396BAC867618}" srcOrd="1" destOrd="2" presId="urn:microsoft.com/office/officeart/2005/8/layout/hList7"/>
    <dgm:cxn modelId="{EFC35DDB-28B6-4866-8FA1-30E3C2E46BA7}" type="presOf" srcId="{C549E027-20EB-452D-AE47-880972ED08C8}" destId="{C3077E06-02F4-488F-98A1-DAC3F6738B6A}" srcOrd="0" destOrd="0" presId="urn:microsoft.com/office/officeart/2005/8/layout/hList7"/>
    <dgm:cxn modelId="{A52B02DD-BEB2-4D21-87BD-53FAE89596B4}" srcId="{191F1335-D8FB-4867-8684-1BDEBE6BC990}" destId="{C398B05C-5950-485E-B91D-C98C8B5892A6}" srcOrd="1" destOrd="0" parTransId="{F6DF67A0-4D30-4733-AE18-8E6DF4BFF744}" sibTransId="{BC77E228-BD5B-46B2-BD60-49D938ABADA4}"/>
    <dgm:cxn modelId="{199E13DE-8149-410F-9702-6CD632DFF949}" type="presOf" srcId="{85C22A65-D9CD-457E-90FC-54A04E679462}" destId="{A29E77C6-8010-4DD5-8B76-AD0FE8725733}" srcOrd="0" destOrd="0" presId="urn:microsoft.com/office/officeart/2005/8/layout/hList7"/>
    <dgm:cxn modelId="{B6D94EE3-89F9-4FD4-9FA6-CC6366ADC9B8}" type="presOf" srcId="{2A09FF5A-E7AB-4518-9ACD-A8179F576867}" destId="{836B4CA0-E9E9-4867-AE68-864BAEE98E7F}" srcOrd="1" destOrd="1" presId="urn:microsoft.com/office/officeart/2005/8/layout/hList7"/>
    <dgm:cxn modelId="{F1FAADE6-DCAC-4EB8-AD29-4EDB5CF740BD}" srcId="{191F1335-D8FB-4867-8684-1BDEBE6BC990}" destId="{E4034C3B-E933-43EF-AB5E-D64733E4392B}" srcOrd="2" destOrd="0" parTransId="{A7C245A1-683B-4842-948F-2205832CAC23}" sibTransId="{DB994A61-8DEF-4388-A154-FCFB8F303C9D}"/>
    <dgm:cxn modelId="{C6DA00EA-093B-4ED8-9088-90DDCCD841BC}" srcId="{4C7C8E93-04BB-4BE9-ADAC-BA529B5A7191}" destId="{3940D8BD-A369-4A1C-97B7-4E09C2FE5BD4}" srcOrd="0" destOrd="0" parTransId="{AEA10D38-1148-4011-9207-C773A8F9F80C}" sibTransId="{0003E25F-9417-4433-8C9F-4F8F13B601CA}"/>
    <dgm:cxn modelId="{5E7608EE-9294-49BE-A137-49B5B1743C46}" type="presOf" srcId="{635FFEE5-7BAF-4E5F-A2B7-96DA0AB13B7A}" destId="{A69CF96E-A7DE-4E45-A45B-70481139A67E}" srcOrd="0" destOrd="3" presId="urn:microsoft.com/office/officeart/2005/8/layout/hList7"/>
    <dgm:cxn modelId="{DD1124F4-4D6B-4CA2-9A1D-A1D613971208}" type="presOf" srcId="{988F1EE8-F831-4AAA-83D1-B798A1C494A2}" destId="{FC169443-8077-49B7-AF08-6C95B316AA17}" srcOrd="0" destOrd="2" presId="urn:microsoft.com/office/officeart/2005/8/layout/hList7"/>
    <dgm:cxn modelId="{066CCFF4-9B8A-4AA8-AD7A-DDDFCEBF39BB}" type="presOf" srcId="{575EB003-5FAD-4FE6-93FE-892253193214}" destId="{8DF4F614-448E-4608-8D9D-8067C64B58A0}" srcOrd="1" destOrd="0" presId="urn:microsoft.com/office/officeart/2005/8/layout/hList7"/>
    <dgm:cxn modelId="{11AFA0FA-F25C-4ACD-B6EB-B1FF26803943}" type="presOf" srcId="{671F52A1-7C31-4F4E-BB43-2C3F767B885C}" destId="{4C7A5279-BBF5-4E5D-842F-3AB1EBB81491}" srcOrd="0" destOrd="0" presId="urn:microsoft.com/office/officeart/2005/8/layout/hList7"/>
    <dgm:cxn modelId="{DD1FAFFD-DB01-4977-BBC0-FD48BC1EE871}" type="presOf" srcId="{465D76A8-7AC3-432B-9A2D-7380928AAACC}" destId="{85B8E0F9-3B18-47CA-86DD-29CED24D6EB6}" srcOrd="0" destOrd="3" presId="urn:microsoft.com/office/officeart/2005/8/layout/hList7"/>
    <dgm:cxn modelId="{16ACF27C-200E-4826-9F34-4C206262FE21}" type="presParOf" srcId="{338A4185-B1D2-440E-A0E7-43D1107DF5AE}" destId="{D3B8DC0D-5D4C-418A-87CE-3BC034DFC215}" srcOrd="0" destOrd="0" presId="urn:microsoft.com/office/officeart/2005/8/layout/hList7"/>
    <dgm:cxn modelId="{1F99C983-83A4-4EEC-8DFC-6760EC87B0CE}" type="presParOf" srcId="{338A4185-B1D2-440E-A0E7-43D1107DF5AE}" destId="{BC4D1A8D-953F-4FDB-B2A5-700D6EB02C02}" srcOrd="1" destOrd="0" presId="urn:microsoft.com/office/officeart/2005/8/layout/hList7"/>
    <dgm:cxn modelId="{6DABEBFA-5D8E-419D-AEFF-8D0B4B2DCA1F}" type="presParOf" srcId="{BC4D1A8D-953F-4FDB-B2A5-700D6EB02C02}" destId="{AD50AD09-7677-4C2C-A54C-F358234162ED}" srcOrd="0" destOrd="0" presId="urn:microsoft.com/office/officeart/2005/8/layout/hList7"/>
    <dgm:cxn modelId="{41E0D111-BDDB-49C6-A2AA-9EC84204C81F}" type="presParOf" srcId="{AD50AD09-7677-4C2C-A54C-F358234162ED}" destId="{A29E77C6-8010-4DD5-8B76-AD0FE8725733}" srcOrd="0" destOrd="0" presId="urn:microsoft.com/office/officeart/2005/8/layout/hList7"/>
    <dgm:cxn modelId="{FC0E9054-5D7A-4097-A939-0ABCC24A1B3C}" type="presParOf" srcId="{AD50AD09-7677-4C2C-A54C-F358234162ED}" destId="{836B4CA0-E9E9-4867-AE68-864BAEE98E7F}" srcOrd="1" destOrd="0" presId="urn:microsoft.com/office/officeart/2005/8/layout/hList7"/>
    <dgm:cxn modelId="{8C977910-5651-4656-9005-CCEAD4219E8A}" type="presParOf" srcId="{AD50AD09-7677-4C2C-A54C-F358234162ED}" destId="{A8D79233-BA4F-42C8-B7C4-18DAF6293BCC}" srcOrd="2" destOrd="0" presId="urn:microsoft.com/office/officeart/2005/8/layout/hList7"/>
    <dgm:cxn modelId="{7876F796-932D-4FEB-9B49-6C51B66FEAE8}" type="presParOf" srcId="{AD50AD09-7677-4C2C-A54C-F358234162ED}" destId="{85DC69AD-B0A9-4C91-BD33-E8E2E662B5BD}" srcOrd="3" destOrd="0" presId="urn:microsoft.com/office/officeart/2005/8/layout/hList7"/>
    <dgm:cxn modelId="{1CD62BDD-0EBF-4E3F-A584-24A79E60FDD6}" type="presParOf" srcId="{BC4D1A8D-953F-4FDB-B2A5-700D6EB02C02}" destId="{40F9C3FE-E129-40ED-A863-45D384D7FEE4}" srcOrd="1" destOrd="0" presId="urn:microsoft.com/office/officeart/2005/8/layout/hList7"/>
    <dgm:cxn modelId="{E19E7BDF-CBE4-4488-92ED-0B695C5FAC6E}" type="presParOf" srcId="{BC4D1A8D-953F-4FDB-B2A5-700D6EB02C02}" destId="{D4334134-F07B-4CB6-9342-D8DAB7ABF2A9}" srcOrd="2" destOrd="0" presId="urn:microsoft.com/office/officeart/2005/8/layout/hList7"/>
    <dgm:cxn modelId="{872289C3-74F7-49F1-9792-62A0144F5906}" type="presParOf" srcId="{D4334134-F07B-4CB6-9342-D8DAB7ABF2A9}" destId="{A69CF96E-A7DE-4E45-A45B-70481139A67E}" srcOrd="0" destOrd="0" presId="urn:microsoft.com/office/officeart/2005/8/layout/hList7"/>
    <dgm:cxn modelId="{915115E8-01FF-409D-BD08-7FD47254CD08}" type="presParOf" srcId="{D4334134-F07B-4CB6-9342-D8DAB7ABF2A9}" destId="{A125F6D6-E7A7-425D-970B-B3C6C95AF839}" srcOrd="1" destOrd="0" presId="urn:microsoft.com/office/officeart/2005/8/layout/hList7"/>
    <dgm:cxn modelId="{9F935E8D-23D6-4609-8CE1-C4D0898809CC}" type="presParOf" srcId="{D4334134-F07B-4CB6-9342-D8DAB7ABF2A9}" destId="{D299114F-D217-4705-8781-7BC6B5302E6A}" srcOrd="2" destOrd="0" presId="urn:microsoft.com/office/officeart/2005/8/layout/hList7"/>
    <dgm:cxn modelId="{784DA1F4-E66D-41C7-ABCC-C2578F67FA1A}" type="presParOf" srcId="{D4334134-F07B-4CB6-9342-D8DAB7ABF2A9}" destId="{EBA0200A-C908-413E-9B79-0C1C9E070E96}" srcOrd="3" destOrd="0" presId="urn:microsoft.com/office/officeart/2005/8/layout/hList7"/>
    <dgm:cxn modelId="{190EBE19-1E3C-498C-A6BB-D3D3963E1582}" type="presParOf" srcId="{BC4D1A8D-953F-4FDB-B2A5-700D6EB02C02}" destId="{89BAC2C2-D20D-44C6-9B38-1ED66A63759A}" srcOrd="3" destOrd="0" presId="urn:microsoft.com/office/officeart/2005/8/layout/hList7"/>
    <dgm:cxn modelId="{CE79C54E-433E-4566-ADB7-CCBD8357042D}" type="presParOf" srcId="{BC4D1A8D-953F-4FDB-B2A5-700D6EB02C02}" destId="{1A4F1D30-2ED8-4CB8-AF0E-B6F0249BF228}" srcOrd="4" destOrd="0" presId="urn:microsoft.com/office/officeart/2005/8/layout/hList7"/>
    <dgm:cxn modelId="{BCD66E2C-46F6-439A-A74E-EB73A4B50DBB}" type="presParOf" srcId="{1A4F1D30-2ED8-4CB8-AF0E-B6F0249BF228}" destId="{85B8E0F9-3B18-47CA-86DD-29CED24D6EB6}" srcOrd="0" destOrd="0" presId="urn:microsoft.com/office/officeart/2005/8/layout/hList7"/>
    <dgm:cxn modelId="{05DAFA11-B8E3-404E-8EC7-34A060BE64E1}" type="presParOf" srcId="{1A4F1D30-2ED8-4CB8-AF0E-B6F0249BF228}" destId="{8DF4F614-448E-4608-8D9D-8067C64B58A0}" srcOrd="1" destOrd="0" presId="urn:microsoft.com/office/officeart/2005/8/layout/hList7"/>
    <dgm:cxn modelId="{602F0410-9BD5-4D3D-A273-81AD8139DE08}" type="presParOf" srcId="{1A4F1D30-2ED8-4CB8-AF0E-B6F0249BF228}" destId="{FA72CFFB-4EAB-413E-854F-A72773CA5B0B}" srcOrd="2" destOrd="0" presId="urn:microsoft.com/office/officeart/2005/8/layout/hList7"/>
    <dgm:cxn modelId="{B832DA41-5ED4-4C13-95C5-ADCB912B5FEC}" type="presParOf" srcId="{1A4F1D30-2ED8-4CB8-AF0E-B6F0249BF228}" destId="{ACD2ACED-847C-4E84-96CC-E7B48F931109}" srcOrd="3" destOrd="0" presId="urn:microsoft.com/office/officeart/2005/8/layout/hList7"/>
    <dgm:cxn modelId="{CD6D0990-1E0F-4C51-9322-C8DD85BB1BF1}" type="presParOf" srcId="{BC4D1A8D-953F-4FDB-B2A5-700D6EB02C02}" destId="{4C7A5279-BBF5-4E5D-842F-3AB1EBB81491}" srcOrd="5" destOrd="0" presId="urn:microsoft.com/office/officeart/2005/8/layout/hList7"/>
    <dgm:cxn modelId="{5C0EE88E-B8A1-483C-8AD2-B6CDFDAD3503}" type="presParOf" srcId="{BC4D1A8D-953F-4FDB-B2A5-700D6EB02C02}" destId="{CFFBC479-C8F7-446A-A2CC-EB979EFCC644}" srcOrd="6" destOrd="0" presId="urn:microsoft.com/office/officeart/2005/8/layout/hList7"/>
    <dgm:cxn modelId="{78B07130-7C78-4905-9C25-E94FC2A55392}" type="presParOf" srcId="{CFFBC479-C8F7-446A-A2CC-EB979EFCC644}" destId="{90486CE5-6CC2-47FE-B922-43C155078C74}" srcOrd="0" destOrd="0" presId="urn:microsoft.com/office/officeart/2005/8/layout/hList7"/>
    <dgm:cxn modelId="{5C2392FB-91BA-413E-9DA1-6BB52BA69B2C}" type="presParOf" srcId="{CFFBC479-C8F7-446A-A2CC-EB979EFCC644}" destId="{19277732-F9C3-4136-BB7C-E6FC5934346C}" srcOrd="1" destOrd="0" presId="urn:microsoft.com/office/officeart/2005/8/layout/hList7"/>
    <dgm:cxn modelId="{4FCF1A06-FBDC-4AB5-9F67-2B02E9E9610F}" type="presParOf" srcId="{CFFBC479-C8F7-446A-A2CC-EB979EFCC644}" destId="{E35C7F57-9EE6-4D3F-9485-79003FF54966}" srcOrd="2" destOrd="0" presId="urn:microsoft.com/office/officeart/2005/8/layout/hList7"/>
    <dgm:cxn modelId="{4831D61A-DE20-4D29-B489-24D5FF7DB84B}" type="presParOf" srcId="{CFFBC479-C8F7-446A-A2CC-EB979EFCC644}" destId="{5F1D95E6-39A4-4E61-8A07-C7D0B10011B2}" srcOrd="3" destOrd="0" presId="urn:microsoft.com/office/officeart/2005/8/layout/hList7"/>
    <dgm:cxn modelId="{8AD2A73F-3E4A-4FE4-B83D-A8F9292599D5}" type="presParOf" srcId="{BC4D1A8D-953F-4FDB-B2A5-700D6EB02C02}" destId="{C3077E06-02F4-488F-98A1-DAC3F6738B6A}" srcOrd="7" destOrd="0" presId="urn:microsoft.com/office/officeart/2005/8/layout/hList7"/>
    <dgm:cxn modelId="{C5A467F7-00CC-4DFD-AF8F-CEB173F21F6F}" type="presParOf" srcId="{BC4D1A8D-953F-4FDB-B2A5-700D6EB02C02}" destId="{DF52BE8C-EB65-40F2-9DF8-384B9D28552C}" srcOrd="8" destOrd="0" presId="urn:microsoft.com/office/officeart/2005/8/layout/hList7"/>
    <dgm:cxn modelId="{EC3CD226-4B08-4116-A612-E5CFFA255573}" type="presParOf" srcId="{DF52BE8C-EB65-40F2-9DF8-384B9D28552C}" destId="{FC169443-8077-49B7-AF08-6C95B316AA17}" srcOrd="0" destOrd="0" presId="urn:microsoft.com/office/officeart/2005/8/layout/hList7"/>
    <dgm:cxn modelId="{CF9E6D8D-3784-425A-9099-FB542168528D}" type="presParOf" srcId="{DF52BE8C-EB65-40F2-9DF8-384B9D28552C}" destId="{CCF773B1-2AC8-411B-841B-396BAC867618}" srcOrd="1" destOrd="0" presId="urn:microsoft.com/office/officeart/2005/8/layout/hList7"/>
    <dgm:cxn modelId="{0BC46550-0404-4B4E-81E5-37178396CF7A}" type="presParOf" srcId="{DF52BE8C-EB65-40F2-9DF8-384B9D28552C}" destId="{2FF7A7BE-4AAF-4F63-AA20-614540455939}" srcOrd="2" destOrd="0" presId="urn:microsoft.com/office/officeart/2005/8/layout/hList7"/>
    <dgm:cxn modelId="{DD9D1F17-3412-48B6-8446-3EAD3954176B}" type="presParOf" srcId="{DF52BE8C-EB65-40F2-9DF8-384B9D28552C}" destId="{CF9AAE62-BB45-4C1C-A17F-9B73D125ECB5}" srcOrd="3" destOrd="0" presId="urn:microsoft.com/office/officeart/2005/8/layout/hList7"/>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39CD99A5-C742-41D5-A2E1-1EEDAF37EBFF}" type="doc">
      <dgm:prSet loTypeId="urn:microsoft.com/office/officeart/2005/8/layout/vList3" loCatId="list" qsTypeId="urn:microsoft.com/office/officeart/2005/8/quickstyle/simple1" qsCatId="simple" csTypeId="urn:microsoft.com/office/officeart/2005/8/colors/accent1_2" csCatId="accent1" phldr="1"/>
      <dgm:spPr/>
    </dgm:pt>
    <dgm:pt modelId="{D71AA2E5-6471-4346-B41B-48200E9B9964}">
      <dgm:prSet phldrT="[Text]"/>
      <dgm:spPr/>
      <dgm:t>
        <a:bodyPr/>
        <a:lstStyle/>
        <a:p>
          <a:pPr>
            <a:buFont typeface="Arial" panose="020B0604020202020204" pitchFamily="34" charset="0"/>
            <a:buChar char="•"/>
          </a:pPr>
          <a:r>
            <a:rPr lang="en-US">
              <a:solidFill>
                <a:schemeClr val="bg1"/>
              </a:solidFill>
              <a:latin typeface="Arial" panose="020B0604020202020204" pitchFamily="34" charset="0"/>
              <a:cs typeface="Arial" panose="020B0604020202020204" pitchFamily="34" charset="0"/>
            </a:rPr>
            <a:t>Review and amend tax code</a:t>
          </a:r>
          <a:endParaRPr lang="en-US">
            <a:latin typeface="Arial" panose="020B0604020202020204" pitchFamily="34" charset="0"/>
            <a:cs typeface="Arial" panose="020B0604020202020204" pitchFamily="34" charset="0"/>
          </a:endParaRPr>
        </a:p>
      </dgm:t>
    </dgm:pt>
    <dgm:pt modelId="{C34A8BEF-4946-4061-A1F9-3BCB45B35220}" type="parTrans" cxnId="{6195FC44-4267-4425-A420-7587408BDBA5}">
      <dgm:prSet/>
      <dgm:spPr/>
      <dgm:t>
        <a:bodyPr/>
        <a:lstStyle/>
        <a:p>
          <a:endParaRPr lang="en-US"/>
        </a:p>
      </dgm:t>
    </dgm:pt>
    <dgm:pt modelId="{D13FADA8-6E3C-4262-ABAA-F8C7C3F3688F}" type="sibTrans" cxnId="{6195FC44-4267-4425-A420-7587408BDBA5}">
      <dgm:prSet/>
      <dgm:spPr/>
      <dgm:t>
        <a:bodyPr/>
        <a:lstStyle/>
        <a:p>
          <a:endParaRPr lang="en-US"/>
        </a:p>
      </dgm:t>
    </dgm:pt>
    <dgm:pt modelId="{C5F60401-2C11-4212-BADF-DCA59A32710D}">
      <dgm:prSet/>
      <dgm:spPr/>
      <dgm:t>
        <a:bodyPr/>
        <a:lstStyle/>
        <a:p>
          <a:pPr rtl="0"/>
          <a:r>
            <a:rPr lang="en-US">
              <a:solidFill>
                <a:schemeClr val="bg1"/>
              </a:solidFill>
              <a:latin typeface="Arial"/>
              <a:cs typeface="Arial"/>
            </a:rPr>
            <a:t>explicit and implicit distortionary taxes</a:t>
          </a:r>
        </a:p>
      </dgm:t>
    </dgm:pt>
    <dgm:pt modelId="{AE91199B-0E58-4AFC-A238-02C10E56AED6}" type="parTrans" cxnId="{27BF27BE-8FB4-4DF3-B751-B22C5685D116}">
      <dgm:prSet/>
      <dgm:spPr/>
      <dgm:t>
        <a:bodyPr/>
        <a:lstStyle/>
        <a:p>
          <a:endParaRPr lang="en-US"/>
        </a:p>
      </dgm:t>
    </dgm:pt>
    <dgm:pt modelId="{CD7D2A14-6DD4-49EA-A317-1864C596875B}" type="sibTrans" cxnId="{27BF27BE-8FB4-4DF3-B751-B22C5685D116}">
      <dgm:prSet/>
      <dgm:spPr/>
      <dgm:t>
        <a:bodyPr/>
        <a:lstStyle/>
        <a:p>
          <a:endParaRPr lang="en-US"/>
        </a:p>
      </dgm:t>
    </dgm:pt>
    <dgm:pt modelId="{DC61ED91-0BB6-4DE9-B59F-D764FE34139E}">
      <dgm:prSet/>
      <dgm:spPr/>
      <dgm:t>
        <a:bodyPr/>
        <a:lstStyle/>
        <a:p>
          <a:r>
            <a:rPr lang="en-US">
              <a:solidFill>
                <a:schemeClr val="bg1"/>
              </a:solidFill>
              <a:latin typeface="Arial" panose="020B0604020202020204" pitchFamily="34" charset="0"/>
              <a:cs typeface="Arial" panose="020B0604020202020204" pitchFamily="34" charset="0"/>
            </a:rPr>
            <a:t>negative effect of progressivity for secondary earners</a:t>
          </a:r>
        </a:p>
      </dgm:t>
    </dgm:pt>
    <dgm:pt modelId="{ECAB4042-7E9A-433A-85A7-08678C0C6732}" type="parTrans" cxnId="{7A129F2D-0C0A-456E-8F6C-F2D0078FF179}">
      <dgm:prSet/>
      <dgm:spPr/>
      <dgm:t>
        <a:bodyPr/>
        <a:lstStyle/>
        <a:p>
          <a:endParaRPr lang="en-US"/>
        </a:p>
      </dgm:t>
    </dgm:pt>
    <dgm:pt modelId="{30F492A2-EFF0-4070-B74E-1BCBA5174E44}" type="sibTrans" cxnId="{7A129F2D-0C0A-456E-8F6C-F2D0078FF179}">
      <dgm:prSet/>
      <dgm:spPr/>
      <dgm:t>
        <a:bodyPr/>
        <a:lstStyle/>
        <a:p>
          <a:endParaRPr lang="en-US"/>
        </a:p>
      </dgm:t>
    </dgm:pt>
    <dgm:pt modelId="{EB14084D-A0FD-490B-A276-BF73C8AB0CEE}">
      <dgm:prSet/>
      <dgm:spPr/>
      <dgm:t>
        <a:bodyPr/>
        <a:lstStyle/>
        <a:p>
          <a:pPr algn="l"/>
          <a:r>
            <a:rPr lang="en-US">
              <a:solidFill>
                <a:schemeClr val="bg1"/>
              </a:solidFill>
              <a:latin typeface="Arial" panose="020B0604020202020204" pitchFamily="34" charset="0"/>
              <a:cs typeface="Arial" panose="020B0604020202020204" pitchFamily="34" charset="0"/>
            </a:rPr>
            <a:t>Introduce gender budgeting</a:t>
          </a:r>
        </a:p>
      </dgm:t>
    </dgm:pt>
    <dgm:pt modelId="{55F2AE53-9A85-45AC-87FE-81267978250D}" type="parTrans" cxnId="{BBB5977C-0529-4AD0-AE49-1AA809AF270C}">
      <dgm:prSet/>
      <dgm:spPr/>
      <dgm:t>
        <a:bodyPr/>
        <a:lstStyle/>
        <a:p>
          <a:endParaRPr lang="en-US"/>
        </a:p>
      </dgm:t>
    </dgm:pt>
    <dgm:pt modelId="{1C7347A1-50C1-4E85-B203-2E3A04E5B2B4}" type="sibTrans" cxnId="{BBB5977C-0529-4AD0-AE49-1AA809AF270C}">
      <dgm:prSet/>
      <dgm:spPr/>
      <dgm:t>
        <a:bodyPr/>
        <a:lstStyle/>
        <a:p>
          <a:endParaRPr lang="en-US"/>
        </a:p>
      </dgm:t>
    </dgm:pt>
    <dgm:pt modelId="{0A099296-F66F-40AE-9EBD-E2CE19B67AD0}">
      <dgm:prSet/>
      <dgm:spPr/>
      <dgm:t>
        <a:bodyPr/>
        <a:lstStyle/>
        <a:p>
          <a:r>
            <a:rPr lang="en-US">
              <a:solidFill>
                <a:schemeClr val="bg1"/>
              </a:solidFill>
              <a:latin typeface="Arial" panose="020B0604020202020204" pitchFamily="34" charset="0"/>
              <a:cs typeface="Arial" panose="020B0604020202020204" pitchFamily="34" charset="0"/>
            </a:rPr>
            <a:t>Design gender-responsive expenditures</a:t>
          </a:r>
        </a:p>
      </dgm:t>
    </dgm:pt>
    <dgm:pt modelId="{5990A0FE-3569-4FF7-B5EB-26051AB341F0}" type="parTrans" cxnId="{BFDC059B-F623-49C9-8B8C-58562491BE48}">
      <dgm:prSet/>
      <dgm:spPr/>
      <dgm:t>
        <a:bodyPr/>
        <a:lstStyle/>
        <a:p>
          <a:endParaRPr lang="en-US"/>
        </a:p>
      </dgm:t>
    </dgm:pt>
    <dgm:pt modelId="{03C08084-7A93-4AE9-82EB-F8F48C477678}" type="sibTrans" cxnId="{BFDC059B-F623-49C9-8B8C-58562491BE48}">
      <dgm:prSet/>
      <dgm:spPr/>
      <dgm:t>
        <a:bodyPr/>
        <a:lstStyle/>
        <a:p>
          <a:endParaRPr lang="en-US"/>
        </a:p>
      </dgm:t>
    </dgm:pt>
    <dgm:pt modelId="{3D55D22D-11DA-423F-AF83-A4D9D97B7ED0}">
      <dgm:prSet/>
      <dgm:spPr/>
      <dgm:t>
        <a:bodyPr/>
        <a:lstStyle/>
        <a:p>
          <a:r>
            <a:rPr lang="en-US">
              <a:solidFill>
                <a:schemeClr val="bg1"/>
              </a:solidFill>
              <a:latin typeface="Arial" panose="020B0604020202020204" pitchFamily="34" charset="0"/>
              <a:cs typeface="Arial" panose="020B0604020202020204" pitchFamily="34" charset="0"/>
            </a:rPr>
            <a:t>invest in child and elder care </a:t>
          </a:r>
        </a:p>
      </dgm:t>
    </dgm:pt>
    <dgm:pt modelId="{72B23070-EB40-4C39-B44E-96E448E6D4E6}" type="parTrans" cxnId="{BD803EDB-089C-4ED0-AC32-81D4F50F31AF}">
      <dgm:prSet/>
      <dgm:spPr/>
      <dgm:t>
        <a:bodyPr/>
        <a:lstStyle/>
        <a:p>
          <a:endParaRPr lang="en-US"/>
        </a:p>
      </dgm:t>
    </dgm:pt>
    <dgm:pt modelId="{1EFE70C8-07D5-4B6E-A6D2-C35B019D4CF6}" type="sibTrans" cxnId="{BD803EDB-089C-4ED0-AC32-81D4F50F31AF}">
      <dgm:prSet/>
      <dgm:spPr/>
      <dgm:t>
        <a:bodyPr/>
        <a:lstStyle/>
        <a:p>
          <a:endParaRPr lang="en-US"/>
        </a:p>
      </dgm:t>
    </dgm:pt>
    <dgm:pt modelId="{0189744C-F9A2-4EFF-98B5-7A9732230A42}">
      <dgm:prSet/>
      <dgm:spPr/>
      <dgm:t>
        <a:bodyPr/>
        <a:lstStyle/>
        <a:p>
          <a:r>
            <a:rPr lang="en-US">
              <a:solidFill>
                <a:schemeClr val="bg1"/>
              </a:solidFill>
              <a:latin typeface="Arial" panose="020B0604020202020204" pitchFamily="34" charset="0"/>
              <a:cs typeface="Arial" panose="020B0604020202020204" pitchFamily="34" charset="0"/>
            </a:rPr>
            <a:t>incentives for women in STEM</a:t>
          </a:r>
        </a:p>
      </dgm:t>
    </dgm:pt>
    <dgm:pt modelId="{51F7DCBF-A30A-4E1F-8A3E-F5AE76D9F403}" type="parTrans" cxnId="{8E99A45F-10C6-48E1-8A49-9FA111F48892}">
      <dgm:prSet/>
      <dgm:spPr/>
      <dgm:t>
        <a:bodyPr/>
        <a:lstStyle/>
        <a:p>
          <a:endParaRPr lang="en-US"/>
        </a:p>
      </dgm:t>
    </dgm:pt>
    <dgm:pt modelId="{51B3057C-56B0-44AC-82AA-95178513D625}" type="sibTrans" cxnId="{8E99A45F-10C6-48E1-8A49-9FA111F48892}">
      <dgm:prSet/>
      <dgm:spPr/>
      <dgm:t>
        <a:bodyPr/>
        <a:lstStyle/>
        <a:p>
          <a:endParaRPr lang="en-US"/>
        </a:p>
      </dgm:t>
    </dgm:pt>
    <dgm:pt modelId="{FB1B4355-C28E-40A8-92B6-1F14E6A16EDB}">
      <dgm:prSet/>
      <dgm:spPr/>
      <dgm:t>
        <a:bodyPr/>
        <a:lstStyle/>
        <a:p>
          <a:pPr algn="l"/>
          <a:r>
            <a:rPr lang="en-US">
              <a:solidFill>
                <a:schemeClr val="bg1"/>
              </a:solidFill>
              <a:latin typeface="Arial"/>
              <a:cs typeface="Arial"/>
            </a:rPr>
            <a:t>Invest in digital infrastructure and render it accessible to teleworkers</a:t>
          </a:r>
        </a:p>
      </dgm:t>
    </dgm:pt>
    <dgm:pt modelId="{555C5768-2262-4EAB-AF62-D7E3EBBB57F6}" type="parTrans" cxnId="{7555E4EB-4BD0-41AE-A6B4-068DE40FDB44}">
      <dgm:prSet/>
      <dgm:spPr/>
      <dgm:t>
        <a:bodyPr/>
        <a:lstStyle/>
        <a:p>
          <a:endParaRPr lang="en-US"/>
        </a:p>
      </dgm:t>
    </dgm:pt>
    <dgm:pt modelId="{962C901A-1FE3-4373-B6B8-36C0BCF27F33}" type="sibTrans" cxnId="{7555E4EB-4BD0-41AE-A6B4-068DE40FDB44}">
      <dgm:prSet/>
      <dgm:spPr/>
      <dgm:t>
        <a:bodyPr/>
        <a:lstStyle/>
        <a:p>
          <a:endParaRPr lang="en-US"/>
        </a:p>
      </dgm:t>
    </dgm:pt>
    <dgm:pt modelId="{D6FC824D-A9DF-476B-B9F3-E5211AFFC39B}" type="pres">
      <dgm:prSet presAssocID="{39CD99A5-C742-41D5-A2E1-1EEDAF37EBFF}" presName="linearFlow" presStyleCnt="0">
        <dgm:presLayoutVars>
          <dgm:dir/>
          <dgm:resizeHandles val="exact"/>
        </dgm:presLayoutVars>
      </dgm:prSet>
      <dgm:spPr/>
    </dgm:pt>
    <dgm:pt modelId="{E3CE3484-12A8-46D2-B75E-8AA12B58B655}" type="pres">
      <dgm:prSet presAssocID="{D71AA2E5-6471-4346-B41B-48200E9B9964}" presName="composite" presStyleCnt="0"/>
      <dgm:spPr/>
    </dgm:pt>
    <dgm:pt modelId="{C533C2D2-0B81-4C0A-9A94-B527FF3273CA}" type="pres">
      <dgm:prSet presAssocID="{D71AA2E5-6471-4346-B41B-48200E9B9964}" presName="imgShp" presStyleLbl="fgImgPlac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Folder Search outline"/>
        </a:ext>
      </dgm:extLst>
    </dgm:pt>
    <dgm:pt modelId="{7DBE7D2A-E4E9-4A8E-AC56-C95843F8A469}" type="pres">
      <dgm:prSet presAssocID="{D71AA2E5-6471-4346-B41B-48200E9B9964}" presName="txShp" presStyleLbl="node1" presStyleIdx="0" presStyleCnt="4">
        <dgm:presLayoutVars>
          <dgm:bulletEnabled val="1"/>
        </dgm:presLayoutVars>
      </dgm:prSet>
      <dgm:spPr/>
    </dgm:pt>
    <dgm:pt modelId="{954A84BC-8758-4594-8A3C-12C729E2AE8A}" type="pres">
      <dgm:prSet presAssocID="{D13FADA8-6E3C-4262-ABAA-F8C7C3F3688F}" presName="spacing" presStyleCnt="0"/>
      <dgm:spPr/>
    </dgm:pt>
    <dgm:pt modelId="{FB7E7A03-0CA8-428C-8140-C776799B5975}" type="pres">
      <dgm:prSet presAssocID="{EB14084D-A0FD-490B-A276-BF73C8AB0CEE}" presName="composite" presStyleCnt="0"/>
      <dgm:spPr/>
    </dgm:pt>
    <dgm:pt modelId="{974C0D88-ADB9-429E-BD5A-872558FE1A0D}" type="pres">
      <dgm:prSet presAssocID="{EB14084D-A0FD-490B-A276-BF73C8AB0CEE}" presName="imgShp" presStyleLbl="fgImgPlac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Tax outline"/>
        </a:ext>
      </dgm:extLst>
    </dgm:pt>
    <dgm:pt modelId="{4354C957-A4C5-4D16-8CAA-651E24C1CFFE}" type="pres">
      <dgm:prSet presAssocID="{EB14084D-A0FD-490B-A276-BF73C8AB0CEE}" presName="txShp" presStyleLbl="node1" presStyleIdx="1" presStyleCnt="4">
        <dgm:presLayoutVars>
          <dgm:bulletEnabled val="1"/>
        </dgm:presLayoutVars>
      </dgm:prSet>
      <dgm:spPr/>
    </dgm:pt>
    <dgm:pt modelId="{D947FF90-0A3B-4E7A-8785-FC33D243F506}" type="pres">
      <dgm:prSet presAssocID="{1C7347A1-50C1-4E85-B203-2E3A04E5B2B4}" presName="spacing" presStyleCnt="0"/>
      <dgm:spPr/>
    </dgm:pt>
    <dgm:pt modelId="{AC237204-7EA7-401E-8877-747D88190C72}" type="pres">
      <dgm:prSet presAssocID="{0A099296-F66F-40AE-9EBD-E2CE19B67AD0}" presName="composite" presStyleCnt="0"/>
      <dgm:spPr/>
    </dgm:pt>
    <dgm:pt modelId="{A8ADA01B-97C4-400B-8291-DA2A77B10AA8}" type="pres">
      <dgm:prSet presAssocID="{0A099296-F66F-40AE-9EBD-E2CE19B67AD0}" presName="imgShp" presStyleLbl="fgImgPlac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Money outline"/>
        </a:ext>
      </dgm:extLst>
    </dgm:pt>
    <dgm:pt modelId="{CE48979C-ED0B-435F-9610-1538778D0D89}" type="pres">
      <dgm:prSet presAssocID="{0A099296-F66F-40AE-9EBD-E2CE19B67AD0}" presName="txShp" presStyleLbl="node1" presStyleIdx="2" presStyleCnt="4">
        <dgm:presLayoutVars>
          <dgm:bulletEnabled val="1"/>
        </dgm:presLayoutVars>
      </dgm:prSet>
      <dgm:spPr/>
    </dgm:pt>
    <dgm:pt modelId="{155804A1-9331-4601-9D8F-34EF08911B19}" type="pres">
      <dgm:prSet presAssocID="{03C08084-7A93-4AE9-82EB-F8F48C477678}" presName="spacing" presStyleCnt="0"/>
      <dgm:spPr/>
    </dgm:pt>
    <dgm:pt modelId="{E91D44DF-5625-4CB6-B132-4519E28C59D8}" type="pres">
      <dgm:prSet presAssocID="{FB1B4355-C28E-40A8-92B6-1F14E6A16EDB}" presName="composite" presStyleCnt="0"/>
      <dgm:spPr/>
    </dgm:pt>
    <dgm:pt modelId="{209EC6CA-920E-4FA5-B980-D54F305142C2}" type="pres">
      <dgm:prSet presAssocID="{FB1B4355-C28E-40A8-92B6-1F14E6A16EDB}" presName="imgShp" presStyleLbl="fgImgPlac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Internet outline"/>
        </a:ext>
      </dgm:extLst>
    </dgm:pt>
    <dgm:pt modelId="{8371214A-F046-47D9-AC05-F1B7892FD4A0}" type="pres">
      <dgm:prSet presAssocID="{FB1B4355-C28E-40A8-92B6-1F14E6A16EDB}" presName="txShp" presStyleLbl="node1" presStyleIdx="3" presStyleCnt="4">
        <dgm:presLayoutVars>
          <dgm:bulletEnabled val="1"/>
        </dgm:presLayoutVars>
      </dgm:prSet>
      <dgm:spPr/>
    </dgm:pt>
  </dgm:ptLst>
  <dgm:cxnLst>
    <dgm:cxn modelId="{3C254106-BC4A-45C8-9971-3FDC4A0453A2}" type="presOf" srcId="{0A099296-F66F-40AE-9EBD-E2CE19B67AD0}" destId="{CE48979C-ED0B-435F-9610-1538778D0D89}" srcOrd="0" destOrd="0" presId="urn:microsoft.com/office/officeart/2005/8/layout/vList3"/>
    <dgm:cxn modelId="{7A129F2D-0C0A-456E-8F6C-F2D0078FF179}" srcId="{D71AA2E5-6471-4346-B41B-48200E9B9964}" destId="{DC61ED91-0BB6-4DE9-B59F-D764FE34139E}" srcOrd="1" destOrd="0" parTransId="{ECAB4042-7E9A-433A-85A7-08678C0C6732}" sibTransId="{30F492A2-EFF0-4070-B74E-1BCBA5174E44}"/>
    <dgm:cxn modelId="{94D14F3C-C84C-4B76-8C71-7BC8DE10AA65}" type="presOf" srcId="{3D55D22D-11DA-423F-AF83-A4D9D97B7ED0}" destId="{CE48979C-ED0B-435F-9610-1538778D0D89}" srcOrd="0" destOrd="1" presId="urn:microsoft.com/office/officeart/2005/8/layout/vList3"/>
    <dgm:cxn modelId="{93431B5C-FD64-46A7-8298-DEE700C309B8}" type="presOf" srcId="{0189744C-F9A2-4EFF-98B5-7A9732230A42}" destId="{CE48979C-ED0B-435F-9610-1538778D0D89}" srcOrd="0" destOrd="2" presId="urn:microsoft.com/office/officeart/2005/8/layout/vList3"/>
    <dgm:cxn modelId="{8E99A45F-10C6-48E1-8A49-9FA111F48892}" srcId="{0A099296-F66F-40AE-9EBD-E2CE19B67AD0}" destId="{0189744C-F9A2-4EFF-98B5-7A9732230A42}" srcOrd="1" destOrd="0" parTransId="{51F7DCBF-A30A-4E1F-8A3E-F5AE76D9F403}" sibTransId="{51B3057C-56B0-44AC-82AA-95178513D625}"/>
    <dgm:cxn modelId="{6195FC44-4267-4425-A420-7587408BDBA5}" srcId="{39CD99A5-C742-41D5-A2E1-1EEDAF37EBFF}" destId="{D71AA2E5-6471-4346-B41B-48200E9B9964}" srcOrd="0" destOrd="0" parTransId="{C34A8BEF-4946-4061-A1F9-3BCB45B35220}" sibTransId="{D13FADA8-6E3C-4262-ABAA-F8C7C3F3688F}"/>
    <dgm:cxn modelId="{D6CE755A-8FB4-4E25-9409-2A0761FAB2C7}" type="presOf" srcId="{FB1B4355-C28E-40A8-92B6-1F14E6A16EDB}" destId="{8371214A-F046-47D9-AC05-F1B7892FD4A0}" srcOrd="0" destOrd="0" presId="urn:microsoft.com/office/officeart/2005/8/layout/vList3"/>
    <dgm:cxn modelId="{BBB5977C-0529-4AD0-AE49-1AA809AF270C}" srcId="{39CD99A5-C742-41D5-A2E1-1EEDAF37EBFF}" destId="{EB14084D-A0FD-490B-A276-BF73C8AB0CEE}" srcOrd="1" destOrd="0" parTransId="{55F2AE53-9A85-45AC-87FE-81267978250D}" sibTransId="{1C7347A1-50C1-4E85-B203-2E3A04E5B2B4}"/>
    <dgm:cxn modelId="{BFDC059B-F623-49C9-8B8C-58562491BE48}" srcId="{39CD99A5-C742-41D5-A2E1-1EEDAF37EBFF}" destId="{0A099296-F66F-40AE-9EBD-E2CE19B67AD0}" srcOrd="2" destOrd="0" parTransId="{5990A0FE-3569-4FF7-B5EB-26051AB341F0}" sibTransId="{03C08084-7A93-4AE9-82EB-F8F48C477678}"/>
    <dgm:cxn modelId="{7FA806A8-832C-4BA4-BFD7-3D1671F83C41}" type="presOf" srcId="{EB14084D-A0FD-490B-A276-BF73C8AB0CEE}" destId="{4354C957-A4C5-4D16-8CAA-651E24C1CFFE}" srcOrd="0" destOrd="0" presId="urn:microsoft.com/office/officeart/2005/8/layout/vList3"/>
    <dgm:cxn modelId="{9A577DA9-5E3F-4781-8F90-52BCEAA9F473}" type="presOf" srcId="{DC61ED91-0BB6-4DE9-B59F-D764FE34139E}" destId="{7DBE7D2A-E4E9-4A8E-AC56-C95843F8A469}" srcOrd="0" destOrd="2" presId="urn:microsoft.com/office/officeart/2005/8/layout/vList3"/>
    <dgm:cxn modelId="{27BF27BE-8FB4-4DF3-B751-B22C5685D116}" srcId="{D71AA2E5-6471-4346-B41B-48200E9B9964}" destId="{C5F60401-2C11-4212-BADF-DCA59A32710D}" srcOrd="0" destOrd="0" parTransId="{AE91199B-0E58-4AFC-A238-02C10E56AED6}" sibTransId="{CD7D2A14-6DD4-49EA-A317-1864C596875B}"/>
    <dgm:cxn modelId="{C93B48D1-40B4-40EE-BC08-20C8B5A6662A}" type="presOf" srcId="{39CD99A5-C742-41D5-A2E1-1EEDAF37EBFF}" destId="{D6FC824D-A9DF-476B-B9F3-E5211AFFC39B}" srcOrd="0" destOrd="0" presId="urn:microsoft.com/office/officeart/2005/8/layout/vList3"/>
    <dgm:cxn modelId="{BD803EDB-089C-4ED0-AC32-81D4F50F31AF}" srcId="{0A099296-F66F-40AE-9EBD-E2CE19B67AD0}" destId="{3D55D22D-11DA-423F-AF83-A4D9D97B7ED0}" srcOrd="0" destOrd="0" parTransId="{72B23070-EB40-4C39-B44E-96E448E6D4E6}" sibTransId="{1EFE70C8-07D5-4B6E-A6D2-C35B019D4CF6}"/>
    <dgm:cxn modelId="{D896A8DC-A3B4-484F-8B97-B2CA9109D9DE}" type="presOf" srcId="{C5F60401-2C11-4212-BADF-DCA59A32710D}" destId="{7DBE7D2A-E4E9-4A8E-AC56-C95843F8A469}" srcOrd="0" destOrd="1" presId="urn:microsoft.com/office/officeart/2005/8/layout/vList3"/>
    <dgm:cxn modelId="{7555E4EB-4BD0-41AE-A6B4-068DE40FDB44}" srcId="{39CD99A5-C742-41D5-A2E1-1EEDAF37EBFF}" destId="{FB1B4355-C28E-40A8-92B6-1F14E6A16EDB}" srcOrd="3" destOrd="0" parTransId="{555C5768-2262-4EAB-AF62-D7E3EBBB57F6}" sibTransId="{962C901A-1FE3-4373-B6B8-36C0BCF27F33}"/>
    <dgm:cxn modelId="{66144BEE-1FBA-446A-9C75-E78866AADD37}" type="presOf" srcId="{D71AA2E5-6471-4346-B41B-48200E9B9964}" destId="{7DBE7D2A-E4E9-4A8E-AC56-C95843F8A469}" srcOrd="0" destOrd="0" presId="urn:microsoft.com/office/officeart/2005/8/layout/vList3"/>
    <dgm:cxn modelId="{04B4BA00-43ED-4ABA-BBA1-40ECC6898BC3}" type="presParOf" srcId="{D6FC824D-A9DF-476B-B9F3-E5211AFFC39B}" destId="{E3CE3484-12A8-46D2-B75E-8AA12B58B655}" srcOrd="0" destOrd="0" presId="urn:microsoft.com/office/officeart/2005/8/layout/vList3"/>
    <dgm:cxn modelId="{608C8D93-B5CF-40AE-AE62-99999A817198}" type="presParOf" srcId="{E3CE3484-12A8-46D2-B75E-8AA12B58B655}" destId="{C533C2D2-0B81-4C0A-9A94-B527FF3273CA}" srcOrd="0" destOrd="0" presId="urn:microsoft.com/office/officeart/2005/8/layout/vList3"/>
    <dgm:cxn modelId="{A1E38C26-9A52-478C-80B5-F081DAA4F6C7}" type="presParOf" srcId="{E3CE3484-12A8-46D2-B75E-8AA12B58B655}" destId="{7DBE7D2A-E4E9-4A8E-AC56-C95843F8A469}" srcOrd="1" destOrd="0" presId="urn:microsoft.com/office/officeart/2005/8/layout/vList3"/>
    <dgm:cxn modelId="{DE8EE68F-C6D7-4259-980E-077518547BC9}" type="presParOf" srcId="{D6FC824D-A9DF-476B-B9F3-E5211AFFC39B}" destId="{954A84BC-8758-4594-8A3C-12C729E2AE8A}" srcOrd="1" destOrd="0" presId="urn:microsoft.com/office/officeart/2005/8/layout/vList3"/>
    <dgm:cxn modelId="{FE7BFDD2-0166-4FDF-B99F-9362F004F223}" type="presParOf" srcId="{D6FC824D-A9DF-476B-B9F3-E5211AFFC39B}" destId="{FB7E7A03-0CA8-428C-8140-C776799B5975}" srcOrd="2" destOrd="0" presId="urn:microsoft.com/office/officeart/2005/8/layout/vList3"/>
    <dgm:cxn modelId="{5F48A10B-DF84-4879-8DDD-2197748F3C5F}" type="presParOf" srcId="{FB7E7A03-0CA8-428C-8140-C776799B5975}" destId="{974C0D88-ADB9-429E-BD5A-872558FE1A0D}" srcOrd="0" destOrd="0" presId="urn:microsoft.com/office/officeart/2005/8/layout/vList3"/>
    <dgm:cxn modelId="{8CCACADF-6DB8-4C1B-BA6D-EFBE681FBFA8}" type="presParOf" srcId="{FB7E7A03-0CA8-428C-8140-C776799B5975}" destId="{4354C957-A4C5-4D16-8CAA-651E24C1CFFE}" srcOrd="1" destOrd="0" presId="urn:microsoft.com/office/officeart/2005/8/layout/vList3"/>
    <dgm:cxn modelId="{8A37C062-72EC-46C8-83F1-C23D8232E6E7}" type="presParOf" srcId="{D6FC824D-A9DF-476B-B9F3-E5211AFFC39B}" destId="{D947FF90-0A3B-4E7A-8785-FC33D243F506}" srcOrd="3" destOrd="0" presId="urn:microsoft.com/office/officeart/2005/8/layout/vList3"/>
    <dgm:cxn modelId="{5B129784-D26F-4742-BFCE-85FFC5BA3560}" type="presParOf" srcId="{D6FC824D-A9DF-476B-B9F3-E5211AFFC39B}" destId="{AC237204-7EA7-401E-8877-747D88190C72}" srcOrd="4" destOrd="0" presId="urn:microsoft.com/office/officeart/2005/8/layout/vList3"/>
    <dgm:cxn modelId="{D918996C-BA25-437F-AA48-D7EE401A5299}" type="presParOf" srcId="{AC237204-7EA7-401E-8877-747D88190C72}" destId="{A8ADA01B-97C4-400B-8291-DA2A77B10AA8}" srcOrd="0" destOrd="0" presId="urn:microsoft.com/office/officeart/2005/8/layout/vList3"/>
    <dgm:cxn modelId="{61567E97-C119-495D-8EB3-D9D05CF695FA}" type="presParOf" srcId="{AC237204-7EA7-401E-8877-747D88190C72}" destId="{CE48979C-ED0B-435F-9610-1538778D0D89}" srcOrd="1" destOrd="0" presId="urn:microsoft.com/office/officeart/2005/8/layout/vList3"/>
    <dgm:cxn modelId="{8458E1C2-57C5-4B9D-8577-8986339D663C}" type="presParOf" srcId="{D6FC824D-A9DF-476B-B9F3-E5211AFFC39B}" destId="{155804A1-9331-4601-9D8F-34EF08911B19}" srcOrd="5" destOrd="0" presId="urn:microsoft.com/office/officeart/2005/8/layout/vList3"/>
    <dgm:cxn modelId="{B2535EB4-BA05-4608-8364-6C008867B23F}" type="presParOf" srcId="{D6FC824D-A9DF-476B-B9F3-E5211AFFC39B}" destId="{E91D44DF-5625-4CB6-B132-4519E28C59D8}" srcOrd="6" destOrd="0" presId="urn:microsoft.com/office/officeart/2005/8/layout/vList3"/>
    <dgm:cxn modelId="{BC01E73F-C8F9-467A-A75E-14F6D1310D2F}" type="presParOf" srcId="{E91D44DF-5625-4CB6-B132-4519E28C59D8}" destId="{209EC6CA-920E-4FA5-B980-D54F305142C2}" srcOrd="0" destOrd="0" presId="urn:microsoft.com/office/officeart/2005/8/layout/vList3"/>
    <dgm:cxn modelId="{9D94969A-4451-4C74-B707-528CD5A78F22}" type="presParOf" srcId="{E91D44DF-5625-4CB6-B132-4519E28C59D8}" destId="{8371214A-F046-47D9-AC05-F1B7892FD4A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9CD99A5-C742-41D5-A2E1-1EEDAF37EBF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C5F60401-2C11-4212-BADF-DCA59A32710D}">
      <dgm:prSet/>
      <dgm:spPr/>
      <dgm:t>
        <a:bodyPr/>
        <a:lstStyle/>
        <a:p>
          <a:r>
            <a:rPr lang="en-US" b="1">
              <a:latin typeface="Arial" panose="020B0604020202020204" pitchFamily="34" charset="0"/>
              <a:cs typeface="Arial" panose="020B0604020202020204" pitchFamily="34" charset="0"/>
            </a:rPr>
            <a:t>Reduce inefficiencies in tax administration</a:t>
          </a:r>
          <a:endParaRPr lang="en-US">
            <a:solidFill>
              <a:schemeClr val="bg1"/>
            </a:solidFill>
            <a:latin typeface="Arial" panose="020B0604020202020204" pitchFamily="34" charset="0"/>
            <a:cs typeface="Arial" panose="020B0604020202020204" pitchFamily="34" charset="0"/>
          </a:endParaRPr>
        </a:p>
      </dgm:t>
    </dgm:pt>
    <dgm:pt modelId="{AE91199B-0E58-4AFC-A238-02C10E56AED6}" type="parTrans" cxnId="{27BF27BE-8FB4-4DF3-B751-B22C5685D116}">
      <dgm:prSet/>
      <dgm:spPr/>
      <dgm:t>
        <a:bodyPr/>
        <a:lstStyle/>
        <a:p>
          <a:endParaRPr lang="en-US"/>
        </a:p>
      </dgm:t>
    </dgm:pt>
    <dgm:pt modelId="{CD7D2A14-6DD4-49EA-A317-1864C596875B}" type="sibTrans" cxnId="{27BF27BE-8FB4-4DF3-B751-B22C5685D116}">
      <dgm:prSet/>
      <dgm:spPr/>
      <dgm:t>
        <a:bodyPr/>
        <a:lstStyle/>
        <a:p>
          <a:endParaRPr lang="en-US"/>
        </a:p>
      </dgm:t>
    </dgm:pt>
    <dgm:pt modelId="{EB14084D-A0FD-490B-A276-BF73C8AB0CEE}">
      <dgm:prSet/>
      <dgm:spPr/>
      <dgm:t>
        <a:bodyPr/>
        <a:lstStyle/>
        <a:p>
          <a:pPr algn="l">
            <a:buNone/>
          </a:pPr>
          <a:r>
            <a:rPr lang="en-US" b="1">
              <a:latin typeface="Arial" panose="020B0604020202020204" pitchFamily="34" charset="0"/>
              <a:cs typeface="Arial" panose="020B0604020202020204" pitchFamily="34" charset="0"/>
            </a:rPr>
            <a:t>Align public employment and wage policies with strategic objectives</a:t>
          </a:r>
          <a:endParaRPr lang="en-US">
            <a:solidFill>
              <a:schemeClr val="bg1"/>
            </a:solidFill>
            <a:latin typeface="Arial" panose="020B0604020202020204" pitchFamily="34" charset="0"/>
            <a:cs typeface="Arial" panose="020B0604020202020204" pitchFamily="34" charset="0"/>
          </a:endParaRPr>
        </a:p>
      </dgm:t>
    </dgm:pt>
    <dgm:pt modelId="{55F2AE53-9A85-45AC-87FE-81267978250D}" type="parTrans" cxnId="{BBB5977C-0529-4AD0-AE49-1AA809AF270C}">
      <dgm:prSet/>
      <dgm:spPr/>
      <dgm:t>
        <a:bodyPr/>
        <a:lstStyle/>
        <a:p>
          <a:endParaRPr lang="en-US"/>
        </a:p>
      </dgm:t>
    </dgm:pt>
    <dgm:pt modelId="{1C7347A1-50C1-4E85-B203-2E3A04E5B2B4}" type="sibTrans" cxnId="{BBB5977C-0529-4AD0-AE49-1AA809AF270C}">
      <dgm:prSet/>
      <dgm:spPr/>
      <dgm:t>
        <a:bodyPr/>
        <a:lstStyle/>
        <a:p>
          <a:endParaRPr lang="en-US"/>
        </a:p>
      </dgm:t>
    </dgm:pt>
    <dgm:pt modelId="{FB1B4355-C28E-40A8-92B6-1F14E6A16EDB}">
      <dgm:prSet/>
      <dgm:spPr/>
      <dgm:t>
        <a:bodyPr/>
        <a:lstStyle/>
        <a:p>
          <a:pPr algn="l">
            <a:buNone/>
          </a:pPr>
          <a:r>
            <a:rPr lang="en-US" b="1">
              <a:latin typeface="Arial" panose="020B0604020202020204" pitchFamily="34" charset="0"/>
              <a:cs typeface="Arial" panose="020B0604020202020204" pitchFamily="34" charset="0"/>
            </a:rPr>
            <a:t>Reform subsidies and transfers</a:t>
          </a:r>
          <a:endParaRPr lang="en-US">
            <a:solidFill>
              <a:schemeClr val="bg1"/>
            </a:solidFill>
            <a:latin typeface="Arial" panose="020B0604020202020204" pitchFamily="34" charset="0"/>
            <a:cs typeface="Arial" panose="020B0604020202020204" pitchFamily="34" charset="0"/>
          </a:endParaRPr>
        </a:p>
      </dgm:t>
    </dgm:pt>
    <dgm:pt modelId="{555C5768-2262-4EAB-AF62-D7E3EBBB57F6}" type="parTrans" cxnId="{7555E4EB-4BD0-41AE-A6B4-068DE40FDB44}">
      <dgm:prSet/>
      <dgm:spPr/>
      <dgm:t>
        <a:bodyPr/>
        <a:lstStyle/>
        <a:p>
          <a:endParaRPr lang="en-US"/>
        </a:p>
      </dgm:t>
    </dgm:pt>
    <dgm:pt modelId="{962C901A-1FE3-4373-B6B8-36C0BCF27F33}" type="sibTrans" cxnId="{7555E4EB-4BD0-41AE-A6B4-068DE40FDB44}">
      <dgm:prSet/>
      <dgm:spPr/>
      <dgm:t>
        <a:bodyPr/>
        <a:lstStyle/>
        <a:p>
          <a:endParaRPr lang="en-US"/>
        </a:p>
      </dgm:t>
    </dgm:pt>
    <dgm:pt modelId="{BD65AE7A-96BD-4AC7-9484-F455063BA972}">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simplify tax registration and filing for micro and small enterprises</a:t>
          </a:r>
        </a:p>
      </dgm:t>
    </dgm:pt>
    <dgm:pt modelId="{5C4762E0-C95F-44D1-B683-18862D61D29A}" type="parTrans" cxnId="{0B2CE26C-F367-4C4C-A37F-6493A8883A63}">
      <dgm:prSet/>
      <dgm:spPr/>
      <dgm:t>
        <a:bodyPr/>
        <a:lstStyle/>
        <a:p>
          <a:endParaRPr lang="en-US"/>
        </a:p>
      </dgm:t>
    </dgm:pt>
    <dgm:pt modelId="{5C131877-87CF-4BC5-9476-AC46908C4130}" type="sibTrans" cxnId="{0B2CE26C-F367-4C4C-A37F-6493A8883A63}">
      <dgm:prSet/>
      <dgm:spPr/>
      <dgm:t>
        <a:bodyPr/>
        <a:lstStyle/>
        <a:p>
          <a:endParaRPr lang="en-US"/>
        </a:p>
      </dgm:t>
    </dgm:pt>
    <dgm:pt modelId="{8203AEC1-B2F6-447A-B8B9-D999E68F62A2}">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expand digital tax services to lower compliance costs</a:t>
          </a:r>
        </a:p>
      </dgm:t>
    </dgm:pt>
    <dgm:pt modelId="{3414AA2C-BC0F-47AE-A9DB-9927244E6EE2}" type="parTrans" cxnId="{F55ACD98-779B-410B-AB4D-77B248A5AD61}">
      <dgm:prSet/>
      <dgm:spPr/>
      <dgm:t>
        <a:bodyPr/>
        <a:lstStyle/>
        <a:p>
          <a:endParaRPr lang="en-US"/>
        </a:p>
      </dgm:t>
    </dgm:pt>
    <dgm:pt modelId="{D1E1EC75-55B5-46E3-AF74-7449C5CFFDAA}" type="sibTrans" cxnId="{F55ACD98-779B-410B-AB4D-77B248A5AD61}">
      <dgm:prSet/>
      <dgm:spPr/>
      <dgm:t>
        <a:bodyPr/>
        <a:lstStyle/>
        <a:p>
          <a:endParaRPr lang="en-US"/>
        </a:p>
      </dgm:t>
    </dgm:pt>
    <dgm:pt modelId="{3CACD5BD-CCBA-445A-9E28-FA3A883D85B2}">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improve access to formalization for women-owned businesses</a:t>
          </a:r>
        </a:p>
      </dgm:t>
    </dgm:pt>
    <dgm:pt modelId="{BD7AE8F5-53E7-4A54-8F58-A5094779F20C}" type="parTrans" cxnId="{4547E834-EDBE-49FF-9336-01BC555D8955}">
      <dgm:prSet/>
      <dgm:spPr/>
      <dgm:t>
        <a:bodyPr/>
        <a:lstStyle/>
        <a:p>
          <a:endParaRPr lang="en-US"/>
        </a:p>
      </dgm:t>
    </dgm:pt>
    <dgm:pt modelId="{13CE14A6-3447-4065-8EF1-C47DEF674B6E}" type="sibTrans" cxnId="{4547E834-EDBE-49FF-9336-01BC555D8955}">
      <dgm:prSet/>
      <dgm:spPr/>
      <dgm:t>
        <a:bodyPr/>
        <a:lstStyle/>
        <a:p>
          <a:endParaRPr lang="en-US"/>
        </a:p>
      </dgm:t>
    </dgm:pt>
    <dgm:pt modelId="{6C2DC47F-7AEB-4786-B424-794E91385759}">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targeted cash transfers</a:t>
          </a:r>
        </a:p>
      </dgm:t>
    </dgm:pt>
    <dgm:pt modelId="{CBCFD5EF-6C4B-4F88-9A2E-998CF39D608D}" type="parTrans" cxnId="{0CC085E0-9A17-477C-97A6-433435560708}">
      <dgm:prSet/>
      <dgm:spPr/>
      <dgm:t>
        <a:bodyPr/>
        <a:lstStyle/>
        <a:p>
          <a:endParaRPr lang="en-US"/>
        </a:p>
      </dgm:t>
    </dgm:pt>
    <dgm:pt modelId="{5D851580-3950-472A-971D-BE43DED34C29}" type="sibTrans" cxnId="{0CC085E0-9A17-477C-97A6-433435560708}">
      <dgm:prSet/>
      <dgm:spPr/>
      <dgm:t>
        <a:bodyPr/>
        <a:lstStyle/>
        <a:p>
          <a:endParaRPr lang="en-US"/>
        </a:p>
      </dgm:t>
    </dgm:pt>
    <dgm:pt modelId="{FB131F1F-1860-456B-AC2A-27B87F3073DE}">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design social assistance to better reach women and female-headed households</a:t>
          </a:r>
        </a:p>
      </dgm:t>
    </dgm:pt>
    <dgm:pt modelId="{743D9F21-D177-41B4-AB18-98578DAEF931}" type="parTrans" cxnId="{63A9FF91-1F53-40DD-8EB1-D5EFCBD5440F}">
      <dgm:prSet/>
      <dgm:spPr/>
      <dgm:t>
        <a:bodyPr/>
        <a:lstStyle/>
        <a:p>
          <a:endParaRPr lang="en-US"/>
        </a:p>
      </dgm:t>
    </dgm:pt>
    <dgm:pt modelId="{D7DF65CE-1B40-4579-86CB-B1270C6D6E26}" type="sibTrans" cxnId="{63A9FF91-1F53-40DD-8EB1-D5EFCBD5440F}">
      <dgm:prSet/>
      <dgm:spPr/>
      <dgm:t>
        <a:bodyPr/>
        <a:lstStyle/>
        <a:p>
          <a:endParaRPr lang="en-US"/>
        </a:p>
      </dgm:t>
    </dgm:pt>
    <dgm:pt modelId="{2D405629-C4E5-4D00-92DB-B715B3666BE5}">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consider public sector employment and career progression</a:t>
          </a:r>
        </a:p>
      </dgm:t>
    </dgm:pt>
    <dgm:pt modelId="{042B5073-FEDE-448D-81D8-CB01451FA469}" type="parTrans" cxnId="{524CC4AE-7CF8-4D6E-8AF8-67062F88162A}">
      <dgm:prSet/>
      <dgm:spPr/>
      <dgm:t>
        <a:bodyPr/>
        <a:lstStyle/>
        <a:p>
          <a:endParaRPr lang="en-US"/>
        </a:p>
      </dgm:t>
    </dgm:pt>
    <dgm:pt modelId="{A26CE2B9-078C-44E2-8753-8DC6A4163695}" type="sibTrans" cxnId="{524CC4AE-7CF8-4D6E-8AF8-67062F88162A}">
      <dgm:prSet/>
      <dgm:spPr/>
      <dgm:t>
        <a:bodyPr/>
        <a:lstStyle/>
        <a:p>
          <a:endParaRPr lang="en-US"/>
        </a:p>
      </dgm:t>
    </dgm:pt>
    <dgm:pt modelId="{1D8384A2-70A4-4277-A4F9-F0429297AE91}">
      <dgm:prSet/>
      <dgm:spPr/>
      <dgm:t>
        <a:bodyPr/>
        <a:lstStyle/>
        <a:p>
          <a:pPr>
            <a:buFont typeface="Arial" panose="020B0604020202020204" pitchFamily="34" charset="0"/>
            <a:buChar char="•"/>
          </a:pPr>
          <a:r>
            <a:rPr lang="en-US">
              <a:latin typeface="Arial" panose="020B0604020202020204" pitchFamily="34" charset="0"/>
              <a:cs typeface="Arial" panose="020B0604020202020204" pitchFamily="34" charset="0"/>
            </a:rPr>
            <a:t>assess impacts of wage bill and employment reforms</a:t>
          </a:r>
        </a:p>
      </dgm:t>
    </dgm:pt>
    <dgm:pt modelId="{57A14752-EC85-4B8F-AE5D-C83540BBC859}" type="parTrans" cxnId="{73E5F675-B486-4722-90AF-340D4F37EE94}">
      <dgm:prSet/>
      <dgm:spPr/>
      <dgm:t>
        <a:bodyPr/>
        <a:lstStyle/>
        <a:p>
          <a:endParaRPr lang="en-US"/>
        </a:p>
      </dgm:t>
    </dgm:pt>
    <dgm:pt modelId="{0AEAA642-E394-43AF-A86A-1522E3EEA47D}" type="sibTrans" cxnId="{73E5F675-B486-4722-90AF-340D4F37EE94}">
      <dgm:prSet/>
      <dgm:spPr/>
      <dgm:t>
        <a:bodyPr/>
        <a:lstStyle/>
        <a:p>
          <a:endParaRPr lang="en-US"/>
        </a:p>
      </dgm:t>
    </dgm:pt>
    <dgm:pt modelId="{D6FC824D-A9DF-476B-B9F3-E5211AFFC39B}" type="pres">
      <dgm:prSet presAssocID="{39CD99A5-C742-41D5-A2E1-1EEDAF37EBFF}" presName="linearFlow" presStyleCnt="0">
        <dgm:presLayoutVars>
          <dgm:dir/>
          <dgm:resizeHandles val="exact"/>
        </dgm:presLayoutVars>
      </dgm:prSet>
      <dgm:spPr/>
    </dgm:pt>
    <dgm:pt modelId="{87CE4AA8-AF59-45C7-BB50-E5D5C0DA83F7}" type="pres">
      <dgm:prSet presAssocID="{C5F60401-2C11-4212-BADF-DCA59A32710D}" presName="composite" presStyleCnt="0"/>
      <dgm:spPr/>
    </dgm:pt>
    <dgm:pt modelId="{F6947003-0394-4136-8CF1-65EF244E4BDA}" type="pres">
      <dgm:prSet presAssocID="{C5F60401-2C11-4212-BADF-DCA59A32710D}" presName="imgShp" presStyleLbl="fgImgPlac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Calculator outline"/>
        </a:ext>
      </dgm:extLst>
    </dgm:pt>
    <dgm:pt modelId="{6CE607AE-10A3-4F0E-B6F8-335832338D4B}" type="pres">
      <dgm:prSet presAssocID="{C5F60401-2C11-4212-BADF-DCA59A32710D}" presName="txShp" presStyleLbl="node1" presStyleIdx="0" presStyleCnt="3">
        <dgm:presLayoutVars>
          <dgm:bulletEnabled val="1"/>
        </dgm:presLayoutVars>
      </dgm:prSet>
      <dgm:spPr/>
    </dgm:pt>
    <dgm:pt modelId="{5AE24B47-1E7A-4AF5-8DE0-C00D230BD0B5}" type="pres">
      <dgm:prSet presAssocID="{CD7D2A14-6DD4-49EA-A317-1864C596875B}" presName="spacing" presStyleCnt="0"/>
      <dgm:spPr/>
    </dgm:pt>
    <dgm:pt modelId="{FB7E7A03-0CA8-428C-8140-C776799B5975}" type="pres">
      <dgm:prSet presAssocID="{EB14084D-A0FD-490B-A276-BF73C8AB0CEE}" presName="composite" presStyleCnt="0"/>
      <dgm:spPr/>
    </dgm:pt>
    <dgm:pt modelId="{974C0D88-ADB9-429E-BD5A-872558FE1A0D}" type="pres">
      <dgm:prSet presAssocID="{EB14084D-A0FD-490B-A276-BF73C8AB0CEE}" presName="imgShp" presStyleLbl="fgImgPlac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nk check outline"/>
        </a:ext>
      </dgm:extLst>
    </dgm:pt>
    <dgm:pt modelId="{4354C957-A4C5-4D16-8CAA-651E24C1CFFE}" type="pres">
      <dgm:prSet presAssocID="{EB14084D-A0FD-490B-A276-BF73C8AB0CEE}" presName="txShp" presStyleLbl="node1" presStyleIdx="1" presStyleCnt="3">
        <dgm:presLayoutVars>
          <dgm:bulletEnabled val="1"/>
        </dgm:presLayoutVars>
      </dgm:prSet>
      <dgm:spPr/>
    </dgm:pt>
    <dgm:pt modelId="{D947FF90-0A3B-4E7A-8785-FC33D243F506}" type="pres">
      <dgm:prSet presAssocID="{1C7347A1-50C1-4E85-B203-2E3A04E5B2B4}" presName="spacing" presStyleCnt="0"/>
      <dgm:spPr/>
    </dgm:pt>
    <dgm:pt modelId="{E91D44DF-5625-4CB6-B132-4519E28C59D8}" type="pres">
      <dgm:prSet presAssocID="{FB1B4355-C28E-40A8-92B6-1F14E6A16EDB}" presName="composite" presStyleCnt="0"/>
      <dgm:spPr/>
    </dgm:pt>
    <dgm:pt modelId="{209EC6CA-920E-4FA5-B980-D54F305142C2}" type="pres">
      <dgm:prSet presAssocID="{FB1B4355-C28E-40A8-92B6-1F14E6A16EDB}" presName="imgShp" presStyleLbl="f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Transfer outline"/>
        </a:ext>
      </dgm:extLst>
    </dgm:pt>
    <dgm:pt modelId="{8371214A-F046-47D9-AC05-F1B7892FD4A0}" type="pres">
      <dgm:prSet presAssocID="{FB1B4355-C28E-40A8-92B6-1F14E6A16EDB}" presName="txShp" presStyleLbl="node1" presStyleIdx="2" presStyleCnt="3">
        <dgm:presLayoutVars>
          <dgm:bulletEnabled val="1"/>
        </dgm:presLayoutVars>
      </dgm:prSet>
      <dgm:spPr/>
    </dgm:pt>
  </dgm:ptLst>
  <dgm:cxnLst>
    <dgm:cxn modelId="{FD3B0B1C-81DE-42A6-BF92-6FA3AE9B972E}" type="presOf" srcId="{FB1B4355-C28E-40A8-92B6-1F14E6A16EDB}" destId="{8371214A-F046-47D9-AC05-F1B7892FD4A0}" srcOrd="0" destOrd="0" presId="urn:microsoft.com/office/officeart/2005/8/layout/vList3"/>
    <dgm:cxn modelId="{6E177434-C101-4FA1-974A-2B33C5CFC6E8}" type="presOf" srcId="{1D8384A2-70A4-4277-A4F9-F0429297AE91}" destId="{4354C957-A4C5-4D16-8CAA-651E24C1CFFE}" srcOrd="0" destOrd="2" presId="urn:microsoft.com/office/officeart/2005/8/layout/vList3"/>
    <dgm:cxn modelId="{4547E834-EDBE-49FF-9336-01BC555D8955}" srcId="{C5F60401-2C11-4212-BADF-DCA59A32710D}" destId="{3CACD5BD-CCBA-445A-9E28-FA3A883D85B2}" srcOrd="2" destOrd="0" parTransId="{BD7AE8F5-53E7-4A54-8F58-A5094779F20C}" sibTransId="{13CE14A6-3447-4065-8EF1-C47DEF674B6E}"/>
    <dgm:cxn modelId="{ED8E423E-4DFC-4C2C-BBCA-366758D67F87}" type="presOf" srcId="{C5F60401-2C11-4212-BADF-DCA59A32710D}" destId="{6CE607AE-10A3-4F0E-B6F8-335832338D4B}" srcOrd="0" destOrd="0" presId="urn:microsoft.com/office/officeart/2005/8/layout/vList3"/>
    <dgm:cxn modelId="{90015F62-F456-4E3D-87B6-F14D0D36FCFA}" type="presOf" srcId="{EB14084D-A0FD-490B-A276-BF73C8AB0CEE}" destId="{4354C957-A4C5-4D16-8CAA-651E24C1CFFE}" srcOrd="0" destOrd="0" presId="urn:microsoft.com/office/officeart/2005/8/layout/vList3"/>
    <dgm:cxn modelId="{0B2CE26C-F367-4C4C-A37F-6493A8883A63}" srcId="{C5F60401-2C11-4212-BADF-DCA59A32710D}" destId="{BD65AE7A-96BD-4AC7-9484-F455063BA972}" srcOrd="0" destOrd="0" parTransId="{5C4762E0-C95F-44D1-B683-18862D61D29A}" sibTransId="{5C131877-87CF-4BC5-9476-AC46908C4130}"/>
    <dgm:cxn modelId="{73E5F675-B486-4722-90AF-340D4F37EE94}" srcId="{EB14084D-A0FD-490B-A276-BF73C8AB0CEE}" destId="{1D8384A2-70A4-4277-A4F9-F0429297AE91}" srcOrd="1" destOrd="0" parTransId="{57A14752-EC85-4B8F-AE5D-C83540BBC859}" sibTransId="{0AEAA642-E394-43AF-A86A-1522E3EEA47D}"/>
    <dgm:cxn modelId="{BBB5977C-0529-4AD0-AE49-1AA809AF270C}" srcId="{39CD99A5-C742-41D5-A2E1-1EEDAF37EBFF}" destId="{EB14084D-A0FD-490B-A276-BF73C8AB0CEE}" srcOrd="1" destOrd="0" parTransId="{55F2AE53-9A85-45AC-87FE-81267978250D}" sibTransId="{1C7347A1-50C1-4E85-B203-2E3A04E5B2B4}"/>
    <dgm:cxn modelId="{2DD5B07F-5690-4CEF-A6BB-A9F5794B11FA}" type="presOf" srcId="{BD65AE7A-96BD-4AC7-9484-F455063BA972}" destId="{6CE607AE-10A3-4F0E-B6F8-335832338D4B}" srcOrd="0" destOrd="1" presId="urn:microsoft.com/office/officeart/2005/8/layout/vList3"/>
    <dgm:cxn modelId="{63A9FF91-1F53-40DD-8EB1-D5EFCBD5440F}" srcId="{FB1B4355-C28E-40A8-92B6-1F14E6A16EDB}" destId="{FB131F1F-1860-456B-AC2A-27B87F3073DE}" srcOrd="1" destOrd="0" parTransId="{743D9F21-D177-41B4-AB18-98578DAEF931}" sibTransId="{D7DF65CE-1B40-4579-86CB-B1270C6D6E26}"/>
    <dgm:cxn modelId="{86D1C497-56A2-451B-9953-875C09470B3E}" type="presOf" srcId="{6C2DC47F-7AEB-4786-B424-794E91385759}" destId="{8371214A-F046-47D9-AC05-F1B7892FD4A0}" srcOrd="0" destOrd="1" presId="urn:microsoft.com/office/officeart/2005/8/layout/vList3"/>
    <dgm:cxn modelId="{F55ACD98-779B-410B-AB4D-77B248A5AD61}" srcId="{C5F60401-2C11-4212-BADF-DCA59A32710D}" destId="{8203AEC1-B2F6-447A-B8B9-D999E68F62A2}" srcOrd="1" destOrd="0" parTransId="{3414AA2C-BC0F-47AE-A9DB-9927244E6EE2}" sibTransId="{D1E1EC75-55B5-46E3-AF74-7449C5CFFDAA}"/>
    <dgm:cxn modelId="{7CECE59D-A1D2-499B-874C-5E0B3B2E3419}" type="presOf" srcId="{3CACD5BD-CCBA-445A-9E28-FA3A883D85B2}" destId="{6CE607AE-10A3-4F0E-B6F8-335832338D4B}" srcOrd="0" destOrd="3" presId="urn:microsoft.com/office/officeart/2005/8/layout/vList3"/>
    <dgm:cxn modelId="{524CC4AE-7CF8-4D6E-8AF8-67062F88162A}" srcId="{EB14084D-A0FD-490B-A276-BF73C8AB0CEE}" destId="{2D405629-C4E5-4D00-92DB-B715B3666BE5}" srcOrd="0" destOrd="0" parTransId="{042B5073-FEDE-448D-81D8-CB01451FA469}" sibTransId="{A26CE2B9-078C-44E2-8753-8DC6A4163695}"/>
    <dgm:cxn modelId="{27BF27BE-8FB4-4DF3-B751-B22C5685D116}" srcId="{39CD99A5-C742-41D5-A2E1-1EEDAF37EBFF}" destId="{C5F60401-2C11-4212-BADF-DCA59A32710D}" srcOrd="0" destOrd="0" parTransId="{AE91199B-0E58-4AFC-A238-02C10E56AED6}" sibTransId="{CD7D2A14-6DD4-49EA-A317-1864C596875B}"/>
    <dgm:cxn modelId="{C93B48D1-40B4-40EE-BC08-20C8B5A6662A}" type="presOf" srcId="{39CD99A5-C742-41D5-A2E1-1EEDAF37EBFF}" destId="{D6FC824D-A9DF-476B-B9F3-E5211AFFC39B}" srcOrd="0" destOrd="0" presId="urn:microsoft.com/office/officeart/2005/8/layout/vList3"/>
    <dgm:cxn modelId="{0CC085E0-9A17-477C-97A6-433435560708}" srcId="{FB1B4355-C28E-40A8-92B6-1F14E6A16EDB}" destId="{6C2DC47F-7AEB-4786-B424-794E91385759}" srcOrd="0" destOrd="0" parTransId="{CBCFD5EF-6C4B-4F88-9A2E-998CF39D608D}" sibTransId="{5D851580-3950-472A-971D-BE43DED34C29}"/>
    <dgm:cxn modelId="{3BFA57E4-F201-47A7-AA61-797D2F11BE76}" type="presOf" srcId="{8203AEC1-B2F6-447A-B8B9-D999E68F62A2}" destId="{6CE607AE-10A3-4F0E-B6F8-335832338D4B}" srcOrd="0" destOrd="2" presId="urn:microsoft.com/office/officeart/2005/8/layout/vList3"/>
    <dgm:cxn modelId="{B2C5BCEA-019E-4D8A-AB7C-F6819E6806A8}" type="presOf" srcId="{2D405629-C4E5-4D00-92DB-B715B3666BE5}" destId="{4354C957-A4C5-4D16-8CAA-651E24C1CFFE}" srcOrd="0" destOrd="1" presId="urn:microsoft.com/office/officeart/2005/8/layout/vList3"/>
    <dgm:cxn modelId="{7555E4EB-4BD0-41AE-A6B4-068DE40FDB44}" srcId="{39CD99A5-C742-41D5-A2E1-1EEDAF37EBFF}" destId="{FB1B4355-C28E-40A8-92B6-1F14E6A16EDB}" srcOrd="2" destOrd="0" parTransId="{555C5768-2262-4EAB-AF62-D7E3EBBB57F6}" sibTransId="{962C901A-1FE3-4373-B6B8-36C0BCF27F33}"/>
    <dgm:cxn modelId="{8224EDF6-EBB9-48FE-AD3E-086AB01CC760}" type="presOf" srcId="{FB131F1F-1860-456B-AC2A-27B87F3073DE}" destId="{8371214A-F046-47D9-AC05-F1B7892FD4A0}" srcOrd="0" destOrd="2" presId="urn:microsoft.com/office/officeart/2005/8/layout/vList3"/>
    <dgm:cxn modelId="{017E9E6C-AD3A-4BEC-BF5C-47B3748E2DA5}" type="presParOf" srcId="{D6FC824D-A9DF-476B-B9F3-E5211AFFC39B}" destId="{87CE4AA8-AF59-45C7-BB50-E5D5C0DA83F7}" srcOrd="0" destOrd="0" presId="urn:microsoft.com/office/officeart/2005/8/layout/vList3"/>
    <dgm:cxn modelId="{E75EA8E1-21EB-4FD1-B627-9ACC181FA299}" type="presParOf" srcId="{87CE4AA8-AF59-45C7-BB50-E5D5C0DA83F7}" destId="{F6947003-0394-4136-8CF1-65EF244E4BDA}" srcOrd="0" destOrd="0" presId="urn:microsoft.com/office/officeart/2005/8/layout/vList3"/>
    <dgm:cxn modelId="{ABE06FD2-5783-46AC-9C3F-3F21A01F6383}" type="presParOf" srcId="{87CE4AA8-AF59-45C7-BB50-E5D5C0DA83F7}" destId="{6CE607AE-10A3-4F0E-B6F8-335832338D4B}" srcOrd="1" destOrd="0" presId="urn:microsoft.com/office/officeart/2005/8/layout/vList3"/>
    <dgm:cxn modelId="{D4DEFEED-E4A1-43CE-A4F8-7ADF40C74803}" type="presParOf" srcId="{D6FC824D-A9DF-476B-B9F3-E5211AFFC39B}" destId="{5AE24B47-1E7A-4AF5-8DE0-C00D230BD0B5}" srcOrd="1" destOrd="0" presId="urn:microsoft.com/office/officeart/2005/8/layout/vList3"/>
    <dgm:cxn modelId="{18F13983-7C4C-4A73-8CF7-36E8C2A3569D}" type="presParOf" srcId="{D6FC824D-A9DF-476B-B9F3-E5211AFFC39B}" destId="{FB7E7A03-0CA8-428C-8140-C776799B5975}" srcOrd="2" destOrd="0" presId="urn:microsoft.com/office/officeart/2005/8/layout/vList3"/>
    <dgm:cxn modelId="{EA90E22D-7F6F-47D8-9FA9-0F157BF560FE}" type="presParOf" srcId="{FB7E7A03-0CA8-428C-8140-C776799B5975}" destId="{974C0D88-ADB9-429E-BD5A-872558FE1A0D}" srcOrd="0" destOrd="0" presId="urn:microsoft.com/office/officeart/2005/8/layout/vList3"/>
    <dgm:cxn modelId="{B962393A-D872-4574-A5D1-6F82227FF928}" type="presParOf" srcId="{FB7E7A03-0CA8-428C-8140-C776799B5975}" destId="{4354C957-A4C5-4D16-8CAA-651E24C1CFFE}" srcOrd="1" destOrd="0" presId="urn:microsoft.com/office/officeart/2005/8/layout/vList3"/>
    <dgm:cxn modelId="{A32284A5-68D9-4AD6-AE0A-81572BF44571}" type="presParOf" srcId="{D6FC824D-A9DF-476B-B9F3-E5211AFFC39B}" destId="{D947FF90-0A3B-4E7A-8785-FC33D243F506}" srcOrd="3" destOrd="0" presId="urn:microsoft.com/office/officeart/2005/8/layout/vList3"/>
    <dgm:cxn modelId="{224BB766-AC29-4E0B-AFBB-6273F02B2FCD}" type="presParOf" srcId="{D6FC824D-A9DF-476B-B9F3-E5211AFFC39B}" destId="{E91D44DF-5625-4CB6-B132-4519E28C59D8}" srcOrd="4" destOrd="0" presId="urn:microsoft.com/office/officeart/2005/8/layout/vList3"/>
    <dgm:cxn modelId="{6F73ECF1-E6FF-40D4-8BAD-EA818DB45417}" type="presParOf" srcId="{E91D44DF-5625-4CB6-B132-4519E28C59D8}" destId="{209EC6CA-920E-4FA5-B980-D54F305142C2}" srcOrd="0" destOrd="0" presId="urn:microsoft.com/office/officeart/2005/8/layout/vList3"/>
    <dgm:cxn modelId="{0DB457D0-9FAD-42B9-BDC2-D6F35EF6AC06}" type="presParOf" srcId="{E91D44DF-5625-4CB6-B132-4519E28C59D8}" destId="{8371214A-F046-47D9-AC05-F1B7892FD4A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07C42CF-5490-4116-8041-C293A835EE65}" type="doc">
      <dgm:prSet loTypeId="urn:microsoft.com/office/officeart/2009/layout/CircleArrowProcess" loCatId="cycle" qsTypeId="urn:microsoft.com/office/officeart/2005/8/quickstyle/simple1" qsCatId="simple" csTypeId="urn:microsoft.com/office/officeart/2005/8/colors/accent1_5" csCatId="accent1" phldr="1"/>
      <dgm:spPr/>
      <dgm:t>
        <a:bodyPr/>
        <a:lstStyle/>
        <a:p>
          <a:endParaRPr lang="en-US"/>
        </a:p>
      </dgm:t>
    </dgm:pt>
    <dgm:pt modelId="{CBD78057-AC02-43A5-B561-C9347BF7E91D}">
      <dgm:prSet phldrT="[Text]" custT="1"/>
      <dgm:spPr/>
      <dgm:t>
        <a:bodyPr/>
        <a:lstStyle/>
        <a:p>
          <a:r>
            <a:rPr lang="en-US" sz="1400"/>
            <a:t>Manage everyday expenses</a:t>
          </a:r>
        </a:p>
      </dgm:t>
    </dgm:pt>
    <dgm:pt modelId="{3F03EE3E-62E8-43C3-AB85-F83AEE5E1463}" type="parTrans" cxnId="{58761808-52F9-4BFD-B77B-661BCCB4D550}">
      <dgm:prSet/>
      <dgm:spPr/>
      <dgm:t>
        <a:bodyPr/>
        <a:lstStyle/>
        <a:p>
          <a:endParaRPr lang="en-US" sz="1000"/>
        </a:p>
      </dgm:t>
    </dgm:pt>
    <dgm:pt modelId="{DBFE7E1D-1BAE-4875-A161-5FB60FBD380B}" type="sibTrans" cxnId="{58761808-52F9-4BFD-B77B-661BCCB4D550}">
      <dgm:prSet/>
      <dgm:spPr/>
      <dgm:t>
        <a:bodyPr/>
        <a:lstStyle/>
        <a:p>
          <a:endParaRPr lang="en-US" sz="1000"/>
        </a:p>
      </dgm:t>
    </dgm:pt>
    <dgm:pt modelId="{2B52B14A-CCF3-4CF3-A440-2A748EE32DD2}">
      <dgm:prSet phldrT="[Text]" custT="1"/>
      <dgm:spPr/>
      <dgm:t>
        <a:bodyPr/>
        <a:lstStyle/>
        <a:p>
          <a:r>
            <a:rPr lang="en-US" sz="1400"/>
            <a:t>Withstand and recover from shocks</a:t>
          </a:r>
        </a:p>
      </dgm:t>
    </dgm:pt>
    <dgm:pt modelId="{01A6C676-548C-44EC-A04E-8348D1AF7671}" type="parTrans" cxnId="{31D1F372-A1AA-4E5B-B2C1-9C633C88406F}">
      <dgm:prSet/>
      <dgm:spPr/>
      <dgm:t>
        <a:bodyPr/>
        <a:lstStyle/>
        <a:p>
          <a:endParaRPr lang="en-US" sz="1000"/>
        </a:p>
      </dgm:t>
    </dgm:pt>
    <dgm:pt modelId="{15BC3EE5-EF09-48E9-9095-07A0331087F5}" type="sibTrans" cxnId="{31D1F372-A1AA-4E5B-B2C1-9C633C88406F}">
      <dgm:prSet/>
      <dgm:spPr/>
      <dgm:t>
        <a:bodyPr/>
        <a:lstStyle/>
        <a:p>
          <a:endParaRPr lang="en-US" sz="1000"/>
        </a:p>
      </dgm:t>
    </dgm:pt>
    <dgm:pt modelId="{FBB845AE-F2F2-4D9A-A6A7-54E2CDEF1E30}">
      <dgm:prSet phldrT="[Text]" custT="1"/>
      <dgm:spPr/>
      <dgm:t>
        <a:bodyPr/>
        <a:lstStyle/>
        <a:p>
          <a:r>
            <a:rPr lang="en-US" sz="1400"/>
            <a:t>Progress towards financial goals</a:t>
          </a:r>
        </a:p>
      </dgm:t>
    </dgm:pt>
    <dgm:pt modelId="{42D60330-08B2-49FA-99D1-39D605BA634F}" type="parTrans" cxnId="{14E5563C-E40D-43D4-A6CB-51796ADDE269}">
      <dgm:prSet/>
      <dgm:spPr/>
      <dgm:t>
        <a:bodyPr/>
        <a:lstStyle/>
        <a:p>
          <a:endParaRPr lang="en-US" sz="1000"/>
        </a:p>
      </dgm:t>
    </dgm:pt>
    <dgm:pt modelId="{3EF58DDC-9E56-45FE-8697-E88987549426}" type="sibTrans" cxnId="{14E5563C-E40D-43D4-A6CB-51796ADDE269}">
      <dgm:prSet/>
      <dgm:spPr/>
      <dgm:t>
        <a:bodyPr/>
        <a:lstStyle/>
        <a:p>
          <a:endParaRPr lang="en-US" sz="1000"/>
        </a:p>
      </dgm:t>
    </dgm:pt>
    <dgm:pt modelId="{392E7EE0-CF19-4081-8FDE-E319E3F559DA}">
      <dgm:prSet phldrT="[Text]" custT="1"/>
      <dgm:spPr/>
      <dgm:t>
        <a:bodyPr/>
        <a:lstStyle/>
        <a:p>
          <a:r>
            <a:rPr lang="en-US" sz="1400"/>
            <a:t>Exercise control and feel secure about finances</a:t>
          </a:r>
        </a:p>
      </dgm:t>
    </dgm:pt>
    <dgm:pt modelId="{8BA144DF-DECD-4DC2-8AD7-E30B9C18278D}" type="parTrans" cxnId="{BEC1C1FD-87C1-474A-999C-8B5E441F2AA5}">
      <dgm:prSet/>
      <dgm:spPr/>
      <dgm:t>
        <a:bodyPr/>
        <a:lstStyle/>
        <a:p>
          <a:endParaRPr lang="en-US" sz="1000"/>
        </a:p>
      </dgm:t>
    </dgm:pt>
    <dgm:pt modelId="{A3098FF2-F766-4334-A560-28505FABE706}" type="sibTrans" cxnId="{BEC1C1FD-87C1-474A-999C-8B5E441F2AA5}">
      <dgm:prSet/>
      <dgm:spPr/>
      <dgm:t>
        <a:bodyPr/>
        <a:lstStyle/>
        <a:p>
          <a:endParaRPr lang="en-US" sz="1000"/>
        </a:p>
      </dgm:t>
    </dgm:pt>
    <dgm:pt modelId="{E5A3F01E-3ECC-41D2-9258-DEA912393F5F}" type="pres">
      <dgm:prSet presAssocID="{807C42CF-5490-4116-8041-C293A835EE65}" presName="Name0" presStyleCnt="0">
        <dgm:presLayoutVars>
          <dgm:chMax val="7"/>
          <dgm:chPref val="7"/>
          <dgm:dir/>
          <dgm:animLvl val="lvl"/>
        </dgm:presLayoutVars>
      </dgm:prSet>
      <dgm:spPr/>
    </dgm:pt>
    <dgm:pt modelId="{FCCC4CCB-B958-4958-B448-7122CAB23F8C}" type="pres">
      <dgm:prSet presAssocID="{CBD78057-AC02-43A5-B561-C9347BF7E91D}" presName="Accent1" presStyleCnt="0"/>
      <dgm:spPr/>
    </dgm:pt>
    <dgm:pt modelId="{1D8928EE-B28D-4E7A-ACF3-E26D54C2703A}" type="pres">
      <dgm:prSet presAssocID="{CBD78057-AC02-43A5-B561-C9347BF7E91D}" presName="Accent" presStyleLbl="node1" presStyleIdx="0" presStyleCnt="4"/>
      <dgm:spPr/>
    </dgm:pt>
    <dgm:pt modelId="{86DE59F1-1322-4D6B-87A0-122A8E202D99}" type="pres">
      <dgm:prSet presAssocID="{CBD78057-AC02-43A5-B561-C9347BF7E91D}" presName="Parent1" presStyleLbl="revTx" presStyleIdx="0" presStyleCnt="4">
        <dgm:presLayoutVars>
          <dgm:chMax val="1"/>
          <dgm:chPref val="1"/>
          <dgm:bulletEnabled val="1"/>
        </dgm:presLayoutVars>
      </dgm:prSet>
      <dgm:spPr/>
    </dgm:pt>
    <dgm:pt modelId="{1710CB23-232C-48B5-BF35-25057CA9E1BB}" type="pres">
      <dgm:prSet presAssocID="{2B52B14A-CCF3-4CF3-A440-2A748EE32DD2}" presName="Accent2" presStyleCnt="0"/>
      <dgm:spPr/>
    </dgm:pt>
    <dgm:pt modelId="{3970F203-CD3B-4DD6-8590-6C0FD95698E7}" type="pres">
      <dgm:prSet presAssocID="{2B52B14A-CCF3-4CF3-A440-2A748EE32DD2}" presName="Accent" presStyleLbl="node1" presStyleIdx="1" presStyleCnt="4"/>
      <dgm:spPr>
        <a:solidFill>
          <a:srgbClr val="7F7F7F"/>
        </a:solidFill>
      </dgm:spPr>
    </dgm:pt>
    <dgm:pt modelId="{3C68B734-25B4-46D0-831D-6F901DFAEA3E}" type="pres">
      <dgm:prSet presAssocID="{2B52B14A-CCF3-4CF3-A440-2A748EE32DD2}" presName="Parent2" presStyleLbl="revTx" presStyleIdx="1" presStyleCnt="4">
        <dgm:presLayoutVars>
          <dgm:chMax val="1"/>
          <dgm:chPref val="1"/>
          <dgm:bulletEnabled val="1"/>
        </dgm:presLayoutVars>
      </dgm:prSet>
      <dgm:spPr/>
    </dgm:pt>
    <dgm:pt modelId="{BED2E49D-B246-414A-8A48-657D16C8979B}" type="pres">
      <dgm:prSet presAssocID="{FBB845AE-F2F2-4D9A-A6A7-54E2CDEF1E30}" presName="Accent3" presStyleCnt="0"/>
      <dgm:spPr/>
    </dgm:pt>
    <dgm:pt modelId="{312EAF99-9AF2-426B-8F1C-D1CC145A17F7}" type="pres">
      <dgm:prSet presAssocID="{FBB845AE-F2F2-4D9A-A6A7-54E2CDEF1E30}" presName="Accent" presStyleLbl="node1" presStyleIdx="2" presStyleCnt="4"/>
      <dgm:spPr>
        <a:solidFill>
          <a:srgbClr val="004C97"/>
        </a:solidFill>
      </dgm:spPr>
    </dgm:pt>
    <dgm:pt modelId="{8ED3C19C-9F7B-4AC4-855D-46E55354AF57}" type="pres">
      <dgm:prSet presAssocID="{FBB845AE-F2F2-4D9A-A6A7-54E2CDEF1E30}" presName="Parent3" presStyleLbl="revTx" presStyleIdx="2" presStyleCnt="4" custScaleX="125540">
        <dgm:presLayoutVars>
          <dgm:chMax val="1"/>
          <dgm:chPref val="1"/>
          <dgm:bulletEnabled val="1"/>
        </dgm:presLayoutVars>
      </dgm:prSet>
      <dgm:spPr/>
    </dgm:pt>
    <dgm:pt modelId="{F516B45F-FDE5-4477-9252-B57E7DCAED3E}" type="pres">
      <dgm:prSet presAssocID="{392E7EE0-CF19-4081-8FDE-E319E3F559DA}" presName="Accent4" presStyleCnt="0"/>
      <dgm:spPr/>
    </dgm:pt>
    <dgm:pt modelId="{322CD0B7-D4BA-4B31-9F12-F0F4D1D63771}" type="pres">
      <dgm:prSet presAssocID="{392E7EE0-CF19-4081-8FDE-E319E3F559DA}" presName="Accent" presStyleLbl="node1" presStyleIdx="3" presStyleCnt="4"/>
      <dgm:spPr>
        <a:solidFill>
          <a:srgbClr val="B1DAF5"/>
        </a:solidFill>
      </dgm:spPr>
    </dgm:pt>
    <dgm:pt modelId="{6F32EFDD-9417-44C4-8F27-0E1B6D485195}" type="pres">
      <dgm:prSet presAssocID="{392E7EE0-CF19-4081-8FDE-E319E3F559DA}" presName="Parent4" presStyleLbl="revTx" presStyleIdx="3" presStyleCnt="4">
        <dgm:presLayoutVars>
          <dgm:chMax val="1"/>
          <dgm:chPref val="1"/>
          <dgm:bulletEnabled val="1"/>
        </dgm:presLayoutVars>
      </dgm:prSet>
      <dgm:spPr/>
    </dgm:pt>
  </dgm:ptLst>
  <dgm:cxnLst>
    <dgm:cxn modelId="{58761808-52F9-4BFD-B77B-661BCCB4D550}" srcId="{807C42CF-5490-4116-8041-C293A835EE65}" destId="{CBD78057-AC02-43A5-B561-C9347BF7E91D}" srcOrd="0" destOrd="0" parTransId="{3F03EE3E-62E8-43C3-AB85-F83AEE5E1463}" sibTransId="{DBFE7E1D-1BAE-4875-A161-5FB60FBD380B}"/>
    <dgm:cxn modelId="{46918508-CBBA-4D4B-94AB-EC029E3D56E7}" type="presOf" srcId="{FBB845AE-F2F2-4D9A-A6A7-54E2CDEF1E30}" destId="{8ED3C19C-9F7B-4AC4-855D-46E55354AF57}" srcOrd="0" destOrd="0" presId="urn:microsoft.com/office/officeart/2009/layout/CircleArrowProcess"/>
    <dgm:cxn modelId="{14E5563C-E40D-43D4-A6CB-51796ADDE269}" srcId="{807C42CF-5490-4116-8041-C293A835EE65}" destId="{FBB845AE-F2F2-4D9A-A6A7-54E2CDEF1E30}" srcOrd="2" destOrd="0" parTransId="{42D60330-08B2-49FA-99D1-39D605BA634F}" sibTransId="{3EF58DDC-9E56-45FE-8697-E88987549426}"/>
    <dgm:cxn modelId="{D0F12961-CDC5-4A4F-B2CC-6AE09A075CA4}" type="presOf" srcId="{CBD78057-AC02-43A5-B561-C9347BF7E91D}" destId="{86DE59F1-1322-4D6B-87A0-122A8E202D99}" srcOrd="0" destOrd="0" presId="urn:microsoft.com/office/officeart/2009/layout/CircleArrowProcess"/>
    <dgm:cxn modelId="{31D1F372-A1AA-4E5B-B2C1-9C633C88406F}" srcId="{807C42CF-5490-4116-8041-C293A835EE65}" destId="{2B52B14A-CCF3-4CF3-A440-2A748EE32DD2}" srcOrd="1" destOrd="0" parTransId="{01A6C676-548C-44EC-A04E-8348D1AF7671}" sibTransId="{15BC3EE5-EF09-48E9-9095-07A0331087F5}"/>
    <dgm:cxn modelId="{9CD537A5-60D4-4C2F-92B3-8029D26046D5}" type="presOf" srcId="{2B52B14A-CCF3-4CF3-A440-2A748EE32DD2}" destId="{3C68B734-25B4-46D0-831D-6F901DFAEA3E}" srcOrd="0" destOrd="0" presId="urn:microsoft.com/office/officeart/2009/layout/CircleArrowProcess"/>
    <dgm:cxn modelId="{CB5271D5-7014-4742-9EC6-0D70646BF719}" type="presOf" srcId="{392E7EE0-CF19-4081-8FDE-E319E3F559DA}" destId="{6F32EFDD-9417-44C4-8F27-0E1B6D485195}" srcOrd="0" destOrd="0" presId="urn:microsoft.com/office/officeart/2009/layout/CircleArrowProcess"/>
    <dgm:cxn modelId="{91BA95E0-73A8-416D-A32D-539840D736AF}" type="presOf" srcId="{807C42CF-5490-4116-8041-C293A835EE65}" destId="{E5A3F01E-3ECC-41D2-9258-DEA912393F5F}" srcOrd="0" destOrd="0" presId="urn:microsoft.com/office/officeart/2009/layout/CircleArrowProcess"/>
    <dgm:cxn modelId="{BEC1C1FD-87C1-474A-999C-8B5E441F2AA5}" srcId="{807C42CF-5490-4116-8041-C293A835EE65}" destId="{392E7EE0-CF19-4081-8FDE-E319E3F559DA}" srcOrd="3" destOrd="0" parTransId="{8BA144DF-DECD-4DC2-8AD7-E30B9C18278D}" sibTransId="{A3098FF2-F766-4334-A560-28505FABE706}"/>
    <dgm:cxn modelId="{47FC8EA8-31B7-406B-84D3-B23ACF3850D4}" type="presParOf" srcId="{E5A3F01E-3ECC-41D2-9258-DEA912393F5F}" destId="{FCCC4CCB-B958-4958-B448-7122CAB23F8C}" srcOrd="0" destOrd="0" presId="urn:microsoft.com/office/officeart/2009/layout/CircleArrowProcess"/>
    <dgm:cxn modelId="{7A2FA834-9C4A-4F1A-8A43-A787719BA229}" type="presParOf" srcId="{FCCC4CCB-B958-4958-B448-7122CAB23F8C}" destId="{1D8928EE-B28D-4E7A-ACF3-E26D54C2703A}" srcOrd="0" destOrd="0" presId="urn:microsoft.com/office/officeart/2009/layout/CircleArrowProcess"/>
    <dgm:cxn modelId="{1C7AA6DA-ADC5-4C64-A4D1-BCA6F9DC674B}" type="presParOf" srcId="{E5A3F01E-3ECC-41D2-9258-DEA912393F5F}" destId="{86DE59F1-1322-4D6B-87A0-122A8E202D99}" srcOrd="1" destOrd="0" presId="urn:microsoft.com/office/officeart/2009/layout/CircleArrowProcess"/>
    <dgm:cxn modelId="{8F355E88-5AB6-45B9-878C-DBBF0E1252A7}" type="presParOf" srcId="{E5A3F01E-3ECC-41D2-9258-DEA912393F5F}" destId="{1710CB23-232C-48B5-BF35-25057CA9E1BB}" srcOrd="2" destOrd="0" presId="urn:microsoft.com/office/officeart/2009/layout/CircleArrowProcess"/>
    <dgm:cxn modelId="{0C8F465A-C7D4-4620-AE60-3A961A7EF282}" type="presParOf" srcId="{1710CB23-232C-48B5-BF35-25057CA9E1BB}" destId="{3970F203-CD3B-4DD6-8590-6C0FD95698E7}" srcOrd="0" destOrd="0" presId="urn:microsoft.com/office/officeart/2009/layout/CircleArrowProcess"/>
    <dgm:cxn modelId="{9E1E9884-441C-4158-B9F0-E413ECF1E011}" type="presParOf" srcId="{E5A3F01E-3ECC-41D2-9258-DEA912393F5F}" destId="{3C68B734-25B4-46D0-831D-6F901DFAEA3E}" srcOrd="3" destOrd="0" presId="urn:microsoft.com/office/officeart/2009/layout/CircleArrowProcess"/>
    <dgm:cxn modelId="{764B528B-E578-4AC9-BD2C-D5284688F0B5}" type="presParOf" srcId="{E5A3F01E-3ECC-41D2-9258-DEA912393F5F}" destId="{BED2E49D-B246-414A-8A48-657D16C8979B}" srcOrd="4" destOrd="0" presId="urn:microsoft.com/office/officeart/2009/layout/CircleArrowProcess"/>
    <dgm:cxn modelId="{7DB9C9F6-61CE-4F24-BB22-3236C6519DAB}" type="presParOf" srcId="{BED2E49D-B246-414A-8A48-657D16C8979B}" destId="{312EAF99-9AF2-426B-8F1C-D1CC145A17F7}" srcOrd="0" destOrd="0" presId="urn:microsoft.com/office/officeart/2009/layout/CircleArrowProcess"/>
    <dgm:cxn modelId="{2003E21C-1D14-40C2-8A6A-9EEE9708298B}" type="presParOf" srcId="{E5A3F01E-3ECC-41D2-9258-DEA912393F5F}" destId="{8ED3C19C-9F7B-4AC4-855D-46E55354AF57}" srcOrd="5" destOrd="0" presId="urn:microsoft.com/office/officeart/2009/layout/CircleArrowProcess"/>
    <dgm:cxn modelId="{597423C4-3E7B-4739-80A3-5EAF07625E6A}" type="presParOf" srcId="{E5A3F01E-3ECC-41D2-9258-DEA912393F5F}" destId="{F516B45F-FDE5-4477-9252-B57E7DCAED3E}" srcOrd="6" destOrd="0" presId="urn:microsoft.com/office/officeart/2009/layout/CircleArrowProcess"/>
    <dgm:cxn modelId="{A8BD0C3B-78C9-4884-AB53-5AC64426A24F}" type="presParOf" srcId="{F516B45F-FDE5-4477-9252-B57E7DCAED3E}" destId="{322CD0B7-D4BA-4B31-9F12-F0F4D1D63771}" srcOrd="0" destOrd="0" presId="urn:microsoft.com/office/officeart/2009/layout/CircleArrowProcess"/>
    <dgm:cxn modelId="{B1304861-5D91-4DD8-9B4C-1BEC59638A4E}" type="presParOf" srcId="{E5A3F01E-3ECC-41D2-9258-DEA912393F5F}" destId="{6F32EFDD-9417-44C4-8F27-0E1B6D485195}" srcOrd="7"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dgm:t>
        <a:bodyPr/>
        <a:lstStyle/>
        <a:p>
          <a:r>
            <a:rPr lang="en-US" sz="1400"/>
            <a:t>Liquid assets, such as cash and deposits</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dgm:t>
        <a:bodyPr/>
        <a:lstStyle/>
        <a:p>
          <a:r>
            <a:rPr lang="en-US" sz="1400"/>
            <a:t>Wages and salaries</a:t>
          </a:r>
        </a:p>
      </dgm:t>
    </dgm:pt>
    <dgm:pt modelId="{36B92D3F-73EA-408E-B058-23E199AEF283}" type="parTrans" cxnId="{3E817848-6BB1-4A8B-BB68-0D54ED8DDB32}">
      <dgm:prSet/>
      <dgm:spPr/>
      <dgm:t>
        <a:bodyPr/>
        <a:lstStyle/>
        <a:p>
          <a:endParaRPr lang="en-US"/>
        </a:p>
      </dgm:t>
    </dgm:pt>
    <dgm:pt modelId="{DAF1D787-5061-4301-81DD-9634F6B0D7E1}" type="sibTrans" cxnId="{3E817848-6BB1-4A8B-BB68-0D54ED8DDB32}">
      <dgm:prSet/>
      <dgm:spPr>
        <a:noFill/>
      </dgm:spPr>
      <dgm:t>
        <a:bodyPr/>
        <a:lstStyle/>
        <a:p>
          <a:endParaRPr lang="en-US"/>
        </a:p>
      </dgm:t>
    </dgm:pt>
    <dgm:pt modelId="{3CB10B9F-F9DD-4D34-8BEB-F3C60DAFF631}">
      <dgm:prSet phldrT="[Text]" custT="1"/>
      <dgm:spPr/>
      <dgm:t>
        <a:bodyPr/>
        <a:lstStyle/>
        <a:p>
          <a:r>
            <a:rPr lang="en-US" sz="1400"/>
            <a:t>Gross disposable income</a:t>
          </a:r>
        </a:p>
      </dgm:t>
    </dgm:pt>
    <dgm:pt modelId="{74BA634A-0DDD-4094-B519-DA9E57D30900}" type="parTrans" cxnId="{9551E070-ACBD-40DA-93D9-E5DC32FE4525}">
      <dgm:prSet/>
      <dgm:spPr/>
      <dgm:t>
        <a:bodyPr/>
        <a:lstStyle/>
        <a:p>
          <a:endParaRPr lang="en-US"/>
        </a:p>
      </dgm:t>
    </dgm:pt>
    <dgm:pt modelId="{7797A12E-007D-450C-9D51-EE20FE4B72A6}" type="sibTrans" cxnId="{9551E070-ACBD-40DA-93D9-E5DC32FE4525}">
      <dgm:prSet/>
      <dgm:spPr>
        <a:noFill/>
      </dgm:spPr>
      <dgm:t>
        <a:bodyPr/>
        <a:lstStyle/>
        <a:p>
          <a:endParaRPr lang="en-US"/>
        </a:p>
      </dgm:t>
    </dgm:pt>
    <dgm:pt modelId="{C899F4A2-85D4-406C-A4D2-B2BD68ADD376}">
      <dgm:prSet phldrT="[Text]" custT="1"/>
      <dgm:spPr/>
      <dgm:t>
        <a:bodyPr/>
        <a:lstStyle/>
        <a:p>
          <a:r>
            <a:rPr lang="en-US" sz="1400"/>
            <a:t>Debt service payments</a:t>
          </a:r>
        </a:p>
      </dgm:t>
    </dgm:pt>
    <dgm:pt modelId="{6AF6F0A6-A807-42C7-A11E-E79A19282B80}" type="parTrans" cxnId="{272FC8AD-CAE8-43EA-9439-B22F0B0C3D82}">
      <dgm:prSet/>
      <dgm:spPr/>
      <dgm:t>
        <a:bodyPr/>
        <a:lstStyle/>
        <a:p>
          <a:endParaRPr lang="en-US"/>
        </a:p>
      </dgm:t>
    </dgm:pt>
    <dgm:pt modelId="{F353D5B1-51CF-4AB6-8CB6-DF38961C9F8C}" type="sibTrans" cxnId="{272FC8AD-CAE8-43EA-9439-B22F0B0C3D82}">
      <dgm:prSet/>
      <dgm:spPr>
        <a:noFill/>
      </dgm:spPr>
      <dgm:t>
        <a:bodyPr/>
        <a:lstStyle/>
        <a:p>
          <a:endParaRPr lang="en-US"/>
        </a:p>
      </dgm:t>
    </dgm:pt>
    <dgm:pt modelId="{6590506D-6251-42DA-A5A6-FEE2556BB8A3}">
      <dgm:prSet phldrT="[Text]" custT="1"/>
      <dgm:spPr/>
      <dgm:t>
        <a:bodyPr/>
        <a:lstStyle/>
        <a:p>
          <a:r>
            <a:rPr lang="en-US" sz="1400"/>
            <a:t>Financial assets, such as debt securities</a:t>
          </a:r>
        </a:p>
      </dgm:t>
    </dgm:pt>
    <dgm:pt modelId="{1F833FF3-5477-42AF-A50E-0A694C84A8F3}" type="parTrans" cxnId="{0CA4F648-126F-462D-8301-3C8CFFDCA29C}">
      <dgm:prSet/>
      <dgm:spPr/>
      <dgm:t>
        <a:bodyPr/>
        <a:lstStyle/>
        <a:p>
          <a:endParaRPr lang="en-US"/>
        </a:p>
      </dgm:t>
    </dgm:pt>
    <dgm:pt modelId="{47E329DF-A537-4E17-A67B-1BA2A7BB8A8D}" type="sibTrans" cxnId="{0CA4F648-126F-462D-8301-3C8CFFDCA29C}">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5"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4" custScaleX="42499"/>
      <dgm:spPr/>
    </dgm:pt>
    <dgm:pt modelId="{C72DCD34-8771-4E07-8A1C-EB3AB4A8A01C}" type="pres">
      <dgm:prSet presAssocID="{1F8840B5-A2E7-47E3-8B5D-9C59B763C205}" presName="connectorText" presStyleLbl="sibTrans2D1" presStyleIdx="0" presStyleCnt="4"/>
      <dgm:spPr/>
    </dgm:pt>
    <dgm:pt modelId="{D11F5219-A841-4502-BA08-03B879E5B8D3}" type="pres">
      <dgm:prSet presAssocID="{FE455C0C-AA9E-4963-BF8D-E768F5BECD3C}" presName="node" presStyleLbl="node1" presStyleIdx="1" presStyleCnt="5"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4" custScaleX="42499"/>
      <dgm:spPr/>
    </dgm:pt>
    <dgm:pt modelId="{DD2947D3-F52A-4748-98C4-8AFB232F4FE5}" type="pres">
      <dgm:prSet presAssocID="{DAF1D787-5061-4301-81DD-9634F6B0D7E1}" presName="connectorText" presStyleLbl="sibTrans2D1" presStyleIdx="1" presStyleCnt="4"/>
      <dgm:spPr/>
    </dgm:pt>
    <dgm:pt modelId="{D734FF8B-F5CB-4848-869B-09FFC07C5165}" type="pres">
      <dgm:prSet presAssocID="{3CB10B9F-F9DD-4D34-8BEB-F3C60DAFF631}" presName="node" presStyleLbl="node1" presStyleIdx="2" presStyleCnt="5" custScaleX="674177" custScaleY="160518">
        <dgm:presLayoutVars>
          <dgm:bulletEnabled val="1"/>
        </dgm:presLayoutVars>
      </dgm:prSet>
      <dgm:spPr/>
    </dgm:pt>
    <dgm:pt modelId="{1387BCC1-1474-4B3F-99FA-2F523A5C8124}" type="pres">
      <dgm:prSet presAssocID="{7797A12E-007D-450C-9D51-EE20FE4B72A6}" presName="sibTrans" presStyleLbl="sibTrans2D1" presStyleIdx="2" presStyleCnt="4" custScaleX="42499"/>
      <dgm:spPr/>
    </dgm:pt>
    <dgm:pt modelId="{2D367B32-F747-465D-9E23-22A5F67BE396}" type="pres">
      <dgm:prSet presAssocID="{7797A12E-007D-450C-9D51-EE20FE4B72A6}" presName="connectorText" presStyleLbl="sibTrans2D1" presStyleIdx="2" presStyleCnt="4"/>
      <dgm:spPr/>
    </dgm:pt>
    <dgm:pt modelId="{9EFAFFE6-4D7B-497D-A9EC-306B442FD70B}" type="pres">
      <dgm:prSet presAssocID="{C899F4A2-85D4-406C-A4D2-B2BD68ADD376}" presName="node" presStyleLbl="node1" presStyleIdx="3" presStyleCnt="5" custScaleX="674177" custScaleY="160518">
        <dgm:presLayoutVars>
          <dgm:bulletEnabled val="1"/>
        </dgm:presLayoutVars>
      </dgm:prSet>
      <dgm:spPr/>
    </dgm:pt>
    <dgm:pt modelId="{89022520-E799-441E-93CB-4C597305AF98}" type="pres">
      <dgm:prSet presAssocID="{F353D5B1-51CF-4AB6-8CB6-DF38961C9F8C}" presName="sibTrans" presStyleLbl="sibTrans2D1" presStyleIdx="3" presStyleCnt="4" custScaleX="42499"/>
      <dgm:spPr/>
    </dgm:pt>
    <dgm:pt modelId="{2EE0EE57-D5F8-48F1-891C-15875A70F373}" type="pres">
      <dgm:prSet presAssocID="{F353D5B1-51CF-4AB6-8CB6-DF38961C9F8C}" presName="connectorText" presStyleLbl="sibTrans2D1" presStyleIdx="3" presStyleCnt="4"/>
      <dgm:spPr/>
    </dgm:pt>
    <dgm:pt modelId="{CD0BBA60-665F-4493-8AAC-414E199D5EA8}" type="pres">
      <dgm:prSet presAssocID="{6590506D-6251-42DA-A5A6-FEE2556BB8A3}" presName="node" presStyleLbl="node1" presStyleIdx="4" presStyleCnt="5"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1612F31A-1C91-4BFA-8B6F-271F217EE2B8}" type="presOf" srcId="{7797A12E-007D-450C-9D51-EE20FE4B72A6}" destId="{2D367B32-F747-465D-9E23-22A5F67BE396}" srcOrd="1" destOrd="0" presId="urn:microsoft.com/office/officeart/2005/8/layout/process1"/>
    <dgm:cxn modelId="{B9A5C332-34CD-4844-9630-8507300D93B6}" type="presOf" srcId="{6590506D-6251-42DA-A5A6-FEE2556BB8A3}" destId="{CD0BBA60-665F-4493-8AAC-414E199D5EA8}"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0CA4F648-126F-462D-8301-3C8CFFDCA29C}" srcId="{3AF6AF5A-B1BD-4465-91DD-A9404F24649A}" destId="{6590506D-6251-42DA-A5A6-FEE2556BB8A3}" srcOrd="4" destOrd="0" parTransId="{1F833FF3-5477-42AF-A50E-0A694C84A8F3}" sibTransId="{47E329DF-A537-4E17-A67B-1BA2A7BB8A8D}"/>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B3EF1D6B-9EFF-4D49-B132-22ADEEF9C7AB}" type="presOf" srcId="{C899F4A2-85D4-406C-A4D2-B2BD68ADD376}" destId="{9EFAFFE6-4D7B-497D-A9EC-306B442FD70B}" srcOrd="0" destOrd="0" presId="urn:microsoft.com/office/officeart/2005/8/layout/process1"/>
    <dgm:cxn modelId="{9551E070-ACBD-40DA-93D9-E5DC32FE4525}" srcId="{3AF6AF5A-B1BD-4465-91DD-A9404F24649A}" destId="{3CB10B9F-F9DD-4D34-8BEB-F3C60DAFF631}" srcOrd="2" destOrd="0" parTransId="{74BA634A-0DDD-4094-B519-DA9E57D30900}" sibTransId="{7797A12E-007D-450C-9D51-EE20FE4B72A6}"/>
    <dgm:cxn modelId="{50DA0497-86C2-4E2E-82F2-A03617D6D4CE}" type="presOf" srcId="{F353D5B1-51CF-4AB6-8CB6-DF38961C9F8C}" destId="{89022520-E799-441E-93CB-4C597305AF98}" srcOrd="0" destOrd="0" presId="urn:microsoft.com/office/officeart/2005/8/layout/process1"/>
    <dgm:cxn modelId="{E30F88AA-2B4D-4B37-B4AF-FE2BECFF1DB1}" type="presOf" srcId="{1F8840B5-A2E7-47E3-8B5D-9C59B763C205}" destId="{37CF87CD-ED07-4E1D-BF2B-B726D68A0C0B}" srcOrd="0" destOrd="0" presId="urn:microsoft.com/office/officeart/2005/8/layout/process1"/>
    <dgm:cxn modelId="{272FC8AD-CAE8-43EA-9439-B22F0B0C3D82}" srcId="{3AF6AF5A-B1BD-4465-91DD-A9404F24649A}" destId="{C899F4A2-85D4-406C-A4D2-B2BD68ADD376}" srcOrd="3" destOrd="0" parTransId="{6AF6F0A6-A807-42C7-A11E-E79A19282B80}" sibTransId="{F353D5B1-51CF-4AB6-8CB6-DF38961C9F8C}"/>
    <dgm:cxn modelId="{2BB833AF-45D4-4D73-A5D8-59B8E3D31E80}" type="presOf" srcId="{F353D5B1-51CF-4AB6-8CB6-DF38961C9F8C}" destId="{2EE0EE57-D5F8-48F1-891C-15875A70F373}" srcOrd="1" destOrd="0" presId="urn:microsoft.com/office/officeart/2005/8/layout/process1"/>
    <dgm:cxn modelId="{1AE180B0-8118-4C97-85B3-F77D7966E5FA}" type="presOf" srcId="{7797A12E-007D-450C-9D51-EE20FE4B72A6}" destId="{1387BCC1-1474-4B3F-99FA-2F523A5C8124}"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 modelId="{85F7BB0E-C544-489F-A4D8-B6F3C8A70240}" type="presParOf" srcId="{560B2B6D-E9FF-4D64-BC49-337ABEC732CA}" destId="{1387BCC1-1474-4B3F-99FA-2F523A5C8124}" srcOrd="5" destOrd="0" presId="urn:microsoft.com/office/officeart/2005/8/layout/process1"/>
    <dgm:cxn modelId="{1AA98E95-5FC5-4063-93CE-EB92ABB1E22F}" type="presParOf" srcId="{1387BCC1-1474-4B3F-99FA-2F523A5C8124}" destId="{2D367B32-F747-465D-9E23-22A5F67BE396}" srcOrd="0" destOrd="0" presId="urn:microsoft.com/office/officeart/2005/8/layout/process1"/>
    <dgm:cxn modelId="{0FD3BAEA-8020-4BE4-A4C5-85E5647E4CF5}" type="presParOf" srcId="{560B2B6D-E9FF-4D64-BC49-337ABEC732CA}" destId="{9EFAFFE6-4D7B-497D-A9EC-306B442FD70B}" srcOrd="6" destOrd="0" presId="urn:microsoft.com/office/officeart/2005/8/layout/process1"/>
    <dgm:cxn modelId="{F578DE78-641C-4480-826A-A5599306075D}" type="presParOf" srcId="{560B2B6D-E9FF-4D64-BC49-337ABEC732CA}" destId="{89022520-E799-441E-93CB-4C597305AF98}" srcOrd="7" destOrd="0" presId="urn:microsoft.com/office/officeart/2005/8/layout/process1"/>
    <dgm:cxn modelId="{F5EC4480-31F1-4DAC-B45F-5A1C1CAC4A0D}" type="presParOf" srcId="{89022520-E799-441E-93CB-4C597305AF98}" destId="{2EE0EE57-D5F8-48F1-891C-15875A70F373}" srcOrd="0" destOrd="0" presId="urn:microsoft.com/office/officeart/2005/8/layout/process1"/>
    <dgm:cxn modelId="{DE2F692A-8A5C-4F9A-A7DD-1314E1E504C8}" type="presParOf" srcId="{560B2B6D-E9FF-4D64-BC49-337ABEC732CA}" destId="{CD0BBA60-665F-4493-8AAC-414E199D5EA8}" srcOrd="8"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a:solidFill>
          <a:srgbClr val="7F7F7F"/>
        </a:solidFill>
      </dgm:spPr>
      <dgm:t>
        <a:bodyPr/>
        <a:lstStyle/>
        <a:p>
          <a:r>
            <a:rPr lang="en-US" sz="1400"/>
            <a:t>Household savings</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a:solidFill>
          <a:srgbClr val="7F7F7F"/>
        </a:solidFill>
      </dgm:spPr>
      <dgm:t>
        <a:bodyPr/>
        <a:lstStyle/>
        <a:p>
          <a:r>
            <a:rPr lang="en-US" sz="1400"/>
            <a:t>Current transfers, such as tax credits</a:t>
          </a:r>
        </a:p>
      </dgm:t>
    </dgm:pt>
    <dgm:pt modelId="{DAF1D787-5061-4301-81DD-9634F6B0D7E1}" type="sibTrans" cxnId="{3E817848-6BB1-4A8B-BB68-0D54ED8DDB32}">
      <dgm:prSet/>
      <dgm:spPr>
        <a:noFill/>
      </dgm:spPr>
      <dgm:t>
        <a:bodyPr/>
        <a:lstStyle/>
        <a:p>
          <a:endParaRPr lang="en-US"/>
        </a:p>
      </dgm:t>
    </dgm:pt>
    <dgm:pt modelId="{36B92D3F-73EA-408E-B058-23E199AEF283}" type="parTrans" cxnId="{3E817848-6BB1-4A8B-BB68-0D54ED8DDB32}">
      <dgm:prSet/>
      <dgm:spPr/>
      <dgm:t>
        <a:bodyPr/>
        <a:lstStyle/>
        <a:p>
          <a:endParaRPr lang="en-US"/>
        </a:p>
      </dgm:t>
    </dgm:pt>
    <dgm:pt modelId="{3CB10B9F-F9DD-4D34-8BEB-F3C60DAFF631}">
      <dgm:prSet phldrT="[Text]" custT="1"/>
      <dgm:spPr>
        <a:solidFill>
          <a:srgbClr val="7F7F7F"/>
        </a:solidFill>
      </dgm:spPr>
      <dgm:t>
        <a:bodyPr/>
        <a:lstStyle/>
        <a:p>
          <a:r>
            <a:rPr lang="en-US" sz="1400"/>
            <a:t>Insurance, such as medical and life plans</a:t>
          </a:r>
        </a:p>
      </dgm:t>
    </dgm:pt>
    <dgm:pt modelId="{7797A12E-007D-450C-9D51-EE20FE4B72A6}" type="sibTrans" cxnId="{9551E070-ACBD-40DA-93D9-E5DC32FE4525}">
      <dgm:prSet/>
      <dgm:spPr>
        <a:noFill/>
      </dgm:spPr>
      <dgm:t>
        <a:bodyPr/>
        <a:lstStyle/>
        <a:p>
          <a:endParaRPr lang="en-US"/>
        </a:p>
      </dgm:t>
    </dgm:pt>
    <dgm:pt modelId="{74BA634A-0DDD-4094-B519-DA9E57D30900}" type="parTrans" cxnId="{9551E070-ACBD-40DA-93D9-E5DC32FE4525}">
      <dgm:prSet/>
      <dgm:spPr/>
      <dgm:t>
        <a:bodyPr/>
        <a:lstStyle/>
        <a:p>
          <a:endParaRPr lang="en-US"/>
        </a:p>
      </dgm:t>
    </dgm:pt>
    <dgm:pt modelId="{C899F4A2-85D4-406C-A4D2-B2BD68ADD376}">
      <dgm:prSet phldrT="[Text]" custT="1"/>
      <dgm:spPr>
        <a:solidFill>
          <a:srgbClr val="7F7F7F"/>
        </a:solidFill>
      </dgm:spPr>
      <dgm:t>
        <a:bodyPr/>
        <a:lstStyle/>
        <a:p>
          <a:r>
            <a:rPr lang="en-US" sz="1400"/>
            <a:t>Short-term credit</a:t>
          </a:r>
        </a:p>
      </dgm:t>
    </dgm:pt>
    <dgm:pt modelId="{F353D5B1-51CF-4AB6-8CB6-DF38961C9F8C}" type="sibTrans" cxnId="{272FC8AD-CAE8-43EA-9439-B22F0B0C3D82}">
      <dgm:prSet/>
      <dgm:spPr>
        <a:noFill/>
      </dgm:spPr>
      <dgm:t>
        <a:bodyPr/>
        <a:lstStyle/>
        <a:p>
          <a:endParaRPr lang="en-US"/>
        </a:p>
      </dgm:t>
    </dgm:pt>
    <dgm:pt modelId="{6AF6F0A6-A807-42C7-A11E-E79A19282B80}" type="parTrans" cxnId="{272FC8AD-CAE8-43EA-9439-B22F0B0C3D82}">
      <dgm:prSet/>
      <dgm:spPr/>
      <dgm:t>
        <a:bodyPr/>
        <a:lstStyle/>
        <a:p>
          <a:endParaRPr lang="en-US"/>
        </a:p>
      </dgm:t>
    </dgm:pt>
    <dgm:pt modelId="{6590506D-6251-42DA-A5A6-FEE2556BB8A3}">
      <dgm:prSet phldrT="[Text]" custT="1"/>
      <dgm:spPr>
        <a:solidFill>
          <a:srgbClr val="7F7F7F"/>
        </a:solidFill>
      </dgm:spPr>
      <dgm:t>
        <a:bodyPr/>
        <a:lstStyle/>
        <a:p>
          <a:r>
            <a:rPr lang="en-US" sz="1400"/>
            <a:t>Net worth</a:t>
          </a:r>
          <a:endParaRPr lang="en-US" sz="1100"/>
        </a:p>
      </dgm:t>
    </dgm:pt>
    <dgm:pt modelId="{47E329DF-A537-4E17-A67B-1BA2A7BB8A8D}" type="sibTrans" cxnId="{0CA4F648-126F-462D-8301-3C8CFFDCA29C}">
      <dgm:prSet/>
      <dgm:spPr/>
      <dgm:t>
        <a:bodyPr/>
        <a:lstStyle/>
        <a:p>
          <a:endParaRPr lang="en-US"/>
        </a:p>
      </dgm:t>
    </dgm:pt>
    <dgm:pt modelId="{1F833FF3-5477-42AF-A50E-0A694C84A8F3}" type="parTrans" cxnId="{0CA4F648-126F-462D-8301-3C8CFFDCA29C}">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5"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4" custScaleX="42499"/>
      <dgm:spPr/>
    </dgm:pt>
    <dgm:pt modelId="{C72DCD34-8771-4E07-8A1C-EB3AB4A8A01C}" type="pres">
      <dgm:prSet presAssocID="{1F8840B5-A2E7-47E3-8B5D-9C59B763C205}" presName="connectorText" presStyleLbl="sibTrans2D1" presStyleIdx="0" presStyleCnt="4"/>
      <dgm:spPr/>
    </dgm:pt>
    <dgm:pt modelId="{D11F5219-A841-4502-BA08-03B879E5B8D3}" type="pres">
      <dgm:prSet presAssocID="{FE455C0C-AA9E-4963-BF8D-E768F5BECD3C}" presName="node" presStyleLbl="node1" presStyleIdx="1" presStyleCnt="5"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4" custScaleX="42499"/>
      <dgm:spPr/>
    </dgm:pt>
    <dgm:pt modelId="{DD2947D3-F52A-4748-98C4-8AFB232F4FE5}" type="pres">
      <dgm:prSet presAssocID="{DAF1D787-5061-4301-81DD-9634F6B0D7E1}" presName="connectorText" presStyleLbl="sibTrans2D1" presStyleIdx="1" presStyleCnt="4"/>
      <dgm:spPr/>
    </dgm:pt>
    <dgm:pt modelId="{D734FF8B-F5CB-4848-869B-09FFC07C5165}" type="pres">
      <dgm:prSet presAssocID="{3CB10B9F-F9DD-4D34-8BEB-F3C60DAFF631}" presName="node" presStyleLbl="node1" presStyleIdx="2" presStyleCnt="5" custScaleX="674177" custScaleY="160518">
        <dgm:presLayoutVars>
          <dgm:bulletEnabled val="1"/>
        </dgm:presLayoutVars>
      </dgm:prSet>
      <dgm:spPr/>
    </dgm:pt>
    <dgm:pt modelId="{1387BCC1-1474-4B3F-99FA-2F523A5C8124}" type="pres">
      <dgm:prSet presAssocID="{7797A12E-007D-450C-9D51-EE20FE4B72A6}" presName="sibTrans" presStyleLbl="sibTrans2D1" presStyleIdx="2" presStyleCnt="4" custScaleX="42499"/>
      <dgm:spPr/>
    </dgm:pt>
    <dgm:pt modelId="{2D367B32-F747-465D-9E23-22A5F67BE396}" type="pres">
      <dgm:prSet presAssocID="{7797A12E-007D-450C-9D51-EE20FE4B72A6}" presName="connectorText" presStyleLbl="sibTrans2D1" presStyleIdx="2" presStyleCnt="4"/>
      <dgm:spPr/>
    </dgm:pt>
    <dgm:pt modelId="{9EFAFFE6-4D7B-497D-A9EC-306B442FD70B}" type="pres">
      <dgm:prSet presAssocID="{C899F4A2-85D4-406C-A4D2-B2BD68ADD376}" presName="node" presStyleLbl="node1" presStyleIdx="3" presStyleCnt="5" custScaleX="674177" custScaleY="160518">
        <dgm:presLayoutVars>
          <dgm:bulletEnabled val="1"/>
        </dgm:presLayoutVars>
      </dgm:prSet>
      <dgm:spPr/>
    </dgm:pt>
    <dgm:pt modelId="{89022520-E799-441E-93CB-4C597305AF98}" type="pres">
      <dgm:prSet presAssocID="{F353D5B1-51CF-4AB6-8CB6-DF38961C9F8C}" presName="sibTrans" presStyleLbl="sibTrans2D1" presStyleIdx="3" presStyleCnt="4" custScaleX="42499"/>
      <dgm:spPr/>
    </dgm:pt>
    <dgm:pt modelId="{2EE0EE57-D5F8-48F1-891C-15875A70F373}" type="pres">
      <dgm:prSet presAssocID="{F353D5B1-51CF-4AB6-8CB6-DF38961C9F8C}" presName="connectorText" presStyleLbl="sibTrans2D1" presStyleIdx="3" presStyleCnt="4"/>
      <dgm:spPr/>
    </dgm:pt>
    <dgm:pt modelId="{CD0BBA60-665F-4493-8AAC-414E199D5EA8}" type="pres">
      <dgm:prSet presAssocID="{6590506D-6251-42DA-A5A6-FEE2556BB8A3}" presName="node" presStyleLbl="node1" presStyleIdx="4" presStyleCnt="5"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1612F31A-1C91-4BFA-8B6F-271F217EE2B8}" type="presOf" srcId="{7797A12E-007D-450C-9D51-EE20FE4B72A6}" destId="{2D367B32-F747-465D-9E23-22A5F67BE396}" srcOrd="1" destOrd="0" presId="urn:microsoft.com/office/officeart/2005/8/layout/process1"/>
    <dgm:cxn modelId="{B9A5C332-34CD-4844-9630-8507300D93B6}" type="presOf" srcId="{6590506D-6251-42DA-A5A6-FEE2556BB8A3}" destId="{CD0BBA60-665F-4493-8AAC-414E199D5EA8}"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0CA4F648-126F-462D-8301-3C8CFFDCA29C}" srcId="{3AF6AF5A-B1BD-4465-91DD-A9404F24649A}" destId="{6590506D-6251-42DA-A5A6-FEE2556BB8A3}" srcOrd="4" destOrd="0" parTransId="{1F833FF3-5477-42AF-A50E-0A694C84A8F3}" sibTransId="{47E329DF-A537-4E17-A67B-1BA2A7BB8A8D}"/>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B3EF1D6B-9EFF-4D49-B132-22ADEEF9C7AB}" type="presOf" srcId="{C899F4A2-85D4-406C-A4D2-B2BD68ADD376}" destId="{9EFAFFE6-4D7B-497D-A9EC-306B442FD70B}" srcOrd="0" destOrd="0" presId="urn:microsoft.com/office/officeart/2005/8/layout/process1"/>
    <dgm:cxn modelId="{9551E070-ACBD-40DA-93D9-E5DC32FE4525}" srcId="{3AF6AF5A-B1BD-4465-91DD-A9404F24649A}" destId="{3CB10B9F-F9DD-4D34-8BEB-F3C60DAFF631}" srcOrd="2" destOrd="0" parTransId="{74BA634A-0DDD-4094-B519-DA9E57D30900}" sibTransId="{7797A12E-007D-450C-9D51-EE20FE4B72A6}"/>
    <dgm:cxn modelId="{50DA0497-86C2-4E2E-82F2-A03617D6D4CE}" type="presOf" srcId="{F353D5B1-51CF-4AB6-8CB6-DF38961C9F8C}" destId="{89022520-E799-441E-93CB-4C597305AF98}" srcOrd="0" destOrd="0" presId="urn:microsoft.com/office/officeart/2005/8/layout/process1"/>
    <dgm:cxn modelId="{E30F88AA-2B4D-4B37-B4AF-FE2BECFF1DB1}" type="presOf" srcId="{1F8840B5-A2E7-47E3-8B5D-9C59B763C205}" destId="{37CF87CD-ED07-4E1D-BF2B-B726D68A0C0B}" srcOrd="0" destOrd="0" presId="urn:microsoft.com/office/officeart/2005/8/layout/process1"/>
    <dgm:cxn modelId="{272FC8AD-CAE8-43EA-9439-B22F0B0C3D82}" srcId="{3AF6AF5A-B1BD-4465-91DD-A9404F24649A}" destId="{C899F4A2-85D4-406C-A4D2-B2BD68ADD376}" srcOrd="3" destOrd="0" parTransId="{6AF6F0A6-A807-42C7-A11E-E79A19282B80}" sibTransId="{F353D5B1-51CF-4AB6-8CB6-DF38961C9F8C}"/>
    <dgm:cxn modelId="{2BB833AF-45D4-4D73-A5D8-59B8E3D31E80}" type="presOf" srcId="{F353D5B1-51CF-4AB6-8CB6-DF38961C9F8C}" destId="{2EE0EE57-D5F8-48F1-891C-15875A70F373}" srcOrd="1" destOrd="0" presId="urn:microsoft.com/office/officeart/2005/8/layout/process1"/>
    <dgm:cxn modelId="{1AE180B0-8118-4C97-85B3-F77D7966E5FA}" type="presOf" srcId="{7797A12E-007D-450C-9D51-EE20FE4B72A6}" destId="{1387BCC1-1474-4B3F-99FA-2F523A5C8124}"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 modelId="{85F7BB0E-C544-489F-A4D8-B6F3C8A70240}" type="presParOf" srcId="{560B2B6D-E9FF-4D64-BC49-337ABEC732CA}" destId="{1387BCC1-1474-4B3F-99FA-2F523A5C8124}" srcOrd="5" destOrd="0" presId="urn:microsoft.com/office/officeart/2005/8/layout/process1"/>
    <dgm:cxn modelId="{1AA98E95-5FC5-4063-93CE-EB92ABB1E22F}" type="presParOf" srcId="{1387BCC1-1474-4B3F-99FA-2F523A5C8124}" destId="{2D367B32-F747-465D-9E23-22A5F67BE396}" srcOrd="0" destOrd="0" presId="urn:microsoft.com/office/officeart/2005/8/layout/process1"/>
    <dgm:cxn modelId="{0FD3BAEA-8020-4BE4-A4C5-85E5647E4CF5}" type="presParOf" srcId="{560B2B6D-E9FF-4D64-BC49-337ABEC732CA}" destId="{9EFAFFE6-4D7B-497D-A9EC-306B442FD70B}" srcOrd="6" destOrd="0" presId="urn:microsoft.com/office/officeart/2005/8/layout/process1"/>
    <dgm:cxn modelId="{F578DE78-641C-4480-826A-A5599306075D}" type="presParOf" srcId="{560B2B6D-E9FF-4D64-BC49-337ABEC732CA}" destId="{89022520-E799-441E-93CB-4C597305AF98}" srcOrd="7" destOrd="0" presId="urn:microsoft.com/office/officeart/2005/8/layout/process1"/>
    <dgm:cxn modelId="{F5EC4480-31F1-4DAC-B45F-5A1C1CAC4A0D}" type="presParOf" srcId="{89022520-E799-441E-93CB-4C597305AF98}" destId="{2EE0EE57-D5F8-48F1-891C-15875A70F373}" srcOrd="0" destOrd="0" presId="urn:microsoft.com/office/officeart/2005/8/layout/process1"/>
    <dgm:cxn modelId="{DE2F692A-8A5C-4F9A-A7DD-1314E1E504C8}" type="presParOf" srcId="{560B2B6D-E9FF-4D64-BC49-337ABEC732CA}" destId="{CD0BBA60-665F-4493-8AAC-414E199D5EA8}" srcOrd="8"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a:solidFill>
          <a:srgbClr val="004C97"/>
        </a:solidFill>
      </dgm:spPr>
      <dgm:t>
        <a:bodyPr/>
        <a:lstStyle/>
        <a:p>
          <a:r>
            <a:rPr lang="en-US" sz="1400"/>
            <a:t>Nonfinancial assets, such as real estate</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a:solidFill>
          <a:srgbClr val="004C97"/>
        </a:solidFill>
      </dgm:spPr>
      <dgm:t>
        <a:bodyPr/>
        <a:lstStyle/>
        <a:p>
          <a:r>
            <a:rPr lang="en-US" sz="1400"/>
            <a:t>Household debt, including mortgage</a:t>
          </a:r>
        </a:p>
      </dgm:t>
    </dgm:pt>
    <dgm:pt modelId="{DAF1D787-5061-4301-81DD-9634F6B0D7E1}" type="sibTrans" cxnId="{3E817848-6BB1-4A8B-BB68-0D54ED8DDB32}">
      <dgm:prSet/>
      <dgm:spPr>
        <a:noFill/>
      </dgm:spPr>
      <dgm:t>
        <a:bodyPr/>
        <a:lstStyle/>
        <a:p>
          <a:endParaRPr lang="en-US"/>
        </a:p>
      </dgm:t>
    </dgm:pt>
    <dgm:pt modelId="{36B92D3F-73EA-408E-B058-23E199AEF283}" type="parTrans" cxnId="{3E817848-6BB1-4A8B-BB68-0D54ED8DDB32}">
      <dgm:prSet/>
      <dgm:spPr/>
      <dgm:t>
        <a:bodyPr/>
        <a:lstStyle/>
        <a:p>
          <a:endParaRPr lang="en-US"/>
        </a:p>
      </dgm:t>
    </dgm:pt>
    <dgm:pt modelId="{3CB10B9F-F9DD-4D34-8BEB-F3C60DAFF631}">
      <dgm:prSet phldrT="[Text]" custT="1"/>
      <dgm:spPr>
        <a:solidFill>
          <a:srgbClr val="004C97"/>
        </a:solidFill>
      </dgm:spPr>
      <dgm:t>
        <a:bodyPr/>
        <a:lstStyle/>
        <a:p>
          <a:r>
            <a:rPr lang="en-US" sz="1400"/>
            <a:t>Credit card use and balances</a:t>
          </a:r>
        </a:p>
      </dgm:t>
    </dgm:pt>
    <dgm:pt modelId="{7797A12E-007D-450C-9D51-EE20FE4B72A6}" type="sibTrans" cxnId="{9551E070-ACBD-40DA-93D9-E5DC32FE4525}">
      <dgm:prSet/>
      <dgm:spPr>
        <a:noFill/>
      </dgm:spPr>
      <dgm:t>
        <a:bodyPr/>
        <a:lstStyle/>
        <a:p>
          <a:endParaRPr lang="en-US"/>
        </a:p>
      </dgm:t>
    </dgm:pt>
    <dgm:pt modelId="{74BA634A-0DDD-4094-B519-DA9E57D30900}" type="parTrans" cxnId="{9551E070-ACBD-40DA-93D9-E5DC32FE4525}">
      <dgm:prSet/>
      <dgm:spPr/>
      <dgm:t>
        <a:bodyPr/>
        <a:lstStyle/>
        <a:p>
          <a:endParaRPr lang="en-US"/>
        </a:p>
      </dgm:t>
    </dgm:pt>
    <dgm:pt modelId="{C899F4A2-85D4-406C-A4D2-B2BD68ADD376}">
      <dgm:prSet phldrT="[Text]" custT="1"/>
      <dgm:spPr>
        <a:solidFill>
          <a:srgbClr val="004C97"/>
        </a:solidFill>
      </dgm:spPr>
      <dgm:t>
        <a:bodyPr/>
        <a:lstStyle/>
        <a:p>
          <a:r>
            <a:rPr lang="en-US" sz="1400"/>
            <a:t>Foreign exchange assets and liabilities</a:t>
          </a:r>
        </a:p>
      </dgm:t>
    </dgm:pt>
    <dgm:pt modelId="{F353D5B1-51CF-4AB6-8CB6-DF38961C9F8C}" type="sibTrans" cxnId="{272FC8AD-CAE8-43EA-9439-B22F0B0C3D82}">
      <dgm:prSet/>
      <dgm:spPr>
        <a:noFill/>
      </dgm:spPr>
      <dgm:t>
        <a:bodyPr/>
        <a:lstStyle/>
        <a:p>
          <a:endParaRPr lang="en-US"/>
        </a:p>
      </dgm:t>
    </dgm:pt>
    <dgm:pt modelId="{6AF6F0A6-A807-42C7-A11E-E79A19282B80}" type="parTrans" cxnId="{272FC8AD-CAE8-43EA-9439-B22F0B0C3D82}">
      <dgm:prSet/>
      <dgm:spPr/>
      <dgm:t>
        <a:bodyPr/>
        <a:lstStyle/>
        <a:p>
          <a:endParaRPr lang="en-US"/>
        </a:p>
      </dgm:t>
    </dgm:pt>
    <dgm:pt modelId="{6590506D-6251-42DA-A5A6-FEE2556BB8A3}">
      <dgm:prSet phldrT="[Text]" custT="1"/>
      <dgm:spPr>
        <a:solidFill>
          <a:srgbClr val="004C97"/>
        </a:solidFill>
      </dgm:spPr>
      <dgm:t>
        <a:bodyPr/>
        <a:lstStyle/>
        <a:p>
          <a:r>
            <a:rPr lang="en-US" sz="1400"/>
            <a:t>Insurance,</a:t>
          </a:r>
        </a:p>
        <a:p>
          <a:r>
            <a:rPr lang="en-US" sz="1400"/>
            <a:t>Pensions</a:t>
          </a:r>
          <a:endParaRPr lang="en-US" sz="1100"/>
        </a:p>
      </dgm:t>
    </dgm:pt>
    <dgm:pt modelId="{47E329DF-A537-4E17-A67B-1BA2A7BB8A8D}" type="sibTrans" cxnId="{0CA4F648-126F-462D-8301-3C8CFFDCA29C}">
      <dgm:prSet/>
      <dgm:spPr/>
      <dgm:t>
        <a:bodyPr/>
        <a:lstStyle/>
        <a:p>
          <a:endParaRPr lang="en-US"/>
        </a:p>
      </dgm:t>
    </dgm:pt>
    <dgm:pt modelId="{1F833FF3-5477-42AF-A50E-0A694C84A8F3}" type="parTrans" cxnId="{0CA4F648-126F-462D-8301-3C8CFFDCA29C}">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5"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4" custScaleX="42499"/>
      <dgm:spPr/>
    </dgm:pt>
    <dgm:pt modelId="{C72DCD34-8771-4E07-8A1C-EB3AB4A8A01C}" type="pres">
      <dgm:prSet presAssocID="{1F8840B5-A2E7-47E3-8B5D-9C59B763C205}" presName="connectorText" presStyleLbl="sibTrans2D1" presStyleIdx="0" presStyleCnt="4"/>
      <dgm:spPr/>
    </dgm:pt>
    <dgm:pt modelId="{D11F5219-A841-4502-BA08-03B879E5B8D3}" type="pres">
      <dgm:prSet presAssocID="{FE455C0C-AA9E-4963-BF8D-E768F5BECD3C}" presName="node" presStyleLbl="node1" presStyleIdx="1" presStyleCnt="5"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4" custScaleX="42499"/>
      <dgm:spPr/>
    </dgm:pt>
    <dgm:pt modelId="{DD2947D3-F52A-4748-98C4-8AFB232F4FE5}" type="pres">
      <dgm:prSet presAssocID="{DAF1D787-5061-4301-81DD-9634F6B0D7E1}" presName="connectorText" presStyleLbl="sibTrans2D1" presStyleIdx="1" presStyleCnt="4"/>
      <dgm:spPr/>
    </dgm:pt>
    <dgm:pt modelId="{D734FF8B-F5CB-4848-869B-09FFC07C5165}" type="pres">
      <dgm:prSet presAssocID="{3CB10B9F-F9DD-4D34-8BEB-F3C60DAFF631}" presName="node" presStyleLbl="node1" presStyleIdx="2" presStyleCnt="5" custScaleX="674177" custScaleY="160518">
        <dgm:presLayoutVars>
          <dgm:bulletEnabled val="1"/>
        </dgm:presLayoutVars>
      </dgm:prSet>
      <dgm:spPr/>
    </dgm:pt>
    <dgm:pt modelId="{1387BCC1-1474-4B3F-99FA-2F523A5C8124}" type="pres">
      <dgm:prSet presAssocID="{7797A12E-007D-450C-9D51-EE20FE4B72A6}" presName="sibTrans" presStyleLbl="sibTrans2D1" presStyleIdx="2" presStyleCnt="4" custScaleX="42499"/>
      <dgm:spPr/>
    </dgm:pt>
    <dgm:pt modelId="{2D367B32-F747-465D-9E23-22A5F67BE396}" type="pres">
      <dgm:prSet presAssocID="{7797A12E-007D-450C-9D51-EE20FE4B72A6}" presName="connectorText" presStyleLbl="sibTrans2D1" presStyleIdx="2" presStyleCnt="4"/>
      <dgm:spPr/>
    </dgm:pt>
    <dgm:pt modelId="{9EFAFFE6-4D7B-497D-A9EC-306B442FD70B}" type="pres">
      <dgm:prSet presAssocID="{C899F4A2-85D4-406C-A4D2-B2BD68ADD376}" presName="node" presStyleLbl="node1" presStyleIdx="3" presStyleCnt="5" custScaleX="674177" custScaleY="160518">
        <dgm:presLayoutVars>
          <dgm:bulletEnabled val="1"/>
        </dgm:presLayoutVars>
      </dgm:prSet>
      <dgm:spPr/>
    </dgm:pt>
    <dgm:pt modelId="{89022520-E799-441E-93CB-4C597305AF98}" type="pres">
      <dgm:prSet presAssocID="{F353D5B1-51CF-4AB6-8CB6-DF38961C9F8C}" presName="sibTrans" presStyleLbl="sibTrans2D1" presStyleIdx="3" presStyleCnt="4" custScaleX="42499"/>
      <dgm:spPr/>
    </dgm:pt>
    <dgm:pt modelId="{2EE0EE57-D5F8-48F1-891C-15875A70F373}" type="pres">
      <dgm:prSet presAssocID="{F353D5B1-51CF-4AB6-8CB6-DF38961C9F8C}" presName="connectorText" presStyleLbl="sibTrans2D1" presStyleIdx="3" presStyleCnt="4"/>
      <dgm:spPr/>
    </dgm:pt>
    <dgm:pt modelId="{CD0BBA60-665F-4493-8AAC-414E199D5EA8}" type="pres">
      <dgm:prSet presAssocID="{6590506D-6251-42DA-A5A6-FEE2556BB8A3}" presName="node" presStyleLbl="node1" presStyleIdx="4" presStyleCnt="5"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1612F31A-1C91-4BFA-8B6F-271F217EE2B8}" type="presOf" srcId="{7797A12E-007D-450C-9D51-EE20FE4B72A6}" destId="{2D367B32-F747-465D-9E23-22A5F67BE396}" srcOrd="1" destOrd="0" presId="urn:microsoft.com/office/officeart/2005/8/layout/process1"/>
    <dgm:cxn modelId="{B9A5C332-34CD-4844-9630-8507300D93B6}" type="presOf" srcId="{6590506D-6251-42DA-A5A6-FEE2556BB8A3}" destId="{CD0BBA60-665F-4493-8AAC-414E199D5EA8}"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0CA4F648-126F-462D-8301-3C8CFFDCA29C}" srcId="{3AF6AF5A-B1BD-4465-91DD-A9404F24649A}" destId="{6590506D-6251-42DA-A5A6-FEE2556BB8A3}" srcOrd="4" destOrd="0" parTransId="{1F833FF3-5477-42AF-A50E-0A694C84A8F3}" sibTransId="{47E329DF-A537-4E17-A67B-1BA2A7BB8A8D}"/>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B3EF1D6B-9EFF-4D49-B132-22ADEEF9C7AB}" type="presOf" srcId="{C899F4A2-85D4-406C-A4D2-B2BD68ADD376}" destId="{9EFAFFE6-4D7B-497D-A9EC-306B442FD70B}" srcOrd="0" destOrd="0" presId="urn:microsoft.com/office/officeart/2005/8/layout/process1"/>
    <dgm:cxn modelId="{9551E070-ACBD-40DA-93D9-E5DC32FE4525}" srcId="{3AF6AF5A-B1BD-4465-91DD-A9404F24649A}" destId="{3CB10B9F-F9DD-4D34-8BEB-F3C60DAFF631}" srcOrd="2" destOrd="0" parTransId="{74BA634A-0DDD-4094-B519-DA9E57D30900}" sibTransId="{7797A12E-007D-450C-9D51-EE20FE4B72A6}"/>
    <dgm:cxn modelId="{50DA0497-86C2-4E2E-82F2-A03617D6D4CE}" type="presOf" srcId="{F353D5B1-51CF-4AB6-8CB6-DF38961C9F8C}" destId="{89022520-E799-441E-93CB-4C597305AF98}" srcOrd="0" destOrd="0" presId="urn:microsoft.com/office/officeart/2005/8/layout/process1"/>
    <dgm:cxn modelId="{E30F88AA-2B4D-4B37-B4AF-FE2BECFF1DB1}" type="presOf" srcId="{1F8840B5-A2E7-47E3-8B5D-9C59B763C205}" destId="{37CF87CD-ED07-4E1D-BF2B-B726D68A0C0B}" srcOrd="0" destOrd="0" presId="urn:microsoft.com/office/officeart/2005/8/layout/process1"/>
    <dgm:cxn modelId="{272FC8AD-CAE8-43EA-9439-B22F0B0C3D82}" srcId="{3AF6AF5A-B1BD-4465-91DD-A9404F24649A}" destId="{C899F4A2-85D4-406C-A4D2-B2BD68ADD376}" srcOrd="3" destOrd="0" parTransId="{6AF6F0A6-A807-42C7-A11E-E79A19282B80}" sibTransId="{F353D5B1-51CF-4AB6-8CB6-DF38961C9F8C}"/>
    <dgm:cxn modelId="{2BB833AF-45D4-4D73-A5D8-59B8E3D31E80}" type="presOf" srcId="{F353D5B1-51CF-4AB6-8CB6-DF38961C9F8C}" destId="{2EE0EE57-D5F8-48F1-891C-15875A70F373}" srcOrd="1" destOrd="0" presId="urn:microsoft.com/office/officeart/2005/8/layout/process1"/>
    <dgm:cxn modelId="{1AE180B0-8118-4C97-85B3-F77D7966E5FA}" type="presOf" srcId="{7797A12E-007D-450C-9D51-EE20FE4B72A6}" destId="{1387BCC1-1474-4B3F-99FA-2F523A5C8124}"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 modelId="{85F7BB0E-C544-489F-A4D8-B6F3C8A70240}" type="presParOf" srcId="{560B2B6D-E9FF-4D64-BC49-337ABEC732CA}" destId="{1387BCC1-1474-4B3F-99FA-2F523A5C8124}" srcOrd="5" destOrd="0" presId="urn:microsoft.com/office/officeart/2005/8/layout/process1"/>
    <dgm:cxn modelId="{1AA98E95-5FC5-4063-93CE-EB92ABB1E22F}" type="presParOf" srcId="{1387BCC1-1474-4B3F-99FA-2F523A5C8124}" destId="{2D367B32-F747-465D-9E23-22A5F67BE396}" srcOrd="0" destOrd="0" presId="urn:microsoft.com/office/officeart/2005/8/layout/process1"/>
    <dgm:cxn modelId="{0FD3BAEA-8020-4BE4-A4C5-85E5647E4CF5}" type="presParOf" srcId="{560B2B6D-E9FF-4D64-BC49-337ABEC732CA}" destId="{9EFAFFE6-4D7B-497D-A9EC-306B442FD70B}" srcOrd="6" destOrd="0" presId="urn:microsoft.com/office/officeart/2005/8/layout/process1"/>
    <dgm:cxn modelId="{F578DE78-641C-4480-826A-A5599306075D}" type="presParOf" srcId="{560B2B6D-E9FF-4D64-BC49-337ABEC732CA}" destId="{89022520-E799-441E-93CB-4C597305AF98}" srcOrd="7" destOrd="0" presId="urn:microsoft.com/office/officeart/2005/8/layout/process1"/>
    <dgm:cxn modelId="{F5EC4480-31F1-4DAC-B45F-5A1C1CAC4A0D}" type="presParOf" srcId="{89022520-E799-441E-93CB-4C597305AF98}" destId="{2EE0EE57-D5F8-48F1-891C-15875A70F373}" srcOrd="0" destOrd="0" presId="urn:microsoft.com/office/officeart/2005/8/layout/process1"/>
    <dgm:cxn modelId="{DE2F692A-8A5C-4F9A-A7DD-1314E1E504C8}" type="presParOf" srcId="{560B2B6D-E9FF-4D64-BC49-337ABEC732CA}" destId="{CD0BBA60-665F-4493-8AAC-414E199D5EA8}" srcOrd="8"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a:solidFill>
          <a:srgbClr val="B1DAF5"/>
        </a:solidFill>
      </dgm:spPr>
      <dgm:t>
        <a:bodyPr/>
        <a:lstStyle/>
        <a:p>
          <a:r>
            <a:rPr lang="en-US" sz="1400">
              <a:solidFill>
                <a:schemeClr val="tx1"/>
              </a:solidFill>
            </a:rPr>
            <a:t>Nonperforming loans</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a:solidFill>
          <a:srgbClr val="B1DAF5"/>
        </a:solidFill>
      </dgm:spPr>
      <dgm:t>
        <a:bodyPr/>
        <a:lstStyle/>
        <a:p>
          <a:r>
            <a:rPr lang="en-US" sz="1400">
              <a:solidFill>
                <a:schemeClr val="tx1"/>
              </a:solidFill>
            </a:rPr>
            <a:t>Refinancing activity</a:t>
          </a:r>
        </a:p>
      </dgm:t>
    </dgm:pt>
    <dgm:pt modelId="{DAF1D787-5061-4301-81DD-9634F6B0D7E1}" type="sibTrans" cxnId="{3E817848-6BB1-4A8B-BB68-0D54ED8DDB32}">
      <dgm:prSet/>
      <dgm:spPr>
        <a:noFill/>
      </dgm:spPr>
      <dgm:t>
        <a:bodyPr/>
        <a:lstStyle/>
        <a:p>
          <a:endParaRPr lang="en-US"/>
        </a:p>
      </dgm:t>
    </dgm:pt>
    <dgm:pt modelId="{36B92D3F-73EA-408E-B058-23E199AEF283}" type="parTrans" cxnId="{3E817848-6BB1-4A8B-BB68-0D54ED8DDB32}">
      <dgm:prSet/>
      <dgm:spPr/>
      <dgm:t>
        <a:bodyPr/>
        <a:lstStyle/>
        <a:p>
          <a:endParaRPr lang="en-US"/>
        </a:p>
      </dgm:t>
    </dgm:pt>
    <dgm:pt modelId="{3CB10B9F-F9DD-4D34-8BEB-F3C60DAFF631}">
      <dgm:prSet phldrT="[Text]" custT="1"/>
      <dgm:spPr>
        <a:solidFill>
          <a:srgbClr val="B1DAF5"/>
        </a:solidFill>
      </dgm:spPr>
      <dgm:t>
        <a:bodyPr/>
        <a:lstStyle/>
        <a:p>
          <a:r>
            <a:rPr lang="en-US" sz="1400">
              <a:solidFill>
                <a:schemeClr val="tx1"/>
              </a:solidFill>
            </a:rPr>
            <a:t>Digital payments</a:t>
          </a:r>
        </a:p>
      </dgm:t>
    </dgm:pt>
    <dgm:pt modelId="{7797A12E-007D-450C-9D51-EE20FE4B72A6}" type="sibTrans" cxnId="{9551E070-ACBD-40DA-93D9-E5DC32FE4525}">
      <dgm:prSet/>
      <dgm:spPr>
        <a:noFill/>
      </dgm:spPr>
      <dgm:t>
        <a:bodyPr/>
        <a:lstStyle/>
        <a:p>
          <a:endParaRPr lang="en-US"/>
        </a:p>
      </dgm:t>
    </dgm:pt>
    <dgm:pt modelId="{74BA634A-0DDD-4094-B519-DA9E57D30900}" type="parTrans" cxnId="{9551E070-ACBD-40DA-93D9-E5DC32FE4525}">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3"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2" custScaleX="42499"/>
      <dgm:spPr/>
    </dgm:pt>
    <dgm:pt modelId="{C72DCD34-8771-4E07-8A1C-EB3AB4A8A01C}" type="pres">
      <dgm:prSet presAssocID="{1F8840B5-A2E7-47E3-8B5D-9C59B763C205}" presName="connectorText" presStyleLbl="sibTrans2D1" presStyleIdx="0" presStyleCnt="2"/>
      <dgm:spPr/>
    </dgm:pt>
    <dgm:pt modelId="{D11F5219-A841-4502-BA08-03B879E5B8D3}" type="pres">
      <dgm:prSet presAssocID="{FE455C0C-AA9E-4963-BF8D-E768F5BECD3C}" presName="node" presStyleLbl="node1" presStyleIdx="1" presStyleCnt="3"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2" custScaleX="42499"/>
      <dgm:spPr/>
    </dgm:pt>
    <dgm:pt modelId="{DD2947D3-F52A-4748-98C4-8AFB232F4FE5}" type="pres">
      <dgm:prSet presAssocID="{DAF1D787-5061-4301-81DD-9634F6B0D7E1}" presName="connectorText" presStyleLbl="sibTrans2D1" presStyleIdx="1" presStyleCnt="2"/>
      <dgm:spPr/>
    </dgm:pt>
    <dgm:pt modelId="{D734FF8B-F5CB-4848-869B-09FFC07C5165}" type="pres">
      <dgm:prSet presAssocID="{3CB10B9F-F9DD-4D34-8BEB-F3C60DAFF631}" presName="node" presStyleLbl="node1" presStyleIdx="2" presStyleCnt="3"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9551E070-ACBD-40DA-93D9-E5DC32FE4525}" srcId="{3AF6AF5A-B1BD-4465-91DD-A9404F24649A}" destId="{3CB10B9F-F9DD-4D34-8BEB-F3C60DAFF631}" srcOrd="2" destOrd="0" parTransId="{74BA634A-0DDD-4094-B519-DA9E57D30900}" sibTransId="{7797A12E-007D-450C-9D51-EE20FE4B72A6}"/>
    <dgm:cxn modelId="{E30F88AA-2B4D-4B37-B4AF-FE2BECFF1DB1}" type="presOf" srcId="{1F8840B5-A2E7-47E3-8B5D-9C59B763C205}" destId="{37CF87CD-ED07-4E1D-BF2B-B726D68A0C0B}"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3BD3E16-19E8-440B-83EF-5B68B67EB476}" type="doc">
      <dgm:prSet loTypeId="urn:microsoft.com/office/officeart/2005/8/layout/radial3" loCatId="cycle" qsTypeId="urn:microsoft.com/office/officeart/2005/8/quickstyle/simple3" qsCatId="simple" csTypeId="urn:microsoft.com/office/officeart/2005/8/colors/accent1_2" csCatId="accent1" phldr="1"/>
      <dgm:spPr/>
      <dgm:t>
        <a:bodyPr/>
        <a:lstStyle/>
        <a:p>
          <a:endParaRPr lang="en-US"/>
        </a:p>
      </dgm:t>
    </dgm:pt>
    <dgm:pt modelId="{D75DB907-0942-4CCB-90E7-A19FA63D65EC}">
      <dgm:prSet phldrT="[Tex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2800">
              <a:latin typeface="Arial" panose="020B0604020202020204" pitchFamily="34" charset="0"/>
              <a:cs typeface="Arial" panose="020B0604020202020204" pitchFamily="34" charset="0"/>
            </a:rPr>
            <a:t>Financial Inclusion</a:t>
          </a:r>
        </a:p>
      </dgm:t>
    </dgm:pt>
    <dgm:pt modelId="{3B2B64BB-8F6D-4A93-B9B3-A294193806D4}" type="parTrans" cxnId="{BBCCEDEE-1226-4A85-86A9-B4ABFFB6DEAC}">
      <dgm:prSet/>
      <dgm:spPr/>
      <dgm:t>
        <a:bodyPr/>
        <a:lstStyle/>
        <a:p>
          <a:endParaRPr lang="en-US" sz="2400"/>
        </a:p>
      </dgm:t>
    </dgm:pt>
    <dgm:pt modelId="{6F5568C9-38FA-43AE-BDED-7EB6B2D6FFD9}" type="sibTrans" cxnId="{BBCCEDEE-1226-4A85-86A9-B4ABFFB6DEAC}">
      <dgm:prSet/>
      <dgm:spPr/>
      <dgm:t>
        <a:bodyPr/>
        <a:lstStyle/>
        <a:p>
          <a:endParaRPr lang="en-US" sz="2400"/>
        </a:p>
      </dgm:t>
    </dgm:pt>
    <dgm:pt modelId="{FE169721-77AE-4294-9767-F19188686881}">
      <dgm:prSet phldrT="[Tex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pPr>
            <a:buFont typeface="Courier New" panose="02070309020205020404" pitchFamily="49" charset="0"/>
            <a:buChar char="o"/>
          </a:pPr>
          <a:r>
            <a:rPr lang="en-US" sz="1600">
              <a:latin typeface="Arial" panose="020B0604020202020204" pitchFamily="34" charset="0"/>
              <a:cs typeface="Arial" panose="020B0604020202020204" pitchFamily="34" charset="0"/>
            </a:rPr>
            <a:t>Provide incentives to banks to promote financial access</a:t>
          </a:r>
        </a:p>
      </dgm:t>
    </dgm:pt>
    <dgm:pt modelId="{308B8A19-6C67-4609-817F-D81812AF9348}" type="parTrans" cxnId="{57209185-F966-474D-9138-49A32B185C9B}">
      <dgm:prSet custT="1"/>
      <dgm:spPr/>
      <dgm:t>
        <a:bodyPr/>
        <a:lstStyle/>
        <a:p>
          <a:endParaRPr lang="en-US" sz="700"/>
        </a:p>
      </dgm:t>
    </dgm:pt>
    <dgm:pt modelId="{6A6F62F4-2E6B-485C-B11C-45485600A043}" type="sibTrans" cxnId="{57209185-F966-474D-9138-49A32B185C9B}">
      <dgm:prSet/>
      <dgm:spPr/>
      <dgm:t>
        <a:bodyPr/>
        <a:lstStyle/>
        <a:p>
          <a:endParaRPr lang="en-US" sz="2400"/>
        </a:p>
      </dgm:t>
    </dgm:pt>
    <dgm:pt modelId="{935BD41A-B00F-4EB3-B48E-151B6E1F12E1}">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Develop wireless payment systems</a:t>
          </a:r>
        </a:p>
      </dgm:t>
    </dgm:pt>
    <dgm:pt modelId="{AC3E6767-6B8D-4543-B372-D1A2363E11DB}" type="parTrans" cxnId="{83A5CAEF-6E0C-4CB3-A9C5-972C3434011C}">
      <dgm:prSet custT="1"/>
      <dgm:spPr/>
      <dgm:t>
        <a:bodyPr/>
        <a:lstStyle/>
        <a:p>
          <a:endParaRPr lang="en-US" sz="700"/>
        </a:p>
      </dgm:t>
    </dgm:pt>
    <dgm:pt modelId="{2FBFC634-B38F-4DE1-B522-093B2E765DD3}" type="sibTrans" cxnId="{83A5CAEF-6E0C-4CB3-A9C5-972C3434011C}">
      <dgm:prSet/>
      <dgm:spPr/>
      <dgm:t>
        <a:bodyPr/>
        <a:lstStyle/>
        <a:p>
          <a:endParaRPr lang="en-US" sz="2400"/>
        </a:p>
      </dgm:t>
    </dgm:pt>
    <dgm:pt modelId="{44148D3C-E2BD-4411-91C2-42EBA83792AB}">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Build alternative credit verifying channels</a:t>
          </a:r>
        </a:p>
      </dgm:t>
    </dgm:pt>
    <dgm:pt modelId="{C165777B-AC61-48C0-9B62-530A050E0A6D}" type="parTrans" cxnId="{C17F2168-9C4B-4192-ACB1-DD33ABBEE2DD}">
      <dgm:prSet custT="1"/>
      <dgm:spPr/>
      <dgm:t>
        <a:bodyPr/>
        <a:lstStyle/>
        <a:p>
          <a:endParaRPr lang="en-US" sz="700"/>
        </a:p>
      </dgm:t>
    </dgm:pt>
    <dgm:pt modelId="{C8D5EA55-7B2B-4485-BB2D-60FB9BDF5E47}" type="sibTrans" cxnId="{C17F2168-9C4B-4192-ACB1-DD33ABBEE2DD}">
      <dgm:prSet/>
      <dgm:spPr/>
      <dgm:t>
        <a:bodyPr/>
        <a:lstStyle/>
        <a:p>
          <a:endParaRPr lang="en-US" sz="2400"/>
        </a:p>
      </dgm:t>
    </dgm:pt>
    <dgm:pt modelId="{00B25473-ACFC-4379-AB89-C7E8632EAF18}">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Reduce legal barriers  to owning an account</a:t>
          </a:r>
        </a:p>
      </dgm:t>
    </dgm:pt>
    <dgm:pt modelId="{B542D4FE-2F8E-4ABB-874B-F26B6DECAD3D}" type="parTrans" cxnId="{85822056-3AFF-41D8-8018-F4073121E6E4}">
      <dgm:prSet custT="1"/>
      <dgm:spPr/>
      <dgm:t>
        <a:bodyPr/>
        <a:lstStyle/>
        <a:p>
          <a:endParaRPr lang="en-US" sz="700"/>
        </a:p>
      </dgm:t>
    </dgm:pt>
    <dgm:pt modelId="{3EA8AA17-D86E-4BB2-A4F4-F13518A4B43A}" type="sibTrans" cxnId="{85822056-3AFF-41D8-8018-F4073121E6E4}">
      <dgm:prSet/>
      <dgm:spPr/>
      <dgm:t>
        <a:bodyPr/>
        <a:lstStyle/>
        <a:p>
          <a:endParaRPr lang="en-US" sz="2400"/>
        </a:p>
      </dgm:t>
    </dgm:pt>
    <dgm:pt modelId="{BA948EE0-9FCE-48CB-B396-5F7FC42F558D}">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Universal official identification systems</a:t>
          </a:r>
        </a:p>
      </dgm:t>
    </dgm:pt>
    <dgm:pt modelId="{22B9277B-FBBD-47B2-BF2B-7FBB9534D057}" type="parTrans" cxnId="{BD75A504-6CE6-45C3-88C2-A38E6A5F4157}">
      <dgm:prSet custT="1"/>
      <dgm:spPr/>
      <dgm:t>
        <a:bodyPr/>
        <a:lstStyle/>
        <a:p>
          <a:endParaRPr lang="en-US" sz="700"/>
        </a:p>
      </dgm:t>
    </dgm:pt>
    <dgm:pt modelId="{D6C99238-2F84-4D1A-9EA2-1ED38AE24682}" type="sibTrans" cxnId="{BD75A504-6CE6-45C3-88C2-A38E6A5F4157}">
      <dgm:prSet/>
      <dgm:spPr/>
      <dgm:t>
        <a:bodyPr/>
        <a:lstStyle/>
        <a:p>
          <a:endParaRPr lang="en-US" sz="2400"/>
        </a:p>
      </dgm:t>
    </dgm:pt>
    <dgm:pt modelId="{28F45D9F-467E-4FEF-87EE-899E5BB4A14D}">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Access to digital financial services</a:t>
          </a:r>
        </a:p>
      </dgm:t>
    </dgm:pt>
    <dgm:pt modelId="{441FEE8E-63CF-4989-9266-9D3F07CFDAC9}" type="parTrans" cxnId="{19DACB68-D604-42E8-B0CC-D46312AB7F00}">
      <dgm:prSet custT="1"/>
      <dgm:spPr/>
      <dgm:t>
        <a:bodyPr/>
        <a:lstStyle/>
        <a:p>
          <a:endParaRPr lang="en-US" sz="700"/>
        </a:p>
      </dgm:t>
    </dgm:pt>
    <dgm:pt modelId="{D3C3DC41-3552-4D7D-B917-12307BDD9CAB}" type="sibTrans" cxnId="{19DACB68-D604-42E8-B0CC-D46312AB7F00}">
      <dgm:prSet/>
      <dgm:spPr/>
      <dgm:t>
        <a:bodyPr/>
        <a:lstStyle/>
        <a:p>
          <a:endParaRPr lang="en-US" sz="2400"/>
        </a:p>
      </dgm:t>
    </dgm:pt>
    <dgm:pt modelId="{684D1722-FEC0-48CD-94AB-04BD28C083A6}">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Direct deposit transfers, payments</a:t>
          </a:r>
        </a:p>
      </dgm:t>
    </dgm:pt>
    <dgm:pt modelId="{5C4E246A-4314-4D15-AF87-1A0EFB02B806}" type="parTrans" cxnId="{DC67D826-9AE2-4B6C-838D-EFFB1F99B04A}">
      <dgm:prSet custT="1"/>
      <dgm:spPr/>
      <dgm:t>
        <a:bodyPr/>
        <a:lstStyle/>
        <a:p>
          <a:endParaRPr lang="en-US" sz="700"/>
        </a:p>
      </dgm:t>
    </dgm:pt>
    <dgm:pt modelId="{7277ABE0-09C7-4836-953C-54110E4B85C3}" type="sibTrans" cxnId="{DC67D826-9AE2-4B6C-838D-EFFB1F99B04A}">
      <dgm:prSet/>
      <dgm:spPr/>
      <dgm:t>
        <a:bodyPr/>
        <a:lstStyle/>
        <a:p>
          <a:endParaRPr lang="en-US" sz="2400"/>
        </a:p>
      </dgm:t>
    </dgm:pt>
    <dgm:pt modelId="{C754854B-6487-4B07-9931-58DA702A300B}">
      <dgm:prSet custT="1"/>
      <dgm:spPr>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dgm:spPr>
      <dgm:t>
        <a:bodyPr/>
        <a:lstStyle/>
        <a:p>
          <a:r>
            <a:rPr lang="en-US" sz="1600">
              <a:latin typeface="Arial" panose="020B0604020202020204" pitchFamily="34" charset="0"/>
              <a:cs typeface="Arial" panose="020B0604020202020204" pitchFamily="34" charset="0"/>
            </a:rPr>
            <a:t>Financial literacy programs</a:t>
          </a:r>
        </a:p>
      </dgm:t>
    </dgm:pt>
    <dgm:pt modelId="{69BFB2C6-F463-4832-9E16-79428A8C1E87}" type="parTrans" cxnId="{E54FCB7B-9EA6-4351-BA19-6F2C6457D353}">
      <dgm:prSet custT="1"/>
      <dgm:spPr/>
      <dgm:t>
        <a:bodyPr/>
        <a:lstStyle/>
        <a:p>
          <a:endParaRPr lang="en-US" sz="700"/>
        </a:p>
      </dgm:t>
    </dgm:pt>
    <dgm:pt modelId="{D8FA9504-BC7E-4256-8743-21453C16BCBC}" type="sibTrans" cxnId="{E54FCB7B-9EA6-4351-BA19-6F2C6457D353}">
      <dgm:prSet/>
      <dgm:spPr/>
      <dgm:t>
        <a:bodyPr/>
        <a:lstStyle/>
        <a:p>
          <a:endParaRPr lang="en-US" sz="2400"/>
        </a:p>
      </dgm:t>
    </dgm:pt>
    <dgm:pt modelId="{71A951A0-F173-4797-AF84-AACAED44F436}" type="pres">
      <dgm:prSet presAssocID="{B3BD3E16-19E8-440B-83EF-5B68B67EB476}" presName="composite" presStyleCnt="0">
        <dgm:presLayoutVars>
          <dgm:chMax val="1"/>
          <dgm:dir/>
          <dgm:resizeHandles val="exact"/>
        </dgm:presLayoutVars>
      </dgm:prSet>
      <dgm:spPr/>
    </dgm:pt>
    <dgm:pt modelId="{E8ED9D3C-448E-4608-A891-808C8B8B8A16}" type="pres">
      <dgm:prSet presAssocID="{B3BD3E16-19E8-440B-83EF-5B68B67EB476}" presName="radial" presStyleCnt="0">
        <dgm:presLayoutVars>
          <dgm:animLvl val="ctr"/>
        </dgm:presLayoutVars>
      </dgm:prSet>
      <dgm:spPr/>
    </dgm:pt>
    <dgm:pt modelId="{6AF0EEF6-F7FC-48D1-AF33-3F97DAEC068E}" type="pres">
      <dgm:prSet presAssocID="{D75DB907-0942-4CCB-90E7-A19FA63D65EC}" presName="centerShape" presStyleLbl="vennNode1" presStyleIdx="0" presStyleCnt="9"/>
      <dgm:spPr/>
    </dgm:pt>
    <dgm:pt modelId="{65BE68A0-CBFD-4625-A667-6AC0866E99BD}" type="pres">
      <dgm:prSet presAssocID="{FE169721-77AE-4294-9767-F19188686881}" presName="node" presStyleLbl="vennNode1" presStyleIdx="1" presStyleCnt="9">
        <dgm:presLayoutVars>
          <dgm:bulletEnabled val="1"/>
        </dgm:presLayoutVars>
      </dgm:prSet>
      <dgm:spPr/>
    </dgm:pt>
    <dgm:pt modelId="{8783ADD2-1659-4A41-9F03-2398BAC33EFC}" type="pres">
      <dgm:prSet presAssocID="{935BD41A-B00F-4EB3-B48E-151B6E1F12E1}" presName="node" presStyleLbl="vennNode1" presStyleIdx="2" presStyleCnt="9">
        <dgm:presLayoutVars>
          <dgm:bulletEnabled val="1"/>
        </dgm:presLayoutVars>
      </dgm:prSet>
      <dgm:spPr/>
    </dgm:pt>
    <dgm:pt modelId="{4C5F85BF-754A-4C10-95BC-BDF491189F5F}" type="pres">
      <dgm:prSet presAssocID="{44148D3C-E2BD-4411-91C2-42EBA83792AB}" presName="node" presStyleLbl="vennNode1" presStyleIdx="3" presStyleCnt="9">
        <dgm:presLayoutVars>
          <dgm:bulletEnabled val="1"/>
        </dgm:presLayoutVars>
      </dgm:prSet>
      <dgm:spPr/>
    </dgm:pt>
    <dgm:pt modelId="{3F2D84AD-1F60-4A96-A045-E795E0AE5A93}" type="pres">
      <dgm:prSet presAssocID="{00B25473-ACFC-4379-AB89-C7E8632EAF18}" presName="node" presStyleLbl="vennNode1" presStyleIdx="4" presStyleCnt="9">
        <dgm:presLayoutVars>
          <dgm:bulletEnabled val="1"/>
        </dgm:presLayoutVars>
      </dgm:prSet>
      <dgm:spPr/>
    </dgm:pt>
    <dgm:pt modelId="{BCF6398D-614A-4042-A66B-7C91820A2A31}" type="pres">
      <dgm:prSet presAssocID="{BA948EE0-9FCE-48CB-B396-5F7FC42F558D}" presName="node" presStyleLbl="vennNode1" presStyleIdx="5" presStyleCnt="9">
        <dgm:presLayoutVars>
          <dgm:bulletEnabled val="1"/>
        </dgm:presLayoutVars>
      </dgm:prSet>
      <dgm:spPr/>
    </dgm:pt>
    <dgm:pt modelId="{C24B5F91-3B8D-4A6D-9C6C-3F6DC60E823C}" type="pres">
      <dgm:prSet presAssocID="{28F45D9F-467E-4FEF-87EE-899E5BB4A14D}" presName="node" presStyleLbl="vennNode1" presStyleIdx="6" presStyleCnt="9">
        <dgm:presLayoutVars>
          <dgm:bulletEnabled val="1"/>
        </dgm:presLayoutVars>
      </dgm:prSet>
      <dgm:spPr/>
    </dgm:pt>
    <dgm:pt modelId="{518E68FB-F068-47A3-8541-63550B6EEA69}" type="pres">
      <dgm:prSet presAssocID="{684D1722-FEC0-48CD-94AB-04BD28C083A6}" presName="node" presStyleLbl="vennNode1" presStyleIdx="7" presStyleCnt="9">
        <dgm:presLayoutVars>
          <dgm:bulletEnabled val="1"/>
        </dgm:presLayoutVars>
      </dgm:prSet>
      <dgm:spPr/>
    </dgm:pt>
    <dgm:pt modelId="{DE0D35B8-4FE5-4F28-B200-94583AEABFD6}" type="pres">
      <dgm:prSet presAssocID="{C754854B-6487-4B07-9931-58DA702A300B}" presName="node" presStyleLbl="vennNode1" presStyleIdx="8" presStyleCnt="9">
        <dgm:presLayoutVars>
          <dgm:bulletEnabled val="1"/>
        </dgm:presLayoutVars>
      </dgm:prSet>
      <dgm:spPr/>
    </dgm:pt>
  </dgm:ptLst>
  <dgm:cxnLst>
    <dgm:cxn modelId="{BD75A504-6CE6-45C3-88C2-A38E6A5F4157}" srcId="{D75DB907-0942-4CCB-90E7-A19FA63D65EC}" destId="{BA948EE0-9FCE-48CB-B396-5F7FC42F558D}" srcOrd="4" destOrd="0" parTransId="{22B9277B-FBBD-47B2-BF2B-7FBB9534D057}" sibTransId="{D6C99238-2F84-4D1A-9EA2-1ED38AE24682}"/>
    <dgm:cxn modelId="{E7459612-2014-4C9F-A6DF-A97C1D7A151C}" type="presOf" srcId="{935BD41A-B00F-4EB3-B48E-151B6E1F12E1}" destId="{8783ADD2-1659-4A41-9F03-2398BAC33EFC}" srcOrd="0" destOrd="0" presId="urn:microsoft.com/office/officeart/2005/8/layout/radial3"/>
    <dgm:cxn modelId="{F0FCDB21-E1FC-44F7-890D-37F5BBB29025}" type="presOf" srcId="{00B25473-ACFC-4379-AB89-C7E8632EAF18}" destId="{3F2D84AD-1F60-4A96-A045-E795E0AE5A93}" srcOrd="0" destOrd="0" presId="urn:microsoft.com/office/officeart/2005/8/layout/radial3"/>
    <dgm:cxn modelId="{DC67D826-9AE2-4B6C-838D-EFFB1F99B04A}" srcId="{D75DB907-0942-4CCB-90E7-A19FA63D65EC}" destId="{684D1722-FEC0-48CD-94AB-04BD28C083A6}" srcOrd="6" destOrd="0" parTransId="{5C4E246A-4314-4D15-AF87-1A0EFB02B806}" sibTransId="{7277ABE0-09C7-4836-953C-54110E4B85C3}"/>
    <dgm:cxn modelId="{6F1BB02C-E0A8-4B9D-A88C-DC80DCCB0CE4}" type="presOf" srcId="{28F45D9F-467E-4FEF-87EE-899E5BB4A14D}" destId="{C24B5F91-3B8D-4A6D-9C6C-3F6DC60E823C}" srcOrd="0" destOrd="0" presId="urn:microsoft.com/office/officeart/2005/8/layout/radial3"/>
    <dgm:cxn modelId="{4BF0CF30-DEB2-4E34-8896-0B921376ACE0}" type="presOf" srcId="{FE169721-77AE-4294-9767-F19188686881}" destId="{65BE68A0-CBFD-4625-A667-6AC0866E99BD}" srcOrd="0" destOrd="0" presId="urn:microsoft.com/office/officeart/2005/8/layout/radial3"/>
    <dgm:cxn modelId="{C17F2168-9C4B-4192-ACB1-DD33ABBEE2DD}" srcId="{D75DB907-0942-4CCB-90E7-A19FA63D65EC}" destId="{44148D3C-E2BD-4411-91C2-42EBA83792AB}" srcOrd="2" destOrd="0" parTransId="{C165777B-AC61-48C0-9B62-530A050E0A6D}" sibTransId="{C8D5EA55-7B2B-4485-BB2D-60FB9BDF5E47}"/>
    <dgm:cxn modelId="{19DACB68-D604-42E8-B0CC-D46312AB7F00}" srcId="{D75DB907-0942-4CCB-90E7-A19FA63D65EC}" destId="{28F45D9F-467E-4FEF-87EE-899E5BB4A14D}" srcOrd="5" destOrd="0" parTransId="{441FEE8E-63CF-4989-9266-9D3F07CFDAC9}" sibTransId="{D3C3DC41-3552-4D7D-B917-12307BDD9CAB}"/>
    <dgm:cxn modelId="{B8BD5A4B-8019-4F11-9225-763184229A1C}" type="presOf" srcId="{BA948EE0-9FCE-48CB-B396-5F7FC42F558D}" destId="{BCF6398D-614A-4042-A66B-7C91820A2A31}" srcOrd="0" destOrd="0" presId="urn:microsoft.com/office/officeart/2005/8/layout/radial3"/>
    <dgm:cxn modelId="{85822056-3AFF-41D8-8018-F4073121E6E4}" srcId="{D75DB907-0942-4CCB-90E7-A19FA63D65EC}" destId="{00B25473-ACFC-4379-AB89-C7E8632EAF18}" srcOrd="3" destOrd="0" parTransId="{B542D4FE-2F8E-4ABB-874B-F26B6DECAD3D}" sibTransId="{3EA8AA17-D86E-4BB2-A4F4-F13518A4B43A}"/>
    <dgm:cxn modelId="{E54FCB7B-9EA6-4351-BA19-6F2C6457D353}" srcId="{D75DB907-0942-4CCB-90E7-A19FA63D65EC}" destId="{C754854B-6487-4B07-9931-58DA702A300B}" srcOrd="7" destOrd="0" parTransId="{69BFB2C6-F463-4832-9E16-79428A8C1E87}" sibTransId="{D8FA9504-BC7E-4256-8743-21453C16BCBC}"/>
    <dgm:cxn modelId="{57209185-F966-474D-9138-49A32B185C9B}" srcId="{D75DB907-0942-4CCB-90E7-A19FA63D65EC}" destId="{FE169721-77AE-4294-9767-F19188686881}" srcOrd="0" destOrd="0" parTransId="{308B8A19-6C67-4609-817F-D81812AF9348}" sibTransId="{6A6F62F4-2E6B-485C-B11C-45485600A043}"/>
    <dgm:cxn modelId="{D1ED27AF-6883-461F-9DED-C4186190D66E}" type="presOf" srcId="{44148D3C-E2BD-4411-91C2-42EBA83792AB}" destId="{4C5F85BF-754A-4C10-95BC-BDF491189F5F}" srcOrd="0" destOrd="0" presId="urn:microsoft.com/office/officeart/2005/8/layout/radial3"/>
    <dgm:cxn modelId="{362230C2-97AD-43DB-A0C1-BEEFBBCC27BB}" type="presOf" srcId="{B3BD3E16-19E8-440B-83EF-5B68B67EB476}" destId="{71A951A0-F173-4797-AF84-AACAED44F436}" srcOrd="0" destOrd="0" presId="urn:microsoft.com/office/officeart/2005/8/layout/radial3"/>
    <dgm:cxn modelId="{3A5175D0-F044-4BA6-AD99-9B8D2897A35F}" type="presOf" srcId="{C754854B-6487-4B07-9931-58DA702A300B}" destId="{DE0D35B8-4FE5-4F28-B200-94583AEABFD6}" srcOrd="0" destOrd="0" presId="urn:microsoft.com/office/officeart/2005/8/layout/radial3"/>
    <dgm:cxn modelId="{CCD581E3-C581-46CA-B627-68D59A2378E2}" type="presOf" srcId="{684D1722-FEC0-48CD-94AB-04BD28C083A6}" destId="{518E68FB-F068-47A3-8541-63550B6EEA69}" srcOrd="0" destOrd="0" presId="urn:microsoft.com/office/officeart/2005/8/layout/radial3"/>
    <dgm:cxn modelId="{BBCCEDEE-1226-4A85-86A9-B4ABFFB6DEAC}" srcId="{B3BD3E16-19E8-440B-83EF-5B68B67EB476}" destId="{D75DB907-0942-4CCB-90E7-A19FA63D65EC}" srcOrd="0" destOrd="0" parTransId="{3B2B64BB-8F6D-4A93-B9B3-A294193806D4}" sibTransId="{6F5568C9-38FA-43AE-BDED-7EB6B2D6FFD9}"/>
    <dgm:cxn modelId="{83A5CAEF-6E0C-4CB3-A9C5-972C3434011C}" srcId="{D75DB907-0942-4CCB-90E7-A19FA63D65EC}" destId="{935BD41A-B00F-4EB3-B48E-151B6E1F12E1}" srcOrd="1" destOrd="0" parTransId="{AC3E6767-6B8D-4543-B372-D1A2363E11DB}" sibTransId="{2FBFC634-B38F-4DE1-B522-093B2E765DD3}"/>
    <dgm:cxn modelId="{D172A1F9-C89B-4677-A935-C27C11CA9E98}" type="presOf" srcId="{D75DB907-0942-4CCB-90E7-A19FA63D65EC}" destId="{6AF0EEF6-F7FC-48D1-AF33-3F97DAEC068E}" srcOrd="0" destOrd="0" presId="urn:microsoft.com/office/officeart/2005/8/layout/radial3"/>
    <dgm:cxn modelId="{CD29D1C7-DE3E-4146-AA58-5BD4C8FC1496}" type="presParOf" srcId="{71A951A0-F173-4797-AF84-AACAED44F436}" destId="{E8ED9D3C-448E-4608-A891-808C8B8B8A16}" srcOrd="0" destOrd="0" presId="urn:microsoft.com/office/officeart/2005/8/layout/radial3"/>
    <dgm:cxn modelId="{F215A5E3-EDFC-4D01-BF7E-B1D25761DDA6}" type="presParOf" srcId="{E8ED9D3C-448E-4608-A891-808C8B8B8A16}" destId="{6AF0EEF6-F7FC-48D1-AF33-3F97DAEC068E}" srcOrd="0" destOrd="0" presId="urn:microsoft.com/office/officeart/2005/8/layout/radial3"/>
    <dgm:cxn modelId="{4A75F2D9-6EBB-44FC-9E78-BF6143EEE92B}" type="presParOf" srcId="{E8ED9D3C-448E-4608-A891-808C8B8B8A16}" destId="{65BE68A0-CBFD-4625-A667-6AC0866E99BD}" srcOrd="1" destOrd="0" presId="urn:microsoft.com/office/officeart/2005/8/layout/radial3"/>
    <dgm:cxn modelId="{CB836EFE-4114-4B9F-9650-76D3B11026E5}" type="presParOf" srcId="{E8ED9D3C-448E-4608-A891-808C8B8B8A16}" destId="{8783ADD2-1659-4A41-9F03-2398BAC33EFC}" srcOrd="2" destOrd="0" presId="urn:microsoft.com/office/officeart/2005/8/layout/radial3"/>
    <dgm:cxn modelId="{1C8FCE0D-DBC3-4767-A111-D9EC5158908D}" type="presParOf" srcId="{E8ED9D3C-448E-4608-A891-808C8B8B8A16}" destId="{4C5F85BF-754A-4C10-95BC-BDF491189F5F}" srcOrd="3" destOrd="0" presId="urn:microsoft.com/office/officeart/2005/8/layout/radial3"/>
    <dgm:cxn modelId="{B84DB2CE-4BBE-4151-8AF3-0BB63BD0CABC}" type="presParOf" srcId="{E8ED9D3C-448E-4608-A891-808C8B8B8A16}" destId="{3F2D84AD-1F60-4A96-A045-E795E0AE5A93}" srcOrd="4" destOrd="0" presId="urn:microsoft.com/office/officeart/2005/8/layout/radial3"/>
    <dgm:cxn modelId="{F439D094-B158-4193-A560-740D5186D6CE}" type="presParOf" srcId="{E8ED9D3C-448E-4608-A891-808C8B8B8A16}" destId="{BCF6398D-614A-4042-A66B-7C91820A2A31}" srcOrd="5" destOrd="0" presId="urn:microsoft.com/office/officeart/2005/8/layout/radial3"/>
    <dgm:cxn modelId="{5450043D-55A6-41EF-952D-699E818800AD}" type="presParOf" srcId="{E8ED9D3C-448E-4608-A891-808C8B8B8A16}" destId="{C24B5F91-3B8D-4A6D-9C6C-3F6DC60E823C}" srcOrd="6" destOrd="0" presId="urn:microsoft.com/office/officeart/2005/8/layout/radial3"/>
    <dgm:cxn modelId="{0521F715-C09C-40EE-A339-73BE9CDCF6D5}" type="presParOf" srcId="{E8ED9D3C-448E-4608-A891-808C8B8B8A16}" destId="{518E68FB-F068-47A3-8541-63550B6EEA69}" srcOrd="7" destOrd="0" presId="urn:microsoft.com/office/officeart/2005/8/layout/radial3"/>
    <dgm:cxn modelId="{756193E1-A86E-4951-9D8D-63D12B4DE51C}" type="presParOf" srcId="{E8ED9D3C-448E-4608-A891-808C8B8B8A16}" destId="{DE0D35B8-4FE5-4F28-B200-94583AEABFD6}" srcOrd="8" destOrd="0" presId="urn:microsoft.com/office/officeart/2005/8/layout/radial3"/>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E77C6-8010-4DD5-8B76-AD0FE8725733}">
      <dsp:nvSpPr>
        <dsp:cNvPr id="0" name=""/>
        <dsp:cNvSpPr/>
      </dsp:nvSpPr>
      <dsp:spPr>
        <a:xfrm>
          <a:off x="0" y="0"/>
          <a:ext cx="2129234" cy="5132985"/>
        </a:xfrm>
        <a:prstGeom prst="roundRect">
          <a:avLst>
            <a:gd name="adj" fmla="val 10000"/>
          </a:avLst>
        </a:prstGeom>
        <a:no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b="1" kern="1200">
              <a:solidFill>
                <a:schemeClr val="tx1"/>
              </a:solidFill>
              <a:latin typeface="Calibri" panose="020F0502020204030204" pitchFamily="34" charset="0"/>
              <a:cs typeface="Calibri" panose="020F0502020204030204" pitchFamily="34" charset="0"/>
            </a:rPr>
            <a:t>Legal reforms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Constitutional law and civil rights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Family law</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Property law</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Labor law</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Tax law</a:t>
          </a:r>
        </a:p>
      </dsp:txBody>
      <dsp:txXfrm>
        <a:off x="0" y="2053194"/>
        <a:ext cx="2129234" cy="2053194"/>
      </dsp:txXfrm>
    </dsp:sp>
    <dsp:sp modelId="{85DC69AD-B0A9-4C91-BD33-E8E2E662B5BD}">
      <dsp:nvSpPr>
        <dsp:cNvPr id="0" name=""/>
        <dsp:cNvSpPr/>
      </dsp:nvSpPr>
      <dsp:spPr>
        <a:xfrm>
          <a:off x="209975" y="307979"/>
          <a:ext cx="1709284" cy="1709284"/>
        </a:xfrm>
        <a:prstGeom prst="ellipse">
          <a:avLst/>
        </a:prstGeom>
        <a:blipFill>
          <a:blip xmlns:r="http://schemas.openxmlformats.org/officeDocument/2006/relationships">
            <a:alphaModFix/>
            <a:extLst>
              <a:ext uri="{96DAC541-7B7A-43D3-8B79-37D633B846F1}">
                <asvg:svgBlip xmlns:asvg="http://schemas.microsoft.com/office/drawing/2016/SVG/main" r:embed="rId1"/>
              </a:ext>
            </a:extLst>
          </a:blip>
          <a:stretch>
            <a:fillRect/>
          </a:stretch>
        </a:blipFill>
        <a:ln w="25400" cap="flat" cmpd="sng" algn="ctr">
          <a:solidFill>
            <a:schemeClr val="tx2">
              <a:lumMod val="75000"/>
            </a:schemeClr>
          </a:solidFill>
          <a:prstDash val="solid"/>
        </a:ln>
        <a:effectLst/>
      </dsp:spPr>
      <dsp:style>
        <a:lnRef idx="2">
          <a:scrgbClr r="0" g="0" b="0"/>
        </a:lnRef>
        <a:fillRef idx="1">
          <a:scrgbClr r="0" g="0" b="0"/>
        </a:fillRef>
        <a:effectRef idx="0">
          <a:scrgbClr r="0" g="0" b="0"/>
        </a:effectRef>
        <a:fontRef idx="minor"/>
      </dsp:style>
    </dsp:sp>
    <dsp:sp modelId="{A69CF96E-A7DE-4E45-A45B-70481139A67E}">
      <dsp:nvSpPr>
        <dsp:cNvPr id="0" name=""/>
        <dsp:cNvSpPr/>
      </dsp:nvSpPr>
      <dsp:spPr>
        <a:xfrm>
          <a:off x="2193111" y="0"/>
          <a:ext cx="2129234" cy="5132985"/>
        </a:xfrm>
        <a:prstGeom prst="roundRect">
          <a:avLst>
            <a:gd name="adj" fmla="val 10000"/>
          </a:avLst>
        </a:prstGeom>
        <a:no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b="1" kern="1200">
              <a:solidFill>
                <a:schemeClr val="tx1"/>
              </a:solidFill>
              <a:latin typeface="Calibri" panose="020F0502020204030204" pitchFamily="34" charset="0"/>
              <a:cs typeface="Calibri" panose="020F0502020204030204" pitchFamily="34" charset="0"/>
            </a:rPr>
            <a:t>Fiscal policies </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Strategic budgeting</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Spending on education, health, infrastructure and well-targeted social assistance</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Direct/indirect taxation</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Public sector wage policies</a:t>
          </a:r>
        </a:p>
        <a:p>
          <a:pPr marL="114300" lvl="1" indent="-114300" algn="l" defTabSz="622300">
            <a:lnSpc>
              <a:spcPct val="90000"/>
            </a:lnSpc>
            <a:spcBef>
              <a:spcPct val="0"/>
            </a:spcBef>
            <a:spcAft>
              <a:spcPct val="15000"/>
            </a:spcAft>
            <a:buFont typeface="Wingdings" panose="05000000000000000000" pitchFamily="2" charset="2"/>
            <a:buChar char="v"/>
          </a:pPr>
          <a:endParaRPr lang="en-US" sz="1400" kern="1200">
            <a:solidFill>
              <a:schemeClr val="tx1"/>
            </a:solidFill>
            <a:latin typeface="Calibri" panose="020F0502020204030204" pitchFamily="34" charset="0"/>
            <a:cs typeface="Calibri" panose="020F0502020204030204" pitchFamily="34" charset="0"/>
          </a:endParaRPr>
        </a:p>
        <a:p>
          <a:pPr marL="114300" lvl="1" indent="-114300" algn="l" defTabSz="622300">
            <a:lnSpc>
              <a:spcPct val="90000"/>
            </a:lnSpc>
            <a:spcBef>
              <a:spcPct val="0"/>
            </a:spcBef>
            <a:spcAft>
              <a:spcPct val="15000"/>
            </a:spcAft>
            <a:buFont typeface="Wingdings" panose="05000000000000000000" pitchFamily="2" charset="2"/>
            <a:buNone/>
          </a:pPr>
          <a:r>
            <a:rPr lang="en-US" sz="1400" kern="1200">
              <a:solidFill>
                <a:schemeClr val="tx1"/>
              </a:solidFill>
              <a:latin typeface="Calibri" panose="020F0502020204030204" pitchFamily="34" charset="0"/>
              <a:cs typeface="Calibri" panose="020F0502020204030204" pitchFamily="34" charset="0"/>
            </a:rPr>
            <a:t> </a:t>
          </a:r>
        </a:p>
        <a:p>
          <a:pPr marL="114300" lvl="1" indent="-114300" algn="l" defTabSz="622300">
            <a:lnSpc>
              <a:spcPct val="90000"/>
            </a:lnSpc>
            <a:spcBef>
              <a:spcPct val="0"/>
            </a:spcBef>
            <a:spcAft>
              <a:spcPct val="15000"/>
            </a:spcAft>
            <a:buFont typeface="Wingdings" panose="05000000000000000000" pitchFamily="2" charset="2"/>
            <a:buChar char="v"/>
          </a:pPr>
          <a:endParaRPr lang="en-US" sz="1400" kern="1200">
            <a:solidFill>
              <a:schemeClr val="tx1"/>
            </a:solidFill>
            <a:latin typeface="Calibri" panose="020F0502020204030204" pitchFamily="34" charset="0"/>
            <a:cs typeface="Calibri" panose="020F0502020204030204" pitchFamily="34" charset="0"/>
          </a:endParaRPr>
        </a:p>
      </dsp:txBody>
      <dsp:txXfrm>
        <a:off x="2193111" y="2053194"/>
        <a:ext cx="2129234" cy="2053194"/>
      </dsp:txXfrm>
    </dsp:sp>
    <dsp:sp modelId="{EBA0200A-C908-413E-9B79-0C1C9E070E96}">
      <dsp:nvSpPr>
        <dsp:cNvPr id="0" name=""/>
        <dsp:cNvSpPr/>
      </dsp:nvSpPr>
      <dsp:spPr>
        <a:xfrm>
          <a:off x="2403086" y="307979"/>
          <a:ext cx="1709284" cy="1709284"/>
        </a:xfrm>
        <a:prstGeom prst="ellipse">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a:stretch>
        </a:blipFill>
        <a:ln w="25400" cap="flat" cmpd="sng" algn="ctr">
          <a:solidFill>
            <a:schemeClr val="accent2">
              <a:lumMod val="75000"/>
            </a:schemeClr>
          </a:solidFill>
          <a:prstDash val="solid"/>
        </a:ln>
        <a:effectLst/>
      </dsp:spPr>
      <dsp:style>
        <a:lnRef idx="2">
          <a:scrgbClr r="0" g="0" b="0"/>
        </a:lnRef>
        <a:fillRef idx="1">
          <a:scrgbClr r="0" g="0" b="0"/>
        </a:fillRef>
        <a:effectRef idx="0">
          <a:scrgbClr r="0" g="0" b="0"/>
        </a:effectRef>
        <a:fontRef idx="minor"/>
      </dsp:style>
    </dsp:sp>
    <dsp:sp modelId="{85B8E0F9-3B18-47CA-86DD-29CED24D6EB6}">
      <dsp:nvSpPr>
        <dsp:cNvPr id="0" name=""/>
        <dsp:cNvSpPr/>
      </dsp:nvSpPr>
      <dsp:spPr>
        <a:xfrm>
          <a:off x="4386222" y="0"/>
          <a:ext cx="2129234" cy="5132985"/>
        </a:xfrm>
        <a:prstGeom prst="roundRect">
          <a:avLst>
            <a:gd name="adj" fmla="val 10000"/>
          </a:avLst>
        </a:prstGeom>
        <a:no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b="1" kern="1200">
              <a:solidFill>
                <a:schemeClr val="tx1"/>
              </a:solidFill>
              <a:latin typeface="Calibri" panose="020F0502020204030204" pitchFamily="34" charset="0"/>
              <a:cs typeface="Calibri" panose="020F0502020204030204" pitchFamily="34" charset="0"/>
            </a:rPr>
            <a:t>Financial sector policies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Supervisory guidance</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Investing in digital and financial literacy</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Access to digital infrastructure (mobile phones, high-speed internet, digital ID)</a:t>
          </a:r>
        </a:p>
      </dsp:txBody>
      <dsp:txXfrm>
        <a:off x="4386222" y="2053194"/>
        <a:ext cx="2129234" cy="2053194"/>
      </dsp:txXfrm>
    </dsp:sp>
    <dsp:sp modelId="{ACD2ACED-847C-4E84-96CC-E7B48F931109}">
      <dsp:nvSpPr>
        <dsp:cNvPr id="0" name=""/>
        <dsp:cNvSpPr/>
      </dsp:nvSpPr>
      <dsp:spPr>
        <a:xfrm>
          <a:off x="8992373" y="259093"/>
          <a:ext cx="1709284" cy="1709284"/>
        </a:xfrm>
        <a:prstGeom prst="ellipse">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a:blipFill>
        <a:ln w="25400" cap="flat" cmpd="sng" algn="ctr">
          <a:solidFill>
            <a:schemeClr val="accent5">
              <a:lumMod val="75000"/>
            </a:schemeClr>
          </a:solidFill>
          <a:prstDash val="solid"/>
        </a:ln>
        <a:effectLst/>
      </dsp:spPr>
      <dsp:style>
        <a:lnRef idx="2">
          <a:scrgbClr r="0" g="0" b="0"/>
        </a:lnRef>
        <a:fillRef idx="1">
          <a:scrgbClr r="0" g="0" b="0"/>
        </a:fillRef>
        <a:effectRef idx="0">
          <a:scrgbClr r="0" g="0" b="0"/>
        </a:effectRef>
        <a:fontRef idx="minor"/>
      </dsp:style>
    </dsp:sp>
    <dsp:sp modelId="{90486CE5-6CC2-47FE-B922-43C155078C74}">
      <dsp:nvSpPr>
        <dsp:cNvPr id="0" name=""/>
        <dsp:cNvSpPr/>
      </dsp:nvSpPr>
      <dsp:spPr>
        <a:xfrm>
          <a:off x="6579334" y="0"/>
          <a:ext cx="2129234" cy="5132985"/>
        </a:xfrm>
        <a:prstGeom prst="roundRect">
          <a:avLst>
            <a:gd name="adj" fmla="val 10000"/>
          </a:avLst>
        </a:prstGeom>
        <a:no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b="1" kern="1200">
              <a:solidFill>
                <a:schemeClr val="tx1"/>
              </a:solidFill>
              <a:latin typeface="Calibri" panose="020F0502020204030204" pitchFamily="34" charset="0"/>
              <a:cs typeface="Calibri" panose="020F0502020204030204" pitchFamily="34" charset="0"/>
            </a:rPr>
            <a:t>Labor market policies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Recruitment, promotion and retention policies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Parental leave and child/elderly care</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Training and skills enhancement </a:t>
          </a:r>
        </a:p>
      </dsp:txBody>
      <dsp:txXfrm>
        <a:off x="6579334" y="2053194"/>
        <a:ext cx="2129234" cy="2053194"/>
      </dsp:txXfrm>
    </dsp:sp>
    <dsp:sp modelId="{5F1D95E6-39A4-4E61-8A07-C7D0B10011B2}">
      <dsp:nvSpPr>
        <dsp:cNvPr id="0" name=""/>
        <dsp:cNvSpPr/>
      </dsp:nvSpPr>
      <dsp:spPr>
        <a:xfrm>
          <a:off x="6789309" y="307979"/>
          <a:ext cx="1709284" cy="1709284"/>
        </a:xfrm>
        <a:prstGeom prst="ellipse">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a:ln w="25400"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sp>
    <dsp:sp modelId="{FC169443-8077-49B7-AF08-6C95B316AA17}">
      <dsp:nvSpPr>
        <dsp:cNvPr id="0" name=""/>
        <dsp:cNvSpPr/>
      </dsp:nvSpPr>
      <dsp:spPr>
        <a:xfrm>
          <a:off x="8772445" y="0"/>
          <a:ext cx="2129234" cy="5132985"/>
        </a:xfrm>
        <a:prstGeom prst="roundRect">
          <a:avLst>
            <a:gd name="adj" fmla="val 10000"/>
          </a:avLst>
        </a:prstGeom>
        <a:no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b="1" kern="1200">
              <a:solidFill>
                <a:schemeClr val="tx1"/>
              </a:solidFill>
              <a:latin typeface="Calibri" panose="020F0502020204030204" pitchFamily="34" charset="0"/>
              <a:cs typeface="Calibri" panose="020F0502020204030204" pitchFamily="34" charset="0"/>
            </a:rPr>
            <a:t>Policies matter despite social norms: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Taxation</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Family allowances</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Childcare</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Parental leave</a:t>
          </a:r>
        </a:p>
        <a:p>
          <a:pPr marL="114300" lvl="1" indent="-114300" algn="l" defTabSz="622300">
            <a:lnSpc>
              <a:spcPct val="90000"/>
            </a:lnSpc>
            <a:spcBef>
              <a:spcPct val="0"/>
            </a:spcBef>
            <a:spcAft>
              <a:spcPct val="15000"/>
            </a:spcAft>
            <a:buFont typeface="Wingdings" panose="05000000000000000000" pitchFamily="2" charset="2"/>
            <a:buChar char="v"/>
          </a:pPr>
          <a:r>
            <a:rPr lang="en-US" sz="1400" kern="1200">
              <a:solidFill>
                <a:schemeClr val="tx1"/>
              </a:solidFill>
              <a:latin typeface="Calibri" panose="020F0502020204030204" pitchFamily="34" charset="0"/>
              <a:cs typeface="Calibri" panose="020F0502020204030204" pitchFamily="34" charset="0"/>
            </a:rPr>
            <a:t>Education</a:t>
          </a:r>
        </a:p>
      </dsp:txBody>
      <dsp:txXfrm>
        <a:off x="8772445" y="2053194"/>
        <a:ext cx="2129234" cy="2053194"/>
      </dsp:txXfrm>
    </dsp:sp>
    <dsp:sp modelId="{CF9AAE62-BB45-4C1C-A17F-9B73D125ECB5}">
      <dsp:nvSpPr>
        <dsp:cNvPr id="0" name=""/>
        <dsp:cNvSpPr/>
      </dsp:nvSpPr>
      <dsp:spPr>
        <a:xfrm>
          <a:off x="4493841" y="256529"/>
          <a:ext cx="1709284" cy="1709284"/>
        </a:xfrm>
        <a:prstGeom prst="ellipse">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a:ln w="25400" cap="flat" cmpd="sng" algn="ctr">
          <a:solidFill>
            <a:schemeClr val="accent3">
              <a:lumMod val="75000"/>
            </a:schemeClr>
          </a:solidFill>
          <a:prstDash val="solid"/>
        </a:ln>
        <a:effectLst/>
      </dsp:spPr>
      <dsp:style>
        <a:lnRef idx="2">
          <a:scrgbClr r="0" g="0" b="0"/>
        </a:lnRef>
        <a:fillRef idx="1">
          <a:scrgbClr r="0" g="0" b="0"/>
        </a:fillRef>
        <a:effectRef idx="0">
          <a:scrgbClr r="0" g="0" b="0"/>
        </a:effectRef>
        <a:fontRef idx="minor"/>
      </dsp:style>
    </dsp:sp>
    <dsp:sp modelId="{D3B8DC0D-5D4C-418A-87CE-3BC034DFC215}">
      <dsp:nvSpPr>
        <dsp:cNvPr id="0" name=""/>
        <dsp:cNvSpPr/>
      </dsp:nvSpPr>
      <dsp:spPr>
        <a:xfrm>
          <a:off x="372680" y="4809989"/>
          <a:ext cx="10029545" cy="158763"/>
        </a:xfrm>
        <a:prstGeom prst="leftRightArrow">
          <a:avLst/>
        </a:prstGeom>
        <a:noFill/>
        <a:ln w="254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83F329-D3E3-437C-A4D3-832C66AD8068}">
      <dsp:nvSpPr>
        <dsp:cNvPr id="0" name=""/>
        <dsp:cNvSpPr/>
      </dsp:nvSpPr>
      <dsp:spPr>
        <a:xfrm>
          <a:off x="0" y="1052821"/>
          <a:ext cx="10750877" cy="261056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388" tIns="1353820" rIns="834388" bIns="170688" numCol="1" spcCol="1270" anchor="t" anchorCtr="0">
          <a:noAutofit/>
        </a:bodyPr>
        <a:lstStyle/>
        <a:p>
          <a:pPr marL="228600" lvl="1" indent="-228600" algn="l" defTabSz="1066800">
            <a:lnSpc>
              <a:spcPct val="90000"/>
            </a:lnSpc>
            <a:spcBef>
              <a:spcPct val="0"/>
            </a:spcBef>
            <a:spcAft>
              <a:spcPct val="15000"/>
            </a:spcAft>
            <a:buChar char="•"/>
          </a:pPr>
          <a:r>
            <a:rPr lang="en-US" sz="2400" b="0" kern="1200">
              <a:latin typeface="Arial" panose="020B0604020202020204" pitchFamily="34" charset="0"/>
              <a:cs typeface="Arial" panose="020B0604020202020204" pitchFamily="34" charset="0"/>
            </a:rPr>
            <a:t>Higher female labor force participation, </a:t>
          </a:r>
        </a:p>
        <a:p>
          <a:pPr marL="228600" lvl="1" indent="-228600" algn="l" defTabSz="1066800">
            <a:lnSpc>
              <a:spcPct val="90000"/>
            </a:lnSpc>
            <a:spcBef>
              <a:spcPct val="0"/>
            </a:spcBef>
            <a:spcAft>
              <a:spcPct val="15000"/>
            </a:spcAft>
            <a:buChar char="•"/>
          </a:pPr>
          <a:r>
            <a:rPr lang="en-US" sz="2400" b="0" kern="1200">
              <a:latin typeface="Arial" panose="020B0604020202020204" pitchFamily="34" charset="0"/>
              <a:cs typeface="Arial" panose="020B0604020202020204" pitchFamily="34" charset="0"/>
            </a:rPr>
            <a:t>Increased movement out of agricultural employment for women, </a:t>
          </a:r>
        </a:p>
        <a:p>
          <a:pPr marL="228600" lvl="1" indent="-228600" algn="l" defTabSz="1066800">
            <a:lnSpc>
              <a:spcPct val="90000"/>
            </a:lnSpc>
            <a:spcBef>
              <a:spcPct val="0"/>
            </a:spcBef>
            <a:spcAft>
              <a:spcPct val="15000"/>
            </a:spcAft>
            <a:buChar char="•"/>
          </a:pPr>
          <a:r>
            <a:rPr lang="en-US" sz="2400" b="0" kern="1200">
              <a:latin typeface="Arial" panose="020B0604020202020204" pitchFamily="34" charset="0"/>
              <a:cs typeface="Arial" panose="020B0604020202020204" pitchFamily="34" charset="0"/>
            </a:rPr>
            <a:t>Larger shares of women in wage employment.</a:t>
          </a:r>
        </a:p>
      </dsp:txBody>
      <dsp:txXfrm>
        <a:off x="0" y="1052821"/>
        <a:ext cx="10750877" cy="2610562"/>
      </dsp:txXfrm>
    </dsp:sp>
    <dsp:sp modelId="{B2557C99-D5D4-454B-B046-75227C95A348}">
      <dsp:nvSpPr>
        <dsp:cNvPr id="0" name=""/>
        <dsp:cNvSpPr/>
      </dsp:nvSpPr>
      <dsp:spPr>
        <a:xfrm>
          <a:off x="20498" y="334538"/>
          <a:ext cx="10236421" cy="1918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50" tIns="0" rIns="284450" bIns="0" numCol="1" spcCol="1270" anchor="ctr" anchorCtr="0">
          <a:noAutofit/>
        </a:bodyPr>
        <a:lstStyle/>
        <a:p>
          <a:pPr marL="0" lvl="0" indent="0" algn="l" defTabSz="1066800">
            <a:lnSpc>
              <a:spcPct val="90000"/>
            </a:lnSpc>
            <a:spcBef>
              <a:spcPct val="0"/>
            </a:spcBef>
            <a:spcAft>
              <a:spcPct val="35000"/>
            </a:spcAft>
            <a:buNone/>
          </a:pPr>
          <a:r>
            <a:rPr lang="en-US" sz="2400" kern="1200">
              <a:latin typeface="Arial" panose="020B0604020202020204" pitchFamily="34" charset="0"/>
              <a:cs typeface="Arial" panose="020B0604020202020204" pitchFamily="34" charset="0"/>
            </a:rPr>
            <a:t>Women’s property rights and legal capacity </a:t>
          </a:r>
          <a:r>
            <a:rPr lang="en-US" sz="2400" b="0" kern="1200">
              <a:latin typeface="Arial" panose="020B0604020202020204" pitchFamily="34" charset="0"/>
              <a:cs typeface="Arial" panose="020B0604020202020204" pitchFamily="34" charset="0"/>
            </a:rPr>
            <a:t>over 50 years shows that reforms expanding women’s rights and legal protection were associated with…</a:t>
          </a:r>
          <a:endParaRPr lang="en-US" sz="3200" kern="1200">
            <a:latin typeface="Arial" panose="020B0604020202020204" pitchFamily="34" charset="0"/>
            <a:cs typeface="Arial" panose="020B0604020202020204" pitchFamily="34" charset="0"/>
          </a:endParaRPr>
        </a:p>
      </dsp:txBody>
      <dsp:txXfrm>
        <a:off x="114166" y="428206"/>
        <a:ext cx="10049085" cy="1731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E77C6-8010-4DD5-8B76-AD0FE8725733}">
      <dsp:nvSpPr>
        <dsp:cNvPr id="0" name=""/>
        <dsp:cNvSpPr/>
      </dsp:nvSpPr>
      <dsp:spPr>
        <a:xfrm>
          <a:off x="36957" y="0"/>
          <a:ext cx="2168840" cy="531846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n-US" sz="2000" b="1" kern="1200">
              <a:solidFill>
                <a:schemeClr val="tx1"/>
              </a:solidFill>
            </a:rPr>
            <a:t>Constitutional Law &amp; Civil Rights</a:t>
          </a:r>
        </a:p>
        <a:p>
          <a:pPr marL="171450" lvl="1" indent="-171450" algn="l" defTabSz="711200">
            <a:lnSpc>
              <a:spcPct val="90000"/>
            </a:lnSpc>
            <a:spcBef>
              <a:spcPct val="0"/>
            </a:spcBef>
            <a:spcAft>
              <a:spcPct val="15000"/>
            </a:spcAft>
            <a:buChar char="•"/>
          </a:pPr>
          <a:r>
            <a:rPr lang="en-US" sz="1600" kern="1200">
              <a:solidFill>
                <a:schemeClr val="tx1"/>
              </a:solidFill>
            </a:rPr>
            <a:t>Legal rights related to citizenship, right to vote, freedom of movement</a:t>
          </a:r>
        </a:p>
        <a:p>
          <a:pPr marL="171450" lvl="1" indent="-171450" algn="l" defTabSz="711200">
            <a:lnSpc>
              <a:spcPct val="90000"/>
            </a:lnSpc>
            <a:spcBef>
              <a:spcPct val="0"/>
            </a:spcBef>
            <a:spcAft>
              <a:spcPct val="15000"/>
            </a:spcAft>
            <a:buChar char="•"/>
          </a:pPr>
          <a:r>
            <a:rPr lang="en-US" sz="1600" kern="1200">
              <a:solidFill>
                <a:schemeClr val="tx1"/>
              </a:solidFill>
            </a:rPr>
            <a:t>Political participation </a:t>
          </a:r>
        </a:p>
        <a:p>
          <a:pPr marL="171450" lvl="1" indent="-171450" algn="l" defTabSz="711200">
            <a:lnSpc>
              <a:spcPct val="90000"/>
            </a:lnSpc>
            <a:spcBef>
              <a:spcPct val="0"/>
            </a:spcBef>
            <a:spcAft>
              <a:spcPct val="15000"/>
            </a:spcAft>
            <a:buChar char="•"/>
          </a:pPr>
          <a:r>
            <a:rPr lang="en-US" sz="1600" kern="1200">
              <a:solidFill>
                <a:schemeClr val="tx1"/>
              </a:solidFill>
            </a:rPr>
            <a:t>Access to justice for women</a:t>
          </a:r>
        </a:p>
      </dsp:txBody>
      <dsp:txXfrm>
        <a:off x="36957" y="2127387"/>
        <a:ext cx="2168840" cy="2127387"/>
      </dsp:txXfrm>
    </dsp:sp>
    <dsp:sp modelId="{85DC69AD-B0A9-4C91-BD33-E8E2E662B5BD}">
      <dsp:nvSpPr>
        <dsp:cNvPr id="0" name=""/>
        <dsp:cNvSpPr/>
      </dsp:nvSpPr>
      <dsp:spPr>
        <a:xfrm>
          <a:off x="198895" y="319108"/>
          <a:ext cx="1771049" cy="1771049"/>
        </a:xfrm>
        <a:prstGeom prst="ellipse">
          <a:avLst/>
        </a:prstGeom>
        <a:blipFill>
          <a:blip xmlns:r="http://schemas.openxmlformats.org/officeDocument/2006/relationships">
            <a:alphaModFix/>
            <a:extLst>
              <a:ext uri="{96DAC541-7B7A-43D3-8B79-37D633B846F1}">
                <asvg:svgBlip xmlns:asvg="http://schemas.microsoft.com/office/drawing/2016/SVG/main" r:embed="rId1"/>
              </a:ext>
            </a:extLst>
          </a:blip>
          <a:stretch>
            <a:fillRect/>
          </a:stretch>
        </a:blipFill>
        <a:ln w="25400" cap="flat" cmpd="sng" algn="ctr">
          <a:solidFill>
            <a:schemeClr val="tx2">
              <a:lumMod val="75000"/>
            </a:schemeClr>
          </a:solidFill>
          <a:prstDash val="solid"/>
        </a:ln>
        <a:effectLst/>
      </dsp:spPr>
      <dsp:style>
        <a:lnRef idx="2">
          <a:scrgbClr r="0" g="0" b="0"/>
        </a:lnRef>
        <a:fillRef idx="1">
          <a:scrgbClr r="0" g="0" b="0"/>
        </a:fillRef>
        <a:effectRef idx="0">
          <a:scrgbClr r="0" g="0" b="0"/>
        </a:effectRef>
        <a:fontRef idx="minor"/>
      </dsp:style>
    </dsp:sp>
    <dsp:sp modelId="{A69CF96E-A7DE-4E45-A45B-70481139A67E}">
      <dsp:nvSpPr>
        <dsp:cNvPr id="0" name=""/>
        <dsp:cNvSpPr/>
      </dsp:nvSpPr>
      <dsp:spPr>
        <a:xfrm>
          <a:off x="2233906" y="0"/>
          <a:ext cx="2168840" cy="531846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n-US" sz="2000" b="1" kern="1200">
              <a:solidFill>
                <a:schemeClr val="tx1"/>
              </a:solidFill>
            </a:rPr>
            <a:t>Family Law</a:t>
          </a:r>
        </a:p>
        <a:p>
          <a:pPr marL="171450" lvl="1" indent="-171450" algn="l" defTabSz="711200">
            <a:lnSpc>
              <a:spcPct val="90000"/>
            </a:lnSpc>
            <a:spcBef>
              <a:spcPct val="0"/>
            </a:spcBef>
            <a:spcAft>
              <a:spcPct val="15000"/>
            </a:spcAft>
            <a:buChar char="•"/>
          </a:pPr>
          <a:r>
            <a:rPr lang="en-US" sz="1600" kern="1200">
              <a:solidFill>
                <a:schemeClr val="tx1"/>
              </a:solidFill>
            </a:rPr>
            <a:t>Legal age of marriage</a:t>
          </a:r>
        </a:p>
        <a:p>
          <a:pPr marL="171450" lvl="1" indent="-171450" algn="l" defTabSz="711200">
            <a:lnSpc>
              <a:spcPct val="90000"/>
            </a:lnSpc>
            <a:spcBef>
              <a:spcPct val="0"/>
            </a:spcBef>
            <a:spcAft>
              <a:spcPct val="15000"/>
            </a:spcAft>
            <a:buChar char="•"/>
          </a:pPr>
          <a:r>
            <a:rPr lang="en-US" sz="1600" kern="1200">
              <a:solidFill>
                <a:schemeClr val="tx1"/>
              </a:solidFill>
            </a:rPr>
            <a:t>Ability to run/head households</a:t>
          </a:r>
        </a:p>
        <a:p>
          <a:pPr marL="171450" lvl="1" indent="-171450" algn="l" defTabSz="711200">
            <a:lnSpc>
              <a:spcPct val="90000"/>
            </a:lnSpc>
            <a:spcBef>
              <a:spcPct val="0"/>
            </a:spcBef>
            <a:spcAft>
              <a:spcPct val="15000"/>
            </a:spcAft>
            <a:buChar char="•"/>
          </a:pPr>
          <a:r>
            <a:rPr lang="en-US" sz="1600" kern="1200">
              <a:solidFill>
                <a:schemeClr val="tx1"/>
              </a:solidFill>
            </a:rPr>
            <a:t>Rights to divorce/end marriages</a:t>
          </a:r>
        </a:p>
      </dsp:txBody>
      <dsp:txXfrm>
        <a:off x="2233906" y="2127387"/>
        <a:ext cx="2168840" cy="2127387"/>
      </dsp:txXfrm>
    </dsp:sp>
    <dsp:sp modelId="{EBA0200A-C908-413E-9B79-0C1C9E070E96}">
      <dsp:nvSpPr>
        <dsp:cNvPr id="0" name=""/>
        <dsp:cNvSpPr/>
      </dsp:nvSpPr>
      <dsp:spPr>
        <a:xfrm>
          <a:off x="2432801" y="319108"/>
          <a:ext cx="1771049" cy="177104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solidFill>
            <a:schemeClr val="accent2">
              <a:lumMod val="75000"/>
            </a:schemeClr>
          </a:solidFill>
          <a:prstDash val="solid"/>
        </a:ln>
        <a:effectLst/>
      </dsp:spPr>
      <dsp:style>
        <a:lnRef idx="2">
          <a:scrgbClr r="0" g="0" b="0"/>
        </a:lnRef>
        <a:fillRef idx="1">
          <a:scrgbClr r="0" g="0" b="0"/>
        </a:fillRef>
        <a:effectRef idx="0">
          <a:scrgbClr r="0" g="0" b="0"/>
        </a:effectRef>
        <a:fontRef idx="minor"/>
      </dsp:style>
    </dsp:sp>
    <dsp:sp modelId="{85B8E0F9-3B18-47CA-86DD-29CED24D6EB6}">
      <dsp:nvSpPr>
        <dsp:cNvPr id="0" name=""/>
        <dsp:cNvSpPr/>
      </dsp:nvSpPr>
      <dsp:spPr>
        <a:xfrm>
          <a:off x="4467812" y="0"/>
          <a:ext cx="2168840" cy="531846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n-US" sz="2000" b="1" kern="1200">
              <a:solidFill>
                <a:schemeClr val="tx1"/>
              </a:solidFill>
            </a:rPr>
            <a:t>Property Law</a:t>
          </a:r>
        </a:p>
        <a:p>
          <a:pPr marL="171450" lvl="1" indent="-171450" algn="l" defTabSz="711200">
            <a:lnSpc>
              <a:spcPct val="90000"/>
            </a:lnSpc>
            <a:spcBef>
              <a:spcPct val="0"/>
            </a:spcBef>
            <a:spcAft>
              <a:spcPct val="15000"/>
            </a:spcAft>
            <a:buChar char="•"/>
          </a:pPr>
          <a:r>
            <a:rPr lang="en-US" sz="1600" kern="1200">
              <a:solidFill>
                <a:schemeClr val="tx1"/>
              </a:solidFill>
            </a:rPr>
            <a:t>Ability to collect, own, </a:t>
          </a:r>
          <a:r>
            <a:rPr lang="en-US" sz="1600" kern="1200">
              <a:solidFill>
                <a:schemeClr val="tx1"/>
              </a:solidFill>
              <a:latin typeface="Calibri Light" panose="020F0302020204030204"/>
            </a:rPr>
            <a:t>manage</a:t>
          </a:r>
          <a:r>
            <a:rPr lang="en-US" sz="1600" kern="1200">
              <a:solidFill>
                <a:schemeClr val="tx1"/>
              </a:solidFill>
            </a:rPr>
            <a:t> and transfer assets</a:t>
          </a:r>
        </a:p>
        <a:p>
          <a:pPr marL="171450" lvl="1" indent="-171450" algn="l" defTabSz="711200">
            <a:lnSpc>
              <a:spcPct val="90000"/>
            </a:lnSpc>
            <a:spcBef>
              <a:spcPct val="0"/>
            </a:spcBef>
            <a:spcAft>
              <a:spcPct val="15000"/>
            </a:spcAft>
            <a:buChar char="•"/>
          </a:pPr>
          <a:r>
            <a:rPr lang="en-US" sz="1600" kern="1200">
              <a:solidFill>
                <a:schemeClr val="tx1"/>
              </a:solidFill>
            </a:rPr>
            <a:t>Inheritance laws</a:t>
          </a:r>
        </a:p>
        <a:p>
          <a:pPr marL="171450" lvl="1" indent="-171450" algn="l" defTabSz="711200">
            <a:lnSpc>
              <a:spcPct val="90000"/>
            </a:lnSpc>
            <a:spcBef>
              <a:spcPct val="0"/>
            </a:spcBef>
            <a:spcAft>
              <a:spcPct val="15000"/>
            </a:spcAft>
            <a:buChar char="•"/>
          </a:pPr>
          <a:r>
            <a:rPr lang="en-US" sz="1600" kern="1200">
              <a:solidFill>
                <a:schemeClr val="tx1"/>
              </a:solidFill>
            </a:rPr>
            <a:t>Access &amp; distribution of property during or after marriage</a:t>
          </a:r>
        </a:p>
      </dsp:txBody>
      <dsp:txXfrm>
        <a:off x="4467812" y="2127387"/>
        <a:ext cx="2168840" cy="2127387"/>
      </dsp:txXfrm>
    </dsp:sp>
    <dsp:sp modelId="{ACD2ACED-847C-4E84-96CC-E7B48F931109}">
      <dsp:nvSpPr>
        <dsp:cNvPr id="0" name=""/>
        <dsp:cNvSpPr/>
      </dsp:nvSpPr>
      <dsp:spPr>
        <a:xfrm>
          <a:off x="4666707" y="319108"/>
          <a:ext cx="1771049" cy="177104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25400" cap="flat" cmpd="sng" algn="ctr">
          <a:solidFill>
            <a:schemeClr val="accent5">
              <a:lumMod val="75000"/>
            </a:schemeClr>
          </a:solidFill>
          <a:prstDash val="solid"/>
        </a:ln>
        <a:effectLst/>
      </dsp:spPr>
      <dsp:style>
        <a:lnRef idx="2">
          <a:scrgbClr r="0" g="0" b="0"/>
        </a:lnRef>
        <a:fillRef idx="1">
          <a:scrgbClr r="0" g="0" b="0"/>
        </a:fillRef>
        <a:effectRef idx="0">
          <a:scrgbClr r="0" g="0" b="0"/>
        </a:effectRef>
        <a:fontRef idx="minor"/>
      </dsp:style>
    </dsp:sp>
    <dsp:sp modelId="{90486CE5-6CC2-47FE-B922-43C155078C74}">
      <dsp:nvSpPr>
        <dsp:cNvPr id="0" name=""/>
        <dsp:cNvSpPr/>
      </dsp:nvSpPr>
      <dsp:spPr>
        <a:xfrm>
          <a:off x="6701718" y="0"/>
          <a:ext cx="2168840" cy="531846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n-US" sz="2000" b="1" kern="1200">
              <a:solidFill>
                <a:schemeClr val="tx1"/>
              </a:solidFill>
            </a:rPr>
            <a:t>Labor Law</a:t>
          </a:r>
        </a:p>
        <a:p>
          <a:pPr marL="171450" lvl="1" indent="-171450" algn="l" defTabSz="711200">
            <a:lnSpc>
              <a:spcPct val="90000"/>
            </a:lnSpc>
            <a:spcBef>
              <a:spcPct val="0"/>
            </a:spcBef>
            <a:spcAft>
              <a:spcPct val="15000"/>
            </a:spcAft>
            <a:buChar char="•"/>
          </a:pPr>
          <a:r>
            <a:rPr lang="en-US" sz="1600" kern="1200">
              <a:solidFill>
                <a:schemeClr val="tx1"/>
              </a:solidFill>
              <a:latin typeface="Calibri Light" panose="020F0302020204030204"/>
            </a:rPr>
            <a:t>Legal</a:t>
          </a:r>
          <a:r>
            <a:rPr lang="en-US" sz="1600" kern="1200">
              <a:solidFill>
                <a:schemeClr val="tx1"/>
              </a:solidFill>
            </a:rPr>
            <a:t> restrictions to work</a:t>
          </a:r>
        </a:p>
        <a:p>
          <a:pPr marL="171450" lvl="1" indent="-171450" algn="l" defTabSz="711200">
            <a:lnSpc>
              <a:spcPct val="90000"/>
            </a:lnSpc>
            <a:spcBef>
              <a:spcPct val="0"/>
            </a:spcBef>
            <a:spcAft>
              <a:spcPct val="15000"/>
            </a:spcAft>
            <a:buChar char="•"/>
          </a:pPr>
          <a:r>
            <a:rPr lang="en-US" sz="1600" kern="1200">
              <a:solidFill>
                <a:schemeClr val="tx1"/>
              </a:solidFill>
            </a:rPr>
            <a:t>Equal pay</a:t>
          </a:r>
        </a:p>
        <a:p>
          <a:pPr marL="171450" lvl="1" indent="-171450" algn="l" defTabSz="711200">
            <a:lnSpc>
              <a:spcPct val="90000"/>
            </a:lnSpc>
            <a:spcBef>
              <a:spcPct val="0"/>
            </a:spcBef>
            <a:spcAft>
              <a:spcPct val="15000"/>
            </a:spcAft>
            <a:buChar char="•"/>
          </a:pPr>
          <a:r>
            <a:rPr lang="en-US" sz="1600" kern="1200">
              <a:solidFill>
                <a:schemeClr val="tx1"/>
              </a:solidFill>
            </a:rPr>
            <a:t>Parental leave and childcare rights</a:t>
          </a:r>
        </a:p>
      </dsp:txBody>
      <dsp:txXfrm>
        <a:off x="6701718" y="2127387"/>
        <a:ext cx="2168840" cy="2127387"/>
      </dsp:txXfrm>
    </dsp:sp>
    <dsp:sp modelId="{5F1D95E6-39A4-4E61-8A07-C7D0B10011B2}">
      <dsp:nvSpPr>
        <dsp:cNvPr id="0" name=""/>
        <dsp:cNvSpPr/>
      </dsp:nvSpPr>
      <dsp:spPr>
        <a:xfrm>
          <a:off x="6900613" y="319108"/>
          <a:ext cx="1771049" cy="177104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sp>
    <dsp:sp modelId="{FC169443-8077-49B7-AF08-6C95B316AA17}">
      <dsp:nvSpPr>
        <dsp:cNvPr id="0" name=""/>
        <dsp:cNvSpPr/>
      </dsp:nvSpPr>
      <dsp:spPr>
        <a:xfrm>
          <a:off x="8935624" y="0"/>
          <a:ext cx="2168840" cy="531846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1">
          <a:noAutofit/>
        </a:bodyPr>
        <a:lstStyle/>
        <a:p>
          <a:pPr marL="0" lvl="0" indent="0" algn="l" defTabSz="1066800">
            <a:lnSpc>
              <a:spcPct val="90000"/>
            </a:lnSpc>
            <a:spcBef>
              <a:spcPct val="0"/>
            </a:spcBef>
            <a:spcAft>
              <a:spcPct val="35000"/>
            </a:spcAft>
            <a:buNone/>
          </a:pPr>
          <a:r>
            <a:rPr lang="en-US" sz="2400" b="1" kern="1200">
              <a:solidFill>
                <a:schemeClr val="tx1"/>
              </a:solidFill>
            </a:rPr>
            <a:t>Tax Law</a:t>
          </a:r>
        </a:p>
        <a:p>
          <a:pPr marL="171450" lvl="1" indent="-171450" algn="l" defTabSz="711200">
            <a:lnSpc>
              <a:spcPct val="90000"/>
            </a:lnSpc>
            <a:spcBef>
              <a:spcPct val="0"/>
            </a:spcBef>
            <a:spcAft>
              <a:spcPct val="15000"/>
            </a:spcAft>
            <a:buChar char="•"/>
          </a:pPr>
          <a:r>
            <a:rPr lang="en-US" sz="1600" kern="1200">
              <a:solidFill>
                <a:schemeClr val="tx1"/>
              </a:solidFill>
              <a:latin typeface="Calibri Light" panose="020F0302020204030204"/>
            </a:rPr>
            <a:t>Discriminatory</a:t>
          </a:r>
          <a:r>
            <a:rPr lang="en-US" sz="1600" kern="1200">
              <a:solidFill>
                <a:schemeClr val="tx1"/>
              </a:solidFill>
            </a:rPr>
            <a:t> tax burdens</a:t>
          </a:r>
        </a:p>
        <a:p>
          <a:pPr marL="171450" lvl="1" indent="-171450" algn="l" defTabSz="711200">
            <a:lnSpc>
              <a:spcPct val="90000"/>
            </a:lnSpc>
            <a:spcBef>
              <a:spcPct val="0"/>
            </a:spcBef>
            <a:spcAft>
              <a:spcPct val="15000"/>
            </a:spcAft>
            <a:buChar char="•"/>
          </a:pPr>
          <a:r>
            <a:rPr lang="en-US" sz="1600" kern="1200">
              <a:solidFill>
                <a:schemeClr val="tx1"/>
              </a:solidFill>
            </a:rPr>
            <a:t>Tax and subsidy incentives that increase women’s participation in the labor market</a:t>
          </a:r>
        </a:p>
      </dsp:txBody>
      <dsp:txXfrm>
        <a:off x="8935624" y="2127387"/>
        <a:ext cx="2168840" cy="2127387"/>
      </dsp:txXfrm>
    </dsp:sp>
    <dsp:sp modelId="{CF9AAE62-BB45-4C1C-A17F-9B73D125ECB5}">
      <dsp:nvSpPr>
        <dsp:cNvPr id="0" name=""/>
        <dsp:cNvSpPr/>
      </dsp:nvSpPr>
      <dsp:spPr>
        <a:xfrm>
          <a:off x="9167248" y="308658"/>
          <a:ext cx="1771049" cy="177104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25400" cap="flat" cmpd="sng" algn="ctr">
          <a:solidFill>
            <a:schemeClr val="accent3">
              <a:lumMod val="75000"/>
            </a:schemeClr>
          </a:solidFill>
          <a:prstDash val="solid"/>
        </a:ln>
        <a:effectLst/>
      </dsp:spPr>
      <dsp:style>
        <a:lnRef idx="2">
          <a:scrgbClr r="0" g="0" b="0"/>
        </a:lnRef>
        <a:fillRef idx="1">
          <a:scrgbClr r="0" g="0" b="0"/>
        </a:fillRef>
        <a:effectRef idx="0">
          <a:scrgbClr r="0" g="0" b="0"/>
        </a:effectRef>
        <a:fontRef idx="minor"/>
      </dsp:style>
    </dsp:sp>
    <dsp:sp modelId="{D3B8DC0D-5D4C-418A-87CE-3BC034DFC215}">
      <dsp:nvSpPr>
        <dsp:cNvPr id="0" name=""/>
        <dsp:cNvSpPr/>
      </dsp:nvSpPr>
      <dsp:spPr>
        <a:xfrm>
          <a:off x="444178" y="4254774"/>
          <a:ext cx="10216107" cy="797770"/>
        </a:xfrm>
        <a:prstGeom prst="leftRightArrow">
          <a:avLst/>
        </a:prstGeom>
        <a:noFill/>
        <a:ln w="254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E7D2A-E4E9-4A8E-AC56-C95843F8A469}">
      <dsp:nvSpPr>
        <dsp:cNvPr id="0" name=""/>
        <dsp:cNvSpPr/>
      </dsp:nvSpPr>
      <dsp:spPr>
        <a:xfrm rot="10800000">
          <a:off x="2051696" y="2044"/>
          <a:ext cx="7047769" cy="1106026"/>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27" tIns="83820" rIns="156464" bIns="83820" numCol="1" spcCol="1270" anchor="t" anchorCtr="0">
          <a:noAutofit/>
        </a:bodyPr>
        <a:lstStyle/>
        <a:p>
          <a:pPr marL="0" lvl="0" indent="0" algn="l" defTabSz="977900">
            <a:lnSpc>
              <a:spcPct val="90000"/>
            </a:lnSpc>
            <a:spcBef>
              <a:spcPct val="0"/>
            </a:spcBef>
            <a:spcAft>
              <a:spcPct val="35000"/>
            </a:spcAft>
            <a:buFont typeface="Arial" panose="020B0604020202020204" pitchFamily="34" charset="0"/>
            <a:buNone/>
          </a:pPr>
          <a:r>
            <a:rPr lang="en-US" sz="2200" kern="1200">
              <a:solidFill>
                <a:schemeClr val="bg1"/>
              </a:solidFill>
              <a:latin typeface="Arial" panose="020B0604020202020204" pitchFamily="34" charset="0"/>
              <a:cs typeface="Arial" panose="020B0604020202020204" pitchFamily="34" charset="0"/>
            </a:rPr>
            <a:t>Review and amend tax code</a:t>
          </a:r>
          <a:endParaRPr lang="en-US" sz="2200" kern="1200">
            <a:latin typeface="Arial" panose="020B0604020202020204" pitchFamily="34" charset="0"/>
            <a:cs typeface="Arial" panose="020B0604020202020204" pitchFamily="34" charset="0"/>
          </a:endParaRPr>
        </a:p>
        <a:p>
          <a:pPr marL="171450" lvl="1" indent="-171450" algn="l" defTabSz="755650" rtl="0">
            <a:lnSpc>
              <a:spcPct val="90000"/>
            </a:lnSpc>
            <a:spcBef>
              <a:spcPct val="0"/>
            </a:spcBef>
            <a:spcAft>
              <a:spcPct val="15000"/>
            </a:spcAft>
            <a:buChar char="•"/>
          </a:pPr>
          <a:r>
            <a:rPr lang="en-US" sz="1700" kern="1200">
              <a:solidFill>
                <a:schemeClr val="bg1"/>
              </a:solidFill>
              <a:latin typeface="Arial"/>
              <a:cs typeface="Arial"/>
            </a:rPr>
            <a:t>explicit and implicit distortionary taxes</a:t>
          </a:r>
        </a:p>
        <a:p>
          <a:pPr marL="171450" lvl="1" indent="-171450" algn="l" defTabSz="755650">
            <a:lnSpc>
              <a:spcPct val="90000"/>
            </a:lnSpc>
            <a:spcBef>
              <a:spcPct val="0"/>
            </a:spcBef>
            <a:spcAft>
              <a:spcPct val="15000"/>
            </a:spcAft>
            <a:buChar char="•"/>
          </a:pPr>
          <a:r>
            <a:rPr lang="en-US" sz="1700" kern="1200">
              <a:solidFill>
                <a:schemeClr val="bg1"/>
              </a:solidFill>
              <a:latin typeface="Arial" panose="020B0604020202020204" pitchFamily="34" charset="0"/>
              <a:cs typeface="Arial" panose="020B0604020202020204" pitchFamily="34" charset="0"/>
            </a:rPr>
            <a:t>negative effect of progressivity for secondary earners</a:t>
          </a:r>
        </a:p>
      </dsp:txBody>
      <dsp:txXfrm rot="10800000">
        <a:off x="2328202" y="2044"/>
        <a:ext cx="6771263" cy="1106026"/>
      </dsp:txXfrm>
    </dsp:sp>
    <dsp:sp modelId="{C533C2D2-0B81-4C0A-9A94-B527FF3273CA}">
      <dsp:nvSpPr>
        <dsp:cNvPr id="0" name=""/>
        <dsp:cNvSpPr/>
      </dsp:nvSpPr>
      <dsp:spPr>
        <a:xfrm>
          <a:off x="1498683" y="2044"/>
          <a:ext cx="1106026" cy="110602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54C957-A4C5-4D16-8CAA-651E24C1CFFE}">
      <dsp:nvSpPr>
        <dsp:cNvPr id="0" name=""/>
        <dsp:cNvSpPr/>
      </dsp:nvSpPr>
      <dsp:spPr>
        <a:xfrm rot="10800000">
          <a:off x="2051696" y="1438228"/>
          <a:ext cx="7047769" cy="1106026"/>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27" tIns="83820" rIns="156464" bIns="8382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bg1"/>
              </a:solidFill>
              <a:latin typeface="Arial" panose="020B0604020202020204" pitchFamily="34" charset="0"/>
              <a:cs typeface="Arial" panose="020B0604020202020204" pitchFamily="34" charset="0"/>
            </a:rPr>
            <a:t>Introduce gender budgeting</a:t>
          </a:r>
        </a:p>
      </dsp:txBody>
      <dsp:txXfrm rot="10800000">
        <a:off x="2328202" y="1438228"/>
        <a:ext cx="6771263" cy="1106026"/>
      </dsp:txXfrm>
    </dsp:sp>
    <dsp:sp modelId="{974C0D88-ADB9-429E-BD5A-872558FE1A0D}">
      <dsp:nvSpPr>
        <dsp:cNvPr id="0" name=""/>
        <dsp:cNvSpPr/>
      </dsp:nvSpPr>
      <dsp:spPr>
        <a:xfrm>
          <a:off x="1498683" y="1438228"/>
          <a:ext cx="1106026" cy="110602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E48979C-ED0B-435F-9610-1538778D0D89}">
      <dsp:nvSpPr>
        <dsp:cNvPr id="0" name=""/>
        <dsp:cNvSpPr/>
      </dsp:nvSpPr>
      <dsp:spPr>
        <a:xfrm rot="10800000">
          <a:off x="2051696" y="2874412"/>
          <a:ext cx="7047769" cy="1106026"/>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27" tIns="83820" rIns="156464" bIns="83820" numCol="1" spcCol="1270" anchor="t" anchorCtr="0">
          <a:noAutofit/>
        </a:bodyPr>
        <a:lstStyle/>
        <a:p>
          <a:pPr marL="0" lvl="0" indent="0" algn="l" defTabSz="977900">
            <a:lnSpc>
              <a:spcPct val="90000"/>
            </a:lnSpc>
            <a:spcBef>
              <a:spcPct val="0"/>
            </a:spcBef>
            <a:spcAft>
              <a:spcPct val="35000"/>
            </a:spcAft>
            <a:buNone/>
          </a:pPr>
          <a:r>
            <a:rPr lang="en-US" sz="2200" kern="1200">
              <a:solidFill>
                <a:schemeClr val="bg1"/>
              </a:solidFill>
              <a:latin typeface="Arial" panose="020B0604020202020204" pitchFamily="34" charset="0"/>
              <a:cs typeface="Arial" panose="020B0604020202020204" pitchFamily="34" charset="0"/>
            </a:rPr>
            <a:t>Design gender-responsive expenditures</a:t>
          </a:r>
        </a:p>
        <a:p>
          <a:pPr marL="171450" lvl="1" indent="-171450" algn="l" defTabSz="755650">
            <a:lnSpc>
              <a:spcPct val="90000"/>
            </a:lnSpc>
            <a:spcBef>
              <a:spcPct val="0"/>
            </a:spcBef>
            <a:spcAft>
              <a:spcPct val="15000"/>
            </a:spcAft>
            <a:buChar char="•"/>
          </a:pPr>
          <a:r>
            <a:rPr lang="en-US" sz="1700" kern="1200">
              <a:solidFill>
                <a:schemeClr val="bg1"/>
              </a:solidFill>
              <a:latin typeface="Arial" panose="020B0604020202020204" pitchFamily="34" charset="0"/>
              <a:cs typeface="Arial" panose="020B0604020202020204" pitchFamily="34" charset="0"/>
            </a:rPr>
            <a:t>invest in child and elder care </a:t>
          </a:r>
        </a:p>
        <a:p>
          <a:pPr marL="171450" lvl="1" indent="-171450" algn="l" defTabSz="755650">
            <a:lnSpc>
              <a:spcPct val="90000"/>
            </a:lnSpc>
            <a:spcBef>
              <a:spcPct val="0"/>
            </a:spcBef>
            <a:spcAft>
              <a:spcPct val="15000"/>
            </a:spcAft>
            <a:buChar char="•"/>
          </a:pPr>
          <a:r>
            <a:rPr lang="en-US" sz="1700" kern="1200">
              <a:solidFill>
                <a:schemeClr val="bg1"/>
              </a:solidFill>
              <a:latin typeface="Arial" panose="020B0604020202020204" pitchFamily="34" charset="0"/>
              <a:cs typeface="Arial" panose="020B0604020202020204" pitchFamily="34" charset="0"/>
            </a:rPr>
            <a:t>incentives for women in STEM</a:t>
          </a:r>
        </a:p>
      </dsp:txBody>
      <dsp:txXfrm rot="10800000">
        <a:off x="2328202" y="2874412"/>
        <a:ext cx="6771263" cy="1106026"/>
      </dsp:txXfrm>
    </dsp:sp>
    <dsp:sp modelId="{A8ADA01B-97C4-400B-8291-DA2A77B10AA8}">
      <dsp:nvSpPr>
        <dsp:cNvPr id="0" name=""/>
        <dsp:cNvSpPr/>
      </dsp:nvSpPr>
      <dsp:spPr>
        <a:xfrm>
          <a:off x="1498683" y="2874412"/>
          <a:ext cx="1106026" cy="110602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71214A-F046-47D9-AC05-F1B7892FD4A0}">
      <dsp:nvSpPr>
        <dsp:cNvPr id="0" name=""/>
        <dsp:cNvSpPr/>
      </dsp:nvSpPr>
      <dsp:spPr>
        <a:xfrm rot="10800000">
          <a:off x="2051696" y="4310595"/>
          <a:ext cx="7047769" cy="1106026"/>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27" tIns="83820" rIns="156464" bIns="8382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bg1"/>
              </a:solidFill>
              <a:latin typeface="Arial"/>
              <a:cs typeface="Arial"/>
            </a:rPr>
            <a:t>Invest in digital infrastructure and render it accessible to teleworkers</a:t>
          </a:r>
        </a:p>
      </dsp:txBody>
      <dsp:txXfrm rot="10800000">
        <a:off x="2328202" y="4310595"/>
        <a:ext cx="6771263" cy="1106026"/>
      </dsp:txXfrm>
    </dsp:sp>
    <dsp:sp modelId="{209EC6CA-920E-4FA5-B980-D54F305142C2}">
      <dsp:nvSpPr>
        <dsp:cNvPr id="0" name=""/>
        <dsp:cNvSpPr/>
      </dsp:nvSpPr>
      <dsp:spPr>
        <a:xfrm>
          <a:off x="1498683" y="4310595"/>
          <a:ext cx="1106026" cy="110602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607AE-10A3-4F0E-B6F8-335832338D4B}">
      <dsp:nvSpPr>
        <dsp:cNvPr id="0" name=""/>
        <dsp:cNvSpPr/>
      </dsp:nvSpPr>
      <dsp:spPr>
        <a:xfrm rot="10800000">
          <a:off x="2151377" y="3027"/>
          <a:ext cx="7047769" cy="15047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3553" tIns="80010" rIns="149352" bIns="80010" numCol="1" spcCol="1270" anchor="t" anchorCtr="0">
          <a:noAutofit/>
        </a:bodyPr>
        <a:lstStyle/>
        <a:p>
          <a:pPr marL="0" lvl="0" indent="0" algn="l" defTabSz="933450">
            <a:lnSpc>
              <a:spcPct val="90000"/>
            </a:lnSpc>
            <a:spcBef>
              <a:spcPct val="0"/>
            </a:spcBef>
            <a:spcAft>
              <a:spcPct val="35000"/>
            </a:spcAft>
            <a:buNone/>
          </a:pPr>
          <a:r>
            <a:rPr lang="en-US" sz="2100" b="1" kern="1200">
              <a:latin typeface="Arial" panose="020B0604020202020204" pitchFamily="34" charset="0"/>
              <a:cs typeface="Arial" panose="020B0604020202020204" pitchFamily="34" charset="0"/>
            </a:rPr>
            <a:t>Reduce inefficiencies in tax administration</a:t>
          </a:r>
          <a:endParaRPr lang="en-US" sz="2100" kern="1200">
            <a:solidFill>
              <a:schemeClr val="bg1"/>
            </a:solidFill>
            <a:latin typeface="Arial" panose="020B0604020202020204" pitchFamily="34" charset="0"/>
            <a:cs typeface="Arial" panose="020B0604020202020204" pitchFamily="34"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simplify tax registration and filing for micro and small enterprises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expand digital tax services to lower compliance costs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improve access to formalization for women-owned businesses</a:t>
          </a:r>
        </a:p>
      </dsp:txBody>
      <dsp:txXfrm rot="10800000">
        <a:off x="2527565" y="3027"/>
        <a:ext cx="6671581" cy="1504751"/>
      </dsp:txXfrm>
    </dsp:sp>
    <dsp:sp modelId="{F6947003-0394-4136-8CF1-65EF244E4BDA}">
      <dsp:nvSpPr>
        <dsp:cNvPr id="0" name=""/>
        <dsp:cNvSpPr/>
      </dsp:nvSpPr>
      <dsp:spPr>
        <a:xfrm>
          <a:off x="1399002" y="3027"/>
          <a:ext cx="1504751" cy="1504751"/>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54C957-A4C5-4D16-8CAA-651E24C1CFFE}">
      <dsp:nvSpPr>
        <dsp:cNvPr id="0" name=""/>
        <dsp:cNvSpPr/>
      </dsp:nvSpPr>
      <dsp:spPr>
        <a:xfrm rot="10800000">
          <a:off x="2151377" y="1956957"/>
          <a:ext cx="7047769" cy="15047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3553" tIns="80010" rIns="149352" bIns="80010" numCol="1" spcCol="1270" anchor="t" anchorCtr="0">
          <a:noAutofit/>
        </a:bodyPr>
        <a:lstStyle/>
        <a:p>
          <a:pPr marL="0" lvl="0" indent="0" algn="l" defTabSz="933450">
            <a:lnSpc>
              <a:spcPct val="90000"/>
            </a:lnSpc>
            <a:spcBef>
              <a:spcPct val="0"/>
            </a:spcBef>
            <a:spcAft>
              <a:spcPct val="35000"/>
            </a:spcAft>
            <a:buNone/>
          </a:pPr>
          <a:r>
            <a:rPr lang="en-US" sz="2100" b="1" kern="1200">
              <a:latin typeface="Arial" panose="020B0604020202020204" pitchFamily="34" charset="0"/>
              <a:cs typeface="Arial" panose="020B0604020202020204" pitchFamily="34" charset="0"/>
            </a:rPr>
            <a:t>Align public employment and wage policies with strategic objectives</a:t>
          </a:r>
          <a:endParaRPr lang="en-US" sz="2100" kern="1200">
            <a:solidFill>
              <a:schemeClr val="bg1"/>
            </a:solidFill>
            <a:latin typeface="Arial" panose="020B0604020202020204" pitchFamily="34" charset="0"/>
            <a:cs typeface="Arial" panose="020B0604020202020204" pitchFamily="34"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consider public sector employment and career progression</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assess impacts of wage bill and employment reforms</a:t>
          </a:r>
        </a:p>
      </dsp:txBody>
      <dsp:txXfrm rot="10800000">
        <a:off x="2527565" y="1956957"/>
        <a:ext cx="6671581" cy="1504751"/>
      </dsp:txXfrm>
    </dsp:sp>
    <dsp:sp modelId="{974C0D88-ADB9-429E-BD5A-872558FE1A0D}">
      <dsp:nvSpPr>
        <dsp:cNvPr id="0" name=""/>
        <dsp:cNvSpPr/>
      </dsp:nvSpPr>
      <dsp:spPr>
        <a:xfrm>
          <a:off x="1399002" y="1956957"/>
          <a:ext cx="1504751" cy="1504751"/>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71214A-F046-47D9-AC05-F1B7892FD4A0}">
      <dsp:nvSpPr>
        <dsp:cNvPr id="0" name=""/>
        <dsp:cNvSpPr/>
      </dsp:nvSpPr>
      <dsp:spPr>
        <a:xfrm rot="10800000">
          <a:off x="2151377" y="3910888"/>
          <a:ext cx="7047769" cy="15047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3553" tIns="80010" rIns="149352" bIns="80010" numCol="1" spcCol="1270" anchor="t" anchorCtr="0">
          <a:noAutofit/>
        </a:bodyPr>
        <a:lstStyle/>
        <a:p>
          <a:pPr marL="0" lvl="0" indent="0" algn="l" defTabSz="933450">
            <a:lnSpc>
              <a:spcPct val="90000"/>
            </a:lnSpc>
            <a:spcBef>
              <a:spcPct val="0"/>
            </a:spcBef>
            <a:spcAft>
              <a:spcPct val="35000"/>
            </a:spcAft>
            <a:buNone/>
          </a:pPr>
          <a:r>
            <a:rPr lang="en-US" sz="2100" b="1" kern="1200">
              <a:latin typeface="Arial" panose="020B0604020202020204" pitchFamily="34" charset="0"/>
              <a:cs typeface="Arial" panose="020B0604020202020204" pitchFamily="34" charset="0"/>
            </a:rPr>
            <a:t>Reform subsidies and transfers</a:t>
          </a:r>
          <a:endParaRPr lang="en-US" sz="2100" kern="1200">
            <a:solidFill>
              <a:schemeClr val="bg1"/>
            </a:solidFill>
            <a:latin typeface="Arial" panose="020B0604020202020204" pitchFamily="34" charset="0"/>
            <a:cs typeface="Arial" panose="020B0604020202020204" pitchFamily="34"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targeted cash transfers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Arial" panose="020B0604020202020204" pitchFamily="34" charset="0"/>
              <a:cs typeface="Arial" panose="020B0604020202020204" pitchFamily="34" charset="0"/>
            </a:rPr>
            <a:t>design social assistance to better reach women and female-headed households</a:t>
          </a:r>
        </a:p>
      </dsp:txBody>
      <dsp:txXfrm rot="10800000">
        <a:off x="2527565" y="3910888"/>
        <a:ext cx="6671581" cy="1504751"/>
      </dsp:txXfrm>
    </dsp:sp>
    <dsp:sp modelId="{209EC6CA-920E-4FA5-B980-D54F305142C2}">
      <dsp:nvSpPr>
        <dsp:cNvPr id="0" name=""/>
        <dsp:cNvSpPr/>
      </dsp:nvSpPr>
      <dsp:spPr>
        <a:xfrm>
          <a:off x="1399002" y="3910888"/>
          <a:ext cx="1504751" cy="1504751"/>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928EE-B28D-4E7A-ACF3-E26D54C2703A}">
      <dsp:nvSpPr>
        <dsp:cNvPr id="0" name=""/>
        <dsp:cNvSpPr/>
      </dsp:nvSpPr>
      <dsp:spPr>
        <a:xfrm>
          <a:off x="2095215" y="0"/>
          <a:ext cx="1787271" cy="1787453"/>
        </a:xfrm>
        <a:prstGeom prst="circularArrow">
          <a:avLst>
            <a:gd name="adj1" fmla="val 10980"/>
            <a:gd name="adj2" fmla="val 1142322"/>
            <a:gd name="adj3" fmla="val 4500000"/>
            <a:gd name="adj4" fmla="val 10800000"/>
            <a:gd name="adj5" fmla="val 12500"/>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DE59F1-1322-4D6B-87A0-122A8E202D99}">
      <dsp:nvSpPr>
        <dsp:cNvPr id="0" name=""/>
        <dsp:cNvSpPr/>
      </dsp:nvSpPr>
      <dsp:spPr>
        <a:xfrm>
          <a:off x="2489816" y="647009"/>
          <a:ext cx="997398"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Manage everyday expenses</a:t>
          </a:r>
        </a:p>
      </dsp:txBody>
      <dsp:txXfrm>
        <a:off x="2489816" y="647009"/>
        <a:ext cx="997398" cy="498647"/>
      </dsp:txXfrm>
    </dsp:sp>
    <dsp:sp modelId="{3970F203-CD3B-4DD6-8590-6C0FD95698E7}">
      <dsp:nvSpPr>
        <dsp:cNvPr id="0" name=""/>
        <dsp:cNvSpPr/>
      </dsp:nvSpPr>
      <dsp:spPr>
        <a:xfrm>
          <a:off x="1598694" y="1027157"/>
          <a:ext cx="1787271" cy="1787453"/>
        </a:xfrm>
        <a:prstGeom prst="leftCircularArrow">
          <a:avLst>
            <a:gd name="adj1" fmla="val 10980"/>
            <a:gd name="adj2" fmla="val 1142322"/>
            <a:gd name="adj3" fmla="val 6300000"/>
            <a:gd name="adj4" fmla="val 18900000"/>
            <a:gd name="adj5" fmla="val 12500"/>
          </a:avLst>
        </a:prstGeom>
        <a:solidFill>
          <a:srgbClr val="7F7F7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68B734-25B4-46D0-831D-6F901DFAEA3E}">
      <dsp:nvSpPr>
        <dsp:cNvPr id="0" name=""/>
        <dsp:cNvSpPr/>
      </dsp:nvSpPr>
      <dsp:spPr>
        <a:xfrm>
          <a:off x="1991284" y="1676063"/>
          <a:ext cx="997398"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Withstand and recover from shocks</a:t>
          </a:r>
        </a:p>
      </dsp:txBody>
      <dsp:txXfrm>
        <a:off x="1991284" y="1676063"/>
        <a:ext cx="997398" cy="498647"/>
      </dsp:txXfrm>
    </dsp:sp>
    <dsp:sp modelId="{312EAF99-9AF2-426B-8F1C-D1CC145A17F7}">
      <dsp:nvSpPr>
        <dsp:cNvPr id="0" name=""/>
        <dsp:cNvSpPr/>
      </dsp:nvSpPr>
      <dsp:spPr>
        <a:xfrm>
          <a:off x="2095215" y="2058107"/>
          <a:ext cx="1787271" cy="1787453"/>
        </a:xfrm>
        <a:prstGeom prst="circularArrow">
          <a:avLst>
            <a:gd name="adj1" fmla="val 10980"/>
            <a:gd name="adj2" fmla="val 1142322"/>
            <a:gd name="adj3" fmla="val 4500000"/>
            <a:gd name="adj4" fmla="val 13500000"/>
            <a:gd name="adj5" fmla="val 12500"/>
          </a:avLst>
        </a:prstGeom>
        <a:solidFill>
          <a:srgbClr val="004C9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D3C19C-9F7B-4AC4-855D-46E55354AF57}">
      <dsp:nvSpPr>
        <dsp:cNvPr id="0" name=""/>
        <dsp:cNvSpPr/>
      </dsp:nvSpPr>
      <dsp:spPr>
        <a:xfrm>
          <a:off x="2362448" y="2705117"/>
          <a:ext cx="1252134"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Progress towards financial goals</a:t>
          </a:r>
        </a:p>
      </dsp:txBody>
      <dsp:txXfrm>
        <a:off x="2362448" y="2705117"/>
        <a:ext cx="1252134" cy="498647"/>
      </dsp:txXfrm>
    </dsp:sp>
    <dsp:sp modelId="{322CD0B7-D4BA-4B31-9F12-F0F4D1D63771}">
      <dsp:nvSpPr>
        <dsp:cNvPr id="0" name=""/>
        <dsp:cNvSpPr/>
      </dsp:nvSpPr>
      <dsp:spPr>
        <a:xfrm>
          <a:off x="1726093" y="3203765"/>
          <a:ext cx="1535491" cy="1536233"/>
        </a:xfrm>
        <a:prstGeom prst="blockArc">
          <a:avLst>
            <a:gd name="adj1" fmla="val 0"/>
            <a:gd name="adj2" fmla="val 18900000"/>
            <a:gd name="adj3" fmla="val 12740"/>
          </a:avLst>
        </a:prstGeom>
        <a:solidFill>
          <a:srgbClr val="B1DAF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32EFDD-9417-44C4-8F27-0E1B6D485195}">
      <dsp:nvSpPr>
        <dsp:cNvPr id="0" name=""/>
        <dsp:cNvSpPr/>
      </dsp:nvSpPr>
      <dsp:spPr>
        <a:xfrm>
          <a:off x="1991284" y="3734171"/>
          <a:ext cx="997398"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Exercise control and feel secure about finances</a:t>
          </a:r>
        </a:p>
      </dsp:txBody>
      <dsp:txXfrm>
        <a:off x="1991284" y="3734171"/>
        <a:ext cx="997398" cy="4986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3415" y="0"/>
          <a:ext cx="1278910" cy="689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Liquid assets, such as cash and deposits</a:t>
          </a:r>
        </a:p>
      </dsp:txBody>
      <dsp:txXfrm>
        <a:off x="23610" y="20195"/>
        <a:ext cx="1238520" cy="649121"/>
      </dsp:txXfrm>
    </dsp:sp>
    <dsp:sp modelId="{37CF87CD-ED07-4E1D-BF2B-B726D68A0C0B}">
      <dsp:nvSpPr>
        <dsp:cNvPr id="0" name=""/>
        <dsp:cNvSpPr/>
      </dsp:nvSpPr>
      <dsp:spPr>
        <a:xfrm>
          <a:off x="1312858"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2858" y="330641"/>
        <a:ext cx="11964" cy="28227"/>
      </dsp:txXfrm>
    </dsp:sp>
    <dsp:sp modelId="{D11F5219-A841-4502-BA08-03B879E5B8D3}">
      <dsp:nvSpPr>
        <dsp:cNvPr id="0" name=""/>
        <dsp:cNvSpPr/>
      </dsp:nvSpPr>
      <dsp:spPr>
        <a:xfrm>
          <a:off x="1358206" y="0"/>
          <a:ext cx="1278910" cy="689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Wages and salaries</a:t>
          </a:r>
        </a:p>
      </dsp:txBody>
      <dsp:txXfrm>
        <a:off x="1378401" y="20195"/>
        <a:ext cx="1238520" cy="649121"/>
      </dsp:txXfrm>
    </dsp:sp>
    <dsp:sp modelId="{02506587-40A2-4B82-892B-6520E484E245}">
      <dsp:nvSpPr>
        <dsp:cNvPr id="0" name=""/>
        <dsp:cNvSpPr/>
      </dsp:nvSpPr>
      <dsp:spPr>
        <a:xfrm>
          <a:off x="266764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7649" y="330641"/>
        <a:ext cx="11964" cy="28227"/>
      </dsp:txXfrm>
    </dsp:sp>
    <dsp:sp modelId="{D734FF8B-F5CB-4848-869B-09FFC07C5165}">
      <dsp:nvSpPr>
        <dsp:cNvPr id="0" name=""/>
        <dsp:cNvSpPr/>
      </dsp:nvSpPr>
      <dsp:spPr>
        <a:xfrm>
          <a:off x="2712996" y="0"/>
          <a:ext cx="1278910" cy="689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Gross disposable income</a:t>
          </a:r>
        </a:p>
      </dsp:txBody>
      <dsp:txXfrm>
        <a:off x="2733191" y="20195"/>
        <a:ext cx="1238520" cy="649121"/>
      </dsp:txXfrm>
    </dsp:sp>
    <dsp:sp modelId="{1387BCC1-1474-4B3F-99FA-2F523A5C8124}">
      <dsp:nvSpPr>
        <dsp:cNvPr id="0" name=""/>
        <dsp:cNvSpPr/>
      </dsp:nvSpPr>
      <dsp:spPr>
        <a:xfrm>
          <a:off x="402243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22439" y="330641"/>
        <a:ext cx="11964" cy="28227"/>
      </dsp:txXfrm>
    </dsp:sp>
    <dsp:sp modelId="{9EFAFFE6-4D7B-497D-A9EC-306B442FD70B}">
      <dsp:nvSpPr>
        <dsp:cNvPr id="0" name=""/>
        <dsp:cNvSpPr/>
      </dsp:nvSpPr>
      <dsp:spPr>
        <a:xfrm>
          <a:off x="4067787" y="0"/>
          <a:ext cx="1278910" cy="689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Debt service payments</a:t>
          </a:r>
        </a:p>
      </dsp:txBody>
      <dsp:txXfrm>
        <a:off x="4087982" y="20195"/>
        <a:ext cx="1238520" cy="649121"/>
      </dsp:txXfrm>
    </dsp:sp>
    <dsp:sp modelId="{89022520-E799-441E-93CB-4C597305AF98}">
      <dsp:nvSpPr>
        <dsp:cNvPr id="0" name=""/>
        <dsp:cNvSpPr/>
      </dsp:nvSpPr>
      <dsp:spPr>
        <a:xfrm>
          <a:off x="5377230"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77230" y="330641"/>
        <a:ext cx="11964" cy="28227"/>
      </dsp:txXfrm>
    </dsp:sp>
    <dsp:sp modelId="{CD0BBA60-665F-4493-8AAC-414E199D5EA8}">
      <dsp:nvSpPr>
        <dsp:cNvPr id="0" name=""/>
        <dsp:cNvSpPr/>
      </dsp:nvSpPr>
      <dsp:spPr>
        <a:xfrm>
          <a:off x="5422577" y="0"/>
          <a:ext cx="1278910" cy="689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Financial assets, such as debt securities</a:t>
          </a:r>
        </a:p>
      </dsp:txBody>
      <dsp:txXfrm>
        <a:off x="5442772" y="20195"/>
        <a:ext cx="1238520" cy="64912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3415" y="0"/>
          <a:ext cx="1278910" cy="689511"/>
        </a:xfrm>
        <a:prstGeom prst="roundRect">
          <a:avLst>
            <a:gd name="adj" fmla="val 10000"/>
          </a:avLst>
        </a:prstGeom>
        <a:solidFill>
          <a:srgbClr val="7F7F7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Household savings</a:t>
          </a:r>
        </a:p>
      </dsp:txBody>
      <dsp:txXfrm>
        <a:off x="23610" y="20195"/>
        <a:ext cx="1238520" cy="649121"/>
      </dsp:txXfrm>
    </dsp:sp>
    <dsp:sp modelId="{37CF87CD-ED07-4E1D-BF2B-B726D68A0C0B}">
      <dsp:nvSpPr>
        <dsp:cNvPr id="0" name=""/>
        <dsp:cNvSpPr/>
      </dsp:nvSpPr>
      <dsp:spPr>
        <a:xfrm>
          <a:off x="1312858"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2858" y="330641"/>
        <a:ext cx="11964" cy="28227"/>
      </dsp:txXfrm>
    </dsp:sp>
    <dsp:sp modelId="{D11F5219-A841-4502-BA08-03B879E5B8D3}">
      <dsp:nvSpPr>
        <dsp:cNvPr id="0" name=""/>
        <dsp:cNvSpPr/>
      </dsp:nvSpPr>
      <dsp:spPr>
        <a:xfrm>
          <a:off x="1358206" y="0"/>
          <a:ext cx="1278910" cy="689511"/>
        </a:xfrm>
        <a:prstGeom prst="roundRect">
          <a:avLst>
            <a:gd name="adj" fmla="val 10000"/>
          </a:avLst>
        </a:prstGeom>
        <a:solidFill>
          <a:srgbClr val="7F7F7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Current transfers, such as tax credits</a:t>
          </a:r>
        </a:p>
      </dsp:txBody>
      <dsp:txXfrm>
        <a:off x="1378401" y="20195"/>
        <a:ext cx="1238520" cy="649121"/>
      </dsp:txXfrm>
    </dsp:sp>
    <dsp:sp modelId="{02506587-40A2-4B82-892B-6520E484E245}">
      <dsp:nvSpPr>
        <dsp:cNvPr id="0" name=""/>
        <dsp:cNvSpPr/>
      </dsp:nvSpPr>
      <dsp:spPr>
        <a:xfrm>
          <a:off x="266764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7649" y="330641"/>
        <a:ext cx="11964" cy="28227"/>
      </dsp:txXfrm>
    </dsp:sp>
    <dsp:sp modelId="{D734FF8B-F5CB-4848-869B-09FFC07C5165}">
      <dsp:nvSpPr>
        <dsp:cNvPr id="0" name=""/>
        <dsp:cNvSpPr/>
      </dsp:nvSpPr>
      <dsp:spPr>
        <a:xfrm>
          <a:off x="2712996" y="0"/>
          <a:ext cx="1278910" cy="689511"/>
        </a:xfrm>
        <a:prstGeom prst="roundRect">
          <a:avLst>
            <a:gd name="adj" fmla="val 10000"/>
          </a:avLst>
        </a:prstGeom>
        <a:solidFill>
          <a:srgbClr val="7F7F7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Insurance, such as medical and life plans</a:t>
          </a:r>
        </a:p>
      </dsp:txBody>
      <dsp:txXfrm>
        <a:off x="2733191" y="20195"/>
        <a:ext cx="1238520" cy="649121"/>
      </dsp:txXfrm>
    </dsp:sp>
    <dsp:sp modelId="{1387BCC1-1474-4B3F-99FA-2F523A5C8124}">
      <dsp:nvSpPr>
        <dsp:cNvPr id="0" name=""/>
        <dsp:cNvSpPr/>
      </dsp:nvSpPr>
      <dsp:spPr>
        <a:xfrm>
          <a:off x="402243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22439" y="330641"/>
        <a:ext cx="11964" cy="28227"/>
      </dsp:txXfrm>
    </dsp:sp>
    <dsp:sp modelId="{9EFAFFE6-4D7B-497D-A9EC-306B442FD70B}">
      <dsp:nvSpPr>
        <dsp:cNvPr id="0" name=""/>
        <dsp:cNvSpPr/>
      </dsp:nvSpPr>
      <dsp:spPr>
        <a:xfrm>
          <a:off x="4067787" y="0"/>
          <a:ext cx="1278910" cy="689511"/>
        </a:xfrm>
        <a:prstGeom prst="roundRect">
          <a:avLst>
            <a:gd name="adj" fmla="val 10000"/>
          </a:avLst>
        </a:prstGeom>
        <a:solidFill>
          <a:srgbClr val="7F7F7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Short-term credit</a:t>
          </a:r>
        </a:p>
      </dsp:txBody>
      <dsp:txXfrm>
        <a:off x="4087982" y="20195"/>
        <a:ext cx="1238520" cy="649121"/>
      </dsp:txXfrm>
    </dsp:sp>
    <dsp:sp modelId="{89022520-E799-441E-93CB-4C597305AF98}">
      <dsp:nvSpPr>
        <dsp:cNvPr id="0" name=""/>
        <dsp:cNvSpPr/>
      </dsp:nvSpPr>
      <dsp:spPr>
        <a:xfrm>
          <a:off x="5377230"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77230" y="330641"/>
        <a:ext cx="11964" cy="28227"/>
      </dsp:txXfrm>
    </dsp:sp>
    <dsp:sp modelId="{CD0BBA60-665F-4493-8AAC-414E199D5EA8}">
      <dsp:nvSpPr>
        <dsp:cNvPr id="0" name=""/>
        <dsp:cNvSpPr/>
      </dsp:nvSpPr>
      <dsp:spPr>
        <a:xfrm>
          <a:off x="5422577" y="0"/>
          <a:ext cx="1278910" cy="689511"/>
        </a:xfrm>
        <a:prstGeom prst="roundRect">
          <a:avLst>
            <a:gd name="adj" fmla="val 10000"/>
          </a:avLst>
        </a:prstGeom>
        <a:solidFill>
          <a:srgbClr val="7F7F7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Net worth</a:t>
          </a:r>
          <a:endParaRPr lang="en-US" sz="1100" kern="1200"/>
        </a:p>
      </dsp:txBody>
      <dsp:txXfrm>
        <a:off x="5442772" y="20195"/>
        <a:ext cx="1238520" cy="6491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3392" y="0"/>
          <a:ext cx="1270422" cy="902176"/>
        </a:xfrm>
        <a:prstGeom prst="roundRect">
          <a:avLst>
            <a:gd name="adj" fmla="val 10000"/>
          </a:avLst>
        </a:prstGeom>
        <a:solidFill>
          <a:srgbClr val="004C9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Nonfinancial assets, such as real estate</a:t>
          </a:r>
        </a:p>
      </dsp:txBody>
      <dsp:txXfrm>
        <a:off x="29816" y="26424"/>
        <a:ext cx="1217574" cy="849328"/>
      </dsp:txXfrm>
    </dsp:sp>
    <dsp:sp modelId="{37CF87CD-ED07-4E1D-BF2B-B726D68A0C0B}">
      <dsp:nvSpPr>
        <dsp:cNvPr id="0" name=""/>
        <dsp:cNvSpPr/>
      </dsp:nvSpPr>
      <dsp:spPr>
        <a:xfrm>
          <a:off x="1304144"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04144" y="437068"/>
        <a:ext cx="11885" cy="28039"/>
      </dsp:txXfrm>
    </dsp:sp>
    <dsp:sp modelId="{D11F5219-A841-4502-BA08-03B879E5B8D3}">
      <dsp:nvSpPr>
        <dsp:cNvPr id="0" name=""/>
        <dsp:cNvSpPr/>
      </dsp:nvSpPr>
      <dsp:spPr>
        <a:xfrm>
          <a:off x="1349191" y="0"/>
          <a:ext cx="1270422" cy="902176"/>
        </a:xfrm>
        <a:prstGeom prst="roundRect">
          <a:avLst>
            <a:gd name="adj" fmla="val 10000"/>
          </a:avLst>
        </a:prstGeom>
        <a:solidFill>
          <a:srgbClr val="004C9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Household debt, including mortgage</a:t>
          </a:r>
        </a:p>
      </dsp:txBody>
      <dsp:txXfrm>
        <a:off x="1375615" y="26424"/>
        <a:ext cx="1217574" cy="849328"/>
      </dsp:txXfrm>
    </dsp:sp>
    <dsp:sp modelId="{02506587-40A2-4B82-892B-6520E484E245}">
      <dsp:nvSpPr>
        <dsp:cNvPr id="0" name=""/>
        <dsp:cNvSpPr/>
      </dsp:nvSpPr>
      <dsp:spPr>
        <a:xfrm>
          <a:off x="2649943"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49943" y="437068"/>
        <a:ext cx="11885" cy="28039"/>
      </dsp:txXfrm>
    </dsp:sp>
    <dsp:sp modelId="{D734FF8B-F5CB-4848-869B-09FFC07C5165}">
      <dsp:nvSpPr>
        <dsp:cNvPr id="0" name=""/>
        <dsp:cNvSpPr/>
      </dsp:nvSpPr>
      <dsp:spPr>
        <a:xfrm>
          <a:off x="2694989" y="0"/>
          <a:ext cx="1270422" cy="902176"/>
        </a:xfrm>
        <a:prstGeom prst="roundRect">
          <a:avLst>
            <a:gd name="adj" fmla="val 10000"/>
          </a:avLst>
        </a:prstGeom>
        <a:solidFill>
          <a:srgbClr val="004C9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Credit card use and balances</a:t>
          </a:r>
        </a:p>
      </dsp:txBody>
      <dsp:txXfrm>
        <a:off x="2721413" y="26424"/>
        <a:ext cx="1217574" cy="849328"/>
      </dsp:txXfrm>
    </dsp:sp>
    <dsp:sp modelId="{1387BCC1-1474-4B3F-99FA-2F523A5C8124}">
      <dsp:nvSpPr>
        <dsp:cNvPr id="0" name=""/>
        <dsp:cNvSpPr/>
      </dsp:nvSpPr>
      <dsp:spPr>
        <a:xfrm>
          <a:off x="3995741"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95741" y="437068"/>
        <a:ext cx="11885" cy="28039"/>
      </dsp:txXfrm>
    </dsp:sp>
    <dsp:sp modelId="{9EFAFFE6-4D7B-497D-A9EC-306B442FD70B}">
      <dsp:nvSpPr>
        <dsp:cNvPr id="0" name=""/>
        <dsp:cNvSpPr/>
      </dsp:nvSpPr>
      <dsp:spPr>
        <a:xfrm>
          <a:off x="4040788" y="0"/>
          <a:ext cx="1270422" cy="902176"/>
        </a:xfrm>
        <a:prstGeom prst="roundRect">
          <a:avLst>
            <a:gd name="adj" fmla="val 10000"/>
          </a:avLst>
        </a:prstGeom>
        <a:solidFill>
          <a:srgbClr val="004C9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Foreign exchange assets and liabilities</a:t>
          </a:r>
        </a:p>
      </dsp:txBody>
      <dsp:txXfrm>
        <a:off x="4067212" y="26424"/>
        <a:ext cx="1217574" cy="849328"/>
      </dsp:txXfrm>
    </dsp:sp>
    <dsp:sp modelId="{89022520-E799-441E-93CB-4C597305AF98}">
      <dsp:nvSpPr>
        <dsp:cNvPr id="0" name=""/>
        <dsp:cNvSpPr/>
      </dsp:nvSpPr>
      <dsp:spPr>
        <a:xfrm>
          <a:off x="5341540"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41540" y="437068"/>
        <a:ext cx="11885" cy="28039"/>
      </dsp:txXfrm>
    </dsp:sp>
    <dsp:sp modelId="{CD0BBA60-665F-4493-8AAC-414E199D5EA8}">
      <dsp:nvSpPr>
        <dsp:cNvPr id="0" name=""/>
        <dsp:cNvSpPr/>
      </dsp:nvSpPr>
      <dsp:spPr>
        <a:xfrm>
          <a:off x="5386586" y="0"/>
          <a:ext cx="1270422" cy="902176"/>
        </a:xfrm>
        <a:prstGeom prst="roundRect">
          <a:avLst>
            <a:gd name="adj" fmla="val 10000"/>
          </a:avLst>
        </a:prstGeom>
        <a:solidFill>
          <a:srgbClr val="004C9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Insurance,</a:t>
          </a:r>
        </a:p>
        <a:p>
          <a:pPr marL="0" lvl="0" indent="0" algn="ctr" defTabSz="622300">
            <a:lnSpc>
              <a:spcPct val="90000"/>
            </a:lnSpc>
            <a:spcBef>
              <a:spcPct val="0"/>
            </a:spcBef>
            <a:spcAft>
              <a:spcPct val="35000"/>
            </a:spcAft>
            <a:buNone/>
          </a:pPr>
          <a:r>
            <a:rPr lang="en-US" sz="1400" kern="1200"/>
            <a:t>Pensions</a:t>
          </a:r>
          <a:endParaRPr lang="en-US" sz="1100" kern="1200"/>
        </a:p>
      </dsp:txBody>
      <dsp:txXfrm>
        <a:off x="5413010" y="26424"/>
        <a:ext cx="1217574" cy="8493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4353" y="0"/>
          <a:ext cx="2147136" cy="689511"/>
        </a:xfrm>
        <a:prstGeom prst="roundRect">
          <a:avLst>
            <a:gd name="adj" fmla="val 10000"/>
          </a:avLst>
        </a:prstGeom>
        <a:solidFill>
          <a:srgbClr val="B1DAF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Nonperforming loans</a:t>
          </a:r>
        </a:p>
      </dsp:txBody>
      <dsp:txXfrm>
        <a:off x="24548" y="20195"/>
        <a:ext cx="2106746" cy="649121"/>
      </dsp:txXfrm>
    </dsp:sp>
    <dsp:sp modelId="{37CF87CD-ED07-4E1D-BF2B-B726D68A0C0B}">
      <dsp:nvSpPr>
        <dsp:cNvPr id="0" name=""/>
        <dsp:cNvSpPr/>
      </dsp:nvSpPr>
      <dsp:spPr>
        <a:xfrm>
          <a:off x="2202750" y="305263"/>
          <a:ext cx="28694" cy="7898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02750" y="321060"/>
        <a:ext cx="20086" cy="47389"/>
      </dsp:txXfrm>
    </dsp:sp>
    <dsp:sp modelId="{D11F5219-A841-4502-BA08-03B879E5B8D3}">
      <dsp:nvSpPr>
        <dsp:cNvPr id="0" name=""/>
        <dsp:cNvSpPr/>
      </dsp:nvSpPr>
      <dsp:spPr>
        <a:xfrm>
          <a:off x="2278883" y="0"/>
          <a:ext cx="2147136" cy="689511"/>
        </a:xfrm>
        <a:prstGeom prst="roundRect">
          <a:avLst>
            <a:gd name="adj" fmla="val 10000"/>
          </a:avLst>
        </a:prstGeom>
        <a:solidFill>
          <a:srgbClr val="B1DAF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Refinancing activity</a:t>
          </a:r>
        </a:p>
      </dsp:txBody>
      <dsp:txXfrm>
        <a:off x="2299078" y="20195"/>
        <a:ext cx="2106746" cy="649121"/>
      </dsp:txXfrm>
    </dsp:sp>
    <dsp:sp modelId="{02506587-40A2-4B82-892B-6520E484E245}">
      <dsp:nvSpPr>
        <dsp:cNvPr id="0" name=""/>
        <dsp:cNvSpPr/>
      </dsp:nvSpPr>
      <dsp:spPr>
        <a:xfrm>
          <a:off x="4477280" y="305263"/>
          <a:ext cx="28694" cy="7898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77280" y="321060"/>
        <a:ext cx="20086" cy="47389"/>
      </dsp:txXfrm>
    </dsp:sp>
    <dsp:sp modelId="{D734FF8B-F5CB-4848-869B-09FFC07C5165}">
      <dsp:nvSpPr>
        <dsp:cNvPr id="0" name=""/>
        <dsp:cNvSpPr/>
      </dsp:nvSpPr>
      <dsp:spPr>
        <a:xfrm>
          <a:off x="4553413" y="0"/>
          <a:ext cx="2147136" cy="689511"/>
        </a:xfrm>
        <a:prstGeom prst="roundRect">
          <a:avLst>
            <a:gd name="adj" fmla="val 10000"/>
          </a:avLst>
        </a:prstGeom>
        <a:solidFill>
          <a:srgbClr val="B1DAF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Digital payments</a:t>
          </a:r>
        </a:p>
      </dsp:txBody>
      <dsp:txXfrm>
        <a:off x="4573608" y="20195"/>
        <a:ext cx="2106746" cy="64912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0EEF6-F7FC-48D1-AF33-3F97DAEC068E}">
      <dsp:nvSpPr>
        <dsp:cNvPr id="0" name=""/>
        <dsp:cNvSpPr/>
      </dsp:nvSpPr>
      <dsp:spPr>
        <a:xfrm>
          <a:off x="3134591" y="1384916"/>
          <a:ext cx="3450142" cy="3450142"/>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latin typeface="Arial" panose="020B0604020202020204" pitchFamily="34" charset="0"/>
              <a:cs typeface="Arial" panose="020B0604020202020204" pitchFamily="34" charset="0"/>
            </a:rPr>
            <a:t>Financial Inclusion</a:t>
          </a:r>
        </a:p>
      </dsp:txBody>
      <dsp:txXfrm>
        <a:off x="3639853" y="1890178"/>
        <a:ext cx="2439618" cy="2439618"/>
      </dsp:txXfrm>
    </dsp:sp>
    <dsp:sp modelId="{65BE68A0-CBFD-4625-A667-6AC0866E99BD}">
      <dsp:nvSpPr>
        <dsp:cNvPr id="0" name=""/>
        <dsp:cNvSpPr/>
      </dsp:nvSpPr>
      <dsp:spPr>
        <a:xfrm>
          <a:off x="3997127" y="615"/>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Font typeface="Courier New" panose="02070309020205020404" pitchFamily="49" charset="0"/>
            <a:buNone/>
          </a:pPr>
          <a:r>
            <a:rPr lang="en-US" sz="1600" kern="1200">
              <a:latin typeface="Arial" panose="020B0604020202020204" pitchFamily="34" charset="0"/>
              <a:cs typeface="Arial" panose="020B0604020202020204" pitchFamily="34" charset="0"/>
            </a:rPr>
            <a:t>Provide incentives to banks to promote financial access</a:t>
          </a:r>
        </a:p>
      </dsp:txBody>
      <dsp:txXfrm>
        <a:off x="4249758" y="253246"/>
        <a:ext cx="1219809" cy="1219809"/>
      </dsp:txXfrm>
    </dsp:sp>
    <dsp:sp modelId="{8783ADD2-1659-4A41-9F03-2398BAC33EFC}">
      <dsp:nvSpPr>
        <dsp:cNvPr id="0" name=""/>
        <dsp:cNvSpPr/>
      </dsp:nvSpPr>
      <dsp:spPr>
        <a:xfrm>
          <a:off x="5585880" y="658698"/>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Develop wireless payment systems</a:t>
          </a:r>
        </a:p>
      </dsp:txBody>
      <dsp:txXfrm>
        <a:off x="5838511" y="911329"/>
        <a:ext cx="1219809" cy="1219809"/>
      </dsp:txXfrm>
    </dsp:sp>
    <dsp:sp modelId="{4C5F85BF-754A-4C10-95BC-BDF491189F5F}">
      <dsp:nvSpPr>
        <dsp:cNvPr id="0" name=""/>
        <dsp:cNvSpPr/>
      </dsp:nvSpPr>
      <dsp:spPr>
        <a:xfrm>
          <a:off x="6243963" y="2247452"/>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Build alternative credit verifying channels</a:t>
          </a:r>
        </a:p>
      </dsp:txBody>
      <dsp:txXfrm>
        <a:off x="6496594" y="2500083"/>
        <a:ext cx="1219809" cy="1219809"/>
      </dsp:txXfrm>
    </dsp:sp>
    <dsp:sp modelId="{3F2D84AD-1F60-4A96-A045-E795E0AE5A93}">
      <dsp:nvSpPr>
        <dsp:cNvPr id="0" name=""/>
        <dsp:cNvSpPr/>
      </dsp:nvSpPr>
      <dsp:spPr>
        <a:xfrm>
          <a:off x="5585880" y="3836205"/>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Reduce legal barriers  to owning an account</a:t>
          </a:r>
        </a:p>
      </dsp:txBody>
      <dsp:txXfrm>
        <a:off x="5838511" y="4088836"/>
        <a:ext cx="1219809" cy="1219809"/>
      </dsp:txXfrm>
    </dsp:sp>
    <dsp:sp modelId="{BCF6398D-614A-4042-A66B-7C91820A2A31}">
      <dsp:nvSpPr>
        <dsp:cNvPr id="0" name=""/>
        <dsp:cNvSpPr/>
      </dsp:nvSpPr>
      <dsp:spPr>
        <a:xfrm>
          <a:off x="3997127" y="4494288"/>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Universal official identification systems</a:t>
          </a:r>
        </a:p>
      </dsp:txBody>
      <dsp:txXfrm>
        <a:off x="4249758" y="4746919"/>
        <a:ext cx="1219809" cy="1219809"/>
      </dsp:txXfrm>
    </dsp:sp>
    <dsp:sp modelId="{C24B5F91-3B8D-4A6D-9C6C-3F6DC60E823C}">
      <dsp:nvSpPr>
        <dsp:cNvPr id="0" name=""/>
        <dsp:cNvSpPr/>
      </dsp:nvSpPr>
      <dsp:spPr>
        <a:xfrm>
          <a:off x="2408373" y="3836205"/>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Access to digital financial services</a:t>
          </a:r>
        </a:p>
      </dsp:txBody>
      <dsp:txXfrm>
        <a:off x="2661004" y="4088836"/>
        <a:ext cx="1219809" cy="1219809"/>
      </dsp:txXfrm>
    </dsp:sp>
    <dsp:sp modelId="{518E68FB-F068-47A3-8541-63550B6EEA69}">
      <dsp:nvSpPr>
        <dsp:cNvPr id="0" name=""/>
        <dsp:cNvSpPr/>
      </dsp:nvSpPr>
      <dsp:spPr>
        <a:xfrm>
          <a:off x="1750290" y="2247452"/>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Direct deposit transfers, payments</a:t>
          </a:r>
        </a:p>
      </dsp:txBody>
      <dsp:txXfrm>
        <a:off x="2002921" y="2500083"/>
        <a:ext cx="1219809" cy="1219809"/>
      </dsp:txXfrm>
    </dsp:sp>
    <dsp:sp modelId="{DE0D35B8-4FE5-4F28-B200-94583AEABFD6}">
      <dsp:nvSpPr>
        <dsp:cNvPr id="0" name=""/>
        <dsp:cNvSpPr/>
      </dsp:nvSpPr>
      <dsp:spPr>
        <a:xfrm>
          <a:off x="2408373" y="658698"/>
          <a:ext cx="1725071" cy="1725071"/>
        </a:xfrm>
        <a:prstGeom prst="ellipse">
          <a:avLst/>
        </a:prstGeom>
        <a:gradFill rotWithShape="0">
          <a:gsLst>
            <a:gs pos="0">
              <a:srgbClr val="004C97"/>
            </a:gs>
            <a:gs pos="35000">
              <a:schemeClr val="accent1">
                <a:alpha val="50000"/>
                <a:hueOff val="0"/>
                <a:satOff val="0"/>
                <a:lumOff val="0"/>
                <a:alphaOff val="0"/>
                <a:tint val="37000"/>
                <a:satMod val="300000"/>
              </a:schemeClr>
            </a:gs>
            <a:gs pos="100000">
              <a:schemeClr val="accent1">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Financial literacy programs</a:t>
          </a:r>
        </a:p>
      </dsp:txBody>
      <dsp:txXfrm>
        <a:off x="2661004" y="911329"/>
        <a:ext cx="1219809" cy="1219809"/>
      </dsp:txXfrm>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0.00252</cdr:x>
      <cdr:y>0.01504</cdr:y>
    </cdr:from>
    <cdr:to>
      <cdr:x>0.87956</cdr:x>
      <cdr:y>0.23352</cdr:y>
    </cdr:to>
    <cdr:sp macro="" textlink="">
      <cdr:nvSpPr>
        <cdr:cNvPr id="2" name="TextBox 1">
          <a:extLst xmlns:a="http://schemas.openxmlformats.org/drawingml/2006/main">
            <a:ext uri="{FF2B5EF4-FFF2-40B4-BE49-F238E27FC236}">
              <a16:creationId xmlns:a16="http://schemas.microsoft.com/office/drawing/2014/main" id="{B845DB85-4333-6F0A-2460-A6A3A595140C}"/>
            </a:ext>
          </a:extLst>
        </cdr:cNvPr>
        <cdr:cNvSpPr txBox="1"/>
      </cdr:nvSpPr>
      <cdr:spPr>
        <a:xfrm xmlns:a="http://schemas.openxmlformats.org/drawingml/2006/main">
          <a:off x="12319" y="62946"/>
          <a:ext cx="429364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b="1" dirty="0"/>
            <a:t>GDP gains from Reforms </a:t>
          </a:r>
        </a:p>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i="1" dirty="0"/>
            <a:t>Model results, based on actual reforms</a:t>
          </a:r>
        </a:p>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050" dirty="0"/>
            <a:t>(% of GDP)</a:t>
          </a:r>
          <a:endParaRPr lang="en-US" dirty="0"/>
        </a:p>
        <a:p xmlns:a="http://schemas.openxmlformats.org/drawingml/2006/main">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0.01477</cdr:x>
      <cdr:y>0</cdr:y>
    </cdr:from>
    <cdr:to>
      <cdr:x>1</cdr:x>
      <cdr:y>0.22703</cdr:y>
    </cdr:to>
    <cdr:sp macro="" textlink="">
      <cdr:nvSpPr>
        <cdr:cNvPr id="2" name="TextBox 1">
          <a:extLst xmlns:a="http://schemas.openxmlformats.org/drawingml/2006/main">
            <a:ext uri="{FF2B5EF4-FFF2-40B4-BE49-F238E27FC236}">
              <a16:creationId xmlns:a16="http://schemas.microsoft.com/office/drawing/2014/main" id="{EB282F7F-300D-82D2-585C-0A48EAD0CE2F}"/>
            </a:ext>
          </a:extLst>
        </cdr:cNvPr>
        <cdr:cNvSpPr txBox="1"/>
      </cdr:nvSpPr>
      <cdr:spPr>
        <a:xfrm xmlns:a="http://schemas.openxmlformats.org/drawingml/2006/main">
          <a:off x="65778" y="0"/>
          <a:ext cx="4387688"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b="1" dirty="0"/>
            <a:t>GDP gains from fully closing gap between male and</a:t>
          </a:r>
        </a:p>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b="1" dirty="0"/>
            <a:t>female labor force participation  rates</a:t>
          </a:r>
        </a:p>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i="1" dirty="0"/>
            <a:t>Model-based, a longer-term scenario</a:t>
          </a:r>
        </a:p>
        <a:p xmlns:a="http://schemas.openxmlformats.org/drawingml/2006/main">
          <a:pPr algn="l" rtl="0">
            <a:defRPr sz="14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050" dirty="0"/>
            <a:t>(% of GDP)</a:t>
          </a:r>
          <a:endParaRPr lang="en-US" dirty="0"/>
        </a:p>
        <a:p xmlns:a="http://schemas.openxmlformats.org/drawingml/2006/main">
          <a:endParaRPr 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5" y="15"/>
            <a:ext cx="3170027" cy="479566"/>
          </a:xfrm>
          <a:prstGeom prst="rect">
            <a:avLst/>
          </a:prstGeom>
        </p:spPr>
        <p:txBody>
          <a:bodyPr vert="horz" lIns="94491" tIns="47244" rIns="94491" bIns="47244" rtlCol="0"/>
          <a:lstStyle>
            <a:lvl1pPr algn="l">
              <a:defRPr sz="1200"/>
            </a:lvl1pPr>
          </a:lstStyle>
          <a:p>
            <a:endParaRPr lang="en-US"/>
          </a:p>
        </p:txBody>
      </p:sp>
      <p:sp>
        <p:nvSpPr>
          <p:cNvPr id="4" name="Footer Placeholder 3"/>
          <p:cNvSpPr>
            <a:spLocks noGrp="1"/>
          </p:cNvSpPr>
          <p:nvPr>
            <p:ph type="ftr" sz="quarter" idx="2"/>
          </p:nvPr>
        </p:nvSpPr>
        <p:spPr>
          <a:xfrm>
            <a:off x="15" y="9120008"/>
            <a:ext cx="3170027" cy="479566"/>
          </a:xfrm>
          <a:prstGeom prst="rect">
            <a:avLst/>
          </a:prstGeom>
        </p:spPr>
        <p:txBody>
          <a:bodyPr vert="horz" lIns="94491" tIns="47244" rIns="94491" bIns="47244" rtlCol="0" anchor="b"/>
          <a:lstStyle>
            <a:lvl1pPr algn="l">
              <a:defRPr sz="1200"/>
            </a:lvl1pPr>
          </a:lstStyle>
          <a:p>
            <a:endParaRPr lang="en-US"/>
          </a:p>
        </p:txBody>
      </p:sp>
      <p:sp>
        <p:nvSpPr>
          <p:cNvPr id="5" name="Slide Number Placeholder 4"/>
          <p:cNvSpPr>
            <a:spLocks noGrp="1"/>
          </p:cNvSpPr>
          <p:nvPr>
            <p:ph type="sldNum" sz="quarter" idx="3"/>
          </p:nvPr>
        </p:nvSpPr>
        <p:spPr>
          <a:xfrm>
            <a:off x="4143531" y="9120008"/>
            <a:ext cx="3170027" cy="479566"/>
          </a:xfrm>
          <a:prstGeom prst="rect">
            <a:avLst/>
          </a:prstGeom>
        </p:spPr>
        <p:txBody>
          <a:bodyPr vert="horz" lIns="94491" tIns="47244" rIns="94491" bIns="47244" rtlCol="0" anchor="b"/>
          <a:lstStyle>
            <a:lvl1pPr algn="r">
              <a:defRPr sz="1200"/>
            </a:lvl1pPr>
          </a:lstStyle>
          <a:p>
            <a:fld id="{70787CFD-D5C7-455D-B121-683BFE13FBD4}" type="slidenum">
              <a:rPr lang="en-US" smtClean="0"/>
              <a:pPr/>
              <a:t>‹#›</a:t>
            </a:fld>
            <a:endParaRPr lang="en-US"/>
          </a:p>
        </p:txBody>
      </p:sp>
    </p:spTree>
    <p:extLst>
      <p:ext uri="{BB962C8B-B14F-4D97-AF65-F5344CB8AC3E}">
        <p14:creationId xmlns:p14="http://schemas.microsoft.com/office/powerpoint/2010/main" val="339198984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7"/>
            <a:ext cx="3169920" cy="480060"/>
          </a:xfrm>
          <a:prstGeom prst="rect">
            <a:avLst/>
          </a:prstGeom>
        </p:spPr>
        <p:txBody>
          <a:bodyPr vert="horz" lIns="96453" tIns="48226" rIns="96453" bIns="48226" rtlCol="0"/>
          <a:lstStyle>
            <a:lvl1pPr algn="l">
              <a:defRPr sz="1200"/>
            </a:lvl1pPr>
          </a:lstStyle>
          <a:p>
            <a:endParaRPr lang="en-US"/>
          </a:p>
        </p:txBody>
      </p:sp>
      <p:sp>
        <p:nvSpPr>
          <p:cNvPr id="3" name="Date Placeholder 2"/>
          <p:cNvSpPr>
            <a:spLocks noGrp="1"/>
          </p:cNvSpPr>
          <p:nvPr>
            <p:ph type="dt" idx="1"/>
          </p:nvPr>
        </p:nvSpPr>
        <p:spPr>
          <a:xfrm>
            <a:off x="4143597" y="7"/>
            <a:ext cx="3169920" cy="480060"/>
          </a:xfrm>
          <a:prstGeom prst="rect">
            <a:avLst/>
          </a:prstGeom>
        </p:spPr>
        <p:txBody>
          <a:bodyPr vert="horz" lIns="96453" tIns="48226" rIns="96453" bIns="48226" rtlCol="0"/>
          <a:lstStyle>
            <a:lvl1pPr algn="r">
              <a:defRPr sz="1200"/>
            </a:lvl1pPr>
          </a:lstStyle>
          <a:p>
            <a:fld id="{49E4E862-E263-8B4A-AFB5-DFAAA754BCA9}" type="datetime1">
              <a:rPr lang="en-US" smtClean="0"/>
              <a:t>5/21/2026</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453" tIns="48226" rIns="96453" bIns="48226" rtlCol="0" anchor="ctr"/>
          <a:lstStyle/>
          <a:p>
            <a:endParaRPr lang="en-US"/>
          </a:p>
        </p:txBody>
      </p:sp>
      <p:sp>
        <p:nvSpPr>
          <p:cNvPr id="5" name="Notes Placeholder 4"/>
          <p:cNvSpPr>
            <a:spLocks noGrp="1"/>
          </p:cNvSpPr>
          <p:nvPr>
            <p:ph type="body" sz="quarter" idx="3"/>
          </p:nvPr>
        </p:nvSpPr>
        <p:spPr>
          <a:xfrm>
            <a:off x="731523" y="4560574"/>
            <a:ext cx="5852160" cy="4320540"/>
          </a:xfrm>
          <a:prstGeom prst="rect">
            <a:avLst/>
          </a:prstGeom>
        </p:spPr>
        <p:txBody>
          <a:bodyPr vert="horz" lIns="96453" tIns="48226" rIns="96453" bIns="482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119482"/>
            <a:ext cx="3169920" cy="480060"/>
          </a:xfrm>
          <a:prstGeom prst="rect">
            <a:avLst/>
          </a:prstGeom>
        </p:spPr>
        <p:txBody>
          <a:bodyPr vert="horz" lIns="96453" tIns="48226" rIns="96453" bIns="48226" rtlCol="0" anchor="b"/>
          <a:lstStyle>
            <a:lvl1pPr algn="l">
              <a:defRPr sz="1200"/>
            </a:lvl1pPr>
          </a:lstStyle>
          <a:p>
            <a:endParaRPr lang="en-US"/>
          </a:p>
        </p:txBody>
      </p:sp>
      <p:sp>
        <p:nvSpPr>
          <p:cNvPr id="7" name="Slide Number Placeholder 6"/>
          <p:cNvSpPr>
            <a:spLocks noGrp="1"/>
          </p:cNvSpPr>
          <p:nvPr>
            <p:ph type="sldNum" sz="quarter" idx="5"/>
          </p:nvPr>
        </p:nvSpPr>
        <p:spPr>
          <a:xfrm>
            <a:off x="4143597" y="9119482"/>
            <a:ext cx="3169920" cy="480060"/>
          </a:xfrm>
          <a:prstGeom prst="rect">
            <a:avLst/>
          </a:prstGeom>
        </p:spPr>
        <p:txBody>
          <a:bodyPr vert="horz" lIns="96453" tIns="48226" rIns="96453" bIns="48226" rtlCol="0" anchor="b"/>
          <a:lstStyle>
            <a:lvl1pPr algn="r">
              <a:defRPr sz="1200"/>
            </a:lvl1pPr>
          </a:lstStyle>
          <a:p>
            <a:fld id="{BA49F774-CCF9-492C-9AEB-F2814D4A6625}" type="slidenum">
              <a:rPr lang="en-US" smtClean="0"/>
              <a:pPr/>
              <a:t>‹#›</a:t>
            </a:fld>
            <a:endParaRPr lang="en-US"/>
          </a:p>
        </p:txBody>
      </p:sp>
    </p:spTree>
    <p:extLst>
      <p:ext uri="{BB962C8B-B14F-4D97-AF65-F5344CB8AC3E}">
        <p14:creationId xmlns:p14="http://schemas.microsoft.com/office/powerpoint/2010/main" val="1913010238"/>
      </p:ext>
    </p:extLst>
  </p:cSld>
  <p:clrMap bg1="lt1" tx1="dk1" bg2="lt2" tx2="dk2" accent1="accent1" accent2="accent2" accent3="accent3" accent4="accent4" accent5="accent5" accent6="accent6" hlink="hlink" folHlink="folHlink"/>
  <p:hf hdr="0" ftr="0"/>
  <p:notesStyle>
    <a:lvl1pPr marL="0" algn="l" defTabSz="914314" rtl="0" eaLnBrk="1" latinLnBrk="0" hangingPunct="1">
      <a:defRPr sz="1200" kern="1200">
        <a:solidFill>
          <a:schemeClr val="tx1"/>
        </a:solidFill>
        <a:latin typeface="+mn-lt"/>
        <a:ea typeface="+mn-ea"/>
        <a:cs typeface="+mn-cs"/>
      </a:defRPr>
    </a:lvl1pPr>
    <a:lvl2pPr marL="457157" algn="l" defTabSz="914314" rtl="0" eaLnBrk="1" latinLnBrk="0" hangingPunct="1">
      <a:defRPr sz="1200" kern="1200">
        <a:solidFill>
          <a:schemeClr val="tx1"/>
        </a:solidFill>
        <a:latin typeface="+mn-lt"/>
        <a:ea typeface="+mn-ea"/>
        <a:cs typeface="+mn-cs"/>
      </a:defRPr>
    </a:lvl2pPr>
    <a:lvl3pPr marL="914314" algn="l" defTabSz="914314" rtl="0" eaLnBrk="1" latinLnBrk="0" hangingPunct="1">
      <a:defRPr sz="1200" kern="1200">
        <a:solidFill>
          <a:schemeClr val="tx1"/>
        </a:solidFill>
        <a:latin typeface="+mn-lt"/>
        <a:ea typeface="+mn-ea"/>
        <a:cs typeface="+mn-cs"/>
      </a:defRPr>
    </a:lvl3pPr>
    <a:lvl4pPr marL="1371472" algn="l" defTabSz="914314" rtl="0" eaLnBrk="1" latinLnBrk="0" hangingPunct="1">
      <a:defRPr sz="1200" kern="1200">
        <a:solidFill>
          <a:schemeClr val="tx1"/>
        </a:solidFill>
        <a:latin typeface="+mn-lt"/>
        <a:ea typeface="+mn-ea"/>
        <a:cs typeface="+mn-cs"/>
      </a:defRPr>
    </a:lvl4pPr>
    <a:lvl5pPr marL="1828628" algn="l" defTabSz="914314" rtl="0" eaLnBrk="1" latinLnBrk="0" hangingPunct="1">
      <a:defRPr sz="1200" kern="1200">
        <a:solidFill>
          <a:schemeClr val="tx1"/>
        </a:solidFill>
        <a:latin typeface="+mn-lt"/>
        <a:ea typeface="+mn-ea"/>
        <a:cs typeface="+mn-cs"/>
      </a:defRPr>
    </a:lvl5pPr>
    <a:lvl6pPr marL="2285785" algn="l" defTabSz="914314" rtl="0" eaLnBrk="1" latinLnBrk="0" hangingPunct="1">
      <a:defRPr sz="1200" kern="1200">
        <a:solidFill>
          <a:schemeClr val="tx1"/>
        </a:solidFill>
        <a:latin typeface="+mn-lt"/>
        <a:ea typeface="+mn-ea"/>
        <a:cs typeface="+mn-cs"/>
      </a:defRPr>
    </a:lvl6pPr>
    <a:lvl7pPr marL="2742942" algn="l" defTabSz="914314" rtl="0" eaLnBrk="1" latinLnBrk="0" hangingPunct="1">
      <a:defRPr sz="1200" kern="1200">
        <a:solidFill>
          <a:schemeClr val="tx1"/>
        </a:solidFill>
        <a:latin typeface="+mn-lt"/>
        <a:ea typeface="+mn-ea"/>
        <a:cs typeface="+mn-cs"/>
      </a:defRPr>
    </a:lvl7pPr>
    <a:lvl8pPr marL="3200100" algn="l" defTabSz="914314" rtl="0" eaLnBrk="1" latinLnBrk="0" hangingPunct="1">
      <a:defRPr sz="1200" kern="1200">
        <a:solidFill>
          <a:schemeClr val="tx1"/>
        </a:solidFill>
        <a:latin typeface="+mn-lt"/>
        <a:ea typeface="+mn-ea"/>
        <a:cs typeface="+mn-cs"/>
      </a:defRPr>
    </a:lvl8pPr>
    <a:lvl9pPr marL="3657257" algn="l" defTabSz="91431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a:t>
            </a:fld>
            <a:endParaRPr lang="en-US"/>
          </a:p>
        </p:txBody>
      </p:sp>
    </p:spTree>
    <p:extLst>
      <p:ext uri="{BB962C8B-B14F-4D97-AF65-F5344CB8AC3E}">
        <p14:creationId xmlns:p14="http://schemas.microsoft.com/office/powerpoint/2010/main" val="609906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559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0853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lang="en-US"/>
          </a:p>
        </p:txBody>
      </p:sp>
      <p:sp>
        <p:nvSpPr>
          <p:cNvPr id="4" name="Date Placeholder 3"/>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49E4E862-E263-8B4A-AFB5-DFAAA754BCA9}"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24808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1282"/>
              </a:spcAft>
              <a:buFont typeface="Arial" panose="020B0604020202020204" pitchFamily="34" charset="0"/>
              <a:buNone/>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US" altLang="en-US" sz="1200"/>
              <a:t>GDP from factor sides: </a:t>
            </a:r>
          </a:p>
          <a:p>
            <a:pPr marL="0" indent="0">
              <a:spcBef>
                <a:spcPts val="0"/>
              </a:spcBef>
              <a:spcAft>
                <a:spcPts val="1282"/>
              </a:spcAft>
              <a:buFont typeface="Arial" panose="020B0604020202020204" pitchFamily="34" charset="0"/>
              <a:buNone/>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endParaRPr lang="en-US" altLang="en-US" sz="1200"/>
          </a:p>
          <a:p>
            <a:pPr marL="0" indent="0">
              <a:spcBef>
                <a:spcPts val="0"/>
              </a:spcBef>
              <a:spcAft>
                <a:spcPts val="1282"/>
              </a:spcAft>
              <a:buFont typeface="Arial" panose="020B0604020202020204" pitchFamily="34" charset="0"/>
              <a:buNone/>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US" altLang="en-US" sz="1200"/>
              <a:t>Y = GDP = W + R + π</a:t>
            </a:r>
          </a:p>
          <a:p>
            <a:pPr marL="342900" indent="-342900">
              <a:spcBef>
                <a:spcPts val="0"/>
              </a:spcBef>
              <a:spcAft>
                <a:spcPts val="1282"/>
              </a:spcAft>
              <a:buFont typeface="Arial" panose="020B0604020202020204" pitchFamily="34" charset="0"/>
              <a:buChar char="•"/>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US" altLang="en-US" sz="1200"/>
              <a:t>Wages: gender gaps in wages are well-established, as well as gender bias in hiring and promotion</a:t>
            </a:r>
          </a:p>
          <a:p>
            <a:pPr marL="342900" indent="-342900">
              <a:spcBef>
                <a:spcPts val="0"/>
              </a:spcBef>
              <a:spcAft>
                <a:spcPts val="1282"/>
              </a:spcAft>
              <a:buFont typeface="Arial" panose="020B0604020202020204" pitchFamily="34" charset="0"/>
              <a:buChar char="•"/>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US" altLang="en-US" sz="1200"/>
              <a:t>Rents: Property is unequally distributed between women and men and so rents are gendered</a:t>
            </a:r>
          </a:p>
          <a:p>
            <a:pPr marL="342900" indent="-342900">
              <a:spcBef>
                <a:spcPts val="0"/>
              </a:spcBef>
              <a:spcAft>
                <a:spcPts val="1282"/>
              </a:spcAft>
              <a:buFont typeface="Arial" panose="020B0604020202020204" pitchFamily="34" charset="0"/>
              <a:buChar char="•"/>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US" altLang="en-US" sz="1200"/>
              <a:t>Profits: Gender biases in corporate ownership are well-established</a:t>
            </a:r>
          </a:p>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6</a:t>
            </a:fld>
            <a:endParaRPr lang="en-US"/>
          </a:p>
        </p:txBody>
      </p:sp>
    </p:spTree>
    <p:extLst>
      <p:ext uri="{BB962C8B-B14F-4D97-AF65-F5344CB8AC3E}">
        <p14:creationId xmlns:p14="http://schemas.microsoft.com/office/powerpoint/2010/main" val="4282330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l" rtl="0" fontAlgn="base"/>
            <a:r>
              <a:rPr lang="en-US" sz="1800">
                <a:solidFill>
                  <a:srgbClr val="000000"/>
                </a:solidFill>
                <a:latin typeface="Arial" panose="020B0604020202020204" pitchFamily="34" charset="0"/>
              </a:rPr>
              <a:t>This slide presents the gains from structural reforms and from closing gender gaps in labor force participation, based on feasible scenarios in both areas.  </a:t>
            </a:r>
            <a:endParaRPr lang="en-US"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800">
                <a:solidFill>
                  <a:srgbClr val="000000"/>
                </a:solidFill>
                <a:latin typeface="Arial" panose="020B0604020202020204" pitchFamily="34" charset="0"/>
              </a:rPr>
              <a:t>The first four columns in the left chart show the sizable model-based gains from major structural reforms, based on actual reforms, as published in the 2019 October World Economic Outlook.  </a:t>
            </a:r>
          </a:p>
          <a:p>
            <a:pPr algn="l" rtl="0" fontAlgn="base">
              <a:buFont typeface="Arial" panose="020B0604020202020204" pitchFamily="34" charset="0"/>
              <a:buChar char="•"/>
            </a:pPr>
            <a:r>
              <a:rPr lang="en-US" sz="1800">
                <a:solidFill>
                  <a:srgbClr val="000000"/>
                </a:solidFill>
                <a:latin typeface="Arial" panose="020B0604020202020204" pitchFamily="34" charset="0"/>
              </a:rPr>
              <a:t>The last column in the left chart presents the model-based gains from reducing gender gaps using the methodology presented in a 2018 Staff Discussion Note. The results suggest that reducing gender gaps in line with the average decrease seen in the 5 percent of countries that saw the largest gender gap reductions between 2014 and 2019—that is mirroring a reasonable medium-term change—could yield an average GDP gain of 7.7 percent.  </a:t>
            </a:r>
          </a:p>
          <a:p>
            <a:pPr algn="l" rtl="0" fontAlgn="base">
              <a:buFont typeface="Arial" panose="020B0604020202020204" pitchFamily="34" charset="0"/>
              <a:buChar char="•"/>
            </a:pPr>
            <a:r>
              <a:rPr lang="en-US" sz="1800">
                <a:solidFill>
                  <a:srgbClr val="000000"/>
                </a:solidFill>
                <a:latin typeface="Arial" panose="020B0604020202020204" pitchFamily="34" charset="0"/>
              </a:rPr>
              <a:t>The chart on the right illustrates the potential GDP gains from closing gender gaps in labor force participation in 128 emerging and developing economies, a longer-term scenario. The GDP gains from such a decrease could reach 23 percent on average. For it to be realized, frictions such as financial barriers and informality would need to be addressed, requiring both broad macro-structural reforms and reforms to specifically tackle the frictions that hinder the closing of the gender gaps. </a:t>
            </a:r>
          </a:p>
          <a:p>
            <a:pPr algn="l" rtl="0" fontAlgn="base"/>
            <a:r>
              <a:rPr lang="en-US" sz="1800">
                <a:solidFill>
                  <a:srgbClr val="000000"/>
                </a:solidFill>
                <a:latin typeface="Arial" panose="020B0604020202020204" pitchFamily="34" charset="0"/>
              </a:rPr>
              <a:t>Structural reforms are therefore critically important and necessary for growth and improved gender outcomes. At the same time, structural reforms designed without a gender lens are unlikely to be sufficient to reduce gender gaps, and a gender lens can amplify the positive impact of structural reforms on growth. This calls for a systematic and intentional approach to integrating gender into reform design.  </a:t>
            </a:r>
            <a:endParaRPr lang="en-US" b="0" i="0">
              <a:solidFill>
                <a:srgbClr val="000000"/>
              </a:solidFill>
              <a:effectLst/>
              <a:latin typeface="Segoe UI" panose="020B0502040204020203" pitchFamily="34" charset="0"/>
            </a:endParaRPr>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8</a:t>
            </a:fld>
            <a:endParaRPr lang="en-US"/>
          </a:p>
        </p:txBody>
      </p:sp>
    </p:spTree>
    <p:extLst>
      <p:ext uri="{BB962C8B-B14F-4D97-AF65-F5344CB8AC3E}">
        <p14:creationId xmlns:p14="http://schemas.microsoft.com/office/powerpoint/2010/main" val="258785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with the drivers of gender inequality.</a:t>
            </a:r>
          </a:p>
        </p:txBody>
      </p:sp>
      <p:sp>
        <p:nvSpPr>
          <p:cNvPr id="4" name="Date Placeholder 3"/>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2906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11</a:t>
            </a:fld>
            <a:endParaRPr lang="en-US"/>
          </a:p>
        </p:txBody>
      </p:sp>
    </p:spTree>
    <p:extLst>
      <p:ext uri="{BB962C8B-B14F-4D97-AF65-F5344CB8AC3E}">
        <p14:creationId xmlns:p14="http://schemas.microsoft.com/office/powerpoint/2010/main" val="577520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21C5E-42C4-8B8C-B9E2-124F9B132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8E2E8-0366-04F7-7DEE-58962022F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DFD2B9-2444-B9E4-F92F-8AC908A76667}"/>
              </a:ext>
            </a:extLst>
          </p:cNvPr>
          <p:cNvSpPr>
            <a:spLocks noGrp="1"/>
          </p:cNvSpPr>
          <p:nvPr>
            <p:ph type="body" idx="1"/>
          </p:nvPr>
        </p:nvSpPr>
        <p:spPr/>
        <p:txBody>
          <a:bodyPr/>
          <a:lstStyle/>
          <a:p>
            <a:r>
              <a:rPr lang="en-US"/>
              <a:t>Let me start with the drivers of gender inequality.</a:t>
            </a:r>
          </a:p>
        </p:txBody>
      </p:sp>
      <p:sp>
        <p:nvSpPr>
          <p:cNvPr id="4" name="Date Placeholder 3">
            <a:extLst>
              <a:ext uri="{FF2B5EF4-FFF2-40B4-BE49-F238E27FC236}">
                <a16:creationId xmlns:a16="http://schemas.microsoft.com/office/drawing/2014/main" id="{CE314CCF-65DB-7938-A258-BB231317567C}"/>
              </a:ext>
            </a:extLst>
          </p:cNvPr>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a:extLst>
              <a:ext uri="{FF2B5EF4-FFF2-40B4-BE49-F238E27FC236}">
                <a16:creationId xmlns:a16="http://schemas.microsoft.com/office/drawing/2014/main" id="{9E07E367-0D2B-E85C-913F-14A12E8E5ABE}"/>
              </a:ext>
            </a:extLst>
          </p:cNvPr>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0755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lang="en-US"/>
              <a:t>Here the focus is on areas of law that have a direct impact on the economic participation of women, which are often interdependent</a:t>
            </a:r>
          </a:p>
          <a:p>
            <a:endParaRPr lang="en-US"/>
          </a:p>
          <a:p>
            <a:r>
              <a:rPr lang="en-US"/>
              <a:t>In other words, there are five areas of law that may limit women’s economic opportunities and may therefore offer opportunities for more empowerment.</a:t>
            </a:r>
          </a:p>
          <a:p>
            <a:endParaRPr lang="en-US"/>
          </a:p>
          <a:p>
            <a:r>
              <a:rPr lang="en-US" b="0" i="0">
                <a:solidFill>
                  <a:srgbClr val="494949"/>
                </a:solidFill>
                <a:effectLst/>
                <a:latin typeface="Roboto"/>
              </a:rPr>
              <a:t>These include:</a:t>
            </a:r>
          </a:p>
          <a:p>
            <a:pPr marL="171450" indent="-171450">
              <a:buFontTx/>
              <a:buChar char="-"/>
            </a:pPr>
            <a:r>
              <a:rPr lang="en-US" b="0" i="0">
                <a:solidFill>
                  <a:srgbClr val="494949"/>
                </a:solidFill>
                <a:effectLst/>
                <a:latin typeface="Roboto"/>
              </a:rPr>
              <a:t>constitutional law, such as the right to vote, freedom of movement,</a:t>
            </a:r>
            <a:r>
              <a:rPr lang="en-US">
                <a:effectLst/>
              </a:rPr>
              <a:t>  </a:t>
            </a:r>
            <a:r>
              <a:rPr lang="en-US" b="0" i="0">
                <a:solidFill>
                  <a:srgbClr val="494949"/>
                </a:solidFill>
                <a:effectLst/>
                <a:latin typeface="Roboto"/>
              </a:rPr>
              <a:t>political participation and access to justice, </a:t>
            </a:r>
          </a:p>
          <a:p>
            <a:pPr marL="171450" indent="-171450">
              <a:buFontTx/>
              <a:buChar char="-"/>
            </a:pPr>
            <a:r>
              <a:rPr lang="en-US" b="0" i="0">
                <a:solidFill>
                  <a:srgbClr val="494949"/>
                </a:solidFill>
                <a:effectLst/>
                <a:latin typeface="Roboto"/>
              </a:rPr>
              <a:t>family law,</a:t>
            </a:r>
            <a:r>
              <a:rPr lang="en-US">
                <a:effectLst/>
              </a:rPr>
              <a:t> </a:t>
            </a:r>
            <a:r>
              <a:rPr lang="en-US" b="0" i="0">
                <a:solidFill>
                  <a:srgbClr val="494949"/>
                </a:solidFill>
                <a:effectLst/>
                <a:latin typeface="Roboto"/>
              </a:rPr>
              <a:t>including the marriage age, the right to divorce, </a:t>
            </a:r>
          </a:p>
          <a:p>
            <a:pPr marL="171450" indent="-171450">
              <a:buFontTx/>
              <a:buChar char="-"/>
            </a:pPr>
            <a:r>
              <a:rPr lang="en-US" b="0" i="0">
                <a:solidFill>
                  <a:srgbClr val="494949"/>
                </a:solidFill>
                <a:effectLst/>
                <a:latin typeface="Roboto"/>
              </a:rPr>
              <a:t>property law regarding ownership and distribution of property and inheritance, </a:t>
            </a:r>
          </a:p>
          <a:p>
            <a:pPr marL="171450" indent="-171450">
              <a:buFontTx/>
              <a:buChar char="-"/>
            </a:pPr>
            <a:r>
              <a:rPr lang="en-US" b="0" i="0">
                <a:solidFill>
                  <a:srgbClr val="494949"/>
                </a:solidFill>
                <a:effectLst/>
                <a:latin typeface="Roboto"/>
              </a:rPr>
              <a:t>labor law, including restrictions on where women can work , </a:t>
            </a:r>
            <a:r>
              <a:rPr lang="en-US" b="0" i="0" err="1">
                <a:solidFill>
                  <a:srgbClr val="494949"/>
                </a:solidFill>
                <a:effectLst/>
                <a:latin typeface="Roboto"/>
              </a:rPr>
              <a:t>aws</a:t>
            </a:r>
            <a:r>
              <a:rPr lang="en-US" b="0" i="0">
                <a:solidFill>
                  <a:srgbClr val="494949"/>
                </a:solidFill>
                <a:effectLst/>
                <a:latin typeface="Roboto"/>
              </a:rPr>
              <a:t> against discrimination and harassment in the workplace, parental leave and access to child care.</a:t>
            </a:r>
          </a:p>
          <a:p>
            <a:pPr marL="171450" indent="-171450">
              <a:buFontTx/>
              <a:buChar char="-"/>
            </a:pPr>
            <a:r>
              <a:rPr lang="en-US" b="0" i="0">
                <a:solidFill>
                  <a:srgbClr val="494949"/>
                </a:solidFill>
                <a:effectLst/>
                <a:latin typeface="Roboto"/>
              </a:rPr>
              <a:t>Tax law, including subsidies and tax incentives to increase female labor force participation.</a:t>
            </a:r>
            <a:r>
              <a:rPr lang="en-US">
                <a:effectLst/>
              </a:rPr>
              <a:t> </a:t>
            </a:r>
          </a:p>
          <a:p>
            <a:pPr marL="171450" indent="-171450">
              <a:buFontTx/>
              <a:buChar char="-"/>
            </a:pPr>
            <a:endParaRPr lang="en-US">
              <a:effectLst/>
            </a:endParaRPr>
          </a:p>
          <a:p>
            <a:pPr marL="171450" indent="-171450">
              <a:buFontTx/>
              <a:buChar char="-"/>
            </a:pPr>
            <a:r>
              <a:rPr lang="en-US">
                <a:effectLst/>
              </a:rPr>
              <a:t>Examples:</a:t>
            </a:r>
          </a:p>
          <a:p>
            <a:pPr marL="342900" lvl="1" indent="-342900">
              <a:buSzPct val="110000"/>
            </a:pPr>
            <a:endParaRPr lang="en-US" sz="1200" b="1"/>
          </a:p>
          <a:p>
            <a:pPr marL="342900" lvl="1" indent="-342900">
              <a:buSzPct val="110000"/>
            </a:pPr>
            <a:r>
              <a:rPr lang="en-US" sz="1200" b="1"/>
              <a:t>Family law</a:t>
            </a:r>
            <a:r>
              <a:rPr lang="en-US" sz="1200"/>
              <a:t>: </a:t>
            </a:r>
          </a:p>
          <a:p>
            <a:pPr marL="342900" lvl="1" indent="-342900">
              <a:buSzPct val="110000"/>
              <a:buFont typeface="Arial" panose="020B0604020202020204" pitchFamily="34" charset="0"/>
              <a:buChar char="•"/>
            </a:pPr>
            <a:r>
              <a:rPr lang="en-US" sz="1200"/>
              <a:t>46 countries still restrict women’s right to obtain a divorce</a:t>
            </a:r>
          </a:p>
          <a:p>
            <a:pPr marL="342900" lvl="1" indent="-342900">
              <a:buSzPct val="110000"/>
              <a:buFont typeface="Arial" panose="020B0604020202020204" pitchFamily="34" charset="0"/>
              <a:buChar char="•"/>
            </a:pPr>
            <a:r>
              <a:rPr lang="en-US" sz="1200"/>
              <a:t>57 countries do not recognize the value of non-monetary contributions</a:t>
            </a:r>
          </a:p>
          <a:p>
            <a:pPr marL="342900" lvl="1" indent="-342900">
              <a:buSzPct val="110000"/>
            </a:pPr>
            <a:r>
              <a:rPr lang="en-US" sz="1200" b="1"/>
              <a:t>Labor law</a:t>
            </a:r>
            <a:r>
              <a:rPr lang="en-US" sz="1200"/>
              <a:t>: </a:t>
            </a:r>
          </a:p>
          <a:p>
            <a:pPr marL="342900" lvl="1" indent="-342900">
              <a:buSzPct val="110000"/>
              <a:buFont typeface="Arial" panose="020B0604020202020204" pitchFamily="34" charset="0"/>
              <a:buChar char="•"/>
            </a:pPr>
            <a:r>
              <a:rPr lang="en-US" sz="1200"/>
              <a:t>66 countries still mandate that women retire earlier than men</a:t>
            </a:r>
          </a:p>
          <a:p>
            <a:pPr marL="342900" lvl="1" indent="-342900">
              <a:buSzPct val="110000"/>
              <a:buFont typeface="Arial" panose="020B0604020202020204" pitchFamily="34" charset="0"/>
              <a:buChar char="•"/>
            </a:pPr>
            <a:r>
              <a:rPr lang="en-US" sz="1200"/>
              <a:t>In 65 countries women cannot work in an industrial job in the same way as man.</a:t>
            </a:r>
          </a:p>
          <a:p>
            <a:pPr marL="342900" lvl="1" indent="-342900">
              <a:buSzPct val="110000"/>
              <a:buFont typeface="Arial" panose="020B0604020202020204" pitchFamily="34" charset="0"/>
              <a:buChar char="•"/>
            </a:pPr>
            <a:r>
              <a:rPr lang="en-US" sz="1200"/>
              <a:t>72 countries do not provide a paid leave of at least 14 weeks to mothers.</a:t>
            </a:r>
          </a:p>
          <a:p>
            <a:pPr marL="342900" lvl="1" indent="-342900">
              <a:buSzPct val="110000"/>
              <a:buFont typeface="Arial" panose="020B0604020202020204" pitchFamily="34" charset="0"/>
              <a:buChar char="•"/>
            </a:pPr>
            <a:r>
              <a:rPr lang="en-US" sz="1200"/>
              <a:t>30 countries still do not have legislation that prohibits discrimination in employment based on gender</a:t>
            </a:r>
            <a:endParaRPr lang="en-US" b="1">
              <a:effectLst/>
            </a:endParaRPr>
          </a:p>
          <a:p>
            <a:pPr marL="171450" indent="-171450">
              <a:buFontTx/>
              <a:buChar char="-"/>
            </a:pPr>
            <a:endParaRPr lang="en-US" b="0" i="0">
              <a:solidFill>
                <a:srgbClr val="494949"/>
              </a:solidFill>
              <a:effectLst/>
              <a:latin typeface="Roboto"/>
            </a:endParaRPr>
          </a:p>
          <a:p>
            <a:pPr marL="171450" indent="-171450">
              <a:buFont typeface="Arial" panose="020B0604020202020204" pitchFamily="34" charset="0"/>
              <a:buChar char="•"/>
            </a:pPr>
            <a:endParaRPr lang="en-US"/>
          </a:p>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16</a:t>
            </a:fld>
            <a:endParaRPr lang="en-US"/>
          </a:p>
        </p:txBody>
      </p:sp>
    </p:spTree>
    <p:extLst>
      <p:ext uri="{BB962C8B-B14F-4D97-AF65-F5344CB8AC3E}">
        <p14:creationId xmlns:p14="http://schemas.microsoft.com/office/powerpoint/2010/main" val="211978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17</a:t>
            </a:fld>
            <a:endParaRPr lang="en-US"/>
          </a:p>
        </p:txBody>
      </p:sp>
    </p:spTree>
    <p:extLst>
      <p:ext uri="{BB962C8B-B14F-4D97-AF65-F5344CB8AC3E}">
        <p14:creationId xmlns:p14="http://schemas.microsoft.com/office/powerpoint/2010/main" val="1628394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085E6-762B-83D5-499D-21ED65DD6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881DA-F07B-EFC3-6D27-3D0591AFD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65E05-7912-4E39-2F4A-A012F3BD618A}"/>
              </a:ext>
            </a:extLst>
          </p:cNvPr>
          <p:cNvSpPr>
            <a:spLocks noGrp="1"/>
          </p:cNvSpPr>
          <p:nvPr>
            <p:ph type="body" idx="1"/>
          </p:nvPr>
        </p:nvSpPr>
        <p:spPr/>
        <p:txBody>
          <a:bodyPr/>
          <a:lstStyle/>
          <a:p>
            <a:r>
              <a:rPr lang="en-US"/>
              <a:t>Let me start with the drivers of gender inequality.</a:t>
            </a:r>
          </a:p>
        </p:txBody>
      </p:sp>
      <p:sp>
        <p:nvSpPr>
          <p:cNvPr id="4" name="Date Placeholder 3">
            <a:extLst>
              <a:ext uri="{FF2B5EF4-FFF2-40B4-BE49-F238E27FC236}">
                <a16:creationId xmlns:a16="http://schemas.microsoft.com/office/drawing/2014/main" id="{6B619DF4-3614-0639-DC0D-704ABFC78B13}"/>
              </a:ext>
            </a:extLst>
          </p:cNvPr>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a:extLst>
              <a:ext uri="{FF2B5EF4-FFF2-40B4-BE49-F238E27FC236}">
                <a16:creationId xmlns:a16="http://schemas.microsoft.com/office/drawing/2014/main" id="{9F9EFB41-7022-E674-9B46-BBB55DB33A8C}"/>
              </a:ext>
            </a:extLst>
          </p:cNvPr>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4668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19</a:t>
            </a:fld>
            <a:endParaRPr lang="en-US"/>
          </a:p>
        </p:txBody>
      </p:sp>
    </p:spTree>
    <p:extLst>
      <p:ext uri="{BB962C8B-B14F-4D97-AF65-F5344CB8AC3E}">
        <p14:creationId xmlns:p14="http://schemas.microsoft.com/office/powerpoint/2010/main" val="1247902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4E05A-5C35-8305-D42C-15C7EF522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CAF53-B3DF-B366-3E19-6D5B6B00B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66B71-C6EB-3F61-794F-9B3AD464A28E}"/>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C1A7965-0449-8227-ED61-058F6AEAEDFB}"/>
              </a:ext>
            </a:extLst>
          </p:cNvPr>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a:extLst>
              <a:ext uri="{FF2B5EF4-FFF2-40B4-BE49-F238E27FC236}">
                <a16:creationId xmlns:a16="http://schemas.microsoft.com/office/drawing/2014/main" id="{0979638E-3BF1-ED44-73EA-69B2EA0E60CE}"/>
              </a:ext>
            </a:extLst>
          </p:cNvPr>
          <p:cNvSpPr>
            <a:spLocks noGrp="1"/>
          </p:cNvSpPr>
          <p:nvPr>
            <p:ph type="sldNum" sz="quarter" idx="5"/>
          </p:nvPr>
        </p:nvSpPr>
        <p:spPr/>
        <p:txBody>
          <a:bodyPr/>
          <a:lstStyle/>
          <a:p>
            <a:fld id="{BA49F774-CCF9-492C-9AEB-F2814D4A6625}" type="slidenum">
              <a:rPr lang="en-US" smtClean="0"/>
              <a:pPr/>
              <a:t>20</a:t>
            </a:fld>
            <a:endParaRPr lang="en-US"/>
          </a:p>
        </p:txBody>
      </p:sp>
    </p:spTree>
    <p:extLst>
      <p:ext uri="{BB962C8B-B14F-4D97-AF65-F5344CB8AC3E}">
        <p14:creationId xmlns:p14="http://schemas.microsoft.com/office/powerpoint/2010/main" val="1791475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B1F3A-52E9-DB06-4118-74EC6D987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9FEC4-006B-E5B0-5FC9-9B0B576F2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1F7C8-C562-F2DB-1362-FAE05E849E6D}"/>
              </a:ext>
            </a:extLst>
          </p:cNvPr>
          <p:cNvSpPr>
            <a:spLocks noGrp="1"/>
          </p:cNvSpPr>
          <p:nvPr>
            <p:ph type="body" idx="1"/>
          </p:nvPr>
        </p:nvSpPr>
        <p:spPr/>
        <p:txBody>
          <a:bodyPr/>
          <a:lstStyle/>
          <a:p>
            <a:r>
              <a:rPr lang="en-US"/>
              <a:t>Let me start with the drivers of gender inequality.</a:t>
            </a:r>
          </a:p>
        </p:txBody>
      </p:sp>
      <p:sp>
        <p:nvSpPr>
          <p:cNvPr id="4" name="Date Placeholder 3">
            <a:extLst>
              <a:ext uri="{FF2B5EF4-FFF2-40B4-BE49-F238E27FC236}">
                <a16:creationId xmlns:a16="http://schemas.microsoft.com/office/drawing/2014/main" id="{F21823D5-27B0-E49D-61FF-7DC31880BD54}"/>
              </a:ext>
            </a:extLst>
          </p:cNvPr>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a:extLst>
              <a:ext uri="{FF2B5EF4-FFF2-40B4-BE49-F238E27FC236}">
                <a16:creationId xmlns:a16="http://schemas.microsoft.com/office/drawing/2014/main" id="{D3FFA5BD-829D-E9F9-6B92-AF54F47692DA}"/>
              </a:ext>
            </a:extLst>
          </p:cNvPr>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2328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1"/>
              <a:t>Inclusive growth </a:t>
            </a:r>
            <a:r>
              <a:rPr lang="en-US"/>
              <a:t>involves the </a:t>
            </a:r>
            <a:r>
              <a:rPr lang="en-US" b="1"/>
              <a:t>fair dissemination of economic gains </a:t>
            </a:r>
            <a:r>
              <a:rPr lang="en-US"/>
              <a:t>and the </a:t>
            </a:r>
            <a:r>
              <a:rPr lang="en-US" b="1"/>
              <a:t>generation of opportunities accessible to everyone</a:t>
            </a:r>
            <a:r>
              <a:rPr lang="en-US"/>
              <a:t>. </a:t>
            </a:r>
          </a:p>
          <a:p>
            <a:r>
              <a:rPr lang="en-US"/>
              <a:t>Therefore the impact not only on reduction of poverty but also of INEQUALITY is highly relevant</a:t>
            </a:r>
          </a:p>
          <a:p>
            <a:endParaRPr lang="en-US"/>
          </a:p>
          <a:p>
            <a:endParaRPr lang="en-US"/>
          </a:p>
          <a:p>
            <a:r>
              <a:rPr lang="en-US" b="1"/>
              <a:t>It provides a broad spectrum of society, especially under-served groups including women</a:t>
            </a:r>
            <a:r>
              <a:rPr lang="en-US"/>
              <a:t>,  low-income households and small businesses, the access and use of financial services, thereby enabling them to partake in the fruits of economic growth, spurring entrepreneurship, innovation, and job creation </a:t>
            </a:r>
          </a:p>
          <a:p>
            <a:endParaRPr lang="en-US"/>
          </a:p>
          <a:p>
            <a:r>
              <a:rPr lang="en-US" b="1"/>
              <a:t>Financial inclusion fuels economic expansion by enhancing savings and investments, Providing individuals and businesses with access to capital, </a:t>
            </a:r>
            <a:r>
              <a:rPr lang="en-US"/>
              <a:t>allowing them to invest in education, healthcare, and income-generating activities.</a:t>
            </a:r>
          </a:p>
          <a:p>
            <a:endParaRPr lang="en-US"/>
          </a:p>
          <a:p>
            <a:r>
              <a:rPr lang="en-US"/>
              <a:t>Reliable and affordable financial services, such as savings, credit, and insurance, empower society, particularly the underserved or excluded, to invest in their futures, </a:t>
            </a:r>
            <a:r>
              <a:rPr lang="en-US" b="1"/>
              <a:t>manage consumption efficiently, and handle financial risks more effectively. </a:t>
            </a:r>
            <a:r>
              <a:rPr lang="en-US"/>
              <a:t>This, in turn, can lead to improved income levels, potentially reducing poverty and inequality.</a:t>
            </a:r>
          </a:p>
          <a:p>
            <a:endParaRPr lang="en-US"/>
          </a:p>
          <a:p>
            <a:endParaRPr lang="en-US"/>
          </a:p>
          <a:p>
            <a:r>
              <a:rPr lang="en-US"/>
              <a:t>Inclusive growth. The concept of inclusive growth is founded on the principle that wealth generation, economic liberty, and equal chances can coexist (Agarwal R.). The OECD (2018) describes it as growth that is evenly distributed throughout society.</a:t>
            </a:r>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E4E862-E263-8B4A-AFB5-DFAAA754BCA9}"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790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Beyond financial inclusion, the outcome of “good financial inclusion and policies, enabling inclusive growth</a:t>
            </a:r>
          </a:p>
          <a:p>
            <a:endParaRPr lang="en-US"/>
          </a:p>
          <a:p>
            <a:r>
              <a:rPr lang="en-US"/>
              <a:t>Complex task to acquire data.</a:t>
            </a:r>
          </a:p>
          <a:p>
            <a:r>
              <a:rPr lang="en-US"/>
              <a:t>From a macroeconomic perspective we see value on supply-side data t support such measurement</a:t>
            </a:r>
          </a:p>
          <a:p>
            <a:endParaRPr lang="en-US"/>
          </a:p>
          <a:p>
            <a:r>
              <a:rPr lang="en-US"/>
              <a:t>Compiling complementary data bases, FAS, FSIs and MFS HH sector</a:t>
            </a:r>
          </a:p>
          <a:p>
            <a:r>
              <a:rPr lang="en-US"/>
              <a:t>+ Developing new data dimensions</a:t>
            </a:r>
          </a:p>
        </p:txBody>
      </p:sp>
      <p:sp>
        <p:nvSpPr>
          <p:cNvPr id="4" name="Slide Number Placeholder 3"/>
          <p:cNvSpPr>
            <a:spLocks noGrp="1"/>
          </p:cNvSpPr>
          <p:nvPr>
            <p:ph type="sldNum" sz="quarter" idx="5"/>
          </p:nvPr>
        </p:nvSpPr>
        <p:spPr/>
        <p:txBody>
          <a:bodyPr/>
          <a:lstStyle/>
          <a:p>
            <a:fld id="{0CE0291A-65D5-4A8A-8F74-A48209598798}" type="slidenum">
              <a:rPr lang="en-US" smtClean="0"/>
              <a:t>24</a:t>
            </a:fld>
            <a:endParaRPr lang="en-US"/>
          </a:p>
        </p:txBody>
      </p:sp>
    </p:spTree>
    <p:extLst>
      <p:ext uri="{BB962C8B-B14F-4D97-AF65-F5344CB8AC3E}">
        <p14:creationId xmlns:p14="http://schemas.microsoft.com/office/powerpoint/2010/main" val="2807058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25</a:t>
            </a:fld>
            <a:endParaRPr lang="en-US"/>
          </a:p>
        </p:txBody>
      </p:sp>
    </p:spTree>
    <p:extLst>
      <p:ext uri="{BB962C8B-B14F-4D97-AF65-F5344CB8AC3E}">
        <p14:creationId xmlns:p14="http://schemas.microsoft.com/office/powerpoint/2010/main" val="1051012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26</a:t>
            </a:fld>
            <a:endParaRPr lang="en-US"/>
          </a:p>
        </p:txBody>
      </p:sp>
    </p:spTree>
    <p:extLst>
      <p:ext uri="{BB962C8B-B14F-4D97-AF65-F5344CB8AC3E}">
        <p14:creationId xmlns:p14="http://schemas.microsoft.com/office/powerpoint/2010/main" val="35256988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27</a:t>
            </a:fld>
            <a:endParaRPr lang="en-US"/>
          </a:p>
        </p:txBody>
      </p:sp>
    </p:spTree>
    <p:extLst>
      <p:ext uri="{BB962C8B-B14F-4D97-AF65-F5344CB8AC3E}">
        <p14:creationId xmlns:p14="http://schemas.microsoft.com/office/powerpoint/2010/main" val="1928187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with the drivers of gender inequality.</a:t>
            </a:r>
          </a:p>
        </p:txBody>
      </p:sp>
      <p:sp>
        <p:nvSpPr>
          <p:cNvPr id="4" name="Date Placeholder 3"/>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12016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605BF9-2A92-FA4A-AE68-6B1AFBD208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73714" y="697150"/>
            <a:ext cx="1241727" cy="1243780"/>
          </a:xfrm>
          <a:prstGeom prst="rect">
            <a:avLst/>
          </a:prstGeom>
        </p:spPr>
      </p:pic>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Slide Title for Single-Column,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808027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hoto+Text,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Title for </a:t>
            </a:r>
            <a:r>
              <a:rPr lang="en-US" err="1"/>
              <a:t>Photo+Text</a:t>
            </a:r>
            <a:r>
              <a:rPr lang="en-US"/>
              <a:t>, White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5367013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Title for Two-Column,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cxnSp>
        <p:nvCxnSpPr>
          <p:cNvPr id="5" name="Straight Connector 4">
            <a:extLst>
              <a:ext uri="{FF2B5EF4-FFF2-40B4-BE49-F238E27FC236}">
                <a16:creationId xmlns:a16="http://schemas.microsoft.com/office/drawing/2014/main" id="{F82B71F5-23BD-A943-8CA6-64D3C92123D3}"/>
              </a:ext>
            </a:extLst>
          </p:cNvPr>
          <p:cNvCxnSpPr>
            <a:cxnSpLocks/>
          </p:cNvCxnSpPr>
          <p:nvPr userDrawn="1"/>
        </p:nvCxnSpPr>
        <p:spPr>
          <a:xfrm>
            <a:off x="6096000" y="1670538"/>
            <a:ext cx="0" cy="4425462"/>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5849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Photo, Whi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987607" y="5349451"/>
            <a:ext cx="10216785" cy="978486"/>
          </a:xfrm>
          <a:prstGeom prst="rect">
            <a:avLst/>
          </a:prstGeom>
        </p:spPr>
        <p:txBody>
          <a:bodyPr vert="horz" lIns="0" tIns="182880" rIns="0" bIns="0" rtlCol="0" anchor="t">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Large-Photo, White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6879988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ingle-Column,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Blue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Box 3">
            <a:extLst>
              <a:ext uri="{FF2B5EF4-FFF2-40B4-BE49-F238E27FC236}">
                <a16:creationId xmlns:a16="http://schemas.microsoft.com/office/drawing/2014/main" id="{5B31EA4B-58AD-3842-9BEC-4B9FF60E019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879268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hoto+Text,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Blue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11576932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Column,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Blue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1589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arge-Photo,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987607" y="5349451"/>
            <a:ext cx="10216785" cy="978486"/>
          </a:xfrm>
          <a:prstGeom prst="rect">
            <a:avLst/>
          </a:prstGeom>
        </p:spPr>
        <p:txBody>
          <a:bodyPr vert="horz" lIns="0" tIns="182880" rIns="0" bIns="0" rtlCol="0" anchor="t">
            <a:no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Blue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2" name="TextBox 11">
            <a:extLst>
              <a:ext uri="{FF2B5EF4-FFF2-40B4-BE49-F238E27FC236}">
                <a16:creationId xmlns:a16="http://schemas.microsoft.com/office/drawing/2014/main" id="{764FF97F-5A7B-3544-BBF1-8D914706958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_Divider">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sunset&#10;&#10;Description automatically generated">
            <a:extLst>
              <a:ext uri="{FF2B5EF4-FFF2-40B4-BE49-F238E27FC236}">
                <a16:creationId xmlns:a16="http://schemas.microsoft.com/office/drawing/2014/main" id="{9E871F15-8DBF-4F46-BD54-401E2BFB605D}"/>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l="4901" r="31048"/>
          <a:stretch/>
        </p:blipFill>
        <p:spPr>
          <a:xfrm>
            <a:off x="-1" y="0"/>
            <a:ext cx="12192001" cy="6858000"/>
          </a:xfrm>
          <a:prstGeom prst="rect">
            <a:avLst/>
          </a:prstGeom>
          <a:solidFill>
            <a:schemeClr val="bg1"/>
          </a:solidFill>
        </p:spPr>
      </p:pic>
      <p:sp>
        <p:nvSpPr>
          <p:cNvPr id="8" name="Rectangle 7">
            <a:extLst>
              <a:ext uri="{FF2B5EF4-FFF2-40B4-BE49-F238E27FC236}">
                <a16:creationId xmlns:a16="http://schemas.microsoft.com/office/drawing/2014/main" id="{37758BB7-0FC2-4B44-B4DA-84467471DB67}"/>
              </a:ext>
            </a:extLst>
          </p:cNvPr>
          <p:cNvSpPr/>
          <p:nvPr userDrawn="1"/>
        </p:nvSpPr>
        <p:spPr>
          <a:xfrm>
            <a:off x="0" y="5486400"/>
            <a:ext cx="12192000" cy="1383211"/>
          </a:xfrm>
          <a:prstGeom prst="rect">
            <a:avLst/>
          </a:prstGeom>
          <a:gradFill flip="none" rotWithShape="1">
            <a:gsLst>
              <a:gs pos="0">
                <a:schemeClr val="accent2">
                  <a:alpha val="0"/>
                </a:schemeClr>
              </a:gs>
              <a:gs pos="78000">
                <a:schemeClr val="accent2">
                  <a:lumMod val="60156"/>
                  <a:alpha val="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747099" y="1069731"/>
            <a:ext cx="8697800" cy="2194560"/>
          </a:xfrm>
          <a:effectLst/>
        </p:spPr>
        <p:txBody>
          <a:bodyPr anchor="t">
            <a:normAutofit/>
          </a:bodyPr>
          <a:lstStyle>
            <a:lvl1pPr algn="ctr">
              <a:defRPr sz="3600">
                <a:ln>
                  <a:noFill/>
                </a:ln>
                <a:solidFill>
                  <a:schemeClr val="bg1"/>
                </a:solidFill>
                <a:effectLst/>
                <a:latin typeface="Calibri" panose="020F0502020204030204" pitchFamily="34" charset="0"/>
                <a:cs typeface="Calibri" panose="020F0502020204030204" pitchFamily="34" charset="0"/>
              </a:defRPr>
            </a:lvl1pPr>
          </a:lstStyle>
          <a:p>
            <a:r>
              <a:rPr lang="en-US"/>
              <a:t>Title for Divider (Graphic)</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a:effectLst/>
        </p:spPr>
        <p:txBody>
          <a:bodyPr wrap="square" rtlCol="0">
            <a:spAutoFit/>
          </a:bodyPr>
          <a:lstStyle/>
          <a:p>
            <a:r>
              <a:rPr lang="en-US" sz="900" b="1">
                <a:solidFill>
                  <a:schemeClr val="bg1"/>
                </a:solidFill>
                <a:latin typeface="Arial Black" charset="0"/>
                <a:cs typeface="Arial Black" charset="0"/>
              </a:rPr>
              <a:t>INTERNATIONAL MONETARY FUND</a:t>
            </a:r>
            <a:endParaRPr lang="en-US" sz="900">
              <a:solidFill>
                <a:schemeClr val="bg1"/>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480805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D526D4-5096-450A-A179-244642EBFC42}"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BEDD69-4421-47E6-9B44-68BFEBAE4FF6}" type="slidenum">
              <a:rPr lang="en-US" smtClean="0"/>
              <a:t>‹#›</a:t>
            </a:fld>
            <a:endParaRPr lang="en-US"/>
          </a:p>
        </p:txBody>
      </p:sp>
    </p:spTree>
    <p:extLst>
      <p:ext uri="{BB962C8B-B14F-4D97-AF65-F5344CB8AC3E}">
        <p14:creationId xmlns:p14="http://schemas.microsoft.com/office/powerpoint/2010/main" val="816396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55313497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74086692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22632273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9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B72F9-695E-4EAA-B5E5-E813B408D9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DD12DA-14D1-4B80-929A-BCB4ECB6FE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8AF51F-F121-4FBA-BF20-54CA3BA4FC91}"/>
              </a:ext>
            </a:extLst>
          </p:cNvPr>
          <p:cNvSpPr>
            <a:spLocks noGrp="1"/>
          </p:cNvSpPr>
          <p:nvPr>
            <p:ph type="dt" sz="half" idx="10"/>
          </p:nvPr>
        </p:nvSpPr>
        <p:spPr/>
        <p:txBody>
          <a:bodyPr/>
          <a:lstStyle/>
          <a:p>
            <a:fld id="{43A459D8-8F9F-4AF2-A8C0-14C73542EEA9}" type="datetime1">
              <a:rPr lang="en-US" smtClean="0"/>
              <a:t>5/21/2026</a:t>
            </a:fld>
            <a:endParaRPr lang="en-US"/>
          </a:p>
        </p:txBody>
      </p:sp>
      <p:sp>
        <p:nvSpPr>
          <p:cNvPr id="5" name="Footer Placeholder 4">
            <a:extLst>
              <a:ext uri="{FF2B5EF4-FFF2-40B4-BE49-F238E27FC236}">
                <a16:creationId xmlns:a16="http://schemas.microsoft.com/office/drawing/2014/main" id="{61902825-E4AB-4AF0-A78D-9FC417B3D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42C13-DFA0-4C41-8DCD-E9F7A084512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543008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600" b="1" i="0">
                <a:solidFill>
                  <a:srgbClr val="595958"/>
                </a:solidFill>
                <a:latin typeface="Arial"/>
                <a:cs typeface="Arial"/>
              </a:defRPr>
            </a:lvl1pPr>
          </a:lstStyle>
          <a:p>
            <a:endParaRPr/>
          </a:p>
        </p:txBody>
      </p:sp>
      <p:sp>
        <p:nvSpPr>
          <p:cNvPr id="7" name="Slide Number Placeholder 5">
            <a:extLst>
              <a:ext uri="{FF2B5EF4-FFF2-40B4-BE49-F238E27FC236}">
                <a16:creationId xmlns:a16="http://schemas.microsoft.com/office/drawing/2014/main" id="{9FF3D3D5-170A-4418-B408-21CD1E3FF9CE}"/>
              </a:ext>
            </a:extLst>
          </p:cNvPr>
          <p:cNvSpPr>
            <a:spLocks noGrp="1"/>
          </p:cNvSpPr>
          <p:nvPr>
            <p:ph type="sldNum" sz="quarter" idx="12"/>
          </p:nvPr>
        </p:nvSpPr>
        <p:spPr>
          <a:xfrm>
            <a:off x="10769600" y="6400801"/>
            <a:ext cx="812800" cy="365125"/>
          </a:xfrm>
        </p:spPr>
        <p:txBody>
          <a:bodyPr/>
          <a:lstStyle>
            <a:lvl1pPr>
              <a:defRPr>
                <a:solidFill>
                  <a:schemeClr val="tx1"/>
                </a:solidFill>
              </a:defRPr>
            </a:lvl1pPr>
          </a:lstStyle>
          <a:p>
            <a:fld id="{A6069BA8-B578-4BAC-8AFB-0081C5C119AE}" type="slidenum">
              <a:rPr lang="en-US" smtClean="0"/>
              <a:pPr/>
              <a:t>‹#›</a:t>
            </a:fld>
            <a:endParaRPr lang="en-US"/>
          </a:p>
        </p:txBody>
      </p:sp>
    </p:spTree>
    <p:extLst>
      <p:ext uri="{BB962C8B-B14F-4D97-AF65-F5344CB8AC3E}">
        <p14:creationId xmlns:p14="http://schemas.microsoft.com/office/powerpoint/2010/main" val="2490445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676288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5863312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558819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27431945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p15:clr>
            <a:srgbClr val="FBAE40"/>
          </p15:clr>
        </p15:guide>
        <p15:guide id="6" orient="horz" pos="83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4995415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7512456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p15:clr>
            <a:srgbClr val="FBAE40"/>
          </p15:clr>
        </p15:guide>
        <p15:guide id="6" orient="horz" pos="83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912629922"/>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62979868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19376350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9437413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2236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76342583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67861885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54049331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6525547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34140498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16372953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383297047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55166888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3021181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918533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6223870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80228781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38668246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32511641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116427750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3115607402"/>
      </p:ext>
    </p:extLst>
  </p:cSld>
  <p:clrMapOvr>
    <a:masterClrMapping/>
  </p:clrMapOvr>
  <p:hf sldNum="0"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ngle-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Slide Title for Single-Column,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79351311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93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theme" Target="../theme/theme2.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INTERNATIONAL MONETARY FUND</a:t>
            </a:r>
            <a:endParaRPr lang="en-US" sz="900">
              <a:solidFill>
                <a:schemeClr val="bg1">
                  <a:lumMod val="75000"/>
                </a:schemeClr>
              </a:solidFill>
            </a:endParaRP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707" r:id="rId2"/>
    <p:sldLayoutId id="2147483748" r:id="rId3"/>
    <p:sldLayoutId id="2147483744" r:id="rId4"/>
    <p:sldLayoutId id="2147483747" r:id="rId5"/>
    <p:sldLayoutId id="2147483745" r:id="rId6"/>
    <p:sldLayoutId id="2147483749" r:id="rId7"/>
    <p:sldLayoutId id="2147483746" r:id="rId8"/>
    <p:sldLayoutId id="2147483743" r:id="rId9"/>
    <p:sldLayoutId id="2147483759" r:id="rId10"/>
    <p:sldLayoutId id="2147483754" r:id="rId11"/>
    <p:sldLayoutId id="2147483771" r:id="rId12"/>
    <p:sldLayoutId id="2147483773" r:id="rId13"/>
    <p:sldLayoutId id="2147483774" r:id="rId14"/>
    <p:sldLayoutId id="2147483775" r:id="rId15"/>
    <p:sldLayoutId id="2147483776" r:id="rId16"/>
    <p:sldLayoutId id="2147483777" r:id="rId17"/>
    <p:sldLayoutId id="2147483778" r:id="rId18"/>
  </p:sldLayoutIdLst>
  <p:transition>
    <p:fade/>
  </p:transition>
  <p:hf hdr="0" dt="0"/>
  <p:txStyles>
    <p:titleStyle>
      <a:lvl1pPr algn="l" defTabSz="914314" rtl="0" eaLnBrk="1" latinLnBrk="0" hangingPunct="1">
        <a:lnSpc>
          <a:spcPct val="90000"/>
        </a:lnSpc>
        <a:spcBef>
          <a:spcPct val="0"/>
        </a:spcBef>
        <a:buNone/>
        <a:defRPr sz="3600" b="1" i="0" kern="1200">
          <a:solidFill>
            <a:schemeClr val="tx2"/>
          </a:solidFill>
          <a:latin typeface="Calibri" panose="020F0502020204030204" pitchFamily="34" charset="0"/>
          <a:ea typeface="+mj-ea"/>
          <a:cs typeface="Calibri" panose="020F050202020403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ArialMT"/>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3429775143"/>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 id="2147483799" r:id="rId20"/>
    <p:sldLayoutId id="2147483800" r:id="rId21"/>
    <p:sldLayoutId id="2147483801" r:id="rId22"/>
    <p:sldLayoutId id="2147483802" r:id="rId23"/>
    <p:sldLayoutId id="2147483803" r:id="rId24"/>
    <p:sldLayoutId id="2147483804" r:id="rId25"/>
    <p:sldLayoutId id="2147483805" r:id="rId26"/>
    <p:sldLayoutId id="2147483806" r:id="rId27"/>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hyperlink" Target="https://www.imf.org/-/media/websites/imf/imported-full-text-pdf/external/pubs/ft/wp/2016/_wp16140.pdf" TargetMode="External"/><Relationship Id="rId3" Type="http://schemas.openxmlformats.org/officeDocument/2006/relationships/hyperlink" Target="https://www.imf.org/en/publications/policy-papers/issues/2022/07/28/imf-strategy-toward-mainstreaming-gender-521344" TargetMode="External"/><Relationship Id="rId7" Type="http://schemas.openxmlformats.org/officeDocument/2006/relationships/hyperlink" Target="https://www.imf.org/en/Publications/Staff-Discussion-Notes/Issues/2018/09/17/women-in-finance-a-case-for-closing-gaps-45136" TargetMode="External"/><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hyperlink" Target="http://klenow.com/HHJK.pdf" TargetMode="External"/><Relationship Id="rId5" Type="http://schemas.openxmlformats.org/officeDocument/2006/relationships/hyperlink" Target="https://www.imf.org/en/Publications/Staff-Discussion-Notes/Issues/2018/10/09/Economic-Gains-From-Gender-Inclusion-New-Mechanisms-New-Evidence-45543" TargetMode="External"/><Relationship Id="rId4" Type="http://schemas.openxmlformats.org/officeDocument/2006/relationships/hyperlink" Target="https://www.cgdev.org/sites/default/files/integrating-gender-macroeconomic-policies-imf.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8" Type="http://schemas.openxmlformats.org/officeDocument/2006/relationships/hyperlink" Target="https://sdgpulse.unctad.org/gender/" TargetMode="External"/><Relationship Id="rId3" Type="http://schemas.openxmlformats.org/officeDocument/2006/relationships/hyperlink" Target="https://www.imf.org/-/media/files/publications/wp/2019/wpiea2019225-print-pdf.pdf?utm_" TargetMode="External"/><Relationship Id="rId7" Type="http://schemas.openxmlformats.org/officeDocument/2006/relationships/hyperlink" Target="https://unctad.org/news/women-trade-female-labour-remains-undervalued-global-exports"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hyperlink" Target="https://www.imf.org/en/publications/wp/issues/2022/02/04/gendered-taxes-the-interaction-of-tax-policy-with-gender-equality-512231" TargetMode="External"/><Relationship Id="rId5" Type="http://schemas.openxmlformats.org/officeDocument/2006/relationships/hyperlink" Target="https://academic.oup.com/rfs/article/38/11/3205/7821202" TargetMode="External"/><Relationship Id="rId4" Type="http://schemas.openxmlformats.org/officeDocument/2006/relationships/hyperlink" Target="https://docs.iza.org/dp16852.pdf?utm_"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hyperlink" Target="https://www.imf.org/en/Publications/CR/Issues/2024/03/27/Angola-2023-Article-IV-Consultation-Press-Release-Staff-Report-and-Statement-by-the-546887" TargetMode="External"/><Relationship Id="rId2" Type="http://schemas.openxmlformats.org/officeDocument/2006/relationships/hyperlink" Target="https://www.imf.org/en/Publications/CR/Issues/2024/05/28/Mauritius-2024-Article-IV-Consultation-Press-Release-Staff-Report-and-Statement-by-the-549629"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imf.org/en/Publications/Staff-Discussion-Notes/Issues/2016/12/31/Fair-Play-More-Equal-Laws-Boost-Female-Labor-Force-Participation-42721" TargetMode="Externa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wbl.worldbank.org/content/dam/sites/wbl/documents/2024/212063-Chapter-3.pdf" TargetMode="External"/><Relationship Id="rId7" Type="http://schemas.openxmlformats.org/officeDocument/2006/relationships/hyperlink" Target="https://wbl.worldbank.org/en/reforms" TargetMode="External"/><Relationship Id="rId2" Type="http://schemas.openxmlformats.org/officeDocument/2006/relationships/hyperlink" Target="https://datatopics.worldbank.org/sdgatlas/archive/2020/goal-5-gender-equality/" TargetMode="External"/><Relationship Id="rId1" Type="http://schemas.openxmlformats.org/officeDocument/2006/relationships/slideLayout" Target="../slideLayouts/slideLayout12.xml"/><Relationship Id="rId6" Type="http://schemas.openxmlformats.org/officeDocument/2006/relationships/hyperlink" Target="https://wbl.worldbank.org/en/snapshotsv2"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8" Type="http://schemas.openxmlformats.org/officeDocument/2006/relationships/hyperlink" Target="https://wbl.worldbank.org/en/all-topics" TargetMode="External"/><Relationship Id="rId3" Type="http://schemas.openxmlformats.org/officeDocument/2006/relationships/hyperlink" Target="https://www.google.com/url?sa=t&amp;rct=j&amp;q=&amp;esrc=s&amp;source=web&amp;cd=&amp;cad=rja&amp;uact=8&amp;ved=2ahUKEwi6pa3yhs2SAxU-MVkFHUJZF3kQFnoECBcQAQ&amp;url=https%3A%2F%2Fwww.elibrary.imf.org%2Fdownloadpdf%2Fdisplay%2Fbook%2F9798400200038%2FCH005.pdf&amp;usg=AOvVaw3fjBkYxZw-9q6Koh6OTEXt&amp;opi=89978449" TargetMode="External"/><Relationship Id="rId7" Type="http://schemas.openxmlformats.org/officeDocument/2006/relationships/hyperlink" Target="https://www.elibrary.imf.org/view/journals/002/2024/291/article-A003-en.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imf.org/-/media/files/publications/cr/2024/english/1tzaea2024002-print-pdf.pdf" TargetMode="External"/><Relationship Id="rId11" Type="http://schemas.openxmlformats.org/officeDocument/2006/relationships/hyperlink" Target="https://wbl.worldbank.org/en/reports" TargetMode="External"/><Relationship Id="rId5" Type="http://schemas.openxmlformats.org/officeDocument/2006/relationships/hyperlink" Target="https://www.imf.org/-/media/files/publications/cr/2025/english/1rwaea2025003-source-pdf.pdf" TargetMode="External"/><Relationship Id="rId10" Type="http://schemas.openxmlformats.org/officeDocument/2006/relationships/image" Target="../media/image13.png"/><Relationship Id="rId4" Type="http://schemas.openxmlformats.org/officeDocument/2006/relationships/hyperlink" Target="https://www.imf.org/-/media/files/publications/cr/2024/english/1kenea2024001.pdf" TargetMode="External"/><Relationship Id="rId9" Type="http://schemas.openxmlformats.org/officeDocument/2006/relationships/hyperlink" Target="https://wbl.worldbank.org/en/snapshotsv2"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8" Type="http://schemas.openxmlformats.org/officeDocument/2006/relationships/hyperlink" Target="https://www.imf.org/en/blogs/articles/2021/03/05/blog-engendering-the-recovery-budgeting-with-women-in-mind" TargetMode="External"/><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hyperlink" Target="https://www.imf.org/en/publications/fandd/issues/2022/12/the-digital-gender-gap-khera-ogawa-sahay-vasishth" TargetMode="External"/><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diagramColors" Target="../diagrams/colors4.xml"/><Relationship Id="rId11" Type="http://schemas.openxmlformats.org/officeDocument/2006/relationships/hyperlink" Target="https://www.imf.org/-/media/files/publications/wp/2022/english/wpiea2022026-print-pdf.pdf" TargetMode="External"/><Relationship Id="rId5" Type="http://schemas.openxmlformats.org/officeDocument/2006/relationships/diagramQuickStyle" Target="../diagrams/quickStyle4.xml"/><Relationship Id="rId10" Type="http://schemas.openxmlformats.org/officeDocument/2006/relationships/hyperlink" Target="https://www.imf.org/en/publications/wp/issues/2024/05/24/exploring-the-role-of-public-expenditure-in-advancing-female-economic-empowerment-and-545098" TargetMode="External"/><Relationship Id="rId4" Type="http://schemas.openxmlformats.org/officeDocument/2006/relationships/diagramLayout" Target="../diagrams/layout4.xml"/><Relationship Id="rId9" Type="http://schemas.openxmlformats.org/officeDocument/2006/relationships/hyperlink" Target="https://www.imf.org/en/blogs/articles/2022/03/08/gender-budgeting-is-more-widespread-but-implementation-remains-a-challenge"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imf.org/-/media/files/publications/cr/2024/english/1kenea2024001.pdf" TargetMode="External"/><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diagramColors" Target="../diagrams/colors5.xml"/><Relationship Id="rId11" Type="http://schemas.openxmlformats.org/officeDocument/2006/relationships/hyperlink" Target="https://www.imf.org/en/-/media/files/publications/sdn/2020/english/sdnea2020003.pdf" TargetMode="External"/><Relationship Id="rId5" Type="http://schemas.openxmlformats.org/officeDocument/2006/relationships/diagramQuickStyle" Target="../diagrams/quickStyle5.xml"/><Relationship Id="rId10" Type="http://schemas.openxmlformats.org/officeDocument/2006/relationships/hyperlink" Target="https://www.imf.org/-/media/files/publications/cr/2025/english/1rwaea2025003-source-pdf.pdf" TargetMode="External"/><Relationship Id="rId4" Type="http://schemas.openxmlformats.org/officeDocument/2006/relationships/diagramLayout" Target="../diagrams/layout5.xml"/><Relationship Id="rId9" Type="http://schemas.openxmlformats.org/officeDocument/2006/relationships/hyperlink" Target="https://www.imf.org/-/media/files/publications/cr/2021/english/1tunea2021001.pdf"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8" Type="http://schemas.openxmlformats.org/officeDocument/2006/relationships/hyperlink" Target="https://www.worldbank.org/en/publication/globalfindex" TargetMode="External"/><Relationship Id="rId3" Type="http://schemas.openxmlformats.org/officeDocument/2006/relationships/image" Target="../media/image21.svg"/><Relationship Id="rId7" Type="http://schemas.openxmlformats.org/officeDocument/2006/relationships/hyperlink" Target="https://data.imf.org/en/datasets/IMF.STA:FAS"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hyperlink" Target="https://documents1.worldbank.org/curated/en/099400003082361874/pdf/IDU05eec2c4f027b90446b09954005faa70906f9.pdf" TargetMode="External"/><Relationship Id="rId5" Type="http://schemas.openxmlformats.org/officeDocument/2006/relationships/image" Target="../media/image23.svg"/><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diagramData" Target="../diagrams/data8.xml"/><Relationship Id="rId18" Type="http://schemas.openxmlformats.org/officeDocument/2006/relationships/diagramData" Target="../diagrams/data9.xml"/><Relationship Id="rId26" Type="http://schemas.openxmlformats.org/officeDocument/2006/relationships/diagramColors" Target="../diagrams/colors10.xml"/><Relationship Id="rId3" Type="http://schemas.openxmlformats.org/officeDocument/2006/relationships/diagramData" Target="../diagrams/data6.xml"/><Relationship Id="rId21" Type="http://schemas.openxmlformats.org/officeDocument/2006/relationships/diagramColors" Target="../diagrams/colors9.xml"/><Relationship Id="rId7" Type="http://schemas.microsoft.com/office/2007/relationships/diagramDrawing" Target="../diagrams/drawing6.xml"/><Relationship Id="rId12" Type="http://schemas.microsoft.com/office/2007/relationships/diagramDrawing" Target="../diagrams/drawing7.xml"/><Relationship Id="rId17" Type="http://schemas.microsoft.com/office/2007/relationships/diagramDrawing" Target="../diagrams/drawing8.xml"/><Relationship Id="rId25" Type="http://schemas.openxmlformats.org/officeDocument/2006/relationships/diagramQuickStyle" Target="../diagrams/quickStyle10.xml"/><Relationship Id="rId2" Type="http://schemas.openxmlformats.org/officeDocument/2006/relationships/notesSlide" Target="../notesSlides/notesSlide17.xml"/><Relationship Id="rId16" Type="http://schemas.openxmlformats.org/officeDocument/2006/relationships/diagramColors" Target="../diagrams/colors8.xml"/><Relationship Id="rId20" Type="http://schemas.openxmlformats.org/officeDocument/2006/relationships/diagramQuickStyle" Target="../diagrams/quickStyle9.xml"/><Relationship Id="rId1" Type="http://schemas.openxmlformats.org/officeDocument/2006/relationships/slideLayout" Target="../slideLayouts/slideLayout16.xml"/><Relationship Id="rId6" Type="http://schemas.openxmlformats.org/officeDocument/2006/relationships/diagramColors" Target="../diagrams/colors6.xml"/><Relationship Id="rId11" Type="http://schemas.openxmlformats.org/officeDocument/2006/relationships/diagramColors" Target="../diagrams/colors7.xml"/><Relationship Id="rId24" Type="http://schemas.openxmlformats.org/officeDocument/2006/relationships/diagramLayout" Target="../diagrams/layout10.xml"/><Relationship Id="rId5" Type="http://schemas.openxmlformats.org/officeDocument/2006/relationships/diagramQuickStyle" Target="../diagrams/quickStyle6.xml"/><Relationship Id="rId15" Type="http://schemas.openxmlformats.org/officeDocument/2006/relationships/diagramQuickStyle" Target="../diagrams/quickStyle8.xml"/><Relationship Id="rId23" Type="http://schemas.openxmlformats.org/officeDocument/2006/relationships/diagramData" Target="../diagrams/data10.xml"/><Relationship Id="rId10" Type="http://schemas.openxmlformats.org/officeDocument/2006/relationships/diagramQuickStyle" Target="../diagrams/quickStyle7.xml"/><Relationship Id="rId19" Type="http://schemas.openxmlformats.org/officeDocument/2006/relationships/diagramLayout" Target="../diagrams/layout9.xml"/><Relationship Id="rId4" Type="http://schemas.openxmlformats.org/officeDocument/2006/relationships/diagramLayout" Target="../diagrams/layout6.xml"/><Relationship Id="rId9" Type="http://schemas.openxmlformats.org/officeDocument/2006/relationships/diagramLayout" Target="../diagrams/layout7.xml"/><Relationship Id="rId14" Type="http://schemas.openxmlformats.org/officeDocument/2006/relationships/diagramLayout" Target="../diagrams/layout8.xml"/><Relationship Id="rId22" Type="http://schemas.microsoft.com/office/2007/relationships/diagramDrawing" Target="../diagrams/drawing9.xml"/><Relationship Id="rId27" Type="http://schemas.microsoft.com/office/2007/relationships/diagramDrawing" Target="../diagrams/drawing10.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data.imf.org/en/datasets/IMF.STA:FAS"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data.imf.org/en/datasets/IMF.STA:FAS" TargetMode="External"/></Relationships>
</file>

<file path=ppt/slides/_rels/slide26.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hyperlink" Target="https://data.imf.org/en/datasets/IMF.STA:FAS" TargetMode="External"/><Relationship Id="rId7" Type="http://schemas.openxmlformats.org/officeDocument/2006/relationships/diagramColors" Target="../diagrams/colors11.xml"/><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3CAF7-1F49-4180-A7FF-870B76E269CF}"/>
              </a:ext>
            </a:extLst>
          </p:cNvPr>
          <p:cNvSpPr>
            <a:spLocks noGrp="1"/>
          </p:cNvSpPr>
          <p:nvPr>
            <p:ph type="ctrTitle"/>
          </p:nvPr>
        </p:nvSpPr>
        <p:spPr/>
        <p:txBody>
          <a:bodyPr>
            <a:normAutofit/>
          </a:bodyPr>
          <a:lstStyle/>
          <a:p>
            <a:r>
              <a:rPr lang="en-US"/>
              <a:t>From Diagnostics to Policy Questions</a:t>
            </a:r>
          </a:p>
        </p:txBody>
      </p:sp>
      <p:sp>
        <p:nvSpPr>
          <p:cNvPr id="6" name="Text Placeholder 5">
            <a:extLst>
              <a:ext uri="{FF2B5EF4-FFF2-40B4-BE49-F238E27FC236}">
                <a16:creationId xmlns:a16="http://schemas.microsoft.com/office/drawing/2014/main" id="{0A7D5D5A-4AAA-4897-9449-83DE78E84BC3}"/>
              </a:ext>
            </a:extLst>
          </p:cNvPr>
          <p:cNvSpPr>
            <a:spLocks noGrp="1"/>
          </p:cNvSpPr>
          <p:nvPr>
            <p:ph type="body" sz="quarter" idx="12"/>
          </p:nvPr>
        </p:nvSpPr>
        <p:spPr/>
        <p:txBody>
          <a:bodyPr/>
          <a:lstStyle/>
          <a:p>
            <a:endParaRPr lang="en-US"/>
          </a:p>
        </p:txBody>
      </p:sp>
      <p:sp>
        <p:nvSpPr>
          <p:cNvPr id="5" name="Picture Placeholder 4">
            <a:extLst>
              <a:ext uri="{FF2B5EF4-FFF2-40B4-BE49-F238E27FC236}">
                <a16:creationId xmlns:a16="http://schemas.microsoft.com/office/drawing/2014/main" id="{BE98F3EC-2B39-D4F6-E088-E256ACE4AF24}"/>
              </a:ext>
            </a:extLst>
          </p:cNvPr>
          <p:cNvSpPr>
            <a:spLocks noGrp="1"/>
          </p:cNvSpPr>
          <p:nvPr>
            <p:ph type="pic" sz="quarter" idx="11"/>
          </p:nvPr>
        </p:nvSpPr>
        <p:spPr/>
        <p:txBody>
          <a:bodyPr/>
          <a:lstStyle/>
          <a:p>
            <a:endParaRPr lang="en-US"/>
          </a:p>
        </p:txBody>
      </p:sp>
      <p:sp>
        <p:nvSpPr>
          <p:cNvPr id="3" name="TextBox 2">
            <a:extLst>
              <a:ext uri="{FF2B5EF4-FFF2-40B4-BE49-F238E27FC236}">
                <a16:creationId xmlns:a16="http://schemas.microsoft.com/office/drawing/2014/main" id="{13543DA6-4E4D-D376-A55B-9C9D92FB8AD4}"/>
              </a:ext>
            </a:extLst>
          </p:cNvPr>
          <p:cNvSpPr txBox="1"/>
          <p:nvPr/>
        </p:nvSpPr>
        <p:spPr>
          <a:xfrm>
            <a:off x="5902036" y="5248894"/>
            <a:ext cx="4891088" cy="369332"/>
          </a:xfrm>
          <a:prstGeom prst="rect">
            <a:avLst/>
          </a:prstGeom>
          <a:noFill/>
        </p:spPr>
        <p:txBody>
          <a:bodyPr wrap="square" lIns="91440" tIns="45720" rIns="91440" bIns="45720" rtlCol="0" anchor="t">
            <a:spAutoFit/>
          </a:bodyPr>
          <a:lstStyle/>
          <a:p>
            <a:r>
              <a:rPr lang="en-US">
                <a:solidFill>
                  <a:schemeClr val="bg1">
                    <a:lumMod val="50000"/>
                  </a:schemeClr>
                </a:solidFill>
                <a:latin typeface="Arial"/>
                <a:cs typeface="Arial"/>
              </a:rPr>
              <a:t>Lisa Kolovich, IMF</a:t>
            </a:r>
          </a:p>
        </p:txBody>
      </p:sp>
    </p:spTree>
    <p:extLst>
      <p:ext uri="{BB962C8B-B14F-4D97-AF65-F5344CB8AC3E}">
        <p14:creationId xmlns:p14="http://schemas.microsoft.com/office/powerpoint/2010/main" val="232255372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00DCED9F-0208-1332-E0FF-ED49DF9A2CB7}"/>
              </a:ext>
            </a:extLst>
          </p:cNvPr>
          <p:cNvSpPr>
            <a:spLocks noGrp="1"/>
          </p:cNvSpPr>
          <p:nvPr>
            <p:ph sz="quarter" idx="11"/>
          </p:nvPr>
        </p:nvSpPr>
        <p:spPr>
          <a:xfrm>
            <a:off x="744538" y="339498"/>
            <a:ext cx="10633075" cy="6269037"/>
          </a:xfrm>
        </p:spPr>
        <p:txBody>
          <a:bodyPr>
            <a:noAutofit/>
          </a:bodyPr>
          <a:lstStyle/>
          <a:p>
            <a:pPr marL="0" indent="0">
              <a:lnSpc>
                <a:spcPct val="120000"/>
              </a:lnSpc>
              <a:spcBef>
                <a:spcPts val="0"/>
              </a:spcBef>
              <a:spcAft>
                <a:spcPts val="1200"/>
              </a:spcAft>
              <a:buNone/>
              <a:tabLst>
                <a:tab pos="457200" algn="l"/>
                <a:tab pos="457200" algn="l"/>
              </a:tabLst>
            </a:pPr>
            <a:r>
              <a:rPr lang="en-US" sz="3200">
                <a:ea typeface="Microsoft JhengHei" panose="020B0604030504040204" pitchFamily="34" charset="-120"/>
              </a:rPr>
              <a:t>Your task as policymakers:</a:t>
            </a:r>
          </a:p>
          <a:p>
            <a:pPr marL="860425" indent="-342900">
              <a:lnSpc>
                <a:spcPct val="120000"/>
              </a:lnSpc>
              <a:spcBef>
                <a:spcPts val="0"/>
              </a:spcBef>
              <a:spcAft>
                <a:spcPts val="1200"/>
              </a:spcAft>
              <a:buFont typeface="Arial" panose="020B0604020202020204" pitchFamily="34" charset="0"/>
              <a:buChar char="•"/>
              <a:tabLst>
                <a:tab pos="457200" algn="l"/>
                <a:tab pos="457200" algn="l"/>
              </a:tabLst>
            </a:pPr>
            <a:r>
              <a:rPr lang="en-US" sz="2400" b="1">
                <a:latin typeface="Arial" panose="020B0604020202020204" pitchFamily="34" charset="0"/>
                <a:ea typeface="Microsoft JhengHei" panose="020B0604030504040204" pitchFamily="34" charset="-120"/>
                <a:cs typeface="Arial" panose="020B0604020202020204" pitchFamily="34" charset="0"/>
              </a:rPr>
              <a:t>Diagnose key underlying barriers that affect women’s economic participation.</a:t>
            </a:r>
          </a:p>
          <a:p>
            <a:pPr marL="860425" indent="-342900">
              <a:lnSpc>
                <a:spcPct val="120000"/>
              </a:lnSpc>
              <a:spcBef>
                <a:spcPts val="0"/>
              </a:spcBef>
              <a:spcAft>
                <a:spcPts val="1200"/>
              </a:spcAft>
              <a:buFont typeface="Arial" panose="020B0604020202020204" pitchFamily="34" charset="0"/>
              <a:buChar char="•"/>
              <a:tabLst>
                <a:tab pos="457200" algn="l"/>
                <a:tab pos="457200" algn="l"/>
              </a:tabLst>
            </a:pPr>
            <a:r>
              <a:rPr lang="en-US" sz="2400" b="1">
                <a:latin typeface="Arial" panose="020B0604020202020204" pitchFamily="34" charset="0"/>
                <a:ea typeface="Microsoft JhengHei" panose="020B0604030504040204" pitchFamily="34" charset="-120"/>
                <a:cs typeface="Arial" panose="020B0604020202020204" pitchFamily="34" charset="0"/>
              </a:rPr>
              <a:t>Identify which reforms are essential to tackling the barriers.</a:t>
            </a:r>
          </a:p>
          <a:p>
            <a:pPr marL="860425" indent="-342900">
              <a:lnSpc>
                <a:spcPct val="120000"/>
              </a:lnSpc>
              <a:spcBef>
                <a:spcPts val="0"/>
              </a:spcBef>
              <a:spcAft>
                <a:spcPts val="1200"/>
              </a:spcAft>
              <a:buFont typeface="Arial" panose="020B0604020202020204" pitchFamily="34" charset="0"/>
              <a:buChar char="•"/>
              <a:tabLst>
                <a:tab pos="457200" algn="l"/>
                <a:tab pos="457200" algn="l"/>
              </a:tabLst>
            </a:pPr>
            <a:r>
              <a:rPr lang="en-US" sz="2400" b="1">
                <a:latin typeface="Arial" panose="020B0604020202020204" pitchFamily="34" charset="0"/>
                <a:ea typeface="Microsoft JhengHei" panose="020B0604030504040204" pitchFamily="34" charset="-120"/>
                <a:cs typeface="Arial" panose="020B0604020202020204" pitchFamily="34" charset="0"/>
              </a:rPr>
              <a:t>Analyze which reforms might yield the highest returns and which ones would gather broad support.</a:t>
            </a:r>
          </a:p>
        </p:txBody>
      </p:sp>
    </p:spTree>
    <p:extLst>
      <p:ext uri="{BB962C8B-B14F-4D97-AF65-F5344CB8AC3E}">
        <p14:creationId xmlns:p14="http://schemas.microsoft.com/office/powerpoint/2010/main" val="60280688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00DCED9F-0208-1332-E0FF-ED49DF9A2CB7}"/>
              </a:ext>
            </a:extLst>
          </p:cNvPr>
          <p:cNvSpPr>
            <a:spLocks noGrp="1"/>
          </p:cNvSpPr>
          <p:nvPr>
            <p:ph sz="quarter" idx="11"/>
          </p:nvPr>
        </p:nvSpPr>
        <p:spPr>
          <a:xfrm>
            <a:off x="2615609" y="347663"/>
            <a:ext cx="8762004" cy="6269037"/>
          </a:xfrm>
        </p:spPr>
        <p:txBody>
          <a:bodyPr>
            <a:noAutofit/>
          </a:bodyPr>
          <a:lstStyle/>
          <a:p>
            <a:pPr marL="0" indent="0">
              <a:lnSpc>
                <a:spcPct val="120000"/>
              </a:lnSpc>
              <a:spcBef>
                <a:spcPts val="0"/>
              </a:spcBef>
              <a:spcAft>
                <a:spcPts val="1200"/>
              </a:spcAft>
              <a:buNone/>
              <a:tabLst>
                <a:tab pos="457200" algn="l"/>
                <a:tab pos="457200" algn="l"/>
              </a:tabLst>
            </a:pPr>
            <a:r>
              <a:rPr lang="en-US" sz="2800">
                <a:ea typeface="Microsoft JhengHei" panose="020B0604030504040204" pitchFamily="34" charset="-120"/>
              </a:rPr>
              <a:t>A quick recap…</a:t>
            </a:r>
            <a:endParaRPr lang="en-US" sz="2000">
              <a:ea typeface="Microsoft JhengHei" panose="020B0604030504040204" pitchFamily="34" charset="-120"/>
            </a:endParaRPr>
          </a:p>
        </p:txBody>
      </p:sp>
    </p:spTree>
    <p:extLst>
      <p:ext uri="{BB962C8B-B14F-4D97-AF65-F5344CB8AC3E}">
        <p14:creationId xmlns:p14="http://schemas.microsoft.com/office/powerpoint/2010/main" val="31662322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D6C90-BDEF-96F5-7831-4FF05DADF45C}"/>
              </a:ext>
            </a:extLst>
          </p:cNvPr>
          <p:cNvSpPr txBox="1">
            <a:spLocks/>
          </p:cNvSpPr>
          <p:nvPr/>
        </p:nvSpPr>
        <p:spPr>
          <a:xfrm>
            <a:off x="281230" y="298310"/>
            <a:ext cx="11844555" cy="983152"/>
          </a:xfrm>
          <a:prstGeom prst="rect">
            <a:avLst/>
          </a:prstGeom>
        </p:spPr>
        <p:txBody>
          <a:bodyPr/>
          <a:lstStyle>
            <a:lvl1pPr algn="l" defTabSz="914314" rtl="0" eaLnBrk="1" latinLnBrk="0" hangingPunct="1">
              <a:lnSpc>
                <a:spcPct val="90000"/>
              </a:lnSpc>
              <a:spcBef>
                <a:spcPct val="0"/>
              </a:spcBef>
              <a:buNone/>
              <a:defRPr sz="3600" b="1" i="0" kern="1200">
                <a:solidFill>
                  <a:schemeClr val="tx2"/>
                </a:solidFill>
                <a:latin typeface="Calibri" panose="020F0502020204030204" pitchFamily="34" charset="0"/>
                <a:ea typeface="+mj-ea"/>
                <a:cs typeface="Calibri" panose="020F0502020204030204" pitchFamily="34" charset="0"/>
              </a:defRPr>
            </a:lvl1pPr>
          </a:lstStyle>
          <a:p>
            <a:pPr marL="0" marR="0" lvl="0" indent="0" algn="l" defTabSz="914314"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srgbClr val="004C97"/>
                </a:solidFill>
                <a:effectLst/>
                <a:uLnTx/>
                <a:uFillTx/>
                <a:latin typeface="Arial Black" panose="020B0A04020102020204" pitchFamily="34" charset="0"/>
                <a:ea typeface="+mj-ea"/>
                <a:cs typeface="Calibri" panose="020F0502020204030204" pitchFamily="34" charset="0"/>
              </a:rPr>
              <a:t>Distributional Channels and Macroeconomic Outcomes</a:t>
            </a:r>
          </a:p>
        </p:txBody>
      </p:sp>
      <p:sp>
        <p:nvSpPr>
          <p:cNvPr id="4" name="Oval 3">
            <a:extLst>
              <a:ext uri="{FF2B5EF4-FFF2-40B4-BE49-F238E27FC236}">
                <a16:creationId xmlns:a16="http://schemas.microsoft.com/office/drawing/2014/main" id="{645713F0-ABAA-17D4-BF43-867F9945BD72}"/>
              </a:ext>
            </a:extLst>
          </p:cNvPr>
          <p:cNvSpPr/>
          <p:nvPr/>
        </p:nvSpPr>
        <p:spPr>
          <a:xfrm>
            <a:off x="3861228" y="3602849"/>
            <a:ext cx="2743200" cy="2743200"/>
          </a:xfrm>
          <a:prstGeom prst="ellipse">
            <a:avLst/>
          </a:prstGeom>
          <a:solidFill>
            <a:srgbClr val="004C9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EFEFE"/>
                </a:solidFill>
                <a:effectLst/>
                <a:uLnTx/>
                <a:uFillTx/>
                <a:latin typeface="Arial" panose="020B0604020202020204"/>
                <a:ea typeface="+mn-ea"/>
                <a:cs typeface="+mn-cs"/>
              </a:rPr>
              <a:t>Policies </a:t>
            </a:r>
          </a:p>
          <a:p>
            <a:pPr marL="0" marR="0" lvl="0" indent="0" algn="ctr" defTabSz="914314" rtl="0" eaLnBrk="1" fontAlgn="auto" latinLnBrk="0" hangingPunct="1">
              <a:lnSpc>
                <a:spcPct val="100000"/>
              </a:lnSpc>
              <a:spcBef>
                <a:spcPts val="0"/>
              </a:spcBef>
              <a:spcAft>
                <a:spcPts val="0"/>
              </a:spcAft>
              <a:buClrTx/>
              <a:buSzTx/>
              <a:buFontTx/>
              <a:buNone/>
              <a:tabLst/>
              <a:defRPr/>
            </a:pPr>
            <a:br>
              <a:rPr kumimoji="0" lang="en-US" sz="1800" b="1" i="0" u="none" strike="noStrike" kern="1200" cap="none" spc="0" normalizeH="0" baseline="0" noProof="0">
                <a:ln>
                  <a:noFill/>
                </a:ln>
                <a:solidFill>
                  <a:srgbClr val="FEFEFE"/>
                </a:solidFill>
                <a:effectLst/>
                <a:uLnTx/>
                <a:uFillTx/>
                <a:latin typeface="Arial" panose="020B0604020202020204"/>
                <a:ea typeface="+mn-ea"/>
                <a:cs typeface="+mn-cs"/>
              </a:rPr>
            </a:b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fiscal, monetary, structural, financial</a:t>
            </a:r>
          </a:p>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EFEFE"/>
              </a:solidFill>
              <a:effectLst/>
              <a:uLnTx/>
              <a:uFillTx/>
              <a:latin typeface="Arial" panose="020B0604020202020204"/>
              <a:ea typeface="+mn-ea"/>
              <a:cs typeface="+mn-cs"/>
            </a:endParaRPr>
          </a:p>
        </p:txBody>
      </p:sp>
      <p:sp>
        <p:nvSpPr>
          <p:cNvPr id="5" name="Oval 4">
            <a:extLst>
              <a:ext uri="{FF2B5EF4-FFF2-40B4-BE49-F238E27FC236}">
                <a16:creationId xmlns:a16="http://schemas.microsoft.com/office/drawing/2014/main" id="{9F92E198-2C5A-2628-2C17-A66CE410CB87}"/>
              </a:ext>
            </a:extLst>
          </p:cNvPr>
          <p:cNvSpPr/>
          <p:nvPr/>
        </p:nvSpPr>
        <p:spPr>
          <a:xfrm>
            <a:off x="1518948" y="1083496"/>
            <a:ext cx="2743200" cy="2743200"/>
          </a:xfrm>
          <a:prstGeom prst="ellipse">
            <a:avLst/>
          </a:prstGeom>
          <a:solidFill>
            <a:srgbClr val="C00000"/>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EFEFE"/>
                </a:solidFill>
                <a:effectLst/>
                <a:uLnTx/>
                <a:uFillTx/>
                <a:latin typeface="Arial" panose="020B0604020202020204"/>
                <a:ea typeface="+mn-ea"/>
                <a:cs typeface="+mn-cs"/>
              </a:rPr>
              <a:t>Inequality </a:t>
            </a:r>
          </a:p>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EFEFE"/>
              </a:solidFill>
              <a:effectLst/>
              <a:uLnTx/>
              <a:uFillTx/>
              <a:latin typeface="Arial" panose="020B0604020202020204"/>
              <a:ea typeface="+mn-ea"/>
              <a:cs typeface="+mn-cs"/>
            </a:endParaRPr>
          </a:p>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Legal rights, education, health, financial inclusion</a:t>
            </a:r>
          </a:p>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LFP, wages,</a:t>
            </a:r>
          </a:p>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representation/</a:t>
            </a:r>
          </a:p>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leadership</a:t>
            </a:r>
          </a:p>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EFEFE"/>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26147098-72CE-B838-A1E8-D0DCA0B0925D}"/>
              </a:ext>
            </a:extLst>
          </p:cNvPr>
          <p:cNvSpPr/>
          <p:nvPr/>
        </p:nvSpPr>
        <p:spPr>
          <a:xfrm>
            <a:off x="6203508" y="1083496"/>
            <a:ext cx="2743200" cy="2743200"/>
          </a:xfrm>
          <a:prstGeom prst="ellipse">
            <a:avLst/>
          </a:prstGeom>
          <a:solidFill>
            <a:srgbClr val="004C9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EFEFE"/>
                </a:solidFill>
                <a:effectLst/>
                <a:uLnTx/>
                <a:uFillTx/>
                <a:latin typeface="Arial" panose="020B0604020202020204"/>
                <a:ea typeface="+mn-ea"/>
                <a:cs typeface="+mn-cs"/>
              </a:rPr>
              <a:t>Macro Outcomes</a:t>
            </a:r>
          </a:p>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EFEFE"/>
              </a:solidFill>
              <a:effectLst/>
              <a:uLnTx/>
              <a:uFillTx/>
              <a:latin typeface="Arial" panose="020B0604020202020204"/>
              <a:ea typeface="+mn-ea"/>
              <a:cs typeface="+mn-cs"/>
            </a:endParaRP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Economic growth and resilience,</a:t>
            </a: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EFEFE"/>
                </a:solidFill>
                <a:effectLst/>
                <a:uLnTx/>
                <a:uFillTx/>
                <a:latin typeface="Arial" panose="020B0604020202020204"/>
                <a:ea typeface="+mn-ea"/>
                <a:cs typeface="+mn-cs"/>
              </a:rPr>
              <a:t>macro-financial stability</a:t>
            </a:r>
          </a:p>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EFEFE"/>
              </a:solidFill>
              <a:effectLst/>
              <a:uLnTx/>
              <a:uFillTx/>
              <a:latin typeface="Arial" panose="020B0604020202020204"/>
              <a:ea typeface="+mn-ea"/>
              <a:cs typeface="+mn-cs"/>
            </a:endParaRPr>
          </a:p>
        </p:txBody>
      </p:sp>
      <p:sp>
        <p:nvSpPr>
          <p:cNvPr id="9" name="Arrow: Down 8">
            <a:extLst>
              <a:ext uri="{FF2B5EF4-FFF2-40B4-BE49-F238E27FC236}">
                <a16:creationId xmlns:a16="http://schemas.microsoft.com/office/drawing/2014/main" id="{08441641-EBD4-8E3B-A0A7-3D79D0446D70}"/>
              </a:ext>
            </a:extLst>
          </p:cNvPr>
          <p:cNvSpPr/>
          <p:nvPr/>
        </p:nvSpPr>
        <p:spPr>
          <a:xfrm rot="12954239">
            <a:off x="6461920" y="3180761"/>
            <a:ext cx="914400" cy="18288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EFE"/>
              </a:solidFill>
              <a:effectLst/>
              <a:uLnTx/>
              <a:uFillTx/>
              <a:latin typeface="Arial" panose="020B0604020202020204"/>
              <a:ea typeface="+mn-ea"/>
              <a:cs typeface="+mn-cs"/>
            </a:endParaRPr>
          </a:p>
        </p:txBody>
      </p:sp>
      <p:sp>
        <p:nvSpPr>
          <p:cNvPr id="8" name="Arrow: Down 7">
            <a:extLst>
              <a:ext uri="{FF2B5EF4-FFF2-40B4-BE49-F238E27FC236}">
                <a16:creationId xmlns:a16="http://schemas.microsoft.com/office/drawing/2014/main" id="{83253EFE-D3A3-B341-9FA3-A54C13E8D7A4}"/>
              </a:ext>
            </a:extLst>
          </p:cNvPr>
          <p:cNvSpPr/>
          <p:nvPr/>
        </p:nvSpPr>
        <p:spPr>
          <a:xfrm rot="8404864">
            <a:off x="3065954" y="3180761"/>
            <a:ext cx="914400" cy="1828800"/>
          </a:xfrm>
          <a:prstGeom prst="downArrow">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EFE"/>
              </a:solidFill>
              <a:effectLst/>
              <a:uLnTx/>
              <a:uFillTx/>
              <a:latin typeface="Arial" panose="020B0604020202020204"/>
              <a:ea typeface="+mn-ea"/>
              <a:cs typeface="+mn-cs"/>
            </a:endParaRPr>
          </a:p>
        </p:txBody>
      </p:sp>
      <p:sp>
        <p:nvSpPr>
          <p:cNvPr id="11" name="Arrow: Left-Right 10">
            <a:extLst>
              <a:ext uri="{FF2B5EF4-FFF2-40B4-BE49-F238E27FC236}">
                <a16:creationId xmlns:a16="http://schemas.microsoft.com/office/drawing/2014/main" id="{29BF8D97-B68B-9B88-5C33-545DD5D00931}"/>
              </a:ext>
            </a:extLst>
          </p:cNvPr>
          <p:cNvSpPr/>
          <p:nvPr/>
        </p:nvSpPr>
        <p:spPr>
          <a:xfrm>
            <a:off x="3912598" y="1411950"/>
            <a:ext cx="2640459" cy="983152"/>
          </a:xfrm>
          <a:prstGeom prst="leftRightArrow">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EF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8F53B74-F7ED-179C-98CE-2A1A569CD729}"/>
              </a:ext>
            </a:extLst>
          </p:cNvPr>
          <p:cNvSpPr txBox="1"/>
          <p:nvPr/>
        </p:nvSpPr>
        <p:spPr>
          <a:xfrm>
            <a:off x="10019509" y="825579"/>
            <a:ext cx="2112122" cy="6032421"/>
          </a:xfrm>
          <a:prstGeom prst="rect">
            <a:avLst/>
          </a:prstGeom>
          <a:noFill/>
        </p:spPr>
        <p:txBody>
          <a:bodyPr wrap="square" lIns="91440" tIns="45720" rIns="91440" bIns="45720" rtlCol="0" anchor="t">
            <a:spAutoFit/>
          </a:bodyPr>
          <a:lstStyle/>
          <a:p>
            <a:pPr marL="0" marR="0" lvl="0" indent="0" algn="l" defTabSz="914314" rtl="0" eaLnBrk="1" fontAlgn="auto" latinLnBrk="0" hangingPunct="1">
              <a:lnSpc>
                <a:spcPts val="2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4C97"/>
                </a:solidFill>
                <a:effectLst/>
                <a:uLnTx/>
                <a:uFillTx/>
                <a:latin typeface="Arial" panose="020B0604020202020204"/>
                <a:ea typeface="+mn-ea"/>
                <a:cs typeface="+mn-cs"/>
              </a:rPr>
              <a:t>Helpful Resources:</a:t>
            </a:r>
          </a:p>
          <a:p>
            <a:pPr marL="0" marR="0" lvl="0" indent="0" algn="l" defTabSz="914314" rtl="0" eaLnBrk="1" fontAlgn="auto" latinLnBrk="0" hangingPunct="1">
              <a:lnSpc>
                <a:spcPts val="2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314" rtl="0" eaLnBrk="1" fontAlgn="auto" latinLnBrk="0" hangingPunct="1">
              <a:lnSpc>
                <a:spcPts val="2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hlinkClick r:id="rId3"/>
              </a:rPr>
              <a:t>IMF Strategy Toward Mainstreaming Gender</a:t>
            </a: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314" rtl="0" eaLnBrk="1" fontAlgn="auto" latinLnBrk="0" hangingPunct="1">
              <a:lnSpc>
                <a:spcPts val="2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314" rtl="0" eaLnBrk="1" fontAlgn="auto" latinLnBrk="0" hangingPunct="1">
              <a:lnSpc>
                <a:spcPts val="2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hlinkClick r:id="rId4"/>
              </a:rPr>
              <a:t>Integrating Gender into Macroeconomic Policies at the IMF</a:t>
            </a: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314" rtl="0" eaLnBrk="1" fontAlgn="auto" latinLnBrk="0" hangingPunct="1">
              <a:lnSpc>
                <a:spcPts val="2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314" rtl="0" eaLnBrk="1" fontAlgn="auto" latinLnBrk="0" hangingPunct="1">
              <a:lnSpc>
                <a:spcPts val="2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hlinkClick r:id="rId5">
                  <a:extLst>
                    <a:ext uri="{A12FA001-AC4F-418D-AE19-62706E023703}">
                      <ahyp:hlinkClr xmlns:ahyp="http://schemas.microsoft.com/office/drawing/2018/hyperlinkcolor" val="tx"/>
                    </a:ext>
                  </a:extLst>
                </a:hlinkClick>
              </a:rPr>
              <a:t>GDP gains </a:t>
            </a:r>
            <a:r>
              <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rPr>
              <a:t>and </a:t>
            </a:r>
            <a:r>
              <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hlinkClick r:id="rId6">
                  <a:extLst>
                    <a:ext uri="{A12FA001-AC4F-418D-AE19-62706E023703}">
                      <ahyp:hlinkClr xmlns:ahyp="http://schemas.microsoft.com/office/drawing/2018/hyperlinkcolor" val="tx"/>
                    </a:ext>
                  </a:extLst>
                </a:hlinkClick>
              </a:rPr>
              <a:t>Productivity</a:t>
            </a:r>
            <a:r>
              <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rPr>
              <a:t> </a:t>
            </a:r>
            <a:endParaRPr kumimoji="0" lang="en-US" sz="1800" b="0" i="0" u="none" strike="noStrike" kern="1200" cap="none" spc="0" normalizeH="0" baseline="0" noProof="0">
              <a:ln>
                <a:noFill/>
              </a:ln>
              <a:solidFill>
                <a:srgbClr val="004C97"/>
              </a:solidFill>
              <a:effectLst/>
              <a:uLnTx/>
              <a:uFillTx/>
              <a:latin typeface="Arial" panose="020B0604020202020204"/>
              <a:ea typeface="+mn-ea"/>
              <a:cs typeface="+mn-cs"/>
            </a:endParaRPr>
          </a:p>
          <a:p>
            <a:pPr marL="0" marR="0" lvl="0" indent="0" algn="l" defTabSz="914314" rtl="0" eaLnBrk="1" fontAlgn="auto" latinLnBrk="0" hangingPunct="1">
              <a:lnSpc>
                <a:spcPts val="2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endParaRPr>
          </a:p>
          <a:p>
            <a:pPr marL="0" marR="0" lvl="0" indent="0" algn="l" defTabSz="914314" rtl="0" eaLnBrk="1" fontAlgn="auto" latinLnBrk="0" hangingPunct="1">
              <a:lnSpc>
                <a:spcPts val="2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hlinkClick r:id="rId7">
                  <a:extLst>
                    <a:ext uri="{A12FA001-AC4F-418D-AE19-62706E023703}">
                      <ahyp:hlinkClr xmlns:ahyp="http://schemas.microsoft.com/office/drawing/2018/hyperlinkcolor" val="tx"/>
                    </a:ext>
                  </a:extLst>
                </a:hlinkClick>
              </a:rPr>
              <a:t>Greater financial stability</a:t>
            </a:r>
            <a:endParaRPr kumimoji="0" lang="en-US" sz="1800" b="0" i="0" u="none" strike="noStrike" kern="1200" cap="none" spc="0" normalizeH="0" baseline="0" noProof="0">
              <a:ln>
                <a:noFill/>
              </a:ln>
              <a:solidFill>
                <a:srgbClr val="004C97"/>
              </a:solidFill>
              <a:effectLst/>
              <a:uLnTx/>
              <a:uFillTx/>
              <a:latin typeface="Arial" panose="020B0604020202020204"/>
              <a:ea typeface="+mn-ea"/>
              <a:cs typeface="+mn-cs"/>
            </a:endParaRPr>
          </a:p>
          <a:p>
            <a:pPr marL="0" marR="0" lvl="0" indent="0" algn="l" defTabSz="914314" rtl="0" eaLnBrk="1" fontAlgn="auto" latinLnBrk="0" hangingPunct="1">
              <a:lnSpc>
                <a:spcPts val="2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endParaRPr>
          </a:p>
          <a:p>
            <a:pPr marL="0" marR="0" lvl="0" indent="0" algn="l" defTabSz="914314" rtl="0" eaLnBrk="1" fontAlgn="auto" latinLnBrk="0" hangingPunct="1">
              <a:lnSpc>
                <a:spcPts val="2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hlinkClick r:id="rId8">
                  <a:extLst>
                    <a:ext uri="{A12FA001-AC4F-418D-AE19-62706E023703}">
                      <ahyp:hlinkClr xmlns:ahyp="http://schemas.microsoft.com/office/drawing/2018/hyperlinkcolor" val="tx"/>
                    </a:ext>
                  </a:extLst>
                </a:hlinkClick>
              </a:rPr>
              <a:t>Economic diversification</a:t>
            </a:r>
            <a:endPar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endParaRPr>
          </a:p>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C97"/>
              </a:solidFill>
              <a:effectLst/>
              <a:uLnTx/>
              <a:uFillTx/>
              <a:latin typeface="Arial" panose="020B0604020202020204"/>
              <a:ea typeface="+mn-ea"/>
              <a:cs typeface="Arial" panose="020B0604020202020204"/>
            </a:endParaRPr>
          </a:p>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Arial" panose="020B0604020202020204"/>
            </a:endParaRPr>
          </a:p>
        </p:txBody>
      </p:sp>
    </p:spTree>
    <p:extLst>
      <p:ext uri="{BB962C8B-B14F-4D97-AF65-F5344CB8AC3E}">
        <p14:creationId xmlns:p14="http://schemas.microsoft.com/office/powerpoint/2010/main" val="28942762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4128D-DDA5-8D75-6CEA-FB57E2F0A71E}"/>
              </a:ext>
            </a:extLst>
          </p:cNvPr>
          <p:cNvSpPr>
            <a:spLocks noGrp="1"/>
          </p:cNvSpPr>
          <p:nvPr>
            <p:ph type="title"/>
          </p:nvPr>
        </p:nvSpPr>
        <p:spPr>
          <a:xfrm>
            <a:off x="1930400" y="2777385"/>
            <a:ext cx="8707120" cy="978486"/>
          </a:xfrm>
        </p:spPr>
        <p:txBody>
          <a:bodyPr>
            <a:noAutofit/>
          </a:bodyPr>
          <a:lstStyle/>
          <a:p>
            <a:pPr algn="ctr"/>
            <a:r>
              <a:rPr lang="en-US"/>
              <a:t>Why can increasing women’s economic participation boost GDP?</a:t>
            </a:r>
          </a:p>
        </p:txBody>
      </p:sp>
    </p:spTree>
    <p:extLst>
      <p:ext uri="{BB962C8B-B14F-4D97-AF65-F5344CB8AC3E}">
        <p14:creationId xmlns:p14="http://schemas.microsoft.com/office/powerpoint/2010/main" val="225037821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16A1-E62F-4AF6-BD07-EC6E76F357F9}"/>
              </a:ext>
            </a:extLst>
          </p:cNvPr>
          <p:cNvSpPr>
            <a:spLocks noGrp="1"/>
          </p:cNvSpPr>
          <p:nvPr>
            <p:ph type="title"/>
          </p:nvPr>
        </p:nvSpPr>
        <p:spPr>
          <a:xfrm>
            <a:off x="501708" y="293082"/>
            <a:ext cx="9715500" cy="978486"/>
          </a:xfrm>
        </p:spPr>
        <p:txBody>
          <a:bodyPr/>
          <a:lstStyle/>
          <a:p>
            <a:r>
              <a:rPr lang="en-US"/>
              <a:t>Let’s look at GDP through the demand side:</a:t>
            </a:r>
          </a:p>
        </p:txBody>
      </p:sp>
      <p:sp>
        <p:nvSpPr>
          <p:cNvPr id="3" name="Text Placeholder 2">
            <a:extLst>
              <a:ext uri="{FF2B5EF4-FFF2-40B4-BE49-F238E27FC236}">
                <a16:creationId xmlns:a16="http://schemas.microsoft.com/office/drawing/2014/main" id="{F6116B4B-F9F0-435C-8409-80DF3B704B57}"/>
              </a:ext>
            </a:extLst>
          </p:cNvPr>
          <p:cNvSpPr>
            <a:spLocks noGrp="1"/>
          </p:cNvSpPr>
          <p:nvPr>
            <p:ph type="body" sz="quarter" idx="10"/>
          </p:nvPr>
        </p:nvSpPr>
        <p:spPr/>
        <p:txBody>
          <a:bodyPr vert="horz" lIns="0" tIns="137160" rIns="0" bIns="0" rtlCol="0" anchor="t">
            <a:normAutofit/>
          </a:bodyPr>
          <a:lstStyle/>
          <a:p>
            <a:pPr algn="ctr">
              <a:spcBef>
                <a:spcPts val="0"/>
              </a:spcBef>
              <a:spcAft>
                <a:spcPts val="1282"/>
              </a:spcAft>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CA" altLang="en-US" sz="2400"/>
              <a:t> Y = GDP = C + I + G + (X – M)</a:t>
            </a:r>
          </a:p>
          <a:p>
            <a:pPr>
              <a:spcBef>
                <a:spcPts val="0"/>
              </a:spcBef>
              <a:spcAft>
                <a:spcPts val="1282"/>
              </a:spcAft>
              <a:buSzPct val="45000"/>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CA" altLang="en-US" b="1"/>
              <a:t>Output: </a:t>
            </a:r>
            <a:r>
              <a:rPr lang="en-CA" altLang="en-US"/>
              <a:t>Traditional measures of GDP exclude non-market transactions; thus, women’s </a:t>
            </a:r>
            <a:r>
              <a:rPr lang="en-CA" altLang="en-US">
                <a:hlinkClick r:id="rId3"/>
              </a:rPr>
              <a:t>unpaid care work</a:t>
            </a:r>
            <a:r>
              <a:rPr lang="en-CA" altLang="en-US"/>
              <a:t> and subsistence work are not counted</a:t>
            </a:r>
            <a:endParaRPr lang="en-CA" altLang="en-US">
              <a:cs typeface="Arial"/>
            </a:endParaRPr>
          </a:p>
          <a:p>
            <a:pPr>
              <a:spcBef>
                <a:spcPts val="0"/>
              </a:spcBef>
              <a:spcAft>
                <a:spcPts val="1282"/>
              </a:spcAft>
              <a:buSzPct val="45000"/>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CA" altLang="en-US" b="1"/>
              <a:t>Consumption: </a:t>
            </a:r>
            <a:r>
              <a:rPr lang="en-US"/>
              <a:t>Micro </a:t>
            </a:r>
            <a:r>
              <a:rPr lang="en-US">
                <a:hlinkClick r:id="rId4"/>
              </a:rPr>
              <a:t>evidence</a:t>
            </a:r>
            <a:r>
              <a:rPr lang="en-US"/>
              <a:t> shows that who controls income can change household spending priorities—often increasing allocations toward children’s health and education</a:t>
            </a:r>
            <a:endParaRPr lang="en-US">
              <a:cs typeface="Arial"/>
            </a:endParaRPr>
          </a:p>
          <a:p>
            <a:pPr>
              <a:spcBef>
                <a:spcPts val="0"/>
              </a:spcBef>
              <a:spcAft>
                <a:spcPts val="1282"/>
              </a:spcAft>
              <a:buSzPct val="45000"/>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CA" altLang="en-US" b="1"/>
              <a:t>Investment:</a:t>
            </a:r>
            <a:r>
              <a:rPr lang="en-CA" altLang="en-US"/>
              <a:t> Investment </a:t>
            </a:r>
            <a:r>
              <a:rPr lang="en-CA" altLang="en-US">
                <a:hlinkClick r:id="rId5"/>
              </a:rPr>
              <a:t>patterns</a:t>
            </a:r>
            <a:r>
              <a:rPr lang="en-CA" altLang="en-US"/>
              <a:t> in male-run businesses are different from those of female-run businesses. </a:t>
            </a:r>
            <a:endParaRPr lang="en-CA" altLang="en-US">
              <a:cs typeface="Arial"/>
            </a:endParaRPr>
          </a:p>
          <a:p>
            <a:pPr>
              <a:spcBef>
                <a:spcPts val="0"/>
              </a:spcBef>
              <a:spcAft>
                <a:spcPts val="1282"/>
              </a:spcAft>
              <a:buSzPct val="45000"/>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CA" altLang="en-US" b="1"/>
              <a:t>Government:</a:t>
            </a:r>
            <a:r>
              <a:rPr lang="en-CA" altLang="en-US"/>
              <a:t> Women and men often have different needs for public </a:t>
            </a:r>
            <a:r>
              <a:rPr lang="en-CA" altLang="en-US">
                <a:hlinkClick r:id="" action="ppaction://noaction"/>
              </a:rPr>
              <a:t>expenditure</a:t>
            </a:r>
            <a:r>
              <a:rPr lang="en-CA" altLang="en-US"/>
              <a:t> and are impacted differently by </a:t>
            </a:r>
            <a:r>
              <a:rPr lang="en-CA" altLang="en-US">
                <a:hlinkClick r:id="rId6"/>
              </a:rPr>
              <a:t>taxes</a:t>
            </a:r>
            <a:r>
              <a:rPr lang="en-CA" altLang="en-US"/>
              <a:t>.</a:t>
            </a:r>
            <a:endParaRPr lang="en-CA" altLang="en-US">
              <a:cs typeface="Arial"/>
            </a:endParaRPr>
          </a:p>
          <a:p>
            <a:pPr>
              <a:spcBef>
                <a:spcPts val="0"/>
              </a:spcBef>
              <a:spcAft>
                <a:spcPts val="1282"/>
              </a:spcAft>
              <a:buSzPct val="45000"/>
              <a:tabLst>
                <a:tab pos="0" algn="l"/>
                <a:tab pos="95052" algn="l"/>
                <a:tab pos="502623" algn="l"/>
                <a:tab pos="910194" algn="l"/>
                <a:tab pos="1317765" algn="l"/>
                <a:tab pos="1725336" algn="l"/>
                <a:tab pos="2132907" algn="l"/>
                <a:tab pos="2540478" algn="l"/>
                <a:tab pos="2948049" algn="l"/>
                <a:tab pos="3355619" algn="l"/>
                <a:tab pos="3763191" algn="l"/>
                <a:tab pos="4170761" algn="l"/>
                <a:tab pos="4578333" algn="l"/>
                <a:tab pos="4985903" algn="l"/>
                <a:tab pos="5393475" algn="l"/>
                <a:tab pos="5801045" algn="l"/>
                <a:tab pos="6208616" algn="l"/>
                <a:tab pos="6616187" algn="l"/>
                <a:tab pos="7023758" algn="l"/>
                <a:tab pos="7431329" algn="l"/>
                <a:tab pos="7838900" algn="l"/>
                <a:tab pos="7880665" algn="l"/>
              </a:tabLst>
            </a:pPr>
            <a:r>
              <a:rPr lang="en-CA" altLang="en-US" b="1"/>
              <a:t>Net Exports:</a:t>
            </a:r>
            <a:r>
              <a:rPr lang="en-CA" altLang="en-US"/>
              <a:t> Inequality in export value added </a:t>
            </a:r>
            <a:r>
              <a:rPr lang="en-CA" altLang="en-US">
                <a:hlinkClick r:id="rId7"/>
              </a:rPr>
              <a:t>contributions</a:t>
            </a:r>
            <a:r>
              <a:rPr lang="en-CA" altLang="en-US"/>
              <a:t> and </a:t>
            </a:r>
            <a:r>
              <a:rPr lang="en-CA" altLang="en-US">
                <a:hlinkClick r:id="rId8"/>
              </a:rPr>
              <a:t>employment</a:t>
            </a:r>
            <a:r>
              <a:rPr lang="en-CA" altLang="en-US"/>
              <a:t> in tradable sectors. </a:t>
            </a:r>
            <a:endParaRPr lang="en-CA" altLang="en-US">
              <a:cs typeface="Arial"/>
            </a:endParaRPr>
          </a:p>
        </p:txBody>
      </p:sp>
    </p:spTree>
    <p:extLst>
      <p:ext uri="{BB962C8B-B14F-4D97-AF65-F5344CB8AC3E}">
        <p14:creationId xmlns:p14="http://schemas.microsoft.com/office/powerpoint/2010/main" val="340134988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5A99B-53E6-FC0E-C0BC-B7061309610C}"/>
              </a:ext>
            </a:extLst>
          </p:cNvPr>
          <p:cNvSpPr>
            <a:spLocks noGrp="1"/>
          </p:cNvSpPr>
          <p:nvPr>
            <p:ph type="title"/>
          </p:nvPr>
        </p:nvSpPr>
        <p:spPr>
          <a:xfrm>
            <a:off x="211138" y="217065"/>
            <a:ext cx="9715500" cy="978486"/>
          </a:xfrm>
        </p:spPr>
        <p:txBody>
          <a:bodyPr/>
          <a:lstStyle/>
          <a:p>
            <a:r>
              <a:rPr lang="en-US">
                <a:latin typeface="Arial Black"/>
              </a:rPr>
              <a:t>Other factors to consider...</a:t>
            </a:r>
            <a:endParaRPr lang="en-US"/>
          </a:p>
        </p:txBody>
      </p:sp>
      <p:sp>
        <p:nvSpPr>
          <p:cNvPr id="3" name="Text Placeholder 2">
            <a:extLst>
              <a:ext uri="{FF2B5EF4-FFF2-40B4-BE49-F238E27FC236}">
                <a16:creationId xmlns:a16="http://schemas.microsoft.com/office/drawing/2014/main" id="{25D60BB0-2042-E2D8-53F5-CC26D6E4E5DE}"/>
              </a:ext>
            </a:extLst>
          </p:cNvPr>
          <p:cNvSpPr>
            <a:spLocks noGrp="1"/>
          </p:cNvSpPr>
          <p:nvPr>
            <p:ph type="body" sz="quarter" idx="10"/>
          </p:nvPr>
        </p:nvSpPr>
        <p:spPr>
          <a:xfrm>
            <a:off x="1238250" y="1366463"/>
            <a:ext cx="9715500" cy="4963999"/>
          </a:xfrm>
        </p:spPr>
        <p:txBody>
          <a:bodyPr vert="horz" lIns="0" tIns="137160" rIns="0" bIns="0" rtlCol="0" anchor="t">
            <a:normAutofit/>
          </a:bodyPr>
          <a:lstStyle/>
          <a:p>
            <a:r>
              <a:rPr lang="en-US" sz="2400" b="1"/>
              <a:t>Productivity</a:t>
            </a:r>
            <a:r>
              <a:rPr lang="en-US" sz="2400"/>
              <a:t> is affected by gaps between men and women such as in: </a:t>
            </a:r>
          </a:p>
          <a:p>
            <a:pPr marL="801370" lvl="2" indent="-342900">
              <a:buFont typeface="Arial" panose="020B0604020202020204" pitchFamily="34" charset="0"/>
              <a:buChar char="•"/>
            </a:pPr>
            <a:r>
              <a:rPr lang="en-US" sz="2400"/>
              <a:t>education</a:t>
            </a:r>
            <a:endParaRPr lang="en-US" sz="2400">
              <a:cs typeface="Arial" panose="020B0604020202020204"/>
            </a:endParaRPr>
          </a:p>
          <a:p>
            <a:pPr marL="801370" lvl="2" indent="-342900">
              <a:buFont typeface="Arial" panose="020B0604020202020204" pitchFamily="34" charset="0"/>
              <a:buChar char="•"/>
            </a:pPr>
            <a:r>
              <a:rPr lang="en-US" sz="2400"/>
              <a:t>health </a:t>
            </a:r>
            <a:endParaRPr lang="en-US" sz="2400">
              <a:cs typeface="Arial"/>
            </a:endParaRPr>
          </a:p>
          <a:p>
            <a:pPr marL="801370" lvl="2" indent="-342900">
              <a:buFont typeface="Arial" panose="020B0604020202020204" pitchFamily="34" charset="0"/>
              <a:buChar char="•"/>
            </a:pPr>
            <a:r>
              <a:rPr lang="en-US" sz="2400"/>
              <a:t>legal protection</a:t>
            </a:r>
            <a:endParaRPr lang="en-US" sz="2400">
              <a:cs typeface="Arial" panose="020B0604020202020204"/>
            </a:endParaRPr>
          </a:p>
          <a:p>
            <a:pPr marL="801370" lvl="2" indent="-342900">
              <a:buFont typeface="Arial" panose="020B0604020202020204" pitchFamily="34" charset="0"/>
              <a:buChar char="•"/>
            </a:pPr>
            <a:r>
              <a:rPr lang="en-US" sz="2400"/>
              <a:t>access to childcare </a:t>
            </a:r>
            <a:endParaRPr lang="en-US" sz="2400">
              <a:cs typeface="Arial" panose="020B0604020202020204"/>
            </a:endParaRPr>
          </a:p>
          <a:p>
            <a:pPr marL="801370" lvl="2" indent="-342900">
              <a:buFont typeface="Arial" panose="020B0604020202020204" pitchFamily="34" charset="0"/>
              <a:buChar char="•"/>
            </a:pPr>
            <a:r>
              <a:rPr lang="en-US" sz="2400"/>
              <a:t>house chores, elderly care and other unpaid work</a:t>
            </a:r>
            <a:endParaRPr lang="en-US" sz="2400">
              <a:cs typeface="Arial" panose="020B0604020202020204"/>
            </a:endParaRPr>
          </a:p>
          <a:p>
            <a:pPr marL="233045" lvl="1" indent="0">
              <a:buNone/>
            </a:pPr>
            <a:endParaRPr lang="en-US" sz="2400" b="1">
              <a:cs typeface="Arial" panose="020B0604020202020204"/>
            </a:endParaRPr>
          </a:p>
          <a:p>
            <a:pPr marL="575945" lvl="1" indent="-342900">
              <a:buFont typeface="Wingdings" panose="05000000000000000000" pitchFamily="2" charset="2"/>
              <a:buChar char="Ø"/>
            </a:pPr>
            <a:r>
              <a:rPr lang="en-US" sz="2400"/>
              <a:t>These factors generate </a:t>
            </a:r>
            <a:r>
              <a:rPr lang="en-US" sz="2400" b="1"/>
              <a:t>misallocation of workforce across the economy, lowering aggregate productivity</a:t>
            </a:r>
            <a:r>
              <a:rPr lang="en-US" sz="2400"/>
              <a:t>. </a:t>
            </a:r>
            <a:endParaRPr lang="en-US" sz="2400">
              <a:cs typeface="Arial" panose="020B0604020202020204"/>
            </a:endParaRPr>
          </a:p>
          <a:p>
            <a:pPr marL="233045" lvl="1" indent="0">
              <a:buNone/>
            </a:pPr>
            <a:endParaRPr lang="en-US" b="1">
              <a:cs typeface="Arial" panose="020B0604020202020204"/>
            </a:endParaRPr>
          </a:p>
        </p:txBody>
      </p:sp>
    </p:spTree>
    <p:extLst>
      <p:ext uri="{BB962C8B-B14F-4D97-AF65-F5344CB8AC3E}">
        <p14:creationId xmlns:p14="http://schemas.microsoft.com/office/powerpoint/2010/main" val="18837425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193F7-D31B-930C-09D8-C1277BC79A4F}"/>
              </a:ext>
            </a:extLst>
          </p:cNvPr>
          <p:cNvSpPr>
            <a:spLocks noGrp="1"/>
          </p:cNvSpPr>
          <p:nvPr>
            <p:ph type="title"/>
          </p:nvPr>
        </p:nvSpPr>
        <p:spPr>
          <a:xfrm>
            <a:off x="448057" y="182381"/>
            <a:ext cx="11430000" cy="978486"/>
          </a:xfrm>
        </p:spPr>
        <p:txBody>
          <a:bodyPr>
            <a:normAutofit/>
          </a:bodyPr>
          <a:lstStyle/>
          <a:p>
            <a:r>
              <a:rPr lang="en-US">
                <a:latin typeface="Arial Black" panose="020B0A04020102020204" pitchFamily="34" charset="0"/>
              </a:rPr>
              <a:t>Boosting FLFP is critical for sustainable and strong growth and can amplify the impact of structural reforms</a:t>
            </a:r>
            <a:endParaRPr lang="en-US">
              <a:highlight>
                <a:srgbClr val="FFFF00"/>
              </a:highlight>
              <a:latin typeface="Arial Black" panose="020B0A04020102020204" pitchFamily="34" charset="0"/>
            </a:endParaRPr>
          </a:p>
        </p:txBody>
      </p:sp>
      <p:sp>
        <p:nvSpPr>
          <p:cNvPr id="3" name="Text Placeholder 2">
            <a:extLst>
              <a:ext uri="{FF2B5EF4-FFF2-40B4-BE49-F238E27FC236}">
                <a16:creationId xmlns:a16="http://schemas.microsoft.com/office/drawing/2014/main" id="{8EB9D4B4-FC94-0AE0-99F5-FA41FFFFBA9A}"/>
              </a:ext>
            </a:extLst>
          </p:cNvPr>
          <p:cNvSpPr>
            <a:spLocks noGrp="1"/>
          </p:cNvSpPr>
          <p:nvPr>
            <p:ph type="body" sz="quarter" idx="10"/>
          </p:nvPr>
        </p:nvSpPr>
        <p:spPr>
          <a:xfrm>
            <a:off x="7230004" y="6015268"/>
            <a:ext cx="4241591" cy="560883"/>
          </a:xfrm>
        </p:spPr>
        <p:txBody>
          <a:bodyPr>
            <a:normAutofit/>
          </a:bodyPr>
          <a:lstStyle/>
          <a:p>
            <a:r>
              <a:rPr lang="en-US" sz="2000">
                <a:solidFill>
                  <a:schemeClr val="bg1"/>
                </a:solidFill>
                <a:latin typeface="Arial" panose="020B0604020202020204" pitchFamily="34" charset="0"/>
                <a:cs typeface="Arial" panose="020B0604020202020204" pitchFamily="34" charset="0"/>
              </a:rPr>
              <a:t>3.</a:t>
            </a:r>
          </a:p>
          <a:p>
            <a:endParaRPr lang="en-US">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AB40125-114A-F5AF-FF07-ACAF304069D2}"/>
              </a:ext>
            </a:extLst>
          </p:cNvPr>
          <p:cNvSpPr txBox="1"/>
          <p:nvPr/>
        </p:nvSpPr>
        <p:spPr>
          <a:xfrm>
            <a:off x="2231904" y="2192391"/>
            <a:ext cx="5004080" cy="646331"/>
          </a:xfrm>
          <a:prstGeom prst="rect">
            <a:avLst/>
          </a:prstGeom>
          <a:noFill/>
        </p:spPr>
        <p:txBody>
          <a:bodyPr wrap="square">
            <a:spAutoFit/>
          </a:bodyPr>
          <a:lstStyle/>
          <a:p>
            <a:pPr algn="ctr" rtl="0">
              <a:defRPr sz="2400" b="0" i="0" u="none" strike="noStrike" kern="1200" spc="0" baseline="0">
                <a:solidFill>
                  <a:prstClr val="black"/>
                </a:solidFill>
                <a:latin typeface="Segoe UI" panose="020B0502040204020203" pitchFamily="34" charset="0"/>
                <a:ea typeface="+mn-ea"/>
                <a:cs typeface="Segoe UI" panose="020B0502040204020203" pitchFamily="34" charset="0"/>
              </a:defRPr>
            </a:pPr>
            <a:r>
              <a:rPr lang="en-US" sz="1800" b="1">
                <a:solidFill>
                  <a:schemeClr val="bg1"/>
                </a:solidFill>
                <a:latin typeface="Arial" panose="020B0604020202020204" pitchFamily="34" charset="0"/>
                <a:cs typeface="Arial" panose="020B0604020202020204" pitchFamily="34" charset="0"/>
              </a:rPr>
              <a:t>Output gains from Major Historical Reforms</a:t>
            </a:r>
          </a:p>
          <a:p>
            <a:pPr rtl="0">
              <a:defRPr sz="2400" b="0" i="0" u="none" strike="noStrike" kern="1200" spc="0" baseline="0">
                <a:solidFill>
                  <a:prstClr val="black"/>
                </a:solidFill>
                <a:latin typeface="Segoe UI" panose="020B0502040204020203" pitchFamily="34" charset="0"/>
                <a:ea typeface="+mn-ea"/>
                <a:cs typeface="Segoe UI" panose="020B0502040204020203" pitchFamily="34" charset="0"/>
              </a:defRPr>
            </a:pPr>
            <a:r>
              <a:rPr lang="en-US" sz="1800">
                <a:solidFill>
                  <a:schemeClr val="bg1"/>
                </a:solidFill>
                <a:latin typeface="Arial" panose="020B0604020202020204" pitchFamily="34" charset="0"/>
                <a:cs typeface="Arial" panose="020B0604020202020204" pitchFamily="34" charset="0"/>
              </a:rPr>
              <a:t>(% of output)</a:t>
            </a:r>
            <a:endParaRPr lang="en-US" sz="1800" b="1">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0A38988E-A1E3-4045-048B-B667955340E1}"/>
              </a:ext>
            </a:extLst>
          </p:cNvPr>
          <p:cNvSpPr txBox="1"/>
          <p:nvPr/>
        </p:nvSpPr>
        <p:spPr>
          <a:xfrm>
            <a:off x="623379" y="5656239"/>
            <a:ext cx="4453466" cy="1015663"/>
          </a:xfrm>
          <a:prstGeom prst="rect">
            <a:avLst/>
          </a:prstGeom>
          <a:noFill/>
        </p:spPr>
        <p:txBody>
          <a:bodyPr wrap="square" rtlCol="0">
            <a:spAutoFit/>
          </a:bodyPr>
          <a:lstStyle/>
          <a:p>
            <a:r>
              <a:rPr lang="en-US" sz="1200" b="1">
                <a:effectLst/>
                <a:latin typeface="Arial" panose="020B0604020202020204" pitchFamily="34" charset="0"/>
                <a:ea typeface="Times New Roman" panose="02020603050405020304" pitchFamily="18" charset="0"/>
              </a:rPr>
              <a:t>Source: </a:t>
            </a:r>
            <a:r>
              <a:rPr lang="en-US" sz="1200">
                <a:effectLst/>
                <a:latin typeface="Arial" panose="020B0604020202020204" pitchFamily="34" charset="0"/>
                <a:ea typeface="Times New Roman" panose="02020603050405020304" pitchFamily="18" charset="0"/>
              </a:rPr>
              <a:t>The first four columns are from WEO (IMF, Oct. 2019, Ch. 3), model simulated, based on actual reforms. The fifth column is based on </a:t>
            </a:r>
            <a:r>
              <a:rPr lang="en-US" sz="1200" err="1">
                <a:effectLst/>
                <a:latin typeface="Arial" panose="020B0604020202020204" pitchFamily="34" charset="0"/>
                <a:ea typeface="Times New Roman" panose="02020603050405020304" pitchFamily="18" charset="0"/>
              </a:rPr>
              <a:t>Ostry</a:t>
            </a:r>
            <a:r>
              <a:rPr lang="en-US" sz="1200">
                <a:effectLst/>
                <a:latin typeface="Arial" panose="020B0604020202020204" pitchFamily="34" charset="0"/>
                <a:ea typeface="Times New Roman" panose="02020603050405020304" pitchFamily="18" charset="0"/>
              </a:rPr>
              <a:t> and others (2018), updated by staff assuming all countries reduce gender gaps in line with what the top 5% best performing countries achieved during 2014-19.</a:t>
            </a:r>
            <a:endParaRPr lang="en-US" sz="120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1E2C1CBB-81AD-FD69-AECE-CE79D569E192}"/>
              </a:ext>
            </a:extLst>
          </p:cNvPr>
          <p:cNvSpPr txBox="1"/>
          <p:nvPr/>
        </p:nvSpPr>
        <p:spPr>
          <a:xfrm>
            <a:off x="5771464" y="5656239"/>
            <a:ext cx="4929421" cy="1015663"/>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Source: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Ostry</a:t>
            </a:r>
            <a:r>
              <a:rPr lang="en-US" sz="1200">
                <a:latin typeface="Arial" panose="020B0604020202020204" pitchFamily="34" charset="0"/>
                <a:cs typeface="Arial" panose="020B0604020202020204" pitchFamily="34" charset="0"/>
              </a:rPr>
              <a:t> and others (2018). Based on 128 countries. For gains be realized, various frictions such as financial barriers and informality would need to be addressed, requiring both broad macro-structural reforms and reforms to specifically tackle the frictions that hinder the closing of the gender gaps.</a:t>
            </a:r>
          </a:p>
        </p:txBody>
      </p:sp>
      <p:sp>
        <p:nvSpPr>
          <p:cNvPr id="4" name="TextBox 3">
            <a:extLst>
              <a:ext uri="{FF2B5EF4-FFF2-40B4-BE49-F238E27FC236}">
                <a16:creationId xmlns:a16="http://schemas.microsoft.com/office/drawing/2014/main" id="{226B7B5A-DE8B-261D-BCDF-7F4B8C87116F}"/>
              </a:ext>
            </a:extLst>
          </p:cNvPr>
          <p:cNvSpPr txBox="1"/>
          <p:nvPr/>
        </p:nvSpPr>
        <p:spPr>
          <a:xfrm>
            <a:off x="10862630" y="3429000"/>
            <a:ext cx="1111383" cy="738664"/>
          </a:xfrm>
          <a:prstGeom prst="rect">
            <a:avLst/>
          </a:prstGeom>
          <a:noFill/>
        </p:spPr>
        <p:txBody>
          <a:bodyPr wrap="square" rtlCol="0">
            <a:spAutoFit/>
          </a:bodyPr>
          <a:lstStyle/>
          <a:p>
            <a:pPr algn="ctr"/>
            <a:r>
              <a:rPr lang="en-US" sz="1400">
                <a:latin typeface="Arial" panose="020B0604020202020204" pitchFamily="34" charset="0"/>
                <a:cs typeface="Arial" panose="020B0604020202020204" pitchFamily="34" charset="0"/>
              </a:rPr>
              <a:t>Average for EMDEs:</a:t>
            </a:r>
          </a:p>
          <a:p>
            <a:pPr algn="ctr"/>
            <a:r>
              <a:rPr lang="en-US" sz="1400">
                <a:latin typeface="Arial" panose="020B0604020202020204" pitchFamily="34" charset="0"/>
                <a:cs typeface="Arial" panose="020B0604020202020204" pitchFamily="34" charset="0"/>
              </a:rPr>
              <a:t>23 percent</a:t>
            </a:r>
          </a:p>
        </p:txBody>
      </p:sp>
      <p:graphicFrame>
        <p:nvGraphicFramePr>
          <p:cNvPr id="6" name="Chart 5">
            <a:extLst>
              <a:ext uri="{FF2B5EF4-FFF2-40B4-BE49-F238E27FC236}">
                <a16:creationId xmlns:a16="http://schemas.microsoft.com/office/drawing/2014/main" id="{1964B622-F4B2-4821-9A0C-D510A3307128}"/>
              </a:ext>
            </a:extLst>
          </p:cNvPr>
          <p:cNvGraphicFramePr>
            <a:graphicFrameLocks/>
          </p:cNvGraphicFramePr>
          <p:nvPr/>
        </p:nvGraphicFramePr>
        <p:xfrm>
          <a:off x="623379" y="1460907"/>
          <a:ext cx="4895557" cy="41853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F8E40343-0B33-4126-AA3D-E69079DE82FF}"/>
              </a:ext>
            </a:extLst>
          </p:cNvPr>
          <p:cNvGraphicFramePr>
            <a:graphicFrameLocks/>
          </p:cNvGraphicFramePr>
          <p:nvPr/>
        </p:nvGraphicFramePr>
        <p:xfrm>
          <a:off x="5705692" y="1460907"/>
          <a:ext cx="4782366" cy="40276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2144530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690B8-843A-D0D7-E573-228FCA36747F}"/>
              </a:ext>
            </a:extLst>
          </p:cNvPr>
          <p:cNvSpPr>
            <a:spLocks noGrp="1"/>
          </p:cNvSpPr>
          <p:nvPr>
            <p:ph type="title"/>
          </p:nvPr>
        </p:nvSpPr>
        <p:spPr>
          <a:xfrm>
            <a:off x="434340" y="241326"/>
            <a:ext cx="11076214" cy="978486"/>
          </a:xfrm>
        </p:spPr>
        <p:txBody>
          <a:bodyPr>
            <a:normAutofit/>
          </a:bodyPr>
          <a:lstStyle/>
          <a:p>
            <a:r>
              <a:rPr lang="en-US">
                <a:latin typeface="Arial Black" panose="020B0A04020102020204" pitchFamily="34" charset="0"/>
              </a:rPr>
              <a:t>Estimates in IMF country work show sizeable long-run gains from higher FLFP</a:t>
            </a:r>
            <a:endParaRPr lang="en-US" sz="2400"/>
          </a:p>
        </p:txBody>
      </p:sp>
      <p:sp>
        <p:nvSpPr>
          <p:cNvPr id="5" name="Text 10">
            <a:extLst>
              <a:ext uri="{FF2B5EF4-FFF2-40B4-BE49-F238E27FC236}">
                <a16:creationId xmlns:a16="http://schemas.microsoft.com/office/drawing/2014/main" id="{CEAFCCAB-6C3C-D61E-3497-10C0786F8919}"/>
              </a:ext>
            </a:extLst>
          </p:cNvPr>
          <p:cNvSpPr/>
          <p:nvPr/>
        </p:nvSpPr>
        <p:spPr>
          <a:xfrm>
            <a:off x="8100060" y="1746219"/>
            <a:ext cx="3657600" cy="1417320"/>
          </a:xfrm>
          <a:prstGeom prst="rect">
            <a:avLst/>
          </a:prstGeom>
          <a:noFill/>
          <a:ln/>
        </p:spPr>
        <p:txBody>
          <a:bodyPr wrap="square" rtlCol="0" anchor="t"/>
          <a:lstStyle/>
          <a:p>
            <a:pPr>
              <a:spcAft>
                <a:spcPts val="600"/>
              </a:spcAft>
            </a:pPr>
            <a:r>
              <a:rPr lang="en-US" b="1">
                <a:solidFill>
                  <a:srgbClr val="111827"/>
                </a:solidFill>
                <a:latin typeface="Arial" panose="020B0604020202020204" pitchFamily="34" charset="0"/>
                <a:ea typeface="Calibri" pitchFamily="34" charset="-122"/>
                <a:cs typeface="Arial" panose="020B0604020202020204" pitchFamily="34" charset="0"/>
              </a:rPr>
              <a:t>Outcomes:</a:t>
            </a:r>
            <a:endParaRPr lang="en-US"/>
          </a:p>
          <a:p>
            <a:r>
              <a:rPr lang="en-US">
                <a:latin typeface="Arial" panose="020B0604020202020204" pitchFamily="34" charset="0"/>
                <a:cs typeface="Arial" panose="020B0604020202020204" pitchFamily="34" charset="0"/>
              </a:rPr>
              <a:t>Reducing gender gaps could increase GDP per capita growth substantially:</a:t>
            </a:r>
          </a:p>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hlinkClick r:id="rId2"/>
              </a:rPr>
              <a:t>Mauritius</a:t>
            </a:r>
            <a:r>
              <a:rPr lang="en-US">
                <a:latin typeface="Arial" panose="020B0604020202020204" pitchFamily="34" charset="0"/>
                <a:cs typeface="Arial" panose="020B0604020202020204" pitchFamily="34" charset="0"/>
              </a:rPr>
              <a:t>: 0.8 percent per year if gap closes to OECD LFP average</a:t>
            </a:r>
          </a:p>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hlinkClick r:id="rId3"/>
              </a:rPr>
              <a:t>Angola</a:t>
            </a:r>
            <a:r>
              <a:rPr lang="en-US">
                <a:latin typeface="Arial" panose="020B0604020202020204" pitchFamily="34" charset="0"/>
                <a:cs typeface="Arial" panose="020B0604020202020204" pitchFamily="34" charset="0"/>
              </a:rPr>
              <a:t>: closing human capital gaps could increase real GDP growth rate by 0.2 percentage points per year</a:t>
            </a:r>
          </a:p>
        </p:txBody>
      </p:sp>
      <p:sp>
        <p:nvSpPr>
          <p:cNvPr id="6" name="Text 9">
            <a:extLst>
              <a:ext uri="{FF2B5EF4-FFF2-40B4-BE49-F238E27FC236}">
                <a16:creationId xmlns:a16="http://schemas.microsoft.com/office/drawing/2014/main" id="{3D185487-7053-B7CD-0006-D61DB301A407}"/>
              </a:ext>
            </a:extLst>
          </p:cNvPr>
          <p:cNvSpPr/>
          <p:nvPr/>
        </p:nvSpPr>
        <p:spPr>
          <a:xfrm>
            <a:off x="434340" y="2881447"/>
            <a:ext cx="5534297" cy="685800"/>
          </a:xfrm>
          <a:prstGeom prst="rect">
            <a:avLst/>
          </a:prstGeom>
          <a:noFill/>
          <a:ln/>
        </p:spPr>
        <p:txBody>
          <a:bodyPr wrap="square" rtlCol="0" anchor="ctr"/>
          <a:lstStyle/>
          <a:p>
            <a:pPr>
              <a:lnSpc>
                <a:spcPct val="115000"/>
              </a:lnSpc>
              <a:spcBef>
                <a:spcPts val="1200"/>
              </a:spcBef>
              <a:spcAft>
                <a:spcPts val="600"/>
              </a:spcAft>
              <a:buSzPct val="100000"/>
            </a:pPr>
            <a:r>
              <a:rPr lang="en-US" b="1">
                <a:solidFill>
                  <a:srgbClr val="111827"/>
                </a:solidFill>
                <a:latin typeface="Arial" panose="020B0604020202020204" pitchFamily="34" charset="0"/>
                <a:ea typeface="Calibri" pitchFamily="34" charset="-122"/>
                <a:cs typeface="Arial" panose="020B0604020202020204" pitchFamily="34" charset="0"/>
              </a:rPr>
              <a:t>Core Channels:</a:t>
            </a:r>
          </a:p>
          <a:p>
            <a:pPr marL="251460" indent="-251460">
              <a:lnSpc>
                <a:spcPct val="115000"/>
              </a:lnSpc>
              <a:buSzPct val="100000"/>
              <a:buChar char="•"/>
            </a:pPr>
            <a:r>
              <a:rPr lang="en-US">
                <a:solidFill>
                  <a:srgbClr val="111827"/>
                </a:solidFill>
                <a:latin typeface="Arial" panose="020B0604020202020204" pitchFamily="34" charset="0"/>
                <a:ea typeface="Calibri" pitchFamily="34" charset="-122"/>
                <a:cs typeface="Arial" panose="020B0604020202020204" pitchFamily="34" charset="0"/>
              </a:rPr>
              <a:t>Higher potential growth through larger effective labor supply and better talent allocation</a:t>
            </a:r>
            <a:endParaRPr lang="en-US">
              <a:latin typeface="Arial" panose="020B0604020202020204" pitchFamily="34" charset="0"/>
              <a:cs typeface="Arial" panose="020B0604020202020204" pitchFamily="34" charset="0"/>
            </a:endParaRPr>
          </a:p>
          <a:p>
            <a:pPr marL="251460" indent="-251460">
              <a:lnSpc>
                <a:spcPct val="115000"/>
              </a:lnSpc>
              <a:buSzPct val="100000"/>
              <a:buChar char="•"/>
            </a:pPr>
            <a:r>
              <a:rPr lang="en-US">
                <a:solidFill>
                  <a:srgbClr val="111827"/>
                </a:solidFill>
                <a:latin typeface="Arial" panose="020B0604020202020204" pitchFamily="34" charset="0"/>
                <a:ea typeface="Calibri" pitchFamily="34" charset="-122"/>
                <a:cs typeface="Arial" panose="020B0604020202020204" pitchFamily="34" charset="0"/>
              </a:rPr>
              <a:t>Higher productivity as firms draw from the full skills pool (not just half)</a:t>
            </a:r>
            <a:endParaRPr lang="en-US">
              <a:latin typeface="Arial" panose="020B0604020202020204" pitchFamily="34" charset="0"/>
              <a:cs typeface="Arial" panose="020B0604020202020204" pitchFamily="34" charset="0"/>
            </a:endParaRPr>
          </a:p>
          <a:p>
            <a:pPr marL="251460" indent="-251460">
              <a:lnSpc>
                <a:spcPct val="115000"/>
              </a:lnSpc>
              <a:buSzPct val="100000"/>
              <a:buChar char="•"/>
            </a:pPr>
            <a:r>
              <a:rPr lang="en-US">
                <a:solidFill>
                  <a:srgbClr val="111827"/>
                </a:solidFill>
                <a:latin typeface="Arial" panose="020B0604020202020204" pitchFamily="34" charset="0"/>
                <a:ea typeface="Calibri" pitchFamily="34" charset="-122"/>
                <a:cs typeface="Arial" panose="020B0604020202020204" pitchFamily="34" charset="0"/>
              </a:rPr>
              <a:t>More resilient households: women’s earnings reduce poverty and smooth shocks</a:t>
            </a:r>
            <a:endParaRPr lang="en-US">
              <a:latin typeface="Arial" panose="020B0604020202020204" pitchFamily="34" charset="0"/>
              <a:cs typeface="Arial" panose="020B0604020202020204" pitchFamily="34" charset="0"/>
            </a:endParaRPr>
          </a:p>
          <a:p>
            <a:pPr marL="251460" indent="-251460">
              <a:lnSpc>
                <a:spcPct val="115000"/>
              </a:lnSpc>
              <a:buSzPct val="100000"/>
              <a:buChar char="•"/>
            </a:pPr>
            <a:r>
              <a:rPr lang="en-US">
                <a:solidFill>
                  <a:srgbClr val="111827"/>
                </a:solidFill>
                <a:latin typeface="Arial" panose="020B0604020202020204" pitchFamily="34" charset="0"/>
                <a:ea typeface="Calibri" pitchFamily="34" charset="-122"/>
                <a:cs typeface="Arial" panose="020B0604020202020204" pitchFamily="34" charset="0"/>
              </a:rPr>
              <a:t>Demographics: low participation becomes costlier as working-age populations slow or shrink</a:t>
            </a:r>
            <a:endParaRPr lang="en-US">
              <a:latin typeface="Arial" panose="020B0604020202020204" pitchFamily="34" charset="0"/>
              <a:cs typeface="Arial" panose="020B0604020202020204" pitchFamily="34" charset="0"/>
            </a:endParaRPr>
          </a:p>
        </p:txBody>
      </p:sp>
      <p:sp>
        <p:nvSpPr>
          <p:cNvPr id="8" name="Text 15">
            <a:extLst>
              <a:ext uri="{FF2B5EF4-FFF2-40B4-BE49-F238E27FC236}">
                <a16:creationId xmlns:a16="http://schemas.microsoft.com/office/drawing/2014/main" id="{3B78E997-5BA3-739F-C4D8-641BF90429A9}"/>
              </a:ext>
            </a:extLst>
          </p:cNvPr>
          <p:cNvSpPr/>
          <p:nvPr/>
        </p:nvSpPr>
        <p:spPr>
          <a:xfrm>
            <a:off x="3250474" y="5740976"/>
            <a:ext cx="8260080" cy="707872"/>
          </a:xfrm>
          <a:prstGeom prst="rect">
            <a:avLst/>
          </a:prstGeom>
          <a:noFill/>
          <a:ln/>
        </p:spPr>
        <p:txBody>
          <a:bodyPr wrap="square" rtlCol="0" anchor="t"/>
          <a:lstStyle/>
          <a:p>
            <a:pPr marL="0" indent="0">
              <a:buNone/>
            </a:pPr>
            <a:endParaRPr lang="en-US" sz="2000" b="1">
              <a:solidFill>
                <a:schemeClr val="tx2"/>
              </a:solidFill>
              <a:latin typeface="Arial" panose="020B0604020202020204" pitchFamily="34" charset="0"/>
              <a:cs typeface="Arial" panose="020B0604020202020204" pitchFamily="34" charset="0"/>
            </a:endParaRPr>
          </a:p>
        </p:txBody>
      </p:sp>
      <p:sp>
        <p:nvSpPr>
          <p:cNvPr id="9" name="Text 14">
            <a:extLst>
              <a:ext uri="{FF2B5EF4-FFF2-40B4-BE49-F238E27FC236}">
                <a16:creationId xmlns:a16="http://schemas.microsoft.com/office/drawing/2014/main" id="{5B690DCA-7C6E-F3B5-EF73-273C4EA86B37}"/>
              </a:ext>
            </a:extLst>
          </p:cNvPr>
          <p:cNvSpPr/>
          <p:nvPr/>
        </p:nvSpPr>
        <p:spPr>
          <a:xfrm>
            <a:off x="633547" y="5912032"/>
            <a:ext cx="11286309" cy="536816"/>
          </a:xfrm>
          <a:prstGeom prst="rect">
            <a:avLst/>
          </a:prstGeom>
          <a:noFill/>
          <a:ln/>
        </p:spPr>
        <p:txBody>
          <a:bodyPr wrap="square" rtlCol="0" anchor="ctr"/>
          <a:lstStyle/>
          <a:p>
            <a:r>
              <a:rPr lang="en-US" sz="2000" b="1">
                <a:solidFill>
                  <a:schemeClr val="tx2"/>
                </a:solidFill>
                <a:latin typeface="Arial" panose="020B0604020202020204" pitchFamily="34" charset="0"/>
                <a:ea typeface="Calibri" pitchFamily="34" charset="-122"/>
                <a:cs typeface="Arial" panose="020B0604020202020204" pitchFamily="34" charset="0"/>
              </a:rPr>
              <a:t>As policymakers, consider structural policies to address barriers and boost women’s economic participation.</a:t>
            </a:r>
            <a:endParaRPr lang="en-US" sz="2000" b="1">
              <a:solidFill>
                <a:schemeClr val="tx2"/>
              </a:solidFill>
              <a:latin typeface="Arial" panose="020B0604020202020204" pitchFamily="34" charset="0"/>
              <a:cs typeface="Arial" panose="020B0604020202020204" pitchFamily="34" charset="0"/>
            </a:endParaRPr>
          </a:p>
          <a:p>
            <a:pPr marL="0" indent="0">
              <a:buNone/>
            </a:pPr>
            <a:endParaRPr lang="en-US" sz="2000">
              <a:solidFill>
                <a:schemeClr val="tx2"/>
              </a:solidFill>
              <a:latin typeface="Arial" panose="020B0604020202020204" pitchFamily="34" charset="0"/>
              <a:cs typeface="Arial" panose="020B0604020202020204" pitchFamily="34" charset="0"/>
            </a:endParaRPr>
          </a:p>
        </p:txBody>
      </p:sp>
      <p:sp>
        <p:nvSpPr>
          <p:cNvPr id="10" name="Arrow: Right 9">
            <a:extLst>
              <a:ext uri="{FF2B5EF4-FFF2-40B4-BE49-F238E27FC236}">
                <a16:creationId xmlns:a16="http://schemas.microsoft.com/office/drawing/2014/main" id="{444BE6EC-1090-0AB3-C66C-4A8E5BBE6635}"/>
              </a:ext>
            </a:extLst>
          </p:cNvPr>
          <p:cNvSpPr/>
          <p:nvPr/>
        </p:nvSpPr>
        <p:spPr>
          <a:xfrm>
            <a:off x="6032318" y="2454879"/>
            <a:ext cx="1756954" cy="1937656"/>
          </a:xfrm>
          <a:prstGeom prst="rightArrow">
            <a:avLst/>
          </a:prstGeom>
          <a:solidFill>
            <a:srgbClr val="004C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Tree>
    <p:extLst>
      <p:ext uri="{BB962C8B-B14F-4D97-AF65-F5344CB8AC3E}">
        <p14:creationId xmlns:p14="http://schemas.microsoft.com/office/powerpoint/2010/main" val="10200327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00DCED9F-0208-1332-E0FF-ED49DF9A2CB7}"/>
              </a:ext>
            </a:extLst>
          </p:cNvPr>
          <p:cNvSpPr>
            <a:spLocks noGrp="1"/>
          </p:cNvSpPr>
          <p:nvPr>
            <p:ph sz="quarter" idx="11"/>
          </p:nvPr>
        </p:nvSpPr>
        <p:spPr>
          <a:xfrm>
            <a:off x="744538" y="347663"/>
            <a:ext cx="10633075" cy="6269037"/>
          </a:xfrm>
        </p:spPr>
        <p:txBody>
          <a:bodyPr>
            <a:noAutofit/>
          </a:bodyPr>
          <a:lstStyle/>
          <a:p>
            <a:pPr marL="0" indent="0" algn="ctr">
              <a:lnSpc>
                <a:spcPct val="120000"/>
              </a:lnSpc>
              <a:spcBef>
                <a:spcPts val="0"/>
              </a:spcBef>
              <a:spcAft>
                <a:spcPts val="1200"/>
              </a:spcAft>
              <a:buNone/>
              <a:tabLst>
                <a:tab pos="457200" algn="l"/>
                <a:tab pos="457200" algn="l"/>
              </a:tabLst>
            </a:pPr>
            <a:r>
              <a:rPr lang="en-US" sz="2800">
                <a:ea typeface="Microsoft JhengHei" panose="020B0604030504040204" pitchFamily="34" charset="-120"/>
              </a:rPr>
              <a:t>Identifying and Designing Policy Measures</a:t>
            </a:r>
            <a:endParaRPr lang="en-US" sz="2000">
              <a:ea typeface="Microsoft JhengHei" panose="020B0604030504040204" pitchFamily="34" charset="-120"/>
            </a:endParaRPr>
          </a:p>
        </p:txBody>
      </p:sp>
    </p:spTree>
    <p:extLst>
      <p:ext uri="{BB962C8B-B14F-4D97-AF65-F5344CB8AC3E}">
        <p14:creationId xmlns:p14="http://schemas.microsoft.com/office/powerpoint/2010/main" val="106968802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B72D1A-3B16-4101-B8A1-7FB432F94877}"/>
              </a:ext>
            </a:extLst>
          </p:cNvPr>
          <p:cNvSpPr>
            <a:spLocks noGrp="1"/>
          </p:cNvSpPr>
          <p:nvPr>
            <p:ph type="title"/>
          </p:nvPr>
        </p:nvSpPr>
        <p:spPr>
          <a:xfrm>
            <a:off x="1238249" y="120433"/>
            <a:ext cx="9715500" cy="978486"/>
          </a:xfrm>
        </p:spPr>
        <p:txBody>
          <a:bodyPr/>
          <a:lstStyle/>
          <a:p>
            <a:pPr algn="ctr"/>
            <a:r>
              <a:rPr lang="en-US">
                <a:solidFill>
                  <a:schemeClr val="bg1"/>
                </a:solidFill>
              </a:rPr>
              <a:t>Sources of Legal Impediments</a:t>
            </a:r>
          </a:p>
        </p:txBody>
      </p:sp>
      <p:graphicFrame>
        <p:nvGraphicFramePr>
          <p:cNvPr id="4" name="Diagram 3">
            <a:extLst>
              <a:ext uri="{FF2B5EF4-FFF2-40B4-BE49-F238E27FC236}">
                <a16:creationId xmlns:a16="http://schemas.microsoft.com/office/drawing/2014/main" id="{CFEF9C0E-1FBD-46A9-B3A3-E13C62B887BD}"/>
              </a:ext>
            </a:extLst>
          </p:cNvPr>
          <p:cNvGraphicFramePr/>
          <p:nvPr/>
        </p:nvGraphicFramePr>
        <p:xfrm>
          <a:off x="609599" y="1460624"/>
          <a:ext cx="10901680" cy="51329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C0EAA5D2-C3D4-4328-82DE-73AB19755E9E}"/>
              </a:ext>
            </a:extLst>
          </p:cNvPr>
          <p:cNvSpPr txBox="1">
            <a:spLocks/>
          </p:cNvSpPr>
          <p:nvPr/>
        </p:nvSpPr>
        <p:spPr>
          <a:xfrm>
            <a:off x="574039" y="264391"/>
            <a:ext cx="10972800" cy="1118064"/>
          </a:xfrm>
          <a:prstGeom prst="rect">
            <a:avLst/>
          </a:prstGeom>
        </p:spPr>
        <p:txBody>
          <a:bodyPr vert="horz" lIns="0" tIns="0" rIns="0" bIns="0" rtlCol="0" anchor="ctr">
            <a:normAutofit/>
          </a:bodyPr>
          <a:lstStyle>
            <a:lvl1pPr algn="l" defTabSz="914314" rtl="0" eaLnBrk="1" latinLnBrk="0" hangingPunct="1">
              <a:lnSpc>
                <a:spcPct val="90000"/>
              </a:lnSpc>
              <a:spcBef>
                <a:spcPct val="0"/>
              </a:spcBef>
              <a:buNone/>
              <a:defRPr lang="en-US" sz="2800" b="1" i="0" kern="1200" dirty="0">
                <a:solidFill>
                  <a:schemeClr val="tx2"/>
                </a:solidFill>
                <a:latin typeface="Arial Black" charset="0"/>
                <a:ea typeface="Arial Black" charset="0"/>
                <a:cs typeface="Arial Black" charset="0"/>
              </a:defRPr>
            </a:lvl1pPr>
          </a:lstStyle>
          <a:p>
            <a:r>
              <a:rPr lang="en-US">
                <a:latin typeface="Arial Black" panose="020B0A04020102020204" pitchFamily="34" charset="0"/>
                <a:cs typeface="Calibri" panose="020F0502020204030204" pitchFamily="34" charset="0"/>
              </a:rPr>
              <a:t>Selected Policies for Women’s Economic Empowerment </a:t>
            </a:r>
          </a:p>
        </p:txBody>
      </p:sp>
    </p:spTree>
    <p:extLst>
      <p:ext uri="{BB962C8B-B14F-4D97-AF65-F5344CB8AC3E}">
        <p14:creationId xmlns:p14="http://schemas.microsoft.com/office/powerpoint/2010/main" val="387616398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243D-24C1-439D-25F2-CE48C5E8E8BB}"/>
            </a:ext>
          </a:extLst>
        </p:cNvPr>
        <p:cNvGrpSpPr/>
        <p:nvPr/>
      </p:nvGrpSpPr>
      <p:grpSpPr>
        <a:xfrm>
          <a:off x="0" y="0"/>
          <a:ext cx="0" cy="0"/>
          <a:chOff x="0" y="0"/>
          <a:chExt cx="0" cy="0"/>
        </a:xfrm>
      </p:grpSpPr>
      <p:sp>
        <p:nvSpPr>
          <p:cNvPr id="3" name="Text Placeholder 4">
            <a:extLst>
              <a:ext uri="{FF2B5EF4-FFF2-40B4-BE49-F238E27FC236}">
                <a16:creationId xmlns:a16="http://schemas.microsoft.com/office/drawing/2014/main" id="{EEE3AB2C-8809-31BF-1A5D-9BAAA7A415D5}"/>
              </a:ext>
            </a:extLst>
          </p:cNvPr>
          <p:cNvSpPr>
            <a:spLocks noGrp="1" noRot="1" noMove="1" noResize="1" noEditPoints="1" noAdjustHandles="1" noChangeArrowheads="1" noChangeShapeType="1"/>
          </p:cNvSpPr>
          <p:nvPr>
            <p:ph sz="quarter" idx="11"/>
          </p:nvPr>
        </p:nvSpPr>
        <p:spPr>
          <a:xfrm>
            <a:off x="744538" y="347663"/>
            <a:ext cx="10633075" cy="6269037"/>
          </a:xfrm>
        </p:spPr>
        <p:txBody>
          <a:bodyPr>
            <a:noAutofit/>
          </a:bodyPr>
          <a:lstStyle/>
          <a:p>
            <a:pPr marL="0" indent="0" algn="ctr">
              <a:lnSpc>
                <a:spcPct val="120000"/>
              </a:lnSpc>
              <a:spcBef>
                <a:spcPts val="0"/>
              </a:spcBef>
              <a:spcAft>
                <a:spcPts val="1200"/>
              </a:spcAft>
              <a:buNone/>
              <a:tabLst>
                <a:tab pos="457200" algn="l"/>
                <a:tab pos="457200" algn="l"/>
              </a:tabLst>
            </a:pPr>
            <a:r>
              <a:rPr lang="en-US" sz="2800">
                <a:ea typeface="Microsoft JhengHei" panose="020B0604030504040204" pitchFamily="34" charset="-120"/>
              </a:rPr>
              <a:t>Legal Reforms</a:t>
            </a:r>
            <a:endParaRPr lang="en-US" sz="2000">
              <a:ea typeface="Microsoft JhengHei" panose="020B0604030504040204" pitchFamily="34" charset="-120"/>
            </a:endParaRPr>
          </a:p>
        </p:txBody>
      </p:sp>
    </p:spTree>
    <p:extLst>
      <p:ext uri="{BB962C8B-B14F-4D97-AF65-F5344CB8AC3E}">
        <p14:creationId xmlns:p14="http://schemas.microsoft.com/office/powerpoint/2010/main" val="29206443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26810-A07F-41C1-BB75-B0CF1A5F309B}"/>
              </a:ext>
            </a:extLst>
          </p:cNvPr>
          <p:cNvSpPr>
            <a:spLocks noGrp="1"/>
          </p:cNvSpPr>
          <p:nvPr>
            <p:ph type="title"/>
          </p:nvPr>
        </p:nvSpPr>
        <p:spPr>
          <a:xfrm>
            <a:off x="285390" y="276886"/>
            <a:ext cx="10029523" cy="615553"/>
          </a:xfrm>
        </p:spPr>
        <p:txBody>
          <a:bodyPr>
            <a:normAutofit/>
          </a:bodyPr>
          <a:lstStyle/>
          <a:p>
            <a:r>
              <a:rPr lang="en-US" sz="2800" b="1">
                <a:solidFill>
                  <a:schemeClr val="tx2"/>
                </a:solidFill>
                <a:latin typeface="Arial Black" panose="020B0A04020102020204" pitchFamily="34" charset="0"/>
                <a:cs typeface="Calibri" panose="020F0502020204030204" pitchFamily="34" charset="0"/>
              </a:rPr>
              <a:t>Macroeconomic gains from legal reforms</a:t>
            </a:r>
          </a:p>
        </p:txBody>
      </p:sp>
      <p:graphicFrame>
        <p:nvGraphicFramePr>
          <p:cNvPr id="5" name="Diagram 4">
            <a:extLst>
              <a:ext uri="{FF2B5EF4-FFF2-40B4-BE49-F238E27FC236}">
                <a16:creationId xmlns:a16="http://schemas.microsoft.com/office/drawing/2014/main" id="{857A3E92-AA82-F552-CE7A-CD675BE3593F}"/>
              </a:ext>
            </a:extLst>
          </p:cNvPr>
          <p:cNvGraphicFramePr/>
          <p:nvPr>
            <p:extLst>
              <p:ext uri="{D42A27DB-BD31-4B8C-83A1-F6EECF244321}">
                <p14:modId xmlns:p14="http://schemas.microsoft.com/office/powerpoint/2010/main" val="3699216167"/>
              </p:ext>
            </p:extLst>
          </p:nvPr>
        </p:nvGraphicFramePr>
        <p:xfrm>
          <a:off x="1081238" y="1175657"/>
          <a:ext cx="10750878" cy="4960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98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4963-2506-FE08-6664-8E44F5552216}"/>
              </a:ext>
            </a:extLst>
          </p:cNvPr>
          <p:cNvSpPr>
            <a:spLocks noGrp="1"/>
          </p:cNvSpPr>
          <p:nvPr>
            <p:ph type="title"/>
          </p:nvPr>
        </p:nvSpPr>
        <p:spPr>
          <a:xfrm>
            <a:off x="180307" y="181482"/>
            <a:ext cx="12011693" cy="978486"/>
          </a:xfrm>
        </p:spPr>
        <p:txBody>
          <a:bodyPr/>
          <a:lstStyle/>
          <a:p>
            <a:r>
              <a:rPr lang="en-US"/>
              <a:t>IMF research points to increases in FLFP after legal reforms.</a:t>
            </a:r>
          </a:p>
        </p:txBody>
      </p:sp>
      <p:sp>
        <p:nvSpPr>
          <p:cNvPr id="7" name="TextBox 6">
            <a:extLst>
              <a:ext uri="{FF2B5EF4-FFF2-40B4-BE49-F238E27FC236}">
                <a16:creationId xmlns:a16="http://schemas.microsoft.com/office/drawing/2014/main" id="{1E5837B9-7BD8-46C0-7D88-BB7B70CE3B5C}"/>
              </a:ext>
            </a:extLst>
          </p:cNvPr>
          <p:cNvSpPr txBox="1"/>
          <p:nvPr/>
        </p:nvSpPr>
        <p:spPr>
          <a:xfrm>
            <a:off x="544285" y="6187275"/>
            <a:ext cx="8469085" cy="369332"/>
          </a:xfrm>
          <a:prstGeom prst="rect">
            <a:avLst/>
          </a:prstGeom>
          <a:noFill/>
        </p:spPr>
        <p:txBody>
          <a:bodyPr wrap="square">
            <a:spAutoFit/>
          </a:bodyPr>
          <a:lstStyle/>
          <a:p>
            <a:r>
              <a:rPr lang="en-US">
                <a:hlinkClick r:id="rId2"/>
              </a:rPr>
              <a:t>Fair Play: More Equal Laws Boost Female Labor Force Participation (imf.org)</a:t>
            </a:r>
            <a:endParaRPr lang="en-US"/>
          </a:p>
        </p:txBody>
      </p:sp>
      <p:pic>
        <p:nvPicPr>
          <p:cNvPr id="5" name="Picture 4">
            <a:extLst>
              <a:ext uri="{FF2B5EF4-FFF2-40B4-BE49-F238E27FC236}">
                <a16:creationId xmlns:a16="http://schemas.microsoft.com/office/drawing/2014/main" id="{63D79A0E-58EC-ACCB-B3D6-FE43C96AA722}"/>
              </a:ext>
            </a:extLst>
          </p:cNvPr>
          <p:cNvPicPr>
            <a:picLocks noChangeAspect="1"/>
          </p:cNvPicPr>
          <p:nvPr/>
        </p:nvPicPr>
        <p:blipFill>
          <a:blip r:embed="rId3"/>
          <a:stretch>
            <a:fillRect/>
          </a:stretch>
        </p:blipFill>
        <p:spPr>
          <a:xfrm>
            <a:off x="330431" y="1747364"/>
            <a:ext cx="11744056" cy="3856018"/>
          </a:xfrm>
          <a:prstGeom prst="rect">
            <a:avLst/>
          </a:prstGeom>
        </p:spPr>
      </p:pic>
    </p:spTree>
    <p:extLst>
      <p:ext uri="{BB962C8B-B14F-4D97-AF65-F5344CB8AC3E}">
        <p14:creationId xmlns:p14="http://schemas.microsoft.com/office/powerpoint/2010/main" val="110029795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3FDB-23D7-FDC5-4770-728D59AE6122}"/>
              </a:ext>
            </a:extLst>
          </p:cNvPr>
          <p:cNvSpPr>
            <a:spLocks noGrp="1"/>
          </p:cNvSpPr>
          <p:nvPr>
            <p:ph type="title"/>
          </p:nvPr>
        </p:nvSpPr>
        <p:spPr>
          <a:xfrm>
            <a:off x="309488" y="257010"/>
            <a:ext cx="11593286" cy="1172575"/>
          </a:xfrm>
        </p:spPr>
        <p:txBody>
          <a:bodyPr>
            <a:normAutofit/>
          </a:bodyPr>
          <a:lstStyle/>
          <a:p>
            <a:r>
              <a:rPr lang="en-US">
                <a:effectLst/>
              </a:rPr>
              <a:t>FLFP is higher in countries with </a:t>
            </a:r>
            <a:r>
              <a:rPr lang="en-US"/>
              <a:t>supportive legal reforms. </a:t>
            </a:r>
            <a:br>
              <a:rPr lang="en-US"/>
            </a:br>
            <a:br>
              <a:rPr lang="en-US" sz="2000">
                <a:effectLst/>
              </a:rPr>
            </a:br>
            <a:endParaRPr lang="en-US"/>
          </a:p>
        </p:txBody>
      </p:sp>
      <p:sp>
        <p:nvSpPr>
          <p:cNvPr id="7" name="TextBox 6">
            <a:extLst>
              <a:ext uri="{FF2B5EF4-FFF2-40B4-BE49-F238E27FC236}">
                <a16:creationId xmlns:a16="http://schemas.microsoft.com/office/drawing/2014/main" id="{FF87311B-201E-7341-8CA9-1DB6BD2AC78A}"/>
              </a:ext>
            </a:extLst>
          </p:cNvPr>
          <p:cNvSpPr txBox="1"/>
          <p:nvPr/>
        </p:nvSpPr>
        <p:spPr>
          <a:xfrm>
            <a:off x="309488" y="6161827"/>
            <a:ext cx="12171737" cy="646331"/>
          </a:xfrm>
          <a:prstGeom prst="rect">
            <a:avLst/>
          </a:prstGeom>
          <a:noFill/>
        </p:spPr>
        <p:txBody>
          <a:bodyPr wrap="square">
            <a:spAutoFit/>
          </a:bodyPr>
          <a:lstStyle/>
          <a:p>
            <a:r>
              <a:rPr lang="en-US">
                <a:hlinkClick r:id="rId2"/>
              </a:rPr>
              <a:t>Sources: Gender equality: Legal progress towards gender equality (worldbank.org)</a:t>
            </a:r>
            <a:r>
              <a:rPr lang="en-US"/>
              <a:t> and </a:t>
            </a:r>
            <a:r>
              <a:rPr lang="en-US">
                <a:hlinkClick r:id="rId3"/>
              </a:rPr>
              <a:t>Women, Business and the Law 2024</a:t>
            </a:r>
            <a:endParaRPr lang="en-US"/>
          </a:p>
          <a:p>
            <a:r>
              <a:rPr lang="en-US"/>
              <a:t> </a:t>
            </a:r>
          </a:p>
        </p:txBody>
      </p:sp>
      <p:pic>
        <p:nvPicPr>
          <p:cNvPr id="4" name="Picture 3">
            <a:extLst>
              <a:ext uri="{FF2B5EF4-FFF2-40B4-BE49-F238E27FC236}">
                <a16:creationId xmlns:a16="http://schemas.microsoft.com/office/drawing/2014/main" id="{D0286A84-A709-E425-93A9-E846BD4D5B9B}"/>
              </a:ext>
            </a:extLst>
          </p:cNvPr>
          <p:cNvPicPr>
            <a:picLocks noChangeAspect="1"/>
          </p:cNvPicPr>
          <p:nvPr/>
        </p:nvPicPr>
        <p:blipFill>
          <a:blip r:embed="rId4"/>
          <a:stretch>
            <a:fillRect/>
          </a:stretch>
        </p:blipFill>
        <p:spPr>
          <a:xfrm>
            <a:off x="309488" y="1153101"/>
            <a:ext cx="5794967" cy="4037437"/>
          </a:xfrm>
          <a:prstGeom prst="rect">
            <a:avLst/>
          </a:prstGeom>
        </p:spPr>
      </p:pic>
      <p:pic>
        <p:nvPicPr>
          <p:cNvPr id="3" name="Picture 2">
            <a:extLst>
              <a:ext uri="{FF2B5EF4-FFF2-40B4-BE49-F238E27FC236}">
                <a16:creationId xmlns:a16="http://schemas.microsoft.com/office/drawing/2014/main" id="{259E2CE9-633B-5ED2-88CE-1616092F7F80}"/>
              </a:ext>
            </a:extLst>
          </p:cNvPr>
          <p:cNvPicPr>
            <a:picLocks noChangeAspect="1"/>
          </p:cNvPicPr>
          <p:nvPr/>
        </p:nvPicPr>
        <p:blipFill>
          <a:blip r:embed="rId5"/>
          <a:stretch>
            <a:fillRect/>
          </a:stretch>
        </p:blipFill>
        <p:spPr>
          <a:xfrm>
            <a:off x="5895905" y="1429585"/>
            <a:ext cx="6134285" cy="3484467"/>
          </a:xfrm>
          <a:prstGeom prst="rect">
            <a:avLst/>
          </a:prstGeom>
        </p:spPr>
      </p:pic>
      <p:sp>
        <p:nvSpPr>
          <p:cNvPr id="5" name="TextBox 4">
            <a:extLst>
              <a:ext uri="{FF2B5EF4-FFF2-40B4-BE49-F238E27FC236}">
                <a16:creationId xmlns:a16="http://schemas.microsoft.com/office/drawing/2014/main" id="{FC641386-8AF0-0268-AC3F-128776C96145}"/>
              </a:ext>
            </a:extLst>
          </p:cNvPr>
          <p:cNvSpPr txBox="1"/>
          <p:nvPr/>
        </p:nvSpPr>
        <p:spPr>
          <a:xfrm>
            <a:off x="6946660" y="5142420"/>
            <a:ext cx="2494796" cy="923330"/>
          </a:xfrm>
          <a:prstGeom prst="rect">
            <a:avLst/>
          </a:prstGeom>
          <a:noFill/>
        </p:spPr>
        <p:txBody>
          <a:bodyPr wrap="square" rtlCol="0">
            <a:spAutoFit/>
          </a:bodyPr>
          <a:lstStyle/>
          <a:p>
            <a:r>
              <a:rPr lang="en-US" b="1">
                <a:solidFill>
                  <a:schemeClr val="tx2"/>
                </a:solidFill>
                <a:latin typeface="Arial" panose="020B0604020202020204" pitchFamily="34" charset="0"/>
                <a:cs typeface="Arial" panose="020B0604020202020204" pitchFamily="34" charset="0"/>
              </a:rPr>
              <a:t>Helpful Resources: </a:t>
            </a:r>
            <a:r>
              <a:rPr lang="en-US">
                <a:latin typeface="Arial" panose="020B0604020202020204" pitchFamily="34" charset="0"/>
                <a:cs typeface="Arial" panose="020B0604020202020204" pitchFamily="34" charset="0"/>
              </a:rPr>
              <a:t> </a:t>
            </a:r>
          </a:p>
          <a:p>
            <a:r>
              <a:rPr lang="en-US">
                <a:latin typeface="Arial" panose="020B0604020202020204" pitchFamily="34" charset="0"/>
                <a:cs typeface="Arial" panose="020B0604020202020204" pitchFamily="34" charset="0"/>
                <a:hlinkClick r:id="rId6"/>
              </a:rPr>
              <a:t>Snapshots V2</a:t>
            </a:r>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hlinkClick r:id="rId7"/>
              </a:rPr>
              <a:t>Reforms</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49124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B72D1A-3B16-4101-B8A1-7FB432F94877}"/>
              </a:ext>
            </a:extLst>
          </p:cNvPr>
          <p:cNvSpPr>
            <a:spLocks noGrp="1"/>
          </p:cNvSpPr>
          <p:nvPr>
            <p:ph type="title"/>
          </p:nvPr>
        </p:nvSpPr>
        <p:spPr>
          <a:xfrm>
            <a:off x="334866" y="340770"/>
            <a:ext cx="9715500" cy="978486"/>
          </a:xfrm>
        </p:spPr>
        <p:txBody>
          <a:bodyPr/>
          <a:lstStyle/>
          <a:p>
            <a:r>
              <a:rPr lang="en-US"/>
              <a:t>Sources of Legal Impediments</a:t>
            </a:r>
          </a:p>
        </p:txBody>
      </p:sp>
      <p:graphicFrame>
        <p:nvGraphicFramePr>
          <p:cNvPr id="4" name="Diagram 3">
            <a:extLst>
              <a:ext uri="{FF2B5EF4-FFF2-40B4-BE49-F238E27FC236}">
                <a16:creationId xmlns:a16="http://schemas.microsoft.com/office/drawing/2014/main" id="{CFEF9C0E-1FBD-46A9-B3A3-E13C62B887BD}"/>
              </a:ext>
            </a:extLst>
          </p:cNvPr>
          <p:cNvGraphicFramePr/>
          <p:nvPr/>
        </p:nvGraphicFramePr>
        <p:xfrm>
          <a:off x="579534" y="1098920"/>
          <a:ext cx="11104465" cy="5318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231409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9CA5-E32C-4D17-0CAE-31F70AD7B2DD}"/>
              </a:ext>
            </a:extLst>
          </p:cNvPr>
          <p:cNvSpPr>
            <a:spLocks noGrp="1"/>
          </p:cNvSpPr>
          <p:nvPr>
            <p:ph type="title"/>
          </p:nvPr>
        </p:nvSpPr>
        <p:spPr>
          <a:xfrm>
            <a:off x="407624" y="143198"/>
            <a:ext cx="11180865" cy="978486"/>
          </a:xfrm>
        </p:spPr>
        <p:txBody>
          <a:bodyPr>
            <a:noAutofit/>
          </a:bodyPr>
          <a:lstStyle/>
          <a:p>
            <a:r>
              <a:rPr lang="en-US">
                <a:latin typeface="Arial Black" charset="0"/>
              </a:rPr>
              <a:t>Select IMF country reports with a focus on legal barriers and women’s economic participation; WB resources</a:t>
            </a:r>
          </a:p>
        </p:txBody>
      </p:sp>
      <p:sp>
        <p:nvSpPr>
          <p:cNvPr id="6" name="TextBox 5">
            <a:hlinkClick r:id="rId3"/>
            <a:extLst>
              <a:ext uri="{FF2B5EF4-FFF2-40B4-BE49-F238E27FC236}">
                <a16:creationId xmlns:a16="http://schemas.microsoft.com/office/drawing/2014/main" id="{B531F237-CEF6-6C6B-5A11-34CB61ABB144}"/>
              </a:ext>
            </a:extLst>
          </p:cNvPr>
          <p:cNvSpPr txBox="1"/>
          <p:nvPr/>
        </p:nvSpPr>
        <p:spPr>
          <a:xfrm>
            <a:off x="407624" y="1318679"/>
            <a:ext cx="7250476" cy="5030801"/>
          </a:xfrm>
          <a:prstGeom prst="rect">
            <a:avLst/>
          </a:prstGeom>
          <a:noFill/>
        </p:spPr>
        <p:txBody>
          <a:bodyPr wrap="square">
            <a:spAutoFit/>
          </a:bodyPr>
          <a:lstStyle/>
          <a:p>
            <a:pPr>
              <a:lnSpc>
                <a:spcPct val="112000"/>
              </a:lnSpc>
            </a:pPr>
            <a:r>
              <a:rPr lang="en-US" b="1">
                <a:latin typeface="Arial" panose="020B0604020202020204" pitchFamily="34" charset="0"/>
                <a:cs typeface="Arial" panose="020B0604020202020204" pitchFamily="34" charset="0"/>
                <a:hlinkClick r:id="rId4"/>
              </a:rPr>
              <a:t>Kenya</a:t>
            </a:r>
            <a:r>
              <a:rPr lang="en-US" b="1">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Enforcement of labor laws and anti‑discrimination provisions to improve women’s access to formal employment.</a:t>
            </a:r>
          </a:p>
          <a:p>
            <a:pPr>
              <a:lnSpc>
                <a:spcPct val="112000"/>
              </a:lnSpc>
            </a:pPr>
            <a:endParaRPr lang="en-US">
              <a:latin typeface="Arial" panose="020B0604020202020204" pitchFamily="34" charset="0"/>
              <a:cs typeface="Arial" panose="020B0604020202020204" pitchFamily="34" charset="0"/>
            </a:endParaRPr>
          </a:p>
          <a:p>
            <a:pPr>
              <a:lnSpc>
                <a:spcPct val="112000"/>
              </a:lnSpc>
            </a:pPr>
            <a:r>
              <a:rPr lang="en-US" b="1">
                <a:latin typeface="Arial" panose="020B0604020202020204" pitchFamily="34" charset="0"/>
                <a:cs typeface="Arial" panose="020B0604020202020204" pitchFamily="34" charset="0"/>
                <a:hlinkClick r:id="rId5"/>
              </a:rPr>
              <a:t>Rwanda</a:t>
            </a:r>
            <a:r>
              <a:rPr lang="en-US">
                <a:latin typeface="Arial" panose="020B0604020202020204" pitchFamily="34" charset="0"/>
                <a:cs typeface="Arial" panose="020B0604020202020204" pitchFamily="34" charset="0"/>
              </a:rPr>
              <a:t>: Legal and institutional frameworks, including gender‑responsive budgeting mandates, supporting women’s economic participation.</a:t>
            </a:r>
          </a:p>
          <a:p>
            <a:pPr>
              <a:lnSpc>
                <a:spcPct val="112000"/>
              </a:lnSpc>
            </a:pPr>
            <a:endParaRPr lang="en-US">
              <a:latin typeface="Arial" panose="020B0604020202020204" pitchFamily="34" charset="0"/>
              <a:cs typeface="Arial" panose="020B0604020202020204" pitchFamily="34" charset="0"/>
            </a:endParaRPr>
          </a:p>
          <a:p>
            <a:pPr>
              <a:lnSpc>
                <a:spcPct val="112000"/>
              </a:lnSpc>
            </a:pPr>
            <a:r>
              <a:rPr lang="en-US" b="1">
                <a:latin typeface="Arial" panose="020B0604020202020204" pitchFamily="34" charset="0"/>
                <a:cs typeface="Arial" panose="020B0604020202020204" pitchFamily="34" charset="0"/>
                <a:hlinkClick r:id="rId6"/>
              </a:rPr>
              <a:t>Tanzania</a:t>
            </a:r>
            <a:r>
              <a:rPr lang="en-US">
                <a:latin typeface="Arial" panose="020B0604020202020204" pitchFamily="34" charset="0"/>
                <a:cs typeface="Arial" panose="020B0604020202020204" pitchFamily="34" charset="0"/>
              </a:rPr>
              <a:t>: Legal constraints affecting land ownership, formal employment, and productivity for women.</a:t>
            </a:r>
          </a:p>
          <a:p>
            <a:pPr>
              <a:lnSpc>
                <a:spcPct val="112000"/>
              </a:lnSpc>
            </a:pPr>
            <a:endParaRPr lang="en-US">
              <a:latin typeface="Arial" panose="020B0604020202020204" pitchFamily="34" charset="0"/>
              <a:cs typeface="Arial" panose="020B0604020202020204" pitchFamily="34" charset="0"/>
            </a:endParaRPr>
          </a:p>
          <a:p>
            <a:pPr>
              <a:lnSpc>
                <a:spcPct val="112000"/>
              </a:lnSpc>
            </a:pPr>
            <a:r>
              <a:rPr lang="en-US" b="1">
                <a:latin typeface="Arial" panose="020B0604020202020204" pitchFamily="34" charset="0"/>
                <a:cs typeface="Arial" panose="020B0604020202020204" pitchFamily="34" charset="0"/>
                <a:hlinkClick r:id="rId7"/>
              </a:rPr>
              <a:t>Uganda</a:t>
            </a:r>
            <a:r>
              <a:rPr lang="en-US">
                <a:latin typeface="Arial" panose="020B0604020202020204" pitchFamily="34" charset="0"/>
                <a:cs typeface="Arial" panose="020B0604020202020204" pitchFamily="34" charset="0"/>
              </a:rPr>
              <a:t>: Legal and regulatory barriers to business formalization, property rights, and access to finance for women‑owned firms.</a:t>
            </a:r>
          </a:p>
          <a:p>
            <a:pPr>
              <a:lnSpc>
                <a:spcPct val="112000"/>
              </a:lnSpc>
            </a:pPr>
            <a:endParaRPr lang="en-US">
              <a:latin typeface="Arial" panose="020B0604020202020204" pitchFamily="34" charset="0"/>
              <a:cs typeface="Arial" panose="020B0604020202020204" pitchFamily="34" charset="0"/>
            </a:endParaRPr>
          </a:p>
          <a:p>
            <a:pPr>
              <a:lnSpc>
                <a:spcPct val="112000"/>
              </a:lnSpc>
            </a:pPr>
            <a:r>
              <a:rPr lang="en-US" b="1">
                <a:latin typeface="Arial" panose="020B0604020202020204" pitchFamily="34" charset="0"/>
                <a:ea typeface="Calibri" pitchFamily="34" charset="-122"/>
                <a:cs typeface="Arial" panose="020B0604020202020204" pitchFamily="34" charset="0"/>
              </a:rPr>
              <a:t>Explore data on legal barriers:  </a:t>
            </a:r>
            <a:r>
              <a:rPr lang="en-US" b="1">
                <a:solidFill>
                  <a:srgbClr val="4B5563"/>
                </a:solidFill>
                <a:latin typeface="Arial" panose="020B0604020202020204" pitchFamily="34" charset="0"/>
                <a:ea typeface="Calibri" pitchFamily="34" charset="-122"/>
                <a:cs typeface="Arial" panose="020B0604020202020204" pitchFamily="34" charset="0"/>
                <a:hlinkClick r:id="rId8"/>
              </a:rPr>
              <a:t>World Bank’s Women, Business, and the Law Report</a:t>
            </a:r>
            <a:endParaRPr lang="en-US" b="1">
              <a:solidFill>
                <a:srgbClr val="4B5563"/>
              </a:solidFill>
              <a:latin typeface="Arial" panose="020B0604020202020204" pitchFamily="34" charset="0"/>
              <a:ea typeface="Calibri" pitchFamily="34" charset="-122"/>
              <a:cs typeface="Arial" panose="020B0604020202020204" pitchFamily="34" charset="0"/>
            </a:endParaRPr>
          </a:p>
          <a:p>
            <a:pPr>
              <a:lnSpc>
                <a:spcPct val="112000"/>
              </a:lnSpc>
            </a:pPr>
            <a:r>
              <a:rPr lang="en-US" b="1">
                <a:latin typeface="Arial" panose="020B0604020202020204" pitchFamily="34" charset="0"/>
                <a:ea typeface="Calibri" pitchFamily="34" charset="-122"/>
                <a:cs typeface="Arial" panose="020B0604020202020204" pitchFamily="34" charset="0"/>
              </a:rPr>
              <a:t>Country snapshots</a:t>
            </a:r>
            <a:r>
              <a:rPr lang="en-US" b="1">
                <a:solidFill>
                  <a:srgbClr val="4B5563"/>
                </a:solidFill>
                <a:latin typeface="Arial" panose="020B0604020202020204" pitchFamily="34" charset="0"/>
                <a:ea typeface="Calibri" pitchFamily="34" charset="-122"/>
                <a:cs typeface="Arial" panose="020B0604020202020204" pitchFamily="34" charset="0"/>
              </a:rPr>
              <a:t>: </a:t>
            </a:r>
            <a:r>
              <a:rPr lang="en-US" b="1">
                <a:latin typeface="Arial" panose="020B0604020202020204" pitchFamily="34" charset="0"/>
                <a:cs typeface="Arial" panose="020B0604020202020204" pitchFamily="34" charset="0"/>
                <a:hlinkClick r:id="rId9"/>
              </a:rPr>
              <a:t>Snapshots V2</a:t>
            </a:r>
            <a:endParaRPr lang="en-US" sz="1800" b="1">
              <a:solidFill>
                <a:srgbClr val="4B5563"/>
              </a:solidFill>
              <a:latin typeface="Arial" panose="020B0604020202020204" pitchFamily="34" charset="0"/>
              <a:ea typeface="Calibri" pitchFamily="34" charset="-122"/>
              <a:cs typeface="Arial" panose="020B0604020202020204" pitchFamily="34" charset="0"/>
            </a:endParaRPr>
          </a:p>
        </p:txBody>
      </p:sp>
      <p:pic>
        <p:nvPicPr>
          <p:cNvPr id="8" name="Picture 7">
            <a:extLst>
              <a:ext uri="{FF2B5EF4-FFF2-40B4-BE49-F238E27FC236}">
                <a16:creationId xmlns:a16="http://schemas.microsoft.com/office/drawing/2014/main" id="{D54CB96C-FD7F-12E0-04B2-421CA742DCC4}"/>
              </a:ext>
            </a:extLst>
          </p:cNvPr>
          <p:cNvPicPr>
            <a:picLocks noChangeAspect="1"/>
          </p:cNvPicPr>
          <p:nvPr/>
        </p:nvPicPr>
        <p:blipFill>
          <a:blip r:embed="rId10"/>
          <a:stretch>
            <a:fillRect/>
          </a:stretch>
        </p:blipFill>
        <p:spPr>
          <a:xfrm>
            <a:off x="7658100" y="2212354"/>
            <a:ext cx="3968954" cy="3587934"/>
          </a:xfrm>
          <a:prstGeom prst="rect">
            <a:avLst/>
          </a:prstGeom>
        </p:spPr>
      </p:pic>
      <p:sp>
        <p:nvSpPr>
          <p:cNvPr id="9" name="TextBox 8">
            <a:extLst>
              <a:ext uri="{FF2B5EF4-FFF2-40B4-BE49-F238E27FC236}">
                <a16:creationId xmlns:a16="http://schemas.microsoft.com/office/drawing/2014/main" id="{5C1D4FF4-CB8D-8FDE-4CD7-8BA4CD2BDA61}"/>
              </a:ext>
            </a:extLst>
          </p:cNvPr>
          <p:cNvSpPr txBox="1"/>
          <p:nvPr/>
        </p:nvSpPr>
        <p:spPr>
          <a:xfrm>
            <a:off x="7658100" y="1646027"/>
            <a:ext cx="4397577" cy="369332"/>
          </a:xfrm>
          <a:prstGeom prst="rect">
            <a:avLst/>
          </a:prstGeom>
          <a:noFill/>
        </p:spPr>
        <p:txBody>
          <a:bodyPr wrap="square" rtlCol="0">
            <a:spAutoFit/>
          </a:bodyPr>
          <a:lstStyle/>
          <a:p>
            <a:r>
              <a:rPr lang="en-US" b="1">
                <a:latin typeface="Arial" panose="020B0604020202020204" pitchFamily="34" charset="0"/>
                <a:cs typeface="Arial" panose="020B0604020202020204" pitchFamily="34" charset="0"/>
                <a:hlinkClick r:id="rId11"/>
              </a:rPr>
              <a:t>WBL 2024</a:t>
            </a:r>
            <a:r>
              <a:rPr lang="en-US" b="1">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Top Performers by Region</a:t>
            </a:r>
          </a:p>
        </p:txBody>
      </p:sp>
    </p:spTree>
    <p:extLst>
      <p:ext uri="{BB962C8B-B14F-4D97-AF65-F5344CB8AC3E}">
        <p14:creationId xmlns:p14="http://schemas.microsoft.com/office/powerpoint/2010/main" val="299010950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66491-1D2D-2EA9-3495-F8A47A1FDE0A}"/>
            </a:ext>
          </a:extLst>
        </p:cNvPr>
        <p:cNvGrpSpPr/>
        <p:nvPr/>
      </p:nvGrpSpPr>
      <p:grpSpPr>
        <a:xfrm>
          <a:off x="0" y="0"/>
          <a:ext cx="0" cy="0"/>
          <a:chOff x="0" y="0"/>
          <a:chExt cx="0" cy="0"/>
        </a:xfrm>
      </p:grpSpPr>
      <p:sp>
        <p:nvSpPr>
          <p:cNvPr id="3" name="Text Placeholder 4">
            <a:extLst>
              <a:ext uri="{FF2B5EF4-FFF2-40B4-BE49-F238E27FC236}">
                <a16:creationId xmlns:a16="http://schemas.microsoft.com/office/drawing/2014/main" id="{8986B2EF-3A47-81E6-F133-65C3BAB04D76}"/>
              </a:ext>
            </a:extLst>
          </p:cNvPr>
          <p:cNvSpPr>
            <a:spLocks noGrp="1" noRot="1" noMove="1" noResize="1" noEditPoints="1" noAdjustHandles="1" noChangeArrowheads="1" noChangeShapeType="1"/>
          </p:cNvSpPr>
          <p:nvPr>
            <p:ph sz="quarter" idx="11"/>
          </p:nvPr>
        </p:nvSpPr>
        <p:spPr>
          <a:xfrm>
            <a:off x="744538" y="347663"/>
            <a:ext cx="10633075" cy="6269037"/>
          </a:xfrm>
        </p:spPr>
        <p:txBody>
          <a:bodyPr>
            <a:noAutofit/>
          </a:bodyPr>
          <a:lstStyle/>
          <a:p>
            <a:pPr marL="0" indent="0" algn="ctr">
              <a:lnSpc>
                <a:spcPct val="120000"/>
              </a:lnSpc>
              <a:spcBef>
                <a:spcPts val="0"/>
              </a:spcBef>
              <a:spcAft>
                <a:spcPts val="1200"/>
              </a:spcAft>
              <a:buNone/>
              <a:tabLst>
                <a:tab pos="457200" algn="l"/>
                <a:tab pos="457200" algn="l"/>
              </a:tabLst>
            </a:pPr>
            <a:r>
              <a:rPr lang="en-US" sz="3200">
                <a:ea typeface="Microsoft JhengHei" panose="020B0604030504040204" pitchFamily="34" charset="-120"/>
              </a:rPr>
              <a:t>Fiscal Policies</a:t>
            </a:r>
            <a:endParaRPr lang="en-US" sz="2400">
              <a:ea typeface="Microsoft JhengHei" panose="020B0604030504040204" pitchFamily="34" charset="-120"/>
            </a:endParaRPr>
          </a:p>
        </p:txBody>
      </p:sp>
    </p:spTree>
    <p:extLst>
      <p:ext uri="{BB962C8B-B14F-4D97-AF65-F5344CB8AC3E}">
        <p14:creationId xmlns:p14="http://schemas.microsoft.com/office/powerpoint/2010/main" val="106886219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ACDBA-66A8-43CF-84BF-90A848BD0C37}"/>
              </a:ext>
            </a:extLst>
          </p:cNvPr>
          <p:cNvSpPr>
            <a:spLocks noGrp="1"/>
          </p:cNvSpPr>
          <p:nvPr>
            <p:ph type="title"/>
          </p:nvPr>
        </p:nvSpPr>
        <p:spPr>
          <a:xfrm>
            <a:off x="405493" y="-659"/>
            <a:ext cx="10972800" cy="1118064"/>
          </a:xfrm>
        </p:spPr>
        <p:txBody>
          <a:bodyPr>
            <a:normAutofit/>
          </a:bodyPr>
          <a:lstStyle/>
          <a:p>
            <a:r>
              <a:rPr lang="en-US" sz="2800">
                <a:solidFill>
                  <a:schemeClr val="tx2"/>
                </a:solidFill>
                <a:latin typeface="Arial Black" panose="020B0A04020102020204" pitchFamily="34" charset="0"/>
              </a:rPr>
              <a:t>Fiscal policies</a:t>
            </a:r>
          </a:p>
        </p:txBody>
      </p:sp>
      <p:graphicFrame>
        <p:nvGraphicFramePr>
          <p:cNvPr id="3" name="Diagram 2">
            <a:extLst>
              <a:ext uri="{FF2B5EF4-FFF2-40B4-BE49-F238E27FC236}">
                <a16:creationId xmlns:a16="http://schemas.microsoft.com/office/drawing/2014/main" id="{4E19037F-87AD-94E7-1A6C-5001F289DE86}"/>
              </a:ext>
            </a:extLst>
          </p:cNvPr>
          <p:cNvGraphicFramePr/>
          <p:nvPr>
            <p:extLst>
              <p:ext uri="{D42A27DB-BD31-4B8C-83A1-F6EECF244321}">
                <p14:modId xmlns:p14="http://schemas.microsoft.com/office/powerpoint/2010/main" val="1181501728"/>
              </p:ext>
            </p:extLst>
          </p:nvPr>
        </p:nvGraphicFramePr>
        <p:xfrm>
          <a:off x="-745726" y="974186"/>
          <a:ext cx="1059815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9B956C62-8C00-790B-F423-DD87F3AE89FD}"/>
              </a:ext>
            </a:extLst>
          </p:cNvPr>
          <p:cNvSpPr txBox="1"/>
          <p:nvPr/>
        </p:nvSpPr>
        <p:spPr>
          <a:xfrm>
            <a:off x="8791133" y="923585"/>
            <a:ext cx="3349127" cy="5663089"/>
          </a:xfrm>
          <a:prstGeom prst="rect">
            <a:avLst/>
          </a:prstGeom>
          <a:noFill/>
        </p:spPr>
        <p:txBody>
          <a:bodyPr wrap="square" rtlCol="0">
            <a:spAutoFit/>
          </a:bodyPr>
          <a:lstStyle/>
          <a:p>
            <a:r>
              <a:rPr lang="en-US" sz="2000" b="1">
                <a:solidFill>
                  <a:schemeClr val="tx2"/>
                </a:solidFill>
              </a:rPr>
              <a:t>Helpful Resources:</a:t>
            </a:r>
          </a:p>
          <a:p>
            <a:endParaRPr lang="en-US">
              <a:hlinkClick r:id="rId8"/>
            </a:endParaRPr>
          </a:p>
          <a:p>
            <a:r>
              <a:rPr lang="en-US">
                <a:hlinkClick r:id="rId8"/>
              </a:rPr>
              <a:t>Engendering the Recovery: Budgeting with Women in Mind</a:t>
            </a:r>
            <a:endParaRPr lang="en-US"/>
          </a:p>
          <a:p>
            <a:endParaRPr lang="en-US"/>
          </a:p>
          <a:p>
            <a:r>
              <a:rPr lang="en-US">
                <a:hlinkClick r:id="rId9"/>
              </a:rPr>
              <a:t>Gender Budgeting Is More Widespread But Implementation Remains a Challenge</a:t>
            </a:r>
            <a:endParaRPr lang="en-US"/>
          </a:p>
          <a:p>
            <a:endParaRPr lang="en-US"/>
          </a:p>
          <a:p>
            <a:r>
              <a:rPr lang="en-US">
                <a:hlinkClick r:id="rId10"/>
              </a:rPr>
              <a:t>Exploring the Role of Public Expenditure in Advancing Female Economic Empowerment and Gender Equality</a:t>
            </a:r>
            <a:endParaRPr lang="en-US"/>
          </a:p>
          <a:p>
            <a:endParaRPr lang="en-US"/>
          </a:p>
          <a:p>
            <a:r>
              <a:rPr lang="en-US">
                <a:hlinkClick r:id="rId11"/>
              </a:rPr>
              <a:t>Gendered Taxes: The Interaction of Tax Policy with Gender Equality</a:t>
            </a:r>
            <a:endParaRPr lang="en-US"/>
          </a:p>
          <a:p>
            <a:endParaRPr lang="en-US"/>
          </a:p>
          <a:p>
            <a:r>
              <a:rPr lang="en-US">
                <a:hlinkClick r:id="rId12"/>
              </a:rPr>
              <a:t>The Digital Gender Gap</a:t>
            </a:r>
            <a:endParaRPr lang="en-US"/>
          </a:p>
          <a:p>
            <a:endParaRPr lang="en-US"/>
          </a:p>
          <a:p>
            <a:endParaRPr lang="en-US"/>
          </a:p>
        </p:txBody>
      </p:sp>
    </p:spTree>
    <p:extLst>
      <p:ext uri="{BB962C8B-B14F-4D97-AF65-F5344CB8AC3E}">
        <p14:creationId xmlns:p14="http://schemas.microsoft.com/office/powerpoint/2010/main" val="2054345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2D75-8211-50E1-2B7A-C959934B1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31A89-ABF1-2CE1-24E6-249BC066D943}"/>
              </a:ext>
            </a:extLst>
          </p:cNvPr>
          <p:cNvSpPr>
            <a:spLocks noGrp="1"/>
          </p:cNvSpPr>
          <p:nvPr>
            <p:ph type="title"/>
          </p:nvPr>
        </p:nvSpPr>
        <p:spPr>
          <a:xfrm>
            <a:off x="405493" y="-659"/>
            <a:ext cx="10972800" cy="1118064"/>
          </a:xfrm>
        </p:spPr>
        <p:txBody>
          <a:bodyPr>
            <a:normAutofit/>
          </a:bodyPr>
          <a:lstStyle/>
          <a:p>
            <a:r>
              <a:rPr lang="en-US" sz="2800">
                <a:solidFill>
                  <a:schemeClr val="tx2"/>
                </a:solidFill>
                <a:latin typeface="Arial Black" panose="020B0A04020102020204" pitchFamily="34" charset="0"/>
              </a:rPr>
              <a:t>Fiscal policies (continued)</a:t>
            </a:r>
          </a:p>
        </p:txBody>
      </p:sp>
      <p:graphicFrame>
        <p:nvGraphicFramePr>
          <p:cNvPr id="3" name="Diagram 2">
            <a:extLst>
              <a:ext uri="{FF2B5EF4-FFF2-40B4-BE49-F238E27FC236}">
                <a16:creationId xmlns:a16="http://schemas.microsoft.com/office/drawing/2014/main" id="{B86856D1-A8E6-0C7F-7B63-9463B32A0F17}"/>
              </a:ext>
            </a:extLst>
          </p:cNvPr>
          <p:cNvGraphicFramePr/>
          <p:nvPr>
            <p:extLst>
              <p:ext uri="{D42A27DB-BD31-4B8C-83A1-F6EECF244321}">
                <p14:modId xmlns:p14="http://schemas.microsoft.com/office/powerpoint/2010/main" val="1595983230"/>
              </p:ext>
            </p:extLst>
          </p:nvPr>
        </p:nvGraphicFramePr>
        <p:xfrm>
          <a:off x="-745726" y="974186"/>
          <a:ext cx="1059815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B4952B04-8D07-7DA1-14D6-DA497533F531}"/>
              </a:ext>
            </a:extLst>
          </p:cNvPr>
          <p:cNvSpPr txBox="1">
            <a:spLocks noGrp="1" noRot="1" noMove="1" noResize="1" noEditPoints="1" noAdjustHandles="1" noChangeArrowheads="1" noChangeShapeType="1"/>
          </p:cNvSpPr>
          <p:nvPr/>
        </p:nvSpPr>
        <p:spPr>
          <a:xfrm>
            <a:off x="8570707" y="1328699"/>
            <a:ext cx="3621293" cy="5355312"/>
          </a:xfrm>
          <a:prstGeom prst="rect">
            <a:avLst/>
          </a:prstGeom>
          <a:noFill/>
        </p:spPr>
        <p:txBody>
          <a:bodyPr wrap="square" rtlCol="0">
            <a:spAutoFit/>
          </a:bodyPr>
          <a:lstStyle/>
          <a:p>
            <a:r>
              <a:rPr lang="en-US" sz="2000" b="1">
                <a:solidFill>
                  <a:schemeClr val="tx2"/>
                </a:solidFill>
              </a:rPr>
              <a:t>Helpful Resources:</a:t>
            </a:r>
          </a:p>
          <a:p>
            <a:pPr lvl="0" defTabSz="914400" eaLnBrk="0" fontAlgn="base" hangingPunct="0">
              <a:spcBef>
                <a:spcPct val="0"/>
              </a:spcBef>
              <a:spcAft>
                <a:spcPct val="0"/>
              </a:spcAft>
            </a:pPr>
            <a:endParaRPr lang="en-US" altLang="en-US" sz="1600" b="1">
              <a:latin typeface="Arial" panose="020B0604020202020204" pitchFamily="34" charset="0"/>
            </a:endParaRPr>
          </a:p>
          <a:p>
            <a:pPr lvl="0" defTabSz="914400" eaLnBrk="0" fontAlgn="base" hangingPunct="0">
              <a:spcBef>
                <a:spcPct val="0"/>
              </a:spcBef>
              <a:spcAft>
                <a:spcPct val="0"/>
              </a:spcAft>
            </a:pPr>
            <a:r>
              <a:rPr lang="en-US" altLang="en-US" sz="1600" b="1">
                <a:latin typeface="Arial" panose="020B0604020202020204" pitchFamily="34" charset="0"/>
                <a:hlinkClick r:id="rId8"/>
              </a:rPr>
              <a:t>Kenya</a:t>
            </a:r>
            <a:r>
              <a:rPr lang="en-US" altLang="en-US" sz="1600" b="1">
                <a:latin typeface="Arial" panose="020B0604020202020204" pitchFamily="34" charset="0"/>
              </a:rPr>
              <a:t>: </a:t>
            </a:r>
            <a:r>
              <a:rPr lang="en-US" altLang="en-US" sz="1600">
                <a:latin typeface="Arial" panose="020B0604020202020204" pitchFamily="34" charset="0"/>
              </a:rPr>
              <a:t>role of expanded social protection, improved targeting of transfers, and investments in childcare and transport access to support FLFP and inclusive growth.</a:t>
            </a:r>
          </a:p>
          <a:p>
            <a:pPr lvl="0" defTabSz="914400" eaLnBrk="0" fontAlgn="base" hangingPunct="0">
              <a:spcBef>
                <a:spcPct val="0"/>
              </a:spcBef>
              <a:spcAft>
                <a:spcPct val="0"/>
              </a:spcAft>
            </a:pPr>
            <a:endParaRPr lang="en-US" altLang="en-US" sz="1600" b="1">
              <a:latin typeface="Arial" panose="020B0604020202020204" pitchFamily="34" charset="0"/>
              <a:hlinkClick r:id="rId9"/>
            </a:endParaRPr>
          </a:p>
          <a:p>
            <a:pPr lvl="0" defTabSz="914400" eaLnBrk="0" fontAlgn="base" hangingPunct="0">
              <a:spcBef>
                <a:spcPct val="0"/>
              </a:spcBef>
              <a:spcAft>
                <a:spcPct val="0"/>
              </a:spcAft>
            </a:pPr>
            <a:r>
              <a:rPr lang="en-US" altLang="en-US" sz="1600" b="1">
                <a:latin typeface="Arial" panose="020B0604020202020204" pitchFamily="34" charset="0"/>
                <a:hlinkClick r:id="rId10"/>
              </a:rPr>
              <a:t>Rwanda</a:t>
            </a:r>
            <a:r>
              <a:rPr lang="en-US" altLang="en-US" sz="1600" b="1">
                <a:latin typeface="Arial" panose="020B0604020202020204" pitchFamily="34" charset="0"/>
              </a:rPr>
              <a:t>:</a:t>
            </a:r>
            <a:r>
              <a:rPr lang="en-US" altLang="en-US" sz="1600">
                <a:latin typeface="Arial" panose="020B0604020202020204" pitchFamily="34" charset="0"/>
              </a:rPr>
              <a:t> Targeted social spending and a dynamic social registry to reduce inequality and support women’s economic participation, especially in the informal sector. </a:t>
            </a:r>
          </a:p>
          <a:p>
            <a:pPr lvl="0" defTabSz="914400" eaLnBrk="0" fontAlgn="base" hangingPunct="0">
              <a:spcBef>
                <a:spcPct val="0"/>
              </a:spcBef>
              <a:spcAft>
                <a:spcPct val="0"/>
              </a:spcAft>
            </a:pPr>
            <a:endParaRPr lang="en-US" altLang="en-US" sz="1600">
              <a:latin typeface="Arial" panose="020B0604020202020204" pitchFamily="34" charset="0"/>
            </a:endParaRPr>
          </a:p>
          <a:p>
            <a:r>
              <a:rPr lang="en-US" sz="1600" b="1">
                <a:latin typeface="Arial" panose="020B0604020202020204" pitchFamily="34" charset="0"/>
                <a:hlinkClick r:id="rId11"/>
              </a:rPr>
              <a:t>Cross-country</a:t>
            </a:r>
            <a:r>
              <a:rPr lang="en-US" sz="1600" b="1">
                <a:latin typeface="Arial" panose="020B0604020202020204" pitchFamily="34" charset="0"/>
              </a:rPr>
              <a:t>:</a:t>
            </a:r>
            <a:r>
              <a:rPr lang="en-US" sz="1600">
                <a:latin typeface="Arial" panose="020B0604020202020204" pitchFamily="34" charset="0"/>
              </a:rPr>
              <a:t> childcare spending, well‑designed transfers, and tax policy reforms can raise female labor supply and improve macro outcomes.</a:t>
            </a:r>
          </a:p>
          <a:p>
            <a:endParaRPr lang="en-US" sz="1600"/>
          </a:p>
          <a:p>
            <a:endParaRPr lang="en-US" sz="1600"/>
          </a:p>
          <a:p>
            <a:endParaRPr lang="en-US"/>
          </a:p>
        </p:txBody>
      </p:sp>
    </p:spTree>
    <p:extLst>
      <p:ext uri="{BB962C8B-B14F-4D97-AF65-F5344CB8AC3E}">
        <p14:creationId xmlns:p14="http://schemas.microsoft.com/office/powerpoint/2010/main" val="415784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BD111-0165-DFB4-2CFF-72853FD25423}"/>
            </a:ext>
          </a:extLst>
        </p:cNvPr>
        <p:cNvGrpSpPr/>
        <p:nvPr/>
      </p:nvGrpSpPr>
      <p:grpSpPr>
        <a:xfrm>
          <a:off x="0" y="0"/>
          <a:ext cx="0" cy="0"/>
          <a:chOff x="0" y="0"/>
          <a:chExt cx="0" cy="0"/>
        </a:xfrm>
      </p:grpSpPr>
      <p:sp>
        <p:nvSpPr>
          <p:cNvPr id="3" name="Text Placeholder 4">
            <a:extLst>
              <a:ext uri="{FF2B5EF4-FFF2-40B4-BE49-F238E27FC236}">
                <a16:creationId xmlns:a16="http://schemas.microsoft.com/office/drawing/2014/main" id="{58DC1A5F-7659-F6E6-57E2-0803FB7A99F4}"/>
              </a:ext>
            </a:extLst>
          </p:cNvPr>
          <p:cNvSpPr>
            <a:spLocks noGrp="1" noRot="1" noMove="1" noResize="1" noEditPoints="1" noAdjustHandles="1" noChangeArrowheads="1" noChangeShapeType="1"/>
          </p:cNvSpPr>
          <p:nvPr>
            <p:ph sz="quarter" idx="11"/>
          </p:nvPr>
        </p:nvSpPr>
        <p:spPr>
          <a:xfrm>
            <a:off x="744538" y="347663"/>
            <a:ext cx="10633075" cy="6269037"/>
          </a:xfrm>
        </p:spPr>
        <p:txBody>
          <a:bodyPr>
            <a:noAutofit/>
          </a:bodyPr>
          <a:lstStyle/>
          <a:p>
            <a:pPr marL="0" indent="0" algn="ctr">
              <a:lnSpc>
                <a:spcPct val="120000"/>
              </a:lnSpc>
              <a:spcBef>
                <a:spcPts val="0"/>
              </a:spcBef>
              <a:spcAft>
                <a:spcPts val="1200"/>
              </a:spcAft>
              <a:buNone/>
              <a:tabLst>
                <a:tab pos="457200" algn="l"/>
                <a:tab pos="457200" algn="l"/>
              </a:tabLst>
            </a:pPr>
            <a:r>
              <a:rPr lang="en-US" sz="2800">
                <a:ea typeface="Microsoft JhengHei" panose="020B0604030504040204" pitchFamily="34" charset="-120"/>
              </a:rPr>
              <a:t>Financial Inclusion and Financial Health</a:t>
            </a:r>
            <a:endParaRPr lang="en-US" sz="2000">
              <a:ea typeface="Microsoft JhengHei" panose="020B0604030504040204" pitchFamily="34" charset="-120"/>
            </a:endParaRPr>
          </a:p>
        </p:txBody>
      </p:sp>
    </p:spTree>
    <p:extLst>
      <p:ext uri="{BB962C8B-B14F-4D97-AF65-F5344CB8AC3E}">
        <p14:creationId xmlns:p14="http://schemas.microsoft.com/office/powerpoint/2010/main" val="150465703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2919AD-887F-27F6-CED0-AE4017DDA3A8}"/>
              </a:ext>
            </a:extLst>
          </p:cNvPr>
          <p:cNvSpPr>
            <a:spLocks noGrp="1"/>
          </p:cNvSpPr>
          <p:nvPr>
            <p:ph type="body" sz="quarter" idx="10"/>
          </p:nvPr>
        </p:nvSpPr>
        <p:spPr>
          <a:xfrm>
            <a:off x="313313" y="185939"/>
            <a:ext cx="10719551" cy="978486"/>
          </a:xfrm>
        </p:spPr>
        <p:txBody>
          <a:bodyPr>
            <a:normAutofit lnSpcReduction="10000"/>
          </a:bodyPr>
          <a:lstStyle/>
          <a:p>
            <a:pPr marL="0" indent="0">
              <a:buNone/>
            </a:pPr>
            <a:r>
              <a:rPr lang="en-US" sz="2800" b="1">
                <a:solidFill>
                  <a:srgbClr val="004C97"/>
                </a:solidFill>
                <a:latin typeface="Arial Black" panose="020B0A04020102020204" pitchFamily="34" charset="0"/>
                <a:cs typeface="+mn-cs"/>
              </a:rPr>
              <a:t>Financial inclusion serves as a catalyst for economic growth, </a:t>
            </a:r>
            <a:r>
              <a:rPr lang="en-US" sz="2800" b="1">
                <a:solidFill>
                  <a:srgbClr val="004C97"/>
                </a:solidFill>
                <a:latin typeface="Arial Black" panose="020B0A04020102020204" pitchFamily="34" charset="0"/>
              </a:rPr>
              <a:t>reducing</a:t>
            </a:r>
            <a:r>
              <a:rPr lang="en-US" sz="2800" b="1">
                <a:solidFill>
                  <a:srgbClr val="004C97"/>
                </a:solidFill>
                <a:latin typeface="Arial Black" panose="020B0A04020102020204" pitchFamily="34" charset="0"/>
                <a:cs typeface="+mn-cs"/>
              </a:rPr>
              <a:t> poverty and inequality</a:t>
            </a:r>
          </a:p>
          <a:p>
            <a:endParaRPr lang="en-US" b="1"/>
          </a:p>
        </p:txBody>
      </p:sp>
      <p:sp>
        <p:nvSpPr>
          <p:cNvPr id="3" name="TextBox 2">
            <a:extLst>
              <a:ext uri="{FF2B5EF4-FFF2-40B4-BE49-F238E27FC236}">
                <a16:creationId xmlns:a16="http://schemas.microsoft.com/office/drawing/2014/main" id="{B877AA47-C208-A037-1A0F-D7FC1CE5E6BE}"/>
              </a:ext>
            </a:extLst>
          </p:cNvPr>
          <p:cNvSpPr txBox="1"/>
          <p:nvPr/>
        </p:nvSpPr>
        <p:spPr>
          <a:xfrm>
            <a:off x="938349" y="2201738"/>
            <a:ext cx="10563145" cy="646331"/>
          </a:xfrm>
          <a:prstGeom prst="rect">
            <a:avLst/>
          </a:prstGeom>
          <a:noFill/>
        </p:spPr>
        <p:txBody>
          <a:bodyPr wrap="square">
            <a:spAutoFit/>
          </a:bodyPr>
          <a:lstStyle/>
          <a:p>
            <a:pPr marL="342900" indent="-342900">
              <a:buFont typeface="Wingdings" panose="05000000000000000000" pitchFamily="2" charset="2"/>
              <a:buChar char="§"/>
            </a:pPr>
            <a:endParaRPr lang="en-US" sz="1800"/>
          </a:p>
          <a:p>
            <a:pPr marL="342900" indent="-342900">
              <a:buFont typeface="Wingdings" panose="05000000000000000000" pitchFamily="2" charset="2"/>
              <a:buChar char="§"/>
            </a:pPr>
            <a:endParaRPr lang="en-US" sz="1800"/>
          </a:p>
        </p:txBody>
      </p:sp>
      <p:sp>
        <p:nvSpPr>
          <p:cNvPr id="5" name="TextBox 4">
            <a:extLst>
              <a:ext uri="{FF2B5EF4-FFF2-40B4-BE49-F238E27FC236}">
                <a16:creationId xmlns:a16="http://schemas.microsoft.com/office/drawing/2014/main" id="{7D5E1C79-38FE-CD11-4789-9E69F7CE3A3D}"/>
              </a:ext>
            </a:extLst>
          </p:cNvPr>
          <p:cNvSpPr txBox="1"/>
          <p:nvPr/>
        </p:nvSpPr>
        <p:spPr>
          <a:xfrm>
            <a:off x="1287929" y="1512554"/>
            <a:ext cx="6980193" cy="1569660"/>
          </a:xfrm>
          <a:prstGeom prst="rect">
            <a:avLst/>
          </a:prstGeom>
          <a:noFill/>
        </p:spPr>
        <p:txBody>
          <a:bodyPr wrap="square" lIns="91440" tIns="45720" rIns="91440" bIns="45720" anchor="t">
            <a:spAutoFit/>
          </a:bodyPr>
          <a:lstStyle/>
          <a:p>
            <a:r>
              <a:rPr lang="en-US" sz="2400" dirty="0"/>
              <a:t>Ensuring access and use of financial services to a </a:t>
            </a:r>
            <a:r>
              <a:rPr lang="en-US" sz="2400" b="1" dirty="0"/>
              <a:t>broad spectrum of society</a:t>
            </a:r>
            <a:r>
              <a:rPr lang="en-US" sz="2400" dirty="0"/>
              <a:t>, especially under-served groups </a:t>
            </a:r>
            <a:r>
              <a:rPr lang="en-US" sz="2400" b="1" dirty="0"/>
              <a:t>including women</a:t>
            </a:r>
            <a:r>
              <a:rPr lang="en-US" sz="2400" dirty="0"/>
              <a:t>; thus, enabling them to benefit from and contribute to economic growth. </a:t>
            </a:r>
          </a:p>
        </p:txBody>
      </p:sp>
      <p:sp>
        <p:nvSpPr>
          <p:cNvPr id="8" name="TextBox 7">
            <a:extLst>
              <a:ext uri="{FF2B5EF4-FFF2-40B4-BE49-F238E27FC236}">
                <a16:creationId xmlns:a16="http://schemas.microsoft.com/office/drawing/2014/main" id="{82F0A167-4BC2-3E7C-3DD4-E42FDED0DB1E}"/>
              </a:ext>
            </a:extLst>
          </p:cNvPr>
          <p:cNvSpPr txBox="1"/>
          <p:nvPr/>
        </p:nvSpPr>
        <p:spPr>
          <a:xfrm>
            <a:off x="1288508" y="3251675"/>
            <a:ext cx="6980193" cy="1200329"/>
          </a:xfrm>
          <a:prstGeom prst="rect">
            <a:avLst/>
          </a:prstGeom>
          <a:noFill/>
        </p:spPr>
        <p:txBody>
          <a:bodyPr wrap="square">
            <a:spAutoFit/>
          </a:bodyPr>
          <a:lstStyle/>
          <a:p>
            <a:r>
              <a:rPr lang="en-US" sz="2400"/>
              <a:t>Providing individuals and businesses with </a:t>
            </a:r>
            <a:r>
              <a:rPr lang="en-US" sz="2400" b="1"/>
              <a:t>access to capital</a:t>
            </a:r>
            <a:r>
              <a:rPr lang="en-US" sz="2400"/>
              <a:t>, allowing them to invest in education, healthcare, and income-generating activities.</a:t>
            </a:r>
          </a:p>
        </p:txBody>
      </p:sp>
      <p:sp>
        <p:nvSpPr>
          <p:cNvPr id="11" name="TextBox 10">
            <a:extLst>
              <a:ext uri="{FF2B5EF4-FFF2-40B4-BE49-F238E27FC236}">
                <a16:creationId xmlns:a16="http://schemas.microsoft.com/office/drawing/2014/main" id="{C68EC49C-B47E-F0A6-3B67-EB5EDD0869A4}"/>
              </a:ext>
            </a:extLst>
          </p:cNvPr>
          <p:cNvSpPr txBox="1"/>
          <p:nvPr/>
        </p:nvSpPr>
        <p:spPr>
          <a:xfrm>
            <a:off x="1288508" y="4617167"/>
            <a:ext cx="7131460" cy="1200329"/>
          </a:xfrm>
          <a:prstGeom prst="rect">
            <a:avLst/>
          </a:prstGeom>
          <a:noFill/>
        </p:spPr>
        <p:txBody>
          <a:bodyPr wrap="square">
            <a:spAutoFit/>
          </a:bodyPr>
          <a:lstStyle/>
          <a:p>
            <a:r>
              <a:rPr lang="en-US" sz="2400"/>
              <a:t>Helping underserved groups </a:t>
            </a:r>
            <a:r>
              <a:rPr lang="en-US" sz="2400" b="1"/>
              <a:t>smooth their consumption, manage their financial risks, and invest in the future</a:t>
            </a:r>
            <a:r>
              <a:rPr lang="en-US" sz="2400"/>
              <a:t> – thereby reducing poverty and inequality.</a:t>
            </a:r>
          </a:p>
        </p:txBody>
      </p:sp>
      <p:pic>
        <p:nvPicPr>
          <p:cNvPr id="19" name="Graphic 18" descr="Female with solid fill">
            <a:extLst>
              <a:ext uri="{FF2B5EF4-FFF2-40B4-BE49-F238E27FC236}">
                <a16:creationId xmlns:a16="http://schemas.microsoft.com/office/drawing/2014/main" id="{D324184C-668B-650E-5287-74FC563864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2410" y="1845407"/>
            <a:ext cx="1036697" cy="914400"/>
          </a:xfrm>
          <a:prstGeom prst="rect">
            <a:avLst/>
          </a:prstGeom>
        </p:spPr>
      </p:pic>
      <p:pic>
        <p:nvPicPr>
          <p:cNvPr id="23" name="Graphic 22" descr="Classroom outline">
            <a:extLst>
              <a:ext uri="{FF2B5EF4-FFF2-40B4-BE49-F238E27FC236}">
                <a16:creationId xmlns:a16="http://schemas.microsoft.com/office/drawing/2014/main" id="{97AC7792-0C8D-2171-462A-6C51E2E1B9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4537" y="3396142"/>
            <a:ext cx="669808" cy="914400"/>
          </a:xfrm>
          <a:prstGeom prst="rect">
            <a:avLst/>
          </a:prstGeom>
        </p:spPr>
      </p:pic>
      <p:pic>
        <p:nvPicPr>
          <p:cNvPr id="25" name="Graphic 24" descr="Piggy Bank outline">
            <a:extLst>
              <a:ext uri="{FF2B5EF4-FFF2-40B4-BE49-F238E27FC236}">
                <a16:creationId xmlns:a16="http://schemas.microsoft.com/office/drawing/2014/main" id="{D6223835-6C17-126C-B190-9F8F2A5158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7003" y="4758503"/>
            <a:ext cx="669808" cy="914400"/>
          </a:xfrm>
          <a:prstGeom prst="rect">
            <a:avLst/>
          </a:prstGeom>
        </p:spPr>
      </p:pic>
      <p:sp>
        <p:nvSpPr>
          <p:cNvPr id="4" name="TextBox 3">
            <a:extLst>
              <a:ext uri="{FF2B5EF4-FFF2-40B4-BE49-F238E27FC236}">
                <a16:creationId xmlns:a16="http://schemas.microsoft.com/office/drawing/2014/main" id="{1A99B8B7-7924-8EA6-02A2-4953FEC10956}"/>
              </a:ext>
            </a:extLst>
          </p:cNvPr>
          <p:cNvSpPr txBox="1"/>
          <p:nvPr/>
        </p:nvSpPr>
        <p:spPr>
          <a:xfrm>
            <a:off x="8859259" y="1803503"/>
            <a:ext cx="3115958" cy="3416320"/>
          </a:xfrm>
          <a:prstGeom prst="rect">
            <a:avLst/>
          </a:prstGeom>
          <a:noFill/>
        </p:spPr>
        <p:txBody>
          <a:bodyPr wrap="square" rtlCol="0">
            <a:spAutoFit/>
          </a:bodyPr>
          <a:lstStyle/>
          <a:p>
            <a:r>
              <a:rPr lang="en-US" b="1">
                <a:solidFill>
                  <a:schemeClr val="tx2"/>
                </a:solidFill>
                <a:latin typeface="Arial" panose="020B0604020202020204" pitchFamily="34" charset="0"/>
                <a:cs typeface="Arial" panose="020B0604020202020204" pitchFamily="34" charset="0"/>
              </a:rPr>
              <a:t>Helpful Resources:</a:t>
            </a:r>
          </a:p>
          <a:p>
            <a:endParaRPr lang="en-US">
              <a:hlinkClick r:id="rId6"/>
            </a:endParaRPr>
          </a:p>
          <a:p>
            <a:r>
              <a:rPr lang="en-US">
                <a:hlinkClick r:id="rId6"/>
              </a:rPr>
              <a:t>Emerging Trends in National Financial Inclusion Strategies</a:t>
            </a:r>
          </a:p>
          <a:p>
            <a:r>
              <a:rPr lang="en-US">
                <a:hlinkClick r:id="rId6"/>
              </a:rPr>
              <a:t>that Support Women’s Entrepreneurship</a:t>
            </a:r>
            <a:endParaRPr lang="en-US"/>
          </a:p>
          <a:p>
            <a:endParaRPr lang="en-US"/>
          </a:p>
          <a:p>
            <a:r>
              <a:rPr lang="en-US">
                <a:hlinkClick r:id="rId7"/>
              </a:rPr>
              <a:t>IMF Financial Access Survey</a:t>
            </a:r>
            <a:endParaRPr lang="en-US"/>
          </a:p>
          <a:p>
            <a:endParaRPr lang="en-US"/>
          </a:p>
          <a:p>
            <a:r>
              <a:rPr lang="en-US">
                <a:hlinkClick r:id="rId8"/>
              </a:rPr>
              <a:t>The Global Findex Database 2025</a:t>
            </a:r>
            <a:endParaRPr lang="en-US"/>
          </a:p>
          <a:p>
            <a:endParaRPr lang="en-US"/>
          </a:p>
        </p:txBody>
      </p:sp>
    </p:spTree>
    <p:extLst>
      <p:ext uri="{BB962C8B-B14F-4D97-AF65-F5344CB8AC3E}">
        <p14:creationId xmlns:p14="http://schemas.microsoft.com/office/powerpoint/2010/main" val="241558772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F7313789-0C6C-FF48-D1C9-55DDF1359D07}"/>
              </a:ext>
            </a:extLst>
          </p:cNvPr>
          <p:cNvGraphicFramePr/>
          <p:nvPr>
            <p:extLst>
              <p:ext uri="{D42A27DB-BD31-4B8C-83A1-F6EECF244321}">
                <p14:modId xmlns:p14="http://schemas.microsoft.com/office/powerpoint/2010/main" val="895495704"/>
              </p:ext>
            </p:extLst>
          </p:nvPr>
        </p:nvGraphicFramePr>
        <p:xfrm>
          <a:off x="-1352263" y="1580785"/>
          <a:ext cx="5481182" cy="4739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6">
            <a:extLst>
              <a:ext uri="{FF2B5EF4-FFF2-40B4-BE49-F238E27FC236}">
                <a16:creationId xmlns:a16="http://schemas.microsoft.com/office/drawing/2014/main" id="{1E987D37-6B93-C207-A23B-667D9B6B2EAF}"/>
              </a:ext>
            </a:extLst>
          </p:cNvPr>
          <p:cNvSpPr txBox="1">
            <a:spLocks noChangeArrowheads="1"/>
          </p:cNvSpPr>
          <p:nvPr/>
        </p:nvSpPr>
        <p:spPr>
          <a:xfrm>
            <a:off x="293369" y="1028701"/>
            <a:ext cx="3667125" cy="426720"/>
          </a:xfrm>
          <a:prstGeom prst="rect">
            <a:avLst/>
          </a:prstGeom>
        </p:spPr>
        <p:txBody>
          <a:bodyPr>
            <a:noAutofit/>
          </a:bodyPr>
          <a:lstStyle>
            <a:lvl1pPr marL="342900" indent="-342900" algn="l" defTabSz="914400" rtl="0" eaLnBrk="1" latinLnBrk="0" hangingPunct="1">
              <a:lnSpc>
                <a:spcPts val="2500"/>
              </a:lnSpc>
              <a:spcBef>
                <a:spcPts val="900"/>
              </a:spcBef>
              <a:buClr>
                <a:schemeClr val="tx1">
                  <a:lumMod val="75000"/>
                  <a:lumOff val="25000"/>
                </a:schemeClr>
              </a:buClr>
              <a:buSzPct val="120000"/>
              <a:buFont typeface="Wingdings" pitchFamily="2" charset="2"/>
              <a:buChar char="§"/>
              <a:defRPr sz="2500" kern="1200">
                <a:solidFill>
                  <a:schemeClr val="tx1"/>
                </a:solidFill>
                <a:latin typeface="Calibri" pitchFamily="34" charset="0"/>
                <a:ea typeface="+mn-ea"/>
                <a:cs typeface="Calibri" pitchFamily="34" charset="0"/>
              </a:defRPr>
            </a:lvl1pPr>
            <a:lvl2pPr marL="685800" indent="-336550" algn="l" defTabSz="914400" rtl="0" eaLnBrk="1" latinLnBrk="0" hangingPunct="1">
              <a:lnSpc>
                <a:spcPts val="2200"/>
              </a:lnSpc>
              <a:spcBef>
                <a:spcPts val="600"/>
              </a:spcBef>
              <a:buClr>
                <a:schemeClr val="tx1">
                  <a:lumMod val="75000"/>
                  <a:lumOff val="25000"/>
                </a:schemeClr>
              </a:buClr>
              <a:buSzPct val="135000"/>
              <a:buFont typeface="Arial" pitchFamily="34" charset="0"/>
              <a:buChar char="•"/>
              <a:defRPr sz="2200" kern="1200">
                <a:solidFill>
                  <a:schemeClr val="tx1"/>
                </a:solidFill>
                <a:latin typeface="Calibri" pitchFamily="34" charset="0"/>
                <a:ea typeface="+mn-ea"/>
                <a:cs typeface="Calibri" pitchFamily="34" charset="0"/>
              </a:defRPr>
            </a:lvl2pPr>
            <a:lvl3pPr marL="1035050" indent="-349250" algn="l" defTabSz="914400" rtl="0" eaLnBrk="1" latinLnBrk="0" hangingPunct="1">
              <a:lnSpc>
                <a:spcPts val="2000"/>
              </a:lnSpc>
              <a:spcBef>
                <a:spcPts val="500"/>
              </a:spcBef>
              <a:buClr>
                <a:schemeClr val="tx1">
                  <a:lumMod val="75000"/>
                  <a:lumOff val="25000"/>
                </a:schemeClr>
              </a:buClr>
              <a:buSzPct val="67000"/>
              <a:buFont typeface="Wingdings" pitchFamily="2" charset="2"/>
              <a:buChar char="v"/>
              <a:defRPr sz="1900" kern="1200">
                <a:solidFill>
                  <a:schemeClr val="tx1"/>
                </a:solidFill>
                <a:latin typeface="Calibri" pitchFamily="34" charset="0"/>
                <a:ea typeface="+mn-ea"/>
                <a:cs typeface="Calibri" pitchFamily="34" charset="0"/>
              </a:defRPr>
            </a:lvl3pPr>
            <a:lvl4pPr marL="1371600" indent="-336550" algn="l" defTabSz="914400" rtl="0" eaLnBrk="1" latinLnBrk="0" hangingPunct="1">
              <a:lnSpc>
                <a:spcPts val="1800"/>
              </a:lnSpc>
              <a:spcBef>
                <a:spcPts val="400"/>
              </a:spcBef>
              <a:buClr>
                <a:schemeClr val="tx1">
                  <a:lumMod val="75000"/>
                  <a:lumOff val="25000"/>
                </a:schemeClr>
              </a:buClr>
              <a:buFont typeface="Wingdings" pitchFamily="2" charset="2"/>
              <a:buChar char="§"/>
              <a:defRPr sz="1700" kern="1200">
                <a:solidFill>
                  <a:schemeClr val="tx1"/>
                </a:solidFill>
                <a:latin typeface="Calibri" pitchFamily="34" charset="0"/>
                <a:ea typeface="+mn-ea"/>
                <a:cs typeface="Calibri" pitchFamily="34" charset="0"/>
              </a:defRPr>
            </a:lvl4pPr>
            <a:lvl5pPr marL="1720850" indent="-349250" algn="l" defTabSz="914400" rtl="0" eaLnBrk="1" latinLnBrk="0" hangingPunct="1">
              <a:lnSpc>
                <a:spcPts val="1800"/>
              </a:lnSpc>
              <a:spcBef>
                <a:spcPts val="400"/>
              </a:spcBef>
              <a:buClr>
                <a:schemeClr val="tx1">
                  <a:lumMod val="75000"/>
                  <a:lumOff val="25000"/>
                </a:schemeClr>
              </a:buClr>
              <a:buFont typeface="Arial" pitchFamily="34" charset="0"/>
              <a:buChar char="•"/>
              <a:defRPr sz="1700" i="1" kern="1200">
                <a:solidFill>
                  <a:schemeClr val="tx1"/>
                </a:solidFill>
                <a:latin typeface="Calibri" pitchFamily="34" charset="0"/>
                <a:ea typeface="+mn-ea"/>
                <a:cs typeface="Calibri" pitchFamily="34" charset="0"/>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233363" lvl="1" indent="0" defTabSz="914314">
              <a:lnSpc>
                <a:spcPct val="100000"/>
              </a:lnSpc>
              <a:buClr>
                <a:schemeClr val="accent1"/>
              </a:buClr>
              <a:buSzPct val="100000"/>
              <a:buNone/>
              <a:defRPr/>
            </a:pPr>
            <a:r>
              <a:rPr lang="en-US" sz="2000" i="1">
                <a:latin typeface="+mn-lt"/>
                <a:cs typeface="Segoe UI" panose="020B0502040204020203" pitchFamily="34" charset="0"/>
              </a:rPr>
              <a:t>Financial health implies that individuals and households can</a:t>
            </a:r>
            <a:endParaRPr lang="en-US" sz="2000" i="1"/>
          </a:p>
        </p:txBody>
      </p:sp>
      <p:sp>
        <p:nvSpPr>
          <p:cNvPr id="3" name="Rectangle 6">
            <a:extLst>
              <a:ext uri="{FF2B5EF4-FFF2-40B4-BE49-F238E27FC236}">
                <a16:creationId xmlns:a16="http://schemas.microsoft.com/office/drawing/2014/main" id="{C227FBF3-8774-27EC-0886-5073809778CB}"/>
              </a:ext>
            </a:extLst>
          </p:cNvPr>
          <p:cNvSpPr txBox="1">
            <a:spLocks noChangeArrowheads="1"/>
          </p:cNvSpPr>
          <p:nvPr/>
        </p:nvSpPr>
        <p:spPr>
          <a:xfrm>
            <a:off x="4284997" y="1028701"/>
            <a:ext cx="7534405" cy="426720"/>
          </a:xfrm>
          <a:prstGeom prst="rect">
            <a:avLst/>
          </a:prstGeom>
        </p:spPr>
        <p:txBody>
          <a:bodyPr>
            <a:noAutofit/>
          </a:bodyPr>
          <a:lstStyle>
            <a:lvl1pPr marL="342900" indent="-342900" algn="l" defTabSz="914400" rtl="0" eaLnBrk="1" latinLnBrk="0" hangingPunct="1">
              <a:lnSpc>
                <a:spcPts val="2500"/>
              </a:lnSpc>
              <a:spcBef>
                <a:spcPts val="900"/>
              </a:spcBef>
              <a:buClr>
                <a:schemeClr val="tx1">
                  <a:lumMod val="75000"/>
                  <a:lumOff val="25000"/>
                </a:schemeClr>
              </a:buClr>
              <a:buSzPct val="120000"/>
              <a:buFont typeface="Wingdings" pitchFamily="2" charset="2"/>
              <a:buChar char="§"/>
              <a:defRPr sz="2500" kern="1200">
                <a:solidFill>
                  <a:schemeClr val="tx1"/>
                </a:solidFill>
                <a:latin typeface="Calibri" pitchFamily="34" charset="0"/>
                <a:ea typeface="+mn-ea"/>
                <a:cs typeface="Calibri" pitchFamily="34" charset="0"/>
              </a:defRPr>
            </a:lvl1pPr>
            <a:lvl2pPr marL="685800" indent="-336550" algn="l" defTabSz="914400" rtl="0" eaLnBrk="1" latinLnBrk="0" hangingPunct="1">
              <a:lnSpc>
                <a:spcPts val="2200"/>
              </a:lnSpc>
              <a:spcBef>
                <a:spcPts val="600"/>
              </a:spcBef>
              <a:buClr>
                <a:schemeClr val="tx1">
                  <a:lumMod val="75000"/>
                  <a:lumOff val="25000"/>
                </a:schemeClr>
              </a:buClr>
              <a:buSzPct val="135000"/>
              <a:buFont typeface="Arial" pitchFamily="34" charset="0"/>
              <a:buChar char="•"/>
              <a:defRPr sz="2200" kern="1200">
                <a:solidFill>
                  <a:schemeClr val="tx1"/>
                </a:solidFill>
                <a:latin typeface="Calibri" pitchFamily="34" charset="0"/>
                <a:ea typeface="+mn-ea"/>
                <a:cs typeface="Calibri" pitchFamily="34" charset="0"/>
              </a:defRPr>
            </a:lvl2pPr>
            <a:lvl3pPr marL="1035050" indent="-349250" algn="l" defTabSz="914400" rtl="0" eaLnBrk="1" latinLnBrk="0" hangingPunct="1">
              <a:lnSpc>
                <a:spcPts val="2000"/>
              </a:lnSpc>
              <a:spcBef>
                <a:spcPts val="500"/>
              </a:spcBef>
              <a:buClr>
                <a:schemeClr val="tx1">
                  <a:lumMod val="75000"/>
                  <a:lumOff val="25000"/>
                </a:schemeClr>
              </a:buClr>
              <a:buSzPct val="67000"/>
              <a:buFont typeface="Wingdings" pitchFamily="2" charset="2"/>
              <a:buChar char="v"/>
              <a:defRPr sz="1900" kern="1200">
                <a:solidFill>
                  <a:schemeClr val="tx1"/>
                </a:solidFill>
                <a:latin typeface="Calibri" pitchFamily="34" charset="0"/>
                <a:ea typeface="+mn-ea"/>
                <a:cs typeface="Calibri" pitchFamily="34" charset="0"/>
              </a:defRPr>
            </a:lvl3pPr>
            <a:lvl4pPr marL="1371600" indent="-336550" algn="l" defTabSz="914400" rtl="0" eaLnBrk="1" latinLnBrk="0" hangingPunct="1">
              <a:lnSpc>
                <a:spcPts val="1800"/>
              </a:lnSpc>
              <a:spcBef>
                <a:spcPts val="400"/>
              </a:spcBef>
              <a:buClr>
                <a:schemeClr val="tx1">
                  <a:lumMod val="75000"/>
                  <a:lumOff val="25000"/>
                </a:schemeClr>
              </a:buClr>
              <a:buFont typeface="Wingdings" pitchFamily="2" charset="2"/>
              <a:buChar char="§"/>
              <a:defRPr sz="1700" kern="1200">
                <a:solidFill>
                  <a:schemeClr val="tx1"/>
                </a:solidFill>
                <a:latin typeface="Calibri" pitchFamily="34" charset="0"/>
                <a:ea typeface="+mn-ea"/>
                <a:cs typeface="Calibri" pitchFamily="34" charset="0"/>
              </a:defRPr>
            </a:lvl4pPr>
            <a:lvl5pPr marL="1720850" indent="-349250" algn="l" defTabSz="914400" rtl="0" eaLnBrk="1" latinLnBrk="0" hangingPunct="1">
              <a:lnSpc>
                <a:spcPts val="1800"/>
              </a:lnSpc>
              <a:spcBef>
                <a:spcPts val="400"/>
              </a:spcBef>
              <a:buClr>
                <a:schemeClr val="tx1">
                  <a:lumMod val="75000"/>
                  <a:lumOff val="25000"/>
                </a:schemeClr>
              </a:buClr>
              <a:buFont typeface="Arial" pitchFamily="34" charset="0"/>
              <a:buChar char="•"/>
              <a:defRPr sz="1700" i="1" kern="1200">
                <a:solidFill>
                  <a:schemeClr val="tx1"/>
                </a:solidFill>
                <a:latin typeface="Calibri" pitchFamily="34" charset="0"/>
                <a:ea typeface="+mn-ea"/>
                <a:cs typeface="Calibri" pitchFamily="34" charset="0"/>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233363" lvl="1" indent="0" defTabSz="914314">
              <a:lnSpc>
                <a:spcPct val="100000"/>
              </a:lnSpc>
              <a:buClr>
                <a:schemeClr val="accent1"/>
              </a:buClr>
              <a:buSzPct val="100000"/>
              <a:buNone/>
              <a:defRPr/>
            </a:pPr>
            <a:r>
              <a:rPr lang="en-US" sz="2000" i="1">
                <a:latin typeface="+mn-lt"/>
                <a:cs typeface="Segoe UI" panose="020B0502040204020203" pitchFamily="34" charset="0"/>
              </a:rPr>
              <a:t>There are different variables that can reflect the state of an individual’s financial wellness</a:t>
            </a:r>
          </a:p>
        </p:txBody>
      </p:sp>
      <p:graphicFrame>
        <p:nvGraphicFramePr>
          <p:cNvPr id="4" name="Diagram 3">
            <a:extLst>
              <a:ext uri="{FF2B5EF4-FFF2-40B4-BE49-F238E27FC236}">
                <a16:creationId xmlns:a16="http://schemas.microsoft.com/office/drawing/2014/main" id="{9380BBB0-7869-663A-4804-D4A5F3CFEA77}"/>
              </a:ext>
            </a:extLst>
          </p:cNvPr>
          <p:cNvGraphicFramePr/>
          <p:nvPr>
            <p:extLst>
              <p:ext uri="{D42A27DB-BD31-4B8C-83A1-F6EECF244321}">
                <p14:modId xmlns:p14="http://schemas.microsoft.com/office/powerpoint/2010/main" val="519331214"/>
              </p:ext>
            </p:extLst>
          </p:nvPr>
        </p:nvGraphicFramePr>
        <p:xfrm>
          <a:off x="4722496" y="1871353"/>
          <a:ext cx="6704904" cy="6895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8E574759-D3A5-303B-67CB-B954307E7576}"/>
              </a:ext>
            </a:extLst>
          </p:cNvPr>
          <p:cNvGraphicFramePr/>
          <p:nvPr>
            <p:extLst>
              <p:ext uri="{D42A27DB-BD31-4B8C-83A1-F6EECF244321}">
                <p14:modId xmlns:p14="http://schemas.microsoft.com/office/powerpoint/2010/main" val="361752996"/>
              </p:ext>
            </p:extLst>
          </p:nvPr>
        </p:nvGraphicFramePr>
        <p:xfrm>
          <a:off x="4722496" y="2936319"/>
          <a:ext cx="6704904" cy="68951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7" name="Diagram 6">
            <a:extLst>
              <a:ext uri="{FF2B5EF4-FFF2-40B4-BE49-F238E27FC236}">
                <a16:creationId xmlns:a16="http://schemas.microsoft.com/office/drawing/2014/main" id="{F028EC6B-64B1-C922-08AD-B190C5AE5C97}"/>
              </a:ext>
            </a:extLst>
          </p:cNvPr>
          <p:cNvGraphicFramePr/>
          <p:nvPr>
            <p:extLst>
              <p:ext uri="{D42A27DB-BD31-4B8C-83A1-F6EECF244321}">
                <p14:modId xmlns:p14="http://schemas.microsoft.com/office/powerpoint/2010/main" val="3913346870"/>
              </p:ext>
            </p:extLst>
          </p:nvPr>
        </p:nvGraphicFramePr>
        <p:xfrm>
          <a:off x="4710631" y="4001286"/>
          <a:ext cx="6660402" cy="90217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8" name="Diagram 7">
            <a:extLst>
              <a:ext uri="{FF2B5EF4-FFF2-40B4-BE49-F238E27FC236}">
                <a16:creationId xmlns:a16="http://schemas.microsoft.com/office/drawing/2014/main" id="{29180D14-2195-B57D-C618-210E092A928E}"/>
              </a:ext>
            </a:extLst>
          </p:cNvPr>
          <p:cNvGraphicFramePr/>
          <p:nvPr>
            <p:extLst>
              <p:ext uri="{D42A27DB-BD31-4B8C-83A1-F6EECF244321}">
                <p14:modId xmlns:p14="http://schemas.microsoft.com/office/powerpoint/2010/main" val="3350456006"/>
              </p:ext>
            </p:extLst>
          </p:nvPr>
        </p:nvGraphicFramePr>
        <p:xfrm>
          <a:off x="4666129" y="5229751"/>
          <a:ext cx="6704904" cy="68951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cxnSp>
        <p:nvCxnSpPr>
          <p:cNvPr id="17" name="Straight Connector 16">
            <a:extLst>
              <a:ext uri="{FF2B5EF4-FFF2-40B4-BE49-F238E27FC236}">
                <a16:creationId xmlns:a16="http://schemas.microsoft.com/office/drawing/2014/main" id="{8A4640D8-F012-7627-4689-66C2235D6E4C}"/>
              </a:ext>
            </a:extLst>
          </p:cNvPr>
          <p:cNvCxnSpPr/>
          <p:nvPr/>
        </p:nvCxnSpPr>
        <p:spPr>
          <a:xfrm>
            <a:off x="2563009" y="2218084"/>
            <a:ext cx="2103120" cy="0"/>
          </a:xfrm>
          <a:prstGeom prst="line">
            <a:avLst/>
          </a:prstGeom>
          <a:ln w="28575">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D1E123D-CC10-494A-0382-E3E447AC7F65}"/>
              </a:ext>
            </a:extLst>
          </p:cNvPr>
          <p:cNvCxnSpPr/>
          <p:nvPr/>
        </p:nvCxnSpPr>
        <p:spPr>
          <a:xfrm>
            <a:off x="2563009" y="3311998"/>
            <a:ext cx="2103120" cy="0"/>
          </a:xfrm>
          <a:prstGeom prst="line">
            <a:avLst/>
          </a:prstGeom>
          <a:ln w="2857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6A6F75-8D99-E5A3-0D88-D6EC0741A168}"/>
              </a:ext>
            </a:extLst>
          </p:cNvPr>
          <p:cNvCxnSpPr/>
          <p:nvPr/>
        </p:nvCxnSpPr>
        <p:spPr>
          <a:xfrm>
            <a:off x="2551144" y="4399710"/>
            <a:ext cx="2103120" cy="0"/>
          </a:xfrm>
          <a:prstGeom prst="line">
            <a:avLst/>
          </a:prstGeom>
          <a:ln w="28575">
            <a:solidFill>
              <a:srgbClr val="004C97"/>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F27AD23-2F43-76CC-D101-39B97076C6C8}"/>
              </a:ext>
            </a:extLst>
          </p:cNvPr>
          <p:cNvCxnSpPr/>
          <p:nvPr/>
        </p:nvCxnSpPr>
        <p:spPr>
          <a:xfrm>
            <a:off x="2506642" y="5582027"/>
            <a:ext cx="2103120" cy="0"/>
          </a:xfrm>
          <a:prstGeom prst="line">
            <a:avLst/>
          </a:prstGeom>
          <a:ln w="28575">
            <a:solidFill>
              <a:srgbClr val="6EB9EC"/>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CE53DF2A-41B5-2728-957D-BED1E7E87CF1}"/>
              </a:ext>
            </a:extLst>
          </p:cNvPr>
          <p:cNvSpPr>
            <a:spLocks noGrp="1"/>
          </p:cNvSpPr>
          <p:nvPr>
            <p:ph type="title"/>
          </p:nvPr>
        </p:nvSpPr>
        <p:spPr>
          <a:xfrm>
            <a:off x="1302463" y="-833930"/>
            <a:ext cx="3595205" cy="854884"/>
          </a:xfrm>
        </p:spPr>
        <p:txBody>
          <a:bodyPr>
            <a:normAutofit/>
          </a:bodyPr>
          <a:lstStyle/>
          <a:p>
            <a:r>
              <a:rPr lang="en-US" sz="2800">
                <a:latin typeface="Arial Black"/>
              </a:rPr>
              <a:t>Financial Health</a:t>
            </a:r>
          </a:p>
        </p:txBody>
      </p:sp>
      <p:sp>
        <p:nvSpPr>
          <p:cNvPr id="10" name="Text Placeholder 4">
            <a:extLst>
              <a:ext uri="{FF2B5EF4-FFF2-40B4-BE49-F238E27FC236}">
                <a16:creationId xmlns:a16="http://schemas.microsoft.com/office/drawing/2014/main" id="{BC302C19-AC43-0491-6AA1-59AB4AB16EC9}"/>
              </a:ext>
            </a:extLst>
          </p:cNvPr>
          <p:cNvSpPr txBox="1">
            <a:spLocks/>
          </p:cNvSpPr>
          <p:nvPr/>
        </p:nvSpPr>
        <p:spPr>
          <a:xfrm>
            <a:off x="187414" y="218246"/>
            <a:ext cx="12179845" cy="68509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Clr>
                <a:schemeClr val="accent1"/>
              </a:buClr>
              <a:buFont typeface="Arial" panose="020B0604020202020204" pitchFamily="34" charset="0"/>
              <a:buNone/>
            </a:pPr>
            <a:r>
              <a:rPr lang="en-US">
                <a:solidFill>
                  <a:srgbClr val="004C97"/>
                </a:solidFill>
                <a:latin typeface="Arial Black" panose="020B0A04020102020204" pitchFamily="34" charset="0"/>
                <a:cs typeface="+mn-cs"/>
              </a:rPr>
              <a:t>Financial Health: measuring financial well-being outcomes</a:t>
            </a:r>
            <a:endParaRPr lang="en-US" b="1"/>
          </a:p>
        </p:txBody>
      </p:sp>
    </p:spTree>
    <p:extLst>
      <p:ext uri="{BB962C8B-B14F-4D97-AF65-F5344CB8AC3E}">
        <p14:creationId xmlns:p14="http://schemas.microsoft.com/office/powerpoint/2010/main" val="1847610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6E069-6223-3313-8EC3-AB07AF6B7792}"/>
              </a:ext>
            </a:extLst>
          </p:cNvPr>
          <p:cNvSpPr>
            <a:spLocks noGrp="1"/>
          </p:cNvSpPr>
          <p:nvPr>
            <p:ph type="title"/>
          </p:nvPr>
        </p:nvSpPr>
        <p:spPr>
          <a:xfrm>
            <a:off x="242010" y="95573"/>
            <a:ext cx="9715500" cy="978486"/>
          </a:xfrm>
        </p:spPr>
        <p:txBody>
          <a:bodyPr>
            <a:normAutofit/>
          </a:bodyPr>
          <a:lstStyle/>
          <a:p>
            <a:r>
              <a:rPr lang="en-US">
                <a:latin typeface="Arial Black" panose="020B0A04020102020204" pitchFamily="34" charset="0"/>
              </a:rPr>
              <a:t>Regional variation in access to finance</a:t>
            </a:r>
          </a:p>
        </p:txBody>
      </p:sp>
      <p:pic>
        <p:nvPicPr>
          <p:cNvPr id="4" name="Picture 3">
            <a:extLst>
              <a:ext uri="{FF2B5EF4-FFF2-40B4-BE49-F238E27FC236}">
                <a16:creationId xmlns:a16="http://schemas.microsoft.com/office/drawing/2014/main" id="{E9730008-DF09-1B81-C11C-3558DC7DE865}"/>
              </a:ext>
            </a:extLst>
          </p:cNvPr>
          <p:cNvPicPr>
            <a:picLocks noChangeAspect="1"/>
          </p:cNvPicPr>
          <p:nvPr/>
        </p:nvPicPr>
        <p:blipFill>
          <a:blip r:embed="rId3"/>
          <a:stretch>
            <a:fillRect/>
          </a:stretch>
        </p:blipFill>
        <p:spPr>
          <a:xfrm>
            <a:off x="1506659" y="875414"/>
            <a:ext cx="9178682" cy="5742610"/>
          </a:xfrm>
          <a:prstGeom prst="rect">
            <a:avLst/>
          </a:prstGeom>
        </p:spPr>
      </p:pic>
      <p:sp>
        <p:nvSpPr>
          <p:cNvPr id="5" name="TextBox 4">
            <a:extLst>
              <a:ext uri="{FF2B5EF4-FFF2-40B4-BE49-F238E27FC236}">
                <a16:creationId xmlns:a16="http://schemas.microsoft.com/office/drawing/2014/main" id="{6DEF8905-DE83-4DF4-76B7-106425DD66CE}"/>
              </a:ext>
            </a:extLst>
          </p:cNvPr>
          <p:cNvSpPr txBox="1"/>
          <p:nvPr/>
        </p:nvSpPr>
        <p:spPr>
          <a:xfrm>
            <a:off x="242010" y="6223904"/>
            <a:ext cx="4101389" cy="369332"/>
          </a:xfrm>
          <a:prstGeom prst="rect">
            <a:avLst/>
          </a:prstGeom>
          <a:noFill/>
        </p:spPr>
        <p:txBody>
          <a:bodyPr wrap="square" rtlCol="0">
            <a:spAutoFit/>
          </a:bodyPr>
          <a:lstStyle/>
          <a:p>
            <a:r>
              <a:rPr lang="en-US"/>
              <a:t>Source: IMF </a:t>
            </a:r>
            <a:r>
              <a:rPr lang="en-US">
                <a:hlinkClick r:id="rId4"/>
              </a:rPr>
              <a:t>Financial Access Survey </a:t>
            </a:r>
            <a:endParaRPr lang="en-US"/>
          </a:p>
        </p:txBody>
      </p:sp>
      <p:sp>
        <p:nvSpPr>
          <p:cNvPr id="3" name="Rectangle 2">
            <a:extLst>
              <a:ext uri="{FF2B5EF4-FFF2-40B4-BE49-F238E27FC236}">
                <a16:creationId xmlns:a16="http://schemas.microsoft.com/office/drawing/2014/main" id="{671F43DF-BCC7-9764-37DD-FAB1FEAF815A}"/>
              </a:ext>
            </a:extLst>
          </p:cNvPr>
          <p:cNvSpPr/>
          <p:nvPr/>
        </p:nvSpPr>
        <p:spPr>
          <a:xfrm>
            <a:off x="1651808" y="5244029"/>
            <a:ext cx="8726081" cy="462704"/>
          </a:xfrm>
          <a:prstGeom prst="rect">
            <a:avLst/>
          </a:prstGeom>
          <a:noFill/>
          <a:ln>
            <a:solidFill>
              <a:srgbClr val="FF0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170000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27D9E-BB90-9757-9665-A780FA512F0E}"/>
              </a:ext>
            </a:extLst>
          </p:cNvPr>
          <p:cNvSpPr>
            <a:spLocks noGrp="1"/>
          </p:cNvSpPr>
          <p:nvPr>
            <p:ph type="title"/>
          </p:nvPr>
        </p:nvSpPr>
        <p:spPr>
          <a:xfrm>
            <a:off x="264405" y="308504"/>
            <a:ext cx="11479576" cy="978486"/>
          </a:xfrm>
        </p:spPr>
        <p:txBody>
          <a:bodyPr>
            <a:normAutofit/>
          </a:bodyPr>
          <a:lstStyle/>
          <a:p>
            <a:r>
              <a:rPr lang="en-US">
                <a:latin typeface="Arial Black" panose="020B0A04020102020204" pitchFamily="34" charset="0"/>
              </a:rPr>
              <a:t>Mobile money is playing a transformative role in expanding access to finance in SSA. </a:t>
            </a:r>
          </a:p>
        </p:txBody>
      </p:sp>
      <p:pic>
        <p:nvPicPr>
          <p:cNvPr id="5" name="Picture 4">
            <a:extLst>
              <a:ext uri="{FF2B5EF4-FFF2-40B4-BE49-F238E27FC236}">
                <a16:creationId xmlns:a16="http://schemas.microsoft.com/office/drawing/2014/main" id="{4262DF99-3904-781B-D789-532D59402D22}"/>
              </a:ext>
            </a:extLst>
          </p:cNvPr>
          <p:cNvPicPr>
            <a:picLocks noChangeAspect="1"/>
          </p:cNvPicPr>
          <p:nvPr/>
        </p:nvPicPr>
        <p:blipFill>
          <a:blip r:embed="rId3"/>
          <a:stretch>
            <a:fillRect/>
          </a:stretch>
        </p:blipFill>
        <p:spPr>
          <a:xfrm>
            <a:off x="760640" y="1286990"/>
            <a:ext cx="10767572" cy="5262506"/>
          </a:xfrm>
          <a:prstGeom prst="rect">
            <a:avLst/>
          </a:prstGeom>
        </p:spPr>
      </p:pic>
      <p:sp>
        <p:nvSpPr>
          <p:cNvPr id="7" name="TextBox 6">
            <a:extLst>
              <a:ext uri="{FF2B5EF4-FFF2-40B4-BE49-F238E27FC236}">
                <a16:creationId xmlns:a16="http://schemas.microsoft.com/office/drawing/2014/main" id="{0A71B007-9F4E-DC7E-C831-0720A0E8D01E}"/>
              </a:ext>
            </a:extLst>
          </p:cNvPr>
          <p:cNvSpPr txBox="1"/>
          <p:nvPr/>
        </p:nvSpPr>
        <p:spPr>
          <a:xfrm>
            <a:off x="5395511" y="5783588"/>
            <a:ext cx="608682" cy="369332"/>
          </a:xfrm>
          <a:prstGeom prst="rect">
            <a:avLst/>
          </a:prstGeom>
          <a:noFill/>
        </p:spPr>
        <p:txBody>
          <a:bodyPr wrap="square">
            <a:spAutoFit/>
          </a:bodyPr>
          <a:lstStyle/>
          <a:p>
            <a:r>
              <a:rPr lang="en-US">
                <a:hlinkClick r:id="rId4"/>
              </a:rPr>
              <a:t>FAS</a:t>
            </a:r>
            <a:endParaRPr lang="en-US"/>
          </a:p>
        </p:txBody>
      </p:sp>
    </p:spTree>
    <p:extLst>
      <p:ext uri="{BB962C8B-B14F-4D97-AF65-F5344CB8AC3E}">
        <p14:creationId xmlns:p14="http://schemas.microsoft.com/office/powerpoint/2010/main" val="166789776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C1A8E-CFC1-4D00-A238-6C604825DCBD}"/>
              </a:ext>
            </a:extLst>
          </p:cNvPr>
          <p:cNvSpPr>
            <a:spLocks noGrp="1"/>
          </p:cNvSpPr>
          <p:nvPr>
            <p:ph type="title"/>
          </p:nvPr>
        </p:nvSpPr>
        <p:spPr>
          <a:xfrm>
            <a:off x="-94904" y="-138552"/>
            <a:ext cx="7312675" cy="1357527"/>
          </a:xfrm>
        </p:spPr>
        <p:txBody>
          <a:bodyPr>
            <a:normAutofit/>
          </a:bodyPr>
          <a:lstStyle/>
          <a:p>
            <a:pPr algn="ctr"/>
            <a:r>
              <a:rPr lang="en-US" sz="2800" b="1">
                <a:solidFill>
                  <a:schemeClr val="tx2"/>
                </a:solidFill>
                <a:latin typeface="Arial Black" panose="020B0A04020102020204" pitchFamily="34" charset="0"/>
                <a:cs typeface="Arial" panose="020B0604020202020204" pitchFamily="34" charset="0"/>
              </a:rPr>
              <a:t>Policies to boost access to finance</a:t>
            </a:r>
          </a:p>
        </p:txBody>
      </p:sp>
      <p:sp>
        <p:nvSpPr>
          <p:cNvPr id="4" name="TextBox 3">
            <a:extLst>
              <a:ext uri="{FF2B5EF4-FFF2-40B4-BE49-F238E27FC236}">
                <a16:creationId xmlns:a16="http://schemas.microsoft.com/office/drawing/2014/main" id="{D0B2ADCC-ED31-1005-79EC-8793D2AA07AE}"/>
              </a:ext>
            </a:extLst>
          </p:cNvPr>
          <p:cNvSpPr txBox="1"/>
          <p:nvPr/>
        </p:nvSpPr>
        <p:spPr>
          <a:xfrm>
            <a:off x="482190" y="2633341"/>
            <a:ext cx="2729123" cy="1631216"/>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See IMF </a:t>
            </a:r>
            <a:r>
              <a:rPr lang="en-US" sz="2000">
                <a:latin typeface="Arial" panose="020B0604020202020204" pitchFamily="34" charset="0"/>
                <a:cs typeface="Arial" panose="020B0604020202020204" pitchFamily="34" charset="0"/>
                <a:hlinkClick r:id="rId3"/>
              </a:rPr>
              <a:t>Financial Access Survey </a:t>
            </a:r>
            <a:r>
              <a:rPr lang="en-US" sz="2000">
                <a:latin typeface="Arial" panose="020B0604020202020204" pitchFamily="34" charset="0"/>
                <a:cs typeface="Arial" panose="020B0604020202020204" pitchFamily="34" charset="0"/>
              </a:rPr>
              <a:t>(FAS) for country examples and disaggregated data</a:t>
            </a:r>
          </a:p>
        </p:txBody>
      </p:sp>
      <p:graphicFrame>
        <p:nvGraphicFramePr>
          <p:cNvPr id="5" name="Diagram 4">
            <a:extLst>
              <a:ext uri="{FF2B5EF4-FFF2-40B4-BE49-F238E27FC236}">
                <a16:creationId xmlns:a16="http://schemas.microsoft.com/office/drawing/2014/main" id="{E6A2E89A-136A-3AC4-66AE-45435AC5273A}"/>
              </a:ext>
            </a:extLst>
          </p:cNvPr>
          <p:cNvGraphicFramePr/>
          <p:nvPr>
            <p:extLst>
              <p:ext uri="{D42A27DB-BD31-4B8C-83A1-F6EECF244321}">
                <p14:modId xmlns:p14="http://schemas.microsoft.com/office/powerpoint/2010/main" val="3228355557"/>
              </p:ext>
            </p:extLst>
          </p:nvPr>
        </p:nvGraphicFramePr>
        <p:xfrm>
          <a:off x="2635922" y="540449"/>
          <a:ext cx="9719326" cy="62199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44735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00DCED9F-0208-1332-E0FF-ED49DF9A2CB7}"/>
              </a:ext>
            </a:extLst>
          </p:cNvPr>
          <p:cNvSpPr>
            <a:spLocks noGrp="1"/>
          </p:cNvSpPr>
          <p:nvPr>
            <p:ph sz="quarter" idx="11"/>
          </p:nvPr>
        </p:nvSpPr>
        <p:spPr>
          <a:xfrm>
            <a:off x="744538" y="347663"/>
            <a:ext cx="10633075" cy="6269037"/>
          </a:xfrm>
        </p:spPr>
        <p:txBody>
          <a:bodyPr>
            <a:noAutofit/>
          </a:bodyPr>
          <a:lstStyle/>
          <a:p>
            <a:pPr marL="0" indent="0">
              <a:lnSpc>
                <a:spcPct val="120000"/>
              </a:lnSpc>
              <a:spcBef>
                <a:spcPts val="0"/>
              </a:spcBef>
              <a:spcAft>
                <a:spcPts val="1200"/>
              </a:spcAft>
              <a:buNone/>
              <a:tabLst>
                <a:tab pos="457200" algn="l"/>
                <a:tab pos="457200" algn="l"/>
              </a:tabLst>
            </a:pPr>
            <a:r>
              <a:rPr lang="en-US" sz="2800">
                <a:ea typeface="Microsoft JhengHei" panose="020B0604030504040204" pitchFamily="34" charset="-120"/>
              </a:rPr>
              <a:t>Questions for discussion:</a:t>
            </a:r>
          </a:p>
          <a:p>
            <a:pPr marL="457200" indent="-457200">
              <a:lnSpc>
                <a:spcPct val="120000"/>
              </a:lnSpc>
              <a:spcBef>
                <a:spcPts val="1200"/>
              </a:spcBef>
              <a:spcAft>
                <a:spcPts val="1200"/>
              </a:spcAft>
              <a:buFont typeface="Arial" panose="020B0604020202020204" pitchFamily="34" charset="0"/>
              <a:buChar char="•"/>
              <a:tabLst>
                <a:tab pos="457200" algn="l"/>
                <a:tab pos="457200" algn="l"/>
              </a:tabLst>
            </a:pPr>
            <a:r>
              <a:rPr lang="en-US" sz="2400" b="1">
                <a:latin typeface="Arial" panose="020B0604020202020204" pitchFamily="34" charset="0"/>
                <a:ea typeface="Microsoft JhengHei" panose="020B0604030504040204" pitchFamily="34" charset="-120"/>
                <a:cs typeface="Arial" panose="020B0604020202020204" pitchFamily="34" charset="0"/>
              </a:rPr>
              <a:t>Are there policy reforms in your ministry or agency that could yield results? </a:t>
            </a:r>
          </a:p>
          <a:p>
            <a:pPr marL="457200" indent="-457200">
              <a:lnSpc>
                <a:spcPct val="120000"/>
              </a:lnSpc>
              <a:spcBef>
                <a:spcPts val="1200"/>
              </a:spcBef>
              <a:spcAft>
                <a:spcPts val="1200"/>
              </a:spcAft>
              <a:buFont typeface="Arial" panose="020B0604020202020204" pitchFamily="34" charset="0"/>
              <a:buChar char="•"/>
              <a:tabLst>
                <a:tab pos="457200" algn="l"/>
                <a:tab pos="457200" algn="l"/>
              </a:tabLst>
            </a:pPr>
            <a:r>
              <a:rPr lang="en-US" sz="2400" b="1">
                <a:latin typeface="Arial" panose="020B0604020202020204" pitchFamily="34" charset="0"/>
                <a:ea typeface="Microsoft JhengHei" panose="020B0604030504040204" pitchFamily="34" charset="-120"/>
                <a:cs typeface="Arial" panose="020B0604020202020204" pitchFamily="34" charset="0"/>
              </a:rPr>
              <a:t>How can you work within your own ministry/agency to address women’s economic participation?</a:t>
            </a:r>
          </a:p>
          <a:p>
            <a:pPr marL="457200" indent="-457200">
              <a:lnSpc>
                <a:spcPct val="120000"/>
              </a:lnSpc>
              <a:spcBef>
                <a:spcPts val="1200"/>
              </a:spcBef>
              <a:spcAft>
                <a:spcPts val="1200"/>
              </a:spcAft>
              <a:buFont typeface="Arial" panose="020B0604020202020204" pitchFamily="34" charset="0"/>
              <a:buChar char="•"/>
              <a:tabLst>
                <a:tab pos="457200" algn="l"/>
                <a:tab pos="457200" algn="l"/>
              </a:tabLst>
            </a:pPr>
            <a:r>
              <a:rPr lang="en-US" sz="2400" b="1">
                <a:latin typeface="Arial" panose="020B0604020202020204" pitchFamily="34" charset="0"/>
                <a:ea typeface="Microsoft JhengHei" panose="020B0604030504040204" pitchFamily="34" charset="-120"/>
                <a:cs typeface="Arial" panose="020B0604020202020204" pitchFamily="34" charset="0"/>
              </a:rPr>
              <a:t>Can you collaborate with other ministries and organizations to i) identify challenges and barriers to women’s economic participation </a:t>
            </a:r>
            <a:r>
              <a:rPr lang="en-US" sz="2400" b="1" i="1">
                <a:latin typeface="Arial" panose="020B0604020202020204" pitchFamily="34" charset="0"/>
                <a:ea typeface="Microsoft JhengHei" panose="020B0604030504040204" pitchFamily="34" charset="-120"/>
                <a:cs typeface="Arial" panose="020B0604020202020204" pitchFamily="34" charset="0"/>
              </a:rPr>
              <a:t>and </a:t>
            </a:r>
            <a:r>
              <a:rPr lang="en-US" sz="2400" b="1">
                <a:latin typeface="Arial" panose="020B0604020202020204" pitchFamily="34" charset="0"/>
                <a:ea typeface="Microsoft JhengHei" panose="020B0604030504040204" pitchFamily="34" charset="-120"/>
                <a:cs typeface="Arial" panose="020B0604020202020204" pitchFamily="34" charset="0"/>
              </a:rPr>
              <a:t>ii) design policies to address them?</a:t>
            </a:r>
          </a:p>
          <a:p>
            <a:pPr marL="0" indent="0">
              <a:lnSpc>
                <a:spcPct val="120000"/>
              </a:lnSpc>
              <a:spcBef>
                <a:spcPts val="0"/>
              </a:spcBef>
              <a:spcAft>
                <a:spcPts val="1200"/>
              </a:spcAft>
              <a:buNone/>
              <a:tabLst>
                <a:tab pos="457200" algn="l"/>
                <a:tab pos="457200" algn="l"/>
              </a:tabLst>
            </a:pPr>
            <a:r>
              <a:rPr lang="en-US" sz="3200">
                <a:ea typeface="Microsoft JhengHei" panose="020B0604030504040204" pitchFamily="34" charset="-120"/>
              </a:rPr>
              <a:t> </a:t>
            </a:r>
            <a:endParaRPr lang="en-US" sz="2400">
              <a:ea typeface="Microsoft JhengHei" panose="020B0604030504040204" pitchFamily="34" charset="-120"/>
            </a:endParaRPr>
          </a:p>
        </p:txBody>
      </p:sp>
    </p:spTree>
    <p:extLst>
      <p:ext uri="{BB962C8B-B14F-4D97-AF65-F5344CB8AC3E}">
        <p14:creationId xmlns:p14="http://schemas.microsoft.com/office/powerpoint/2010/main" val="3878391732"/>
      </p:ext>
    </p:extLst>
  </p:cSld>
  <p:clrMapOvr>
    <a:masterClrMapping/>
  </p:clrMapOvr>
  <p:transition>
    <p:fade/>
  </p:transition>
</p:sld>
</file>

<file path=ppt/theme/theme1.xml><?xml version="1.0" encoding="utf-8"?>
<a:theme xmlns:a="http://schemas.openxmlformats.org/drawingml/2006/main" name="Custom Design">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ExternalPowerPoint" id="{1321CDCF-73F3-F24E-AE22-CEC7E53E1B8D}" vid="{BD453AAE-108E-BA46-89C7-F4098155657C}"/>
    </a:ext>
  </a:extLst>
</a:theme>
</file>

<file path=ppt/theme/theme2.xml><?xml version="1.0" encoding="utf-8"?>
<a:theme xmlns:a="http://schemas.openxmlformats.org/drawingml/2006/main" name="1_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LEG_PresentationTemplate-General" id="{13F5556C-5BC5-9542-AB57-73990FD9E90C}" vid="{2B303AC9-B9EA-B048-9D5C-6C975EA170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0c6f1c3b-ea25-4e6f-91c5-aeb92d62b0fb">
      <UserInfo>
        <DisplayName>Newiak, Monique</DisplayName>
        <AccountId>36</AccountId>
        <AccountType/>
      </UserInfo>
      <UserInfo>
        <DisplayName>Fabrizio, Stefania</DisplayName>
        <AccountId>13</AccountId>
        <AccountType/>
      </UserInfo>
    </SharedWithUsers>
    <lcf76f155ced4ddcb4097134ff3c332f xmlns="3b9dc015-dd13-448b-b628-7af3b634cca4">
      <Terms xmlns="http://schemas.microsoft.com/office/infopath/2007/PartnerControls"/>
    </lcf76f155ced4ddcb4097134ff3c332f>
    <TaxCatchAll xmlns="0c6f1c3b-ea25-4e6f-91c5-aeb92d62b0f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808F46CC7369E44A38836926FD52CA4" ma:contentTypeVersion="17" ma:contentTypeDescription="Create a new document." ma:contentTypeScope="" ma:versionID="34d57240de38c5ca99423c2d81288a91">
  <xsd:schema xmlns:xsd="http://www.w3.org/2001/XMLSchema" xmlns:xs="http://www.w3.org/2001/XMLSchema" xmlns:p="http://schemas.microsoft.com/office/2006/metadata/properties" xmlns:ns2="3b9dc015-dd13-448b-b628-7af3b634cca4" xmlns:ns3="0c6f1c3b-ea25-4e6f-91c5-aeb92d62b0fb" targetNamespace="http://schemas.microsoft.com/office/2006/metadata/properties" ma:root="true" ma:fieldsID="e270c38f22e04ee44ccb8e6601e8d1f8" ns2:_="" ns3:_="">
    <xsd:import namespace="3b9dc015-dd13-448b-b628-7af3b634cca4"/>
    <xsd:import namespace="0c6f1c3b-ea25-4e6f-91c5-aeb92d62b0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9dc015-dd13-448b-b628-7af3b634cc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1b0229-19ef-4425-8520-9f00e8db62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6f1c3b-ea25-4e6f-91c5-aeb92d62b0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4a2595-35b6-44ef-becd-33de771bf95a}" ma:internalName="TaxCatchAll" ma:showField="CatchAllData" ma:web="0c6f1c3b-ea25-4e6f-91c5-aeb92d62b0f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162A38-A1B6-44EC-9978-4717904F1FF6}">
  <ds:schemaRefs>
    <ds:schemaRef ds:uri="0c6f1c3b-ea25-4e6f-91c5-aeb92d62b0fb"/>
    <ds:schemaRef ds:uri="3b9dc015-dd13-448b-b628-7af3b634cca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4935ABD-58BE-42FA-9E20-5BE820CEF5AA}">
  <ds:schemaRefs>
    <ds:schemaRef ds:uri="0c6f1c3b-ea25-4e6f-91c5-aeb92d62b0fb"/>
    <ds:schemaRef ds:uri="3b9dc015-dd13-448b-b628-7af3b634cc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FC8D683-7F18-4E49-BDB3-3705720246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IMF_GenericExternalPowerPoint</Template>
  <Application>Microsoft Office PowerPoint</Application>
  <PresentationFormat>Widescreen</PresentationFormat>
  <Slides>27</Slides>
  <Notes>21</Notes>
  <HiddenSlides>0</HiddenSlide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Custom Design</vt:lpstr>
      <vt:lpstr>1_Custom Design</vt:lpstr>
      <vt:lpstr>From Diagnostics to Policy Questions</vt:lpstr>
      <vt:lpstr>PowerPoint Presentation</vt:lpstr>
      <vt:lpstr>PowerPoint Presentation</vt:lpstr>
      <vt:lpstr>PowerPoint Presentation</vt:lpstr>
      <vt:lpstr>Why can increasing women’s economic participation boost GDP?</vt:lpstr>
      <vt:lpstr>Let’s look at GDP through the demand side:</vt:lpstr>
      <vt:lpstr>Other factors to consider...</vt:lpstr>
      <vt:lpstr>Boosting FLFP is critical for sustainable and strong growth and can amplify the impact of structural reforms</vt:lpstr>
      <vt:lpstr>Estimates in IMF country work show sizeable long-run gains from higher FLFP</vt:lpstr>
      <vt:lpstr>PowerPoint Presentation</vt:lpstr>
      <vt:lpstr>Sources of Legal Impediments</vt:lpstr>
      <vt:lpstr>PowerPoint Presentation</vt:lpstr>
      <vt:lpstr>Macroeconomic gains from legal reforms</vt:lpstr>
      <vt:lpstr>IMF research points to increases in FLFP after legal reforms.</vt:lpstr>
      <vt:lpstr>FLFP is higher in countries with supportive legal reforms.   </vt:lpstr>
      <vt:lpstr>Sources of Legal Impediments</vt:lpstr>
      <vt:lpstr>Select IMF country reports with a focus on legal barriers and women’s economic participation; WB resources</vt:lpstr>
      <vt:lpstr>PowerPoint Presentation</vt:lpstr>
      <vt:lpstr>Fiscal policies</vt:lpstr>
      <vt:lpstr>Fiscal policies (continued)</vt:lpstr>
      <vt:lpstr>PowerPoint Presentation</vt:lpstr>
      <vt:lpstr>PowerPoint Presentation</vt:lpstr>
      <vt:lpstr>Financial Health</vt:lpstr>
      <vt:lpstr>Regional variation in access to finance</vt:lpstr>
      <vt:lpstr>Mobile money is playing a transformative role in expanding access to finance in SSA. </vt:lpstr>
      <vt:lpstr>Policies to boost access to finance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a visually integrated Fund</dc:title>
  <dc:creator>Kourdali, Baya</dc:creator>
  <cp:revision>27</cp:revision>
  <cp:lastPrinted>2023-06-10T07:45:01Z</cp:lastPrinted>
  <dcterms:created xsi:type="dcterms:W3CDTF">2018-03-12T18:37:20Z</dcterms:created>
  <dcterms:modified xsi:type="dcterms:W3CDTF">2026-05-21T14:14:34Z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eDOCS AutoSave">
    <vt:lpwstr/>
  </property>
  <property fmtid="{D5CDD505-2E9C-101B-9397-08002B2CF9AE}" pid="4" name="ContentTypeId">
    <vt:lpwstr>0x0101003808F46CC7369E44A38836926FD52CA4</vt:lpwstr>
  </property>
  <property fmtid="{D5CDD505-2E9C-101B-9397-08002B2CF9AE}" pid="5" name="MediaServiceImageTags">
    <vt:lpwstr/>
  </property>
  <property fmtid="{D5CDD505-2E9C-101B-9397-08002B2CF9AE}" pid="6" name="MSIP_Label_0c07ed86-5dc5-4593-ad03-a8684b843815_Enabled">
    <vt:lpwstr>true</vt:lpwstr>
  </property>
  <property fmtid="{D5CDD505-2E9C-101B-9397-08002B2CF9AE}" pid="7" name="MSIP_Label_0c07ed86-5dc5-4593-ad03-a8684b843815_SetDate">
    <vt:lpwstr>2026-02-03T14:24:23Z</vt:lpwstr>
  </property>
  <property fmtid="{D5CDD505-2E9C-101B-9397-08002B2CF9AE}" pid="8" name="MSIP_Label_0c07ed86-5dc5-4593-ad03-a8684b843815_Method">
    <vt:lpwstr>Privileged</vt:lpwstr>
  </property>
  <property fmtid="{D5CDD505-2E9C-101B-9397-08002B2CF9AE}" pid="9" name="MSIP_Label_0c07ed86-5dc5-4593-ad03-a8684b843815_Name">
    <vt:lpwstr>0c07ed86-5dc5-4593-ad03-a8684b843815</vt:lpwstr>
  </property>
  <property fmtid="{D5CDD505-2E9C-101B-9397-08002B2CF9AE}" pid="10" name="MSIP_Label_0c07ed86-5dc5-4593-ad03-a8684b843815_SiteId">
    <vt:lpwstr>8085fa43-302e-45bd-b171-a6648c3b6be7</vt:lpwstr>
  </property>
  <property fmtid="{D5CDD505-2E9C-101B-9397-08002B2CF9AE}" pid="11" name="MSIP_Label_0c07ed86-5dc5-4593-ad03-a8684b843815_ActionId">
    <vt:lpwstr>6be01676-eaed-4f13-8851-3d1ccc97646b</vt:lpwstr>
  </property>
  <property fmtid="{D5CDD505-2E9C-101B-9397-08002B2CF9AE}" pid="12" name="MSIP_Label_0c07ed86-5dc5-4593-ad03-a8684b843815_ContentBits">
    <vt:lpwstr>0</vt:lpwstr>
  </property>
  <property fmtid="{D5CDD505-2E9C-101B-9397-08002B2CF9AE}" pid="13" name="MSIP_Label_0c07ed86-5dc5-4593-ad03-a8684b843815_Tag">
    <vt:lpwstr>10, 0, 1, 1</vt:lpwstr>
  </property>
  <property fmtid="{D5CDD505-2E9C-101B-9397-08002B2CF9AE}" pid="14" name="MSIP_Label_5b0716c7-1bba-4fad-a90d-ee558de007a7_Extended_MSFT_Method">
    <vt:lpwstr>Privileged</vt:lpwstr>
  </property>
  <property fmtid="{D5CDD505-2E9C-101B-9397-08002B2CF9AE}" pid="15" name="MSIP_Label_5b0716c7-1bba-4fad-a90d-ee558de007a7_SetDate">
    <vt:lpwstr>2026-02-03T07:53:26Z</vt:lpwstr>
  </property>
  <property fmtid="{D5CDD505-2E9C-101B-9397-08002B2CF9AE}" pid="16" name="MSIP_Label_5b0716c7-1bba-4fad-a90d-ee558de007a7_SiteId">
    <vt:lpwstr>8085fa43-302e-45bd-b171-a6648c3b6be7</vt:lpwstr>
  </property>
  <property fmtid="{D5CDD505-2E9C-101B-9397-08002B2CF9AE}" pid="17" name="MSIP_Label_5b0716c7-1bba-4fad-a90d-ee558de007a7_Name">
    <vt:lpwstr>Email Encrypt</vt:lpwstr>
  </property>
  <property fmtid="{D5CDD505-2E9C-101B-9397-08002B2CF9AE}" pid="18" name="MSIP_Label_5b0716c7-1bba-4fad-a90d-ee558de007a7_Enabled">
    <vt:lpwstr>True</vt:lpwstr>
  </property>
</Properties>
</file>