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3.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4.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4"/>
    <p:sldMasterId id="2147483719" r:id="rId5"/>
    <p:sldMasterId id="2147483736" r:id="rId6"/>
    <p:sldMasterId id="2147483758" r:id="rId7"/>
    <p:sldMasterId id="2147483775" r:id="rId8"/>
  </p:sldMasterIdLst>
  <p:notesMasterIdLst>
    <p:notesMasterId r:id="rId54"/>
  </p:notesMasterIdLst>
  <p:sldIdLst>
    <p:sldId id="4368" r:id="rId9"/>
    <p:sldId id="2142533256" r:id="rId10"/>
    <p:sldId id="4277" r:id="rId11"/>
    <p:sldId id="2142533289" r:id="rId12"/>
    <p:sldId id="2142533203" r:id="rId13"/>
    <p:sldId id="2142533163" r:id="rId14"/>
    <p:sldId id="2142533151" r:id="rId15"/>
    <p:sldId id="2142533254" r:id="rId16"/>
    <p:sldId id="2142533286" r:id="rId17"/>
    <p:sldId id="2142533287" r:id="rId18"/>
    <p:sldId id="2142533288" r:id="rId19"/>
    <p:sldId id="2142533275" r:id="rId20"/>
    <p:sldId id="2142533265" r:id="rId21"/>
    <p:sldId id="2142533262" r:id="rId22"/>
    <p:sldId id="2142533267" r:id="rId23"/>
    <p:sldId id="2142533273" r:id="rId24"/>
    <p:sldId id="2142533272" r:id="rId25"/>
    <p:sldId id="2142533279" r:id="rId26"/>
    <p:sldId id="4489" r:id="rId27"/>
    <p:sldId id="2142533274" r:id="rId28"/>
    <p:sldId id="2142533280" r:id="rId29"/>
    <p:sldId id="2142533282" r:id="rId30"/>
    <p:sldId id="2142533281" r:id="rId31"/>
    <p:sldId id="2142533283" r:id="rId32"/>
    <p:sldId id="2142533284" r:id="rId33"/>
    <p:sldId id="2142533285" r:id="rId34"/>
    <p:sldId id="2142533269" r:id="rId35"/>
    <p:sldId id="2142533239" r:id="rId36"/>
    <p:sldId id="2142533258" r:id="rId37"/>
    <p:sldId id="4303" r:id="rId38"/>
    <p:sldId id="2142533259" r:id="rId39"/>
    <p:sldId id="2142533277" r:id="rId40"/>
    <p:sldId id="2142533260" r:id="rId41"/>
    <p:sldId id="2142533240" r:id="rId42"/>
    <p:sldId id="2142533249" r:id="rId43"/>
    <p:sldId id="2142533252" r:id="rId44"/>
    <p:sldId id="2142533250" r:id="rId45"/>
    <p:sldId id="2142533242" r:id="rId46"/>
    <p:sldId id="2142533253" r:id="rId47"/>
    <p:sldId id="2142533270" r:id="rId48"/>
    <p:sldId id="2142533278" r:id="rId49"/>
    <p:sldId id="2142533261" r:id="rId50"/>
    <p:sldId id="2142533154" r:id="rId51"/>
    <p:sldId id="1155" r:id="rId52"/>
    <p:sldId id="2142533268" r:id="rId53"/>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DFAED0F-A736-04B0-47E6-CBB9D70C5951}" name="Fareed, Fozan" initials="FF" userId="S::FFareed@imf.org::e87b38f0-e26b-4ce5-8c6f-55c9336600e3" providerId="AD"/>
  <p188:author id="{6CCD4718-9DBA-08B6-F47B-24BA7E027995}" name="Huayta Zapata, Katia Paola" initials="KH" userId="S::KHuaytaZapata@imf.org::1e97a834-4470-4c19-a4a1-2903552777ec" providerId="AD"/>
  <p188:author id="{1CE0B55D-A7EA-144A-58D4-55AC956D0193}" name="Segoviano, Miguel A." initials="MS" userId="S::MSegoviano@imf.org::acc83bc5-8687-40ff-873b-203a6f74462f" providerId="AD"/>
  <p188:author id="{BF09FF73-6918-5C56-C96A-8A5E09E29AFF}" name="Ostojic, Dragana" initials="DO" userId="S::DOstojic@imf.org::31a7549c-a071-48a7-9c2c-afcaae643b43" providerId="AD"/>
  <p188:author id="{8B6B03A7-29C8-F0F1-A461-7A13276140B5}" name="Gomes, Camila" initials="GC" userId="S::cgomes@imf.org::9c65db88-8c13-47ee-8d8b-2f1ff2a3ede9" providerId="AD"/>
  <p188:author id="{2708D3D2-1E49-BB83-2378-9650164C949B}" name="Kolovich, Lisa" initials="LK" userId="S::LKolovich@imf.org::705d1648-fc44-4335-a909-7bcc0ef9bfc0" providerId="AD"/>
  <p188:author id="{726F48E1-1AC7-97CD-67E0-56789CAB4D0B}" name="Chhabra, Esha" initials="EC" userId="S::EChhabra@imf.org::c5729748-1bbe-4ce8-b745-7bc200452c52" providerId="AD"/>
  <p188:author id="{0D8F83E4-EF17-15AA-7DA0-1A43993D769E}" name="Malta, Vivian" initials="VM" userId="S::VMalta@imf.org::c9130ee9-f22b-44aa-bb73-83a935e86cf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C97"/>
    <a:srgbClr val="33CC33"/>
    <a:srgbClr val="37BCBF"/>
    <a:srgbClr val="F66A0A"/>
    <a:srgbClr val="F89708"/>
    <a:srgbClr val="F2A900"/>
    <a:srgbClr val="B1B3B1"/>
    <a:srgbClr val="A2A4A3"/>
    <a:srgbClr val="369DE0"/>
    <a:srgbClr val="57A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1E022B-AEFF-4AD1-AF85-07CD73CD7579}" v="5" dt="2026-05-26T05:08:45.9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348" autoAdjust="0"/>
  </p:normalViewPr>
  <p:slideViewPr>
    <p:cSldViewPr snapToGrid="0">
      <p:cViewPr varScale="1">
        <p:scale>
          <a:sx n="61" d="100"/>
          <a:sy n="61" d="100"/>
        </p:scale>
        <p:origin x="788"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tableStyles" Target="tableStyles.xml"/><Relationship Id="rId5" Type="http://schemas.openxmlformats.org/officeDocument/2006/relationships/slideMaster" Target="slideMasters/slideMaster2.xml"/><Relationship Id="rId61" Type="http://schemas.microsoft.com/office/2018/10/relationships/authors" Target="authors.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43.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microsoft.com/office/2016/11/relationships/changesInfo" Target="changesInfos/changesInfo1.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theme" Target="theme/theme1.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ta, Vivian" userId="c9130ee9-f22b-44aa-bb73-83a935e86cf9" providerId="ADAL" clId="{9140235C-6F4B-4C4C-96E9-70B35F501552}"/>
    <pc:docChg chg="undo redo custSel addSld delSld modSld sldOrd">
      <pc:chgData name="Malta, Vivian" userId="c9130ee9-f22b-44aa-bb73-83a935e86cf9" providerId="ADAL" clId="{9140235C-6F4B-4C4C-96E9-70B35F501552}" dt="2026-05-26T05:08:45.954" v="1251"/>
      <pc:docMkLst>
        <pc:docMk/>
      </pc:docMkLst>
      <pc:sldChg chg="del">
        <pc:chgData name="Malta, Vivian" userId="c9130ee9-f22b-44aa-bb73-83a935e86cf9" providerId="ADAL" clId="{9140235C-6F4B-4C4C-96E9-70B35F501552}" dt="2026-05-26T05:08:23.368" v="1250" actId="2696"/>
        <pc:sldMkLst>
          <pc:docMk/>
          <pc:sldMk cId="1614090254" sldId="4303"/>
        </pc:sldMkLst>
      </pc:sldChg>
      <pc:sldChg chg="add">
        <pc:chgData name="Malta, Vivian" userId="c9130ee9-f22b-44aa-bb73-83a935e86cf9" providerId="ADAL" clId="{9140235C-6F4B-4C4C-96E9-70B35F501552}" dt="2026-05-26T05:08:45.954" v="1251"/>
        <pc:sldMkLst>
          <pc:docMk/>
          <pc:sldMk cId="2385894298" sldId="4303"/>
        </pc:sldMkLst>
      </pc:sldChg>
      <pc:sldChg chg="modSp mod">
        <pc:chgData name="Malta, Vivian" userId="c9130ee9-f22b-44aa-bb73-83a935e86cf9" providerId="ADAL" clId="{9140235C-6F4B-4C4C-96E9-70B35F501552}" dt="2026-05-11T21:10:51.889" v="575" actId="6549"/>
        <pc:sldMkLst>
          <pc:docMk/>
          <pc:sldMk cId="3307629062" sldId="4368"/>
        </pc:sldMkLst>
        <pc:spChg chg="mod">
          <ac:chgData name="Malta, Vivian" userId="c9130ee9-f22b-44aa-bb73-83a935e86cf9" providerId="ADAL" clId="{9140235C-6F4B-4C4C-96E9-70B35F501552}" dt="2026-05-11T21:10:51.889" v="575" actId="6549"/>
          <ac:spMkLst>
            <pc:docMk/>
            <pc:sldMk cId="3307629062" sldId="4368"/>
            <ac:spMk id="2" creationId="{A9354EC1-60D1-CD48-8690-FF0B6D8AC540}"/>
          </ac:spMkLst>
        </pc:spChg>
      </pc:sldChg>
      <pc:sldChg chg="add">
        <pc:chgData name="Malta, Vivian" userId="c9130ee9-f22b-44aa-bb73-83a935e86cf9" providerId="ADAL" clId="{9140235C-6F4B-4C4C-96E9-70B35F501552}" dt="2026-05-26T05:08:05.086" v="1249"/>
        <pc:sldMkLst>
          <pc:docMk/>
          <pc:sldMk cId="913458819" sldId="4489"/>
        </pc:sldMkLst>
      </pc:sldChg>
      <pc:sldChg chg="modSp add del mod">
        <pc:chgData name="Malta, Vivian" userId="c9130ee9-f22b-44aa-bb73-83a935e86cf9" providerId="ADAL" clId="{9140235C-6F4B-4C4C-96E9-70B35F501552}" dt="2026-05-26T05:07:48.471" v="1248" actId="2696"/>
        <pc:sldMkLst>
          <pc:docMk/>
          <pc:sldMk cId="3110994737" sldId="4489"/>
        </pc:sldMkLst>
        <pc:spChg chg="mod">
          <ac:chgData name="Malta, Vivian" userId="c9130ee9-f22b-44aa-bb73-83a935e86cf9" providerId="ADAL" clId="{9140235C-6F4B-4C4C-96E9-70B35F501552}" dt="2026-05-11T21:36:44.816" v="1205" actId="14100"/>
          <ac:spMkLst>
            <pc:docMk/>
            <pc:sldMk cId="3110994737" sldId="4489"/>
            <ac:spMk id="3" creationId="{68575BED-ACFE-AE2E-3376-69C0074687EF}"/>
          </ac:spMkLst>
        </pc:spChg>
        <pc:spChg chg="mod">
          <ac:chgData name="Malta, Vivian" userId="c9130ee9-f22b-44aa-bb73-83a935e86cf9" providerId="ADAL" clId="{9140235C-6F4B-4C4C-96E9-70B35F501552}" dt="2026-05-11T21:31:29.269" v="1133" actId="20577"/>
          <ac:spMkLst>
            <pc:docMk/>
            <pc:sldMk cId="3110994737" sldId="4489"/>
            <ac:spMk id="21" creationId="{E48E5405-3342-7787-13B0-D18F977EC32C}"/>
          </ac:spMkLst>
        </pc:spChg>
        <pc:spChg chg="mod">
          <ac:chgData name="Malta, Vivian" userId="c9130ee9-f22b-44aa-bb73-83a935e86cf9" providerId="ADAL" clId="{9140235C-6F4B-4C4C-96E9-70B35F501552}" dt="2026-05-11T21:31:14.021" v="1121" actId="20577"/>
          <ac:spMkLst>
            <pc:docMk/>
            <pc:sldMk cId="3110994737" sldId="4489"/>
            <ac:spMk id="23" creationId="{FF742DC5-1B7E-C519-710A-26E766B0EB92}"/>
          </ac:spMkLst>
        </pc:spChg>
      </pc:sldChg>
      <pc:sldChg chg="del">
        <pc:chgData name="Malta, Vivian" userId="c9130ee9-f22b-44aa-bb73-83a935e86cf9" providerId="ADAL" clId="{9140235C-6F4B-4C4C-96E9-70B35F501552}" dt="2026-05-26T05:06:58.315" v="1246" actId="2696"/>
        <pc:sldMkLst>
          <pc:docMk/>
          <pc:sldMk cId="298107890" sldId="2142533151"/>
        </pc:sldMkLst>
      </pc:sldChg>
      <pc:sldChg chg="add">
        <pc:chgData name="Malta, Vivian" userId="c9130ee9-f22b-44aa-bb73-83a935e86cf9" providerId="ADAL" clId="{9140235C-6F4B-4C4C-96E9-70B35F501552}" dt="2026-05-26T05:07:08.321" v="1247"/>
        <pc:sldMkLst>
          <pc:docMk/>
          <pc:sldMk cId="619362370" sldId="2142533151"/>
        </pc:sldMkLst>
      </pc:sldChg>
      <pc:sldChg chg="del">
        <pc:chgData name="Malta, Vivian" userId="c9130ee9-f22b-44aa-bb73-83a935e86cf9" providerId="ADAL" clId="{9140235C-6F4B-4C4C-96E9-70B35F501552}" dt="2026-05-26T05:06:58.315" v="1246" actId="2696"/>
        <pc:sldMkLst>
          <pc:docMk/>
          <pc:sldMk cId="565628255" sldId="2142533163"/>
        </pc:sldMkLst>
      </pc:sldChg>
      <pc:sldChg chg="add">
        <pc:chgData name="Malta, Vivian" userId="c9130ee9-f22b-44aa-bb73-83a935e86cf9" providerId="ADAL" clId="{9140235C-6F4B-4C4C-96E9-70B35F501552}" dt="2026-05-26T05:07:08.321" v="1247"/>
        <pc:sldMkLst>
          <pc:docMk/>
          <pc:sldMk cId="2381387858" sldId="2142533163"/>
        </pc:sldMkLst>
      </pc:sldChg>
      <pc:sldChg chg="add">
        <pc:chgData name="Malta, Vivian" userId="c9130ee9-f22b-44aa-bb73-83a935e86cf9" providerId="ADAL" clId="{9140235C-6F4B-4C4C-96E9-70B35F501552}" dt="2026-05-26T05:07:08.321" v="1247"/>
        <pc:sldMkLst>
          <pc:docMk/>
          <pc:sldMk cId="2944858316" sldId="2142533203"/>
        </pc:sldMkLst>
      </pc:sldChg>
      <pc:sldChg chg="del">
        <pc:chgData name="Malta, Vivian" userId="c9130ee9-f22b-44aa-bb73-83a935e86cf9" providerId="ADAL" clId="{9140235C-6F4B-4C4C-96E9-70B35F501552}" dt="2026-05-26T05:06:58.315" v="1246" actId="2696"/>
        <pc:sldMkLst>
          <pc:docMk/>
          <pc:sldMk cId="3432335574" sldId="2142533203"/>
        </pc:sldMkLst>
      </pc:sldChg>
      <pc:sldChg chg="add">
        <pc:chgData name="Malta, Vivian" userId="c9130ee9-f22b-44aa-bb73-83a935e86cf9" providerId="ADAL" clId="{9140235C-6F4B-4C4C-96E9-70B35F501552}" dt="2026-05-26T05:08:45.954" v="1251"/>
        <pc:sldMkLst>
          <pc:docMk/>
          <pc:sldMk cId="1431380792" sldId="2142533239"/>
        </pc:sldMkLst>
      </pc:sldChg>
      <pc:sldChg chg="del">
        <pc:chgData name="Malta, Vivian" userId="c9130ee9-f22b-44aa-bb73-83a935e86cf9" providerId="ADAL" clId="{9140235C-6F4B-4C4C-96E9-70B35F501552}" dt="2026-05-26T05:08:23.368" v="1250" actId="2696"/>
        <pc:sldMkLst>
          <pc:docMk/>
          <pc:sldMk cId="1488831622" sldId="2142533239"/>
        </pc:sldMkLst>
      </pc:sldChg>
      <pc:sldChg chg="del">
        <pc:chgData name="Malta, Vivian" userId="c9130ee9-f22b-44aa-bb73-83a935e86cf9" providerId="ADAL" clId="{9140235C-6F4B-4C4C-96E9-70B35F501552}" dt="2026-05-26T05:08:23.368" v="1250" actId="2696"/>
        <pc:sldMkLst>
          <pc:docMk/>
          <pc:sldMk cId="2179899769" sldId="2142533240"/>
        </pc:sldMkLst>
      </pc:sldChg>
      <pc:sldChg chg="add">
        <pc:chgData name="Malta, Vivian" userId="c9130ee9-f22b-44aa-bb73-83a935e86cf9" providerId="ADAL" clId="{9140235C-6F4B-4C4C-96E9-70B35F501552}" dt="2026-05-26T05:08:45.954" v="1251"/>
        <pc:sldMkLst>
          <pc:docMk/>
          <pc:sldMk cId="3149602654" sldId="2142533240"/>
        </pc:sldMkLst>
      </pc:sldChg>
      <pc:sldChg chg="del">
        <pc:chgData name="Malta, Vivian" userId="c9130ee9-f22b-44aa-bb73-83a935e86cf9" providerId="ADAL" clId="{9140235C-6F4B-4C4C-96E9-70B35F501552}" dt="2026-05-26T05:08:23.368" v="1250" actId="2696"/>
        <pc:sldMkLst>
          <pc:docMk/>
          <pc:sldMk cId="351864567" sldId="2142533242"/>
        </pc:sldMkLst>
      </pc:sldChg>
      <pc:sldChg chg="add">
        <pc:chgData name="Malta, Vivian" userId="c9130ee9-f22b-44aa-bb73-83a935e86cf9" providerId="ADAL" clId="{9140235C-6F4B-4C4C-96E9-70B35F501552}" dt="2026-05-26T05:08:45.954" v="1251"/>
        <pc:sldMkLst>
          <pc:docMk/>
          <pc:sldMk cId="3993834732" sldId="2142533242"/>
        </pc:sldMkLst>
      </pc:sldChg>
      <pc:sldChg chg="del">
        <pc:chgData name="Malta, Vivian" userId="c9130ee9-f22b-44aa-bb73-83a935e86cf9" providerId="ADAL" clId="{9140235C-6F4B-4C4C-96E9-70B35F501552}" dt="2026-05-26T05:08:23.368" v="1250" actId="2696"/>
        <pc:sldMkLst>
          <pc:docMk/>
          <pc:sldMk cId="423631210" sldId="2142533249"/>
        </pc:sldMkLst>
      </pc:sldChg>
      <pc:sldChg chg="add">
        <pc:chgData name="Malta, Vivian" userId="c9130ee9-f22b-44aa-bb73-83a935e86cf9" providerId="ADAL" clId="{9140235C-6F4B-4C4C-96E9-70B35F501552}" dt="2026-05-26T05:08:45.954" v="1251"/>
        <pc:sldMkLst>
          <pc:docMk/>
          <pc:sldMk cId="3595422818" sldId="2142533249"/>
        </pc:sldMkLst>
      </pc:sldChg>
      <pc:sldChg chg="add">
        <pc:chgData name="Malta, Vivian" userId="c9130ee9-f22b-44aa-bb73-83a935e86cf9" providerId="ADAL" clId="{9140235C-6F4B-4C4C-96E9-70B35F501552}" dt="2026-05-26T05:08:45.954" v="1251"/>
        <pc:sldMkLst>
          <pc:docMk/>
          <pc:sldMk cId="1000563241" sldId="2142533250"/>
        </pc:sldMkLst>
      </pc:sldChg>
      <pc:sldChg chg="del">
        <pc:chgData name="Malta, Vivian" userId="c9130ee9-f22b-44aa-bb73-83a935e86cf9" providerId="ADAL" clId="{9140235C-6F4B-4C4C-96E9-70B35F501552}" dt="2026-05-26T05:08:23.368" v="1250" actId="2696"/>
        <pc:sldMkLst>
          <pc:docMk/>
          <pc:sldMk cId="3356136076" sldId="2142533250"/>
        </pc:sldMkLst>
      </pc:sldChg>
      <pc:sldChg chg="add">
        <pc:chgData name="Malta, Vivian" userId="c9130ee9-f22b-44aa-bb73-83a935e86cf9" providerId="ADAL" clId="{9140235C-6F4B-4C4C-96E9-70B35F501552}" dt="2026-05-26T05:08:45.954" v="1251"/>
        <pc:sldMkLst>
          <pc:docMk/>
          <pc:sldMk cId="2065459539" sldId="2142533252"/>
        </pc:sldMkLst>
      </pc:sldChg>
      <pc:sldChg chg="del">
        <pc:chgData name="Malta, Vivian" userId="c9130ee9-f22b-44aa-bb73-83a935e86cf9" providerId="ADAL" clId="{9140235C-6F4B-4C4C-96E9-70B35F501552}" dt="2026-05-26T05:08:23.368" v="1250" actId="2696"/>
        <pc:sldMkLst>
          <pc:docMk/>
          <pc:sldMk cId="3906692823" sldId="2142533252"/>
        </pc:sldMkLst>
      </pc:sldChg>
      <pc:sldChg chg="add">
        <pc:chgData name="Malta, Vivian" userId="c9130ee9-f22b-44aa-bb73-83a935e86cf9" providerId="ADAL" clId="{9140235C-6F4B-4C4C-96E9-70B35F501552}" dt="2026-05-26T05:08:45.954" v="1251"/>
        <pc:sldMkLst>
          <pc:docMk/>
          <pc:sldMk cId="2062883966" sldId="2142533253"/>
        </pc:sldMkLst>
      </pc:sldChg>
      <pc:sldChg chg="del">
        <pc:chgData name="Malta, Vivian" userId="c9130ee9-f22b-44aa-bb73-83a935e86cf9" providerId="ADAL" clId="{9140235C-6F4B-4C4C-96E9-70B35F501552}" dt="2026-05-26T05:08:23.368" v="1250" actId="2696"/>
        <pc:sldMkLst>
          <pc:docMk/>
          <pc:sldMk cId="3439435591" sldId="2142533253"/>
        </pc:sldMkLst>
      </pc:sldChg>
      <pc:sldChg chg="modSp mod ord">
        <pc:chgData name="Malta, Vivian" userId="c9130ee9-f22b-44aa-bb73-83a935e86cf9" providerId="ADAL" clId="{9140235C-6F4B-4C4C-96E9-70B35F501552}" dt="2026-05-26T04:28:01.557" v="1241" actId="20577"/>
        <pc:sldMkLst>
          <pc:docMk/>
          <pc:sldMk cId="79401727" sldId="2142533254"/>
        </pc:sldMkLst>
        <pc:spChg chg="mod">
          <ac:chgData name="Malta, Vivian" userId="c9130ee9-f22b-44aa-bb73-83a935e86cf9" providerId="ADAL" clId="{9140235C-6F4B-4C4C-96E9-70B35F501552}" dt="2026-05-26T04:28:01.557" v="1241" actId="20577"/>
          <ac:spMkLst>
            <pc:docMk/>
            <pc:sldMk cId="79401727" sldId="2142533254"/>
            <ac:spMk id="2" creationId="{E652BD30-090B-1297-CE5E-3C02B467B17F}"/>
          </ac:spMkLst>
        </pc:spChg>
      </pc:sldChg>
      <pc:sldChg chg="add">
        <pc:chgData name="Malta, Vivian" userId="c9130ee9-f22b-44aa-bb73-83a935e86cf9" providerId="ADAL" clId="{9140235C-6F4B-4C4C-96E9-70B35F501552}" dt="2026-05-26T05:08:45.954" v="1251"/>
        <pc:sldMkLst>
          <pc:docMk/>
          <pc:sldMk cId="935847370" sldId="2142533258"/>
        </pc:sldMkLst>
      </pc:sldChg>
      <pc:sldChg chg="modSp del mod modNotesTx">
        <pc:chgData name="Malta, Vivian" userId="c9130ee9-f22b-44aa-bb73-83a935e86cf9" providerId="ADAL" clId="{9140235C-6F4B-4C4C-96E9-70B35F501552}" dt="2026-05-26T05:08:23.368" v="1250" actId="2696"/>
        <pc:sldMkLst>
          <pc:docMk/>
          <pc:sldMk cId="1833465090" sldId="2142533258"/>
        </pc:sldMkLst>
        <pc:spChg chg="mod">
          <ac:chgData name="Malta, Vivian" userId="c9130ee9-f22b-44aa-bb73-83a935e86cf9" providerId="ADAL" clId="{9140235C-6F4B-4C4C-96E9-70B35F501552}" dt="2026-05-11T21:15:43.528" v="686" actId="20577"/>
          <ac:spMkLst>
            <pc:docMk/>
            <pc:sldMk cId="1833465090" sldId="2142533258"/>
            <ac:spMk id="9" creationId="{3B3C8924-ED5E-1794-27FF-0F89DE8C8DA8}"/>
          </ac:spMkLst>
        </pc:spChg>
      </pc:sldChg>
      <pc:sldChg chg="add">
        <pc:chgData name="Malta, Vivian" userId="c9130ee9-f22b-44aa-bb73-83a935e86cf9" providerId="ADAL" clId="{9140235C-6F4B-4C4C-96E9-70B35F501552}" dt="2026-05-26T05:08:45.954" v="1251"/>
        <pc:sldMkLst>
          <pc:docMk/>
          <pc:sldMk cId="974257647" sldId="2142533259"/>
        </pc:sldMkLst>
      </pc:sldChg>
      <pc:sldChg chg="del">
        <pc:chgData name="Malta, Vivian" userId="c9130ee9-f22b-44aa-bb73-83a935e86cf9" providerId="ADAL" clId="{9140235C-6F4B-4C4C-96E9-70B35F501552}" dt="2026-05-26T05:08:23.368" v="1250" actId="2696"/>
        <pc:sldMkLst>
          <pc:docMk/>
          <pc:sldMk cId="3223064568" sldId="2142533259"/>
        </pc:sldMkLst>
      </pc:sldChg>
      <pc:sldChg chg="del">
        <pc:chgData name="Malta, Vivian" userId="c9130ee9-f22b-44aa-bb73-83a935e86cf9" providerId="ADAL" clId="{9140235C-6F4B-4C4C-96E9-70B35F501552}" dt="2026-05-26T05:08:23.368" v="1250" actId="2696"/>
        <pc:sldMkLst>
          <pc:docMk/>
          <pc:sldMk cId="1647067157" sldId="2142533260"/>
        </pc:sldMkLst>
      </pc:sldChg>
      <pc:sldChg chg="add">
        <pc:chgData name="Malta, Vivian" userId="c9130ee9-f22b-44aa-bb73-83a935e86cf9" providerId="ADAL" clId="{9140235C-6F4B-4C4C-96E9-70B35F501552}" dt="2026-05-26T05:08:45.954" v="1251"/>
        <pc:sldMkLst>
          <pc:docMk/>
          <pc:sldMk cId="1847053445" sldId="2142533260"/>
        </pc:sldMkLst>
      </pc:sldChg>
      <pc:sldChg chg="add">
        <pc:chgData name="Malta, Vivian" userId="c9130ee9-f22b-44aa-bb73-83a935e86cf9" providerId="ADAL" clId="{9140235C-6F4B-4C4C-96E9-70B35F501552}" dt="2026-05-26T05:05:10.122" v="1245"/>
        <pc:sldMkLst>
          <pc:docMk/>
          <pc:sldMk cId="437063120" sldId="2142533262"/>
        </pc:sldMkLst>
      </pc:sldChg>
      <pc:sldChg chg="add del">
        <pc:chgData name="Malta, Vivian" userId="c9130ee9-f22b-44aa-bb73-83a935e86cf9" providerId="ADAL" clId="{9140235C-6F4B-4C4C-96E9-70B35F501552}" dt="2026-05-26T05:04:19.907" v="1244" actId="2696"/>
        <pc:sldMkLst>
          <pc:docMk/>
          <pc:sldMk cId="461834296" sldId="2142533262"/>
        </pc:sldMkLst>
      </pc:sldChg>
      <pc:sldChg chg="add del">
        <pc:chgData name="Malta, Vivian" userId="c9130ee9-f22b-44aa-bb73-83a935e86cf9" providerId="ADAL" clId="{9140235C-6F4B-4C4C-96E9-70B35F501552}" dt="2026-05-26T05:04:19.907" v="1244" actId="2696"/>
        <pc:sldMkLst>
          <pc:docMk/>
          <pc:sldMk cId="624100336" sldId="2142533265"/>
        </pc:sldMkLst>
      </pc:sldChg>
      <pc:sldChg chg="add">
        <pc:chgData name="Malta, Vivian" userId="c9130ee9-f22b-44aa-bb73-83a935e86cf9" providerId="ADAL" clId="{9140235C-6F4B-4C4C-96E9-70B35F501552}" dt="2026-05-26T05:05:10.122" v="1245"/>
        <pc:sldMkLst>
          <pc:docMk/>
          <pc:sldMk cId="1675964071" sldId="2142533265"/>
        </pc:sldMkLst>
      </pc:sldChg>
      <pc:sldChg chg="add del">
        <pc:chgData name="Malta, Vivian" userId="c9130ee9-f22b-44aa-bb73-83a935e86cf9" providerId="ADAL" clId="{9140235C-6F4B-4C4C-96E9-70B35F501552}" dt="2026-05-26T05:04:19.907" v="1244" actId="2696"/>
        <pc:sldMkLst>
          <pc:docMk/>
          <pc:sldMk cId="2415652954" sldId="2142533267"/>
        </pc:sldMkLst>
      </pc:sldChg>
      <pc:sldChg chg="add">
        <pc:chgData name="Malta, Vivian" userId="c9130ee9-f22b-44aa-bb73-83a935e86cf9" providerId="ADAL" clId="{9140235C-6F4B-4C4C-96E9-70B35F501552}" dt="2026-05-26T05:05:10.122" v="1245"/>
        <pc:sldMkLst>
          <pc:docMk/>
          <pc:sldMk cId="3932007030" sldId="2142533267"/>
        </pc:sldMkLst>
      </pc:sldChg>
      <pc:sldChg chg="mod modShow">
        <pc:chgData name="Malta, Vivian" userId="c9130ee9-f22b-44aa-bb73-83a935e86cf9" providerId="ADAL" clId="{9140235C-6F4B-4C4C-96E9-70B35F501552}" dt="2026-05-11T21:37:30.151" v="1206" actId="729"/>
        <pc:sldMkLst>
          <pc:docMk/>
          <pc:sldMk cId="1146406546" sldId="2142533268"/>
        </pc:sldMkLst>
      </pc:sldChg>
      <pc:sldChg chg="add">
        <pc:chgData name="Malta, Vivian" userId="c9130ee9-f22b-44aa-bb73-83a935e86cf9" providerId="ADAL" clId="{9140235C-6F4B-4C4C-96E9-70B35F501552}" dt="2026-05-26T05:08:45.954" v="1251"/>
        <pc:sldMkLst>
          <pc:docMk/>
          <pc:sldMk cId="1699253809" sldId="2142533269"/>
        </pc:sldMkLst>
      </pc:sldChg>
      <pc:sldChg chg="del">
        <pc:chgData name="Malta, Vivian" userId="c9130ee9-f22b-44aa-bb73-83a935e86cf9" providerId="ADAL" clId="{9140235C-6F4B-4C4C-96E9-70B35F501552}" dt="2026-05-26T05:08:23.368" v="1250" actId="2696"/>
        <pc:sldMkLst>
          <pc:docMk/>
          <pc:sldMk cId="2982812214" sldId="2142533269"/>
        </pc:sldMkLst>
      </pc:sldChg>
      <pc:sldChg chg="del">
        <pc:chgData name="Malta, Vivian" userId="c9130ee9-f22b-44aa-bb73-83a935e86cf9" providerId="ADAL" clId="{9140235C-6F4B-4C4C-96E9-70B35F501552}" dt="2026-05-26T05:08:23.368" v="1250" actId="2696"/>
        <pc:sldMkLst>
          <pc:docMk/>
          <pc:sldMk cId="2201381414" sldId="2142533270"/>
        </pc:sldMkLst>
      </pc:sldChg>
      <pc:sldChg chg="add">
        <pc:chgData name="Malta, Vivian" userId="c9130ee9-f22b-44aa-bb73-83a935e86cf9" providerId="ADAL" clId="{9140235C-6F4B-4C4C-96E9-70B35F501552}" dt="2026-05-26T05:08:45.954" v="1251"/>
        <pc:sldMkLst>
          <pc:docMk/>
          <pc:sldMk cId="3254310685" sldId="2142533270"/>
        </pc:sldMkLst>
      </pc:sldChg>
      <pc:sldChg chg="add del">
        <pc:chgData name="Malta, Vivian" userId="c9130ee9-f22b-44aa-bb73-83a935e86cf9" providerId="ADAL" clId="{9140235C-6F4B-4C4C-96E9-70B35F501552}" dt="2026-05-26T05:04:19.907" v="1244" actId="2696"/>
        <pc:sldMkLst>
          <pc:docMk/>
          <pc:sldMk cId="996336063" sldId="2142533272"/>
        </pc:sldMkLst>
      </pc:sldChg>
      <pc:sldChg chg="add">
        <pc:chgData name="Malta, Vivian" userId="c9130ee9-f22b-44aa-bb73-83a935e86cf9" providerId="ADAL" clId="{9140235C-6F4B-4C4C-96E9-70B35F501552}" dt="2026-05-26T05:05:10.122" v="1245"/>
        <pc:sldMkLst>
          <pc:docMk/>
          <pc:sldMk cId="2866688419" sldId="2142533272"/>
        </pc:sldMkLst>
      </pc:sldChg>
      <pc:sldChg chg="add">
        <pc:chgData name="Malta, Vivian" userId="c9130ee9-f22b-44aa-bb73-83a935e86cf9" providerId="ADAL" clId="{9140235C-6F4B-4C4C-96E9-70B35F501552}" dt="2026-05-26T05:05:10.122" v="1245"/>
        <pc:sldMkLst>
          <pc:docMk/>
          <pc:sldMk cId="1589456729" sldId="2142533273"/>
        </pc:sldMkLst>
      </pc:sldChg>
      <pc:sldChg chg="add del">
        <pc:chgData name="Malta, Vivian" userId="c9130ee9-f22b-44aa-bb73-83a935e86cf9" providerId="ADAL" clId="{9140235C-6F4B-4C4C-96E9-70B35F501552}" dt="2026-05-26T05:04:19.907" v="1244" actId="2696"/>
        <pc:sldMkLst>
          <pc:docMk/>
          <pc:sldMk cId="1962626228" sldId="2142533273"/>
        </pc:sldMkLst>
      </pc:sldChg>
      <pc:sldChg chg="add">
        <pc:chgData name="Malta, Vivian" userId="c9130ee9-f22b-44aa-bb73-83a935e86cf9" providerId="ADAL" clId="{9140235C-6F4B-4C4C-96E9-70B35F501552}" dt="2026-05-26T05:08:05.086" v="1249"/>
        <pc:sldMkLst>
          <pc:docMk/>
          <pc:sldMk cId="1956053452" sldId="2142533274"/>
        </pc:sldMkLst>
      </pc:sldChg>
      <pc:sldChg chg="add del">
        <pc:chgData name="Malta, Vivian" userId="c9130ee9-f22b-44aa-bb73-83a935e86cf9" providerId="ADAL" clId="{9140235C-6F4B-4C4C-96E9-70B35F501552}" dt="2026-05-26T05:07:48.471" v="1248" actId="2696"/>
        <pc:sldMkLst>
          <pc:docMk/>
          <pc:sldMk cId="3871812332" sldId="2142533274"/>
        </pc:sldMkLst>
      </pc:sldChg>
      <pc:sldChg chg="add">
        <pc:chgData name="Malta, Vivian" userId="c9130ee9-f22b-44aa-bb73-83a935e86cf9" providerId="ADAL" clId="{9140235C-6F4B-4C4C-96E9-70B35F501552}" dt="2026-05-26T05:05:10.122" v="1245"/>
        <pc:sldMkLst>
          <pc:docMk/>
          <pc:sldMk cId="2853201842" sldId="2142533275"/>
        </pc:sldMkLst>
      </pc:sldChg>
      <pc:sldChg chg="modSp add del mod">
        <pc:chgData name="Malta, Vivian" userId="c9130ee9-f22b-44aa-bb73-83a935e86cf9" providerId="ADAL" clId="{9140235C-6F4B-4C4C-96E9-70B35F501552}" dt="2026-05-26T05:04:19.907" v="1244" actId="2696"/>
        <pc:sldMkLst>
          <pc:docMk/>
          <pc:sldMk cId="3781628609" sldId="2142533275"/>
        </pc:sldMkLst>
      </pc:sldChg>
      <pc:sldChg chg="add">
        <pc:chgData name="Malta, Vivian" userId="c9130ee9-f22b-44aa-bb73-83a935e86cf9" providerId="ADAL" clId="{9140235C-6F4B-4C4C-96E9-70B35F501552}" dt="2026-05-26T05:08:45.954" v="1251"/>
        <pc:sldMkLst>
          <pc:docMk/>
          <pc:sldMk cId="604751137" sldId="2142533277"/>
        </pc:sldMkLst>
      </pc:sldChg>
      <pc:sldChg chg="addSp delSp modSp add del mod modClrScheme chgLayout">
        <pc:chgData name="Malta, Vivian" userId="c9130ee9-f22b-44aa-bb73-83a935e86cf9" providerId="ADAL" clId="{9140235C-6F4B-4C4C-96E9-70B35F501552}" dt="2026-05-26T05:08:23.368" v="1250" actId="2696"/>
        <pc:sldMkLst>
          <pc:docMk/>
          <pc:sldMk cId="1866660423" sldId="2142533277"/>
        </pc:sldMkLst>
        <pc:spChg chg="add mod ord">
          <ac:chgData name="Malta, Vivian" userId="c9130ee9-f22b-44aa-bb73-83a935e86cf9" providerId="ADAL" clId="{9140235C-6F4B-4C4C-96E9-70B35F501552}" dt="2026-05-11T21:18:37.831" v="848"/>
          <ac:spMkLst>
            <pc:docMk/>
            <pc:sldMk cId="1866660423" sldId="2142533277"/>
            <ac:spMk id="7" creationId="{C393C7CE-25A5-79D7-15A9-564E26558A14}"/>
          </ac:spMkLst>
        </pc:spChg>
        <pc:spChg chg="add mod ord">
          <ac:chgData name="Malta, Vivian" userId="c9130ee9-f22b-44aa-bb73-83a935e86cf9" providerId="ADAL" clId="{9140235C-6F4B-4C4C-96E9-70B35F501552}" dt="2026-05-11T21:20:02.529" v="906" actId="122"/>
          <ac:spMkLst>
            <pc:docMk/>
            <pc:sldMk cId="1866660423" sldId="2142533277"/>
            <ac:spMk id="8" creationId="{02146795-9376-3C75-9A1C-96FA1268BF58}"/>
          </ac:spMkLst>
        </pc:spChg>
      </pc:sldChg>
      <pc:sldChg chg="add">
        <pc:chgData name="Malta, Vivian" userId="c9130ee9-f22b-44aa-bb73-83a935e86cf9" providerId="ADAL" clId="{9140235C-6F4B-4C4C-96E9-70B35F501552}" dt="2026-05-26T05:08:45.954" v="1251"/>
        <pc:sldMkLst>
          <pc:docMk/>
          <pc:sldMk cId="3538709236" sldId="2142533278"/>
        </pc:sldMkLst>
      </pc:sldChg>
      <pc:sldChg chg="modSp add del mod ord">
        <pc:chgData name="Malta, Vivian" userId="c9130ee9-f22b-44aa-bb73-83a935e86cf9" providerId="ADAL" clId="{9140235C-6F4B-4C4C-96E9-70B35F501552}" dt="2026-05-26T05:08:23.368" v="1250" actId="2696"/>
        <pc:sldMkLst>
          <pc:docMk/>
          <pc:sldMk cId="3771633509" sldId="2142533278"/>
        </pc:sldMkLst>
        <pc:spChg chg="mod">
          <ac:chgData name="Malta, Vivian" userId="c9130ee9-f22b-44aa-bb73-83a935e86cf9" providerId="ADAL" clId="{9140235C-6F4B-4C4C-96E9-70B35F501552}" dt="2026-05-11T21:20:23.719" v="919" actId="6549"/>
          <ac:spMkLst>
            <pc:docMk/>
            <pc:sldMk cId="3771633509" sldId="2142533278"/>
            <ac:spMk id="7" creationId="{10A8F7DC-AA21-85FD-8CEC-81D166C04F33}"/>
          </ac:spMkLst>
        </pc:spChg>
        <pc:spChg chg="mod">
          <ac:chgData name="Malta, Vivian" userId="c9130ee9-f22b-44aa-bb73-83a935e86cf9" providerId="ADAL" clId="{9140235C-6F4B-4C4C-96E9-70B35F501552}" dt="2026-05-11T21:20:30.803" v="922" actId="20577"/>
          <ac:spMkLst>
            <pc:docMk/>
            <pc:sldMk cId="3771633509" sldId="2142533278"/>
            <ac:spMk id="8" creationId="{B3AC4A7D-6D09-8B3C-2C4A-91B2A62F0ABB}"/>
          </ac:spMkLst>
        </pc:spChg>
      </pc:sldChg>
      <pc:sldChg chg="add">
        <pc:chgData name="Malta, Vivian" userId="c9130ee9-f22b-44aa-bb73-83a935e86cf9" providerId="ADAL" clId="{9140235C-6F4B-4C4C-96E9-70B35F501552}" dt="2026-05-26T05:08:05.086" v="1249"/>
        <pc:sldMkLst>
          <pc:docMk/>
          <pc:sldMk cId="3683389094" sldId="2142533279"/>
        </pc:sldMkLst>
      </pc:sldChg>
      <pc:sldChg chg="addSp delSp modSp new del mod modClrScheme chgLayout">
        <pc:chgData name="Malta, Vivian" userId="c9130ee9-f22b-44aa-bb73-83a935e86cf9" providerId="ADAL" clId="{9140235C-6F4B-4C4C-96E9-70B35F501552}" dt="2026-05-26T05:07:48.471" v="1248" actId="2696"/>
        <pc:sldMkLst>
          <pc:docMk/>
          <pc:sldMk cId="3874545585" sldId="2142533279"/>
        </pc:sldMkLst>
        <pc:spChg chg="add mod ord">
          <ac:chgData name="Malta, Vivian" userId="c9130ee9-f22b-44aa-bb73-83a935e86cf9" providerId="ADAL" clId="{9140235C-6F4B-4C4C-96E9-70B35F501552}" dt="2026-05-11T21:28:14.518" v="1080" actId="20577"/>
          <ac:spMkLst>
            <pc:docMk/>
            <pc:sldMk cId="3874545585" sldId="2142533279"/>
            <ac:spMk id="4" creationId="{4CC40E8E-EB2A-E8E5-508B-EB9D5ED62E41}"/>
          </ac:spMkLst>
        </pc:spChg>
      </pc:sldChg>
      <pc:sldChg chg="add del">
        <pc:chgData name="Malta, Vivian" userId="c9130ee9-f22b-44aa-bb73-83a935e86cf9" providerId="ADAL" clId="{9140235C-6F4B-4C4C-96E9-70B35F501552}" dt="2026-05-26T05:07:48.471" v="1248" actId="2696"/>
        <pc:sldMkLst>
          <pc:docMk/>
          <pc:sldMk cId="2712543688" sldId="2142533280"/>
        </pc:sldMkLst>
      </pc:sldChg>
      <pc:sldChg chg="add">
        <pc:chgData name="Malta, Vivian" userId="c9130ee9-f22b-44aa-bb73-83a935e86cf9" providerId="ADAL" clId="{9140235C-6F4B-4C4C-96E9-70B35F501552}" dt="2026-05-26T05:08:05.086" v="1249"/>
        <pc:sldMkLst>
          <pc:docMk/>
          <pc:sldMk cId="4045873576" sldId="2142533280"/>
        </pc:sldMkLst>
      </pc:sldChg>
      <pc:sldChg chg="modSp add del mod">
        <pc:chgData name="Malta, Vivian" userId="c9130ee9-f22b-44aa-bb73-83a935e86cf9" providerId="ADAL" clId="{9140235C-6F4B-4C4C-96E9-70B35F501552}" dt="2026-05-26T05:07:48.471" v="1248" actId="2696"/>
        <pc:sldMkLst>
          <pc:docMk/>
          <pc:sldMk cId="2417472564" sldId="2142533281"/>
        </pc:sldMkLst>
        <pc:spChg chg="mod">
          <ac:chgData name="Malta, Vivian" userId="c9130ee9-f22b-44aa-bb73-83a935e86cf9" providerId="ADAL" clId="{9140235C-6F4B-4C4C-96E9-70B35F501552}" dt="2026-05-11T21:32:23.494" v="1137" actId="20577"/>
          <ac:spMkLst>
            <pc:docMk/>
            <pc:sldMk cId="2417472564" sldId="2142533281"/>
            <ac:spMk id="4" creationId="{18298411-26DF-743E-928F-931FF4AC9548}"/>
          </ac:spMkLst>
        </pc:spChg>
        <pc:spChg chg="mod">
          <ac:chgData name="Malta, Vivian" userId="c9130ee9-f22b-44aa-bb73-83a935e86cf9" providerId="ADAL" clId="{9140235C-6F4B-4C4C-96E9-70B35F501552}" dt="2026-05-11T21:33:32.868" v="1156" actId="6549"/>
          <ac:spMkLst>
            <pc:docMk/>
            <pc:sldMk cId="2417472564" sldId="2142533281"/>
            <ac:spMk id="5" creationId="{1BC4E411-DA49-434D-5CA1-A6382C6CE93E}"/>
          </ac:spMkLst>
        </pc:spChg>
      </pc:sldChg>
      <pc:sldChg chg="add">
        <pc:chgData name="Malta, Vivian" userId="c9130ee9-f22b-44aa-bb73-83a935e86cf9" providerId="ADAL" clId="{9140235C-6F4B-4C4C-96E9-70B35F501552}" dt="2026-05-26T05:08:05.086" v="1249"/>
        <pc:sldMkLst>
          <pc:docMk/>
          <pc:sldMk cId="3766691791" sldId="2142533281"/>
        </pc:sldMkLst>
      </pc:sldChg>
      <pc:sldChg chg="add del ord">
        <pc:chgData name="Malta, Vivian" userId="c9130ee9-f22b-44aa-bb73-83a935e86cf9" providerId="ADAL" clId="{9140235C-6F4B-4C4C-96E9-70B35F501552}" dt="2026-05-26T05:07:48.471" v="1248" actId="2696"/>
        <pc:sldMkLst>
          <pc:docMk/>
          <pc:sldMk cId="783319045" sldId="2142533282"/>
        </pc:sldMkLst>
      </pc:sldChg>
      <pc:sldChg chg="add">
        <pc:chgData name="Malta, Vivian" userId="c9130ee9-f22b-44aa-bb73-83a935e86cf9" providerId="ADAL" clId="{9140235C-6F4B-4C4C-96E9-70B35F501552}" dt="2026-05-26T05:08:05.086" v="1249"/>
        <pc:sldMkLst>
          <pc:docMk/>
          <pc:sldMk cId="3685407434" sldId="2142533282"/>
        </pc:sldMkLst>
      </pc:sldChg>
      <pc:sldChg chg="add">
        <pc:chgData name="Malta, Vivian" userId="c9130ee9-f22b-44aa-bb73-83a935e86cf9" providerId="ADAL" clId="{9140235C-6F4B-4C4C-96E9-70B35F501552}" dt="2026-05-26T05:08:05.086" v="1249"/>
        <pc:sldMkLst>
          <pc:docMk/>
          <pc:sldMk cId="67532960" sldId="2142533283"/>
        </pc:sldMkLst>
      </pc:sldChg>
      <pc:sldChg chg="modSp add del mod">
        <pc:chgData name="Malta, Vivian" userId="c9130ee9-f22b-44aa-bb73-83a935e86cf9" providerId="ADAL" clId="{9140235C-6F4B-4C4C-96E9-70B35F501552}" dt="2026-05-26T05:07:48.471" v="1248" actId="2696"/>
        <pc:sldMkLst>
          <pc:docMk/>
          <pc:sldMk cId="1066618403" sldId="2142533283"/>
        </pc:sldMkLst>
        <pc:spChg chg="mod">
          <ac:chgData name="Malta, Vivian" userId="c9130ee9-f22b-44aa-bb73-83a935e86cf9" providerId="ADAL" clId="{9140235C-6F4B-4C4C-96E9-70B35F501552}" dt="2026-05-11T21:34:31.937" v="1170" actId="5793"/>
          <ac:spMkLst>
            <pc:docMk/>
            <pc:sldMk cId="1066618403" sldId="2142533283"/>
            <ac:spMk id="5" creationId="{5D14A78A-32C4-8B76-DBFA-D1A2A36BDDE3}"/>
          </ac:spMkLst>
        </pc:spChg>
      </pc:sldChg>
      <pc:sldChg chg="modSp add del mod">
        <pc:chgData name="Malta, Vivian" userId="c9130ee9-f22b-44aa-bb73-83a935e86cf9" providerId="ADAL" clId="{9140235C-6F4B-4C4C-96E9-70B35F501552}" dt="2026-05-26T05:07:48.471" v="1248" actId="2696"/>
        <pc:sldMkLst>
          <pc:docMk/>
          <pc:sldMk cId="2386919534" sldId="2142533284"/>
        </pc:sldMkLst>
        <pc:spChg chg="mod">
          <ac:chgData name="Malta, Vivian" userId="c9130ee9-f22b-44aa-bb73-83a935e86cf9" providerId="ADAL" clId="{9140235C-6F4B-4C4C-96E9-70B35F501552}" dt="2026-05-11T21:35:11.991" v="1174"/>
          <ac:spMkLst>
            <pc:docMk/>
            <pc:sldMk cId="2386919534" sldId="2142533284"/>
            <ac:spMk id="4" creationId="{8167CBFC-50EB-5AE6-BD0C-F89B04D2A872}"/>
          </ac:spMkLst>
        </pc:spChg>
        <pc:spChg chg="mod">
          <ac:chgData name="Malta, Vivian" userId="c9130ee9-f22b-44aa-bb73-83a935e86cf9" providerId="ADAL" clId="{9140235C-6F4B-4C4C-96E9-70B35F501552}" dt="2026-05-11T21:35:53.033" v="1194" actId="113"/>
          <ac:spMkLst>
            <pc:docMk/>
            <pc:sldMk cId="2386919534" sldId="2142533284"/>
            <ac:spMk id="5" creationId="{8F543AED-135C-2173-03AB-55E9E67EB6F3}"/>
          </ac:spMkLst>
        </pc:spChg>
      </pc:sldChg>
      <pc:sldChg chg="add">
        <pc:chgData name="Malta, Vivian" userId="c9130ee9-f22b-44aa-bb73-83a935e86cf9" providerId="ADAL" clId="{9140235C-6F4B-4C4C-96E9-70B35F501552}" dt="2026-05-26T05:08:05.086" v="1249"/>
        <pc:sldMkLst>
          <pc:docMk/>
          <pc:sldMk cId="3816150256" sldId="2142533284"/>
        </pc:sldMkLst>
      </pc:sldChg>
      <pc:sldChg chg="add">
        <pc:chgData name="Malta, Vivian" userId="c9130ee9-f22b-44aa-bb73-83a935e86cf9" providerId="ADAL" clId="{9140235C-6F4B-4C4C-96E9-70B35F501552}" dt="2026-05-26T05:08:05.086" v="1249"/>
        <pc:sldMkLst>
          <pc:docMk/>
          <pc:sldMk cId="3242067164" sldId="2142533285"/>
        </pc:sldMkLst>
      </pc:sldChg>
      <pc:sldChg chg="modSp add del mod">
        <pc:chgData name="Malta, Vivian" userId="c9130ee9-f22b-44aa-bb73-83a935e86cf9" providerId="ADAL" clId="{9140235C-6F4B-4C4C-96E9-70B35F501552}" dt="2026-05-26T05:07:48.471" v="1248" actId="2696"/>
        <pc:sldMkLst>
          <pc:docMk/>
          <pc:sldMk cId="3377286306" sldId="2142533285"/>
        </pc:sldMkLst>
        <pc:spChg chg="mod">
          <ac:chgData name="Malta, Vivian" userId="c9130ee9-f22b-44aa-bb73-83a935e86cf9" providerId="ADAL" clId="{9140235C-6F4B-4C4C-96E9-70B35F501552}" dt="2026-05-11T21:36:24.238" v="1202" actId="20577"/>
          <ac:spMkLst>
            <pc:docMk/>
            <pc:sldMk cId="3377286306" sldId="2142533285"/>
            <ac:spMk id="5" creationId="{2C704DB5-DB4D-BF2B-6CD2-38A021B735EA}"/>
          </ac:spMkLst>
        </pc:spChg>
      </pc:sldChg>
      <pc:sldChg chg="add">
        <pc:chgData name="Malta, Vivian" userId="c9130ee9-f22b-44aa-bb73-83a935e86cf9" providerId="ADAL" clId="{9140235C-6F4B-4C4C-96E9-70B35F501552}" dt="2026-05-26T04:27:24.480" v="1207"/>
        <pc:sldMkLst>
          <pc:docMk/>
          <pc:sldMk cId="4094797866" sldId="2142533286"/>
        </pc:sldMkLst>
      </pc:sldChg>
      <pc:sldChg chg="add">
        <pc:chgData name="Malta, Vivian" userId="c9130ee9-f22b-44aa-bb73-83a935e86cf9" providerId="ADAL" clId="{9140235C-6F4B-4C4C-96E9-70B35F501552}" dt="2026-05-26T04:27:24.480" v="1207"/>
        <pc:sldMkLst>
          <pc:docMk/>
          <pc:sldMk cId="2863536672" sldId="2142533287"/>
        </pc:sldMkLst>
      </pc:sldChg>
      <pc:sldChg chg="add">
        <pc:chgData name="Malta, Vivian" userId="c9130ee9-f22b-44aa-bb73-83a935e86cf9" providerId="ADAL" clId="{9140235C-6F4B-4C4C-96E9-70B35F501552}" dt="2026-05-26T04:27:24.480" v="1207"/>
        <pc:sldMkLst>
          <pc:docMk/>
          <pc:sldMk cId="4030087399" sldId="2142533288"/>
        </pc:sldMkLst>
      </pc:sldChg>
      <pc:sldChg chg="add del">
        <pc:chgData name="Malta, Vivian" userId="c9130ee9-f22b-44aa-bb73-83a935e86cf9" providerId="ADAL" clId="{9140235C-6F4B-4C4C-96E9-70B35F501552}" dt="2026-05-26T05:06:58.315" v="1246" actId="2696"/>
        <pc:sldMkLst>
          <pc:docMk/>
          <pc:sldMk cId="1907101926" sldId="2142533289"/>
        </pc:sldMkLst>
      </pc:sldChg>
      <pc:sldChg chg="add">
        <pc:chgData name="Malta, Vivian" userId="c9130ee9-f22b-44aa-bb73-83a935e86cf9" providerId="ADAL" clId="{9140235C-6F4B-4C4C-96E9-70B35F501552}" dt="2026-05-26T05:07:08.321" v="1247"/>
        <pc:sldMkLst>
          <pc:docMk/>
          <pc:sldMk cId="2968782439" sldId="2142533289"/>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intlmonetaryfund-my.sharepoint.com/personal/uzafar_imf_org/Documents/AFRITAC%20East%20Graph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intlmonetaryfund-my.sharepoint.com/personal/uzafar_imf_org/Documents/AFRITAC%20East%20Graph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intlmonetaryfund-my.sharepoint.com/personal/uzafar_imf_org/Documents/AFRITAC%20East%20Graph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intlmonetaryfund-my.sharepoint.com/personal/uzafar_imf_org/Documents/AFRITAC%20East%20Graph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intlmonetaryfund-my.sharepoint.com/personal/uzafar_imf_org/Documents/AFRITAC%20East%20Graph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intlmonetaryfund-my.sharepoint.com/personal/uzafar_imf_org/Documents/AFRITAC%20East%20Graphs.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Ethiopia</c:v>
          </c:tx>
          <c:spPr>
            <a:ln w="19050" cap="rnd">
              <a:solidFill>
                <a:schemeClr val="accent2">
                  <a:lumMod val="75000"/>
                </a:schemeClr>
              </a:solidFill>
              <a:round/>
            </a:ln>
            <a:effectLst/>
          </c:spPr>
          <c:marker>
            <c:symbol val="none"/>
          </c:marker>
          <c:cat>
            <c:numRef>
              <c:f>'Slide 10'!$C$6:$G$6</c:f>
              <c:numCache>
                <c:formatCode>General</c:formatCode>
                <c:ptCount val="5"/>
                <c:pt idx="0">
                  <c:v>2011</c:v>
                </c:pt>
                <c:pt idx="1">
                  <c:v>2014</c:v>
                </c:pt>
                <c:pt idx="2">
                  <c:v>2017</c:v>
                </c:pt>
                <c:pt idx="3">
                  <c:v>2021</c:v>
                </c:pt>
                <c:pt idx="4">
                  <c:v>2024</c:v>
                </c:pt>
              </c:numCache>
            </c:numRef>
          </c:cat>
          <c:val>
            <c:numRef>
              <c:f>'Slide 10'!$C$2:$F$2</c:f>
              <c:numCache>
                <c:formatCode>General</c:formatCode>
                <c:ptCount val="4"/>
                <c:pt idx="0">
                  <c:v>21.7915817461286</c:v>
                </c:pt>
                <c:pt idx="1">
                  <c:v>34.827569921105002</c:v>
                </c:pt>
                <c:pt idx="2">
                  <c:v>46.480068821424403</c:v>
                </c:pt>
                <c:pt idx="3">
                  <c:v>48.830276781994201</c:v>
                </c:pt>
              </c:numCache>
            </c:numRef>
          </c:val>
          <c:smooth val="0"/>
          <c:extLst>
            <c:ext xmlns:c16="http://schemas.microsoft.com/office/drawing/2014/chart" uri="{C3380CC4-5D6E-409C-BE32-E72D297353CC}">
              <c16:uniqueId val="{00000000-4BEB-43F5-8BE9-509B7AB68158}"/>
            </c:ext>
          </c:extLst>
        </c:ser>
        <c:ser>
          <c:idx val="1"/>
          <c:order val="1"/>
          <c:tx>
            <c:strRef>
              <c:f>'Slide 10'!$B$3</c:f>
              <c:strCache>
                <c:ptCount val="1"/>
                <c:pt idx="0">
                  <c:v>Male</c:v>
                </c:pt>
              </c:strCache>
            </c:strRef>
          </c:tx>
          <c:spPr>
            <a:ln w="19050" cap="rnd">
              <a:solidFill>
                <a:schemeClr val="accent2">
                  <a:lumMod val="75000"/>
                </a:schemeClr>
              </a:solidFill>
              <a:prstDash val="sysDash"/>
              <a:round/>
            </a:ln>
            <a:effectLst/>
          </c:spPr>
          <c:marker>
            <c:symbol val="none"/>
          </c:marker>
          <c:cat>
            <c:numRef>
              <c:f>'Slide 10'!$C$6:$G$6</c:f>
              <c:numCache>
                <c:formatCode>General</c:formatCode>
                <c:ptCount val="5"/>
                <c:pt idx="0">
                  <c:v>2011</c:v>
                </c:pt>
                <c:pt idx="1">
                  <c:v>2014</c:v>
                </c:pt>
                <c:pt idx="2">
                  <c:v>2017</c:v>
                </c:pt>
                <c:pt idx="3">
                  <c:v>2021</c:v>
                </c:pt>
                <c:pt idx="4">
                  <c:v>2024</c:v>
                </c:pt>
              </c:numCache>
            </c:numRef>
          </c:cat>
          <c:val>
            <c:numRef>
              <c:f>'Slide 10'!$C$3:$F$3</c:f>
              <c:numCache>
                <c:formatCode>General</c:formatCode>
                <c:ptCount val="4"/>
                <c:pt idx="0">
                  <c:v>22.6220561075517</c:v>
                </c:pt>
                <c:pt idx="1">
                  <c:v>40.943876597702904</c:v>
                </c:pt>
                <c:pt idx="2">
                  <c:v>54.682600043818503</c:v>
                </c:pt>
                <c:pt idx="3">
                  <c:v>56.5265673875994</c:v>
                </c:pt>
              </c:numCache>
            </c:numRef>
          </c:val>
          <c:smooth val="0"/>
          <c:extLst>
            <c:ext xmlns:c16="http://schemas.microsoft.com/office/drawing/2014/chart" uri="{C3380CC4-5D6E-409C-BE32-E72D297353CC}">
              <c16:uniqueId val="{00000001-4BEB-43F5-8BE9-509B7AB68158}"/>
            </c:ext>
          </c:extLst>
        </c:ser>
        <c:ser>
          <c:idx val="2"/>
          <c:order val="2"/>
          <c:tx>
            <c:strRef>
              <c:f>'Slide 10'!$B$4</c:f>
              <c:strCache>
                <c:ptCount val="1"/>
                <c:pt idx="0">
                  <c:v>Female</c:v>
                </c:pt>
              </c:strCache>
            </c:strRef>
          </c:tx>
          <c:spPr>
            <a:ln w="19050" cap="rnd">
              <a:solidFill>
                <a:schemeClr val="accent2">
                  <a:lumMod val="75000"/>
                </a:schemeClr>
              </a:solidFill>
              <a:prstDash val="sysDot"/>
              <a:round/>
            </a:ln>
            <a:effectLst/>
          </c:spPr>
          <c:marker>
            <c:symbol val="none"/>
          </c:marker>
          <c:cat>
            <c:numRef>
              <c:f>'Slide 10'!$C$6:$G$6</c:f>
              <c:numCache>
                <c:formatCode>General</c:formatCode>
                <c:ptCount val="5"/>
                <c:pt idx="0">
                  <c:v>2011</c:v>
                </c:pt>
                <c:pt idx="1">
                  <c:v>2014</c:v>
                </c:pt>
                <c:pt idx="2">
                  <c:v>2017</c:v>
                </c:pt>
                <c:pt idx="3">
                  <c:v>2021</c:v>
                </c:pt>
                <c:pt idx="4">
                  <c:v>2024</c:v>
                </c:pt>
              </c:numCache>
            </c:numRef>
          </c:cat>
          <c:val>
            <c:numRef>
              <c:f>'Slide 10'!$C$4:$F$4</c:f>
              <c:numCache>
                <c:formatCode>General</c:formatCode>
                <c:ptCount val="4"/>
                <c:pt idx="0">
                  <c:v>21.004031198588599</c:v>
                </c:pt>
                <c:pt idx="1">
                  <c:v>29.075431517400801</c:v>
                </c:pt>
                <c:pt idx="2">
                  <c:v>38.737174250936903</c:v>
                </c:pt>
                <c:pt idx="3">
                  <c:v>41.615971332099399</c:v>
                </c:pt>
              </c:numCache>
            </c:numRef>
          </c:val>
          <c:smooth val="0"/>
          <c:extLst>
            <c:ext xmlns:c16="http://schemas.microsoft.com/office/drawing/2014/chart" uri="{C3380CC4-5D6E-409C-BE32-E72D297353CC}">
              <c16:uniqueId val="{00000002-4BEB-43F5-8BE9-509B7AB68158}"/>
            </c:ext>
          </c:extLst>
        </c:ser>
        <c:ser>
          <c:idx val="3"/>
          <c:order val="3"/>
          <c:tx>
            <c:v>Kenya</c:v>
          </c:tx>
          <c:spPr>
            <a:ln w="19050" cap="rnd">
              <a:solidFill>
                <a:schemeClr val="accent1"/>
              </a:solidFill>
              <a:round/>
            </a:ln>
            <a:effectLst/>
          </c:spPr>
          <c:marker>
            <c:symbol val="none"/>
          </c:marker>
          <c:cat>
            <c:numRef>
              <c:f>'Slide 10'!$C$6:$G$6</c:f>
              <c:numCache>
                <c:formatCode>General</c:formatCode>
                <c:ptCount val="5"/>
                <c:pt idx="0">
                  <c:v>2011</c:v>
                </c:pt>
                <c:pt idx="1">
                  <c:v>2014</c:v>
                </c:pt>
                <c:pt idx="2">
                  <c:v>2017</c:v>
                </c:pt>
                <c:pt idx="3">
                  <c:v>2021</c:v>
                </c:pt>
                <c:pt idx="4">
                  <c:v>2024</c:v>
                </c:pt>
              </c:numCache>
            </c:numRef>
          </c:cat>
          <c:val>
            <c:numRef>
              <c:f>'Slide 10'!$C$7:$G$7</c:f>
              <c:numCache>
                <c:formatCode>General</c:formatCode>
                <c:ptCount val="5"/>
                <c:pt idx="0">
                  <c:v>42.343454367076497</c:v>
                </c:pt>
                <c:pt idx="1">
                  <c:v>74.657832938271198</c:v>
                </c:pt>
                <c:pt idx="2">
                  <c:v>81.567564633318895</c:v>
                </c:pt>
                <c:pt idx="3">
                  <c:v>79.195157616831693</c:v>
                </c:pt>
                <c:pt idx="4">
                  <c:v>90.119917373361304</c:v>
                </c:pt>
              </c:numCache>
            </c:numRef>
          </c:val>
          <c:smooth val="0"/>
          <c:extLst>
            <c:ext xmlns:c16="http://schemas.microsoft.com/office/drawing/2014/chart" uri="{C3380CC4-5D6E-409C-BE32-E72D297353CC}">
              <c16:uniqueId val="{00000003-4BEB-43F5-8BE9-509B7AB68158}"/>
            </c:ext>
          </c:extLst>
        </c:ser>
        <c:ser>
          <c:idx val="4"/>
          <c:order val="4"/>
          <c:tx>
            <c:v>Male</c:v>
          </c:tx>
          <c:spPr>
            <a:ln w="19050" cap="rnd">
              <a:solidFill>
                <a:schemeClr val="accent1"/>
              </a:solidFill>
              <a:prstDash val="sysDash"/>
              <a:round/>
            </a:ln>
            <a:effectLst/>
          </c:spPr>
          <c:marker>
            <c:symbol val="none"/>
          </c:marker>
          <c:cat>
            <c:numRef>
              <c:f>'Slide 10'!$C$6:$G$6</c:f>
              <c:numCache>
                <c:formatCode>General</c:formatCode>
                <c:ptCount val="5"/>
                <c:pt idx="0">
                  <c:v>2011</c:v>
                </c:pt>
                <c:pt idx="1">
                  <c:v>2014</c:v>
                </c:pt>
                <c:pt idx="2">
                  <c:v>2017</c:v>
                </c:pt>
                <c:pt idx="3">
                  <c:v>2021</c:v>
                </c:pt>
                <c:pt idx="4">
                  <c:v>2024</c:v>
                </c:pt>
              </c:numCache>
            </c:numRef>
          </c:cat>
          <c:val>
            <c:numRef>
              <c:f>'Slide 10'!$C$8:$G$8</c:f>
              <c:numCache>
                <c:formatCode>General</c:formatCode>
                <c:ptCount val="5"/>
                <c:pt idx="0">
                  <c:v>45.645641912824203</c:v>
                </c:pt>
                <c:pt idx="1">
                  <c:v>78.657903596634696</c:v>
                </c:pt>
                <c:pt idx="2">
                  <c:v>85.836095309829105</c:v>
                </c:pt>
                <c:pt idx="3">
                  <c:v>83.244995643014093</c:v>
                </c:pt>
                <c:pt idx="4">
                  <c:v>93.889509049655302</c:v>
                </c:pt>
              </c:numCache>
            </c:numRef>
          </c:val>
          <c:smooth val="0"/>
          <c:extLst>
            <c:ext xmlns:c16="http://schemas.microsoft.com/office/drawing/2014/chart" uri="{C3380CC4-5D6E-409C-BE32-E72D297353CC}">
              <c16:uniqueId val="{00000004-4BEB-43F5-8BE9-509B7AB68158}"/>
            </c:ext>
          </c:extLst>
        </c:ser>
        <c:ser>
          <c:idx val="5"/>
          <c:order val="5"/>
          <c:tx>
            <c:v>Female</c:v>
          </c:tx>
          <c:spPr>
            <a:ln w="19050" cap="rnd">
              <a:solidFill>
                <a:schemeClr val="accent1"/>
              </a:solidFill>
              <a:prstDash val="sysDot"/>
              <a:round/>
            </a:ln>
            <a:effectLst/>
          </c:spPr>
          <c:marker>
            <c:symbol val="none"/>
          </c:marker>
          <c:cat>
            <c:numRef>
              <c:f>'Slide 10'!$C$6:$G$6</c:f>
              <c:numCache>
                <c:formatCode>General</c:formatCode>
                <c:ptCount val="5"/>
                <c:pt idx="0">
                  <c:v>2011</c:v>
                </c:pt>
                <c:pt idx="1">
                  <c:v>2014</c:v>
                </c:pt>
                <c:pt idx="2">
                  <c:v>2017</c:v>
                </c:pt>
                <c:pt idx="3">
                  <c:v>2021</c:v>
                </c:pt>
                <c:pt idx="4">
                  <c:v>2024</c:v>
                </c:pt>
              </c:numCache>
            </c:numRef>
          </c:cat>
          <c:val>
            <c:numRef>
              <c:f>'Slide 10'!$C$9:$G$9</c:f>
              <c:numCache>
                <c:formatCode>General</c:formatCode>
                <c:ptCount val="5"/>
                <c:pt idx="0">
                  <c:v>39.178805946299697</c:v>
                </c:pt>
                <c:pt idx="1">
                  <c:v>71.134479552421098</c:v>
                </c:pt>
                <c:pt idx="2">
                  <c:v>77.746365242319698</c:v>
                </c:pt>
                <c:pt idx="3">
                  <c:v>75.357433168421295</c:v>
                </c:pt>
                <c:pt idx="4">
                  <c:v>86.515534401574797</c:v>
                </c:pt>
              </c:numCache>
            </c:numRef>
          </c:val>
          <c:smooth val="0"/>
          <c:extLst>
            <c:ext xmlns:c16="http://schemas.microsoft.com/office/drawing/2014/chart" uri="{C3380CC4-5D6E-409C-BE32-E72D297353CC}">
              <c16:uniqueId val="{00000005-4BEB-43F5-8BE9-509B7AB68158}"/>
            </c:ext>
          </c:extLst>
        </c:ser>
        <c:ser>
          <c:idx val="6"/>
          <c:order val="6"/>
          <c:tx>
            <c:v>Malawi</c:v>
          </c:tx>
          <c:spPr>
            <a:ln w="19050" cap="rnd">
              <a:solidFill>
                <a:schemeClr val="accent6"/>
              </a:solidFill>
              <a:round/>
            </a:ln>
            <a:effectLst/>
          </c:spPr>
          <c:marker>
            <c:symbol val="none"/>
          </c:marker>
          <c:cat>
            <c:numRef>
              <c:f>'Slide 10'!$C$6:$G$6</c:f>
              <c:numCache>
                <c:formatCode>General</c:formatCode>
                <c:ptCount val="5"/>
                <c:pt idx="0">
                  <c:v>2011</c:v>
                </c:pt>
                <c:pt idx="1">
                  <c:v>2014</c:v>
                </c:pt>
                <c:pt idx="2">
                  <c:v>2017</c:v>
                </c:pt>
                <c:pt idx="3">
                  <c:v>2021</c:v>
                </c:pt>
                <c:pt idx="4">
                  <c:v>2024</c:v>
                </c:pt>
              </c:numCache>
            </c:numRef>
          </c:cat>
          <c:val>
            <c:numRef>
              <c:f>'Slide 10'!$C$10:$G$10</c:f>
              <c:numCache>
                <c:formatCode>General</c:formatCode>
                <c:ptCount val="5"/>
                <c:pt idx="0">
                  <c:v>16.5406103840842</c:v>
                </c:pt>
                <c:pt idx="1">
                  <c:v>18.092419550484301</c:v>
                </c:pt>
                <c:pt idx="2">
                  <c:v>33.713933722388298</c:v>
                </c:pt>
                <c:pt idx="3">
                  <c:v>42.707808872699601</c:v>
                </c:pt>
                <c:pt idx="4">
                  <c:v>50.369672500243901</c:v>
                </c:pt>
              </c:numCache>
            </c:numRef>
          </c:val>
          <c:smooth val="0"/>
          <c:extLst>
            <c:ext xmlns:c16="http://schemas.microsoft.com/office/drawing/2014/chart" uri="{C3380CC4-5D6E-409C-BE32-E72D297353CC}">
              <c16:uniqueId val="{00000006-4BEB-43F5-8BE9-509B7AB68158}"/>
            </c:ext>
          </c:extLst>
        </c:ser>
        <c:ser>
          <c:idx val="7"/>
          <c:order val="7"/>
          <c:tx>
            <c:v>Male</c:v>
          </c:tx>
          <c:spPr>
            <a:ln w="19050" cap="rnd">
              <a:solidFill>
                <a:schemeClr val="accent6"/>
              </a:solidFill>
              <a:prstDash val="sysDash"/>
              <a:round/>
            </a:ln>
            <a:effectLst/>
          </c:spPr>
          <c:marker>
            <c:symbol val="none"/>
          </c:marker>
          <c:cat>
            <c:numRef>
              <c:f>'Slide 10'!$C$6:$G$6</c:f>
              <c:numCache>
                <c:formatCode>General</c:formatCode>
                <c:ptCount val="5"/>
                <c:pt idx="0">
                  <c:v>2011</c:v>
                </c:pt>
                <c:pt idx="1">
                  <c:v>2014</c:v>
                </c:pt>
                <c:pt idx="2">
                  <c:v>2017</c:v>
                </c:pt>
                <c:pt idx="3">
                  <c:v>2021</c:v>
                </c:pt>
                <c:pt idx="4">
                  <c:v>2024</c:v>
                </c:pt>
              </c:numCache>
            </c:numRef>
          </c:cat>
          <c:val>
            <c:numRef>
              <c:f>'Slide 10'!$C$11:$G$11</c:f>
              <c:numCache>
                <c:formatCode>General</c:formatCode>
                <c:ptCount val="5"/>
                <c:pt idx="0">
                  <c:v>16.171847081413901</c:v>
                </c:pt>
                <c:pt idx="1">
                  <c:v>22.468348889656198</c:v>
                </c:pt>
                <c:pt idx="2">
                  <c:v>37.942111290485997</c:v>
                </c:pt>
                <c:pt idx="3">
                  <c:v>47.749911007803597</c:v>
                </c:pt>
                <c:pt idx="4">
                  <c:v>54.835476598581799</c:v>
                </c:pt>
              </c:numCache>
            </c:numRef>
          </c:val>
          <c:smooth val="0"/>
          <c:extLst>
            <c:ext xmlns:c16="http://schemas.microsoft.com/office/drawing/2014/chart" uri="{C3380CC4-5D6E-409C-BE32-E72D297353CC}">
              <c16:uniqueId val="{00000007-4BEB-43F5-8BE9-509B7AB68158}"/>
            </c:ext>
          </c:extLst>
        </c:ser>
        <c:ser>
          <c:idx val="8"/>
          <c:order val="8"/>
          <c:tx>
            <c:v>Female</c:v>
          </c:tx>
          <c:spPr>
            <a:ln w="19050" cap="rnd">
              <a:solidFill>
                <a:schemeClr val="accent6"/>
              </a:solidFill>
              <a:prstDash val="sysDot"/>
              <a:round/>
            </a:ln>
            <a:effectLst/>
          </c:spPr>
          <c:marker>
            <c:symbol val="none"/>
          </c:marker>
          <c:cat>
            <c:numRef>
              <c:f>'Slide 10'!$C$6:$G$6</c:f>
              <c:numCache>
                <c:formatCode>General</c:formatCode>
                <c:ptCount val="5"/>
                <c:pt idx="0">
                  <c:v>2011</c:v>
                </c:pt>
                <c:pt idx="1">
                  <c:v>2014</c:v>
                </c:pt>
                <c:pt idx="2">
                  <c:v>2017</c:v>
                </c:pt>
                <c:pt idx="3">
                  <c:v>2021</c:v>
                </c:pt>
                <c:pt idx="4">
                  <c:v>2024</c:v>
                </c:pt>
              </c:numCache>
            </c:numRef>
          </c:cat>
          <c:val>
            <c:numRef>
              <c:f>'Slide 10'!$C$12:$G$12</c:f>
              <c:numCache>
                <c:formatCode>General</c:formatCode>
                <c:ptCount val="5"/>
                <c:pt idx="0">
                  <c:v>16.882441371215201</c:v>
                </c:pt>
                <c:pt idx="1">
                  <c:v>13.9797515741417</c:v>
                </c:pt>
                <c:pt idx="2">
                  <c:v>29.845489552336101</c:v>
                </c:pt>
                <c:pt idx="3">
                  <c:v>38.137266680874703</c:v>
                </c:pt>
                <c:pt idx="4">
                  <c:v>46.279770842724901</c:v>
                </c:pt>
              </c:numCache>
            </c:numRef>
          </c:val>
          <c:smooth val="0"/>
          <c:extLst>
            <c:ext xmlns:c16="http://schemas.microsoft.com/office/drawing/2014/chart" uri="{C3380CC4-5D6E-409C-BE32-E72D297353CC}">
              <c16:uniqueId val="{00000008-4BEB-43F5-8BE9-509B7AB68158}"/>
            </c:ext>
          </c:extLst>
        </c:ser>
        <c:ser>
          <c:idx val="9"/>
          <c:order val="9"/>
          <c:tx>
            <c:v>Tanzania</c:v>
          </c:tx>
          <c:spPr>
            <a:ln w="19050" cap="rnd">
              <a:solidFill>
                <a:srgbClr val="910048"/>
              </a:solidFill>
              <a:round/>
            </a:ln>
            <a:effectLst/>
          </c:spPr>
          <c:marker>
            <c:symbol val="none"/>
          </c:marker>
          <c:cat>
            <c:numRef>
              <c:f>'Slide 10'!$C$6:$G$6</c:f>
              <c:numCache>
                <c:formatCode>General</c:formatCode>
                <c:ptCount val="5"/>
                <c:pt idx="0">
                  <c:v>2011</c:v>
                </c:pt>
                <c:pt idx="1">
                  <c:v>2014</c:v>
                </c:pt>
                <c:pt idx="2">
                  <c:v>2017</c:v>
                </c:pt>
                <c:pt idx="3">
                  <c:v>2021</c:v>
                </c:pt>
                <c:pt idx="4">
                  <c:v>2024</c:v>
                </c:pt>
              </c:numCache>
            </c:numRef>
          </c:cat>
          <c:val>
            <c:numRef>
              <c:f>'Slide 10'!$C$13:$G$13</c:f>
              <c:numCache>
                <c:formatCode>General</c:formatCode>
                <c:ptCount val="5"/>
                <c:pt idx="0">
                  <c:v>17.257767533480099</c:v>
                </c:pt>
                <c:pt idx="1">
                  <c:v>39.779476277164697</c:v>
                </c:pt>
                <c:pt idx="2">
                  <c:v>46.751563997068097</c:v>
                </c:pt>
                <c:pt idx="3">
                  <c:v>52.433334748475801</c:v>
                </c:pt>
                <c:pt idx="4">
                  <c:v>59.827525309077302</c:v>
                </c:pt>
              </c:numCache>
            </c:numRef>
          </c:val>
          <c:smooth val="0"/>
          <c:extLst>
            <c:ext xmlns:c16="http://schemas.microsoft.com/office/drawing/2014/chart" uri="{C3380CC4-5D6E-409C-BE32-E72D297353CC}">
              <c16:uniqueId val="{00000009-4BEB-43F5-8BE9-509B7AB68158}"/>
            </c:ext>
          </c:extLst>
        </c:ser>
        <c:ser>
          <c:idx val="10"/>
          <c:order val="10"/>
          <c:tx>
            <c:v>Male</c:v>
          </c:tx>
          <c:spPr>
            <a:ln w="19050" cap="rnd">
              <a:solidFill>
                <a:srgbClr val="910048"/>
              </a:solidFill>
              <a:prstDash val="sysDash"/>
              <a:round/>
            </a:ln>
            <a:effectLst/>
          </c:spPr>
          <c:marker>
            <c:symbol val="none"/>
          </c:marker>
          <c:cat>
            <c:numRef>
              <c:f>'Slide 10'!$C$6:$G$6</c:f>
              <c:numCache>
                <c:formatCode>General</c:formatCode>
                <c:ptCount val="5"/>
                <c:pt idx="0">
                  <c:v>2011</c:v>
                </c:pt>
                <c:pt idx="1">
                  <c:v>2014</c:v>
                </c:pt>
                <c:pt idx="2">
                  <c:v>2017</c:v>
                </c:pt>
                <c:pt idx="3">
                  <c:v>2021</c:v>
                </c:pt>
                <c:pt idx="4">
                  <c:v>2024</c:v>
                </c:pt>
              </c:numCache>
            </c:numRef>
          </c:cat>
          <c:val>
            <c:numRef>
              <c:f>'Slide 10'!$C$14:$G$14</c:f>
              <c:numCache>
                <c:formatCode>General</c:formatCode>
                <c:ptCount val="5"/>
                <c:pt idx="0">
                  <c:v>20.794850864097501</c:v>
                </c:pt>
                <c:pt idx="1">
                  <c:v>45.447480522997097</c:v>
                </c:pt>
                <c:pt idx="2">
                  <c:v>51.553570978161702</c:v>
                </c:pt>
                <c:pt idx="3">
                  <c:v>59.3651895310364</c:v>
                </c:pt>
                <c:pt idx="4">
                  <c:v>65.336246937256504</c:v>
                </c:pt>
              </c:numCache>
            </c:numRef>
          </c:val>
          <c:smooth val="0"/>
          <c:extLst>
            <c:ext xmlns:c16="http://schemas.microsoft.com/office/drawing/2014/chart" uri="{C3380CC4-5D6E-409C-BE32-E72D297353CC}">
              <c16:uniqueId val="{0000000A-4BEB-43F5-8BE9-509B7AB68158}"/>
            </c:ext>
          </c:extLst>
        </c:ser>
        <c:ser>
          <c:idx val="11"/>
          <c:order val="11"/>
          <c:tx>
            <c:v>Female</c:v>
          </c:tx>
          <c:spPr>
            <a:ln w="19050" cap="rnd">
              <a:solidFill>
                <a:srgbClr val="910048"/>
              </a:solidFill>
              <a:prstDash val="sysDot"/>
              <a:round/>
            </a:ln>
            <a:effectLst/>
          </c:spPr>
          <c:marker>
            <c:symbol val="none"/>
          </c:marker>
          <c:cat>
            <c:numRef>
              <c:f>'Slide 10'!$C$6:$G$6</c:f>
              <c:numCache>
                <c:formatCode>General</c:formatCode>
                <c:ptCount val="5"/>
                <c:pt idx="0">
                  <c:v>2011</c:v>
                </c:pt>
                <c:pt idx="1">
                  <c:v>2014</c:v>
                </c:pt>
                <c:pt idx="2">
                  <c:v>2017</c:v>
                </c:pt>
                <c:pt idx="3">
                  <c:v>2021</c:v>
                </c:pt>
                <c:pt idx="4">
                  <c:v>2024</c:v>
                </c:pt>
              </c:numCache>
            </c:numRef>
          </c:cat>
          <c:val>
            <c:numRef>
              <c:f>'Slide 10'!$C$15:$G$15</c:f>
              <c:numCache>
                <c:formatCode>General</c:formatCode>
                <c:ptCount val="5"/>
                <c:pt idx="0">
                  <c:v>13.823981709031299</c:v>
                </c:pt>
                <c:pt idx="1">
                  <c:v>34.334138034317803</c:v>
                </c:pt>
                <c:pt idx="2">
                  <c:v>42.152220983467203</c:v>
                </c:pt>
                <c:pt idx="3">
                  <c:v>46.0288815505263</c:v>
                </c:pt>
                <c:pt idx="4">
                  <c:v>54.934631821523602</c:v>
                </c:pt>
              </c:numCache>
            </c:numRef>
          </c:val>
          <c:smooth val="0"/>
          <c:extLst>
            <c:ext xmlns:c16="http://schemas.microsoft.com/office/drawing/2014/chart" uri="{C3380CC4-5D6E-409C-BE32-E72D297353CC}">
              <c16:uniqueId val="{0000000B-4BEB-43F5-8BE9-509B7AB68158}"/>
            </c:ext>
          </c:extLst>
        </c:ser>
        <c:ser>
          <c:idx val="12"/>
          <c:order val="12"/>
          <c:tx>
            <c:v>Uganda</c:v>
          </c:tx>
          <c:spPr>
            <a:ln w="19050" cap="rnd">
              <a:solidFill>
                <a:schemeClr val="accent3"/>
              </a:solidFill>
              <a:round/>
            </a:ln>
            <a:effectLst/>
          </c:spPr>
          <c:marker>
            <c:symbol val="none"/>
          </c:marker>
          <c:cat>
            <c:numRef>
              <c:f>'Slide 10'!$C$6:$G$6</c:f>
              <c:numCache>
                <c:formatCode>General</c:formatCode>
                <c:ptCount val="5"/>
                <c:pt idx="0">
                  <c:v>2011</c:v>
                </c:pt>
                <c:pt idx="1">
                  <c:v>2014</c:v>
                </c:pt>
                <c:pt idx="2">
                  <c:v>2017</c:v>
                </c:pt>
                <c:pt idx="3">
                  <c:v>2021</c:v>
                </c:pt>
                <c:pt idx="4">
                  <c:v>2024</c:v>
                </c:pt>
              </c:numCache>
            </c:numRef>
          </c:cat>
          <c:val>
            <c:numRef>
              <c:f>'Slide 10'!$C$16:$G$16</c:f>
              <c:numCache>
                <c:formatCode>General</c:formatCode>
                <c:ptCount val="5"/>
                <c:pt idx="0">
                  <c:v>20.461419207911501</c:v>
                </c:pt>
                <c:pt idx="1">
                  <c:v>44.447154358520997</c:v>
                </c:pt>
                <c:pt idx="2">
                  <c:v>59.199151183892802</c:v>
                </c:pt>
                <c:pt idx="3">
                  <c:v>65.914011087313</c:v>
                </c:pt>
                <c:pt idx="4">
                  <c:v>72.827375755606298</c:v>
                </c:pt>
              </c:numCache>
            </c:numRef>
          </c:val>
          <c:smooth val="0"/>
          <c:extLst>
            <c:ext xmlns:c16="http://schemas.microsoft.com/office/drawing/2014/chart" uri="{C3380CC4-5D6E-409C-BE32-E72D297353CC}">
              <c16:uniqueId val="{0000000C-4BEB-43F5-8BE9-509B7AB68158}"/>
            </c:ext>
          </c:extLst>
        </c:ser>
        <c:ser>
          <c:idx val="13"/>
          <c:order val="13"/>
          <c:tx>
            <c:v>Male</c:v>
          </c:tx>
          <c:spPr>
            <a:ln w="19050" cap="rnd">
              <a:solidFill>
                <a:schemeClr val="accent3"/>
              </a:solidFill>
              <a:prstDash val="sysDash"/>
              <a:round/>
            </a:ln>
            <a:effectLst/>
          </c:spPr>
          <c:marker>
            <c:symbol val="none"/>
          </c:marker>
          <c:cat>
            <c:numRef>
              <c:f>'Slide 10'!$C$6:$G$6</c:f>
              <c:numCache>
                <c:formatCode>General</c:formatCode>
                <c:ptCount val="5"/>
                <c:pt idx="0">
                  <c:v>2011</c:v>
                </c:pt>
                <c:pt idx="1">
                  <c:v>2014</c:v>
                </c:pt>
                <c:pt idx="2">
                  <c:v>2017</c:v>
                </c:pt>
                <c:pt idx="3">
                  <c:v>2021</c:v>
                </c:pt>
                <c:pt idx="4">
                  <c:v>2024</c:v>
                </c:pt>
              </c:numCache>
            </c:numRef>
          </c:cat>
          <c:val>
            <c:numRef>
              <c:f>'Slide 10'!$C$17:$G$17</c:f>
              <c:numCache>
                <c:formatCode>General</c:formatCode>
                <c:ptCount val="5"/>
                <c:pt idx="0">
                  <c:v>25.783012235730499</c:v>
                </c:pt>
                <c:pt idx="1">
                  <c:v>52.355657889178197</c:v>
                </c:pt>
                <c:pt idx="2">
                  <c:v>66.076995867987506</c:v>
                </c:pt>
                <c:pt idx="3">
                  <c:v>66.882237922205505</c:v>
                </c:pt>
                <c:pt idx="4">
                  <c:v>80.267860656899501</c:v>
                </c:pt>
              </c:numCache>
            </c:numRef>
          </c:val>
          <c:smooth val="0"/>
          <c:extLst>
            <c:ext xmlns:c16="http://schemas.microsoft.com/office/drawing/2014/chart" uri="{C3380CC4-5D6E-409C-BE32-E72D297353CC}">
              <c16:uniqueId val="{0000000D-4BEB-43F5-8BE9-509B7AB68158}"/>
            </c:ext>
          </c:extLst>
        </c:ser>
        <c:ser>
          <c:idx val="14"/>
          <c:order val="14"/>
          <c:tx>
            <c:v>Female</c:v>
          </c:tx>
          <c:spPr>
            <a:ln w="19050" cap="rnd">
              <a:solidFill>
                <a:schemeClr val="accent3"/>
              </a:solidFill>
              <a:prstDash val="sysDot"/>
              <a:round/>
            </a:ln>
            <a:effectLst/>
          </c:spPr>
          <c:marker>
            <c:symbol val="none"/>
          </c:marker>
          <c:cat>
            <c:numRef>
              <c:f>'Slide 10'!$C$6:$G$6</c:f>
              <c:numCache>
                <c:formatCode>General</c:formatCode>
                <c:ptCount val="5"/>
                <c:pt idx="0">
                  <c:v>2011</c:v>
                </c:pt>
                <c:pt idx="1">
                  <c:v>2014</c:v>
                </c:pt>
                <c:pt idx="2">
                  <c:v>2017</c:v>
                </c:pt>
                <c:pt idx="3">
                  <c:v>2021</c:v>
                </c:pt>
                <c:pt idx="4">
                  <c:v>2024</c:v>
                </c:pt>
              </c:numCache>
            </c:numRef>
          </c:cat>
          <c:val>
            <c:numRef>
              <c:f>'Slide 10'!$C$18:$G$18</c:f>
              <c:numCache>
                <c:formatCode>General</c:formatCode>
                <c:ptCount val="5"/>
                <c:pt idx="0">
                  <c:v>15.063518620191701</c:v>
                </c:pt>
                <c:pt idx="1">
                  <c:v>36.633283832558497</c:v>
                </c:pt>
                <c:pt idx="2">
                  <c:v>52.706412202516901</c:v>
                </c:pt>
                <c:pt idx="3">
                  <c:v>65.062889687542693</c:v>
                </c:pt>
                <c:pt idx="4">
                  <c:v>66.367090247420293</c:v>
                </c:pt>
              </c:numCache>
            </c:numRef>
          </c:val>
          <c:smooth val="0"/>
          <c:extLst>
            <c:ext xmlns:c16="http://schemas.microsoft.com/office/drawing/2014/chart" uri="{C3380CC4-5D6E-409C-BE32-E72D297353CC}">
              <c16:uniqueId val="{0000000E-4BEB-43F5-8BE9-509B7AB68158}"/>
            </c:ext>
          </c:extLst>
        </c:ser>
        <c:ser>
          <c:idx val="15"/>
          <c:order val="15"/>
          <c:tx>
            <c:v>Rwanda</c:v>
          </c:tx>
          <c:spPr>
            <a:ln w="19050" cap="rnd">
              <a:solidFill>
                <a:schemeClr val="accent5"/>
              </a:solidFill>
              <a:round/>
            </a:ln>
            <a:effectLst/>
          </c:spPr>
          <c:marker>
            <c:symbol val="none"/>
          </c:marker>
          <c:cat>
            <c:numRef>
              <c:f>'Slide 10'!$C$6:$G$6</c:f>
              <c:numCache>
                <c:formatCode>General</c:formatCode>
                <c:ptCount val="5"/>
                <c:pt idx="0">
                  <c:v>2011</c:v>
                </c:pt>
                <c:pt idx="1">
                  <c:v>2014</c:v>
                </c:pt>
                <c:pt idx="2">
                  <c:v>2017</c:v>
                </c:pt>
                <c:pt idx="3">
                  <c:v>2021</c:v>
                </c:pt>
                <c:pt idx="4">
                  <c:v>2024</c:v>
                </c:pt>
              </c:numCache>
            </c:numRef>
          </c:cat>
          <c:val>
            <c:numRef>
              <c:f>'Slide 10'!$C$19:$E$19</c:f>
              <c:numCache>
                <c:formatCode>General</c:formatCode>
                <c:ptCount val="3"/>
                <c:pt idx="0">
                  <c:v>32.763822244729504</c:v>
                </c:pt>
                <c:pt idx="1">
                  <c:v>42.116912576516498</c:v>
                </c:pt>
                <c:pt idx="2">
                  <c:v>50.019793696101999</c:v>
                </c:pt>
              </c:numCache>
            </c:numRef>
          </c:val>
          <c:smooth val="0"/>
          <c:extLst>
            <c:ext xmlns:c16="http://schemas.microsoft.com/office/drawing/2014/chart" uri="{C3380CC4-5D6E-409C-BE32-E72D297353CC}">
              <c16:uniqueId val="{0000000F-4BEB-43F5-8BE9-509B7AB68158}"/>
            </c:ext>
          </c:extLst>
        </c:ser>
        <c:ser>
          <c:idx val="16"/>
          <c:order val="16"/>
          <c:tx>
            <c:v>Male</c:v>
          </c:tx>
          <c:spPr>
            <a:ln w="19050" cap="rnd">
              <a:solidFill>
                <a:schemeClr val="accent5"/>
              </a:solidFill>
              <a:prstDash val="sysDash"/>
              <a:round/>
            </a:ln>
            <a:effectLst/>
          </c:spPr>
          <c:marker>
            <c:symbol val="none"/>
          </c:marker>
          <c:cat>
            <c:numRef>
              <c:f>'Slide 10'!$C$6:$G$6</c:f>
              <c:numCache>
                <c:formatCode>General</c:formatCode>
                <c:ptCount val="5"/>
                <c:pt idx="0">
                  <c:v>2011</c:v>
                </c:pt>
                <c:pt idx="1">
                  <c:v>2014</c:v>
                </c:pt>
                <c:pt idx="2">
                  <c:v>2017</c:v>
                </c:pt>
                <c:pt idx="3">
                  <c:v>2021</c:v>
                </c:pt>
                <c:pt idx="4">
                  <c:v>2024</c:v>
                </c:pt>
              </c:numCache>
            </c:numRef>
          </c:cat>
          <c:val>
            <c:numRef>
              <c:f>'Slide 10'!$C$20:$E$20</c:f>
              <c:numCache>
                <c:formatCode>General</c:formatCode>
                <c:ptCount val="3"/>
                <c:pt idx="0">
                  <c:v>37.508720841281701</c:v>
                </c:pt>
                <c:pt idx="1">
                  <c:v>49.043631421503903</c:v>
                </c:pt>
                <c:pt idx="2">
                  <c:v>55.745464692484802</c:v>
                </c:pt>
              </c:numCache>
            </c:numRef>
          </c:val>
          <c:smooth val="0"/>
          <c:extLst>
            <c:ext xmlns:c16="http://schemas.microsoft.com/office/drawing/2014/chart" uri="{C3380CC4-5D6E-409C-BE32-E72D297353CC}">
              <c16:uniqueId val="{00000010-4BEB-43F5-8BE9-509B7AB68158}"/>
            </c:ext>
          </c:extLst>
        </c:ser>
        <c:ser>
          <c:idx val="17"/>
          <c:order val="17"/>
          <c:tx>
            <c:v>Female</c:v>
          </c:tx>
          <c:spPr>
            <a:ln w="19050" cap="rnd">
              <a:solidFill>
                <a:schemeClr val="accent5"/>
              </a:solidFill>
              <a:prstDash val="sysDot"/>
              <a:round/>
            </a:ln>
            <a:effectLst/>
          </c:spPr>
          <c:marker>
            <c:symbol val="none"/>
          </c:marker>
          <c:cat>
            <c:numRef>
              <c:f>'Slide 10'!$C$6:$G$6</c:f>
              <c:numCache>
                <c:formatCode>General</c:formatCode>
                <c:ptCount val="5"/>
                <c:pt idx="0">
                  <c:v>2011</c:v>
                </c:pt>
                <c:pt idx="1">
                  <c:v>2014</c:v>
                </c:pt>
                <c:pt idx="2">
                  <c:v>2017</c:v>
                </c:pt>
                <c:pt idx="3">
                  <c:v>2021</c:v>
                </c:pt>
                <c:pt idx="4">
                  <c:v>2024</c:v>
                </c:pt>
              </c:numCache>
            </c:numRef>
          </c:cat>
          <c:val>
            <c:numRef>
              <c:f>'Slide 10'!$C$21:$E$21</c:f>
              <c:numCache>
                <c:formatCode>General</c:formatCode>
                <c:ptCount val="3"/>
                <c:pt idx="0">
                  <c:v>28.2467125980262</c:v>
                </c:pt>
                <c:pt idx="1">
                  <c:v>35.3219449796634</c:v>
                </c:pt>
                <c:pt idx="2">
                  <c:v>44.960501532741901</c:v>
                </c:pt>
              </c:numCache>
            </c:numRef>
          </c:val>
          <c:smooth val="0"/>
          <c:extLst>
            <c:ext xmlns:c16="http://schemas.microsoft.com/office/drawing/2014/chart" uri="{C3380CC4-5D6E-409C-BE32-E72D297353CC}">
              <c16:uniqueId val="{00000011-4BEB-43F5-8BE9-509B7AB68158}"/>
            </c:ext>
          </c:extLst>
        </c:ser>
        <c:ser>
          <c:idx val="18"/>
          <c:order val="18"/>
          <c:tx>
            <c:v>Total</c:v>
          </c:tx>
          <c:spPr>
            <a:ln w="19050" cap="rnd">
              <a:solidFill>
                <a:schemeClr val="tx1"/>
              </a:solidFill>
              <a:round/>
            </a:ln>
            <a:effectLst/>
          </c:spPr>
          <c:marker>
            <c:symbol val="none"/>
          </c:marker>
          <c:val>
            <c:numRef>
              <c:f>'Slide 10'!$C$22</c:f>
              <c:numCache>
                <c:formatCode>General</c:formatCode>
                <c:ptCount val="1"/>
                <c:pt idx="0">
                  <c:v>32.763822244729504</c:v>
                </c:pt>
              </c:numCache>
            </c:numRef>
          </c:val>
          <c:smooth val="0"/>
          <c:extLst>
            <c:ext xmlns:c16="http://schemas.microsoft.com/office/drawing/2014/chart" uri="{C3380CC4-5D6E-409C-BE32-E72D297353CC}">
              <c16:uniqueId val="{00000012-4BEB-43F5-8BE9-509B7AB68158}"/>
            </c:ext>
          </c:extLst>
        </c:ser>
        <c:ser>
          <c:idx val="19"/>
          <c:order val="19"/>
          <c:tx>
            <c:v>Male</c:v>
          </c:tx>
          <c:spPr>
            <a:ln w="19050" cap="rnd">
              <a:solidFill>
                <a:schemeClr val="tx1"/>
              </a:solidFill>
              <a:prstDash val="dashDot"/>
              <a:round/>
            </a:ln>
            <a:effectLst/>
          </c:spPr>
          <c:marker>
            <c:symbol val="none"/>
          </c:marker>
          <c:val>
            <c:numRef>
              <c:f>'Slide 10'!$C$23</c:f>
              <c:numCache>
                <c:formatCode>General</c:formatCode>
                <c:ptCount val="1"/>
                <c:pt idx="0">
                  <c:v>37.508720841281701</c:v>
                </c:pt>
              </c:numCache>
            </c:numRef>
          </c:val>
          <c:smooth val="0"/>
          <c:extLst>
            <c:ext xmlns:c16="http://schemas.microsoft.com/office/drawing/2014/chart" uri="{C3380CC4-5D6E-409C-BE32-E72D297353CC}">
              <c16:uniqueId val="{00000013-4BEB-43F5-8BE9-509B7AB68158}"/>
            </c:ext>
          </c:extLst>
        </c:ser>
        <c:ser>
          <c:idx val="20"/>
          <c:order val="20"/>
          <c:tx>
            <c:v>Female</c:v>
          </c:tx>
          <c:spPr>
            <a:ln w="19050" cap="rnd">
              <a:solidFill>
                <a:schemeClr val="tx1"/>
              </a:solidFill>
              <a:prstDash val="sysDash"/>
              <a:round/>
            </a:ln>
            <a:effectLst/>
          </c:spPr>
          <c:marker>
            <c:symbol val="none"/>
          </c:marker>
          <c:val>
            <c:numRef>
              <c:f>'Slide 10'!$C$24</c:f>
              <c:numCache>
                <c:formatCode>General</c:formatCode>
                <c:ptCount val="1"/>
                <c:pt idx="0">
                  <c:v>28.2467125980262</c:v>
                </c:pt>
              </c:numCache>
            </c:numRef>
          </c:val>
          <c:smooth val="0"/>
          <c:extLst>
            <c:ext xmlns:c16="http://schemas.microsoft.com/office/drawing/2014/chart" uri="{C3380CC4-5D6E-409C-BE32-E72D297353CC}">
              <c16:uniqueId val="{00000014-4BEB-43F5-8BE9-509B7AB68158}"/>
            </c:ext>
          </c:extLst>
        </c:ser>
        <c:dLbls>
          <c:showLegendKey val="0"/>
          <c:showVal val="0"/>
          <c:showCatName val="0"/>
          <c:showSerName val="0"/>
          <c:showPercent val="0"/>
          <c:showBubbleSize val="0"/>
        </c:dLbls>
        <c:smooth val="0"/>
        <c:axId val="754156863"/>
        <c:axId val="754154463"/>
      </c:lineChart>
      <c:catAx>
        <c:axId val="754156863"/>
        <c:scaling>
          <c:orientation val="minMax"/>
        </c:scaling>
        <c:delete val="0"/>
        <c:axPos val="b"/>
        <c:majorGridlines>
          <c:spPr>
            <a:ln w="12700"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754154463"/>
        <c:crosses val="autoZero"/>
        <c:auto val="1"/>
        <c:lblAlgn val="ctr"/>
        <c:lblOffset val="100"/>
        <c:noMultiLvlLbl val="0"/>
      </c:catAx>
      <c:valAx>
        <c:axId val="754154463"/>
        <c:scaling>
          <c:orientation val="minMax"/>
          <c:max val="100"/>
        </c:scaling>
        <c:delete val="0"/>
        <c:axPos val="l"/>
        <c:majorGridlines>
          <c:spPr>
            <a:ln w="12700"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Percentage of Population 15+</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754156863"/>
        <c:crosses val="autoZero"/>
        <c:crossBetween val="between"/>
        <c:majorUnit val="20"/>
      </c:valAx>
      <c:spPr>
        <a:noFill/>
        <a:ln>
          <a:noFill/>
        </a:ln>
        <a:effectLst/>
      </c:spPr>
    </c:plotArea>
    <c:legend>
      <c:legendPos val="b"/>
      <c:legendEntry>
        <c:idx val="1"/>
        <c:delete val="1"/>
      </c:legendEntry>
      <c:legendEntry>
        <c:idx val="2"/>
        <c:delete val="1"/>
      </c:legendEntry>
      <c:legendEntry>
        <c:idx val="4"/>
        <c:delete val="1"/>
      </c:legendEntry>
      <c:legendEntry>
        <c:idx val="5"/>
        <c:delete val="1"/>
      </c:legendEntry>
      <c:legendEntry>
        <c:idx val="7"/>
        <c:delete val="1"/>
      </c:legendEntry>
      <c:legendEntry>
        <c:idx val="8"/>
        <c:delete val="1"/>
      </c:legendEntry>
      <c:legendEntry>
        <c:idx val="10"/>
        <c:delete val="1"/>
      </c:legendEntry>
      <c:legendEntry>
        <c:idx val="11"/>
        <c:delete val="1"/>
      </c:legendEntry>
      <c:legendEntry>
        <c:idx val="13"/>
        <c:delete val="1"/>
      </c:legendEntry>
      <c:legendEntry>
        <c:idx val="14"/>
        <c:delete val="1"/>
      </c:legendEntry>
      <c:legendEntry>
        <c:idx val="16"/>
        <c:delete val="1"/>
      </c:legendEntry>
      <c:legendEntry>
        <c:idx val="17"/>
        <c:delete val="1"/>
      </c:legendEntry>
      <c:legendEntry>
        <c:idx val="18"/>
        <c:delete val="1"/>
      </c:legendEntry>
      <c:legendEntry>
        <c:idx val="19"/>
        <c:delete val="1"/>
      </c:legendEntry>
      <c:legendEntry>
        <c:idx val="20"/>
        <c:delete val="1"/>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spc="0" baseline="0">
                <a:solidFill>
                  <a:srgbClr val="4B82AD"/>
                </a:solidFill>
                <a:latin typeface="Segoe UI" panose="020B0502040204020203" pitchFamily="34" charset="0"/>
                <a:ea typeface="+mn-ea"/>
                <a:cs typeface="+mn-cs"/>
              </a:defRPr>
            </a:pPr>
            <a:r>
              <a:rPr lang="en-US" sz="2000" b="1">
                <a:solidFill>
                  <a:schemeClr val="tx2"/>
                </a:solidFill>
                <a:latin typeface="Segoe UI" panose="020B0502040204020203" pitchFamily="34" charset="0"/>
              </a:rPr>
              <a:t>Mobile Money Account: Male vs. Female</a:t>
            </a:r>
          </a:p>
          <a:p>
            <a:pPr>
              <a:defRPr sz="2000" b="1">
                <a:solidFill>
                  <a:srgbClr val="4B82AD"/>
                </a:solidFill>
                <a:latin typeface="Segoe UI" panose="020B0502040204020203" pitchFamily="34" charset="0"/>
              </a:defRPr>
            </a:pPr>
            <a:r>
              <a:rPr lang="en-US" sz="2000" b="0">
                <a:solidFill>
                  <a:schemeClr val="tx2"/>
                </a:solidFill>
                <a:latin typeface="Segoe UI" panose="020B0502040204020203" pitchFamily="34" charset="0"/>
              </a:rPr>
              <a:t>(Percentage of Population Age 15+)</a:t>
            </a:r>
          </a:p>
        </c:rich>
      </c:tx>
      <c:overlay val="0"/>
      <c:spPr>
        <a:noFill/>
        <a:ln>
          <a:noFill/>
        </a:ln>
        <a:effectLst/>
      </c:spPr>
      <c:txPr>
        <a:bodyPr rot="0" spcFirstLastPara="1" vertOverflow="ellipsis" vert="horz" wrap="square" anchor="ctr" anchorCtr="1"/>
        <a:lstStyle/>
        <a:p>
          <a:pPr>
            <a:defRPr sz="2000" b="1" i="0" u="none" strike="noStrike" kern="1200" spc="0" baseline="0">
              <a:solidFill>
                <a:srgbClr val="4B82AD"/>
              </a:solidFill>
              <a:latin typeface="Segoe UI" panose="020B0502040204020203" pitchFamily="34" charset="0"/>
              <a:ea typeface="+mn-ea"/>
              <a:cs typeface="+mn-cs"/>
            </a:defRPr>
          </a:pPr>
          <a:endParaRPr lang="en-US"/>
        </a:p>
      </c:txPr>
    </c:title>
    <c:autoTitleDeleted val="0"/>
    <c:plotArea>
      <c:layout/>
      <c:barChart>
        <c:barDir val="col"/>
        <c:grouping val="clustered"/>
        <c:varyColors val="0"/>
        <c:ser>
          <c:idx val="0"/>
          <c:order val="0"/>
          <c:tx>
            <c:strRef>
              <c:f>'Slide 11'!$C$1</c:f>
              <c:strCache>
                <c:ptCount val="1"/>
                <c:pt idx="0">
                  <c:v>Male</c:v>
                </c:pt>
              </c:strCache>
            </c:strRef>
          </c:tx>
          <c:spPr>
            <a:solidFill>
              <a:schemeClr val="tx2"/>
            </a:solidFill>
            <a:ln>
              <a:solidFill>
                <a:schemeClr val="tx2"/>
              </a:solidFill>
              <a:prstDash val="solid"/>
            </a:ln>
            <a:effectLst/>
          </c:spPr>
          <c:invertIfNegative val="0"/>
          <c:cat>
            <c:strRef>
              <c:f>'Slide 11'!$A$2:$A$6</c:f>
              <c:strCache>
                <c:ptCount val="5"/>
                <c:pt idx="0">
                  <c:v>Kenya</c:v>
                </c:pt>
                <c:pt idx="1">
                  <c:v>Malawi</c:v>
                </c:pt>
                <c:pt idx="2">
                  <c:v>Rwanda</c:v>
                </c:pt>
                <c:pt idx="3">
                  <c:v>Tanzania</c:v>
                </c:pt>
                <c:pt idx="4">
                  <c:v>Uganda</c:v>
                </c:pt>
              </c:strCache>
            </c:strRef>
          </c:cat>
          <c:val>
            <c:numRef>
              <c:f>'Slide 11'!$C$2:$C$6</c:f>
              <c:numCache>
                <c:formatCode>0.0</c:formatCode>
                <c:ptCount val="5"/>
                <c:pt idx="0">
                  <c:v>91.671990797186197</c:v>
                </c:pt>
                <c:pt idx="1">
                  <c:v>51.382942636069302</c:v>
                </c:pt>
                <c:pt idx="2">
                  <c:v>36.8865747873269</c:v>
                </c:pt>
                <c:pt idx="3">
                  <c:v>56.235478754888398</c:v>
                </c:pt>
                <c:pt idx="4">
                  <c:v>74.644953491906406</c:v>
                </c:pt>
              </c:numCache>
            </c:numRef>
          </c:val>
          <c:extLst>
            <c:ext xmlns:c16="http://schemas.microsoft.com/office/drawing/2014/chart" uri="{C3380CC4-5D6E-409C-BE32-E72D297353CC}">
              <c16:uniqueId val="{00000000-470B-40DA-B335-94FD2815F87D}"/>
            </c:ext>
          </c:extLst>
        </c:ser>
        <c:ser>
          <c:idx val="1"/>
          <c:order val="1"/>
          <c:tx>
            <c:strRef>
              <c:f>'Slide 11'!$D$1</c:f>
              <c:strCache>
                <c:ptCount val="1"/>
                <c:pt idx="0">
                  <c:v>Female</c:v>
                </c:pt>
              </c:strCache>
            </c:strRef>
          </c:tx>
          <c:spPr>
            <a:solidFill>
              <a:schemeClr val="accent1"/>
            </a:solidFill>
            <a:ln>
              <a:solidFill>
                <a:schemeClr val="accent1"/>
              </a:solidFill>
              <a:prstDash val="solid"/>
            </a:ln>
            <a:effectLst/>
          </c:spPr>
          <c:invertIfNegative val="0"/>
          <c:cat>
            <c:strRef>
              <c:f>'Slide 11'!$A$2:$A$6</c:f>
              <c:strCache>
                <c:ptCount val="5"/>
                <c:pt idx="0">
                  <c:v>Kenya</c:v>
                </c:pt>
                <c:pt idx="1">
                  <c:v>Malawi</c:v>
                </c:pt>
                <c:pt idx="2">
                  <c:v>Rwanda</c:v>
                </c:pt>
                <c:pt idx="3">
                  <c:v>Tanzania</c:v>
                </c:pt>
                <c:pt idx="4">
                  <c:v>Uganda</c:v>
                </c:pt>
              </c:strCache>
            </c:strRef>
          </c:cat>
          <c:val>
            <c:numRef>
              <c:f>'Slide 11'!$D$2:$D$6</c:f>
              <c:numCache>
                <c:formatCode>0.0</c:formatCode>
                <c:ptCount val="5"/>
                <c:pt idx="0">
                  <c:v>83.509702077913403</c:v>
                </c:pt>
                <c:pt idx="1">
                  <c:v>43.750778850219497</c:v>
                </c:pt>
                <c:pt idx="2">
                  <c:v>26.014471332703302</c:v>
                </c:pt>
                <c:pt idx="3">
                  <c:v>49.850511032198199</c:v>
                </c:pt>
                <c:pt idx="4">
                  <c:v>61.7415111193801</c:v>
                </c:pt>
              </c:numCache>
            </c:numRef>
          </c:val>
          <c:extLst>
            <c:ext xmlns:c16="http://schemas.microsoft.com/office/drawing/2014/chart" uri="{C3380CC4-5D6E-409C-BE32-E72D297353CC}">
              <c16:uniqueId val="{00000001-470B-40DA-B335-94FD2815F87D}"/>
            </c:ext>
          </c:extLst>
        </c:ser>
        <c:dLbls>
          <c:showLegendKey val="0"/>
          <c:showVal val="0"/>
          <c:showCatName val="0"/>
          <c:showSerName val="0"/>
          <c:showPercent val="0"/>
          <c:showBubbleSize val="0"/>
        </c:dLbls>
        <c:gapWidth val="133"/>
        <c:overlap val="-20"/>
        <c:axId val="1734436608"/>
        <c:axId val="1734438048"/>
      </c:barChart>
      <c:catAx>
        <c:axId val="1734436608"/>
        <c:scaling>
          <c:orientation val="minMax"/>
        </c:scaling>
        <c:delete val="0"/>
        <c:axPos val="b"/>
        <c:numFmt formatCode="General" sourceLinked="1"/>
        <c:majorTickMark val="in"/>
        <c:minorTickMark val="none"/>
        <c:tickLblPos val="nextTo"/>
        <c:spPr>
          <a:noFill/>
          <a:ln w="3175" cap="flat" cmpd="sng" algn="ctr">
            <a:solidFill>
              <a:srgbClr val="B3B3B3"/>
            </a:solidFill>
            <a:prstDash val="solid"/>
            <a:round/>
          </a:ln>
          <a:effectLst/>
        </c:spPr>
        <c:txPr>
          <a:bodyPr rot="-60000000" spcFirstLastPara="1" vertOverflow="ellipsis" vert="horz" wrap="square" anchor="ctr" anchorCtr="1"/>
          <a:lstStyle/>
          <a:p>
            <a:pPr>
              <a:defRPr sz="1400" b="0" i="0" u="none" strike="noStrike" kern="1200" baseline="0">
                <a:solidFill>
                  <a:srgbClr val="000000"/>
                </a:solidFill>
                <a:latin typeface="Segoe UI"/>
                <a:ea typeface="Segoe UI"/>
                <a:cs typeface="Segoe UI"/>
              </a:defRPr>
            </a:pPr>
            <a:endParaRPr lang="en-US"/>
          </a:p>
        </c:txPr>
        <c:crossAx val="1734438048"/>
        <c:crosses val="autoZero"/>
        <c:auto val="1"/>
        <c:lblAlgn val="ctr"/>
        <c:lblOffset val="100"/>
        <c:noMultiLvlLbl val="0"/>
      </c:catAx>
      <c:valAx>
        <c:axId val="1734438048"/>
        <c:scaling>
          <c:orientation val="minMax"/>
        </c:scaling>
        <c:delete val="0"/>
        <c:axPos val="l"/>
        <c:numFmt formatCode="0" sourceLinked="0"/>
        <c:majorTickMark val="in"/>
        <c:minorTickMark val="none"/>
        <c:tickLblPos val="nextTo"/>
        <c:spPr>
          <a:noFill/>
          <a:ln w="3175">
            <a:solidFill>
              <a:srgbClr val="B3B3B3"/>
            </a:solidFill>
            <a:prstDash val="solid"/>
          </a:ln>
          <a:effectLst/>
        </c:spPr>
        <c:txPr>
          <a:bodyPr rot="-60000000" spcFirstLastPara="1" vertOverflow="ellipsis" vert="horz" wrap="square" anchor="ctr" anchorCtr="1"/>
          <a:lstStyle/>
          <a:p>
            <a:pPr>
              <a:defRPr sz="1400" b="0" i="0" u="none" strike="noStrike" kern="1200" baseline="0">
                <a:solidFill>
                  <a:srgbClr val="000000"/>
                </a:solidFill>
                <a:latin typeface="Segoe UI"/>
                <a:ea typeface="Segoe UI"/>
                <a:cs typeface="Segoe UI"/>
              </a:defRPr>
            </a:pPr>
            <a:endParaRPr lang="en-US"/>
          </a:p>
        </c:txPr>
        <c:crossAx val="1734436608"/>
        <c:crosses val="autoZero"/>
        <c:crossBetween val="between"/>
        <c:majorUnit val="20"/>
      </c:valAx>
      <c:spPr>
        <a:solidFill>
          <a:srgbClr val="FFFFFF"/>
        </a:solidFill>
        <a:ln w="3175">
          <a:solidFill>
            <a:srgbClr val="B3B3B3"/>
          </a:solidFill>
          <a:prstDash val="solid"/>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Segoe UI"/>
              <a:ea typeface="Segoe UI"/>
              <a:cs typeface="Segoe UI"/>
            </a:defRPr>
          </a:pPr>
          <a:endParaRPr lang="en-US"/>
        </a:p>
      </c:txPr>
    </c:legend>
    <c:plotVisOnly val="1"/>
    <c:dispBlanksAs val="gap"/>
    <c:showDLblsOverMax val="0"/>
  </c:chart>
  <c:spPr>
    <a:noFill/>
    <a:ln w="25400" cap="flat" cmpd="sng" algn="ctr">
      <a:no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Ethiopia</c:v>
          </c:tx>
          <c:spPr>
            <a:ln w="19050" cap="rnd">
              <a:solidFill>
                <a:schemeClr val="accent2">
                  <a:lumMod val="75000"/>
                </a:schemeClr>
              </a:solidFill>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12'!$D$2:$G$2</c:f>
              <c:numCache>
                <c:formatCode>General</c:formatCode>
                <c:ptCount val="4"/>
                <c:pt idx="0">
                  <c:v>43.520047244572297</c:v>
                </c:pt>
                <c:pt idx="1">
                  <c:v>41.221525821385903</c:v>
                </c:pt>
                <c:pt idx="2">
                  <c:v>38.898203189999997</c:v>
                </c:pt>
                <c:pt idx="3">
                  <c:v>53.665450290000003</c:v>
                </c:pt>
              </c:numCache>
              <c:extLst/>
            </c:numRef>
          </c:val>
          <c:smooth val="0"/>
          <c:extLst>
            <c:ext xmlns:c16="http://schemas.microsoft.com/office/drawing/2014/chart" uri="{C3380CC4-5D6E-409C-BE32-E72D297353CC}">
              <c16:uniqueId val="{00000000-3B2D-4C28-8BA3-6175ADEC11AD}"/>
            </c:ext>
          </c:extLst>
        </c:ser>
        <c:ser>
          <c:idx val="1"/>
          <c:order val="1"/>
          <c:tx>
            <c:v>Male</c:v>
          </c:tx>
          <c:spPr>
            <a:ln w="19050" cap="rnd">
              <a:solidFill>
                <a:schemeClr val="accent2">
                  <a:lumMod val="75000"/>
                </a:schemeClr>
              </a:solidFill>
              <a:prstDash val="sysDash"/>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12'!$D$3:$G$3</c:f>
              <c:numCache>
                <c:formatCode>General</c:formatCode>
                <c:ptCount val="4"/>
                <c:pt idx="0">
                  <c:v>44.157969125455502</c:v>
                </c:pt>
                <c:pt idx="1">
                  <c:v>46.819570193839802</c:v>
                </c:pt>
                <c:pt idx="2">
                  <c:v>45.108746259999997</c:v>
                </c:pt>
                <c:pt idx="3">
                  <c:v>54.55072285</c:v>
                </c:pt>
              </c:numCache>
              <c:extLst/>
            </c:numRef>
          </c:val>
          <c:smooth val="0"/>
          <c:extLst>
            <c:ext xmlns:c16="http://schemas.microsoft.com/office/drawing/2014/chart" uri="{C3380CC4-5D6E-409C-BE32-E72D297353CC}">
              <c16:uniqueId val="{00000001-3B2D-4C28-8BA3-6175ADEC11AD}"/>
            </c:ext>
          </c:extLst>
        </c:ser>
        <c:ser>
          <c:idx val="2"/>
          <c:order val="2"/>
          <c:tx>
            <c:v>Female</c:v>
          </c:tx>
          <c:spPr>
            <a:ln w="19050" cap="rnd">
              <a:solidFill>
                <a:schemeClr val="accent2">
                  <a:lumMod val="75000"/>
                </a:schemeClr>
              </a:solidFill>
              <a:prstDash val="sysDot"/>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12'!$D$4:$G$4</c:f>
              <c:numCache>
                <c:formatCode>General</c:formatCode>
                <c:ptCount val="4"/>
                <c:pt idx="0">
                  <c:v>42.9150969295303</c:v>
                </c:pt>
                <c:pt idx="1">
                  <c:v>35.956792098396299</c:v>
                </c:pt>
                <c:pt idx="2">
                  <c:v>33.03567382</c:v>
                </c:pt>
                <c:pt idx="3">
                  <c:v>52.835618500000002</c:v>
                </c:pt>
              </c:numCache>
              <c:extLst/>
            </c:numRef>
          </c:val>
          <c:smooth val="0"/>
          <c:extLst>
            <c:ext xmlns:c16="http://schemas.microsoft.com/office/drawing/2014/chart" uri="{C3380CC4-5D6E-409C-BE32-E72D297353CC}">
              <c16:uniqueId val="{00000002-3B2D-4C28-8BA3-6175ADEC11AD}"/>
            </c:ext>
          </c:extLst>
        </c:ser>
        <c:ser>
          <c:idx val="3"/>
          <c:order val="3"/>
          <c:tx>
            <c:v>Kenya</c:v>
          </c:tx>
          <c:spPr>
            <a:ln w="19050" cap="rnd">
              <a:solidFill>
                <a:schemeClr val="accent1"/>
              </a:solidFill>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12'!$D$5:$G$5</c:f>
              <c:numCache>
                <c:formatCode>General</c:formatCode>
                <c:ptCount val="4"/>
                <c:pt idx="0">
                  <c:v>79.395050130000001</c:v>
                </c:pt>
                <c:pt idx="1">
                  <c:v>64.373621400000005</c:v>
                </c:pt>
                <c:pt idx="2">
                  <c:v>76.158825620000002</c:v>
                </c:pt>
                <c:pt idx="3">
                  <c:v>81.883985890000005</c:v>
                </c:pt>
              </c:numCache>
              <c:extLst/>
            </c:numRef>
          </c:val>
          <c:smooth val="0"/>
          <c:extLst>
            <c:ext xmlns:c16="http://schemas.microsoft.com/office/drawing/2014/chart" uri="{C3380CC4-5D6E-409C-BE32-E72D297353CC}">
              <c16:uniqueId val="{00000003-3B2D-4C28-8BA3-6175ADEC11AD}"/>
            </c:ext>
          </c:extLst>
        </c:ser>
        <c:ser>
          <c:idx val="4"/>
          <c:order val="4"/>
          <c:tx>
            <c:v>Male</c:v>
          </c:tx>
          <c:spPr>
            <a:ln w="19050" cap="rnd">
              <a:solidFill>
                <a:schemeClr val="accent1"/>
              </a:solidFill>
              <a:prstDash val="sysDash"/>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12'!$D$6:$G$6</c:f>
              <c:numCache>
                <c:formatCode>General</c:formatCode>
                <c:ptCount val="4"/>
                <c:pt idx="0">
                  <c:v>80.299380729999996</c:v>
                </c:pt>
                <c:pt idx="1">
                  <c:v>67.369073009999994</c:v>
                </c:pt>
                <c:pt idx="2">
                  <c:v>79.790851309999994</c:v>
                </c:pt>
                <c:pt idx="3">
                  <c:v>85.831039430000004</c:v>
                </c:pt>
              </c:numCache>
              <c:extLst/>
            </c:numRef>
          </c:val>
          <c:smooth val="0"/>
          <c:extLst>
            <c:ext xmlns:c16="http://schemas.microsoft.com/office/drawing/2014/chart" uri="{C3380CC4-5D6E-409C-BE32-E72D297353CC}">
              <c16:uniqueId val="{00000004-3B2D-4C28-8BA3-6175ADEC11AD}"/>
            </c:ext>
          </c:extLst>
        </c:ser>
        <c:ser>
          <c:idx val="5"/>
          <c:order val="5"/>
          <c:tx>
            <c:v>Female</c:v>
          </c:tx>
          <c:spPr>
            <a:ln w="19050" cap="rnd">
              <a:solidFill>
                <a:schemeClr val="accent1"/>
              </a:solidFill>
              <a:prstDash val="sysDot"/>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12'!$D$7:$G$7</c:f>
              <c:numCache>
                <c:formatCode>General</c:formatCode>
                <c:ptCount val="4"/>
                <c:pt idx="0">
                  <c:v>78.598495130000003</c:v>
                </c:pt>
                <c:pt idx="1">
                  <c:v>61.692085589999998</c:v>
                </c:pt>
                <c:pt idx="2">
                  <c:v>72.71703024</c:v>
                </c:pt>
                <c:pt idx="3">
                  <c:v>78.109918620000002</c:v>
                </c:pt>
              </c:numCache>
              <c:extLst/>
            </c:numRef>
          </c:val>
          <c:smooth val="0"/>
          <c:extLst>
            <c:ext xmlns:c16="http://schemas.microsoft.com/office/drawing/2014/chart" uri="{C3380CC4-5D6E-409C-BE32-E72D297353CC}">
              <c16:uniqueId val="{00000005-3B2D-4C28-8BA3-6175ADEC11AD}"/>
            </c:ext>
          </c:extLst>
        </c:ser>
        <c:ser>
          <c:idx val="6"/>
          <c:order val="6"/>
          <c:tx>
            <c:v>Malawi</c:v>
          </c:tx>
          <c:spPr>
            <a:ln w="19050" cap="rnd">
              <a:solidFill>
                <a:schemeClr val="accent6"/>
              </a:solidFill>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12'!$D$8:$G$8</c:f>
              <c:numCache>
                <c:formatCode>General</c:formatCode>
                <c:ptCount val="4"/>
                <c:pt idx="0">
                  <c:v>66.536671749999996</c:v>
                </c:pt>
                <c:pt idx="1">
                  <c:v>51.99938169</c:v>
                </c:pt>
                <c:pt idx="2">
                  <c:v>52.8844067</c:v>
                </c:pt>
                <c:pt idx="3">
                  <c:v>76.515383220000004</c:v>
                </c:pt>
              </c:numCache>
              <c:extLst/>
            </c:numRef>
          </c:val>
          <c:smooth val="0"/>
          <c:extLst>
            <c:ext xmlns:c16="http://schemas.microsoft.com/office/drawing/2014/chart" uri="{C3380CC4-5D6E-409C-BE32-E72D297353CC}">
              <c16:uniqueId val="{00000006-3B2D-4C28-8BA3-6175ADEC11AD}"/>
            </c:ext>
          </c:extLst>
        </c:ser>
        <c:ser>
          <c:idx val="7"/>
          <c:order val="7"/>
          <c:tx>
            <c:v>Male</c:v>
          </c:tx>
          <c:spPr>
            <a:ln w="19050" cap="rnd">
              <a:solidFill>
                <a:schemeClr val="accent6"/>
              </a:solidFill>
              <a:prstDash val="sysDash"/>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12'!$D$9:$G$9</c:f>
              <c:numCache>
                <c:formatCode>General</c:formatCode>
                <c:ptCount val="4"/>
                <c:pt idx="0">
                  <c:v>64.908802489999999</c:v>
                </c:pt>
                <c:pt idx="1">
                  <c:v>53.991047109999997</c:v>
                </c:pt>
                <c:pt idx="2">
                  <c:v>53.181796200000001</c:v>
                </c:pt>
                <c:pt idx="3">
                  <c:v>73.950049849999999</c:v>
                </c:pt>
              </c:numCache>
              <c:extLst/>
            </c:numRef>
          </c:val>
          <c:smooth val="0"/>
          <c:extLst>
            <c:ext xmlns:c16="http://schemas.microsoft.com/office/drawing/2014/chart" uri="{C3380CC4-5D6E-409C-BE32-E72D297353CC}">
              <c16:uniqueId val="{00000007-3B2D-4C28-8BA3-6175ADEC11AD}"/>
            </c:ext>
          </c:extLst>
        </c:ser>
        <c:ser>
          <c:idx val="8"/>
          <c:order val="8"/>
          <c:tx>
            <c:v>Female</c:v>
          </c:tx>
          <c:spPr>
            <a:ln w="19050" cap="rnd">
              <a:solidFill>
                <a:schemeClr val="accent6"/>
              </a:solidFill>
              <a:prstDash val="sysDot"/>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12'!$D$10:$G$10</c:f>
              <c:numCache>
                <c:formatCode>General</c:formatCode>
                <c:ptCount val="4"/>
                <c:pt idx="0">
                  <c:v>68.066606359999994</c:v>
                </c:pt>
                <c:pt idx="1">
                  <c:v>50.177167179999998</c:v>
                </c:pt>
                <c:pt idx="2">
                  <c:v>52.614830390000002</c:v>
                </c:pt>
                <c:pt idx="3">
                  <c:v>78.864783459999998</c:v>
                </c:pt>
              </c:numCache>
              <c:extLst/>
            </c:numRef>
          </c:val>
          <c:smooth val="0"/>
          <c:extLst>
            <c:ext xmlns:c16="http://schemas.microsoft.com/office/drawing/2014/chart" uri="{C3380CC4-5D6E-409C-BE32-E72D297353CC}">
              <c16:uniqueId val="{00000008-3B2D-4C28-8BA3-6175ADEC11AD}"/>
            </c:ext>
          </c:extLst>
        </c:ser>
        <c:ser>
          <c:idx val="9"/>
          <c:order val="9"/>
          <c:tx>
            <c:v>Tanzania</c:v>
          </c:tx>
          <c:spPr>
            <a:ln w="19050" cap="rnd">
              <a:solidFill>
                <a:srgbClr val="910048"/>
              </a:solidFill>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12'!$D$14:$G$14</c:f>
              <c:numCache>
                <c:formatCode>General</c:formatCode>
                <c:ptCount val="4"/>
                <c:pt idx="0">
                  <c:v>55.74022695</c:v>
                </c:pt>
                <c:pt idx="1">
                  <c:v>41.225728169999996</c:v>
                </c:pt>
                <c:pt idx="2">
                  <c:v>46.96659605</c:v>
                </c:pt>
                <c:pt idx="3">
                  <c:v>57.027369200000003</c:v>
                </c:pt>
              </c:numCache>
              <c:extLst/>
            </c:numRef>
          </c:val>
          <c:smooth val="0"/>
          <c:extLst>
            <c:ext xmlns:c16="http://schemas.microsoft.com/office/drawing/2014/chart" uri="{C3380CC4-5D6E-409C-BE32-E72D297353CC}">
              <c16:uniqueId val="{00000009-3B2D-4C28-8BA3-6175ADEC11AD}"/>
            </c:ext>
          </c:extLst>
        </c:ser>
        <c:ser>
          <c:idx val="10"/>
          <c:order val="10"/>
          <c:tx>
            <c:v>Male</c:v>
          </c:tx>
          <c:spPr>
            <a:ln w="19050" cap="rnd">
              <a:solidFill>
                <a:srgbClr val="910048"/>
              </a:solidFill>
              <a:prstDash val="sysDash"/>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12'!$D$15:$G$15</c:f>
              <c:numCache>
                <c:formatCode>General</c:formatCode>
                <c:ptCount val="4"/>
                <c:pt idx="0">
                  <c:v>56.448251919999997</c:v>
                </c:pt>
                <c:pt idx="1">
                  <c:v>45.00276461</c:v>
                </c:pt>
                <c:pt idx="2">
                  <c:v>51.328675150000002</c:v>
                </c:pt>
                <c:pt idx="3">
                  <c:v>60.078732960000004</c:v>
                </c:pt>
              </c:numCache>
              <c:extLst/>
            </c:numRef>
          </c:val>
          <c:smooth val="0"/>
          <c:extLst>
            <c:ext xmlns:c16="http://schemas.microsoft.com/office/drawing/2014/chart" uri="{C3380CC4-5D6E-409C-BE32-E72D297353CC}">
              <c16:uniqueId val="{0000000A-3B2D-4C28-8BA3-6175ADEC11AD}"/>
            </c:ext>
          </c:extLst>
        </c:ser>
        <c:ser>
          <c:idx val="11"/>
          <c:order val="11"/>
          <c:tx>
            <c:v>Female</c:v>
          </c:tx>
          <c:spPr>
            <a:ln w="19050" cap="rnd">
              <a:solidFill>
                <a:srgbClr val="910048"/>
              </a:solidFill>
              <a:prstDash val="sysDot"/>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12'!$D$16:$G$16</c:f>
              <c:numCache>
                <c:formatCode>General</c:formatCode>
                <c:ptCount val="4"/>
                <c:pt idx="0">
                  <c:v>55.060016539999999</c:v>
                </c:pt>
                <c:pt idx="1">
                  <c:v>37.608097829999998</c:v>
                </c:pt>
                <c:pt idx="2">
                  <c:v>42.936400339999999</c:v>
                </c:pt>
                <c:pt idx="3">
                  <c:v>54.317121909999997</c:v>
                </c:pt>
              </c:numCache>
              <c:extLst/>
            </c:numRef>
          </c:val>
          <c:smooth val="0"/>
          <c:extLst>
            <c:ext xmlns:c16="http://schemas.microsoft.com/office/drawing/2014/chart" uri="{C3380CC4-5D6E-409C-BE32-E72D297353CC}">
              <c16:uniqueId val="{0000000B-3B2D-4C28-8BA3-6175ADEC11AD}"/>
            </c:ext>
          </c:extLst>
        </c:ser>
        <c:ser>
          <c:idx val="12"/>
          <c:order val="12"/>
          <c:tx>
            <c:v>Uganda</c:v>
          </c:tx>
          <c:spPr>
            <a:ln w="19050" cap="rnd">
              <a:solidFill>
                <a:schemeClr val="accent3"/>
              </a:solidFill>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12'!$D$17:$G$17</c:f>
              <c:numCache>
                <c:formatCode>General</c:formatCode>
                <c:ptCount val="4"/>
                <c:pt idx="0">
                  <c:v>78.969743289999997</c:v>
                </c:pt>
                <c:pt idx="1">
                  <c:v>66.128145410000002</c:v>
                </c:pt>
                <c:pt idx="2">
                  <c:v>75.130249250000006</c:v>
                </c:pt>
                <c:pt idx="3">
                  <c:v>90.213896149999997</c:v>
                </c:pt>
              </c:numCache>
              <c:extLst/>
            </c:numRef>
          </c:val>
          <c:smooth val="0"/>
          <c:extLst>
            <c:ext xmlns:c16="http://schemas.microsoft.com/office/drawing/2014/chart" uri="{C3380CC4-5D6E-409C-BE32-E72D297353CC}">
              <c16:uniqueId val="{0000000C-3B2D-4C28-8BA3-6175ADEC11AD}"/>
            </c:ext>
          </c:extLst>
        </c:ser>
        <c:ser>
          <c:idx val="13"/>
          <c:order val="13"/>
          <c:tx>
            <c:v>Male</c:v>
          </c:tx>
          <c:spPr>
            <a:ln w="19050" cap="rnd">
              <a:solidFill>
                <a:schemeClr val="accent3"/>
              </a:solidFill>
              <a:prstDash val="sysDash"/>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12'!$D$18:$G$18</c:f>
              <c:numCache>
                <c:formatCode>General</c:formatCode>
                <c:ptCount val="4"/>
                <c:pt idx="0">
                  <c:v>82.987419070000001</c:v>
                </c:pt>
                <c:pt idx="1">
                  <c:v>68.575460750000005</c:v>
                </c:pt>
                <c:pt idx="2">
                  <c:v>72.096680489999997</c:v>
                </c:pt>
                <c:pt idx="3">
                  <c:v>93.111661949999998</c:v>
                </c:pt>
              </c:numCache>
              <c:extLst/>
            </c:numRef>
          </c:val>
          <c:smooth val="0"/>
          <c:extLst>
            <c:ext xmlns:c16="http://schemas.microsoft.com/office/drawing/2014/chart" uri="{C3380CC4-5D6E-409C-BE32-E72D297353CC}">
              <c16:uniqueId val="{0000000D-3B2D-4C28-8BA3-6175ADEC11AD}"/>
            </c:ext>
          </c:extLst>
        </c:ser>
        <c:ser>
          <c:idx val="14"/>
          <c:order val="14"/>
          <c:tx>
            <c:v>Female</c:v>
          </c:tx>
          <c:spPr>
            <a:ln w="19050" cap="rnd">
              <a:solidFill>
                <a:schemeClr val="accent3"/>
              </a:solidFill>
              <a:prstDash val="sysDot"/>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12'!$D$19:$G$19</c:f>
              <c:numCache>
                <c:formatCode>General</c:formatCode>
                <c:ptCount val="4"/>
                <c:pt idx="0">
                  <c:v>75.000142940000003</c:v>
                </c:pt>
                <c:pt idx="1">
                  <c:v>63.817860639999999</c:v>
                </c:pt>
                <c:pt idx="2">
                  <c:v>77.796912890000002</c:v>
                </c:pt>
                <c:pt idx="3">
                  <c:v>87.697878079999995</c:v>
                </c:pt>
              </c:numCache>
              <c:extLst/>
            </c:numRef>
          </c:val>
          <c:smooth val="0"/>
          <c:extLst>
            <c:ext xmlns:c16="http://schemas.microsoft.com/office/drawing/2014/chart" uri="{C3380CC4-5D6E-409C-BE32-E72D297353CC}">
              <c16:uniqueId val="{0000000E-3B2D-4C28-8BA3-6175ADEC11AD}"/>
            </c:ext>
          </c:extLst>
        </c:ser>
        <c:ser>
          <c:idx val="15"/>
          <c:order val="15"/>
          <c:tx>
            <c:v>Rwanda</c:v>
          </c:tx>
          <c:spPr>
            <a:ln w="19050" cap="rnd">
              <a:solidFill>
                <a:schemeClr val="accent5"/>
              </a:solidFill>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12'!$D$20:$E$20</c:f>
              <c:numCache>
                <c:formatCode>General</c:formatCode>
                <c:ptCount val="2"/>
                <c:pt idx="0">
                  <c:v>51.421736670000001</c:v>
                </c:pt>
                <c:pt idx="1">
                  <c:v>65.735095329999993</c:v>
                </c:pt>
              </c:numCache>
              <c:extLst/>
            </c:numRef>
          </c:val>
          <c:smooth val="0"/>
          <c:extLst>
            <c:ext xmlns:c16="http://schemas.microsoft.com/office/drawing/2014/chart" uri="{C3380CC4-5D6E-409C-BE32-E72D297353CC}">
              <c16:uniqueId val="{0000000F-3B2D-4C28-8BA3-6175ADEC11AD}"/>
            </c:ext>
          </c:extLst>
        </c:ser>
        <c:ser>
          <c:idx val="16"/>
          <c:order val="16"/>
          <c:tx>
            <c:v>Male</c:v>
          </c:tx>
          <c:spPr>
            <a:ln w="19050" cap="rnd">
              <a:solidFill>
                <a:schemeClr val="accent5"/>
              </a:solidFill>
              <a:prstDash val="sysDash"/>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12'!$D$21:$E$21</c:f>
              <c:numCache>
                <c:formatCode>General</c:formatCode>
                <c:ptCount val="2"/>
                <c:pt idx="0">
                  <c:v>54.099783510000002</c:v>
                </c:pt>
                <c:pt idx="1">
                  <c:v>69.347452279999999</c:v>
                </c:pt>
              </c:numCache>
              <c:extLst/>
            </c:numRef>
          </c:val>
          <c:smooth val="0"/>
          <c:extLst>
            <c:ext xmlns:c16="http://schemas.microsoft.com/office/drawing/2014/chart" uri="{C3380CC4-5D6E-409C-BE32-E72D297353CC}">
              <c16:uniqueId val="{00000010-3B2D-4C28-8BA3-6175ADEC11AD}"/>
            </c:ext>
          </c:extLst>
        </c:ser>
        <c:ser>
          <c:idx val="17"/>
          <c:order val="17"/>
          <c:tx>
            <c:v>Female</c:v>
          </c:tx>
          <c:spPr>
            <a:ln w="19050" cap="rnd">
              <a:solidFill>
                <a:schemeClr val="accent5"/>
              </a:solidFill>
              <a:prstDash val="sysDot"/>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12'!$D$22:$E$22</c:f>
              <c:numCache>
                <c:formatCode>General</c:formatCode>
                <c:ptCount val="2"/>
                <c:pt idx="0">
                  <c:v>48.794628240000002</c:v>
                </c:pt>
                <c:pt idx="1">
                  <c:v>62.543160399999998</c:v>
                </c:pt>
              </c:numCache>
              <c:extLst/>
            </c:numRef>
          </c:val>
          <c:smooth val="0"/>
          <c:extLst>
            <c:ext xmlns:c16="http://schemas.microsoft.com/office/drawing/2014/chart" uri="{C3380CC4-5D6E-409C-BE32-E72D297353CC}">
              <c16:uniqueId val="{00000011-3B2D-4C28-8BA3-6175ADEC11AD}"/>
            </c:ext>
          </c:extLst>
        </c:ser>
        <c:ser>
          <c:idx val="21"/>
          <c:order val="21"/>
          <c:tx>
            <c:v>South Sudan</c:v>
          </c:tx>
          <c:spPr>
            <a:ln w="19050" cap="rnd">
              <a:solidFill>
                <a:srgbClr val="00B0B9"/>
              </a:solidFill>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12'!$D$11:$G$11</c:f>
              <c:numCache>
                <c:formatCode>General</c:formatCode>
                <c:ptCount val="4"/>
                <c:pt idx="1">
                  <c:v>38.468368140000003</c:v>
                </c:pt>
                <c:pt idx="2">
                  <c:v>36.92307203</c:v>
                </c:pt>
              </c:numCache>
              <c:extLst/>
            </c:numRef>
          </c:val>
          <c:smooth val="0"/>
          <c:extLst>
            <c:ext xmlns:c16="http://schemas.microsoft.com/office/drawing/2014/chart" uri="{C3380CC4-5D6E-409C-BE32-E72D297353CC}">
              <c16:uniqueId val="{00000012-3B2D-4C28-8BA3-6175ADEC11AD}"/>
            </c:ext>
          </c:extLst>
        </c:ser>
        <c:ser>
          <c:idx val="22"/>
          <c:order val="22"/>
          <c:tx>
            <c:v>Male</c:v>
          </c:tx>
          <c:spPr>
            <a:ln w="19050" cap="rnd">
              <a:solidFill>
                <a:srgbClr val="00B0B9"/>
              </a:solidFill>
              <a:prstDash val="sysDash"/>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12'!$D$12:$G$12</c:f>
              <c:numCache>
                <c:formatCode>General</c:formatCode>
                <c:ptCount val="4"/>
                <c:pt idx="1">
                  <c:v>43.600074130000003</c:v>
                </c:pt>
                <c:pt idx="2">
                  <c:v>37.81091979</c:v>
                </c:pt>
              </c:numCache>
              <c:extLst/>
            </c:numRef>
          </c:val>
          <c:smooth val="0"/>
          <c:extLst>
            <c:ext xmlns:c16="http://schemas.microsoft.com/office/drawing/2014/chart" uri="{C3380CC4-5D6E-409C-BE32-E72D297353CC}">
              <c16:uniqueId val="{00000013-3B2D-4C28-8BA3-6175ADEC11AD}"/>
            </c:ext>
          </c:extLst>
        </c:ser>
        <c:ser>
          <c:idx val="23"/>
          <c:order val="23"/>
          <c:tx>
            <c:v>Female</c:v>
          </c:tx>
          <c:spPr>
            <a:ln w="19050" cap="rnd">
              <a:solidFill>
                <a:srgbClr val="00B0B9"/>
              </a:solidFill>
              <a:prstDash val="sysDot"/>
              <a:round/>
            </a:ln>
            <a:effectLst/>
          </c:spPr>
          <c:marker>
            <c:symbol val="none"/>
          </c:marker>
          <c:cat>
            <c:numRef>
              <c:f>'Slide 12'!$D$1:$G$1</c:f>
              <c:numCache>
                <c:formatCode>General</c:formatCode>
                <c:ptCount val="4"/>
                <c:pt idx="0">
                  <c:v>2014</c:v>
                </c:pt>
                <c:pt idx="1">
                  <c:v>2017</c:v>
                </c:pt>
                <c:pt idx="2">
                  <c:v>2021</c:v>
                </c:pt>
                <c:pt idx="3">
                  <c:v>2024</c:v>
                </c:pt>
              </c:numCache>
              <c:extLst/>
            </c:numRef>
          </c:cat>
          <c:val>
            <c:numRef>
              <c:f>'Slide 12'!$D$13:$G$13</c:f>
              <c:numCache>
                <c:formatCode>General</c:formatCode>
                <c:ptCount val="4"/>
                <c:pt idx="1">
                  <c:v>33.429992650000003</c:v>
                </c:pt>
                <c:pt idx="2">
                  <c:v>36.147016639999997</c:v>
                </c:pt>
              </c:numCache>
              <c:extLst/>
            </c:numRef>
          </c:val>
          <c:smooth val="0"/>
          <c:extLst>
            <c:ext xmlns:c16="http://schemas.microsoft.com/office/drawing/2014/chart" uri="{C3380CC4-5D6E-409C-BE32-E72D297353CC}">
              <c16:uniqueId val="{00000014-3B2D-4C28-8BA3-6175ADEC11AD}"/>
            </c:ext>
          </c:extLst>
        </c:ser>
        <c:dLbls>
          <c:showLegendKey val="0"/>
          <c:showVal val="0"/>
          <c:showCatName val="0"/>
          <c:showSerName val="0"/>
          <c:showPercent val="0"/>
          <c:showBubbleSize val="0"/>
        </c:dLbls>
        <c:smooth val="0"/>
        <c:axId val="754156863"/>
        <c:axId val="754154463"/>
        <c:extLst>
          <c:ext xmlns:c15="http://schemas.microsoft.com/office/drawing/2012/chart" uri="{02D57815-91ED-43cb-92C2-25804820EDAC}">
            <c15:filteredLineSeries>
              <c15:ser>
                <c:idx val="18"/>
                <c:order val="18"/>
                <c:tx>
                  <c:v>Total</c:v>
                </c:tx>
                <c:spPr>
                  <a:ln w="19050" cap="rnd">
                    <a:solidFill>
                      <a:schemeClr val="tx1"/>
                    </a:solidFill>
                    <a:round/>
                  </a:ln>
                  <a:effectLst/>
                </c:spPr>
                <c:marker>
                  <c:symbol val="none"/>
                </c:marker>
                <c:cat>
                  <c:numRef>
                    <c:extLst>
                      <c:ext uri="{02D57815-91ED-43cb-92C2-25804820EDAC}">
                        <c15:formulaRef>
                          <c15:sqref>'Slide 12'!$D$1:$G$1</c15:sqref>
                        </c15:formulaRef>
                      </c:ext>
                    </c:extLst>
                    <c:numCache>
                      <c:formatCode>General</c:formatCode>
                      <c:ptCount val="4"/>
                      <c:pt idx="0">
                        <c:v>2014</c:v>
                      </c:pt>
                      <c:pt idx="1">
                        <c:v>2017</c:v>
                      </c:pt>
                      <c:pt idx="2">
                        <c:v>2021</c:v>
                      </c:pt>
                      <c:pt idx="3">
                        <c:v>2024</c:v>
                      </c:pt>
                    </c:numCache>
                  </c:numRef>
                </c:cat>
                <c:val>
                  <c:numLit>
                    <c:ptCount val="0"/>
                  </c:numLit>
                </c:val>
                <c:smooth val="0"/>
                <c:extLst>
                  <c:ext xmlns:c16="http://schemas.microsoft.com/office/drawing/2014/chart" uri="{C3380CC4-5D6E-409C-BE32-E72D297353CC}">
                    <c16:uniqueId val="{00000015-3B2D-4C28-8BA3-6175ADEC11AD}"/>
                  </c:ext>
                </c:extLst>
              </c15:ser>
            </c15:filteredLineSeries>
            <c15:filteredLineSeries>
              <c15:ser>
                <c:idx val="19"/>
                <c:order val="19"/>
                <c:tx>
                  <c:v>Male</c:v>
                </c:tx>
                <c:spPr>
                  <a:ln w="19050" cap="rnd">
                    <a:solidFill>
                      <a:schemeClr val="tx1"/>
                    </a:solidFill>
                    <a:prstDash val="sysDash"/>
                    <a:round/>
                  </a:ln>
                  <a:effectLst/>
                </c:spPr>
                <c:marker>
                  <c:symbol val="none"/>
                </c:marker>
                <c:cat>
                  <c:numRef>
                    <c:extLst xmlns:c15="http://schemas.microsoft.com/office/drawing/2012/chart">
                      <c:ext xmlns:c15="http://schemas.microsoft.com/office/drawing/2012/chart" uri="{02D57815-91ED-43cb-92C2-25804820EDAC}">
                        <c15:formulaRef>
                          <c15:sqref>'Slide 12'!$D$1:$G$1</c15:sqref>
                        </c15:formulaRef>
                      </c:ext>
                    </c:extLst>
                    <c:numCache>
                      <c:formatCode>General</c:formatCode>
                      <c:ptCount val="4"/>
                      <c:pt idx="0">
                        <c:v>2014</c:v>
                      </c:pt>
                      <c:pt idx="1">
                        <c:v>2017</c:v>
                      </c:pt>
                      <c:pt idx="2">
                        <c:v>2021</c:v>
                      </c:pt>
                      <c:pt idx="3">
                        <c:v>2024</c:v>
                      </c:pt>
                    </c:numCache>
                  </c:numRef>
                </c:cat>
                <c:val>
                  <c:numLit>
                    <c:ptCount val="0"/>
                  </c:numLit>
                </c:val>
                <c:smooth val="0"/>
                <c:extLst xmlns:c15="http://schemas.microsoft.com/office/drawing/2012/chart">
                  <c:ext xmlns:c16="http://schemas.microsoft.com/office/drawing/2014/chart" uri="{C3380CC4-5D6E-409C-BE32-E72D297353CC}">
                    <c16:uniqueId val="{00000016-3B2D-4C28-8BA3-6175ADEC11AD}"/>
                  </c:ext>
                </c:extLst>
              </c15:ser>
            </c15:filteredLineSeries>
            <c15:filteredLineSeries>
              <c15:ser>
                <c:idx val="20"/>
                <c:order val="20"/>
                <c:tx>
                  <c:v>Female</c:v>
                </c:tx>
                <c:spPr>
                  <a:ln w="19050" cap="rnd">
                    <a:solidFill>
                      <a:schemeClr val="tx1"/>
                    </a:solidFill>
                    <a:prstDash val="sysDot"/>
                    <a:round/>
                  </a:ln>
                  <a:effectLst/>
                </c:spPr>
                <c:marker>
                  <c:symbol val="none"/>
                </c:marker>
                <c:cat>
                  <c:numRef>
                    <c:extLst xmlns:c15="http://schemas.microsoft.com/office/drawing/2012/chart">
                      <c:ext xmlns:c15="http://schemas.microsoft.com/office/drawing/2012/chart" uri="{02D57815-91ED-43cb-92C2-25804820EDAC}">
                        <c15:formulaRef>
                          <c15:sqref>'Slide 12'!$D$1:$G$1</c15:sqref>
                        </c15:formulaRef>
                      </c:ext>
                    </c:extLst>
                    <c:numCache>
                      <c:formatCode>General</c:formatCode>
                      <c:ptCount val="4"/>
                      <c:pt idx="0">
                        <c:v>2014</c:v>
                      </c:pt>
                      <c:pt idx="1">
                        <c:v>2017</c:v>
                      </c:pt>
                      <c:pt idx="2">
                        <c:v>2021</c:v>
                      </c:pt>
                      <c:pt idx="3">
                        <c:v>2024</c:v>
                      </c:pt>
                    </c:numCache>
                  </c:numRef>
                </c:cat>
                <c:val>
                  <c:numLit>
                    <c:ptCount val="0"/>
                  </c:numLit>
                </c:val>
                <c:smooth val="0"/>
                <c:extLst xmlns:c15="http://schemas.microsoft.com/office/drawing/2012/chart">
                  <c:ext xmlns:c16="http://schemas.microsoft.com/office/drawing/2014/chart" uri="{C3380CC4-5D6E-409C-BE32-E72D297353CC}">
                    <c16:uniqueId val="{00000017-3B2D-4C28-8BA3-6175ADEC11AD}"/>
                  </c:ext>
                </c:extLst>
              </c15:ser>
            </c15:filteredLineSeries>
          </c:ext>
        </c:extLst>
      </c:lineChart>
      <c:catAx>
        <c:axId val="754156863"/>
        <c:scaling>
          <c:orientation val="minMax"/>
        </c:scaling>
        <c:delete val="0"/>
        <c:axPos val="b"/>
        <c:majorGridlines>
          <c:spPr>
            <a:ln w="12700"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754154463"/>
        <c:crosses val="autoZero"/>
        <c:auto val="1"/>
        <c:lblAlgn val="ctr"/>
        <c:lblOffset val="100"/>
        <c:noMultiLvlLbl val="0"/>
      </c:catAx>
      <c:valAx>
        <c:axId val="754154463"/>
        <c:scaling>
          <c:orientation val="minMax"/>
          <c:max val="100"/>
        </c:scaling>
        <c:delete val="0"/>
        <c:axPos val="l"/>
        <c:majorGridlines>
          <c:spPr>
            <a:ln w="12700"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Percentage of Population 15+</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754156863"/>
        <c:crosses val="autoZero"/>
        <c:crossBetween val="between"/>
        <c:majorUnit val="20"/>
      </c:valAx>
      <c:spPr>
        <a:noFill/>
        <a:ln>
          <a:noFill/>
        </a:ln>
        <a:effectLst/>
      </c:spPr>
    </c:plotArea>
    <c:legend>
      <c:legendPos val="b"/>
      <c:legendEntry>
        <c:idx val="1"/>
        <c:delete val="1"/>
      </c:legendEntry>
      <c:legendEntry>
        <c:idx val="2"/>
        <c:delete val="1"/>
      </c:legendEntry>
      <c:legendEntry>
        <c:idx val="4"/>
        <c:delete val="1"/>
      </c:legendEntry>
      <c:legendEntry>
        <c:idx val="5"/>
        <c:delete val="1"/>
      </c:legendEntry>
      <c:legendEntry>
        <c:idx val="7"/>
        <c:delete val="1"/>
      </c:legendEntry>
      <c:legendEntry>
        <c:idx val="8"/>
        <c:delete val="1"/>
      </c:legendEntry>
      <c:legendEntry>
        <c:idx val="10"/>
        <c:delete val="1"/>
      </c:legendEntry>
      <c:legendEntry>
        <c:idx val="11"/>
        <c:delete val="1"/>
      </c:legendEntry>
      <c:legendEntry>
        <c:idx val="13"/>
        <c:delete val="1"/>
      </c:legendEntry>
      <c:legendEntry>
        <c:idx val="14"/>
        <c:delete val="1"/>
      </c:legendEntry>
      <c:legendEntry>
        <c:idx val="16"/>
        <c:delete val="1"/>
      </c:legendEntry>
      <c:legendEntry>
        <c:idx val="17"/>
        <c:delete val="1"/>
      </c:legendEntry>
      <c:legendEntry>
        <c:idx val="19"/>
        <c:delete val="1"/>
      </c:legendEntry>
      <c:legendEntry>
        <c:idx val="20"/>
        <c:delete val="1"/>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Ethiopia</c:v>
          </c:tx>
          <c:spPr>
            <a:ln w="19050" cap="rnd">
              <a:solidFill>
                <a:schemeClr val="accent2">
                  <a:lumMod val="75000"/>
                </a:schemeClr>
              </a:solidFill>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13a'!$D$2:$G$2</c:f>
              <c:numCache>
                <c:formatCode>General</c:formatCode>
                <c:ptCount val="4"/>
                <c:pt idx="0">
                  <c:v>29.8020816217531</c:v>
                </c:pt>
                <c:pt idx="1">
                  <c:v>38.356539125459697</c:v>
                </c:pt>
                <c:pt idx="2">
                  <c:v>30.108830133703002</c:v>
                </c:pt>
                <c:pt idx="3">
                  <c:v>32.219191900056202</c:v>
                </c:pt>
              </c:numCache>
              <c:extLst/>
            </c:numRef>
          </c:val>
          <c:smooth val="0"/>
          <c:extLst>
            <c:ext xmlns:c16="http://schemas.microsoft.com/office/drawing/2014/chart" uri="{C3380CC4-5D6E-409C-BE32-E72D297353CC}">
              <c16:uniqueId val="{00000000-C6A0-4811-A148-DCF3B8C5269C}"/>
            </c:ext>
          </c:extLst>
        </c:ser>
        <c:ser>
          <c:idx val="1"/>
          <c:order val="1"/>
          <c:tx>
            <c:v>Male</c:v>
          </c:tx>
          <c:spPr>
            <a:ln w="19050" cap="rnd">
              <a:solidFill>
                <a:schemeClr val="accent2">
                  <a:lumMod val="75000"/>
                </a:schemeClr>
              </a:solidFill>
              <a:prstDash val="sysDash"/>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13a'!$D$3:$G$3</c:f>
              <c:numCache>
                <c:formatCode>General</c:formatCode>
                <c:ptCount val="4"/>
                <c:pt idx="0">
                  <c:v>31.1009410773902</c:v>
                </c:pt>
                <c:pt idx="1">
                  <c:v>37.899493240572902</c:v>
                </c:pt>
                <c:pt idx="2">
                  <c:v>30.9706676903198</c:v>
                </c:pt>
                <c:pt idx="3">
                  <c:v>29.695791993224599</c:v>
                </c:pt>
              </c:numCache>
              <c:extLst/>
            </c:numRef>
          </c:val>
          <c:smooth val="0"/>
          <c:extLst>
            <c:ext xmlns:c16="http://schemas.microsoft.com/office/drawing/2014/chart" uri="{C3380CC4-5D6E-409C-BE32-E72D297353CC}">
              <c16:uniqueId val="{00000001-C6A0-4811-A148-DCF3B8C5269C}"/>
            </c:ext>
          </c:extLst>
        </c:ser>
        <c:ser>
          <c:idx val="2"/>
          <c:order val="2"/>
          <c:tx>
            <c:v>Female</c:v>
          </c:tx>
          <c:spPr>
            <a:ln w="19050" cap="rnd">
              <a:solidFill>
                <a:schemeClr val="accent2">
                  <a:lumMod val="75000"/>
                </a:schemeClr>
              </a:solidFill>
              <a:prstDash val="sysDot"/>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13a'!$D$4:$G$4</c:f>
              <c:numCache>
                <c:formatCode>General</c:formatCode>
                <c:ptCount val="4"/>
                <c:pt idx="0">
                  <c:v>28.570354884624599</c:v>
                </c:pt>
                <c:pt idx="1">
                  <c:v>38.786372246282603</c:v>
                </c:pt>
                <c:pt idx="2">
                  <c:v>29.295286465676199</c:v>
                </c:pt>
                <c:pt idx="3">
                  <c:v>34.5845622626126</c:v>
                </c:pt>
              </c:numCache>
              <c:extLst/>
            </c:numRef>
          </c:val>
          <c:smooth val="0"/>
          <c:extLst>
            <c:ext xmlns:c16="http://schemas.microsoft.com/office/drawing/2014/chart" uri="{C3380CC4-5D6E-409C-BE32-E72D297353CC}">
              <c16:uniqueId val="{00000002-C6A0-4811-A148-DCF3B8C5269C}"/>
            </c:ext>
          </c:extLst>
        </c:ser>
        <c:ser>
          <c:idx val="3"/>
          <c:order val="3"/>
          <c:tx>
            <c:v>Kenya</c:v>
          </c:tx>
          <c:spPr>
            <a:ln w="19050" cap="rnd">
              <a:solidFill>
                <a:schemeClr val="accent1"/>
              </a:solidFill>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13a'!$D$5:$G$5</c:f>
              <c:numCache>
                <c:formatCode>General</c:formatCode>
                <c:ptCount val="4"/>
                <c:pt idx="0">
                  <c:v>39.944785368011203</c:v>
                </c:pt>
                <c:pt idx="1">
                  <c:v>34.6660800474179</c:v>
                </c:pt>
                <c:pt idx="2">
                  <c:v>31.643694055847899</c:v>
                </c:pt>
                <c:pt idx="3">
                  <c:v>33.942853546531801</c:v>
                </c:pt>
              </c:numCache>
              <c:extLst/>
            </c:numRef>
          </c:val>
          <c:smooth val="0"/>
          <c:extLst>
            <c:ext xmlns:c16="http://schemas.microsoft.com/office/drawing/2014/chart" uri="{C3380CC4-5D6E-409C-BE32-E72D297353CC}">
              <c16:uniqueId val="{00000003-C6A0-4811-A148-DCF3B8C5269C}"/>
            </c:ext>
          </c:extLst>
        </c:ser>
        <c:ser>
          <c:idx val="4"/>
          <c:order val="4"/>
          <c:tx>
            <c:v>Male</c:v>
          </c:tx>
          <c:spPr>
            <a:ln w="19050" cap="rnd">
              <a:solidFill>
                <a:schemeClr val="accent1"/>
              </a:solidFill>
              <a:prstDash val="sysDash"/>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13a'!$D$6:$G$6</c:f>
              <c:numCache>
                <c:formatCode>General</c:formatCode>
                <c:ptCount val="4"/>
                <c:pt idx="0">
                  <c:v>39.353551848202002</c:v>
                </c:pt>
                <c:pt idx="1">
                  <c:v>29.358437646514101</c:v>
                </c:pt>
                <c:pt idx="2">
                  <c:v>28.786557946452099</c:v>
                </c:pt>
                <c:pt idx="3">
                  <c:v>30.3375478113662</c:v>
                </c:pt>
              </c:numCache>
              <c:extLst/>
            </c:numRef>
          </c:val>
          <c:smooth val="0"/>
          <c:extLst>
            <c:ext xmlns:c16="http://schemas.microsoft.com/office/drawing/2014/chart" uri="{C3380CC4-5D6E-409C-BE32-E72D297353CC}">
              <c16:uniqueId val="{00000004-C6A0-4811-A148-DCF3B8C5269C}"/>
            </c:ext>
          </c:extLst>
        </c:ser>
        <c:ser>
          <c:idx val="5"/>
          <c:order val="5"/>
          <c:tx>
            <c:v>Female</c:v>
          </c:tx>
          <c:spPr>
            <a:ln w="19050" cap="rnd">
              <a:solidFill>
                <a:schemeClr val="accent1"/>
              </a:solidFill>
              <a:prstDash val="sysDot"/>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13a'!$D$7:$G$7</c:f>
              <c:numCache>
                <c:formatCode>General</c:formatCode>
                <c:ptCount val="4"/>
                <c:pt idx="0">
                  <c:v>40.465557324749497</c:v>
                </c:pt>
                <c:pt idx="1">
                  <c:v>39.417494866007502</c:v>
                </c:pt>
                <c:pt idx="2">
                  <c:v>34.351185325517399</c:v>
                </c:pt>
                <c:pt idx="3">
                  <c:v>37.3901506852743</c:v>
                </c:pt>
              </c:numCache>
              <c:extLst/>
            </c:numRef>
          </c:val>
          <c:smooth val="0"/>
          <c:extLst>
            <c:ext xmlns:c16="http://schemas.microsoft.com/office/drawing/2014/chart" uri="{C3380CC4-5D6E-409C-BE32-E72D297353CC}">
              <c16:uniqueId val="{00000005-C6A0-4811-A148-DCF3B8C5269C}"/>
            </c:ext>
          </c:extLst>
        </c:ser>
        <c:ser>
          <c:idx val="6"/>
          <c:order val="6"/>
          <c:tx>
            <c:v>Malawi</c:v>
          </c:tx>
          <c:spPr>
            <a:ln w="19050" cap="rnd">
              <a:solidFill>
                <a:schemeClr val="accent6"/>
              </a:solidFill>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13a'!$D$8:$G$8</c:f>
              <c:numCache>
                <c:formatCode>General</c:formatCode>
                <c:ptCount val="4"/>
                <c:pt idx="0">
                  <c:v>28.027259072582201</c:v>
                </c:pt>
                <c:pt idx="1">
                  <c:v>30.9980213768286</c:v>
                </c:pt>
                <c:pt idx="2">
                  <c:v>27.584950829855099</c:v>
                </c:pt>
                <c:pt idx="3">
                  <c:v>36.958350687694299</c:v>
                </c:pt>
              </c:numCache>
              <c:extLst/>
            </c:numRef>
          </c:val>
          <c:smooth val="0"/>
          <c:extLst>
            <c:ext xmlns:c16="http://schemas.microsoft.com/office/drawing/2014/chart" uri="{C3380CC4-5D6E-409C-BE32-E72D297353CC}">
              <c16:uniqueId val="{00000006-C6A0-4811-A148-DCF3B8C5269C}"/>
            </c:ext>
          </c:extLst>
        </c:ser>
        <c:ser>
          <c:idx val="7"/>
          <c:order val="7"/>
          <c:tx>
            <c:v>Male</c:v>
          </c:tx>
          <c:spPr>
            <a:ln w="19050" cap="rnd">
              <a:solidFill>
                <a:schemeClr val="accent6"/>
              </a:solidFill>
              <a:prstDash val="sysDash"/>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13a'!$D$9:$G$9</c:f>
              <c:numCache>
                <c:formatCode>General</c:formatCode>
                <c:ptCount val="4"/>
                <c:pt idx="0">
                  <c:v>22.636499429668401</c:v>
                </c:pt>
                <c:pt idx="1">
                  <c:v>25.860219433408499</c:v>
                </c:pt>
                <c:pt idx="2">
                  <c:v>22.3549171535978</c:v>
                </c:pt>
                <c:pt idx="3">
                  <c:v>31.193693829261498</c:v>
                </c:pt>
              </c:numCache>
              <c:extLst/>
            </c:numRef>
          </c:val>
          <c:smooth val="0"/>
          <c:extLst>
            <c:ext xmlns:c16="http://schemas.microsoft.com/office/drawing/2014/chart" uri="{C3380CC4-5D6E-409C-BE32-E72D297353CC}">
              <c16:uniqueId val="{00000007-C6A0-4811-A148-DCF3B8C5269C}"/>
            </c:ext>
          </c:extLst>
        </c:ser>
        <c:ser>
          <c:idx val="8"/>
          <c:order val="8"/>
          <c:tx>
            <c:v>Female</c:v>
          </c:tx>
          <c:spPr>
            <a:ln w="19050" cap="rnd">
              <a:solidFill>
                <a:schemeClr val="accent6"/>
              </a:solidFill>
              <a:prstDash val="sysDot"/>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13a'!$D$10:$G$10</c:f>
              <c:numCache>
                <c:formatCode>General</c:formatCode>
                <c:ptCount val="4"/>
                <c:pt idx="0">
                  <c:v>33.093703896795702</c:v>
                </c:pt>
                <c:pt idx="1">
                  <c:v>35.698699069475403</c:v>
                </c:pt>
                <c:pt idx="2">
                  <c:v>32.3258483645509</c:v>
                </c:pt>
                <c:pt idx="3">
                  <c:v>42.237776099370599</c:v>
                </c:pt>
              </c:numCache>
              <c:extLst/>
            </c:numRef>
          </c:val>
          <c:smooth val="0"/>
          <c:extLst>
            <c:ext xmlns:c16="http://schemas.microsoft.com/office/drawing/2014/chart" uri="{C3380CC4-5D6E-409C-BE32-E72D297353CC}">
              <c16:uniqueId val="{00000008-C6A0-4811-A148-DCF3B8C5269C}"/>
            </c:ext>
          </c:extLst>
        </c:ser>
        <c:ser>
          <c:idx val="9"/>
          <c:order val="9"/>
          <c:tx>
            <c:v>Tanzania</c:v>
          </c:tx>
          <c:spPr>
            <a:ln w="19050" cap="rnd">
              <a:solidFill>
                <a:srgbClr val="910048"/>
              </a:solidFill>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13a'!$D$14:$G$14</c:f>
              <c:numCache>
                <c:formatCode>General</c:formatCode>
                <c:ptCount val="4"/>
                <c:pt idx="0">
                  <c:v>13.0920132340178</c:v>
                </c:pt>
                <c:pt idx="1">
                  <c:v>18.052333925790499</c:v>
                </c:pt>
                <c:pt idx="2">
                  <c:v>18.649696888852599</c:v>
                </c:pt>
                <c:pt idx="3">
                  <c:v>22.048847892348899</c:v>
                </c:pt>
              </c:numCache>
              <c:extLst/>
            </c:numRef>
          </c:val>
          <c:smooth val="0"/>
          <c:extLst>
            <c:ext xmlns:c16="http://schemas.microsoft.com/office/drawing/2014/chart" uri="{C3380CC4-5D6E-409C-BE32-E72D297353CC}">
              <c16:uniqueId val="{00000009-C6A0-4811-A148-DCF3B8C5269C}"/>
            </c:ext>
          </c:extLst>
        </c:ser>
        <c:ser>
          <c:idx val="10"/>
          <c:order val="10"/>
          <c:tx>
            <c:v>Male</c:v>
          </c:tx>
          <c:spPr>
            <a:ln w="19050" cap="rnd">
              <a:solidFill>
                <a:srgbClr val="910048"/>
              </a:solidFill>
              <a:prstDash val="sysDash"/>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13a'!$D$15:$G$15</c:f>
              <c:numCache>
                <c:formatCode>General</c:formatCode>
                <c:ptCount val="4"/>
                <c:pt idx="0">
                  <c:v>11.2457166396521</c:v>
                </c:pt>
                <c:pt idx="1">
                  <c:v>12.2751913534903</c:v>
                </c:pt>
                <c:pt idx="2">
                  <c:v>16.853835161359299</c:v>
                </c:pt>
                <c:pt idx="3">
                  <c:v>19.698269722616299</c:v>
                </c:pt>
              </c:numCache>
              <c:extLst/>
            </c:numRef>
          </c:val>
          <c:smooth val="0"/>
          <c:extLst>
            <c:ext xmlns:c16="http://schemas.microsoft.com/office/drawing/2014/chart" uri="{C3380CC4-5D6E-409C-BE32-E72D297353CC}">
              <c16:uniqueId val="{0000000A-C6A0-4811-A148-DCF3B8C5269C}"/>
            </c:ext>
          </c:extLst>
        </c:ser>
        <c:ser>
          <c:idx val="11"/>
          <c:order val="11"/>
          <c:tx>
            <c:v>Female</c:v>
          </c:tx>
          <c:spPr>
            <a:ln w="19050" cap="rnd">
              <a:solidFill>
                <a:srgbClr val="910048"/>
              </a:solidFill>
              <a:prstDash val="sysDot"/>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13a'!$D$16:$G$16</c:f>
              <c:numCache>
                <c:formatCode>General</c:formatCode>
                <c:ptCount val="4"/>
                <c:pt idx="0">
                  <c:v>14.865778569555401</c:v>
                </c:pt>
                <c:pt idx="1">
                  <c:v>23.585657894935299</c:v>
                </c:pt>
                <c:pt idx="2">
                  <c:v>20.308922701351499</c:v>
                </c:pt>
                <c:pt idx="3">
                  <c:v>24.136651450952801</c:v>
                </c:pt>
              </c:numCache>
              <c:extLst/>
            </c:numRef>
          </c:val>
          <c:smooth val="0"/>
          <c:extLst>
            <c:ext xmlns:c16="http://schemas.microsoft.com/office/drawing/2014/chart" uri="{C3380CC4-5D6E-409C-BE32-E72D297353CC}">
              <c16:uniqueId val="{0000000B-C6A0-4811-A148-DCF3B8C5269C}"/>
            </c:ext>
          </c:extLst>
        </c:ser>
        <c:ser>
          <c:idx val="12"/>
          <c:order val="12"/>
          <c:tx>
            <c:v>Uganda</c:v>
          </c:tx>
          <c:spPr>
            <a:ln w="19050" cap="rnd">
              <a:solidFill>
                <a:schemeClr val="accent3"/>
              </a:solidFill>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13a'!$D$17:$G$17</c:f>
              <c:numCache>
                <c:formatCode>General</c:formatCode>
                <c:ptCount val="4"/>
                <c:pt idx="0">
                  <c:v>36.749506412726497</c:v>
                </c:pt>
                <c:pt idx="1">
                  <c:v>37.480900049630598</c:v>
                </c:pt>
                <c:pt idx="2">
                  <c:v>33.3950344081155</c:v>
                </c:pt>
                <c:pt idx="3">
                  <c:v>43.973119520466298</c:v>
                </c:pt>
              </c:numCache>
              <c:extLst/>
            </c:numRef>
          </c:val>
          <c:smooth val="0"/>
          <c:extLst>
            <c:ext xmlns:c16="http://schemas.microsoft.com/office/drawing/2014/chart" uri="{C3380CC4-5D6E-409C-BE32-E72D297353CC}">
              <c16:uniqueId val="{0000000C-C6A0-4811-A148-DCF3B8C5269C}"/>
            </c:ext>
          </c:extLst>
        </c:ser>
        <c:ser>
          <c:idx val="13"/>
          <c:order val="13"/>
          <c:tx>
            <c:v>Male</c:v>
          </c:tx>
          <c:spPr>
            <a:ln w="19050" cap="rnd">
              <a:solidFill>
                <a:schemeClr val="accent3"/>
              </a:solidFill>
              <a:prstDash val="sysDash"/>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13a'!$D$18:$G$18</c:f>
              <c:numCache>
                <c:formatCode>General</c:formatCode>
                <c:ptCount val="4"/>
                <c:pt idx="0">
                  <c:v>33.689441629229101</c:v>
                </c:pt>
                <c:pt idx="1">
                  <c:v>35.031017040555</c:v>
                </c:pt>
                <c:pt idx="2">
                  <c:v>29.027125907937801</c:v>
                </c:pt>
                <c:pt idx="3">
                  <c:v>42.968516278300797</c:v>
                </c:pt>
              </c:numCache>
              <c:extLst/>
            </c:numRef>
          </c:val>
          <c:smooth val="0"/>
          <c:extLst>
            <c:ext xmlns:c16="http://schemas.microsoft.com/office/drawing/2014/chart" uri="{C3380CC4-5D6E-409C-BE32-E72D297353CC}">
              <c16:uniqueId val="{0000000D-C6A0-4811-A148-DCF3B8C5269C}"/>
            </c:ext>
          </c:extLst>
        </c:ser>
        <c:ser>
          <c:idx val="14"/>
          <c:order val="14"/>
          <c:tx>
            <c:v>Female</c:v>
          </c:tx>
          <c:spPr>
            <a:ln w="19050" cap="rnd">
              <a:solidFill>
                <a:schemeClr val="accent3"/>
              </a:solidFill>
              <a:prstDash val="sysDot"/>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13a'!$D$19:$G$19</c:f>
              <c:numCache>
                <c:formatCode>General</c:formatCode>
                <c:ptCount val="4"/>
                <c:pt idx="0">
                  <c:v>39.772954518504797</c:v>
                </c:pt>
                <c:pt idx="1">
                  <c:v>39.793608702331099</c:v>
                </c:pt>
                <c:pt idx="2">
                  <c:v>37.234651595706197</c:v>
                </c:pt>
                <c:pt idx="3">
                  <c:v>44.845377693547398</c:v>
                </c:pt>
              </c:numCache>
              <c:extLst/>
            </c:numRef>
          </c:val>
          <c:smooth val="0"/>
          <c:extLst>
            <c:ext xmlns:c16="http://schemas.microsoft.com/office/drawing/2014/chart" uri="{C3380CC4-5D6E-409C-BE32-E72D297353CC}">
              <c16:uniqueId val="{0000000E-C6A0-4811-A148-DCF3B8C5269C}"/>
            </c:ext>
          </c:extLst>
        </c:ser>
        <c:ser>
          <c:idx val="15"/>
          <c:order val="15"/>
          <c:tx>
            <c:v>Rwanda</c:v>
          </c:tx>
          <c:spPr>
            <a:ln w="19050" cap="rnd">
              <a:solidFill>
                <a:schemeClr val="accent5"/>
              </a:solidFill>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13a'!$D$20:$E$20</c:f>
              <c:numCache>
                <c:formatCode>General</c:formatCode>
                <c:ptCount val="2"/>
                <c:pt idx="0">
                  <c:v>24.055100600770199</c:v>
                </c:pt>
                <c:pt idx="1">
                  <c:v>46.053660877766099</c:v>
                </c:pt>
              </c:numCache>
              <c:extLst/>
            </c:numRef>
          </c:val>
          <c:smooth val="0"/>
          <c:extLst>
            <c:ext xmlns:c16="http://schemas.microsoft.com/office/drawing/2014/chart" uri="{C3380CC4-5D6E-409C-BE32-E72D297353CC}">
              <c16:uniqueId val="{0000000F-C6A0-4811-A148-DCF3B8C5269C}"/>
            </c:ext>
          </c:extLst>
        </c:ser>
        <c:ser>
          <c:idx val="16"/>
          <c:order val="16"/>
          <c:tx>
            <c:v>Male</c:v>
          </c:tx>
          <c:spPr>
            <a:ln w="19050" cap="rnd">
              <a:solidFill>
                <a:schemeClr val="accent5"/>
              </a:solidFill>
              <a:prstDash val="sysDash"/>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13a'!$D$21:$E$21</c:f>
              <c:numCache>
                <c:formatCode>General</c:formatCode>
                <c:ptCount val="2"/>
                <c:pt idx="0">
                  <c:v>23.088591134114701</c:v>
                </c:pt>
                <c:pt idx="1">
                  <c:v>49.540870298238303</c:v>
                </c:pt>
              </c:numCache>
              <c:extLst/>
            </c:numRef>
          </c:val>
          <c:smooth val="0"/>
          <c:extLst>
            <c:ext xmlns:c16="http://schemas.microsoft.com/office/drawing/2014/chart" uri="{C3380CC4-5D6E-409C-BE32-E72D297353CC}">
              <c16:uniqueId val="{00000010-C6A0-4811-A148-DCF3B8C5269C}"/>
            </c:ext>
          </c:extLst>
        </c:ser>
        <c:ser>
          <c:idx val="17"/>
          <c:order val="17"/>
          <c:tx>
            <c:v>Female</c:v>
          </c:tx>
          <c:spPr>
            <a:ln w="19050" cap="rnd">
              <a:solidFill>
                <a:schemeClr val="accent5"/>
              </a:solidFill>
              <a:prstDash val="sysDot"/>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13a'!$D$22:$E$22</c:f>
              <c:numCache>
                <c:formatCode>General</c:formatCode>
                <c:ptCount val="2"/>
                <c:pt idx="0">
                  <c:v>25.00322635193</c:v>
                </c:pt>
                <c:pt idx="1">
                  <c:v>42.972308263524702</c:v>
                </c:pt>
              </c:numCache>
              <c:extLst/>
            </c:numRef>
          </c:val>
          <c:smooth val="0"/>
          <c:extLst>
            <c:ext xmlns:c16="http://schemas.microsoft.com/office/drawing/2014/chart" uri="{C3380CC4-5D6E-409C-BE32-E72D297353CC}">
              <c16:uniqueId val="{00000011-C6A0-4811-A148-DCF3B8C5269C}"/>
            </c:ext>
          </c:extLst>
        </c:ser>
        <c:ser>
          <c:idx val="21"/>
          <c:order val="21"/>
          <c:tx>
            <c:v>South Sudan</c:v>
          </c:tx>
          <c:spPr>
            <a:ln w="19050" cap="rnd">
              <a:solidFill>
                <a:srgbClr val="00B0B9"/>
              </a:solidFill>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13a'!$D$11:$G$11</c:f>
              <c:numCache>
                <c:formatCode>General</c:formatCode>
                <c:ptCount val="4"/>
                <c:pt idx="1">
                  <c:v>13.930763779377401</c:v>
                </c:pt>
                <c:pt idx="2">
                  <c:v>10.63138271655</c:v>
                </c:pt>
              </c:numCache>
              <c:extLst/>
            </c:numRef>
          </c:val>
          <c:smooth val="0"/>
          <c:extLst>
            <c:ext xmlns:c16="http://schemas.microsoft.com/office/drawing/2014/chart" uri="{C3380CC4-5D6E-409C-BE32-E72D297353CC}">
              <c16:uniqueId val="{00000012-C6A0-4811-A148-DCF3B8C5269C}"/>
            </c:ext>
          </c:extLst>
        </c:ser>
        <c:ser>
          <c:idx val="22"/>
          <c:order val="22"/>
          <c:tx>
            <c:v>Male</c:v>
          </c:tx>
          <c:spPr>
            <a:ln w="19050" cap="rnd">
              <a:solidFill>
                <a:srgbClr val="00B0B9"/>
              </a:solidFill>
              <a:prstDash val="sysDash"/>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13a'!$D$12:$G$12</c:f>
              <c:numCache>
                <c:formatCode>General</c:formatCode>
                <c:ptCount val="4"/>
                <c:pt idx="1">
                  <c:v>13.826916704815099</c:v>
                </c:pt>
                <c:pt idx="2">
                  <c:v>8.2573450834398798</c:v>
                </c:pt>
              </c:numCache>
              <c:extLst/>
            </c:numRef>
          </c:val>
          <c:smooth val="0"/>
          <c:extLst>
            <c:ext xmlns:c16="http://schemas.microsoft.com/office/drawing/2014/chart" uri="{C3380CC4-5D6E-409C-BE32-E72D297353CC}">
              <c16:uniqueId val="{00000013-C6A0-4811-A148-DCF3B8C5269C}"/>
            </c:ext>
          </c:extLst>
        </c:ser>
        <c:ser>
          <c:idx val="23"/>
          <c:order val="23"/>
          <c:tx>
            <c:v>Female</c:v>
          </c:tx>
          <c:spPr>
            <a:ln w="19050" cap="rnd">
              <a:solidFill>
                <a:srgbClr val="00B0B9"/>
              </a:solidFill>
              <a:prstDash val="sysDot"/>
              <a:round/>
            </a:ln>
            <a:effectLst/>
          </c:spPr>
          <c:marker>
            <c:symbol val="none"/>
          </c:marker>
          <c:cat>
            <c:numRef>
              <c:f>'Slide 13a'!$D$1:$G$1</c:f>
              <c:numCache>
                <c:formatCode>General</c:formatCode>
                <c:ptCount val="4"/>
                <c:pt idx="0">
                  <c:v>2014</c:v>
                </c:pt>
                <c:pt idx="1">
                  <c:v>2017</c:v>
                </c:pt>
                <c:pt idx="2">
                  <c:v>2021</c:v>
                </c:pt>
                <c:pt idx="3">
                  <c:v>2024</c:v>
                </c:pt>
              </c:numCache>
              <c:extLst/>
            </c:numRef>
          </c:cat>
          <c:val>
            <c:numRef>
              <c:f>'Slide 13a'!$D$13:$G$13</c:f>
              <c:numCache>
                <c:formatCode>General</c:formatCode>
                <c:ptCount val="4"/>
                <c:pt idx="1">
                  <c:v>14.0327221840387</c:v>
                </c:pt>
                <c:pt idx="2">
                  <c:v>12.7064960281935</c:v>
                </c:pt>
              </c:numCache>
              <c:extLst/>
            </c:numRef>
          </c:val>
          <c:smooth val="0"/>
          <c:extLst>
            <c:ext xmlns:c16="http://schemas.microsoft.com/office/drawing/2014/chart" uri="{C3380CC4-5D6E-409C-BE32-E72D297353CC}">
              <c16:uniqueId val="{00000014-C6A0-4811-A148-DCF3B8C5269C}"/>
            </c:ext>
          </c:extLst>
        </c:ser>
        <c:dLbls>
          <c:showLegendKey val="0"/>
          <c:showVal val="0"/>
          <c:showCatName val="0"/>
          <c:showSerName val="0"/>
          <c:showPercent val="0"/>
          <c:showBubbleSize val="0"/>
        </c:dLbls>
        <c:smooth val="0"/>
        <c:axId val="754156863"/>
        <c:axId val="754154463"/>
        <c:extLst>
          <c:ext xmlns:c15="http://schemas.microsoft.com/office/drawing/2012/chart" uri="{02D57815-91ED-43cb-92C2-25804820EDAC}">
            <c15:filteredLineSeries>
              <c15:ser>
                <c:idx val="18"/>
                <c:order val="18"/>
                <c:tx>
                  <c:v>Total</c:v>
                </c:tx>
                <c:spPr>
                  <a:ln w="19050" cap="rnd">
                    <a:solidFill>
                      <a:schemeClr val="tx1"/>
                    </a:solidFill>
                    <a:round/>
                  </a:ln>
                  <a:effectLst/>
                </c:spPr>
                <c:marker>
                  <c:symbol val="none"/>
                </c:marker>
                <c:cat>
                  <c:numRef>
                    <c:extLst>
                      <c:ext uri="{02D57815-91ED-43cb-92C2-25804820EDAC}">
                        <c15:formulaRef>
                          <c15:sqref>'Slide 13a'!$D$1:$G$1</c15:sqref>
                        </c15:formulaRef>
                      </c:ext>
                    </c:extLst>
                    <c:numCache>
                      <c:formatCode>General</c:formatCode>
                      <c:ptCount val="4"/>
                      <c:pt idx="0">
                        <c:v>2014</c:v>
                      </c:pt>
                      <c:pt idx="1">
                        <c:v>2017</c:v>
                      </c:pt>
                      <c:pt idx="2">
                        <c:v>2021</c:v>
                      </c:pt>
                      <c:pt idx="3">
                        <c:v>2024</c:v>
                      </c:pt>
                    </c:numCache>
                  </c:numRef>
                </c:cat>
                <c:val>
                  <c:numLit>
                    <c:ptCount val="0"/>
                  </c:numLit>
                </c:val>
                <c:smooth val="0"/>
                <c:extLst>
                  <c:ext xmlns:c16="http://schemas.microsoft.com/office/drawing/2014/chart" uri="{C3380CC4-5D6E-409C-BE32-E72D297353CC}">
                    <c16:uniqueId val="{00000015-C6A0-4811-A148-DCF3B8C5269C}"/>
                  </c:ext>
                </c:extLst>
              </c15:ser>
            </c15:filteredLineSeries>
            <c15:filteredLineSeries>
              <c15:ser>
                <c:idx val="19"/>
                <c:order val="19"/>
                <c:tx>
                  <c:v>Male</c:v>
                </c:tx>
                <c:spPr>
                  <a:ln w="19050" cap="rnd">
                    <a:solidFill>
                      <a:schemeClr val="tx1"/>
                    </a:solidFill>
                    <a:prstDash val="sysDash"/>
                    <a:round/>
                  </a:ln>
                  <a:effectLst/>
                </c:spPr>
                <c:marker>
                  <c:symbol val="none"/>
                </c:marker>
                <c:cat>
                  <c:numRef>
                    <c:extLst xmlns:c15="http://schemas.microsoft.com/office/drawing/2012/chart">
                      <c:ext xmlns:c15="http://schemas.microsoft.com/office/drawing/2012/chart" uri="{02D57815-91ED-43cb-92C2-25804820EDAC}">
                        <c15:formulaRef>
                          <c15:sqref>'Slide 13a'!$D$1:$G$1</c15:sqref>
                        </c15:formulaRef>
                      </c:ext>
                    </c:extLst>
                    <c:numCache>
                      <c:formatCode>General</c:formatCode>
                      <c:ptCount val="4"/>
                      <c:pt idx="0">
                        <c:v>2014</c:v>
                      </c:pt>
                      <c:pt idx="1">
                        <c:v>2017</c:v>
                      </c:pt>
                      <c:pt idx="2">
                        <c:v>2021</c:v>
                      </c:pt>
                      <c:pt idx="3">
                        <c:v>2024</c:v>
                      </c:pt>
                    </c:numCache>
                  </c:numRef>
                </c:cat>
                <c:val>
                  <c:numLit>
                    <c:ptCount val="0"/>
                  </c:numLit>
                </c:val>
                <c:smooth val="0"/>
                <c:extLst xmlns:c15="http://schemas.microsoft.com/office/drawing/2012/chart">
                  <c:ext xmlns:c16="http://schemas.microsoft.com/office/drawing/2014/chart" uri="{C3380CC4-5D6E-409C-BE32-E72D297353CC}">
                    <c16:uniqueId val="{00000016-C6A0-4811-A148-DCF3B8C5269C}"/>
                  </c:ext>
                </c:extLst>
              </c15:ser>
            </c15:filteredLineSeries>
            <c15:filteredLineSeries>
              <c15:ser>
                <c:idx val="20"/>
                <c:order val="20"/>
                <c:tx>
                  <c:v>Female</c:v>
                </c:tx>
                <c:spPr>
                  <a:ln w="19050" cap="rnd">
                    <a:solidFill>
                      <a:schemeClr val="tx1"/>
                    </a:solidFill>
                    <a:prstDash val="sysDot"/>
                    <a:round/>
                  </a:ln>
                  <a:effectLst/>
                </c:spPr>
                <c:marker>
                  <c:symbol val="none"/>
                </c:marker>
                <c:cat>
                  <c:numRef>
                    <c:extLst xmlns:c15="http://schemas.microsoft.com/office/drawing/2012/chart">
                      <c:ext xmlns:c15="http://schemas.microsoft.com/office/drawing/2012/chart" uri="{02D57815-91ED-43cb-92C2-25804820EDAC}">
                        <c15:formulaRef>
                          <c15:sqref>'Slide 13a'!$D$1:$G$1</c15:sqref>
                        </c15:formulaRef>
                      </c:ext>
                    </c:extLst>
                    <c:numCache>
                      <c:formatCode>General</c:formatCode>
                      <c:ptCount val="4"/>
                      <c:pt idx="0">
                        <c:v>2014</c:v>
                      </c:pt>
                      <c:pt idx="1">
                        <c:v>2017</c:v>
                      </c:pt>
                      <c:pt idx="2">
                        <c:v>2021</c:v>
                      </c:pt>
                      <c:pt idx="3">
                        <c:v>2024</c:v>
                      </c:pt>
                    </c:numCache>
                  </c:numRef>
                </c:cat>
                <c:val>
                  <c:numLit>
                    <c:ptCount val="0"/>
                  </c:numLit>
                </c:val>
                <c:smooth val="0"/>
                <c:extLst xmlns:c15="http://schemas.microsoft.com/office/drawing/2012/chart">
                  <c:ext xmlns:c16="http://schemas.microsoft.com/office/drawing/2014/chart" uri="{C3380CC4-5D6E-409C-BE32-E72D297353CC}">
                    <c16:uniqueId val="{00000017-C6A0-4811-A148-DCF3B8C5269C}"/>
                  </c:ext>
                </c:extLst>
              </c15:ser>
            </c15:filteredLineSeries>
          </c:ext>
        </c:extLst>
      </c:lineChart>
      <c:catAx>
        <c:axId val="754156863"/>
        <c:scaling>
          <c:orientation val="minMax"/>
        </c:scaling>
        <c:delete val="0"/>
        <c:axPos val="b"/>
        <c:majorGridlines>
          <c:spPr>
            <a:ln w="12700"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754154463"/>
        <c:crosses val="autoZero"/>
        <c:auto val="1"/>
        <c:lblAlgn val="ctr"/>
        <c:lblOffset val="100"/>
        <c:noMultiLvlLbl val="0"/>
      </c:catAx>
      <c:valAx>
        <c:axId val="754154463"/>
        <c:scaling>
          <c:orientation val="minMax"/>
          <c:max val="60"/>
        </c:scaling>
        <c:delete val="0"/>
        <c:axPos val="l"/>
        <c:majorGridlines>
          <c:spPr>
            <a:ln w="12700"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Percentage of Population 15+ </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754156863"/>
        <c:crosses val="autoZero"/>
        <c:crossBetween val="between"/>
        <c:majorUnit val="20"/>
      </c:valAx>
      <c:spPr>
        <a:noFill/>
        <a:ln>
          <a:noFill/>
        </a:ln>
        <a:effectLst/>
      </c:spPr>
    </c:plotArea>
    <c:legend>
      <c:legendPos val="b"/>
      <c:legendEntry>
        <c:idx val="1"/>
        <c:delete val="1"/>
      </c:legendEntry>
      <c:legendEntry>
        <c:idx val="2"/>
        <c:delete val="1"/>
      </c:legendEntry>
      <c:legendEntry>
        <c:idx val="4"/>
        <c:delete val="1"/>
      </c:legendEntry>
      <c:legendEntry>
        <c:idx val="5"/>
        <c:delete val="1"/>
      </c:legendEntry>
      <c:legendEntry>
        <c:idx val="7"/>
        <c:delete val="1"/>
      </c:legendEntry>
      <c:legendEntry>
        <c:idx val="8"/>
        <c:delete val="1"/>
      </c:legendEntry>
      <c:legendEntry>
        <c:idx val="10"/>
        <c:delete val="1"/>
      </c:legendEntry>
      <c:legendEntry>
        <c:idx val="11"/>
        <c:delete val="1"/>
      </c:legendEntry>
      <c:legendEntry>
        <c:idx val="13"/>
        <c:delete val="1"/>
      </c:legendEntry>
      <c:legendEntry>
        <c:idx val="14"/>
        <c:delete val="1"/>
      </c:legendEntry>
      <c:legendEntry>
        <c:idx val="16"/>
        <c:delete val="1"/>
      </c:legendEntry>
      <c:legendEntry>
        <c:idx val="17"/>
        <c:delete val="1"/>
      </c:legendEntry>
      <c:legendEntry>
        <c:idx val="19"/>
        <c:delete val="1"/>
      </c:legendEntry>
      <c:legendEntry>
        <c:idx val="20"/>
        <c:delete val="1"/>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'Slide 13b'!$C$1</c:f>
              <c:strCache>
                <c:ptCount val="1"/>
                <c:pt idx="0">
                  <c:v>Male</c:v>
                </c:pt>
              </c:strCache>
            </c:strRef>
          </c:tx>
          <c:spPr>
            <a:solidFill>
              <a:schemeClr val="tx2"/>
            </a:solidFill>
            <a:ln>
              <a:solidFill>
                <a:schemeClr val="tx2"/>
              </a:solidFill>
              <a:prstDash val="solid"/>
            </a:ln>
            <a:effectLst/>
          </c:spPr>
          <c:invertIfNegative val="0"/>
          <c:cat>
            <c:strRef>
              <c:f>'Slide 13b'!$A$2:$A$7</c:f>
              <c:strCache>
                <c:ptCount val="6"/>
                <c:pt idx="0">
                  <c:v>Ethiopia</c:v>
                </c:pt>
                <c:pt idx="1">
                  <c:v>Kenya</c:v>
                </c:pt>
                <c:pt idx="2">
                  <c:v>Malawi</c:v>
                </c:pt>
                <c:pt idx="3">
                  <c:v>Rwanda</c:v>
                </c:pt>
                <c:pt idx="4">
                  <c:v>Tanzania</c:v>
                </c:pt>
                <c:pt idx="5">
                  <c:v>Uganda</c:v>
                </c:pt>
              </c:strCache>
            </c:strRef>
          </c:cat>
          <c:val>
            <c:numRef>
              <c:f>'Slide 13b'!$C$2:$C$7</c:f>
              <c:numCache>
                <c:formatCode>0.0</c:formatCode>
                <c:ptCount val="6"/>
                <c:pt idx="0">
                  <c:v>30.588856534447</c:v>
                </c:pt>
                <c:pt idx="1">
                  <c:v>59.942550047353997</c:v>
                </c:pt>
                <c:pt idx="2">
                  <c:v>35.158594898393098</c:v>
                </c:pt>
                <c:pt idx="3">
                  <c:v>22.735932598748999</c:v>
                </c:pt>
                <c:pt idx="4">
                  <c:v>29.9572750238281</c:v>
                </c:pt>
                <c:pt idx="5">
                  <c:v>66.635370741625493</c:v>
                </c:pt>
              </c:numCache>
            </c:numRef>
          </c:val>
          <c:extLst>
            <c:ext xmlns:c16="http://schemas.microsoft.com/office/drawing/2014/chart" uri="{C3380CC4-5D6E-409C-BE32-E72D297353CC}">
              <c16:uniqueId val="{00000000-A216-4315-9D03-03638FD8E8BF}"/>
            </c:ext>
          </c:extLst>
        </c:ser>
        <c:ser>
          <c:idx val="1"/>
          <c:order val="1"/>
          <c:tx>
            <c:strRef>
              <c:f>'Slide 13b'!$D$1</c:f>
              <c:strCache>
                <c:ptCount val="1"/>
                <c:pt idx="0">
                  <c:v>Female</c:v>
                </c:pt>
              </c:strCache>
            </c:strRef>
          </c:tx>
          <c:spPr>
            <a:solidFill>
              <a:schemeClr val="accent1"/>
            </a:solidFill>
            <a:ln>
              <a:solidFill>
                <a:schemeClr val="accent1"/>
              </a:solidFill>
              <a:prstDash val="solid"/>
            </a:ln>
            <a:effectLst/>
          </c:spPr>
          <c:invertIfNegative val="0"/>
          <c:cat>
            <c:strRef>
              <c:f>'Slide 13b'!$A$2:$A$7</c:f>
              <c:strCache>
                <c:ptCount val="6"/>
                <c:pt idx="0">
                  <c:v>Ethiopia</c:v>
                </c:pt>
                <c:pt idx="1">
                  <c:v>Kenya</c:v>
                </c:pt>
                <c:pt idx="2">
                  <c:v>Malawi</c:v>
                </c:pt>
                <c:pt idx="3">
                  <c:v>Rwanda</c:v>
                </c:pt>
                <c:pt idx="4">
                  <c:v>Tanzania</c:v>
                </c:pt>
                <c:pt idx="5">
                  <c:v>Uganda</c:v>
                </c:pt>
              </c:strCache>
            </c:strRef>
          </c:cat>
          <c:val>
            <c:numRef>
              <c:f>'Slide 13b'!$D$2:$D$7</c:f>
              <c:numCache>
                <c:formatCode>0.0</c:formatCode>
                <c:ptCount val="6"/>
                <c:pt idx="0">
                  <c:v>21.284030924949899</c:v>
                </c:pt>
                <c:pt idx="1">
                  <c:v>49.144547272429598</c:v>
                </c:pt>
                <c:pt idx="2">
                  <c:v>26.949952189594299</c:v>
                </c:pt>
                <c:pt idx="3">
                  <c:v>15.5508342310911</c:v>
                </c:pt>
                <c:pt idx="4">
                  <c:v>22.311513170961899</c:v>
                </c:pt>
                <c:pt idx="5">
                  <c:v>42.365819235768797</c:v>
                </c:pt>
              </c:numCache>
            </c:numRef>
          </c:val>
          <c:extLst>
            <c:ext xmlns:c16="http://schemas.microsoft.com/office/drawing/2014/chart" uri="{C3380CC4-5D6E-409C-BE32-E72D297353CC}">
              <c16:uniqueId val="{00000001-A216-4315-9D03-03638FD8E8BF}"/>
            </c:ext>
          </c:extLst>
        </c:ser>
        <c:dLbls>
          <c:showLegendKey val="0"/>
          <c:showVal val="0"/>
          <c:showCatName val="0"/>
          <c:showSerName val="0"/>
          <c:showPercent val="0"/>
          <c:showBubbleSize val="0"/>
        </c:dLbls>
        <c:gapWidth val="133"/>
        <c:overlap val="-20"/>
        <c:axId val="1734436608"/>
        <c:axId val="1734438048"/>
      </c:barChart>
      <c:catAx>
        <c:axId val="1734436608"/>
        <c:scaling>
          <c:orientation val="minMax"/>
        </c:scaling>
        <c:delete val="0"/>
        <c:axPos val="b"/>
        <c:numFmt formatCode="General" sourceLinked="1"/>
        <c:majorTickMark val="in"/>
        <c:minorTickMark val="none"/>
        <c:tickLblPos val="nextTo"/>
        <c:spPr>
          <a:noFill/>
          <a:ln w="3175" cap="flat" cmpd="sng" algn="ctr">
            <a:solidFill>
              <a:srgbClr val="B3B3B3"/>
            </a:solidFill>
            <a:prstDash val="solid"/>
            <a:round/>
          </a:ln>
          <a:effectLst/>
        </c:spPr>
        <c:txPr>
          <a:bodyPr rot="-60000000" spcFirstLastPara="1" vertOverflow="ellipsis" vert="horz" wrap="square" anchor="ctr" anchorCtr="1"/>
          <a:lstStyle/>
          <a:p>
            <a:pPr>
              <a:defRPr sz="1400" b="0" i="0" u="none" strike="noStrike" kern="1200" baseline="0">
                <a:solidFill>
                  <a:srgbClr val="000000"/>
                </a:solidFill>
                <a:latin typeface="Segoe UI"/>
                <a:ea typeface="Segoe UI"/>
                <a:cs typeface="Segoe UI"/>
              </a:defRPr>
            </a:pPr>
            <a:endParaRPr lang="en-US"/>
          </a:p>
        </c:txPr>
        <c:crossAx val="1734438048"/>
        <c:crosses val="autoZero"/>
        <c:auto val="1"/>
        <c:lblAlgn val="ctr"/>
        <c:lblOffset val="100"/>
        <c:noMultiLvlLbl val="0"/>
      </c:catAx>
      <c:valAx>
        <c:axId val="1734438048"/>
        <c:scaling>
          <c:orientation val="minMax"/>
        </c:scaling>
        <c:delete val="0"/>
        <c:axPos val="l"/>
        <c:numFmt formatCode="0" sourceLinked="0"/>
        <c:majorTickMark val="in"/>
        <c:minorTickMark val="none"/>
        <c:tickLblPos val="nextTo"/>
        <c:spPr>
          <a:noFill/>
          <a:ln w="3175">
            <a:solidFill>
              <a:srgbClr val="B3B3B3"/>
            </a:solidFill>
            <a:prstDash val="solid"/>
          </a:ln>
          <a:effectLst/>
        </c:spPr>
        <c:txPr>
          <a:bodyPr rot="-60000000" spcFirstLastPara="1" vertOverflow="ellipsis" vert="horz" wrap="square" anchor="ctr" anchorCtr="1"/>
          <a:lstStyle/>
          <a:p>
            <a:pPr>
              <a:defRPr sz="1400" b="0" i="0" u="none" strike="noStrike" kern="1200" baseline="0">
                <a:solidFill>
                  <a:srgbClr val="000000"/>
                </a:solidFill>
                <a:latin typeface="Segoe UI"/>
                <a:ea typeface="Segoe UI"/>
                <a:cs typeface="Segoe UI"/>
              </a:defRPr>
            </a:pPr>
            <a:endParaRPr lang="en-US"/>
          </a:p>
        </c:txPr>
        <c:crossAx val="1734436608"/>
        <c:crosses val="autoZero"/>
        <c:crossBetween val="between"/>
        <c:majorUnit val="20"/>
      </c:valAx>
      <c:spPr>
        <a:solidFill>
          <a:srgbClr val="FFFFFF"/>
        </a:solidFill>
        <a:ln w="3175">
          <a:solidFill>
            <a:srgbClr val="B3B3B3"/>
          </a:solidFill>
          <a:prstDash val="solid"/>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Segoe UI"/>
              <a:ea typeface="Segoe UI"/>
              <a:cs typeface="Segoe UI"/>
            </a:defRPr>
          </a:pPr>
          <a:endParaRPr lang="en-US"/>
        </a:p>
      </c:txPr>
    </c:legend>
    <c:plotVisOnly val="1"/>
    <c:dispBlanksAs val="gap"/>
    <c:showDLblsOverMax val="0"/>
  </c:chart>
  <c:spPr>
    <a:noFill/>
    <a:ln w="25400" cap="flat" cmpd="sng" algn="ctr">
      <a:no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0"/>
          <c:tx>
            <c:v>Malawi (M)</c:v>
          </c:tx>
          <c:spPr>
            <a:ln w="19050" cap="rnd">
              <a:solidFill>
                <a:schemeClr val="accent1"/>
              </a:solidFill>
              <a:round/>
            </a:ln>
            <a:effectLst/>
          </c:spPr>
          <c:marker>
            <c:symbol val="none"/>
          </c:marker>
          <c:cat>
            <c:numRef>
              <c:f>'Slide 18a'!$D$1:$N$1</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'Slide 18a'!$D$3:$N$3</c:f>
              <c:numCache>
                <c:formatCode>General</c:formatCode>
                <c:ptCount val="11"/>
                <c:pt idx="6">
                  <c:v>101136</c:v>
                </c:pt>
                <c:pt idx="7">
                  <c:v>125810</c:v>
                </c:pt>
                <c:pt idx="8">
                  <c:v>135841</c:v>
                </c:pt>
                <c:pt idx="9">
                  <c:v>205130</c:v>
                </c:pt>
                <c:pt idx="10">
                  <c:v>210578</c:v>
                </c:pt>
              </c:numCache>
            </c:numRef>
          </c:val>
          <c:smooth val="0"/>
          <c:extLst>
            <c:ext xmlns:c16="http://schemas.microsoft.com/office/drawing/2014/chart" uri="{C3380CC4-5D6E-409C-BE32-E72D297353CC}">
              <c16:uniqueId val="{00000000-60A3-45F4-A245-25BD0372199B}"/>
            </c:ext>
          </c:extLst>
        </c:ser>
        <c:ser>
          <c:idx val="2"/>
          <c:order val="1"/>
          <c:tx>
            <c:v>Malawi (F)</c:v>
          </c:tx>
          <c:spPr>
            <a:ln w="19050" cap="rnd">
              <a:solidFill>
                <a:schemeClr val="accent1"/>
              </a:solidFill>
              <a:prstDash val="sysDot"/>
              <a:round/>
            </a:ln>
            <a:effectLst/>
          </c:spPr>
          <c:marker>
            <c:symbol val="none"/>
          </c:marker>
          <c:cat>
            <c:numRef>
              <c:f>'Slide 18a'!$D$1:$N$1</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'Slide 18a'!$D$4:$N$4</c:f>
              <c:numCache>
                <c:formatCode>General</c:formatCode>
                <c:ptCount val="11"/>
                <c:pt idx="6">
                  <c:v>43615</c:v>
                </c:pt>
                <c:pt idx="7">
                  <c:v>44507</c:v>
                </c:pt>
                <c:pt idx="8">
                  <c:v>57431</c:v>
                </c:pt>
                <c:pt idx="9">
                  <c:v>116848</c:v>
                </c:pt>
                <c:pt idx="10">
                  <c:v>53660</c:v>
                </c:pt>
              </c:numCache>
            </c:numRef>
          </c:val>
          <c:smooth val="0"/>
          <c:extLst>
            <c:ext xmlns:c16="http://schemas.microsoft.com/office/drawing/2014/chart" uri="{C3380CC4-5D6E-409C-BE32-E72D297353CC}">
              <c16:uniqueId val="{00000001-60A3-45F4-A245-25BD0372199B}"/>
            </c:ext>
          </c:extLst>
        </c:ser>
        <c:ser>
          <c:idx val="7"/>
          <c:order val="4"/>
          <c:tx>
            <c:v>Uganda (M)</c:v>
          </c:tx>
          <c:spPr>
            <a:ln w="19050" cap="rnd">
              <a:solidFill>
                <a:schemeClr val="accent3"/>
              </a:solidFill>
              <a:round/>
            </a:ln>
            <a:effectLst/>
          </c:spPr>
          <c:marker>
            <c:symbol val="none"/>
          </c:marker>
          <c:cat>
            <c:numRef>
              <c:f>'Slide 18a'!$D$1:$N$1</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'Slide 18a'!$D$9:$N$9</c:f>
              <c:numCache>
                <c:formatCode>General</c:formatCode>
                <c:ptCount val="11"/>
                <c:pt idx="0">
                  <c:v>273376</c:v>
                </c:pt>
                <c:pt idx="1">
                  <c:v>339009</c:v>
                </c:pt>
                <c:pt idx="2">
                  <c:v>463630</c:v>
                </c:pt>
                <c:pt idx="3">
                  <c:v>462770</c:v>
                </c:pt>
                <c:pt idx="4">
                  <c:v>1115060.409</c:v>
                </c:pt>
                <c:pt idx="5">
                  <c:v>1105753.55643153</c:v>
                </c:pt>
                <c:pt idx="6">
                  <c:v>987311</c:v>
                </c:pt>
                <c:pt idx="7">
                  <c:v>701224</c:v>
                </c:pt>
                <c:pt idx="8">
                  <c:v>776290</c:v>
                </c:pt>
                <c:pt idx="9">
                  <c:v>743974</c:v>
                </c:pt>
                <c:pt idx="10">
                  <c:v>1108189</c:v>
                </c:pt>
              </c:numCache>
            </c:numRef>
          </c:val>
          <c:smooth val="0"/>
          <c:extLst>
            <c:ext xmlns:c16="http://schemas.microsoft.com/office/drawing/2014/chart" uri="{C3380CC4-5D6E-409C-BE32-E72D297353CC}">
              <c16:uniqueId val="{00000002-60A3-45F4-A245-25BD0372199B}"/>
            </c:ext>
          </c:extLst>
        </c:ser>
        <c:ser>
          <c:idx val="8"/>
          <c:order val="5"/>
          <c:tx>
            <c:v>Uganda (F)</c:v>
          </c:tx>
          <c:spPr>
            <a:ln w="19050" cap="rnd">
              <a:solidFill>
                <a:srgbClr val="7030A0"/>
              </a:solidFill>
              <a:prstDash val="sysDot"/>
              <a:round/>
            </a:ln>
            <a:effectLst/>
          </c:spPr>
          <c:marker>
            <c:symbol val="none"/>
          </c:marker>
          <c:cat>
            <c:numRef>
              <c:f>'Slide 18a'!$D$1:$N$1</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'Slide 18a'!$D$10:$N$10</c:f>
              <c:numCache>
                <c:formatCode>General</c:formatCode>
                <c:ptCount val="11"/>
                <c:pt idx="0">
                  <c:v>105676</c:v>
                </c:pt>
                <c:pt idx="1">
                  <c:v>137063</c:v>
                </c:pt>
                <c:pt idx="2">
                  <c:v>198910</c:v>
                </c:pt>
                <c:pt idx="3">
                  <c:v>195064</c:v>
                </c:pt>
                <c:pt idx="4">
                  <c:v>447727.59100000001</c:v>
                </c:pt>
                <c:pt idx="5">
                  <c:v>544087.44356847205</c:v>
                </c:pt>
                <c:pt idx="6">
                  <c:v>454477</c:v>
                </c:pt>
                <c:pt idx="7">
                  <c:v>320011</c:v>
                </c:pt>
                <c:pt idx="8">
                  <c:v>384764</c:v>
                </c:pt>
                <c:pt idx="9">
                  <c:v>362701</c:v>
                </c:pt>
                <c:pt idx="10">
                  <c:v>574055</c:v>
                </c:pt>
              </c:numCache>
            </c:numRef>
          </c:val>
          <c:smooth val="0"/>
          <c:extLst>
            <c:ext xmlns:c16="http://schemas.microsoft.com/office/drawing/2014/chart" uri="{C3380CC4-5D6E-409C-BE32-E72D297353CC}">
              <c16:uniqueId val="{00000003-60A3-45F4-A245-25BD0372199B}"/>
            </c:ext>
          </c:extLst>
        </c:ser>
        <c:dLbls>
          <c:showLegendKey val="0"/>
          <c:showVal val="0"/>
          <c:showCatName val="0"/>
          <c:showSerName val="0"/>
          <c:showPercent val="0"/>
          <c:showBubbleSize val="0"/>
        </c:dLbls>
        <c:marker val="1"/>
        <c:smooth val="0"/>
        <c:axId val="336278544"/>
        <c:axId val="336279024"/>
      </c:lineChart>
      <c:lineChart>
        <c:grouping val="standard"/>
        <c:varyColors val="0"/>
        <c:ser>
          <c:idx val="4"/>
          <c:order val="2"/>
          <c:tx>
            <c:v>South Sudan (M) RHS</c:v>
          </c:tx>
          <c:spPr>
            <a:ln w="19050" cap="rnd">
              <a:solidFill>
                <a:srgbClr val="658D1B"/>
              </a:solidFill>
              <a:round/>
            </a:ln>
            <a:effectLst/>
          </c:spPr>
          <c:marker>
            <c:symbol val="none"/>
          </c:marker>
          <c:cat>
            <c:numRef>
              <c:f>'Slide 18a'!$D$1:$N$1</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'Slide 18a'!$D$6:$N$6</c:f>
              <c:numCache>
                <c:formatCode>General</c:formatCode>
                <c:ptCount val="11"/>
                <c:pt idx="3">
                  <c:v>3158</c:v>
                </c:pt>
                <c:pt idx="4">
                  <c:v>1800</c:v>
                </c:pt>
                <c:pt idx="5">
                  <c:v>2127</c:v>
                </c:pt>
                <c:pt idx="6">
                  <c:v>2946</c:v>
                </c:pt>
                <c:pt idx="7">
                  <c:v>2795</c:v>
                </c:pt>
                <c:pt idx="8">
                  <c:v>3788</c:v>
                </c:pt>
                <c:pt idx="9">
                  <c:v>4737</c:v>
                </c:pt>
                <c:pt idx="10">
                  <c:v>4943</c:v>
                </c:pt>
              </c:numCache>
            </c:numRef>
          </c:val>
          <c:smooth val="0"/>
          <c:extLst>
            <c:ext xmlns:c16="http://schemas.microsoft.com/office/drawing/2014/chart" uri="{C3380CC4-5D6E-409C-BE32-E72D297353CC}">
              <c16:uniqueId val="{00000004-60A3-45F4-A245-25BD0372199B}"/>
            </c:ext>
          </c:extLst>
        </c:ser>
        <c:ser>
          <c:idx val="5"/>
          <c:order val="3"/>
          <c:tx>
            <c:v>South Sudan (F) RHS</c:v>
          </c:tx>
          <c:spPr>
            <a:ln w="19050" cap="rnd">
              <a:solidFill>
                <a:srgbClr val="658D1B"/>
              </a:solidFill>
              <a:prstDash val="sysDot"/>
              <a:round/>
            </a:ln>
            <a:effectLst/>
          </c:spPr>
          <c:marker>
            <c:symbol val="none"/>
          </c:marker>
          <c:cat>
            <c:numRef>
              <c:f>'Slide 18a'!$D$1:$N$1</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'Slide 18a'!$D$7:$N$7</c:f>
              <c:numCache>
                <c:formatCode>General</c:formatCode>
                <c:ptCount val="11"/>
                <c:pt idx="3">
                  <c:v>866</c:v>
                </c:pt>
                <c:pt idx="4">
                  <c:v>605</c:v>
                </c:pt>
                <c:pt idx="5">
                  <c:v>547</c:v>
                </c:pt>
                <c:pt idx="6">
                  <c:v>1350</c:v>
                </c:pt>
                <c:pt idx="7">
                  <c:v>897</c:v>
                </c:pt>
                <c:pt idx="8">
                  <c:v>887</c:v>
                </c:pt>
                <c:pt idx="9">
                  <c:v>968</c:v>
                </c:pt>
                <c:pt idx="10">
                  <c:v>1073</c:v>
                </c:pt>
              </c:numCache>
            </c:numRef>
          </c:val>
          <c:smooth val="0"/>
          <c:extLst>
            <c:ext xmlns:c16="http://schemas.microsoft.com/office/drawing/2014/chart" uri="{C3380CC4-5D6E-409C-BE32-E72D297353CC}">
              <c16:uniqueId val="{00000005-60A3-45F4-A245-25BD0372199B}"/>
            </c:ext>
          </c:extLst>
        </c:ser>
        <c:dLbls>
          <c:showLegendKey val="0"/>
          <c:showVal val="0"/>
          <c:showCatName val="0"/>
          <c:showSerName val="0"/>
          <c:showPercent val="0"/>
          <c:showBubbleSize val="0"/>
        </c:dLbls>
        <c:marker val="1"/>
        <c:smooth val="0"/>
        <c:axId val="776975680"/>
        <c:axId val="776978080"/>
      </c:lineChart>
      <c:dateAx>
        <c:axId val="336278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336279024"/>
        <c:crosses val="autoZero"/>
        <c:auto val="0"/>
        <c:lblOffset val="100"/>
        <c:baseTimeUnit val="days"/>
        <c:majorUnit val="2"/>
        <c:majorTimeUnit val="days"/>
      </c:dateAx>
      <c:valAx>
        <c:axId val="33627902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336278544"/>
        <c:crosses val="autoZero"/>
        <c:crossBetween val="between"/>
      </c:valAx>
      <c:valAx>
        <c:axId val="77697808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776975680"/>
        <c:crosses val="max"/>
        <c:crossBetween val="between"/>
      </c:valAx>
      <c:catAx>
        <c:axId val="776975680"/>
        <c:scaling>
          <c:orientation val="minMax"/>
        </c:scaling>
        <c:delete val="1"/>
        <c:axPos val="b"/>
        <c:numFmt formatCode="General" sourceLinked="1"/>
        <c:majorTickMark val="out"/>
        <c:minorTickMark val="none"/>
        <c:tickLblPos val="nextTo"/>
        <c:crossAx val="77697808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0"/>
          <c:tx>
            <c:v>Malawi (M)</c:v>
          </c:tx>
          <c:spPr>
            <a:ln w="19050" cap="rnd">
              <a:solidFill>
                <a:schemeClr val="accent1"/>
              </a:solidFill>
              <a:round/>
            </a:ln>
            <a:effectLst/>
          </c:spPr>
          <c:marker>
            <c:symbol val="none"/>
          </c:marker>
          <c:cat>
            <c:numRef>
              <c:f>'Slide 18b'!$D$1:$N$1</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'Slide 18b'!$D$3:$N$3</c:f>
              <c:numCache>
                <c:formatCode>General</c:formatCode>
                <c:ptCount val="11"/>
                <c:pt idx="6">
                  <c:v>186.87296627550899</c:v>
                </c:pt>
                <c:pt idx="7">
                  <c:v>177.12856651969699</c:v>
                </c:pt>
                <c:pt idx="8">
                  <c:v>186.826902696556</c:v>
                </c:pt>
                <c:pt idx="9">
                  <c:v>129.234913038088</c:v>
                </c:pt>
                <c:pt idx="10">
                  <c:v>178.08730941918</c:v>
                </c:pt>
              </c:numCache>
            </c:numRef>
          </c:val>
          <c:smooth val="0"/>
          <c:extLst>
            <c:ext xmlns:c16="http://schemas.microsoft.com/office/drawing/2014/chart" uri="{C3380CC4-5D6E-409C-BE32-E72D297353CC}">
              <c16:uniqueId val="{00000000-2F86-408F-ACD1-22090769773D}"/>
            </c:ext>
          </c:extLst>
        </c:ser>
        <c:ser>
          <c:idx val="2"/>
          <c:order val="1"/>
          <c:tx>
            <c:v>Malawi (F)</c:v>
          </c:tx>
          <c:spPr>
            <a:ln w="19050" cap="rnd">
              <a:solidFill>
                <a:schemeClr val="accent1"/>
              </a:solidFill>
              <a:prstDash val="sysDot"/>
              <a:round/>
            </a:ln>
            <a:effectLst/>
          </c:spPr>
          <c:marker>
            <c:symbol val="none"/>
          </c:marker>
          <c:cat>
            <c:numRef>
              <c:f>'Slide 18b'!$D$1:$N$1</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'Slide 18b'!$D$4:$N$4</c:f>
              <c:numCache>
                <c:formatCode>General</c:formatCode>
                <c:ptCount val="11"/>
                <c:pt idx="6">
                  <c:v>87.215861259738205</c:v>
                </c:pt>
                <c:pt idx="7">
                  <c:v>88.662508334602293</c:v>
                </c:pt>
                <c:pt idx="8">
                  <c:v>109.67607316517901</c:v>
                </c:pt>
                <c:pt idx="9">
                  <c:v>69.690622516042694</c:v>
                </c:pt>
                <c:pt idx="10">
                  <c:v>92.527462198316897</c:v>
                </c:pt>
              </c:numCache>
            </c:numRef>
          </c:val>
          <c:smooth val="0"/>
          <c:extLst>
            <c:ext xmlns:c16="http://schemas.microsoft.com/office/drawing/2014/chart" uri="{C3380CC4-5D6E-409C-BE32-E72D297353CC}">
              <c16:uniqueId val="{00000001-2F86-408F-ACD1-22090769773D}"/>
            </c:ext>
          </c:extLst>
        </c:ser>
        <c:ser>
          <c:idx val="7"/>
          <c:order val="4"/>
          <c:tx>
            <c:v>Uganda (M)</c:v>
          </c:tx>
          <c:spPr>
            <a:ln w="19050" cap="rnd">
              <a:solidFill>
                <a:schemeClr val="accent3"/>
              </a:solidFill>
              <a:round/>
            </a:ln>
            <a:effectLst/>
          </c:spPr>
          <c:marker>
            <c:symbol val="none"/>
          </c:marker>
          <c:cat>
            <c:numRef>
              <c:f>'Slide 18b'!$D$1:$N$1</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'Slide 18b'!$D$9:$N$9</c:f>
              <c:numCache>
                <c:formatCode>General</c:formatCode>
                <c:ptCount val="11"/>
                <c:pt idx="0">
                  <c:v>277.04792113916699</c:v>
                </c:pt>
                <c:pt idx="1">
                  <c:v>317.78058484923702</c:v>
                </c:pt>
                <c:pt idx="2">
                  <c:v>353.815761453812</c:v>
                </c:pt>
                <c:pt idx="3">
                  <c:v>390.49881800364898</c:v>
                </c:pt>
                <c:pt idx="4">
                  <c:v>622.75491304416005</c:v>
                </c:pt>
                <c:pt idx="5">
                  <c:v>699.12199386355496</c:v>
                </c:pt>
                <c:pt idx="6">
                  <c:v>797.09237246250802</c:v>
                </c:pt>
                <c:pt idx="7">
                  <c:v>714.43573202847301</c:v>
                </c:pt>
                <c:pt idx="8">
                  <c:v>773.35427643514095</c:v>
                </c:pt>
                <c:pt idx="9">
                  <c:v>779.36502908313105</c:v>
                </c:pt>
                <c:pt idx="10">
                  <c:v>887.32706129171697</c:v>
                </c:pt>
              </c:numCache>
            </c:numRef>
          </c:val>
          <c:smooth val="0"/>
          <c:extLst>
            <c:ext xmlns:c16="http://schemas.microsoft.com/office/drawing/2014/chart" uri="{C3380CC4-5D6E-409C-BE32-E72D297353CC}">
              <c16:uniqueId val="{00000002-2F86-408F-ACD1-22090769773D}"/>
            </c:ext>
          </c:extLst>
        </c:ser>
        <c:ser>
          <c:idx val="8"/>
          <c:order val="5"/>
          <c:tx>
            <c:v>Uganda (F)</c:v>
          </c:tx>
          <c:spPr>
            <a:ln w="19050" cap="rnd">
              <a:solidFill>
                <a:srgbClr val="7030A0"/>
              </a:solidFill>
              <a:prstDash val="sysDot"/>
              <a:round/>
            </a:ln>
            <a:effectLst/>
          </c:spPr>
          <c:marker>
            <c:symbol val="none"/>
          </c:marker>
          <c:cat>
            <c:numRef>
              <c:f>'Slide 18b'!$D$1:$N$1</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'Slide 18b'!$D$10:$N$10</c:f>
              <c:numCache>
                <c:formatCode>General</c:formatCode>
                <c:ptCount val="11"/>
                <c:pt idx="0">
                  <c:v>129.149606830571</c:v>
                </c:pt>
                <c:pt idx="1">
                  <c:v>142.685652097229</c:v>
                </c:pt>
                <c:pt idx="2">
                  <c:v>168.24574001463799</c:v>
                </c:pt>
                <c:pt idx="3">
                  <c:v>345.24061669624899</c:v>
                </c:pt>
                <c:pt idx="4">
                  <c:v>277.93174999668997</c:v>
                </c:pt>
                <c:pt idx="5">
                  <c:v>369.58075499440901</c:v>
                </c:pt>
                <c:pt idx="6">
                  <c:v>390.80828414809298</c:v>
                </c:pt>
                <c:pt idx="7">
                  <c:v>368.562185186828</c:v>
                </c:pt>
                <c:pt idx="8">
                  <c:v>438.43938594916602</c:v>
                </c:pt>
                <c:pt idx="9">
                  <c:v>479.548403716282</c:v>
                </c:pt>
                <c:pt idx="10">
                  <c:v>619.35201283756396</c:v>
                </c:pt>
              </c:numCache>
            </c:numRef>
          </c:val>
          <c:smooth val="0"/>
          <c:extLst>
            <c:ext xmlns:c16="http://schemas.microsoft.com/office/drawing/2014/chart" uri="{C3380CC4-5D6E-409C-BE32-E72D297353CC}">
              <c16:uniqueId val="{00000003-2F86-408F-ACD1-22090769773D}"/>
            </c:ext>
          </c:extLst>
        </c:ser>
        <c:dLbls>
          <c:showLegendKey val="0"/>
          <c:showVal val="0"/>
          <c:showCatName val="0"/>
          <c:showSerName val="0"/>
          <c:showPercent val="0"/>
          <c:showBubbleSize val="0"/>
        </c:dLbls>
        <c:marker val="1"/>
        <c:smooth val="0"/>
        <c:axId val="336278544"/>
        <c:axId val="336279024"/>
      </c:lineChart>
      <c:lineChart>
        <c:grouping val="standard"/>
        <c:varyColors val="0"/>
        <c:ser>
          <c:idx val="4"/>
          <c:order val="2"/>
          <c:tx>
            <c:v>South Sudan (M)</c:v>
          </c:tx>
          <c:spPr>
            <a:ln w="19050" cap="rnd">
              <a:solidFill>
                <a:srgbClr val="658D1B"/>
              </a:solidFill>
              <a:round/>
            </a:ln>
            <a:effectLst/>
          </c:spPr>
          <c:marker>
            <c:symbol val="none"/>
          </c:marker>
          <c:cat>
            <c:numRef>
              <c:f>'Slide 18b'!$D$1:$N$1</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'Slide 18b'!$D$6:$N$6</c:f>
              <c:numCache>
                <c:formatCode>General</c:formatCode>
                <c:ptCount val="11"/>
                <c:pt idx="3">
                  <c:v>125.912114801409</c:v>
                </c:pt>
                <c:pt idx="4">
                  <c:v>156.21216456597401</c:v>
                </c:pt>
                <c:pt idx="5">
                  <c:v>168.93811840247</c:v>
                </c:pt>
                <c:pt idx="6">
                  <c:v>141.19868199375199</c:v>
                </c:pt>
                <c:pt idx="7">
                  <c:v>137.787479924243</c:v>
                </c:pt>
                <c:pt idx="8">
                  <c:v>122.80091073084</c:v>
                </c:pt>
                <c:pt idx="9">
                  <c:v>107.814341537437</c:v>
                </c:pt>
                <c:pt idx="10">
                  <c:v>136.91129298836199</c:v>
                </c:pt>
              </c:numCache>
            </c:numRef>
          </c:val>
          <c:smooth val="0"/>
          <c:extLst>
            <c:ext xmlns:c16="http://schemas.microsoft.com/office/drawing/2014/chart" uri="{C3380CC4-5D6E-409C-BE32-E72D297353CC}">
              <c16:uniqueId val="{00000004-2F86-408F-ACD1-22090769773D}"/>
            </c:ext>
          </c:extLst>
        </c:ser>
        <c:ser>
          <c:idx val="5"/>
          <c:order val="3"/>
          <c:tx>
            <c:v>South Sudan (F)</c:v>
          </c:tx>
          <c:spPr>
            <a:ln w="19050" cap="rnd">
              <a:solidFill>
                <a:srgbClr val="658D1B"/>
              </a:solidFill>
              <a:prstDash val="sysDot"/>
              <a:round/>
            </a:ln>
            <a:effectLst/>
          </c:spPr>
          <c:marker>
            <c:symbol val="none"/>
          </c:marker>
          <c:cat>
            <c:numRef>
              <c:f>'Slide 18b'!$D$1:$N$1</c:f>
              <c:numCache>
                <c:formatCode>General</c:formatCode>
                <c:ptCount val="11"/>
                <c:pt idx="0">
                  <c:v>2014</c:v>
                </c:pt>
                <c:pt idx="1">
                  <c:v>2015</c:v>
                </c:pt>
                <c:pt idx="2">
                  <c:v>2016</c:v>
                </c:pt>
                <c:pt idx="3">
                  <c:v>2017</c:v>
                </c:pt>
                <c:pt idx="4">
                  <c:v>2018</c:v>
                </c:pt>
                <c:pt idx="5">
                  <c:v>2019</c:v>
                </c:pt>
                <c:pt idx="6">
                  <c:v>2020</c:v>
                </c:pt>
                <c:pt idx="7">
                  <c:v>2021</c:v>
                </c:pt>
                <c:pt idx="8">
                  <c:v>2022</c:v>
                </c:pt>
                <c:pt idx="9">
                  <c:v>2023</c:v>
                </c:pt>
                <c:pt idx="10">
                  <c:v>2024</c:v>
                </c:pt>
              </c:numCache>
            </c:numRef>
          </c:cat>
          <c:val>
            <c:numRef>
              <c:f>'Slide 18b'!$D$7:$N$7</c:f>
              <c:numCache>
                <c:formatCode>General</c:formatCode>
                <c:ptCount val="11"/>
                <c:pt idx="3">
                  <c:v>39.852619803675402</c:v>
                </c:pt>
                <c:pt idx="4">
                  <c:v>34.070620368103199</c:v>
                </c:pt>
                <c:pt idx="5">
                  <c:v>58.655982173297403</c:v>
                </c:pt>
                <c:pt idx="6">
                  <c:v>32.412384568156398</c:v>
                </c:pt>
                <c:pt idx="7">
                  <c:v>34.208060337912002</c:v>
                </c:pt>
                <c:pt idx="8">
                  <c:v>54.989507674170902</c:v>
                </c:pt>
                <c:pt idx="9">
                  <c:v>39.937994095555403</c:v>
                </c:pt>
                <c:pt idx="10">
                  <c:v>29.4809228686116</c:v>
                </c:pt>
              </c:numCache>
            </c:numRef>
          </c:val>
          <c:smooth val="0"/>
          <c:extLst>
            <c:ext xmlns:c16="http://schemas.microsoft.com/office/drawing/2014/chart" uri="{C3380CC4-5D6E-409C-BE32-E72D297353CC}">
              <c16:uniqueId val="{00000005-2F86-408F-ACD1-22090769773D}"/>
            </c:ext>
          </c:extLst>
        </c:ser>
        <c:dLbls>
          <c:showLegendKey val="0"/>
          <c:showVal val="0"/>
          <c:showCatName val="0"/>
          <c:showSerName val="0"/>
          <c:showPercent val="0"/>
          <c:showBubbleSize val="0"/>
        </c:dLbls>
        <c:marker val="1"/>
        <c:smooth val="0"/>
        <c:axId val="776975680"/>
        <c:axId val="776978080"/>
      </c:lineChart>
      <c:catAx>
        <c:axId val="336278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336279024"/>
        <c:crosses val="autoZero"/>
        <c:auto val="1"/>
        <c:lblAlgn val="ctr"/>
        <c:lblOffset val="100"/>
        <c:noMultiLvlLbl val="0"/>
      </c:catAx>
      <c:valAx>
        <c:axId val="33627902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336278544"/>
        <c:crosses val="autoZero"/>
        <c:crossBetween val="between"/>
      </c:valAx>
      <c:valAx>
        <c:axId val="776978080"/>
        <c:scaling>
          <c:orientation val="minMax"/>
        </c:scaling>
        <c:delete val="1"/>
        <c:axPos val="r"/>
        <c:numFmt formatCode="General" sourceLinked="1"/>
        <c:majorTickMark val="out"/>
        <c:minorTickMark val="none"/>
        <c:tickLblPos val="nextTo"/>
        <c:crossAx val="776975680"/>
        <c:crosses val="max"/>
        <c:crossBetween val="between"/>
      </c:valAx>
      <c:catAx>
        <c:axId val="776975680"/>
        <c:scaling>
          <c:orientation val="minMax"/>
        </c:scaling>
        <c:delete val="1"/>
        <c:axPos val="b"/>
        <c:numFmt formatCode="General" sourceLinked="1"/>
        <c:majorTickMark val="out"/>
        <c:minorTickMark val="none"/>
        <c:tickLblPos val="nextTo"/>
        <c:crossAx val="77697808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7C42CF-5490-4116-8041-C293A835EE65}" type="doc">
      <dgm:prSet loTypeId="urn:microsoft.com/office/officeart/2009/layout/CircleArrowProcess" loCatId="cycle" qsTypeId="urn:microsoft.com/office/officeart/2005/8/quickstyle/simple1" qsCatId="simple" csTypeId="urn:microsoft.com/office/officeart/2005/8/colors/accent1_5" csCatId="accent1" phldr="1"/>
      <dgm:spPr/>
      <dgm:t>
        <a:bodyPr/>
        <a:lstStyle/>
        <a:p>
          <a:endParaRPr lang="en-US"/>
        </a:p>
      </dgm:t>
    </dgm:pt>
    <dgm:pt modelId="{CBD78057-AC02-43A5-B561-C9347BF7E91D}">
      <dgm:prSet phldrT="[Text]" custT="1"/>
      <dgm:spPr/>
      <dgm:t>
        <a:bodyPr/>
        <a:lstStyle/>
        <a:p>
          <a:r>
            <a:rPr lang="en-US" sz="1400"/>
            <a:t>Manage everyday expenses</a:t>
          </a:r>
        </a:p>
      </dgm:t>
    </dgm:pt>
    <dgm:pt modelId="{3F03EE3E-62E8-43C3-AB85-F83AEE5E1463}" type="parTrans" cxnId="{58761808-52F9-4BFD-B77B-661BCCB4D550}">
      <dgm:prSet/>
      <dgm:spPr/>
      <dgm:t>
        <a:bodyPr/>
        <a:lstStyle/>
        <a:p>
          <a:endParaRPr lang="en-US" sz="1000"/>
        </a:p>
      </dgm:t>
    </dgm:pt>
    <dgm:pt modelId="{DBFE7E1D-1BAE-4875-A161-5FB60FBD380B}" type="sibTrans" cxnId="{58761808-52F9-4BFD-B77B-661BCCB4D550}">
      <dgm:prSet/>
      <dgm:spPr/>
      <dgm:t>
        <a:bodyPr/>
        <a:lstStyle/>
        <a:p>
          <a:endParaRPr lang="en-US" sz="1000"/>
        </a:p>
      </dgm:t>
    </dgm:pt>
    <dgm:pt modelId="{2B52B14A-CCF3-4CF3-A440-2A748EE32DD2}">
      <dgm:prSet phldrT="[Text]" custT="1"/>
      <dgm:spPr/>
      <dgm:t>
        <a:bodyPr/>
        <a:lstStyle/>
        <a:p>
          <a:r>
            <a:rPr lang="en-US" sz="1400"/>
            <a:t>Withstand and recover from shocks</a:t>
          </a:r>
        </a:p>
      </dgm:t>
    </dgm:pt>
    <dgm:pt modelId="{01A6C676-548C-44EC-A04E-8348D1AF7671}" type="parTrans" cxnId="{31D1F372-A1AA-4E5B-B2C1-9C633C88406F}">
      <dgm:prSet/>
      <dgm:spPr/>
      <dgm:t>
        <a:bodyPr/>
        <a:lstStyle/>
        <a:p>
          <a:endParaRPr lang="en-US" sz="1000"/>
        </a:p>
      </dgm:t>
    </dgm:pt>
    <dgm:pt modelId="{15BC3EE5-EF09-48E9-9095-07A0331087F5}" type="sibTrans" cxnId="{31D1F372-A1AA-4E5B-B2C1-9C633C88406F}">
      <dgm:prSet/>
      <dgm:spPr/>
      <dgm:t>
        <a:bodyPr/>
        <a:lstStyle/>
        <a:p>
          <a:endParaRPr lang="en-US" sz="1000"/>
        </a:p>
      </dgm:t>
    </dgm:pt>
    <dgm:pt modelId="{FBB845AE-F2F2-4D9A-A6A7-54E2CDEF1E30}">
      <dgm:prSet phldrT="[Text]" custT="1"/>
      <dgm:spPr/>
      <dgm:t>
        <a:bodyPr/>
        <a:lstStyle/>
        <a:p>
          <a:r>
            <a:rPr lang="en-US" sz="1400"/>
            <a:t>Progress towards financial goals</a:t>
          </a:r>
        </a:p>
      </dgm:t>
    </dgm:pt>
    <dgm:pt modelId="{42D60330-08B2-49FA-99D1-39D605BA634F}" type="parTrans" cxnId="{14E5563C-E40D-43D4-A6CB-51796ADDE269}">
      <dgm:prSet/>
      <dgm:spPr/>
      <dgm:t>
        <a:bodyPr/>
        <a:lstStyle/>
        <a:p>
          <a:endParaRPr lang="en-US" sz="1000"/>
        </a:p>
      </dgm:t>
    </dgm:pt>
    <dgm:pt modelId="{3EF58DDC-9E56-45FE-8697-E88987549426}" type="sibTrans" cxnId="{14E5563C-E40D-43D4-A6CB-51796ADDE269}">
      <dgm:prSet/>
      <dgm:spPr/>
      <dgm:t>
        <a:bodyPr/>
        <a:lstStyle/>
        <a:p>
          <a:endParaRPr lang="en-US" sz="1000"/>
        </a:p>
      </dgm:t>
    </dgm:pt>
    <dgm:pt modelId="{392E7EE0-CF19-4081-8FDE-E319E3F559DA}">
      <dgm:prSet phldrT="[Text]" custT="1"/>
      <dgm:spPr/>
      <dgm:t>
        <a:bodyPr/>
        <a:lstStyle/>
        <a:p>
          <a:r>
            <a:rPr lang="en-US" sz="1400"/>
            <a:t>Exercise control and feel secure about finances</a:t>
          </a:r>
        </a:p>
      </dgm:t>
    </dgm:pt>
    <dgm:pt modelId="{8BA144DF-DECD-4DC2-8AD7-E30B9C18278D}" type="parTrans" cxnId="{BEC1C1FD-87C1-474A-999C-8B5E441F2AA5}">
      <dgm:prSet/>
      <dgm:spPr/>
      <dgm:t>
        <a:bodyPr/>
        <a:lstStyle/>
        <a:p>
          <a:endParaRPr lang="en-US" sz="1000"/>
        </a:p>
      </dgm:t>
    </dgm:pt>
    <dgm:pt modelId="{A3098FF2-F766-4334-A560-28505FABE706}" type="sibTrans" cxnId="{BEC1C1FD-87C1-474A-999C-8B5E441F2AA5}">
      <dgm:prSet/>
      <dgm:spPr/>
      <dgm:t>
        <a:bodyPr/>
        <a:lstStyle/>
        <a:p>
          <a:endParaRPr lang="en-US" sz="1000"/>
        </a:p>
      </dgm:t>
    </dgm:pt>
    <dgm:pt modelId="{E5A3F01E-3ECC-41D2-9258-DEA912393F5F}" type="pres">
      <dgm:prSet presAssocID="{807C42CF-5490-4116-8041-C293A835EE65}" presName="Name0" presStyleCnt="0">
        <dgm:presLayoutVars>
          <dgm:chMax val="7"/>
          <dgm:chPref val="7"/>
          <dgm:dir/>
          <dgm:animLvl val="lvl"/>
        </dgm:presLayoutVars>
      </dgm:prSet>
      <dgm:spPr/>
    </dgm:pt>
    <dgm:pt modelId="{FCCC4CCB-B958-4958-B448-7122CAB23F8C}" type="pres">
      <dgm:prSet presAssocID="{CBD78057-AC02-43A5-B561-C9347BF7E91D}" presName="Accent1" presStyleCnt="0"/>
      <dgm:spPr/>
    </dgm:pt>
    <dgm:pt modelId="{1D8928EE-B28D-4E7A-ACF3-E26D54C2703A}" type="pres">
      <dgm:prSet presAssocID="{CBD78057-AC02-43A5-B561-C9347BF7E91D}" presName="Accent" presStyleLbl="node1" presStyleIdx="0" presStyleCnt="4"/>
      <dgm:spPr/>
    </dgm:pt>
    <dgm:pt modelId="{86DE59F1-1322-4D6B-87A0-122A8E202D99}" type="pres">
      <dgm:prSet presAssocID="{CBD78057-AC02-43A5-B561-C9347BF7E91D}" presName="Parent1" presStyleLbl="revTx" presStyleIdx="0" presStyleCnt="4">
        <dgm:presLayoutVars>
          <dgm:chMax val="1"/>
          <dgm:chPref val="1"/>
          <dgm:bulletEnabled val="1"/>
        </dgm:presLayoutVars>
      </dgm:prSet>
      <dgm:spPr/>
    </dgm:pt>
    <dgm:pt modelId="{1710CB23-232C-48B5-BF35-25057CA9E1BB}" type="pres">
      <dgm:prSet presAssocID="{2B52B14A-CCF3-4CF3-A440-2A748EE32DD2}" presName="Accent2" presStyleCnt="0"/>
      <dgm:spPr/>
    </dgm:pt>
    <dgm:pt modelId="{3970F203-CD3B-4DD6-8590-6C0FD95698E7}" type="pres">
      <dgm:prSet presAssocID="{2B52B14A-CCF3-4CF3-A440-2A748EE32DD2}" presName="Accent" presStyleLbl="node1" presStyleIdx="1" presStyleCnt="4"/>
      <dgm:spPr>
        <a:solidFill>
          <a:srgbClr val="7F7F7F"/>
        </a:solidFill>
      </dgm:spPr>
    </dgm:pt>
    <dgm:pt modelId="{3C68B734-25B4-46D0-831D-6F901DFAEA3E}" type="pres">
      <dgm:prSet presAssocID="{2B52B14A-CCF3-4CF3-A440-2A748EE32DD2}" presName="Parent2" presStyleLbl="revTx" presStyleIdx="1" presStyleCnt="4">
        <dgm:presLayoutVars>
          <dgm:chMax val="1"/>
          <dgm:chPref val="1"/>
          <dgm:bulletEnabled val="1"/>
        </dgm:presLayoutVars>
      </dgm:prSet>
      <dgm:spPr/>
    </dgm:pt>
    <dgm:pt modelId="{BED2E49D-B246-414A-8A48-657D16C8979B}" type="pres">
      <dgm:prSet presAssocID="{FBB845AE-F2F2-4D9A-A6A7-54E2CDEF1E30}" presName="Accent3" presStyleCnt="0"/>
      <dgm:spPr/>
    </dgm:pt>
    <dgm:pt modelId="{312EAF99-9AF2-426B-8F1C-D1CC145A17F7}" type="pres">
      <dgm:prSet presAssocID="{FBB845AE-F2F2-4D9A-A6A7-54E2CDEF1E30}" presName="Accent" presStyleLbl="node1" presStyleIdx="2" presStyleCnt="4"/>
      <dgm:spPr>
        <a:solidFill>
          <a:srgbClr val="004C97"/>
        </a:solidFill>
      </dgm:spPr>
    </dgm:pt>
    <dgm:pt modelId="{8ED3C19C-9F7B-4AC4-855D-46E55354AF57}" type="pres">
      <dgm:prSet presAssocID="{FBB845AE-F2F2-4D9A-A6A7-54E2CDEF1E30}" presName="Parent3" presStyleLbl="revTx" presStyleIdx="2" presStyleCnt="4" custScaleX="125540">
        <dgm:presLayoutVars>
          <dgm:chMax val="1"/>
          <dgm:chPref val="1"/>
          <dgm:bulletEnabled val="1"/>
        </dgm:presLayoutVars>
      </dgm:prSet>
      <dgm:spPr/>
    </dgm:pt>
    <dgm:pt modelId="{F516B45F-FDE5-4477-9252-B57E7DCAED3E}" type="pres">
      <dgm:prSet presAssocID="{392E7EE0-CF19-4081-8FDE-E319E3F559DA}" presName="Accent4" presStyleCnt="0"/>
      <dgm:spPr/>
    </dgm:pt>
    <dgm:pt modelId="{322CD0B7-D4BA-4B31-9F12-F0F4D1D63771}" type="pres">
      <dgm:prSet presAssocID="{392E7EE0-CF19-4081-8FDE-E319E3F559DA}" presName="Accent" presStyleLbl="node1" presStyleIdx="3" presStyleCnt="4"/>
      <dgm:spPr>
        <a:solidFill>
          <a:srgbClr val="B1DAF5"/>
        </a:solidFill>
      </dgm:spPr>
    </dgm:pt>
    <dgm:pt modelId="{6F32EFDD-9417-44C4-8F27-0E1B6D485195}" type="pres">
      <dgm:prSet presAssocID="{392E7EE0-CF19-4081-8FDE-E319E3F559DA}" presName="Parent4" presStyleLbl="revTx" presStyleIdx="3" presStyleCnt="4">
        <dgm:presLayoutVars>
          <dgm:chMax val="1"/>
          <dgm:chPref val="1"/>
          <dgm:bulletEnabled val="1"/>
        </dgm:presLayoutVars>
      </dgm:prSet>
      <dgm:spPr/>
    </dgm:pt>
  </dgm:ptLst>
  <dgm:cxnLst>
    <dgm:cxn modelId="{58761808-52F9-4BFD-B77B-661BCCB4D550}" srcId="{807C42CF-5490-4116-8041-C293A835EE65}" destId="{CBD78057-AC02-43A5-B561-C9347BF7E91D}" srcOrd="0" destOrd="0" parTransId="{3F03EE3E-62E8-43C3-AB85-F83AEE5E1463}" sibTransId="{DBFE7E1D-1BAE-4875-A161-5FB60FBD380B}"/>
    <dgm:cxn modelId="{46918508-CBBA-4D4B-94AB-EC029E3D56E7}" type="presOf" srcId="{FBB845AE-F2F2-4D9A-A6A7-54E2CDEF1E30}" destId="{8ED3C19C-9F7B-4AC4-855D-46E55354AF57}" srcOrd="0" destOrd="0" presId="urn:microsoft.com/office/officeart/2009/layout/CircleArrowProcess"/>
    <dgm:cxn modelId="{14E5563C-E40D-43D4-A6CB-51796ADDE269}" srcId="{807C42CF-5490-4116-8041-C293A835EE65}" destId="{FBB845AE-F2F2-4D9A-A6A7-54E2CDEF1E30}" srcOrd="2" destOrd="0" parTransId="{42D60330-08B2-49FA-99D1-39D605BA634F}" sibTransId="{3EF58DDC-9E56-45FE-8697-E88987549426}"/>
    <dgm:cxn modelId="{D0F12961-CDC5-4A4F-B2CC-6AE09A075CA4}" type="presOf" srcId="{CBD78057-AC02-43A5-B561-C9347BF7E91D}" destId="{86DE59F1-1322-4D6B-87A0-122A8E202D99}" srcOrd="0" destOrd="0" presId="urn:microsoft.com/office/officeart/2009/layout/CircleArrowProcess"/>
    <dgm:cxn modelId="{31D1F372-A1AA-4E5B-B2C1-9C633C88406F}" srcId="{807C42CF-5490-4116-8041-C293A835EE65}" destId="{2B52B14A-CCF3-4CF3-A440-2A748EE32DD2}" srcOrd="1" destOrd="0" parTransId="{01A6C676-548C-44EC-A04E-8348D1AF7671}" sibTransId="{15BC3EE5-EF09-48E9-9095-07A0331087F5}"/>
    <dgm:cxn modelId="{9CD537A5-60D4-4C2F-92B3-8029D26046D5}" type="presOf" srcId="{2B52B14A-CCF3-4CF3-A440-2A748EE32DD2}" destId="{3C68B734-25B4-46D0-831D-6F901DFAEA3E}" srcOrd="0" destOrd="0" presId="urn:microsoft.com/office/officeart/2009/layout/CircleArrowProcess"/>
    <dgm:cxn modelId="{CB5271D5-7014-4742-9EC6-0D70646BF719}" type="presOf" srcId="{392E7EE0-CF19-4081-8FDE-E319E3F559DA}" destId="{6F32EFDD-9417-44C4-8F27-0E1B6D485195}" srcOrd="0" destOrd="0" presId="urn:microsoft.com/office/officeart/2009/layout/CircleArrowProcess"/>
    <dgm:cxn modelId="{91BA95E0-73A8-416D-A32D-539840D736AF}" type="presOf" srcId="{807C42CF-5490-4116-8041-C293A835EE65}" destId="{E5A3F01E-3ECC-41D2-9258-DEA912393F5F}" srcOrd="0" destOrd="0" presId="urn:microsoft.com/office/officeart/2009/layout/CircleArrowProcess"/>
    <dgm:cxn modelId="{BEC1C1FD-87C1-474A-999C-8B5E441F2AA5}" srcId="{807C42CF-5490-4116-8041-C293A835EE65}" destId="{392E7EE0-CF19-4081-8FDE-E319E3F559DA}" srcOrd="3" destOrd="0" parTransId="{8BA144DF-DECD-4DC2-8AD7-E30B9C18278D}" sibTransId="{A3098FF2-F766-4334-A560-28505FABE706}"/>
    <dgm:cxn modelId="{47FC8EA8-31B7-406B-84D3-B23ACF3850D4}" type="presParOf" srcId="{E5A3F01E-3ECC-41D2-9258-DEA912393F5F}" destId="{FCCC4CCB-B958-4958-B448-7122CAB23F8C}" srcOrd="0" destOrd="0" presId="urn:microsoft.com/office/officeart/2009/layout/CircleArrowProcess"/>
    <dgm:cxn modelId="{7A2FA834-9C4A-4F1A-8A43-A787719BA229}" type="presParOf" srcId="{FCCC4CCB-B958-4958-B448-7122CAB23F8C}" destId="{1D8928EE-B28D-4E7A-ACF3-E26D54C2703A}" srcOrd="0" destOrd="0" presId="urn:microsoft.com/office/officeart/2009/layout/CircleArrowProcess"/>
    <dgm:cxn modelId="{1C7AA6DA-ADC5-4C64-A4D1-BCA6F9DC674B}" type="presParOf" srcId="{E5A3F01E-3ECC-41D2-9258-DEA912393F5F}" destId="{86DE59F1-1322-4D6B-87A0-122A8E202D99}" srcOrd="1" destOrd="0" presId="urn:microsoft.com/office/officeart/2009/layout/CircleArrowProcess"/>
    <dgm:cxn modelId="{8F355E88-5AB6-45B9-878C-DBBF0E1252A7}" type="presParOf" srcId="{E5A3F01E-3ECC-41D2-9258-DEA912393F5F}" destId="{1710CB23-232C-48B5-BF35-25057CA9E1BB}" srcOrd="2" destOrd="0" presId="urn:microsoft.com/office/officeart/2009/layout/CircleArrowProcess"/>
    <dgm:cxn modelId="{0C8F465A-C7D4-4620-AE60-3A961A7EF282}" type="presParOf" srcId="{1710CB23-232C-48B5-BF35-25057CA9E1BB}" destId="{3970F203-CD3B-4DD6-8590-6C0FD95698E7}" srcOrd="0" destOrd="0" presId="urn:microsoft.com/office/officeart/2009/layout/CircleArrowProcess"/>
    <dgm:cxn modelId="{9E1E9884-441C-4158-B9F0-E413ECF1E011}" type="presParOf" srcId="{E5A3F01E-3ECC-41D2-9258-DEA912393F5F}" destId="{3C68B734-25B4-46D0-831D-6F901DFAEA3E}" srcOrd="3" destOrd="0" presId="urn:microsoft.com/office/officeart/2009/layout/CircleArrowProcess"/>
    <dgm:cxn modelId="{764B528B-E578-4AC9-BD2C-D5284688F0B5}" type="presParOf" srcId="{E5A3F01E-3ECC-41D2-9258-DEA912393F5F}" destId="{BED2E49D-B246-414A-8A48-657D16C8979B}" srcOrd="4" destOrd="0" presId="urn:microsoft.com/office/officeart/2009/layout/CircleArrowProcess"/>
    <dgm:cxn modelId="{7DB9C9F6-61CE-4F24-BB22-3236C6519DAB}" type="presParOf" srcId="{BED2E49D-B246-414A-8A48-657D16C8979B}" destId="{312EAF99-9AF2-426B-8F1C-D1CC145A17F7}" srcOrd="0" destOrd="0" presId="urn:microsoft.com/office/officeart/2009/layout/CircleArrowProcess"/>
    <dgm:cxn modelId="{2003E21C-1D14-40C2-8A6A-9EEE9708298B}" type="presParOf" srcId="{E5A3F01E-3ECC-41D2-9258-DEA912393F5F}" destId="{8ED3C19C-9F7B-4AC4-855D-46E55354AF57}" srcOrd="5" destOrd="0" presId="urn:microsoft.com/office/officeart/2009/layout/CircleArrowProcess"/>
    <dgm:cxn modelId="{597423C4-3E7B-4739-80A3-5EAF07625E6A}" type="presParOf" srcId="{E5A3F01E-3ECC-41D2-9258-DEA912393F5F}" destId="{F516B45F-FDE5-4477-9252-B57E7DCAED3E}" srcOrd="6" destOrd="0" presId="urn:microsoft.com/office/officeart/2009/layout/CircleArrowProcess"/>
    <dgm:cxn modelId="{A8BD0C3B-78C9-4884-AB53-5AC64426A24F}" type="presParOf" srcId="{F516B45F-FDE5-4477-9252-B57E7DCAED3E}" destId="{322CD0B7-D4BA-4B31-9F12-F0F4D1D63771}" srcOrd="0" destOrd="0" presId="urn:microsoft.com/office/officeart/2009/layout/CircleArrowProcess"/>
    <dgm:cxn modelId="{B1304861-5D91-4DD8-9B4C-1BEC59638A4E}" type="presParOf" srcId="{E5A3F01E-3ECC-41D2-9258-DEA912393F5F}" destId="{6F32EFDD-9417-44C4-8F27-0E1B6D485195}" srcOrd="7"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AF6AF5A-B1BD-4465-91DD-A9404F24649A}" type="doc">
      <dgm:prSet loTypeId="urn:microsoft.com/office/officeart/2005/8/layout/process1" loCatId="process" qsTypeId="urn:microsoft.com/office/officeart/2005/8/quickstyle/simple1" qsCatId="simple" csTypeId="urn:microsoft.com/office/officeart/2005/8/colors/accent1_2" csCatId="accent1" phldr="1"/>
      <dgm:spPr/>
    </dgm:pt>
    <dgm:pt modelId="{C8AEB45C-450A-424A-A446-32FE8F0122D4}">
      <dgm:prSet phldrT="[Text]" custT="1"/>
      <dgm:spPr/>
      <dgm:t>
        <a:bodyPr/>
        <a:lstStyle/>
        <a:p>
          <a:r>
            <a:rPr lang="en-US" sz="1400"/>
            <a:t>Liquid assets, such as cash and deposits</a:t>
          </a:r>
        </a:p>
      </dgm:t>
    </dgm:pt>
    <dgm:pt modelId="{9B923BD6-335B-4B48-883A-A7249F869D16}" type="parTrans" cxnId="{B5930E6A-CBE2-4321-AAD8-5563C8F8096E}">
      <dgm:prSet/>
      <dgm:spPr/>
      <dgm:t>
        <a:bodyPr/>
        <a:lstStyle/>
        <a:p>
          <a:endParaRPr lang="en-US"/>
        </a:p>
      </dgm:t>
    </dgm:pt>
    <dgm:pt modelId="{1F8840B5-A2E7-47E3-8B5D-9C59B763C205}" type="sibTrans" cxnId="{B5930E6A-CBE2-4321-AAD8-5563C8F8096E}">
      <dgm:prSet/>
      <dgm:spPr>
        <a:noFill/>
      </dgm:spPr>
      <dgm:t>
        <a:bodyPr/>
        <a:lstStyle/>
        <a:p>
          <a:endParaRPr lang="en-US"/>
        </a:p>
      </dgm:t>
    </dgm:pt>
    <dgm:pt modelId="{FE455C0C-AA9E-4963-BF8D-E768F5BECD3C}">
      <dgm:prSet phldrT="[Text]" custT="1"/>
      <dgm:spPr/>
      <dgm:t>
        <a:bodyPr/>
        <a:lstStyle/>
        <a:p>
          <a:r>
            <a:rPr lang="en-US" sz="1400"/>
            <a:t>Wages and salaries</a:t>
          </a:r>
        </a:p>
      </dgm:t>
    </dgm:pt>
    <dgm:pt modelId="{36B92D3F-73EA-408E-B058-23E199AEF283}" type="parTrans" cxnId="{3E817848-6BB1-4A8B-BB68-0D54ED8DDB32}">
      <dgm:prSet/>
      <dgm:spPr/>
      <dgm:t>
        <a:bodyPr/>
        <a:lstStyle/>
        <a:p>
          <a:endParaRPr lang="en-US"/>
        </a:p>
      </dgm:t>
    </dgm:pt>
    <dgm:pt modelId="{DAF1D787-5061-4301-81DD-9634F6B0D7E1}" type="sibTrans" cxnId="{3E817848-6BB1-4A8B-BB68-0D54ED8DDB32}">
      <dgm:prSet/>
      <dgm:spPr>
        <a:noFill/>
      </dgm:spPr>
      <dgm:t>
        <a:bodyPr/>
        <a:lstStyle/>
        <a:p>
          <a:endParaRPr lang="en-US"/>
        </a:p>
      </dgm:t>
    </dgm:pt>
    <dgm:pt modelId="{3CB10B9F-F9DD-4D34-8BEB-F3C60DAFF631}">
      <dgm:prSet phldrT="[Text]" custT="1"/>
      <dgm:spPr/>
      <dgm:t>
        <a:bodyPr/>
        <a:lstStyle/>
        <a:p>
          <a:r>
            <a:rPr lang="en-US" sz="1400"/>
            <a:t>Gross disposable income</a:t>
          </a:r>
        </a:p>
      </dgm:t>
    </dgm:pt>
    <dgm:pt modelId="{74BA634A-0DDD-4094-B519-DA9E57D30900}" type="parTrans" cxnId="{9551E070-ACBD-40DA-93D9-E5DC32FE4525}">
      <dgm:prSet/>
      <dgm:spPr/>
      <dgm:t>
        <a:bodyPr/>
        <a:lstStyle/>
        <a:p>
          <a:endParaRPr lang="en-US"/>
        </a:p>
      </dgm:t>
    </dgm:pt>
    <dgm:pt modelId="{7797A12E-007D-450C-9D51-EE20FE4B72A6}" type="sibTrans" cxnId="{9551E070-ACBD-40DA-93D9-E5DC32FE4525}">
      <dgm:prSet/>
      <dgm:spPr>
        <a:noFill/>
      </dgm:spPr>
      <dgm:t>
        <a:bodyPr/>
        <a:lstStyle/>
        <a:p>
          <a:endParaRPr lang="en-US"/>
        </a:p>
      </dgm:t>
    </dgm:pt>
    <dgm:pt modelId="{C899F4A2-85D4-406C-A4D2-B2BD68ADD376}">
      <dgm:prSet phldrT="[Text]" custT="1"/>
      <dgm:spPr/>
      <dgm:t>
        <a:bodyPr/>
        <a:lstStyle/>
        <a:p>
          <a:r>
            <a:rPr lang="en-US" sz="1400"/>
            <a:t>Debt service payments</a:t>
          </a:r>
        </a:p>
      </dgm:t>
    </dgm:pt>
    <dgm:pt modelId="{6AF6F0A6-A807-42C7-A11E-E79A19282B80}" type="parTrans" cxnId="{272FC8AD-CAE8-43EA-9439-B22F0B0C3D82}">
      <dgm:prSet/>
      <dgm:spPr/>
      <dgm:t>
        <a:bodyPr/>
        <a:lstStyle/>
        <a:p>
          <a:endParaRPr lang="en-US"/>
        </a:p>
      </dgm:t>
    </dgm:pt>
    <dgm:pt modelId="{F353D5B1-51CF-4AB6-8CB6-DF38961C9F8C}" type="sibTrans" cxnId="{272FC8AD-CAE8-43EA-9439-B22F0B0C3D82}">
      <dgm:prSet/>
      <dgm:spPr>
        <a:noFill/>
      </dgm:spPr>
      <dgm:t>
        <a:bodyPr/>
        <a:lstStyle/>
        <a:p>
          <a:endParaRPr lang="en-US"/>
        </a:p>
      </dgm:t>
    </dgm:pt>
    <dgm:pt modelId="{6590506D-6251-42DA-A5A6-FEE2556BB8A3}">
      <dgm:prSet phldrT="[Text]" custT="1"/>
      <dgm:spPr/>
      <dgm:t>
        <a:bodyPr/>
        <a:lstStyle/>
        <a:p>
          <a:r>
            <a:rPr lang="en-US" sz="1400"/>
            <a:t>Financial assets, such as debt securities</a:t>
          </a:r>
        </a:p>
      </dgm:t>
    </dgm:pt>
    <dgm:pt modelId="{1F833FF3-5477-42AF-A50E-0A694C84A8F3}" type="parTrans" cxnId="{0CA4F648-126F-462D-8301-3C8CFFDCA29C}">
      <dgm:prSet/>
      <dgm:spPr/>
      <dgm:t>
        <a:bodyPr/>
        <a:lstStyle/>
        <a:p>
          <a:endParaRPr lang="en-US"/>
        </a:p>
      </dgm:t>
    </dgm:pt>
    <dgm:pt modelId="{47E329DF-A537-4E17-A67B-1BA2A7BB8A8D}" type="sibTrans" cxnId="{0CA4F648-126F-462D-8301-3C8CFFDCA29C}">
      <dgm:prSet/>
      <dgm:spPr/>
      <dgm:t>
        <a:bodyPr/>
        <a:lstStyle/>
        <a:p>
          <a:endParaRPr lang="en-US"/>
        </a:p>
      </dgm:t>
    </dgm:pt>
    <dgm:pt modelId="{560B2B6D-E9FF-4D64-BC49-337ABEC732CA}" type="pres">
      <dgm:prSet presAssocID="{3AF6AF5A-B1BD-4465-91DD-A9404F24649A}" presName="Name0" presStyleCnt="0">
        <dgm:presLayoutVars>
          <dgm:dir/>
          <dgm:resizeHandles val="exact"/>
        </dgm:presLayoutVars>
      </dgm:prSet>
      <dgm:spPr/>
    </dgm:pt>
    <dgm:pt modelId="{7E16A303-CB17-4F11-8C52-4E0B90D64082}" type="pres">
      <dgm:prSet presAssocID="{C8AEB45C-450A-424A-A446-32FE8F0122D4}" presName="node" presStyleLbl="node1" presStyleIdx="0" presStyleCnt="5" custScaleX="674177" custScaleY="160518">
        <dgm:presLayoutVars>
          <dgm:bulletEnabled val="1"/>
        </dgm:presLayoutVars>
      </dgm:prSet>
      <dgm:spPr/>
    </dgm:pt>
    <dgm:pt modelId="{37CF87CD-ED07-4E1D-BF2B-B726D68A0C0B}" type="pres">
      <dgm:prSet presAssocID="{1F8840B5-A2E7-47E3-8B5D-9C59B763C205}" presName="sibTrans" presStyleLbl="sibTrans2D1" presStyleIdx="0" presStyleCnt="4" custScaleX="42499"/>
      <dgm:spPr/>
    </dgm:pt>
    <dgm:pt modelId="{C72DCD34-8771-4E07-8A1C-EB3AB4A8A01C}" type="pres">
      <dgm:prSet presAssocID="{1F8840B5-A2E7-47E3-8B5D-9C59B763C205}" presName="connectorText" presStyleLbl="sibTrans2D1" presStyleIdx="0" presStyleCnt="4"/>
      <dgm:spPr/>
    </dgm:pt>
    <dgm:pt modelId="{D11F5219-A841-4502-BA08-03B879E5B8D3}" type="pres">
      <dgm:prSet presAssocID="{FE455C0C-AA9E-4963-BF8D-E768F5BECD3C}" presName="node" presStyleLbl="node1" presStyleIdx="1" presStyleCnt="5" custScaleX="674177" custScaleY="160518">
        <dgm:presLayoutVars>
          <dgm:bulletEnabled val="1"/>
        </dgm:presLayoutVars>
      </dgm:prSet>
      <dgm:spPr/>
    </dgm:pt>
    <dgm:pt modelId="{02506587-40A2-4B82-892B-6520E484E245}" type="pres">
      <dgm:prSet presAssocID="{DAF1D787-5061-4301-81DD-9634F6B0D7E1}" presName="sibTrans" presStyleLbl="sibTrans2D1" presStyleIdx="1" presStyleCnt="4" custScaleX="42499"/>
      <dgm:spPr/>
    </dgm:pt>
    <dgm:pt modelId="{DD2947D3-F52A-4748-98C4-8AFB232F4FE5}" type="pres">
      <dgm:prSet presAssocID="{DAF1D787-5061-4301-81DD-9634F6B0D7E1}" presName="connectorText" presStyleLbl="sibTrans2D1" presStyleIdx="1" presStyleCnt="4"/>
      <dgm:spPr/>
    </dgm:pt>
    <dgm:pt modelId="{D734FF8B-F5CB-4848-869B-09FFC07C5165}" type="pres">
      <dgm:prSet presAssocID="{3CB10B9F-F9DD-4D34-8BEB-F3C60DAFF631}" presName="node" presStyleLbl="node1" presStyleIdx="2" presStyleCnt="5" custScaleX="674177" custScaleY="160518">
        <dgm:presLayoutVars>
          <dgm:bulletEnabled val="1"/>
        </dgm:presLayoutVars>
      </dgm:prSet>
      <dgm:spPr/>
    </dgm:pt>
    <dgm:pt modelId="{1387BCC1-1474-4B3F-99FA-2F523A5C8124}" type="pres">
      <dgm:prSet presAssocID="{7797A12E-007D-450C-9D51-EE20FE4B72A6}" presName="sibTrans" presStyleLbl="sibTrans2D1" presStyleIdx="2" presStyleCnt="4" custScaleX="42499"/>
      <dgm:spPr/>
    </dgm:pt>
    <dgm:pt modelId="{2D367B32-F747-465D-9E23-22A5F67BE396}" type="pres">
      <dgm:prSet presAssocID="{7797A12E-007D-450C-9D51-EE20FE4B72A6}" presName="connectorText" presStyleLbl="sibTrans2D1" presStyleIdx="2" presStyleCnt="4"/>
      <dgm:spPr/>
    </dgm:pt>
    <dgm:pt modelId="{9EFAFFE6-4D7B-497D-A9EC-306B442FD70B}" type="pres">
      <dgm:prSet presAssocID="{C899F4A2-85D4-406C-A4D2-B2BD68ADD376}" presName="node" presStyleLbl="node1" presStyleIdx="3" presStyleCnt="5" custScaleX="674177" custScaleY="160518">
        <dgm:presLayoutVars>
          <dgm:bulletEnabled val="1"/>
        </dgm:presLayoutVars>
      </dgm:prSet>
      <dgm:spPr/>
    </dgm:pt>
    <dgm:pt modelId="{89022520-E799-441E-93CB-4C597305AF98}" type="pres">
      <dgm:prSet presAssocID="{F353D5B1-51CF-4AB6-8CB6-DF38961C9F8C}" presName="sibTrans" presStyleLbl="sibTrans2D1" presStyleIdx="3" presStyleCnt="4" custScaleX="42499"/>
      <dgm:spPr/>
    </dgm:pt>
    <dgm:pt modelId="{2EE0EE57-D5F8-48F1-891C-15875A70F373}" type="pres">
      <dgm:prSet presAssocID="{F353D5B1-51CF-4AB6-8CB6-DF38961C9F8C}" presName="connectorText" presStyleLbl="sibTrans2D1" presStyleIdx="3" presStyleCnt="4"/>
      <dgm:spPr/>
    </dgm:pt>
    <dgm:pt modelId="{CD0BBA60-665F-4493-8AAC-414E199D5EA8}" type="pres">
      <dgm:prSet presAssocID="{6590506D-6251-42DA-A5A6-FEE2556BB8A3}" presName="node" presStyleLbl="node1" presStyleIdx="4" presStyleCnt="5" custScaleX="674177" custScaleY="160518">
        <dgm:presLayoutVars>
          <dgm:bulletEnabled val="1"/>
        </dgm:presLayoutVars>
      </dgm:prSet>
      <dgm:spPr/>
    </dgm:pt>
  </dgm:ptLst>
  <dgm:cxnLst>
    <dgm:cxn modelId="{6283F606-16F1-4C5D-950F-A9478EC55929}" type="presOf" srcId="{1F8840B5-A2E7-47E3-8B5D-9C59B763C205}" destId="{C72DCD34-8771-4E07-8A1C-EB3AB4A8A01C}" srcOrd="1" destOrd="0" presId="urn:microsoft.com/office/officeart/2005/8/layout/process1"/>
    <dgm:cxn modelId="{F0209E17-FF10-401F-8B4D-531A1A2EDB8C}" type="presOf" srcId="{DAF1D787-5061-4301-81DD-9634F6B0D7E1}" destId="{02506587-40A2-4B82-892B-6520E484E245}" srcOrd="0" destOrd="0" presId="urn:microsoft.com/office/officeart/2005/8/layout/process1"/>
    <dgm:cxn modelId="{1612F31A-1C91-4BFA-8B6F-271F217EE2B8}" type="presOf" srcId="{7797A12E-007D-450C-9D51-EE20FE4B72A6}" destId="{2D367B32-F747-465D-9E23-22A5F67BE396}" srcOrd="1" destOrd="0" presId="urn:microsoft.com/office/officeart/2005/8/layout/process1"/>
    <dgm:cxn modelId="{B9A5C332-34CD-4844-9630-8507300D93B6}" type="presOf" srcId="{6590506D-6251-42DA-A5A6-FEE2556BB8A3}" destId="{CD0BBA60-665F-4493-8AAC-414E199D5EA8}" srcOrd="0" destOrd="0" presId="urn:microsoft.com/office/officeart/2005/8/layout/process1"/>
    <dgm:cxn modelId="{E073AA3F-3EB0-409F-8C69-F25B05EFD0E9}" type="presOf" srcId="{C8AEB45C-450A-424A-A446-32FE8F0122D4}" destId="{7E16A303-CB17-4F11-8C52-4E0B90D64082}" srcOrd="0" destOrd="0" presId="urn:microsoft.com/office/officeart/2005/8/layout/process1"/>
    <dgm:cxn modelId="{76B2AD61-8416-4E85-8153-3243696A07A1}" type="presOf" srcId="{DAF1D787-5061-4301-81DD-9634F6B0D7E1}" destId="{DD2947D3-F52A-4748-98C4-8AFB232F4FE5}" srcOrd="1" destOrd="0" presId="urn:microsoft.com/office/officeart/2005/8/layout/process1"/>
    <dgm:cxn modelId="{AE9C2243-AE79-42D0-B07C-B71E2F2A4779}" type="presOf" srcId="{3AF6AF5A-B1BD-4465-91DD-A9404F24649A}" destId="{560B2B6D-E9FF-4D64-BC49-337ABEC732CA}" srcOrd="0" destOrd="0" presId="urn:microsoft.com/office/officeart/2005/8/layout/process1"/>
    <dgm:cxn modelId="{3E817848-6BB1-4A8B-BB68-0D54ED8DDB32}" srcId="{3AF6AF5A-B1BD-4465-91DD-A9404F24649A}" destId="{FE455C0C-AA9E-4963-BF8D-E768F5BECD3C}" srcOrd="1" destOrd="0" parTransId="{36B92D3F-73EA-408E-B058-23E199AEF283}" sibTransId="{DAF1D787-5061-4301-81DD-9634F6B0D7E1}"/>
    <dgm:cxn modelId="{0CA4F648-126F-462D-8301-3C8CFFDCA29C}" srcId="{3AF6AF5A-B1BD-4465-91DD-A9404F24649A}" destId="{6590506D-6251-42DA-A5A6-FEE2556BB8A3}" srcOrd="4" destOrd="0" parTransId="{1F833FF3-5477-42AF-A50E-0A694C84A8F3}" sibTransId="{47E329DF-A537-4E17-A67B-1BA2A7BB8A8D}"/>
    <dgm:cxn modelId="{773AB569-CC6D-426E-BEA0-62202E33E278}" type="presOf" srcId="{3CB10B9F-F9DD-4D34-8BEB-F3C60DAFF631}" destId="{D734FF8B-F5CB-4848-869B-09FFC07C5165}" srcOrd="0" destOrd="0" presId="urn:microsoft.com/office/officeart/2005/8/layout/process1"/>
    <dgm:cxn modelId="{B5930E6A-CBE2-4321-AAD8-5563C8F8096E}" srcId="{3AF6AF5A-B1BD-4465-91DD-A9404F24649A}" destId="{C8AEB45C-450A-424A-A446-32FE8F0122D4}" srcOrd="0" destOrd="0" parTransId="{9B923BD6-335B-4B48-883A-A7249F869D16}" sibTransId="{1F8840B5-A2E7-47E3-8B5D-9C59B763C205}"/>
    <dgm:cxn modelId="{B3EF1D6B-9EFF-4D49-B132-22ADEEF9C7AB}" type="presOf" srcId="{C899F4A2-85D4-406C-A4D2-B2BD68ADD376}" destId="{9EFAFFE6-4D7B-497D-A9EC-306B442FD70B}" srcOrd="0" destOrd="0" presId="urn:microsoft.com/office/officeart/2005/8/layout/process1"/>
    <dgm:cxn modelId="{9551E070-ACBD-40DA-93D9-E5DC32FE4525}" srcId="{3AF6AF5A-B1BD-4465-91DD-A9404F24649A}" destId="{3CB10B9F-F9DD-4D34-8BEB-F3C60DAFF631}" srcOrd="2" destOrd="0" parTransId="{74BA634A-0DDD-4094-B519-DA9E57D30900}" sibTransId="{7797A12E-007D-450C-9D51-EE20FE4B72A6}"/>
    <dgm:cxn modelId="{50DA0497-86C2-4E2E-82F2-A03617D6D4CE}" type="presOf" srcId="{F353D5B1-51CF-4AB6-8CB6-DF38961C9F8C}" destId="{89022520-E799-441E-93CB-4C597305AF98}" srcOrd="0" destOrd="0" presId="urn:microsoft.com/office/officeart/2005/8/layout/process1"/>
    <dgm:cxn modelId="{E30F88AA-2B4D-4B37-B4AF-FE2BECFF1DB1}" type="presOf" srcId="{1F8840B5-A2E7-47E3-8B5D-9C59B763C205}" destId="{37CF87CD-ED07-4E1D-BF2B-B726D68A0C0B}" srcOrd="0" destOrd="0" presId="urn:microsoft.com/office/officeart/2005/8/layout/process1"/>
    <dgm:cxn modelId="{272FC8AD-CAE8-43EA-9439-B22F0B0C3D82}" srcId="{3AF6AF5A-B1BD-4465-91DD-A9404F24649A}" destId="{C899F4A2-85D4-406C-A4D2-B2BD68ADD376}" srcOrd="3" destOrd="0" parTransId="{6AF6F0A6-A807-42C7-A11E-E79A19282B80}" sibTransId="{F353D5B1-51CF-4AB6-8CB6-DF38961C9F8C}"/>
    <dgm:cxn modelId="{2BB833AF-45D4-4D73-A5D8-59B8E3D31E80}" type="presOf" srcId="{F353D5B1-51CF-4AB6-8CB6-DF38961C9F8C}" destId="{2EE0EE57-D5F8-48F1-891C-15875A70F373}" srcOrd="1" destOrd="0" presId="urn:microsoft.com/office/officeart/2005/8/layout/process1"/>
    <dgm:cxn modelId="{1AE180B0-8118-4C97-85B3-F77D7966E5FA}" type="presOf" srcId="{7797A12E-007D-450C-9D51-EE20FE4B72A6}" destId="{1387BCC1-1474-4B3F-99FA-2F523A5C8124}" srcOrd="0" destOrd="0" presId="urn:microsoft.com/office/officeart/2005/8/layout/process1"/>
    <dgm:cxn modelId="{3E9ADAB6-92CD-4510-ABEE-3C934D50DF09}" type="presOf" srcId="{FE455C0C-AA9E-4963-BF8D-E768F5BECD3C}" destId="{D11F5219-A841-4502-BA08-03B879E5B8D3}" srcOrd="0" destOrd="0" presId="urn:microsoft.com/office/officeart/2005/8/layout/process1"/>
    <dgm:cxn modelId="{179E7296-39B9-4B2B-A246-6AC4F3B344A2}" type="presParOf" srcId="{560B2B6D-E9FF-4D64-BC49-337ABEC732CA}" destId="{7E16A303-CB17-4F11-8C52-4E0B90D64082}" srcOrd="0" destOrd="0" presId="urn:microsoft.com/office/officeart/2005/8/layout/process1"/>
    <dgm:cxn modelId="{F77D02BE-2B62-41C6-8283-554A9EB7FFB6}" type="presParOf" srcId="{560B2B6D-E9FF-4D64-BC49-337ABEC732CA}" destId="{37CF87CD-ED07-4E1D-BF2B-B726D68A0C0B}" srcOrd="1" destOrd="0" presId="urn:microsoft.com/office/officeart/2005/8/layout/process1"/>
    <dgm:cxn modelId="{EDCDDD96-D806-43FB-9CC8-8166197872BF}" type="presParOf" srcId="{37CF87CD-ED07-4E1D-BF2B-B726D68A0C0B}" destId="{C72DCD34-8771-4E07-8A1C-EB3AB4A8A01C}" srcOrd="0" destOrd="0" presId="urn:microsoft.com/office/officeart/2005/8/layout/process1"/>
    <dgm:cxn modelId="{423DBC53-3D90-4595-B90F-C1B5E9F8C1D8}" type="presParOf" srcId="{560B2B6D-E9FF-4D64-BC49-337ABEC732CA}" destId="{D11F5219-A841-4502-BA08-03B879E5B8D3}" srcOrd="2" destOrd="0" presId="urn:microsoft.com/office/officeart/2005/8/layout/process1"/>
    <dgm:cxn modelId="{D71AE2F2-722C-4F44-8A06-C6F662F81254}" type="presParOf" srcId="{560B2B6D-E9FF-4D64-BC49-337ABEC732CA}" destId="{02506587-40A2-4B82-892B-6520E484E245}" srcOrd="3" destOrd="0" presId="urn:microsoft.com/office/officeart/2005/8/layout/process1"/>
    <dgm:cxn modelId="{D3ACDC0A-0D1D-4C9E-BBA2-A3068F7C623B}" type="presParOf" srcId="{02506587-40A2-4B82-892B-6520E484E245}" destId="{DD2947D3-F52A-4748-98C4-8AFB232F4FE5}" srcOrd="0" destOrd="0" presId="urn:microsoft.com/office/officeart/2005/8/layout/process1"/>
    <dgm:cxn modelId="{36AAE12C-3887-4E36-844D-5F2139DF4298}" type="presParOf" srcId="{560B2B6D-E9FF-4D64-BC49-337ABEC732CA}" destId="{D734FF8B-F5CB-4848-869B-09FFC07C5165}" srcOrd="4" destOrd="0" presId="urn:microsoft.com/office/officeart/2005/8/layout/process1"/>
    <dgm:cxn modelId="{85F7BB0E-C544-489F-A4D8-B6F3C8A70240}" type="presParOf" srcId="{560B2B6D-E9FF-4D64-BC49-337ABEC732CA}" destId="{1387BCC1-1474-4B3F-99FA-2F523A5C8124}" srcOrd="5" destOrd="0" presId="urn:microsoft.com/office/officeart/2005/8/layout/process1"/>
    <dgm:cxn modelId="{1AA98E95-5FC5-4063-93CE-EB92ABB1E22F}" type="presParOf" srcId="{1387BCC1-1474-4B3F-99FA-2F523A5C8124}" destId="{2D367B32-F747-465D-9E23-22A5F67BE396}" srcOrd="0" destOrd="0" presId="urn:microsoft.com/office/officeart/2005/8/layout/process1"/>
    <dgm:cxn modelId="{0FD3BAEA-8020-4BE4-A4C5-85E5647E4CF5}" type="presParOf" srcId="{560B2B6D-E9FF-4D64-BC49-337ABEC732CA}" destId="{9EFAFFE6-4D7B-497D-A9EC-306B442FD70B}" srcOrd="6" destOrd="0" presId="urn:microsoft.com/office/officeart/2005/8/layout/process1"/>
    <dgm:cxn modelId="{F578DE78-641C-4480-826A-A5599306075D}" type="presParOf" srcId="{560B2B6D-E9FF-4D64-BC49-337ABEC732CA}" destId="{89022520-E799-441E-93CB-4C597305AF98}" srcOrd="7" destOrd="0" presId="urn:microsoft.com/office/officeart/2005/8/layout/process1"/>
    <dgm:cxn modelId="{F5EC4480-31F1-4DAC-B45F-5A1C1CAC4A0D}" type="presParOf" srcId="{89022520-E799-441E-93CB-4C597305AF98}" destId="{2EE0EE57-D5F8-48F1-891C-15875A70F373}" srcOrd="0" destOrd="0" presId="urn:microsoft.com/office/officeart/2005/8/layout/process1"/>
    <dgm:cxn modelId="{DE2F692A-8A5C-4F9A-A7DD-1314E1E504C8}" type="presParOf" srcId="{560B2B6D-E9FF-4D64-BC49-337ABEC732CA}" destId="{CD0BBA60-665F-4493-8AAC-414E199D5EA8}" srcOrd="8"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AF6AF5A-B1BD-4465-91DD-A9404F24649A}" type="doc">
      <dgm:prSet loTypeId="urn:microsoft.com/office/officeart/2005/8/layout/process1" loCatId="process" qsTypeId="urn:microsoft.com/office/officeart/2005/8/quickstyle/simple1" qsCatId="simple" csTypeId="urn:microsoft.com/office/officeart/2005/8/colors/accent1_2" csCatId="accent1" phldr="1"/>
      <dgm:spPr/>
    </dgm:pt>
    <dgm:pt modelId="{C8AEB45C-450A-424A-A446-32FE8F0122D4}">
      <dgm:prSet phldrT="[Text]" custT="1"/>
      <dgm:spPr>
        <a:solidFill>
          <a:srgbClr val="7F7F7F"/>
        </a:solidFill>
      </dgm:spPr>
      <dgm:t>
        <a:bodyPr/>
        <a:lstStyle/>
        <a:p>
          <a:r>
            <a:rPr lang="en-US" sz="1400"/>
            <a:t>Household savings</a:t>
          </a:r>
        </a:p>
      </dgm:t>
    </dgm:pt>
    <dgm:pt modelId="{9B923BD6-335B-4B48-883A-A7249F869D16}" type="parTrans" cxnId="{B5930E6A-CBE2-4321-AAD8-5563C8F8096E}">
      <dgm:prSet/>
      <dgm:spPr/>
      <dgm:t>
        <a:bodyPr/>
        <a:lstStyle/>
        <a:p>
          <a:endParaRPr lang="en-US"/>
        </a:p>
      </dgm:t>
    </dgm:pt>
    <dgm:pt modelId="{1F8840B5-A2E7-47E3-8B5D-9C59B763C205}" type="sibTrans" cxnId="{B5930E6A-CBE2-4321-AAD8-5563C8F8096E}">
      <dgm:prSet/>
      <dgm:spPr>
        <a:noFill/>
      </dgm:spPr>
      <dgm:t>
        <a:bodyPr/>
        <a:lstStyle/>
        <a:p>
          <a:endParaRPr lang="en-US"/>
        </a:p>
      </dgm:t>
    </dgm:pt>
    <dgm:pt modelId="{FE455C0C-AA9E-4963-BF8D-E768F5BECD3C}">
      <dgm:prSet phldrT="[Text]" custT="1"/>
      <dgm:spPr>
        <a:solidFill>
          <a:srgbClr val="7F7F7F"/>
        </a:solidFill>
      </dgm:spPr>
      <dgm:t>
        <a:bodyPr/>
        <a:lstStyle/>
        <a:p>
          <a:r>
            <a:rPr lang="en-US" sz="1400"/>
            <a:t>Current transfers, such as tax credits</a:t>
          </a:r>
        </a:p>
      </dgm:t>
    </dgm:pt>
    <dgm:pt modelId="{DAF1D787-5061-4301-81DD-9634F6B0D7E1}" type="sibTrans" cxnId="{3E817848-6BB1-4A8B-BB68-0D54ED8DDB32}">
      <dgm:prSet/>
      <dgm:spPr>
        <a:noFill/>
      </dgm:spPr>
      <dgm:t>
        <a:bodyPr/>
        <a:lstStyle/>
        <a:p>
          <a:endParaRPr lang="en-US"/>
        </a:p>
      </dgm:t>
    </dgm:pt>
    <dgm:pt modelId="{36B92D3F-73EA-408E-B058-23E199AEF283}" type="parTrans" cxnId="{3E817848-6BB1-4A8B-BB68-0D54ED8DDB32}">
      <dgm:prSet/>
      <dgm:spPr/>
      <dgm:t>
        <a:bodyPr/>
        <a:lstStyle/>
        <a:p>
          <a:endParaRPr lang="en-US"/>
        </a:p>
      </dgm:t>
    </dgm:pt>
    <dgm:pt modelId="{3CB10B9F-F9DD-4D34-8BEB-F3C60DAFF631}">
      <dgm:prSet phldrT="[Text]" custT="1"/>
      <dgm:spPr>
        <a:solidFill>
          <a:srgbClr val="7F7F7F"/>
        </a:solidFill>
      </dgm:spPr>
      <dgm:t>
        <a:bodyPr/>
        <a:lstStyle/>
        <a:p>
          <a:r>
            <a:rPr lang="en-US" sz="1400"/>
            <a:t>Insurance, such as medical and life plans</a:t>
          </a:r>
        </a:p>
      </dgm:t>
    </dgm:pt>
    <dgm:pt modelId="{7797A12E-007D-450C-9D51-EE20FE4B72A6}" type="sibTrans" cxnId="{9551E070-ACBD-40DA-93D9-E5DC32FE4525}">
      <dgm:prSet/>
      <dgm:spPr>
        <a:noFill/>
      </dgm:spPr>
      <dgm:t>
        <a:bodyPr/>
        <a:lstStyle/>
        <a:p>
          <a:endParaRPr lang="en-US"/>
        </a:p>
      </dgm:t>
    </dgm:pt>
    <dgm:pt modelId="{74BA634A-0DDD-4094-B519-DA9E57D30900}" type="parTrans" cxnId="{9551E070-ACBD-40DA-93D9-E5DC32FE4525}">
      <dgm:prSet/>
      <dgm:spPr/>
      <dgm:t>
        <a:bodyPr/>
        <a:lstStyle/>
        <a:p>
          <a:endParaRPr lang="en-US"/>
        </a:p>
      </dgm:t>
    </dgm:pt>
    <dgm:pt modelId="{C899F4A2-85D4-406C-A4D2-B2BD68ADD376}">
      <dgm:prSet phldrT="[Text]" custT="1"/>
      <dgm:spPr>
        <a:solidFill>
          <a:srgbClr val="7F7F7F"/>
        </a:solidFill>
      </dgm:spPr>
      <dgm:t>
        <a:bodyPr/>
        <a:lstStyle/>
        <a:p>
          <a:r>
            <a:rPr lang="en-US" sz="1400"/>
            <a:t>Short-term credit</a:t>
          </a:r>
        </a:p>
      </dgm:t>
    </dgm:pt>
    <dgm:pt modelId="{F353D5B1-51CF-4AB6-8CB6-DF38961C9F8C}" type="sibTrans" cxnId="{272FC8AD-CAE8-43EA-9439-B22F0B0C3D82}">
      <dgm:prSet/>
      <dgm:spPr>
        <a:noFill/>
      </dgm:spPr>
      <dgm:t>
        <a:bodyPr/>
        <a:lstStyle/>
        <a:p>
          <a:endParaRPr lang="en-US"/>
        </a:p>
      </dgm:t>
    </dgm:pt>
    <dgm:pt modelId="{6AF6F0A6-A807-42C7-A11E-E79A19282B80}" type="parTrans" cxnId="{272FC8AD-CAE8-43EA-9439-B22F0B0C3D82}">
      <dgm:prSet/>
      <dgm:spPr/>
      <dgm:t>
        <a:bodyPr/>
        <a:lstStyle/>
        <a:p>
          <a:endParaRPr lang="en-US"/>
        </a:p>
      </dgm:t>
    </dgm:pt>
    <dgm:pt modelId="{6590506D-6251-42DA-A5A6-FEE2556BB8A3}">
      <dgm:prSet phldrT="[Text]" custT="1"/>
      <dgm:spPr>
        <a:solidFill>
          <a:srgbClr val="7F7F7F"/>
        </a:solidFill>
      </dgm:spPr>
      <dgm:t>
        <a:bodyPr/>
        <a:lstStyle/>
        <a:p>
          <a:r>
            <a:rPr lang="en-US" sz="1400"/>
            <a:t>Net worth</a:t>
          </a:r>
          <a:endParaRPr lang="en-US" sz="1100"/>
        </a:p>
      </dgm:t>
    </dgm:pt>
    <dgm:pt modelId="{47E329DF-A537-4E17-A67B-1BA2A7BB8A8D}" type="sibTrans" cxnId="{0CA4F648-126F-462D-8301-3C8CFFDCA29C}">
      <dgm:prSet/>
      <dgm:spPr/>
      <dgm:t>
        <a:bodyPr/>
        <a:lstStyle/>
        <a:p>
          <a:endParaRPr lang="en-US"/>
        </a:p>
      </dgm:t>
    </dgm:pt>
    <dgm:pt modelId="{1F833FF3-5477-42AF-A50E-0A694C84A8F3}" type="parTrans" cxnId="{0CA4F648-126F-462D-8301-3C8CFFDCA29C}">
      <dgm:prSet/>
      <dgm:spPr/>
      <dgm:t>
        <a:bodyPr/>
        <a:lstStyle/>
        <a:p>
          <a:endParaRPr lang="en-US"/>
        </a:p>
      </dgm:t>
    </dgm:pt>
    <dgm:pt modelId="{560B2B6D-E9FF-4D64-BC49-337ABEC732CA}" type="pres">
      <dgm:prSet presAssocID="{3AF6AF5A-B1BD-4465-91DD-A9404F24649A}" presName="Name0" presStyleCnt="0">
        <dgm:presLayoutVars>
          <dgm:dir/>
          <dgm:resizeHandles val="exact"/>
        </dgm:presLayoutVars>
      </dgm:prSet>
      <dgm:spPr/>
    </dgm:pt>
    <dgm:pt modelId="{7E16A303-CB17-4F11-8C52-4E0B90D64082}" type="pres">
      <dgm:prSet presAssocID="{C8AEB45C-450A-424A-A446-32FE8F0122D4}" presName="node" presStyleLbl="node1" presStyleIdx="0" presStyleCnt="5" custScaleX="674177" custScaleY="160518">
        <dgm:presLayoutVars>
          <dgm:bulletEnabled val="1"/>
        </dgm:presLayoutVars>
      </dgm:prSet>
      <dgm:spPr/>
    </dgm:pt>
    <dgm:pt modelId="{37CF87CD-ED07-4E1D-BF2B-B726D68A0C0B}" type="pres">
      <dgm:prSet presAssocID="{1F8840B5-A2E7-47E3-8B5D-9C59B763C205}" presName="sibTrans" presStyleLbl="sibTrans2D1" presStyleIdx="0" presStyleCnt="4" custScaleX="42499"/>
      <dgm:spPr/>
    </dgm:pt>
    <dgm:pt modelId="{C72DCD34-8771-4E07-8A1C-EB3AB4A8A01C}" type="pres">
      <dgm:prSet presAssocID="{1F8840B5-A2E7-47E3-8B5D-9C59B763C205}" presName="connectorText" presStyleLbl="sibTrans2D1" presStyleIdx="0" presStyleCnt="4"/>
      <dgm:spPr/>
    </dgm:pt>
    <dgm:pt modelId="{D11F5219-A841-4502-BA08-03B879E5B8D3}" type="pres">
      <dgm:prSet presAssocID="{FE455C0C-AA9E-4963-BF8D-E768F5BECD3C}" presName="node" presStyleLbl="node1" presStyleIdx="1" presStyleCnt="5" custScaleX="674177" custScaleY="160518">
        <dgm:presLayoutVars>
          <dgm:bulletEnabled val="1"/>
        </dgm:presLayoutVars>
      </dgm:prSet>
      <dgm:spPr/>
    </dgm:pt>
    <dgm:pt modelId="{02506587-40A2-4B82-892B-6520E484E245}" type="pres">
      <dgm:prSet presAssocID="{DAF1D787-5061-4301-81DD-9634F6B0D7E1}" presName="sibTrans" presStyleLbl="sibTrans2D1" presStyleIdx="1" presStyleCnt="4" custScaleX="42499"/>
      <dgm:spPr/>
    </dgm:pt>
    <dgm:pt modelId="{DD2947D3-F52A-4748-98C4-8AFB232F4FE5}" type="pres">
      <dgm:prSet presAssocID="{DAF1D787-5061-4301-81DD-9634F6B0D7E1}" presName="connectorText" presStyleLbl="sibTrans2D1" presStyleIdx="1" presStyleCnt="4"/>
      <dgm:spPr/>
    </dgm:pt>
    <dgm:pt modelId="{D734FF8B-F5CB-4848-869B-09FFC07C5165}" type="pres">
      <dgm:prSet presAssocID="{3CB10B9F-F9DD-4D34-8BEB-F3C60DAFF631}" presName="node" presStyleLbl="node1" presStyleIdx="2" presStyleCnt="5" custScaleX="674177" custScaleY="160518">
        <dgm:presLayoutVars>
          <dgm:bulletEnabled val="1"/>
        </dgm:presLayoutVars>
      </dgm:prSet>
      <dgm:spPr/>
    </dgm:pt>
    <dgm:pt modelId="{1387BCC1-1474-4B3F-99FA-2F523A5C8124}" type="pres">
      <dgm:prSet presAssocID="{7797A12E-007D-450C-9D51-EE20FE4B72A6}" presName="sibTrans" presStyleLbl="sibTrans2D1" presStyleIdx="2" presStyleCnt="4" custScaleX="42499"/>
      <dgm:spPr/>
    </dgm:pt>
    <dgm:pt modelId="{2D367B32-F747-465D-9E23-22A5F67BE396}" type="pres">
      <dgm:prSet presAssocID="{7797A12E-007D-450C-9D51-EE20FE4B72A6}" presName="connectorText" presStyleLbl="sibTrans2D1" presStyleIdx="2" presStyleCnt="4"/>
      <dgm:spPr/>
    </dgm:pt>
    <dgm:pt modelId="{9EFAFFE6-4D7B-497D-A9EC-306B442FD70B}" type="pres">
      <dgm:prSet presAssocID="{C899F4A2-85D4-406C-A4D2-B2BD68ADD376}" presName="node" presStyleLbl="node1" presStyleIdx="3" presStyleCnt="5" custScaleX="674177" custScaleY="160518">
        <dgm:presLayoutVars>
          <dgm:bulletEnabled val="1"/>
        </dgm:presLayoutVars>
      </dgm:prSet>
      <dgm:spPr/>
    </dgm:pt>
    <dgm:pt modelId="{89022520-E799-441E-93CB-4C597305AF98}" type="pres">
      <dgm:prSet presAssocID="{F353D5B1-51CF-4AB6-8CB6-DF38961C9F8C}" presName="sibTrans" presStyleLbl="sibTrans2D1" presStyleIdx="3" presStyleCnt="4" custScaleX="42499"/>
      <dgm:spPr/>
    </dgm:pt>
    <dgm:pt modelId="{2EE0EE57-D5F8-48F1-891C-15875A70F373}" type="pres">
      <dgm:prSet presAssocID="{F353D5B1-51CF-4AB6-8CB6-DF38961C9F8C}" presName="connectorText" presStyleLbl="sibTrans2D1" presStyleIdx="3" presStyleCnt="4"/>
      <dgm:spPr/>
    </dgm:pt>
    <dgm:pt modelId="{CD0BBA60-665F-4493-8AAC-414E199D5EA8}" type="pres">
      <dgm:prSet presAssocID="{6590506D-6251-42DA-A5A6-FEE2556BB8A3}" presName="node" presStyleLbl="node1" presStyleIdx="4" presStyleCnt="5" custScaleX="674177" custScaleY="160518">
        <dgm:presLayoutVars>
          <dgm:bulletEnabled val="1"/>
        </dgm:presLayoutVars>
      </dgm:prSet>
      <dgm:spPr/>
    </dgm:pt>
  </dgm:ptLst>
  <dgm:cxnLst>
    <dgm:cxn modelId="{6283F606-16F1-4C5D-950F-A9478EC55929}" type="presOf" srcId="{1F8840B5-A2E7-47E3-8B5D-9C59B763C205}" destId="{C72DCD34-8771-4E07-8A1C-EB3AB4A8A01C}" srcOrd="1" destOrd="0" presId="urn:microsoft.com/office/officeart/2005/8/layout/process1"/>
    <dgm:cxn modelId="{F0209E17-FF10-401F-8B4D-531A1A2EDB8C}" type="presOf" srcId="{DAF1D787-5061-4301-81DD-9634F6B0D7E1}" destId="{02506587-40A2-4B82-892B-6520E484E245}" srcOrd="0" destOrd="0" presId="urn:microsoft.com/office/officeart/2005/8/layout/process1"/>
    <dgm:cxn modelId="{1612F31A-1C91-4BFA-8B6F-271F217EE2B8}" type="presOf" srcId="{7797A12E-007D-450C-9D51-EE20FE4B72A6}" destId="{2D367B32-F747-465D-9E23-22A5F67BE396}" srcOrd="1" destOrd="0" presId="urn:microsoft.com/office/officeart/2005/8/layout/process1"/>
    <dgm:cxn modelId="{B9A5C332-34CD-4844-9630-8507300D93B6}" type="presOf" srcId="{6590506D-6251-42DA-A5A6-FEE2556BB8A3}" destId="{CD0BBA60-665F-4493-8AAC-414E199D5EA8}" srcOrd="0" destOrd="0" presId="urn:microsoft.com/office/officeart/2005/8/layout/process1"/>
    <dgm:cxn modelId="{E073AA3F-3EB0-409F-8C69-F25B05EFD0E9}" type="presOf" srcId="{C8AEB45C-450A-424A-A446-32FE8F0122D4}" destId="{7E16A303-CB17-4F11-8C52-4E0B90D64082}" srcOrd="0" destOrd="0" presId="urn:microsoft.com/office/officeart/2005/8/layout/process1"/>
    <dgm:cxn modelId="{76B2AD61-8416-4E85-8153-3243696A07A1}" type="presOf" srcId="{DAF1D787-5061-4301-81DD-9634F6B0D7E1}" destId="{DD2947D3-F52A-4748-98C4-8AFB232F4FE5}" srcOrd="1" destOrd="0" presId="urn:microsoft.com/office/officeart/2005/8/layout/process1"/>
    <dgm:cxn modelId="{AE9C2243-AE79-42D0-B07C-B71E2F2A4779}" type="presOf" srcId="{3AF6AF5A-B1BD-4465-91DD-A9404F24649A}" destId="{560B2B6D-E9FF-4D64-BC49-337ABEC732CA}" srcOrd="0" destOrd="0" presId="urn:microsoft.com/office/officeart/2005/8/layout/process1"/>
    <dgm:cxn modelId="{3E817848-6BB1-4A8B-BB68-0D54ED8DDB32}" srcId="{3AF6AF5A-B1BD-4465-91DD-A9404F24649A}" destId="{FE455C0C-AA9E-4963-BF8D-E768F5BECD3C}" srcOrd="1" destOrd="0" parTransId="{36B92D3F-73EA-408E-B058-23E199AEF283}" sibTransId="{DAF1D787-5061-4301-81DD-9634F6B0D7E1}"/>
    <dgm:cxn modelId="{0CA4F648-126F-462D-8301-3C8CFFDCA29C}" srcId="{3AF6AF5A-B1BD-4465-91DD-A9404F24649A}" destId="{6590506D-6251-42DA-A5A6-FEE2556BB8A3}" srcOrd="4" destOrd="0" parTransId="{1F833FF3-5477-42AF-A50E-0A694C84A8F3}" sibTransId="{47E329DF-A537-4E17-A67B-1BA2A7BB8A8D}"/>
    <dgm:cxn modelId="{773AB569-CC6D-426E-BEA0-62202E33E278}" type="presOf" srcId="{3CB10B9F-F9DD-4D34-8BEB-F3C60DAFF631}" destId="{D734FF8B-F5CB-4848-869B-09FFC07C5165}" srcOrd="0" destOrd="0" presId="urn:microsoft.com/office/officeart/2005/8/layout/process1"/>
    <dgm:cxn modelId="{B5930E6A-CBE2-4321-AAD8-5563C8F8096E}" srcId="{3AF6AF5A-B1BD-4465-91DD-A9404F24649A}" destId="{C8AEB45C-450A-424A-A446-32FE8F0122D4}" srcOrd="0" destOrd="0" parTransId="{9B923BD6-335B-4B48-883A-A7249F869D16}" sibTransId="{1F8840B5-A2E7-47E3-8B5D-9C59B763C205}"/>
    <dgm:cxn modelId="{B3EF1D6B-9EFF-4D49-B132-22ADEEF9C7AB}" type="presOf" srcId="{C899F4A2-85D4-406C-A4D2-B2BD68ADD376}" destId="{9EFAFFE6-4D7B-497D-A9EC-306B442FD70B}" srcOrd="0" destOrd="0" presId="urn:microsoft.com/office/officeart/2005/8/layout/process1"/>
    <dgm:cxn modelId="{9551E070-ACBD-40DA-93D9-E5DC32FE4525}" srcId="{3AF6AF5A-B1BD-4465-91DD-A9404F24649A}" destId="{3CB10B9F-F9DD-4D34-8BEB-F3C60DAFF631}" srcOrd="2" destOrd="0" parTransId="{74BA634A-0DDD-4094-B519-DA9E57D30900}" sibTransId="{7797A12E-007D-450C-9D51-EE20FE4B72A6}"/>
    <dgm:cxn modelId="{50DA0497-86C2-4E2E-82F2-A03617D6D4CE}" type="presOf" srcId="{F353D5B1-51CF-4AB6-8CB6-DF38961C9F8C}" destId="{89022520-E799-441E-93CB-4C597305AF98}" srcOrd="0" destOrd="0" presId="urn:microsoft.com/office/officeart/2005/8/layout/process1"/>
    <dgm:cxn modelId="{E30F88AA-2B4D-4B37-B4AF-FE2BECFF1DB1}" type="presOf" srcId="{1F8840B5-A2E7-47E3-8B5D-9C59B763C205}" destId="{37CF87CD-ED07-4E1D-BF2B-B726D68A0C0B}" srcOrd="0" destOrd="0" presId="urn:microsoft.com/office/officeart/2005/8/layout/process1"/>
    <dgm:cxn modelId="{272FC8AD-CAE8-43EA-9439-B22F0B0C3D82}" srcId="{3AF6AF5A-B1BD-4465-91DD-A9404F24649A}" destId="{C899F4A2-85D4-406C-A4D2-B2BD68ADD376}" srcOrd="3" destOrd="0" parTransId="{6AF6F0A6-A807-42C7-A11E-E79A19282B80}" sibTransId="{F353D5B1-51CF-4AB6-8CB6-DF38961C9F8C}"/>
    <dgm:cxn modelId="{2BB833AF-45D4-4D73-A5D8-59B8E3D31E80}" type="presOf" srcId="{F353D5B1-51CF-4AB6-8CB6-DF38961C9F8C}" destId="{2EE0EE57-D5F8-48F1-891C-15875A70F373}" srcOrd="1" destOrd="0" presId="urn:microsoft.com/office/officeart/2005/8/layout/process1"/>
    <dgm:cxn modelId="{1AE180B0-8118-4C97-85B3-F77D7966E5FA}" type="presOf" srcId="{7797A12E-007D-450C-9D51-EE20FE4B72A6}" destId="{1387BCC1-1474-4B3F-99FA-2F523A5C8124}" srcOrd="0" destOrd="0" presId="urn:microsoft.com/office/officeart/2005/8/layout/process1"/>
    <dgm:cxn modelId="{3E9ADAB6-92CD-4510-ABEE-3C934D50DF09}" type="presOf" srcId="{FE455C0C-AA9E-4963-BF8D-E768F5BECD3C}" destId="{D11F5219-A841-4502-BA08-03B879E5B8D3}" srcOrd="0" destOrd="0" presId="urn:microsoft.com/office/officeart/2005/8/layout/process1"/>
    <dgm:cxn modelId="{179E7296-39B9-4B2B-A246-6AC4F3B344A2}" type="presParOf" srcId="{560B2B6D-E9FF-4D64-BC49-337ABEC732CA}" destId="{7E16A303-CB17-4F11-8C52-4E0B90D64082}" srcOrd="0" destOrd="0" presId="urn:microsoft.com/office/officeart/2005/8/layout/process1"/>
    <dgm:cxn modelId="{F77D02BE-2B62-41C6-8283-554A9EB7FFB6}" type="presParOf" srcId="{560B2B6D-E9FF-4D64-BC49-337ABEC732CA}" destId="{37CF87CD-ED07-4E1D-BF2B-B726D68A0C0B}" srcOrd="1" destOrd="0" presId="urn:microsoft.com/office/officeart/2005/8/layout/process1"/>
    <dgm:cxn modelId="{EDCDDD96-D806-43FB-9CC8-8166197872BF}" type="presParOf" srcId="{37CF87CD-ED07-4E1D-BF2B-B726D68A0C0B}" destId="{C72DCD34-8771-4E07-8A1C-EB3AB4A8A01C}" srcOrd="0" destOrd="0" presId="urn:microsoft.com/office/officeart/2005/8/layout/process1"/>
    <dgm:cxn modelId="{423DBC53-3D90-4595-B90F-C1B5E9F8C1D8}" type="presParOf" srcId="{560B2B6D-E9FF-4D64-BC49-337ABEC732CA}" destId="{D11F5219-A841-4502-BA08-03B879E5B8D3}" srcOrd="2" destOrd="0" presId="urn:microsoft.com/office/officeart/2005/8/layout/process1"/>
    <dgm:cxn modelId="{D71AE2F2-722C-4F44-8A06-C6F662F81254}" type="presParOf" srcId="{560B2B6D-E9FF-4D64-BC49-337ABEC732CA}" destId="{02506587-40A2-4B82-892B-6520E484E245}" srcOrd="3" destOrd="0" presId="urn:microsoft.com/office/officeart/2005/8/layout/process1"/>
    <dgm:cxn modelId="{D3ACDC0A-0D1D-4C9E-BBA2-A3068F7C623B}" type="presParOf" srcId="{02506587-40A2-4B82-892B-6520E484E245}" destId="{DD2947D3-F52A-4748-98C4-8AFB232F4FE5}" srcOrd="0" destOrd="0" presId="urn:microsoft.com/office/officeart/2005/8/layout/process1"/>
    <dgm:cxn modelId="{36AAE12C-3887-4E36-844D-5F2139DF4298}" type="presParOf" srcId="{560B2B6D-E9FF-4D64-BC49-337ABEC732CA}" destId="{D734FF8B-F5CB-4848-869B-09FFC07C5165}" srcOrd="4" destOrd="0" presId="urn:microsoft.com/office/officeart/2005/8/layout/process1"/>
    <dgm:cxn modelId="{85F7BB0E-C544-489F-A4D8-B6F3C8A70240}" type="presParOf" srcId="{560B2B6D-E9FF-4D64-BC49-337ABEC732CA}" destId="{1387BCC1-1474-4B3F-99FA-2F523A5C8124}" srcOrd="5" destOrd="0" presId="urn:microsoft.com/office/officeart/2005/8/layout/process1"/>
    <dgm:cxn modelId="{1AA98E95-5FC5-4063-93CE-EB92ABB1E22F}" type="presParOf" srcId="{1387BCC1-1474-4B3F-99FA-2F523A5C8124}" destId="{2D367B32-F747-465D-9E23-22A5F67BE396}" srcOrd="0" destOrd="0" presId="urn:microsoft.com/office/officeart/2005/8/layout/process1"/>
    <dgm:cxn modelId="{0FD3BAEA-8020-4BE4-A4C5-85E5647E4CF5}" type="presParOf" srcId="{560B2B6D-E9FF-4D64-BC49-337ABEC732CA}" destId="{9EFAFFE6-4D7B-497D-A9EC-306B442FD70B}" srcOrd="6" destOrd="0" presId="urn:microsoft.com/office/officeart/2005/8/layout/process1"/>
    <dgm:cxn modelId="{F578DE78-641C-4480-826A-A5599306075D}" type="presParOf" srcId="{560B2B6D-E9FF-4D64-BC49-337ABEC732CA}" destId="{89022520-E799-441E-93CB-4C597305AF98}" srcOrd="7" destOrd="0" presId="urn:microsoft.com/office/officeart/2005/8/layout/process1"/>
    <dgm:cxn modelId="{F5EC4480-31F1-4DAC-B45F-5A1C1CAC4A0D}" type="presParOf" srcId="{89022520-E799-441E-93CB-4C597305AF98}" destId="{2EE0EE57-D5F8-48F1-891C-15875A70F373}" srcOrd="0" destOrd="0" presId="urn:microsoft.com/office/officeart/2005/8/layout/process1"/>
    <dgm:cxn modelId="{DE2F692A-8A5C-4F9A-A7DD-1314E1E504C8}" type="presParOf" srcId="{560B2B6D-E9FF-4D64-BC49-337ABEC732CA}" destId="{CD0BBA60-665F-4493-8AAC-414E199D5EA8}" srcOrd="8"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AF6AF5A-B1BD-4465-91DD-A9404F24649A}" type="doc">
      <dgm:prSet loTypeId="urn:microsoft.com/office/officeart/2005/8/layout/process1" loCatId="process" qsTypeId="urn:microsoft.com/office/officeart/2005/8/quickstyle/simple1" qsCatId="simple" csTypeId="urn:microsoft.com/office/officeart/2005/8/colors/accent1_2" csCatId="accent1" phldr="1"/>
      <dgm:spPr/>
    </dgm:pt>
    <dgm:pt modelId="{C8AEB45C-450A-424A-A446-32FE8F0122D4}">
      <dgm:prSet phldrT="[Text]" custT="1"/>
      <dgm:spPr>
        <a:solidFill>
          <a:srgbClr val="004C97"/>
        </a:solidFill>
      </dgm:spPr>
      <dgm:t>
        <a:bodyPr/>
        <a:lstStyle/>
        <a:p>
          <a:r>
            <a:rPr lang="en-US" sz="1400"/>
            <a:t>Nonfinancial assets, such as real estate</a:t>
          </a:r>
        </a:p>
      </dgm:t>
    </dgm:pt>
    <dgm:pt modelId="{9B923BD6-335B-4B48-883A-A7249F869D16}" type="parTrans" cxnId="{B5930E6A-CBE2-4321-AAD8-5563C8F8096E}">
      <dgm:prSet/>
      <dgm:spPr/>
      <dgm:t>
        <a:bodyPr/>
        <a:lstStyle/>
        <a:p>
          <a:endParaRPr lang="en-US"/>
        </a:p>
      </dgm:t>
    </dgm:pt>
    <dgm:pt modelId="{1F8840B5-A2E7-47E3-8B5D-9C59B763C205}" type="sibTrans" cxnId="{B5930E6A-CBE2-4321-AAD8-5563C8F8096E}">
      <dgm:prSet/>
      <dgm:spPr>
        <a:noFill/>
      </dgm:spPr>
      <dgm:t>
        <a:bodyPr/>
        <a:lstStyle/>
        <a:p>
          <a:endParaRPr lang="en-US"/>
        </a:p>
      </dgm:t>
    </dgm:pt>
    <dgm:pt modelId="{FE455C0C-AA9E-4963-BF8D-E768F5BECD3C}">
      <dgm:prSet phldrT="[Text]" custT="1"/>
      <dgm:spPr>
        <a:solidFill>
          <a:srgbClr val="004C97"/>
        </a:solidFill>
      </dgm:spPr>
      <dgm:t>
        <a:bodyPr/>
        <a:lstStyle/>
        <a:p>
          <a:r>
            <a:rPr lang="en-US" sz="1400"/>
            <a:t>Household debt, including mortgage</a:t>
          </a:r>
        </a:p>
      </dgm:t>
    </dgm:pt>
    <dgm:pt modelId="{DAF1D787-5061-4301-81DD-9634F6B0D7E1}" type="sibTrans" cxnId="{3E817848-6BB1-4A8B-BB68-0D54ED8DDB32}">
      <dgm:prSet/>
      <dgm:spPr>
        <a:noFill/>
      </dgm:spPr>
      <dgm:t>
        <a:bodyPr/>
        <a:lstStyle/>
        <a:p>
          <a:endParaRPr lang="en-US"/>
        </a:p>
      </dgm:t>
    </dgm:pt>
    <dgm:pt modelId="{36B92D3F-73EA-408E-B058-23E199AEF283}" type="parTrans" cxnId="{3E817848-6BB1-4A8B-BB68-0D54ED8DDB32}">
      <dgm:prSet/>
      <dgm:spPr/>
      <dgm:t>
        <a:bodyPr/>
        <a:lstStyle/>
        <a:p>
          <a:endParaRPr lang="en-US"/>
        </a:p>
      </dgm:t>
    </dgm:pt>
    <dgm:pt modelId="{3CB10B9F-F9DD-4D34-8BEB-F3C60DAFF631}">
      <dgm:prSet phldrT="[Text]" custT="1"/>
      <dgm:spPr>
        <a:solidFill>
          <a:srgbClr val="004C97"/>
        </a:solidFill>
      </dgm:spPr>
      <dgm:t>
        <a:bodyPr/>
        <a:lstStyle/>
        <a:p>
          <a:r>
            <a:rPr lang="en-US" sz="1400"/>
            <a:t>Credit card use and balances</a:t>
          </a:r>
        </a:p>
      </dgm:t>
    </dgm:pt>
    <dgm:pt modelId="{7797A12E-007D-450C-9D51-EE20FE4B72A6}" type="sibTrans" cxnId="{9551E070-ACBD-40DA-93D9-E5DC32FE4525}">
      <dgm:prSet/>
      <dgm:spPr>
        <a:noFill/>
      </dgm:spPr>
      <dgm:t>
        <a:bodyPr/>
        <a:lstStyle/>
        <a:p>
          <a:endParaRPr lang="en-US"/>
        </a:p>
      </dgm:t>
    </dgm:pt>
    <dgm:pt modelId="{74BA634A-0DDD-4094-B519-DA9E57D30900}" type="parTrans" cxnId="{9551E070-ACBD-40DA-93D9-E5DC32FE4525}">
      <dgm:prSet/>
      <dgm:spPr/>
      <dgm:t>
        <a:bodyPr/>
        <a:lstStyle/>
        <a:p>
          <a:endParaRPr lang="en-US"/>
        </a:p>
      </dgm:t>
    </dgm:pt>
    <dgm:pt modelId="{C899F4A2-85D4-406C-A4D2-B2BD68ADD376}">
      <dgm:prSet phldrT="[Text]" custT="1"/>
      <dgm:spPr>
        <a:solidFill>
          <a:srgbClr val="004C97"/>
        </a:solidFill>
      </dgm:spPr>
      <dgm:t>
        <a:bodyPr/>
        <a:lstStyle/>
        <a:p>
          <a:r>
            <a:rPr lang="en-US" sz="1400"/>
            <a:t>Foreign exchange assets and liabilities</a:t>
          </a:r>
        </a:p>
      </dgm:t>
    </dgm:pt>
    <dgm:pt modelId="{F353D5B1-51CF-4AB6-8CB6-DF38961C9F8C}" type="sibTrans" cxnId="{272FC8AD-CAE8-43EA-9439-B22F0B0C3D82}">
      <dgm:prSet/>
      <dgm:spPr>
        <a:noFill/>
      </dgm:spPr>
      <dgm:t>
        <a:bodyPr/>
        <a:lstStyle/>
        <a:p>
          <a:endParaRPr lang="en-US"/>
        </a:p>
      </dgm:t>
    </dgm:pt>
    <dgm:pt modelId="{6AF6F0A6-A807-42C7-A11E-E79A19282B80}" type="parTrans" cxnId="{272FC8AD-CAE8-43EA-9439-B22F0B0C3D82}">
      <dgm:prSet/>
      <dgm:spPr/>
      <dgm:t>
        <a:bodyPr/>
        <a:lstStyle/>
        <a:p>
          <a:endParaRPr lang="en-US"/>
        </a:p>
      </dgm:t>
    </dgm:pt>
    <dgm:pt modelId="{6590506D-6251-42DA-A5A6-FEE2556BB8A3}">
      <dgm:prSet phldrT="[Text]" custT="1"/>
      <dgm:spPr>
        <a:solidFill>
          <a:srgbClr val="004C97"/>
        </a:solidFill>
      </dgm:spPr>
      <dgm:t>
        <a:bodyPr/>
        <a:lstStyle/>
        <a:p>
          <a:r>
            <a:rPr lang="en-US" sz="1400"/>
            <a:t>Insurance,</a:t>
          </a:r>
        </a:p>
        <a:p>
          <a:r>
            <a:rPr lang="en-US" sz="1400"/>
            <a:t>Pensions</a:t>
          </a:r>
          <a:endParaRPr lang="en-US" sz="1100"/>
        </a:p>
      </dgm:t>
    </dgm:pt>
    <dgm:pt modelId="{47E329DF-A537-4E17-A67B-1BA2A7BB8A8D}" type="sibTrans" cxnId="{0CA4F648-126F-462D-8301-3C8CFFDCA29C}">
      <dgm:prSet/>
      <dgm:spPr/>
      <dgm:t>
        <a:bodyPr/>
        <a:lstStyle/>
        <a:p>
          <a:endParaRPr lang="en-US"/>
        </a:p>
      </dgm:t>
    </dgm:pt>
    <dgm:pt modelId="{1F833FF3-5477-42AF-A50E-0A694C84A8F3}" type="parTrans" cxnId="{0CA4F648-126F-462D-8301-3C8CFFDCA29C}">
      <dgm:prSet/>
      <dgm:spPr/>
      <dgm:t>
        <a:bodyPr/>
        <a:lstStyle/>
        <a:p>
          <a:endParaRPr lang="en-US"/>
        </a:p>
      </dgm:t>
    </dgm:pt>
    <dgm:pt modelId="{560B2B6D-E9FF-4D64-BC49-337ABEC732CA}" type="pres">
      <dgm:prSet presAssocID="{3AF6AF5A-B1BD-4465-91DD-A9404F24649A}" presName="Name0" presStyleCnt="0">
        <dgm:presLayoutVars>
          <dgm:dir/>
          <dgm:resizeHandles val="exact"/>
        </dgm:presLayoutVars>
      </dgm:prSet>
      <dgm:spPr/>
    </dgm:pt>
    <dgm:pt modelId="{7E16A303-CB17-4F11-8C52-4E0B90D64082}" type="pres">
      <dgm:prSet presAssocID="{C8AEB45C-450A-424A-A446-32FE8F0122D4}" presName="node" presStyleLbl="node1" presStyleIdx="0" presStyleCnt="5" custScaleX="674177" custScaleY="160518">
        <dgm:presLayoutVars>
          <dgm:bulletEnabled val="1"/>
        </dgm:presLayoutVars>
      </dgm:prSet>
      <dgm:spPr/>
    </dgm:pt>
    <dgm:pt modelId="{37CF87CD-ED07-4E1D-BF2B-B726D68A0C0B}" type="pres">
      <dgm:prSet presAssocID="{1F8840B5-A2E7-47E3-8B5D-9C59B763C205}" presName="sibTrans" presStyleLbl="sibTrans2D1" presStyleIdx="0" presStyleCnt="4" custScaleX="42499"/>
      <dgm:spPr/>
    </dgm:pt>
    <dgm:pt modelId="{C72DCD34-8771-4E07-8A1C-EB3AB4A8A01C}" type="pres">
      <dgm:prSet presAssocID="{1F8840B5-A2E7-47E3-8B5D-9C59B763C205}" presName="connectorText" presStyleLbl="sibTrans2D1" presStyleIdx="0" presStyleCnt="4"/>
      <dgm:spPr/>
    </dgm:pt>
    <dgm:pt modelId="{D11F5219-A841-4502-BA08-03B879E5B8D3}" type="pres">
      <dgm:prSet presAssocID="{FE455C0C-AA9E-4963-BF8D-E768F5BECD3C}" presName="node" presStyleLbl="node1" presStyleIdx="1" presStyleCnt="5" custScaleX="674177" custScaleY="160518">
        <dgm:presLayoutVars>
          <dgm:bulletEnabled val="1"/>
        </dgm:presLayoutVars>
      </dgm:prSet>
      <dgm:spPr/>
    </dgm:pt>
    <dgm:pt modelId="{02506587-40A2-4B82-892B-6520E484E245}" type="pres">
      <dgm:prSet presAssocID="{DAF1D787-5061-4301-81DD-9634F6B0D7E1}" presName="sibTrans" presStyleLbl="sibTrans2D1" presStyleIdx="1" presStyleCnt="4" custScaleX="42499"/>
      <dgm:spPr/>
    </dgm:pt>
    <dgm:pt modelId="{DD2947D3-F52A-4748-98C4-8AFB232F4FE5}" type="pres">
      <dgm:prSet presAssocID="{DAF1D787-5061-4301-81DD-9634F6B0D7E1}" presName="connectorText" presStyleLbl="sibTrans2D1" presStyleIdx="1" presStyleCnt="4"/>
      <dgm:spPr/>
    </dgm:pt>
    <dgm:pt modelId="{D734FF8B-F5CB-4848-869B-09FFC07C5165}" type="pres">
      <dgm:prSet presAssocID="{3CB10B9F-F9DD-4D34-8BEB-F3C60DAFF631}" presName="node" presStyleLbl="node1" presStyleIdx="2" presStyleCnt="5" custScaleX="674177" custScaleY="160518">
        <dgm:presLayoutVars>
          <dgm:bulletEnabled val="1"/>
        </dgm:presLayoutVars>
      </dgm:prSet>
      <dgm:spPr/>
    </dgm:pt>
    <dgm:pt modelId="{1387BCC1-1474-4B3F-99FA-2F523A5C8124}" type="pres">
      <dgm:prSet presAssocID="{7797A12E-007D-450C-9D51-EE20FE4B72A6}" presName="sibTrans" presStyleLbl="sibTrans2D1" presStyleIdx="2" presStyleCnt="4" custScaleX="42499"/>
      <dgm:spPr/>
    </dgm:pt>
    <dgm:pt modelId="{2D367B32-F747-465D-9E23-22A5F67BE396}" type="pres">
      <dgm:prSet presAssocID="{7797A12E-007D-450C-9D51-EE20FE4B72A6}" presName="connectorText" presStyleLbl="sibTrans2D1" presStyleIdx="2" presStyleCnt="4"/>
      <dgm:spPr/>
    </dgm:pt>
    <dgm:pt modelId="{9EFAFFE6-4D7B-497D-A9EC-306B442FD70B}" type="pres">
      <dgm:prSet presAssocID="{C899F4A2-85D4-406C-A4D2-B2BD68ADD376}" presName="node" presStyleLbl="node1" presStyleIdx="3" presStyleCnt="5" custScaleX="674177" custScaleY="160518">
        <dgm:presLayoutVars>
          <dgm:bulletEnabled val="1"/>
        </dgm:presLayoutVars>
      </dgm:prSet>
      <dgm:spPr/>
    </dgm:pt>
    <dgm:pt modelId="{89022520-E799-441E-93CB-4C597305AF98}" type="pres">
      <dgm:prSet presAssocID="{F353D5B1-51CF-4AB6-8CB6-DF38961C9F8C}" presName="sibTrans" presStyleLbl="sibTrans2D1" presStyleIdx="3" presStyleCnt="4" custScaleX="42499"/>
      <dgm:spPr/>
    </dgm:pt>
    <dgm:pt modelId="{2EE0EE57-D5F8-48F1-891C-15875A70F373}" type="pres">
      <dgm:prSet presAssocID="{F353D5B1-51CF-4AB6-8CB6-DF38961C9F8C}" presName="connectorText" presStyleLbl="sibTrans2D1" presStyleIdx="3" presStyleCnt="4"/>
      <dgm:spPr/>
    </dgm:pt>
    <dgm:pt modelId="{CD0BBA60-665F-4493-8AAC-414E199D5EA8}" type="pres">
      <dgm:prSet presAssocID="{6590506D-6251-42DA-A5A6-FEE2556BB8A3}" presName="node" presStyleLbl="node1" presStyleIdx="4" presStyleCnt="5" custScaleX="674177" custScaleY="160518">
        <dgm:presLayoutVars>
          <dgm:bulletEnabled val="1"/>
        </dgm:presLayoutVars>
      </dgm:prSet>
      <dgm:spPr/>
    </dgm:pt>
  </dgm:ptLst>
  <dgm:cxnLst>
    <dgm:cxn modelId="{6283F606-16F1-4C5D-950F-A9478EC55929}" type="presOf" srcId="{1F8840B5-A2E7-47E3-8B5D-9C59B763C205}" destId="{C72DCD34-8771-4E07-8A1C-EB3AB4A8A01C}" srcOrd="1" destOrd="0" presId="urn:microsoft.com/office/officeart/2005/8/layout/process1"/>
    <dgm:cxn modelId="{F0209E17-FF10-401F-8B4D-531A1A2EDB8C}" type="presOf" srcId="{DAF1D787-5061-4301-81DD-9634F6B0D7E1}" destId="{02506587-40A2-4B82-892B-6520E484E245}" srcOrd="0" destOrd="0" presId="urn:microsoft.com/office/officeart/2005/8/layout/process1"/>
    <dgm:cxn modelId="{1612F31A-1C91-4BFA-8B6F-271F217EE2B8}" type="presOf" srcId="{7797A12E-007D-450C-9D51-EE20FE4B72A6}" destId="{2D367B32-F747-465D-9E23-22A5F67BE396}" srcOrd="1" destOrd="0" presId="urn:microsoft.com/office/officeart/2005/8/layout/process1"/>
    <dgm:cxn modelId="{B9A5C332-34CD-4844-9630-8507300D93B6}" type="presOf" srcId="{6590506D-6251-42DA-A5A6-FEE2556BB8A3}" destId="{CD0BBA60-665F-4493-8AAC-414E199D5EA8}" srcOrd="0" destOrd="0" presId="urn:microsoft.com/office/officeart/2005/8/layout/process1"/>
    <dgm:cxn modelId="{E073AA3F-3EB0-409F-8C69-F25B05EFD0E9}" type="presOf" srcId="{C8AEB45C-450A-424A-A446-32FE8F0122D4}" destId="{7E16A303-CB17-4F11-8C52-4E0B90D64082}" srcOrd="0" destOrd="0" presId="urn:microsoft.com/office/officeart/2005/8/layout/process1"/>
    <dgm:cxn modelId="{76B2AD61-8416-4E85-8153-3243696A07A1}" type="presOf" srcId="{DAF1D787-5061-4301-81DD-9634F6B0D7E1}" destId="{DD2947D3-F52A-4748-98C4-8AFB232F4FE5}" srcOrd="1" destOrd="0" presId="urn:microsoft.com/office/officeart/2005/8/layout/process1"/>
    <dgm:cxn modelId="{AE9C2243-AE79-42D0-B07C-B71E2F2A4779}" type="presOf" srcId="{3AF6AF5A-B1BD-4465-91DD-A9404F24649A}" destId="{560B2B6D-E9FF-4D64-BC49-337ABEC732CA}" srcOrd="0" destOrd="0" presId="urn:microsoft.com/office/officeart/2005/8/layout/process1"/>
    <dgm:cxn modelId="{3E817848-6BB1-4A8B-BB68-0D54ED8DDB32}" srcId="{3AF6AF5A-B1BD-4465-91DD-A9404F24649A}" destId="{FE455C0C-AA9E-4963-BF8D-E768F5BECD3C}" srcOrd="1" destOrd="0" parTransId="{36B92D3F-73EA-408E-B058-23E199AEF283}" sibTransId="{DAF1D787-5061-4301-81DD-9634F6B0D7E1}"/>
    <dgm:cxn modelId="{0CA4F648-126F-462D-8301-3C8CFFDCA29C}" srcId="{3AF6AF5A-B1BD-4465-91DD-A9404F24649A}" destId="{6590506D-6251-42DA-A5A6-FEE2556BB8A3}" srcOrd="4" destOrd="0" parTransId="{1F833FF3-5477-42AF-A50E-0A694C84A8F3}" sibTransId="{47E329DF-A537-4E17-A67B-1BA2A7BB8A8D}"/>
    <dgm:cxn modelId="{773AB569-CC6D-426E-BEA0-62202E33E278}" type="presOf" srcId="{3CB10B9F-F9DD-4D34-8BEB-F3C60DAFF631}" destId="{D734FF8B-F5CB-4848-869B-09FFC07C5165}" srcOrd="0" destOrd="0" presId="urn:microsoft.com/office/officeart/2005/8/layout/process1"/>
    <dgm:cxn modelId="{B5930E6A-CBE2-4321-AAD8-5563C8F8096E}" srcId="{3AF6AF5A-B1BD-4465-91DD-A9404F24649A}" destId="{C8AEB45C-450A-424A-A446-32FE8F0122D4}" srcOrd="0" destOrd="0" parTransId="{9B923BD6-335B-4B48-883A-A7249F869D16}" sibTransId="{1F8840B5-A2E7-47E3-8B5D-9C59B763C205}"/>
    <dgm:cxn modelId="{B3EF1D6B-9EFF-4D49-B132-22ADEEF9C7AB}" type="presOf" srcId="{C899F4A2-85D4-406C-A4D2-B2BD68ADD376}" destId="{9EFAFFE6-4D7B-497D-A9EC-306B442FD70B}" srcOrd="0" destOrd="0" presId="urn:microsoft.com/office/officeart/2005/8/layout/process1"/>
    <dgm:cxn modelId="{9551E070-ACBD-40DA-93D9-E5DC32FE4525}" srcId="{3AF6AF5A-B1BD-4465-91DD-A9404F24649A}" destId="{3CB10B9F-F9DD-4D34-8BEB-F3C60DAFF631}" srcOrd="2" destOrd="0" parTransId="{74BA634A-0DDD-4094-B519-DA9E57D30900}" sibTransId="{7797A12E-007D-450C-9D51-EE20FE4B72A6}"/>
    <dgm:cxn modelId="{50DA0497-86C2-4E2E-82F2-A03617D6D4CE}" type="presOf" srcId="{F353D5B1-51CF-4AB6-8CB6-DF38961C9F8C}" destId="{89022520-E799-441E-93CB-4C597305AF98}" srcOrd="0" destOrd="0" presId="urn:microsoft.com/office/officeart/2005/8/layout/process1"/>
    <dgm:cxn modelId="{E30F88AA-2B4D-4B37-B4AF-FE2BECFF1DB1}" type="presOf" srcId="{1F8840B5-A2E7-47E3-8B5D-9C59B763C205}" destId="{37CF87CD-ED07-4E1D-BF2B-B726D68A0C0B}" srcOrd="0" destOrd="0" presId="urn:microsoft.com/office/officeart/2005/8/layout/process1"/>
    <dgm:cxn modelId="{272FC8AD-CAE8-43EA-9439-B22F0B0C3D82}" srcId="{3AF6AF5A-B1BD-4465-91DD-A9404F24649A}" destId="{C899F4A2-85D4-406C-A4D2-B2BD68ADD376}" srcOrd="3" destOrd="0" parTransId="{6AF6F0A6-A807-42C7-A11E-E79A19282B80}" sibTransId="{F353D5B1-51CF-4AB6-8CB6-DF38961C9F8C}"/>
    <dgm:cxn modelId="{2BB833AF-45D4-4D73-A5D8-59B8E3D31E80}" type="presOf" srcId="{F353D5B1-51CF-4AB6-8CB6-DF38961C9F8C}" destId="{2EE0EE57-D5F8-48F1-891C-15875A70F373}" srcOrd="1" destOrd="0" presId="urn:microsoft.com/office/officeart/2005/8/layout/process1"/>
    <dgm:cxn modelId="{1AE180B0-8118-4C97-85B3-F77D7966E5FA}" type="presOf" srcId="{7797A12E-007D-450C-9D51-EE20FE4B72A6}" destId="{1387BCC1-1474-4B3F-99FA-2F523A5C8124}" srcOrd="0" destOrd="0" presId="urn:microsoft.com/office/officeart/2005/8/layout/process1"/>
    <dgm:cxn modelId="{3E9ADAB6-92CD-4510-ABEE-3C934D50DF09}" type="presOf" srcId="{FE455C0C-AA9E-4963-BF8D-E768F5BECD3C}" destId="{D11F5219-A841-4502-BA08-03B879E5B8D3}" srcOrd="0" destOrd="0" presId="urn:microsoft.com/office/officeart/2005/8/layout/process1"/>
    <dgm:cxn modelId="{179E7296-39B9-4B2B-A246-6AC4F3B344A2}" type="presParOf" srcId="{560B2B6D-E9FF-4D64-BC49-337ABEC732CA}" destId="{7E16A303-CB17-4F11-8C52-4E0B90D64082}" srcOrd="0" destOrd="0" presId="urn:microsoft.com/office/officeart/2005/8/layout/process1"/>
    <dgm:cxn modelId="{F77D02BE-2B62-41C6-8283-554A9EB7FFB6}" type="presParOf" srcId="{560B2B6D-E9FF-4D64-BC49-337ABEC732CA}" destId="{37CF87CD-ED07-4E1D-BF2B-B726D68A0C0B}" srcOrd="1" destOrd="0" presId="urn:microsoft.com/office/officeart/2005/8/layout/process1"/>
    <dgm:cxn modelId="{EDCDDD96-D806-43FB-9CC8-8166197872BF}" type="presParOf" srcId="{37CF87CD-ED07-4E1D-BF2B-B726D68A0C0B}" destId="{C72DCD34-8771-4E07-8A1C-EB3AB4A8A01C}" srcOrd="0" destOrd="0" presId="urn:microsoft.com/office/officeart/2005/8/layout/process1"/>
    <dgm:cxn modelId="{423DBC53-3D90-4595-B90F-C1B5E9F8C1D8}" type="presParOf" srcId="{560B2B6D-E9FF-4D64-BC49-337ABEC732CA}" destId="{D11F5219-A841-4502-BA08-03B879E5B8D3}" srcOrd="2" destOrd="0" presId="urn:microsoft.com/office/officeart/2005/8/layout/process1"/>
    <dgm:cxn modelId="{D71AE2F2-722C-4F44-8A06-C6F662F81254}" type="presParOf" srcId="{560B2B6D-E9FF-4D64-BC49-337ABEC732CA}" destId="{02506587-40A2-4B82-892B-6520E484E245}" srcOrd="3" destOrd="0" presId="urn:microsoft.com/office/officeart/2005/8/layout/process1"/>
    <dgm:cxn modelId="{D3ACDC0A-0D1D-4C9E-BBA2-A3068F7C623B}" type="presParOf" srcId="{02506587-40A2-4B82-892B-6520E484E245}" destId="{DD2947D3-F52A-4748-98C4-8AFB232F4FE5}" srcOrd="0" destOrd="0" presId="urn:microsoft.com/office/officeart/2005/8/layout/process1"/>
    <dgm:cxn modelId="{36AAE12C-3887-4E36-844D-5F2139DF4298}" type="presParOf" srcId="{560B2B6D-E9FF-4D64-BC49-337ABEC732CA}" destId="{D734FF8B-F5CB-4848-869B-09FFC07C5165}" srcOrd="4" destOrd="0" presId="urn:microsoft.com/office/officeart/2005/8/layout/process1"/>
    <dgm:cxn modelId="{85F7BB0E-C544-489F-A4D8-B6F3C8A70240}" type="presParOf" srcId="{560B2B6D-E9FF-4D64-BC49-337ABEC732CA}" destId="{1387BCC1-1474-4B3F-99FA-2F523A5C8124}" srcOrd="5" destOrd="0" presId="urn:microsoft.com/office/officeart/2005/8/layout/process1"/>
    <dgm:cxn modelId="{1AA98E95-5FC5-4063-93CE-EB92ABB1E22F}" type="presParOf" srcId="{1387BCC1-1474-4B3F-99FA-2F523A5C8124}" destId="{2D367B32-F747-465D-9E23-22A5F67BE396}" srcOrd="0" destOrd="0" presId="urn:microsoft.com/office/officeart/2005/8/layout/process1"/>
    <dgm:cxn modelId="{0FD3BAEA-8020-4BE4-A4C5-85E5647E4CF5}" type="presParOf" srcId="{560B2B6D-E9FF-4D64-BC49-337ABEC732CA}" destId="{9EFAFFE6-4D7B-497D-A9EC-306B442FD70B}" srcOrd="6" destOrd="0" presId="urn:microsoft.com/office/officeart/2005/8/layout/process1"/>
    <dgm:cxn modelId="{F578DE78-641C-4480-826A-A5599306075D}" type="presParOf" srcId="{560B2B6D-E9FF-4D64-BC49-337ABEC732CA}" destId="{89022520-E799-441E-93CB-4C597305AF98}" srcOrd="7" destOrd="0" presId="urn:microsoft.com/office/officeart/2005/8/layout/process1"/>
    <dgm:cxn modelId="{F5EC4480-31F1-4DAC-B45F-5A1C1CAC4A0D}" type="presParOf" srcId="{89022520-E799-441E-93CB-4C597305AF98}" destId="{2EE0EE57-D5F8-48F1-891C-15875A70F373}" srcOrd="0" destOrd="0" presId="urn:microsoft.com/office/officeart/2005/8/layout/process1"/>
    <dgm:cxn modelId="{DE2F692A-8A5C-4F9A-A7DD-1314E1E504C8}" type="presParOf" srcId="{560B2B6D-E9FF-4D64-BC49-337ABEC732CA}" destId="{CD0BBA60-665F-4493-8AAC-414E199D5EA8}" srcOrd="8" destOrd="0" presId="urn:microsoft.com/office/officeart/2005/8/layout/process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AF6AF5A-B1BD-4465-91DD-A9404F24649A}" type="doc">
      <dgm:prSet loTypeId="urn:microsoft.com/office/officeart/2005/8/layout/process1" loCatId="process" qsTypeId="urn:microsoft.com/office/officeart/2005/8/quickstyle/simple1" qsCatId="simple" csTypeId="urn:microsoft.com/office/officeart/2005/8/colors/accent1_2" csCatId="accent1" phldr="1"/>
      <dgm:spPr/>
    </dgm:pt>
    <dgm:pt modelId="{C8AEB45C-450A-424A-A446-32FE8F0122D4}">
      <dgm:prSet phldrT="[Text]" custT="1"/>
      <dgm:spPr>
        <a:solidFill>
          <a:srgbClr val="B1DAF5"/>
        </a:solidFill>
      </dgm:spPr>
      <dgm:t>
        <a:bodyPr/>
        <a:lstStyle/>
        <a:p>
          <a:r>
            <a:rPr lang="en-US" sz="1400">
              <a:solidFill>
                <a:schemeClr val="tx1"/>
              </a:solidFill>
            </a:rPr>
            <a:t>Nonperforming loans</a:t>
          </a:r>
        </a:p>
      </dgm:t>
    </dgm:pt>
    <dgm:pt modelId="{9B923BD6-335B-4B48-883A-A7249F869D16}" type="parTrans" cxnId="{B5930E6A-CBE2-4321-AAD8-5563C8F8096E}">
      <dgm:prSet/>
      <dgm:spPr/>
      <dgm:t>
        <a:bodyPr/>
        <a:lstStyle/>
        <a:p>
          <a:endParaRPr lang="en-US"/>
        </a:p>
      </dgm:t>
    </dgm:pt>
    <dgm:pt modelId="{1F8840B5-A2E7-47E3-8B5D-9C59B763C205}" type="sibTrans" cxnId="{B5930E6A-CBE2-4321-AAD8-5563C8F8096E}">
      <dgm:prSet/>
      <dgm:spPr>
        <a:noFill/>
      </dgm:spPr>
      <dgm:t>
        <a:bodyPr/>
        <a:lstStyle/>
        <a:p>
          <a:endParaRPr lang="en-US"/>
        </a:p>
      </dgm:t>
    </dgm:pt>
    <dgm:pt modelId="{FE455C0C-AA9E-4963-BF8D-E768F5BECD3C}">
      <dgm:prSet phldrT="[Text]" custT="1"/>
      <dgm:spPr>
        <a:solidFill>
          <a:srgbClr val="B1DAF5"/>
        </a:solidFill>
      </dgm:spPr>
      <dgm:t>
        <a:bodyPr/>
        <a:lstStyle/>
        <a:p>
          <a:r>
            <a:rPr lang="en-US" sz="1400">
              <a:solidFill>
                <a:schemeClr val="tx1"/>
              </a:solidFill>
            </a:rPr>
            <a:t>Refinancing activity</a:t>
          </a:r>
        </a:p>
      </dgm:t>
    </dgm:pt>
    <dgm:pt modelId="{DAF1D787-5061-4301-81DD-9634F6B0D7E1}" type="sibTrans" cxnId="{3E817848-6BB1-4A8B-BB68-0D54ED8DDB32}">
      <dgm:prSet/>
      <dgm:spPr>
        <a:noFill/>
      </dgm:spPr>
      <dgm:t>
        <a:bodyPr/>
        <a:lstStyle/>
        <a:p>
          <a:endParaRPr lang="en-US"/>
        </a:p>
      </dgm:t>
    </dgm:pt>
    <dgm:pt modelId="{36B92D3F-73EA-408E-B058-23E199AEF283}" type="parTrans" cxnId="{3E817848-6BB1-4A8B-BB68-0D54ED8DDB32}">
      <dgm:prSet/>
      <dgm:spPr/>
      <dgm:t>
        <a:bodyPr/>
        <a:lstStyle/>
        <a:p>
          <a:endParaRPr lang="en-US"/>
        </a:p>
      </dgm:t>
    </dgm:pt>
    <dgm:pt modelId="{3CB10B9F-F9DD-4D34-8BEB-F3C60DAFF631}">
      <dgm:prSet phldrT="[Text]" custT="1"/>
      <dgm:spPr>
        <a:solidFill>
          <a:srgbClr val="B1DAF5"/>
        </a:solidFill>
      </dgm:spPr>
      <dgm:t>
        <a:bodyPr/>
        <a:lstStyle/>
        <a:p>
          <a:r>
            <a:rPr lang="en-US" sz="1400">
              <a:solidFill>
                <a:schemeClr val="tx1"/>
              </a:solidFill>
            </a:rPr>
            <a:t>Digital payments</a:t>
          </a:r>
        </a:p>
      </dgm:t>
    </dgm:pt>
    <dgm:pt modelId="{7797A12E-007D-450C-9D51-EE20FE4B72A6}" type="sibTrans" cxnId="{9551E070-ACBD-40DA-93D9-E5DC32FE4525}">
      <dgm:prSet/>
      <dgm:spPr>
        <a:noFill/>
      </dgm:spPr>
      <dgm:t>
        <a:bodyPr/>
        <a:lstStyle/>
        <a:p>
          <a:endParaRPr lang="en-US"/>
        </a:p>
      </dgm:t>
    </dgm:pt>
    <dgm:pt modelId="{74BA634A-0DDD-4094-B519-DA9E57D30900}" type="parTrans" cxnId="{9551E070-ACBD-40DA-93D9-E5DC32FE4525}">
      <dgm:prSet/>
      <dgm:spPr/>
      <dgm:t>
        <a:bodyPr/>
        <a:lstStyle/>
        <a:p>
          <a:endParaRPr lang="en-US"/>
        </a:p>
      </dgm:t>
    </dgm:pt>
    <dgm:pt modelId="{560B2B6D-E9FF-4D64-BC49-337ABEC732CA}" type="pres">
      <dgm:prSet presAssocID="{3AF6AF5A-B1BD-4465-91DD-A9404F24649A}" presName="Name0" presStyleCnt="0">
        <dgm:presLayoutVars>
          <dgm:dir/>
          <dgm:resizeHandles val="exact"/>
        </dgm:presLayoutVars>
      </dgm:prSet>
      <dgm:spPr/>
    </dgm:pt>
    <dgm:pt modelId="{7E16A303-CB17-4F11-8C52-4E0B90D64082}" type="pres">
      <dgm:prSet presAssocID="{C8AEB45C-450A-424A-A446-32FE8F0122D4}" presName="node" presStyleLbl="node1" presStyleIdx="0" presStyleCnt="3" custScaleX="674177" custScaleY="160518">
        <dgm:presLayoutVars>
          <dgm:bulletEnabled val="1"/>
        </dgm:presLayoutVars>
      </dgm:prSet>
      <dgm:spPr/>
    </dgm:pt>
    <dgm:pt modelId="{37CF87CD-ED07-4E1D-BF2B-B726D68A0C0B}" type="pres">
      <dgm:prSet presAssocID="{1F8840B5-A2E7-47E3-8B5D-9C59B763C205}" presName="sibTrans" presStyleLbl="sibTrans2D1" presStyleIdx="0" presStyleCnt="2" custScaleX="42499"/>
      <dgm:spPr/>
    </dgm:pt>
    <dgm:pt modelId="{C72DCD34-8771-4E07-8A1C-EB3AB4A8A01C}" type="pres">
      <dgm:prSet presAssocID="{1F8840B5-A2E7-47E3-8B5D-9C59B763C205}" presName="connectorText" presStyleLbl="sibTrans2D1" presStyleIdx="0" presStyleCnt="2"/>
      <dgm:spPr/>
    </dgm:pt>
    <dgm:pt modelId="{D11F5219-A841-4502-BA08-03B879E5B8D3}" type="pres">
      <dgm:prSet presAssocID="{FE455C0C-AA9E-4963-BF8D-E768F5BECD3C}" presName="node" presStyleLbl="node1" presStyleIdx="1" presStyleCnt="3" custScaleX="674177" custScaleY="160518">
        <dgm:presLayoutVars>
          <dgm:bulletEnabled val="1"/>
        </dgm:presLayoutVars>
      </dgm:prSet>
      <dgm:spPr/>
    </dgm:pt>
    <dgm:pt modelId="{02506587-40A2-4B82-892B-6520E484E245}" type="pres">
      <dgm:prSet presAssocID="{DAF1D787-5061-4301-81DD-9634F6B0D7E1}" presName="sibTrans" presStyleLbl="sibTrans2D1" presStyleIdx="1" presStyleCnt="2" custScaleX="42499"/>
      <dgm:spPr/>
    </dgm:pt>
    <dgm:pt modelId="{DD2947D3-F52A-4748-98C4-8AFB232F4FE5}" type="pres">
      <dgm:prSet presAssocID="{DAF1D787-5061-4301-81DD-9634F6B0D7E1}" presName="connectorText" presStyleLbl="sibTrans2D1" presStyleIdx="1" presStyleCnt="2"/>
      <dgm:spPr/>
    </dgm:pt>
    <dgm:pt modelId="{D734FF8B-F5CB-4848-869B-09FFC07C5165}" type="pres">
      <dgm:prSet presAssocID="{3CB10B9F-F9DD-4D34-8BEB-F3C60DAFF631}" presName="node" presStyleLbl="node1" presStyleIdx="2" presStyleCnt="3" custScaleX="674177" custScaleY="160518">
        <dgm:presLayoutVars>
          <dgm:bulletEnabled val="1"/>
        </dgm:presLayoutVars>
      </dgm:prSet>
      <dgm:spPr/>
    </dgm:pt>
  </dgm:ptLst>
  <dgm:cxnLst>
    <dgm:cxn modelId="{6283F606-16F1-4C5D-950F-A9478EC55929}" type="presOf" srcId="{1F8840B5-A2E7-47E3-8B5D-9C59B763C205}" destId="{C72DCD34-8771-4E07-8A1C-EB3AB4A8A01C}" srcOrd="1" destOrd="0" presId="urn:microsoft.com/office/officeart/2005/8/layout/process1"/>
    <dgm:cxn modelId="{F0209E17-FF10-401F-8B4D-531A1A2EDB8C}" type="presOf" srcId="{DAF1D787-5061-4301-81DD-9634F6B0D7E1}" destId="{02506587-40A2-4B82-892B-6520E484E245}" srcOrd="0" destOrd="0" presId="urn:microsoft.com/office/officeart/2005/8/layout/process1"/>
    <dgm:cxn modelId="{E073AA3F-3EB0-409F-8C69-F25B05EFD0E9}" type="presOf" srcId="{C8AEB45C-450A-424A-A446-32FE8F0122D4}" destId="{7E16A303-CB17-4F11-8C52-4E0B90D64082}" srcOrd="0" destOrd="0" presId="urn:microsoft.com/office/officeart/2005/8/layout/process1"/>
    <dgm:cxn modelId="{76B2AD61-8416-4E85-8153-3243696A07A1}" type="presOf" srcId="{DAF1D787-5061-4301-81DD-9634F6B0D7E1}" destId="{DD2947D3-F52A-4748-98C4-8AFB232F4FE5}" srcOrd="1" destOrd="0" presId="urn:microsoft.com/office/officeart/2005/8/layout/process1"/>
    <dgm:cxn modelId="{AE9C2243-AE79-42D0-B07C-B71E2F2A4779}" type="presOf" srcId="{3AF6AF5A-B1BD-4465-91DD-A9404F24649A}" destId="{560B2B6D-E9FF-4D64-BC49-337ABEC732CA}" srcOrd="0" destOrd="0" presId="urn:microsoft.com/office/officeart/2005/8/layout/process1"/>
    <dgm:cxn modelId="{3E817848-6BB1-4A8B-BB68-0D54ED8DDB32}" srcId="{3AF6AF5A-B1BD-4465-91DD-A9404F24649A}" destId="{FE455C0C-AA9E-4963-BF8D-E768F5BECD3C}" srcOrd="1" destOrd="0" parTransId="{36B92D3F-73EA-408E-B058-23E199AEF283}" sibTransId="{DAF1D787-5061-4301-81DD-9634F6B0D7E1}"/>
    <dgm:cxn modelId="{773AB569-CC6D-426E-BEA0-62202E33E278}" type="presOf" srcId="{3CB10B9F-F9DD-4D34-8BEB-F3C60DAFF631}" destId="{D734FF8B-F5CB-4848-869B-09FFC07C5165}" srcOrd="0" destOrd="0" presId="urn:microsoft.com/office/officeart/2005/8/layout/process1"/>
    <dgm:cxn modelId="{B5930E6A-CBE2-4321-AAD8-5563C8F8096E}" srcId="{3AF6AF5A-B1BD-4465-91DD-A9404F24649A}" destId="{C8AEB45C-450A-424A-A446-32FE8F0122D4}" srcOrd="0" destOrd="0" parTransId="{9B923BD6-335B-4B48-883A-A7249F869D16}" sibTransId="{1F8840B5-A2E7-47E3-8B5D-9C59B763C205}"/>
    <dgm:cxn modelId="{9551E070-ACBD-40DA-93D9-E5DC32FE4525}" srcId="{3AF6AF5A-B1BD-4465-91DD-A9404F24649A}" destId="{3CB10B9F-F9DD-4D34-8BEB-F3C60DAFF631}" srcOrd="2" destOrd="0" parTransId="{74BA634A-0DDD-4094-B519-DA9E57D30900}" sibTransId="{7797A12E-007D-450C-9D51-EE20FE4B72A6}"/>
    <dgm:cxn modelId="{E30F88AA-2B4D-4B37-B4AF-FE2BECFF1DB1}" type="presOf" srcId="{1F8840B5-A2E7-47E3-8B5D-9C59B763C205}" destId="{37CF87CD-ED07-4E1D-BF2B-B726D68A0C0B}" srcOrd="0" destOrd="0" presId="urn:microsoft.com/office/officeart/2005/8/layout/process1"/>
    <dgm:cxn modelId="{3E9ADAB6-92CD-4510-ABEE-3C934D50DF09}" type="presOf" srcId="{FE455C0C-AA9E-4963-BF8D-E768F5BECD3C}" destId="{D11F5219-A841-4502-BA08-03B879E5B8D3}" srcOrd="0" destOrd="0" presId="urn:microsoft.com/office/officeart/2005/8/layout/process1"/>
    <dgm:cxn modelId="{179E7296-39B9-4B2B-A246-6AC4F3B344A2}" type="presParOf" srcId="{560B2B6D-E9FF-4D64-BC49-337ABEC732CA}" destId="{7E16A303-CB17-4F11-8C52-4E0B90D64082}" srcOrd="0" destOrd="0" presId="urn:microsoft.com/office/officeart/2005/8/layout/process1"/>
    <dgm:cxn modelId="{F77D02BE-2B62-41C6-8283-554A9EB7FFB6}" type="presParOf" srcId="{560B2B6D-E9FF-4D64-BC49-337ABEC732CA}" destId="{37CF87CD-ED07-4E1D-BF2B-B726D68A0C0B}" srcOrd="1" destOrd="0" presId="urn:microsoft.com/office/officeart/2005/8/layout/process1"/>
    <dgm:cxn modelId="{EDCDDD96-D806-43FB-9CC8-8166197872BF}" type="presParOf" srcId="{37CF87CD-ED07-4E1D-BF2B-B726D68A0C0B}" destId="{C72DCD34-8771-4E07-8A1C-EB3AB4A8A01C}" srcOrd="0" destOrd="0" presId="urn:microsoft.com/office/officeart/2005/8/layout/process1"/>
    <dgm:cxn modelId="{423DBC53-3D90-4595-B90F-C1B5E9F8C1D8}" type="presParOf" srcId="{560B2B6D-E9FF-4D64-BC49-337ABEC732CA}" destId="{D11F5219-A841-4502-BA08-03B879E5B8D3}" srcOrd="2" destOrd="0" presId="urn:microsoft.com/office/officeart/2005/8/layout/process1"/>
    <dgm:cxn modelId="{D71AE2F2-722C-4F44-8A06-C6F662F81254}" type="presParOf" srcId="{560B2B6D-E9FF-4D64-BC49-337ABEC732CA}" destId="{02506587-40A2-4B82-892B-6520E484E245}" srcOrd="3" destOrd="0" presId="urn:microsoft.com/office/officeart/2005/8/layout/process1"/>
    <dgm:cxn modelId="{D3ACDC0A-0D1D-4C9E-BBA2-A3068F7C623B}" type="presParOf" srcId="{02506587-40A2-4B82-892B-6520E484E245}" destId="{DD2947D3-F52A-4748-98C4-8AFB232F4FE5}" srcOrd="0" destOrd="0" presId="urn:microsoft.com/office/officeart/2005/8/layout/process1"/>
    <dgm:cxn modelId="{36AAE12C-3887-4E36-844D-5F2139DF4298}" type="presParOf" srcId="{560B2B6D-E9FF-4D64-BC49-337ABEC732CA}" destId="{D734FF8B-F5CB-4848-869B-09FFC07C5165}" srcOrd="4" destOrd="0" presId="urn:microsoft.com/office/officeart/2005/8/layout/process1"/>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1E3D1D3-59AD-4DDB-A230-06E4E6761717}" type="doc">
      <dgm:prSet loTypeId="urn:microsoft.com/office/officeart/2005/8/layout/process4" loCatId="process" qsTypeId="urn:microsoft.com/office/officeart/2005/8/quickstyle/simple2" qsCatId="simple" csTypeId="urn:microsoft.com/office/officeart/2005/8/colors/accent0_3" csCatId="mainScheme" phldr="1"/>
      <dgm:spPr/>
      <dgm:t>
        <a:bodyPr/>
        <a:lstStyle/>
        <a:p>
          <a:endParaRPr lang="en-US"/>
        </a:p>
      </dgm:t>
    </dgm:pt>
    <dgm:pt modelId="{3E0F1F98-9599-47FE-BA44-88D893D86BAC}">
      <dgm:prSet custT="1"/>
      <dgm:spPr/>
      <dgm:t>
        <a:bodyPr/>
        <a:lstStyle/>
        <a:p>
          <a:r>
            <a:rPr lang="en-US" sz="2000" b="1">
              <a:latin typeface="Calibri" panose="020F0502020204030204" pitchFamily="34" charset="0"/>
              <a:cs typeface="Calibri" panose="020F0502020204030204" pitchFamily="34" charset="0"/>
            </a:rPr>
            <a:t>Greater financial inclusion will lead to </a:t>
          </a:r>
          <a:r>
            <a:rPr lang="en-US" sz="2000">
              <a:latin typeface="Calibri" panose="020F0502020204030204" pitchFamily="34" charset="0"/>
              <a:cs typeface="Calibri" panose="020F0502020204030204" pitchFamily="34" charset="0"/>
            </a:rPr>
            <a:t>(</a:t>
          </a:r>
          <a:r>
            <a:rPr lang="en-US" sz="2000" err="1"/>
            <a:t>Demirguc-Kunt</a:t>
          </a:r>
          <a:r>
            <a:rPr lang="en-US" sz="2000"/>
            <a:t> et al. 2017</a:t>
          </a:r>
          <a:r>
            <a:rPr lang="en-US" sz="2000">
              <a:latin typeface="Calibri" panose="020F0502020204030204" pitchFamily="34" charset="0"/>
              <a:cs typeface="Calibri" panose="020F0502020204030204" pitchFamily="34" charset="0"/>
            </a:rPr>
            <a:t>)  </a:t>
          </a:r>
        </a:p>
      </dgm:t>
    </dgm:pt>
    <dgm:pt modelId="{C0434C3C-8B64-4570-9C42-5B5413139368}" type="parTrans" cxnId="{B4DF8B5F-0D18-4893-91B5-A5FE03F0FF4B}">
      <dgm:prSet/>
      <dgm:spPr/>
      <dgm:t>
        <a:bodyPr/>
        <a:lstStyle/>
        <a:p>
          <a:endParaRPr lang="en-US" sz="1400"/>
        </a:p>
      </dgm:t>
    </dgm:pt>
    <dgm:pt modelId="{30F1CF80-6E6F-4A2B-8143-56762E33B1D3}" type="sibTrans" cxnId="{B4DF8B5F-0D18-4893-91B5-A5FE03F0FF4B}">
      <dgm:prSet/>
      <dgm:spPr/>
      <dgm:t>
        <a:bodyPr/>
        <a:lstStyle/>
        <a:p>
          <a:endParaRPr lang="en-US" sz="1400"/>
        </a:p>
      </dgm:t>
    </dgm:pt>
    <dgm:pt modelId="{AC075204-C8A6-40C2-8A5D-C3BA891A2818}">
      <dgm:prSet custT="1"/>
      <dgm:spPr/>
      <dgm:t>
        <a:bodyPr/>
        <a:lstStyle/>
        <a:p>
          <a:r>
            <a:rPr lang="en-US" sz="2000" b="1">
              <a:latin typeface="Calibri" panose="020F0502020204030204" pitchFamily="34" charset="0"/>
              <a:cs typeface="Calibri" panose="020F0502020204030204" pitchFamily="34" charset="0"/>
            </a:rPr>
            <a:t>More consumption smoothing</a:t>
          </a:r>
        </a:p>
      </dgm:t>
    </dgm:pt>
    <dgm:pt modelId="{ECD7DB68-035B-4BEF-8428-BEF1694ECA95}" type="parTrans" cxnId="{B7D92946-78EE-4155-804A-993987191049}">
      <dgm:prSet/>
      <dgm:spPr/>
      <dgm:t>
        <a:bodyPr/>
        <a:lstStyle/>
        <a:p>
          <a:endParaRPr lang="en-US" sz="1400"/>
        </a:p>
      </dgm:t>
    </dgm:pt>
    <dgm:pt modelId="{9A8E31D7-E204-46D7-9A19-BB6897B003DC}" type="sibTrans" cxnId="{B7D92946-78EE-4155-804A-993987191049}">
      <dgm:prSet/>
      <dgm:spPr/>
      <dgm:t>
        <a:bodyPr/>
        <a:lstStyle/>
        <a:p>
          <a:endParaRPr lang="en-US" sz="1400"/>
        </a:p>
      </dgm:t>
    </dgm:pt>
    <dgm:pt modelId="{69B47061-2795-427A-B72D-AC0A7897EC3C}">
      <dgm:prSet custT="1"/>
      <dgm:spPr/>
      <dgm:t>
        <a:bodyPr/>
        <a:lstStyle/>
        <a:p>
          <a:r>
            <a:rPr lang="en-US" sz="2000" b="1">
              <a:latin typeface="Calibri" panose="020F0502020204030204" pitchFamily="34" charset="0"/>
              <a:cs typeface="Calibri" panose="020F0502020204030204" pitchFamily="34" charset="0"/>
            </a:rPr>
            <a:t>More savings in the form of bank deposits</a:t>
          </a:r>
        </a:p>
      </dgm:t>
    </dgm:pt>
    <dgm:pt modelId="{1AED9C90-7766-48B9-B434-636E9C93AC0C}" type="parTrans" cxnId="{73CB9343-3EE6-449D-B3D8-2A1D4D374568}">
      <dgm:prSet/>
      <dgm:spPr/>
      <dgm:t>
        <a:bodyPr/>
        <a:lstStyle/>
        <a:p>
          <a:endParaRPr lang="en-US" sz="1400"/>
        </a:p>
      </dgm:t>
    </dgm:pt>
    <dgm:pt modelId="{B613D5C3-8372-416D-AD3A-84B5075F7D94}" type="sibTrans" cxnId="{73CB9343-3EE6-449D-B3D8-2A1D4D374568}">
      <dgm:prSet/>
      <dgm:spPr/>
      <dgm:t>
        <a:bodyPr/>
        <a:lstStyle/>
        <a:p>
          <a:endParaRPr lang="en-US" sz="1400"/>
        </a:p>
      </dgm:t>
    </dgm:pt>
    <dgm:pt modelId="{2AE31D49-E5A2-46BB-8F3C-F4376827E3D5}">
      <dgm:prSet custT="1"/>
      <dgm:spPr/>
      <dgm:t>
        <a:bodyPr/>
        <a:lstStyle/>
        <a:p>
          <a:r>
            <a:rPr lang="en-US" sz="2000" b="1">
              <a:latin typeface="Calibri" panose="020F0502020204030204" pitchFamily="34" charset="0"/>
              <a:cs typeface="Calibri" panose="020F0502020204030204" pitchFamily="34" charset="0"/>
            </a:rPr>
            <a:t>Monetary policy operations will be affected along some dimensions</a:t>
          </a:r>
          <a:endParaRPr lang="en-US" sz="2000">
            <a:latin typeface="Calibri" panose="020F0502020204030204" pitchFamily="34" charset="0"/>
            <a:cs typeface="Calibri" panose="020F0502020204030204" pitchFamily="34" charset="0"/>
          </a:endParaRPr>
        </a:p>
        <a:p>
          <a:r>
            <a:rPr lang="en-US" sz="2000">
              <a:latin typeface="Calibri" panose="020F0502020204030204" pitchFamily="34" charset="0"/>
              <a:cs typeface="Calibri" panose="020F0502020204030204" pitchFamily="34" charset="0"/>
            </a:rPr>
            <a:t>(Dabla-Norris et al., 2015). </a:t>
          </a:r>
        </a:p>
      </dgm:t>
    </dgm:pt>
    <dgm:pt modelId="{F5E231B6-6F18-4260-9D22-ACFE636CF75A}" type="parTrans" cxnId="{0B48E0D8-CB4E-443E-8240-67987D0227D7}">
      <dgm:prSet/>
      <dgm:spPr/>
      <dgm:t>
        <a:bodyPr/>
        <a:lstStyle/>
        <a:p>
          <a:endParaRPr lang="en-US" sz="1400"/>
        </a:p>
      </dgm:t>
    </dgm:pt>
    <dgm:pt modelId="{A8133424-D86E-4D82-A1EE-087D81B1A45C}" type="sibTrans" cxnId="{0B48E0D8-CB4E-443E-8240-67987D0227D7}">
      <dgm:prSet/>
      <dgm:spPr/>
      <dgm:t>
        <a:bodyPr/>
        <a:lstStyle/>
        <a:p>
          <a:endParaRPr lang="en-US" sz="1400"/>
        </a:p>
      </dgm:t>
    </dgm:pt>
    <dgm:pt modelId="{8FB05D8D-9C02-4FEC-8FAD-435DF910B591}">
      <dgm:prSet custT="1"/>
      <dgm:spPr/>
      <dgm:t>
        <a:bodyPr/>
        <a:lstStyle/>
        <a:p>
          <a:r>
            <a:rPr lang="en-US" sz="2000" b="1">
              <a:latin typeface="Calibri" panose="020F0502020204030204" pitchFamily="34" charset="0"/>
              <a:cs typeface="Calibri" panose="020F0502020204030204" pitchFamily="34" charset="0"/>
            </a:rPr>
            <a:t>Smaller interest rate adjustments needed in response to shocks</a:t>
          </a:r>
        </a:p>
      </dgm:t>
    </dgm:pt>
    <dgm:pt modelId="{3111511F-9A96-4C7B-9102-D43BEF7E0303}" type="parTrans" cxnId="{C1A12409-2096-4105-BF3C-362A65B61AA8}">
      <dgm:prSet/>
      <dgm:spPr/>
      <dgm:t>
        <a:bodyPr/>
        <a:lstStyle/>
        <a:p>
          <a:endParaRPr lang="en-US" sz="1400"/>
        </a:p>
      </dgm:t>
    </dgm:pt>
    <dgm:pt modelId="{8D84E4DD-A963-4134-85F2-BD830BB108D6}" type="sibTrans" cxnId="{C1A12409-2096-4105-BF3C-362A65B61AA8}">
      <dgm:prSet/>
      <dgm:spPr/>
      <dgm:t>
        <a:bodyPr/>
        <a:lstStyle/>
        <a:p>
          <a:endParaRPr lang="en-US" sz="1400"/>
        </a:p>
      </dgm:t>
    </dgm:pt>
    <dgm:pt modelId="{886698B8-4669-4E3C-905F-46BB2A93670D}">
      <dgm:prSet custT="1"/>
      <dgm:spPr/>
      <dgm:t>
        <a:bodyPr/>
        <a:lstStyle/>
        <a:p>
          <a:r>
            <a:rPr lang="en-US" sz="2000" b="1">
              <a:latin typeface="Calibri" panose="020F0502020204030204" pitchFamily="34" charset="0"/>
              <a:cs typeface="Calibri" panose="020F0502020204030204" pitchFamily="34" charset="0"/>
            </a:rPr>
            <a:t>Stronger case for using interest rates as the primary policy tool  </a:t>
          </a:r>
        </a:p>
      </dgm:t>
    </dgm:pt>
    <dgm:pt modelId="{C1C8760A-22E9-429F-95D7-7073F4E8397E}" type="parTrans" cxnId="{B6E318F9-E70D-477E-ABBA-3B0D865397F1}">
      <dgm:prSet/>
      <dgm:spPr/>
      <dgm:t>
        <a:bodyPr/>
        <a:lstStyle/>
        <a:p>
          <a:endParaRPr lang="en-US" sz="1400"/>
        </a:p>
      </dgm:t>
    </dgm:pt>
    <dgm:pt modelId="{D6D09BF3-41F9-40A6-9ABC-7B55A7ECF03F}" type="sibTrans" cxnId="{B6E318F9-E70D-477E-ABBA-3B0D865397F1}">
      <dgm:prSet/>
      <dgm:spPr/>
      <dgm:t>
        <a:bodyPr/>
        <a:lstStyle/>
        <a:p>
          <a:endParaRPr lang="en-US" sz="1400"/>
        </a:p>
      </dgm:t>
    </dgm:pt>
    <dgm:pt modelId="{5B181C43-D766-436B-8BF9-72DA5A7F6A42}" type="pres">
      <dgm:prSet presAssocID="{11E3D1D3-59AD-4DDB-A230-06E4E6761717}" presName="Name0" presStyleCnt="0">
        <dgm:presLayoutVars>
          <dgm:dir/>
          <dgm:animLvl val="lvl"/>
          <dgm:resizeHandles val="exact"/>
        </dgm:presLayoutVars>
      </dgm:prSet>
      <dgm:spPr/>
    </dgm:pt>
    <dgm:pt modelId="{30BAAF48-05BD-446D-9786-5DD1BC3767B3}" type="pres">
      <dgm:prSet presAssocID="{2AE31D49-E5A2-46BB-8F3C-F4376827E3D5}" presName="boxAndChildren" presStyleCnt="0"/>
      <dgm:spPr/>
    </dgm:pt>
    <dgm:pt modelId="{ADD42EA2-49E8-4FB5-AC11-403E11201C15}" type="pres">
      <dgm:prSet presAssocID="{2AE31D49-E5A2-46BB-8F3C-F4376827E3D5}" presName="parentTextBox" presStyleLbl="node1" presStyleIdx="0" presStyleCnt="2"/>
      <dgm:spPr/>
    </dgm:pt>
    <dgm:pt modelId="{C6537FB4-120F-4DC9-BEAA-6F4458FA57AA}" type="pres">
      <dgm:prSet presAssocID="{2AE31D49-E5A2-46BB-8F3C-F4376827E3D5}" presName="entireBox" presStyleLbl="node1" presStyleIdx="0" presStyleCnt="2"/>
      <dgm:spPr/>
    </dgm:pt>
    <dgm:pt modelId="{41E690B8-54BB-4BF6-A103-883CB3EE64F3}" type="pres">
      <dgm:prSet presAssocID="{2AE31D49-E5A2-46BB-8F3C-F4376827E3D5}" presName="descendantBox" presStyleCnt="0"/>
      <dgm:spPr/>
    </dgm:pt>
    <dgm:pt modelId="{8975551A-0CC5-49DF-80E6-731C6BFE509F}" type="pres">
      <dgm:prSet presAssocID="{8FB05D8D-9C02-4FEC-8FAD-435DF910B591}" presName="childTextBox" presStyleLbl="fgAccFollowNode1" presStyleIdx="0" presStyleCnt="4">
        <dgm:presLayoutVars>
          <dgm:bulletEnabled val="1"/>
        </dgm:presLayoutVars>
      </dgm:prSet>
      <dgm:spPr/>
    </dgm:pt>
    <dgm:pt modelId="{BB45DBBF-49B7-4DDB-880D-A3EA43967C0B}" type="pres">
      <dgm:prSet presAssocID="{886698B8-4669-4E3C-905F-46BB2A93670D}" presName="childTextBox" presStyleLbl="fgAccFollowNode1" presStyleIdx="1" presStyleCnt="4">
        <dgm:presLayoutVars>
          <dgm:bulletEnabled val="1"/>
        </dgm:presLayoutVars>
      </dgm:prSet>
      <dgm:spPr/>
    </dgm:pt>
    <dgm:pt modelId="{D8A1C40F-13CF-4B09-AA82-E964F6C46D4B}" type="pres">
      <dgm:prSet presAssocID="{30F1CF80-6E6F-4A2B-8143-56762E33B1D3}" presName="sp" presStyleCnt="0"/>
      <dgm:spPr/>
    </dgm:pt>
    <dgm:pt modelId="{74DC8D52-6797-4ACE-BD21-CAE330F1FA3A}" type="pres">
      <dgm:prSet presAssocID="{3E0F1F98-9599-47FE-BA44-88D893D86BAC}" presName="arrowAndChildren" presStyleCnt="0"/>
      <dgm:spPr/>
    </dgm:pt>
    <dgm:pt modelId="{FEC7959A-F739-4FBB-BD9E-A5520869E04A}" type="pres">
      <dgm:prSet presAssocID="{3E0F1F98-9599-47FE-BA44-88D893D86BAC}" presName="parentTextArrow" presStyleLbl="node1" presStyleIdx="0" presStyleCnt="2"/>
      <dgm:spPr/>
    </dgm:pt>
    <dgm:pt modelId="{BC0E4AF2-8BF7-44C2-BCFD-486131CBC72C}" type="pres">
      <dgm:prSet presAssocID="{3E0F1F98-9599-47FE-BA44-88D893D86BAC}" presName="arrow" presStyleLbl="node1" presStyleIdx="1" presStyleCnt="2" custScaleY="63217" custLinFactNeighborY="568"/>
      <dgm:spPr/>
    </dgm:pt>
    <dgm:pt modelId="{C6D64960-9289-4798-89AC-008198FA3AE4}" type="pres">
      <dgm:prSet presAssocID="{3E0F1F98-9599-47FE-BA44-88D893D86BAC}" presName="descendantArrow" presStyleCnt="0"/>
      <dgm:spPr/>
    </dgm:pt>
    <dgm:pt modelId="{1513BFF5-A8F9-4D7C-9659-3871B665A5F5}" type="pres">
      <dgm:prSet presAssocID="{AC075204-C8A6-40C2-8A5D-C3BA891A2818}" presName="childTextArrow" presStyleLbl="fgAccFollowNode1" presStyleIdx="2" presStyleCnt="4">
        <dgm:presLayoutVars>
          <dgm:bulletEnabled val="1"/>
        </dgm:presLayoutVars>
      </dgm:prSet>
      <dgm:spPr/>
    </dgm:pt>
    <dgm:pt modelId="{2618C736-1678-4669-8EC3-0AFAF8390FCE}" type="pres">
      <dgm:prSet presAssocID="{69B47061-2795-427A-B72D-AC0A7897EC3C}" presName="childTextArrow" presStyleLbl="fgAccFollowNode1" presStyleIdx="3" presStyleCnt="4">
        <dgm:presLayoutVars>
          <dgm:bulletEnabled val="1"/>
        </dgm:presLayoutVars>
      </dgm:prSet>
      <dgm:spPr/>
    </dgm:pt>
  </dgm:ptLst>
  <dgm:cxnLst>
    <dgm:cxn modelId="{C1A12409-2096-4105-BF3C-362A65B61AA8}" srcId="{2AE31D49-E5A2-46BB-8F3C-F4376827E3D5}" destId="{8FB05D8D-9C02-4FEC-8FAD-435DF910B591}" srcOrd="0" destOrd="0" parTransId="{3111511F-9A96-4C7B-9102-D43BEF7E0303}" sibTransId="{8D84E4DD-A963-4134-85F2-BD830BB108D6}"/>
    <dgm:cxn modelId="{B254EE28-26E5-457D-821C-1BE15C2D4FD2}" type="presOf" srcId="{3E0F1F98-9599-47FE-BA44-88D893D86BAC}" destId="{BC0E4AF2-8BF7-44C2-BCFD-486131CBC72C}" srcOrd="1" destOrd="0" presId="urn:microsoft.com/office/officeart/2005/8/layout/process4"/>
    <dgm:cxn modelId="{E0AE0130-457B-4E7A-9366-0E3FD8CB8B52}" type="presOf" srcId="{11E3D1D3-59AD-4DDB-A230-06E4E6761717}" destId="{5B181C43-D766-436B-8BF9-72DA5A7F6A42}" srcOrd="0" destOrd="0" presId="urn:microsoft.com/office/officeart/2005/8/layout/process4"/>
    <dgm:cxn modelId="{B4DF8B5F-0D18-4893-91B5-A5FE03F0FF4B}" srcId="{11E3D1D3-59AD-4DDB-A230-06E4E6761717}" destId="{3E0F1F98-9599-47FE-BA44-88D893D86BAC}" srcOrd="0" destOrd="0" parTransId="{C0434C3C-8B64-4570-9C42-5B5413139368}" sibTransId="{30F1CF80-6E6F-4A2B-8143-56762E33B1D3}"/>
    <dgm:cxn modelId="{C87A2161-6176-4662-98D2-B679D226B47A}" type="presOf" srcId="{3E0F1F98-9599-47FE-BA44-88D893D86BAC}" destId="{FEC7959A-F739-4FBB-BD9E-A5520869E04A}" srcOrd="0" destOrd="0" presId="urn:microsoft.com/office/officeart/2005/8/layout/process4"/>
    <dgm:cxn modelId="{73CB9343-3EE6-449D-B3D8-2A1D4D374568}" srcId="{3E0F1F98-9599-47FE-BA44-88D893D86BAC}" destId="{69B47061-2795-427A-B72D-AC0A7897EC3C}" srcOrd="1" destOrd="0" parTransId="{1AED9C90-7766-48B9-B434-636E9C93AC0C}" sibTransId="{B613D5C3-8372-416D-AD3A-84B5075F7D94}"/>
    <dgm:cxn modelId="{B7D92946-78EE-4155-804A-993987191049}" srcId="{3E0F1F98-9599-47FE-BA44-88D893D86BAC}" destId="{AC075204-C8A6-40C2-8A5D-C3BA891A2818}" srcOrd="0" destOrd="0" parTransId="{ECD7DB68-035B-4BEF-8428-BEF1694ECA95}" sibTransId="{9A8E31D7-E204-46D7-9A19-BB6897B003DC}"/>
    <dgm:cxn modelId="{2CB3BA79-AE00-4811-B811-7A3551AA66DE}" type="presOf" srcId="{69B47061-2795-427A-B72D-AC0A7897EC3C}" destId="{2618C736-1678-4669-8EC3-0AFAF8390FCE}" srcOrd="0" destOrd="0" presId="urn:microsoft.com/office/officeart/2005/8/layout/process4"/>
    <dgm:cxn modelId="{25626F7D-7DD1-4CCE-BE69-52FE7B943BC6}" type="presOf" srcId="{AC075204-C8A6-40C2-8A5D-C3BA891A2818}" destId="{1513BFF5-A8F9-4D7C-9659-3871B665A5F5}" srcOrd="0" destOrd="0" presId="urn:microsoft.com/office/officeart/2005/8/layout/process4"/>
    <dgm:cxn modelId="{FB06AD83-D56F-484A-9301-ECA901FBF8F2}" type="presOf" srcId="{2AE31D49-E5A2-46BB-8F3C-F4376827E3D5}" destId="{C6537FB4-120F-4DC9-BEAA-6F4458FA57AA}" srcOrd="1" destOrd="0" presId="urn:microsoft.com/office/officeart/2005/8/layout/process4"/>
    <dgm:cxn modelId="{80178984-AC4E-461F-9FB6-A648BB681FE3}" type="presOf" srcId="{886698B8-4669-4E3C-905F-46BB2A93670D}" destId="{BB45DBBF-49B7-4DDB-880D-A3EA43967C0B}" srcOrd="0" destOrd="0" presId="urn:microsoft.com/office/officeart/2005/8/layout/process4"/>
    <dgm:cxn modelId="{2D3BBDA9-A608-4162-B003-5FBF10154C20}" type="presOf" srcId="{2AE31D49-E5A2-46BB-8F3C-F4376827E3D5}" destId="{ADD42EA2-49E8-4FB5-AC11-403E11201C15}" srcOrd="0" destOrd="0" presId="urn:microsoft.com/office/officeart/2005/8/layout/process4"/>
    <dgm:cxn modelId="{745D8AD5-8C3B-47C0-B919-492F34BB9E90}" type="presOf" srcId="{8FB05D8D-9C02-4FEC-8FAD-435DF910B591}" destId="{8975551A-0CC5-49DF-80E6-731C6BFE509F}" srcOrd="0" destOrd="0" presId="urn:microsoft.com/office/officeart/2005/8/layout/process4"/>
    <dgm:cxn modelId="{0B48E0D8-CB4E-443E-8240-67987D0227D7}" srcId="{11E3D1D3-59AD-4DDB-A230-06E4E6761717}" destId="{2AE31D49-E5A2-46BB-8F3C-F4376827E3D5}" srcOrd="1" destOrd="0" parTransId="{F5E231B6-6F18-4260-9D22-ACFE636CF75A}" sibTransId="{A8133424-D86E-4D82-A1EE-087D81B1A45C}"/>
    <dgm:cxn modelId="{B6E318F9-E70D-477E-ABBA-3B0D865397F1}" srcId="{2AE31D49-E5A2-46BB-8F3C-F4376827E3D5}" destId="{886698B8-4669-4E3C-905F-46BB2A93670D}" srcOrd="1" destOrd="0" parTransId="{C1C8760A-22E9-429F-95D7-7073F4E8397E}" sibTransId="{D6D09BF3-41F9-40A6-9ABC-7B55A7ECF03F}"/>
    <dgm:cxn modelId="{11F96A34-B86D-4CF3-B316-DE6C74D7072B}" type="presParOf" srcId="{5B181C43-D766-436B-8BF9-72DA5A7F6A42}" destId="{30BAAF48-05BD-446D-9786-5DD1BC3767B3}" srcOrd="0" destOrd="0" presId="urn:microsoft.com/office/officeart/2005/8/layout/process4"/>
    <dgm:cxn modelId="{80666B80-4C66-40EC-9A59-E5F325C5B1D8}" type="presParOf" srcId="{30BAAF48-05BD-446D-9786-5DD1BC3767B3}" destId="{ADD42EA2-49E8-4FB5-AC11-403E11201C15}" srcOrd="0" destOrd="0" presId="urn:microsoft.com/office/officeart/2005/8/layout/process4"/>
    <dgm:cxn modelId="{86E72F90-B212-4E28-9D39-88C0AAC3A09C}" type="presParOf" srcId="{30BAAF48-05BD-446D-9786-5DD1BC3767B3}" destId="{C6537FB4-120F-4DC9-BEAA-6F4458FA57AA}" srcOrd="1" destOrd="0" presId="urn:microsoft.com/office/officeart/2005/8/layout/process4"/>
    <dgm:cxn modelId="{F31626F2-15F7-455A-BE3A-BC99340AEE86}" type="presParOf" srcId="{30BAAF48-05BD-446D-9786-5DD1BC3767B3}" destId="{41E690B8-54BB-4BF6-A103-883CB3EE64F3}" srcOrd="2" destOrd="0" presId="urn:microsoft.com/office/officeart/2005/8/layout/process4"/>
    <dgm:cxn modelId="{0D3D19F1-E5AC-44A8-BC05-4345C2103287}" type="presParOf" srcId="{41E690B8-54BB-4BF6-A103-883CB3EE64F3}" destId="{8975551A-0CC5-49DF-80E6-731C6BFE509F}" srcOrd="0" destOrd="0" presId="urn:microsoft.com/office/officeart/2005/8/layout/process4"/>
    <dgm:cxn modelId="{1B817C71-03F8-42FE-B46C-A62532B426FA}" type="presParOf" srcId="{41E690B8-54BB-4BF6-A103-883CB3EE64F3}" destId="{BB45DBBF-49B7-4DDB-880D-A3EA43967C0B}" srcOrd="1" destOrd="0" presId="urn:microsoft.com/office/officeart/2005/8/layout/process4"/>
    <dgm:cxn modelId="{D94D1E7B-F7CE-44AB-95E7-69FBD856F9F8}" type="presParOf" srcId="{5B181C43-D766-436B-8BF9-72DA5A7F6A42}" destId="{D8A1C40F-13CF-4B09-AA82-E964F6C46D4B}" srcOrd="1" destOrd="0" presId="urn:microsoft.com/office/officeart/2005/8/layout/process4"/>
    <dgm:cxn modelId="{62CC11D2-6EF6-470B-8EE6-38704276925B}" type="presParOf" srcId="{5B181C43-D766-436B-8BF9-72DA5A7F6A42}" destId="{74DC8D52-6797-4ACE-BD21-CAE330F1FA3A}" srcOrd="2" destOrd="0" presId="urn:microsoft.com/office/officeart/2005/8/layout/process4"/>
    <dgm:cxn modelId="{40B13C87-640D-4DCB-99F7-D83150F6A510}" type="presParOf" srcId="{74DC8D52-6797-4ACE-BD21-CAE330F1FA3A}" destId="{FEC7959A-F739-4FBB-BD9E-A5520869E04A}" srcOrd="0" destOrd="0" presId="urn:microsoft.com/office/officeart/2005/8/layout/process4"/>
    <dgm:cxn modelId="{F2676D90-4A6A-4021-9762-717CDA18441F}" type="presParOf" srcId="{74DC8D52-6797-4ACE-BD21-CAE330F1FA3A}" destId="{BC0E4AF2-8BF7-44C2-BCFD-486131CBC72C}" srcOrd="1" destOrd="0" presId="urn:microsoft.com/office/officeart/2005/8/layout/process4"/>
    <dgm:cxn modelId="{11BF31EF-C14D-4CE2-9B3E-965B39F387CB}" type="presParOf" srcId="{74DC8D52-6797-4ACE-BD21-CAE330F1FA3A}" destId="{C6D64960-9289-4798-89AC-008198FA3AE4}" srcOrd="2" destOrd="0" presId="urn:microsoft.com/office/officeart/2005/8/layout/process4"/>
    <dgm:cxn modelId="{6F9E4B4A-3CD8-434D-9E72-1E4C993B4859}" type="presParOf" srcId="{C6D64960-9289-4798-89AC-008198FA3AE4}" destId="{1513BFF5-A8F9-4D7C-9659-3871B665A5F5}" srcOrd="0" destOrd="0" presId="urn:microsoft.com/office/officeart/2005/8/layout/process4"/>
    <dgm:cxn modelId="{D22315D4-4D14-41F6-AB1E-DFDB6A47D467}" type="presParOf" srcId="{C6D64960-9289-4798-89AC-008198FA3AE4}" destId="{2618C736-1678-4669-8EC3-0AFAF8390FCE}" srcOrd="1"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8928EE-B28D-4E7A-ACF3-E26D54C2703A}">
      <dsp:nvSpPr>
        <dsp:cNvPr id="0" name=""/>
        <dsp:cNvSpPr/>
      </dsp:nvSpPr>
      <dsp:spPr>
        <a:xfrm>
          <a:off x="2095215" y="0"/>
          <a:ext cx="1787271" cy="1787453"/>
        </a:xfrm>
        <a:prstGeom prst="circularArrow">
          <a:avLst>
            <a:gd name="adj1" fmla="val 10980"/>
            <a:gd name="adj2" fmla="val 1142322"/>
            <a:gd name="adj3" fmla="val 4500000"/>
            <a:gd name="adj4" fmla="val 10800000"/>
            <a:gd name="adj5" fmla="val 12500"/>
          </a:avLst>
        </a:prstGeom>
        <a:solidFill>
          <a:schemeClr val="accent1">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DE59F1-1322-4D6B-87A0-122A8E202D99}">
      <dsp:nvSpPr>
        <dsp:cNvPr id="0" name=""/>
        <dsp:cNvSpPr/>
      </dsp:nvSpPr>
      <dsp:spPr>
        <a:xfrm>
          <a:off x="2489816" y="647009"/>
          <a:ext cx="997398" cy="498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Manage everyday expenses</a:t>
          </a:r>
        </a:p>
      </dsp:txBody>
      <dsp:txXfrm>
        <a:off x="2489816" y="647009"/>
        <a:ext cx="997398" cy="498647"/>
      </dsp:txXfrm>
    </dsp:sp>
    <dsp:sp modelId="{3970F203-CD3B-4DD6-8590-6C0FD95698E7}">
      <dsp:nvSpPr>
        <dsp:cNvPr id="0" name=""/>
        <dsp:cNvSpPr/>
      </dsp:nvSpPr>
      <dsp:spPr>
        <a:xfrm>
          <a:off x="1598694" y="1027157"/>
          <a:ext cx="1787271" cy="1787453"/>
        </a:xfrm>
        <a:prstGeom prst="leftCircularArrow">
          <a:avLst>
            <a:gd name="adj1" fmla="val 10980"/>
            <a:gd name="adj2" fmla="val 1142322"/>
            <a:gd name="adj3" fmla="val 6300000"/>
            <a:gd name="adj4" fmla="val 18900000"/>
            <a:gd name="adj5" fmla="val 12500"/>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68B734-25B4-46D0-831D-6F901DFAEA3E}">
      <dsp:nvSpPr>
        <dsp:cNvPr id="0" name=""/>
        <dsp:cNvSpPr/>
      </dsp:nvSpPr>
      <dsp:spPr>
        <a:xfrm>
          <a:off x="1991284" y="1676063"/>
          <a:ext cx="997398" cy="498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Withstand and recover from shocks</a:t>
          </a:r>
        </a:p>
      </dsp:txBody>
      <dsp:txXfrm>
        <a:off x="1991284" y="1676063"/>
        <a:ext cx="997398" cy="498647"/>
      </dsp:txXfrm>
    </dsp:sp>
    <dsp:sp modelId="{312EAF99-9AF2-426B-8F1C-D1CC145A17F7}">
      <dsp:nvSpPr>
        <dsp:cNvPr id="0" name=""/>
        <dsp:cNvSpPr/>
      </dsp:nvSpPr>
      <dsp:spPr>
        <a:xfrm>
          <a:off x="2095215" y="2058107"/>
          <a:ext cx="1787271" cy="1787453"/>
        </a:xfrm>
        <a:prstGeom prst="circularArrow">
          <a:avLst>
            <a:gd name="adj1" fmla="val 10980"/>
            <a:gd name="adj2" fmla="val 1142322"/>
            <a:gd name="adj3" fmla="val 4500000"/>
            <a:gd name="adj4" fmla="val 13500000"/>
            <a:gd name="adj5" fmla="val 12500"/>
          </a:avLst>
        </a:prstGeom>
        <a:solidFill>
          <a:srgbClr val="004C9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D3C19C-9F7B-4AC4-855D-46E55354AF57}">
      <dsp:nvSpPr>
        <dsp:cNvPr id="0" name=""/>
        <dsp:cNvSpPr/>
      </dsp:nvSpPr>
      <dsp:spPr>
        <a:xfrm>
          <a:off x="2362448" y="2705117"/>
          <a:ext cx="1252134" cy="498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Progress towards financial goals</a:t>
          </a:r>
        </a:p>
      </dsp:txBody>
      <dsp:txXfrm>
        <a:off x="2362448" y="2705117"/>
        <a:ext cx="1252134" cy="498647"/>
      </dsp:txXfrm>
    </dsp:sp>
    <dsp:sp modelId="{322CD0B7-D4BA-4B31-9F12-F0F4D1D63771}">
      <dsp:nvSpPr>
        <dsp:cNvPr id="0" name=""/>
        <dsp:cNvSpPr/>
      </dsp:nvSpPr>
      <dsp:spPr>
        <a:xfrm>
          <a:off x="1726093" y="3203765"/>
          <a:ext cx="1535491" cy="1536233"/>
        </a:xfrm>
        <a:prstGeom prst="blockArc">
          <a:avLst>
            <a:gd name="adj1" fmla="val 0"/>
            <a:gd name="adj2" fmla="val 18900000"/>
            <a:gd name="adj3" fmla="val 12740"/>
          </a:avLst>
        </a:prstGeom>
        <a:solidFill>
          <a:srgbClr val="B1DAF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32EFDD-9417-44C4-8F27-0E1B6D485195}">
      <dsp:nvSpPr>
        <dsp:cNvPr id="0" name=""/>
        <dsp:cNvSpPr/>
      </dsp:nvSpPr>
      <dsp:spPr>
        <a:xfrm>
          <a:off x="1991284" y="3734171"/>
          <a:ext cx="997398" cy="4986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Exercise control and feel secure about finances</a:t>
          </a:r>
        </a:p>
      </dsp:txBody>
      <dsp:txXfrm>
        <a:off x="1991284" y="3734171"/>
        <a:ext cx="997398" cy="4986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16A303-CB17-4F11-8C52-4E0B90D64082}">
      <dsp:nvSpPr>
        <dsp:cNvPr id="0" name=""/>
        <dsp:cNvSpPr/>
      </dsp:nvSpPr>
      <dsp:spPr>
        <a:xfrm>
          <a:off x="3415" y="0"/>
          <a:ext cx="1278910" cy="6895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Liquid assets, such as cash and deposits</a:t>
          </a:r>
        </a:p>
      </dsp:txBody>
      <dsp:txXfrm>
        <a:off x="23610" y="20195"/>
        <a:ext cx="1238520" cy="649121"/>
      </dsp:txXfrm>
    </dsp:sp>
    <dsp:sp modelId="{37CF87CD-ED07-4E1D-BF2B-B726D68A0C0B}">
      <dsp:nvSpPr>
        <dsp:cNvPr id="0" name=""/>
        <dsp:cNvSpPr/>
      </dsp:nvSpPr>
      <dsp:spPr>
        <a:xfrm>
          <a:off x="1312858" y="321232"/>
          <a:ext cx="17091" cy="47045"/>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12858" y="330641"/>
        <a:ext cx="11964" cy="28227"/>
      </dsp:txXfrm>
    </dsp:sp>
    <dsp:sp modelId="{D11F5219-A841-4502-BA08-03B879E5B8D3}">
      <dsp:nvSpPr>
        <dsp:cNvPr id="0" name=""/>
        <dsp:cNvSpPr/>
      </dsp:nvSpPr>
      <dsp:spPr>
        <a:xfrm>
          <a:off x="1358206" y="0"/>
          <a:ext cx="1278910" cy="6895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Wages and salaries</a:t>
          </a:r>
        </a:p>
      </dsp:txBody>
      <dsp:txXfrm>
        <a:off x="1378401" y="20195"/>
        <a:ext cx="1238520" cy="649121"/>
      </dsp:txXfrm>
    </dsp:sp>
    <dsp:sp modelId="{02506587-40A2-4B82-892B-6520E484E245}">
      <dsp:nvSpPr>
        <dsp:cNvPr id="0" name=""/>
        <dsp:cNvSpPr/>
      </dsp:nvSpPr>
      <dsp:spPr>
        <a:xfrm>
          <a:off x="2667649" y="321232"/>
          <a:ext cx="17091" cy="47045"/>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67649" y="330641"/>
        <a:ext cx="11964" cy="28227"/>
      </dsp:txXfrm>
    </dsp:sp>
    <dsp:sp modelId="{D734FF8B-F5CB-4848-869B-09FFC07C5165}">
      <dsp:nvSpPr>
        <dsp:cNvPr id="0" name=""/>
        <dsp:cNvSpPr/>
      </dsp:nvSpPr>
      <dsp:spPr>
        <a:xfrm>
          <a:off x="2712996" y="0"/>
          <a:ext cx="1278910" cy="6895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Gross disposable income</a:t>
          </a:r>
        </a:p>
      </dsp:txBody>
      <dsp:txXfrm>
        <a:off x="2733191" y="20195"/>
        <a:ext cx="1238520" cy="649121"/>
      </dsp:txXfrm>
    </dsp:sp>
    <dsp:sp modelId="{1387BCC1-1474-4B3F-99FA-2F523A5C8124}">
      <dsp:nvSpPr>
        <dsp:cNvPr id="0" name=""/>
        <dsp:cNvSpPr/>
      </dsp:nvSpPr>
      <dsp:spPr>
        <a:xfrm>
          <a:off x="4022439" y="321232"/>
          <a:ext cx="17091" cy="47045"/>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22439" y="330641"/>
        <a:ext cx="11964" cy="28227"/>
      </dsp:txXfrm>
    </dsp:sp>
    <dsp:sp modelId="{9EFAFFE6-4D7B-497D-A9EC-306B442FD70B}">
      <dsp:nvSpPr>
        <dsp:cNvPr id="0" name=""/>
        <dsp:cNvSpPr/>
      </dsp:nvSpPr>
      <dsp:spPr>
        <a:xfrm>
          <a:off x="4067787" y="0"/>
          <a:ext cx="1278910" cy="6895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Debt service payments</a:t>
          </a:r>
        </a:p>
      </dsp:txBody>
      <dsp:txXfrm>
        <a:off x="4087982" y="20195"/>
        <a:ext cx="1238520" cy="649121"/>
      </dsp:txXfrm>
    </dsp:sp>
    <dsp:sp modelId="{89022520-E799-441E-93CB-4C597305AF98}">
      <dsp:nvSpPr>
        <dsp:cNvPr id="0" name=""/>
        <dsp:cNvSpPr/>
      </dsp:nvSpPr>
      <dsp:spPr>
        <a:xfrm>
          <a:off x="5377230" y="321232"/>
          <a:ext cx="17091" cy="47045"/>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77230" y="330641"/>
        <a:ext cx="11964" cy="28227"/>
      </dsp:txXfrm>
    </dsp:sp>
    <dsp:sp modelId="{CD0BBA60-665F-4493-8AAC-414E199D5EA8}">
      <dsp:nvSpPr>
        <dsp:cNvPr id="0" name=""/>
        <dsp:cNvSpPr/>
      </dsp:nvSpPr>
      <dsp:spPr>
        <a:xfrm>
          <a:off x="5422577" y="0"/>
          <a:ext cx="1278910" cy="6895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Financial assets, such as debt securities</a:t>
          </a:r>
        </a:p>
      </dsp:txBody>
      <dsp:txXfrm>
        <a:off x="5442772" y="20195"/>
        <a:ext cx="1238520" cy="6491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16A303-CB17-4F11-8C52-4E0B90D64082}">
      <dsp:nvSpPr>
        <dsp:cNvPr id="0" name=""/>
        <dsp:cNvSpPr/>
      </dsp:nvSpPr>
      <dsp:spPr>
        <a:xfrm>
          <a:off x="3415" y="0"/>
          <a:ext cx="1278910" cy="689511"/>
        </a:xfrm>
        <a:prstGeom prst="roundRect">
          <a:avLst>
            <a:gd name="adj" fmla="val 10000"/>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Household savings</a:t>
          </a:r>
        </a:p>
      </dsp:txBody>
      <dsp:txXfrm>
        <a:off x="23610" y="20195"/>
        <a:ext cx="1238520" cy="649121"/>
      </dsp:txXfrm>
    </dsp:sp>
    <dsp:sp modelId="{37CF87CD-ED07-4E1D-BF2B-B726D68A0C0B}">
      <dsp:nvSpPr>
        <dsp:cNvPr id="0" name=""/>
        <dsp:cNvSpPr/>
      </dsp:nvSpPr>
      <dsp:spPr>
        <a:xfrm>
          <a:off x="1312858" y="321232"/>
          <a:ext cx="17091" cy="47045"/>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12858" y="330641"/>
        <a:ext cx="11964" cy="28227"/>
      </dsp:txXfrm>
    </dsp:sp>
    <dsp:sp modelId="{D11F5219-A841-4502-BA08-03B879E5B8D3}">
      <dsp:nvSpPr>
        <dsp:cNvPr id="0" name=""/>
        <dsp:cNvSpPr/>
      </dsp:nvSpPr>
      <dsp:spPr>
        <a:xfrm>
          <a:off x="1358206" y="0"/>
          <a:ext cx="1278910" cy="689511"/>
        </a:xfrm>
        <a:prstGeom prst="roundRect">
          <a:avLst>
            <a:gd name="adj" fmla="val 10000"/>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Current transfers, such as tax credits</a:t>
          </a:r>
        </a:p>
      </dsp:txBody>
      <dsp:txXfrm>
        <a:off x="1378401" y="20195"/>
        <a:ext cx="1238520" cy="649121"/>
      </dsp:txXfrm>
    </dsp:sp>
    <dsp:sp modelId="{02506587-40A2-4B82-892B-6520E484E245}">
      <dsp:nvSpPr>
        <dsp:cNvPr id="0" name=""/>
        <dsp:cNvSpPr/>
      </dsp:nvSpPr>
      <dsp:spPr>
        <a:xfrm>
          <a:off x="2667649" y="321232"/>
          <a:ext cx="17091" cy="47045"/>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67649" y="330641"/>
        <a:ext cx="11964" cy="28227"/>
      </dsp:txXfrm>
    </dsp:sp>
    <dsp:sp modelId="{D734FF8B-F5CB-4848-869B-09FFC07C5165}">
      <dsp:nvSpPr>
        <dsp:cNvPr id="0" name=""/>
        <dsp:cNvSpPr/>
      </dsp:nvSpPr>
      <dsp:spPr>
        <a:xfrm>
          <a:off x="2712996" y="0"/>
          <a:ext cx="1278910" cy="689511"/>
        </a:xfrm>
        <a:prstGeom prst="roundRect">
          <a:avLst>
            <a:gd name="adj" fmla="val 10000"/>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Insurance, such as medical and life plans</a:t>
          </a:r>
        </a:p>
      </dsp:txBody>
      <dsp:txXfrm>
        <a:off x="2733191" y="20195"/>
        <a:ext cx="1238520" cy="649121"/>
      </dsp:txXfrm>
    </dsp:sp>
    <dsp:sp modelId="{1387BCC1-1474-4B3F-99FA-2F523A5C8124}">
      <dsp:nvSpPr>
        <dsp:cNvPr id="0" name=""/>
        <dsp:cNvSpPr/>
      </dsp:nvSpPr>
      <dsp:spPr>
        <a:xfrm>
          <a:off x="4022439" y="321232"/>
          <a:ext cx="17091" cy="47045"/>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22439" y="330641"/>
        <a:ext cx="11964" cy="28227"/>
      </dsp:txXfrm>
    </dsp:sp>
    <dsp:sp modelId="{9EFAFFE6-4D7B-497D-A9EC-306B442FD70B}">
      <dsp:nvSpPr>
        <dsp:cNvPr id="0" name=""/>
        <dsp:cNvSpPr/>
      </dsp:nvSpPr>
      <dsp:spPr>
        <a:xfrm>
          <a:off x="4067787" y="0"/>
          <a:ext cx="1278910" cy="689511"/>
        </a:xfrm>
        <a:prstGeom prst="roundRect">
          <a:avLst>
            <a:gd name="adj" fmla="val 10000"/>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Short-term credit</a:t>
          </a:r>
        </a:p>
      </dsp:txBody>
      <dsp:txXfrm>
        <a:off x="4087982" y="20195"/>
        <a:ext cx="1238520" cy="649121"/>
      </dsp:txXfrm>
    </dsp:sp>
    <dsp:sp modelId="{89022520-E799-441E-93CB-4C597305AF98}">
      <dsp:nvSpPr>
        <dsp:cNvPr id="0" name=""/>
        <dsp:cNvSpPr/>
      </dsp:nvSpPr>
      <dsp:spPr>
        <a:xfrm>
          <a:off x="5377230" y="321232"/>
          <a:ext cx="17091" cy="47045"/>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77230" y="330641"/>
        <a:ext cx="11964" cy="28227"/>
      </dsp:txXfrm>
    </dsp:sp>
    <dsp:sp modelId="{CD0BBA60-665F-4493-8AAC-414E199D5EA8}">
      <dsp:nvSpPr>
        <dsp:cNvPr id="0" name=""/>
        <dsp:cNvSpPr/>
      </dsp:nvSpPr>
      <dsp:spPr>
        <a:xfrm>
          <a:off x="5422577" y="0"/>
          <a:ext cx="1278910" cy="689511"/>
        </a:xfrm>
        <a:prstGeom prst="roundRect">
          <a:avLst>
            <a:gd name="adj" fmla="val 10000"/>
          </a:avLst>
        </a:prstGeom>
        <a:solidFill>
          <a:srgbClr val="7F7F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Net worth</a:t>
          </a:r>
          <a:endParaRPr lang="en-US" sz="1100" kern="1200"/>
        </a:p>
      </dsp:txBody>
      <dsp:txXfrm>
        <a:off x="5442772" y="20195"/>
        <a:ext cx="1238520" cy="64912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16A303-CB17-4F11-8C52-4E0B90D64082}">
      <dsp:nvSpPr>
        <dsp:cNvPr id="0" name=""/>
        <dsp:cNvSpPr/>
      </dsp:nvSpPr>
      <dsp:spPr>
        <a:xfrm>
          <a:off x="3392" y="0"/>
          <a:ext cx="1270422" cy="902176"/>
        </a:xfrm>
        <a:prstGeom prst="roundRect">
          <a:avLst>
            <a:gd name="adj" fmla="val 10000"/>
          </a:avLst>
        </a:prstGeom>
        <a:solidFill>
          <a:srgbClr val="004C9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Nonfinancial assets, such as real estate</a:t>
          </a:r>
        </a:p>
      </dsp:txBody>
      <dsp:txXfrm>
        <a:off x="29816" y="26424"/>
        <a:ext cx="1217574" cy="849328"/>
      </dsp:txXfrm>
    </dsp:sp>
    <dsp:sp modelId="{37CF87CD-ED07-4E1D-BF2B-B726D68A0C0B}">
      <dsp:nvSpPr>
        <dsp:cNvPr id="0" name=""/>
        <dsp:cNvSpPr/>
      </dsp:nvSpPr>
      <dsp:spPr>
        <a:xfrm>
          <a:off x="1304144" y="427721"/>
          <a:ext cx="16978" cy="46733"/>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04144" y="437068"/>
        <a:ext cx="11885" cy="28039"/>
      </dsp:txXfrm>
    </dsp:sp>
    <dsp:sp modelId="{D11F5219-A841-4502-BA08-03B879E5B8D3}">
      <dsp:nvSpPr>
        <dsp:cNvPr id="0" name=""/>
        <dsp:cNvSpPr/>
      </dsp:nvSpPr>
      <dsp:spPr>
        <a:xfrm>
          <a:off x="1349191" y="0"/>
          <a:ext cx="1270422" cy="902176"/>
        </a:xfrm>
        <a:prstGeom prst="roundRect">
          <a:avLst>
            <a:gd name="adj" fmla="val 10000"/>
          </a:avLst>
        </a:prstGeom>
        <a:solidFill>
          <a:srgbClr val="004C9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Household debt, including mortgage</a:t>
          </a:r>
        </a:p>
      </dsp:txBody>
      <dsp:txXfrm>
        <a:off x="1375615" y="26424"/>
        <a:ext cx="1217574" cy="849328"/>
      </dsp:txXfrm>
    </dsp:sp>
    <dsp:sp modelId="{02506587-40A2-4B82-892B-6520E484E245}">
      <dsp:nvSpPr>
        <dsp:cNvPr id="0" name=""/>
        <dsp:cNvSpPr/>
      </dsp:nvSpPr>
      <dsp:spPr>
        <a:xfrm>
          <a:off x="2649943" y="427721"/>
          <a:ext cx="16978" cy="46733"/>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49943" y="437068"/>
        <a:ext cx="11885" cy="28039"/>
      </dsp:txXfrm>
    </dsp:sp>
    <dsp:sp modelId="{D734FF8B-F5CB-4848-869B-09FFC07C5165}">
      <dsp:nvSpPr>
        <dsp:cNvPr id="0" name=""/>
        <dsp:cNvSpPr/>
      </dsp:nvSpPr>
      <dsp:spPr>
        <a:xfrm>
          <a:off x="2694989" y="0"/>
          <a:ext cx="1270422" cy="902176"/>
        </a:xfrm>
        <a:prstGeom prst="roundRect">
          <a:avLst>
            <a:gd name="adj" fmla="val 10000"/>
          </a:avLst>
        </a:prstGeom>
        <a:solidFill>
          <a:srgbClr val="004C9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Credit card use and balances</a:t>
          </a:r>
        </a:p>
      </dsp:txBody>
      <dsp:txXfrm>
        <a:off x="2721413" y="26424"/>
        <a:ext cx="1217574" cy="849328"/>
      </dsp:txXfrm>
    </dsp:sp>
    <dsp:sp modelId="{1387BCC1-1474-4B3F-99FA-2F523A5C8124}">
      <dsp:nvSpPr>
        <dsp:cNvPr id="0" name=""/>
        <dsp:cNvSpPr/>
      </dsp:nvSpPr>
      <dsp:spPr>
        <a:xfrm>
          <a:off x="3995741" y="427721"/>
          <a:ext cx="16978" cy="46733"/>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95741" y="437068"/>
        <a:ext cx="11885" cy="28039"/>
      </dsp:txXfrm>
    </dsp:sp>
    <dsp:sp modelId="{9EFAFFE6-4D7B-497D-A9EC-306B442FD70B}">
      <dsp:nvSpPr>
        <dsp:cNvPr id="0" name=""/>
        <dsp:cNvSpPr/>
      </dsp:nvSpPr>
      <dsp:spPr>
        <a:xfrm>
          <a:off x="4040788" y="0"/>
          <a:ext cx="1270422" cy="902176"/>
        </a:xfrm>
        <a:prstGeom prst="roundRect">
          <a:avLst>
            <a:gd name="adj" fmla="val 10000"/>
          </a:avLst>
        </a:prstGeom>
        <a:solidFill>
          <a:srgbClr val="004C9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Foreign exchange assets and liabilities</a:t>
          </a:r>
        </a:p>
      </dsp:txBody>
      <dsp:txXfrm>
        <a:off x="4067212" y="26424"/>
        <a:ext cx="1217574" cy="849328"/>
      </dsp:txXfrm>
    </dsp:sp>
    <dsp:sp modelId="{89022520-E799-441E-93CB-4C597305AF98}">
      <dsp:nvSpPr>
        <dsp:cNvPr id="0" name=""/>
        <dsp:cNvSpPr/>
      </dsp:nvSpPr>
      <dsp:spPr>
        <a:xfrm>
          <a:off x="5341540" y="427721"/>
          <a:ext cx="16978" cy="46733"/>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41540" y="437068"/>
        <a:ext cx="11885" cy="28039"/>
      </dsp:txXfrm>
    </dsp:sp>
    <dsp:sp modelId="{CD0BBA60-665F-4493-8AAC-414E199D5EA8}">
      <dsp:nvSpPr>
        <dsp:cNvPr id="0" name=""/>
        <dsp:cNvSpPr/>
      </dsp:nvSpPr>
      <dsp:spPr>
        <a:xfrm>
          <a:off x="5386586" y="0"/>
          <a:ext cx="1270422" cy="902176"/>
        </a:xfrm>
        <a:prstGeom prst="roundRect">
          <a:avLst>
            <a:gd name="adj" fmla="val 10000"/>
          </a:avLst>
        </a:prstGeom>
        <a:solidFill>
          <a:srgbClr val="004C9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Insurance,</a:t>
          </a:r>
        </a:p>
        <a:p>
          <a:pPr marL="0" lvl="0" indent="0" algn="ctr" defTabSz="622300">
            <a:lnSpc>
              <a:spcPct val="90000"/>
            </a:lnSpc>
            <a:spcBef>
              <a:spcPct val="0"/>
            </a:spcBef>
            <a:spcAft>
              <a:spcPct val="35000"/>
            </a:spcAft>
            <a:buNone/>
          </a:pPr>
          <a:r>
            <a:rPr lang="en-US" sz="1400" kern="1200"/>
            <a:t>Pensions</a:t>
          </a:r>
          <a:endParaRPr lang="en-US" sz="1100" kern="1200"/>
        </a:p>
      </dsp:txBody>
      <dsp:txXfrm>
        <a:off x="5413010" y="26424"/>
        <a:ext cx="1217574" cy="84932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16A303-CB17-4F11-8C52-4E0B90D64082}">
      <dsp:nvSpPr>
        <dsp:cNvPr id="0" name=""/>
        <dsp:cNvSpPr/>
      </dsp:nvSpPr>
      <dsp:spPr>
        <a:xfrm>
          <a:off x="4353" y="0"/>
          <a:ext cx="2147136" cy="689511"/>
        </a:xfrm>
        <a:prstGeom prst="roundRect">
          <a:avLst>
            <a:gd name="adj" fmla="val 10000"/>
          </a:avLst>
        </a:prstGeom>
        <a:solidFill>
          <a:srgbClr val="B1DAF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Nonperforming loans</a:t>
          </a:r>
        </a:p>
      </dsp:txBody>
      <dsp:txXfrm>
        <a:off x="24548" y="20195"/>
        <a:ext cx="2106746" cy="649121"/>
      </dsp:txXfrm>
    </dsp:sp>
    <dsp:sp modelId="{37CF87CD-ED07-4E1D-BF2B-B726D68A0C0B}">
      <dsp:nvSpPr>
        <dsp:cNvPr id="0" name=""/>
        <dsp:cNvSpPr/>
      </dsp:nvSpPr>
      <dsp:spPr>
        <a:xfrm>
          <a:off x="2202750" y="305263"/>
          <a:ext cx="28694" cy="78983"/>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02750" y="321060"/>
        <a:ext cx="20086" cy="47389"/>
      </dsp:txXfrm>
    </dsp:sp>
    <dsp:sp modelId="{D11F5219-A841-4502-BA08-03B879E5B8D3}">
      <dsp:nvSpPr>
        <dsp:cNvPr id="0" name=""/>
        <dsp:cNvSpPr/>
      </dsp:nvSpPr>
      <dsp:spPr>
        <a:xfrm>
          <a:off x="2278883" y="0"/>
          <a:ext cx="2147136" cy="689511"/>
        </a:xfrm>
        <a:prstGeom prst="roundRect">
          <a:avLst>
            <a:gd name="adj" fmla="val 10000"/>
          </a:avLst>
        </a:prstGeom>
        <a:solidFill>
          <a:srgbClr val="B1DAF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Refinancing activity</a:t>
          </a:r>
        </a:p>
      </dsp:txBody>
      <dsp:txXfrm>
        <a:off x="2299078" y="20195"/>
        <a:ext cx="2106746" cy="649121"/>
      </dsp:txXfrm>
    </dsp:sp>
    <dsp:sp modelId="{02506587-40A2-4B82-892B-6520E484E245}">
      <dsp:nvSpPr>
        <dsp:cNvPr id="0" name=""/>
        <dsp:cNvSpPr/>
      </dsp:nvSpPr>
      <dsp:spPr>
        <a:xfrm>
          <a:off x="4477280" y="305263"/>
          <a:ext cx="28694" cy="78983"/>
        </a:xfrm>
        <a:prstGeom prst="rightArrow">
          <a:avLst>
            <a:gd name="adj1" fmla="val 60000"/>
            <a:gd name="adj2" fmla="val 50000"/>
          </a:avLst>
        </a:prstGeom>
        <a:no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77280" y="321060"/>
        <a:ext cx="20086" cy="47389"/>
      </dsp:txXfrm>
    </dsp:sp>
    <dsp:sp modelId="{D734FF8B-F5CB-4848-869B-09FFC07C5165}">
      <dsp:nvSpPr>
        <dsp:cNvPr id="0" name=""/>
        <dsp:cNvSpPr/>
      </dsp:nvSpPr>
      <dsp:spPr>
        <a:xfrm>
          <a:off x="4553413" y="0"/>
          <a:ext cx="2147136" cy="689511"/>
        </a:xfrm>
        <a:prstGeom prst="roundRect">
          <a:avLst>
            <a:gd name="adj" fmla="val 10000"/>
          </a:avLst>
        </a:prstGeom>
        <a:solidFill>
          <a:srgbClr val="B1DAF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solidFill>
                <a:schemeClr val="tx1"/>
              </a:solidFill>
            </a:rPr>
            <a:t>Digital payments</a:t>
          </a:r>
        </a:p>
      </dsp:txBody>
      <dsp:txXfrm>
        <a:off x="4573608" y="20195"/>
        <a:ext cx="2106746" cy="64912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537FB4-120F-4DC9-BEAA-6F4458FA57AA}">
      <dsp:nvSpPr>
        <dsp:cNvPr id="0" name=""/>
        <dsp:cNvSpPr/>
      </dsp:nvSpPr>
      <dsp:spPr>
        <a:xfrm>
          <a:off x="0" y="1991730"/>
          <a:ext cx="9122748" cy="2079905"/>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a:latin typeface="Calibri" panose="020F0502020204030204" pitchFamily="34" charset="0"/>
              <a:cs typeface="Calibri" panose="020F0502020204030204" pitchFamily="34" charset="0"/>
            </a:rPr>
            <a:t>Monetary policy operations will be affected along some dimensions</a:t>
          </a:r>
          <a:endParaRPr lang="en-US" sz="2000" kern="1200">
            <a:latin typeface="Calibri" panose="020F0502020204030204" pitchFamily="34" charset="0"/>
            <a:cs typeface="Calibri" panose="020F0502020204030204" pitchFamily="34" charset="0"/>
          </a:endParaRPr>
        </a:p>
        <a:p>
          <a:pPr marL="0" lvl="0" indent="0" algn="ctr" defTabSz="889000">
            <a:lnSpc>
              <a:spcPct val="90000"/>
            </a:lnSpc>
            <a:spcBef>
              <a:spcPct val="0"/>
            </a:spcBef>
            <a:spcAft>
              <a:spcPct val="35000"/>
            </a:spcAft>
            <a:buNone/>
          </a:pPr>
          <a:r>
            <a:rPr lang="en-US" sz="2000" kern="1200">
              <a:latin typeface="Calibri" panose="020F0502020204030204" pitchFamily="34" charset="0"/>
              <a:cs typeface="Calibri" panose="020F0502020204030204" pitchFamily="34" charset="0"/>
            </a:rPr>
            <a:t>(Dabla-Norris et al., 2015). </a:t>
          </a:r>
        </a:p>
      </dsp:txBody>
      <dsp:txXfrm>
        <a:off x="0" y="1991730"/>
        <a:ext cx="9122748" cy="1123148"/>
      </dsp:txXfrm>
    </dsp:sp>
    <dsp:sp modelId="{8975551A-0CC5-49DF-80E6-731C6BFE509F}">
      <dsp:nvSpPr>
        <dsp:cNvPr id="0" name=""/>
        <dsp:cNvSpPr/>
      </dsp:nvSpPr>
      <dsp:spPr>
        <a:xfrm>
          <a:off x="0" y="3073280"/>
          <a:ext cx="4561374" cy="956756"/>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b="1" kern="1200">
              <a:latin typeface="Calibri" panose="020F0502020204030204" pitchFamily="34" charset="0"/>
              <a:cs typeface="Calibri" panose="020F0502020204030204" pitchFamily="34" charset="0"/>
            </a:rPr>
            <a:t>Smaller interest rate adjustments needed in response to shocks</a:t>
          </a:r>
        </a:p>
      </dsp:txBody>
      <dsp:txXfrm>
        <a:off x="0" y="3073280"/>
        <a:ext cx="4561374" cy="956756"/>
      </dsp:txXfrm>
    </dsp:sp>
    <dsp:sp modelId="{BB45DBBF-49B7-4DDB-880D-A3EA43967C0B}">
      <dsp:nvSpPr>
        <dsp:cNvPr id="0" name=""/>
        <dsp:cNvSpPr/>
      </dsp:nvSpPr>
      <dsp:spPr>
        <a:xfrm>
          <a:off x="4561374" y="3073280"/>
          <a:ext cx="4561374" cy="956756"/>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b="1" kern="1200">
              <a:latin typeface="Calibri" panose="020F0502020204030204" pitchFamily="34" charset="0"/>
              <a:cs typeface="Calibri" panose="020F0502020204030204" pitchFamily="34" charset="0"/>
            </a:rPr>
            <a:t>Stronger case for using interest rates as the primary policy tool  </a:t>
          </a:r>
        </a:p>
      </dsp:txBody>
      <dsp:txXfrm>
        <a:off x="4561374" y="3073280"/>
        <a:ext cx="4561374" cy="956756"/>
      </dsp:txXfrm>
    </dsp:sp>
    <dsp:sp modelId="{BC0E4AF2-8BF7-44C2-BCFD-486131CBC72C}">
      <dsp:nvSpPr>
        <dsp:cNvPr id="0" name=""/>
        <dsp:cNvSpPr/>
      </dsp:nvSpPr>
      <dsp:spPr>
        <a:xfrm rot="10800000">
          <a:off x="0" y="18853"/>
          <a:ext cx="9122748" cy="2022244"/>
        </a:xfrm>
        <a:prstGeom prst="upArrowCallou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a:latin typeface="Calibri" panose="020F0502020204030204" pitchFamily="34" charset="0"/>
              <a:cs typeface="Calibri" panose="020F0502020204030204" pitchFamily="34" charset="0"/>
            </a:rPr>
            <a:t>Greater financial inclusion will lead to </a:t>
          </a:r>
          <a:r>
            <a:rPr lang="en-US" sz="2000" kern="1200">
              <a:latin typeface="Calibri" panose="020F0502020204030204" pitchFamily="34" charset="0"/>
              <a:cs typeface="Calibri" panose="020F0502020204030204" pitchFamily="34" charset="0"/>
            </a:rPr>
            <a:t>(</a:t>
          </a:r>
          <a:r>
            <a:rPr lang="en-US" sz="2000" kern="1200" err="1"/>
            <a:t>Demirguc-Kunt</a:t>
          </a:r>
          <a:r>
            <a:rPr lang="en-US" sz="2000" kern="1200"/>
            <a:t> et al. 2017</a:t>
          </a:r>
          <a:r>
            <a:rPr lang="en-US" sz="2000" kern="1200">
              <a:latin typeface="Calibri" panose="020F0502020204030204" pitchFamily="34" charset="0"/>
              <a:cs typeface="Calibri" panose="020F0502020204030204" pitchFamily="34" charset="0"/>
            </a:rPr>
            <a:t>)  </a:t>
          </a:r>
        </a:p>
      </dsp:txBody>
      <dsp:txXfrm rot="-10800000">
        <a:off x="0" y="18853"/>
        <a:ext cx="9122748" cy="709807"/>
      </dsp:txXfrm>
    </dsp:sp>
    <dsp:sp modelId="{1513BFF5-A8F9-4D7C-9659-3871B665A5F5}">
      <dsp:nvSpPr>
        <dsp:cNvPr id="0" name=""/>
        <dsp:cNvSpPr/>
      </dsp:nvSpPr>
      <dsp:spPr>
        <a:xfrm>
          <a:off x="0" y="535171"/>
          <a:ext cx="4561374" cy="956469"/>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b="1" kern="1200">
              <a:latin typeface="Calibri" panose="020F0502020204030204" pitchFamily="34" charset="0"/>
              <a:cs typeface="Calibri" panose="020F0502020204030204" pitchFamily="34" charset="0"/>
            </a:rPr>
            <a:t>More consumption smoothing</a:t>
          </a:r>
        </a:p>
      </dsp:txBody>
      <dsp:txXfrm>
        <a:off x="0" y="535171"/>
        <a:ext cx="4561374" cy="956469"/>
      </dsp:txXfrm>
    </dsp:sp>
    <dsp:sp modelId="{2618C736-1678-4669-8EC3-0AFAF8390FCE}">
      <dsp:nvSpPr>
        <dsp:cNvPr id="0" name=""/>
        <dsp:cNvSpPr/>
      </dsp:nvSpPr>
      <dsp:spPr>
        <a:xfrm>
          <a:off x="4561374" y="535171"/>
          <a:ext cx="4561374" cy="956469"/>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b="1" kern="1200">
              <a:latin typeface="Calibri" panose="020F0502020204030204" pitchFamily="34" charset="0"/>
              <a:cs typeface="Calibri" panose="020F0502020204030204" pitchFamily="34" charset="0"/>
            </a:rPr>
            <a:t>More savings in the form of bank deposits</a:t>
          </a:r>
        </a:p>
      </dsp:txBody>
      <dsp:txXfrm>
        <a:off x="4561374" y="535171"/>
        <a:ext cx="4561374" cy="956469"/>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CB1EEBDA-FE96-4E48-8CFE-AB828A3FD182}" type="datetimeFigureOut">
              <a:rPr lang="en-US" smtClean="0"/>
              <a:t>5/25/2026</a:t>
            </a:fld>
            <a:endParaRPr lang="en-US"/>
          </a:p>
        </p:txBody>
      </p:sp>
      <p:sp>
        <p:nvSpPr>
          <p:cNvPr id="4" name="Slide Image Placeholder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24" tIns="46662" rIns="93324" bIns="46662" rtlCol="0" anchor="ctr"/>
          <a:lstStyle/>
          <a:p>
            <a:endParaRPr lang="en-US"/>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0CE0291A-65D5-4A8A-8F74-A48209598798}" type="slidenum">
              <a:rPr lang="en-US" smtClean="0"/>
              <a:t>‹#›</a:t>
            </a:fld>
            <a:endParaRPr lang="en-US"/>
          </a:p>
        </p:txBody>
      </p:sp>
    </p:spTree>
    <p:extLst>
      <p:ext uri="{BB962C8B-B14F-4D97-AF65-F5344CB8AC3E}">
        <p14:creationId xmlns:p14="http://schemas.microsoft.com/office/powerpoint/2010/main" val="2063095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14" rtl="0" eaLnBrk="1" fontAlgn="auto" latinLnBrk="0" hangingPunct="1">
              <a:lnSpc>
                <a:spcPct val="100000"/>
              </a:lnSpc>
              <a:spcBef>
                <a:spcPts val="0"/>
              </a:spcBef>
              <a:spcAft>
                <a:spcPts val="0"/>
              </a:spcAft>
              <a:buClrTx/>
              <a:buSzTx/>
              <a:buFontTx/>
              <a:buNone/>
              <a:tabLst/>
              <a:defRPr/>
            </a:pPr>
            <a:fld id="{361B9B78-73FE-4DA1-81AD-EEA68D15F9C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14"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92128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b="1" dirty="0"/>
              <a:t>High quality: </a:t>
            </a:r>
            <a:r>
              <a:rPr lang="en-US" dirty="0"/>
              <a:t>Focuses on providing financial services that meet consumer needs in a reliable, timely, and satisfactory manner.</a:t>
            </a:r>
            <a:endParaRPr lang="en-US" b="1" dirty="0"/>
          </a:p>
          <a:p>
            <a:endParaRPr lang="en-US" b="1" dirty="0"/>
          </a:p>
          <a:p>
            <a:r>
              <a:rPr lang="en-US" b="1" dirty="0"/>
              <a:t>Supporting users’ financial literacy:</a:t>
            </a:r>
            <a:r>
              <a:rPr lang="en-US" dirty="0"/>
              <a:t> Empowers consumers with the knowledge to make </a:t>
            </a:r>
            <a:r>
              <a:rPr lang="en-US" b="1" dirty="0"/>
              <a:t>informed decisions, </a:t>
            </a:r>
          </a:p>
          <a:p>
            <a:r>
              <a:rPr lang="en-US" b="1" dirty="0"/>
              <a:t>Protecting users, </a:t>
            </a:r>
            <a:r>
              <a:rPr lang="en-US" dirty="0"/>
              <a:t>Ensures </a:t>
            </a:r>
            <a:r>
              <a:rPr lang="en-US" b="1" dirty="0"/>
              <a:t>fair treatment of consumers by financial service providers</a:t>
            </a:r>
            <a:r>
              <a:rPr lang="en-US" dirty="0"/>
              <a:t>, protecting them </a:t>
            </a:r>
          </a:p>
          <a:p>
            <a:r>
              <a:rPr lang="en-US" dirty="0"/>
              <a:t>from harm or exploitation through: </a:t>
            </a:r>
            <a:r>
              <a:rPr lang="en-US" b="1" dirty="0"/>
              <a:t>Transparency, Privacy and data protection, and Grievance redressal mechanisms</a:t>
            </a:r>
            <a:r>
              <a:rPr lang="en-US" dirty="0"/>
              <a:t>. </a:t>
            </a:r>
            <a:endParaRPr lang="en-US" b="1" dirty="0"/>
          </a:p>
          <a:p>
            <a:endParaRPr lang="en-US" b="1" dirty="0"/>
          </a:p>
          <a:p>
            <a:r>
              <a:rPr lang="en-US" b="1" dirty="0"/>
              <a:t>Affordable by f</a:t>
            </a:r>
            <a:r>
              <a:rPr lang="en-US" dirty="0"/>
              <a:t>ocusing on ensuring the cost of accessing and using financial services is </a:t>
            </a:r>
            <a:r>
              <a:rPr lang="en-US" b="1" dirty="0"/>
              <a:t>properly priced</a:t>
            </a:r>
          </a:p>
          <a:p>
            <a:endParaRPr lang="en-US" b="1" dirty="0"/>
          </a:p>
          <a:p>
            <a:endParaRPr lang="en-US" dirty="0"/>
          </a:p>
        </p:txBody>
      </p:sp>
      <p:sp>
        <p:nvSpPr>
          <p:cNvPr id="4" name="Date Placeholder 3"/>
          <p:cNvSpPr>
            <a:spLocks noGrp="1"/>
          </p:cNvSpPr>
          <p:nvPr>
            <p:ph type="dt" idx="1"/>
          </p:nvPr>
        </p:nvSpPr>
        <p:spPr/>
        <p:txBody>
          <a:bodyPr/>
          <a:lstStyle/>
          <a:p>
            <a:fld id="{49E4E862-E263-8B4A-AFB5-DFAAA754BCA9}" type="datetime1">
              <a:rPr lang="en-US" smtClean="0"/>
              <a:t>5/25/2026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2</a:t>
            </a:fld>
            <a:endParaRPr lang="en-US"/>
          </a:p>
        </p:txBody>
      </p:sp>
    </p:spTree>
    <p:extLst>
      <p:ext uri="{BB962C8B-B14F-4D97-AF65-F5344CB8AC3E}">
        <p14:creationId xmlns:p14="http://schemas.microsoft.com/office/powerpoint/2010/main" val="19173444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financial inclusion, the outcome of “good financial inclusion and policies, enabling inclusive growth</a:t>
            </a:r>
          </a:p>
          <a:p>
            <a:r>
              <a:rPr lang="en-US" dirty="0"/>
              <a:t>Complex task to acquire data.</a:t>
            </a:r>
          </a:p>
          <a:p>
            <a:r>
              <a:rPr lang="en-US" dirty="0"/>
              <a:t>From a macroeconomic perspective we see value on supply-side data t support such measurement</a:t>
            </a:r>
          </a:p>
          <a:p>
            <a:endParaRPr lang="en-US" dirty="0"/>
          </a:p>
          <a:p>
            <a:r>
              <a:rPr lang="en-US" dirty="0"/>
              <a:t>Compiling complementary data bases, FAS, FSIs and MFS HH sector</a:t>
            </a:r>
          </a:p>
          <a:p>
            <a:r>
              <a:rPr lang="en-US" dirty="0"/>
              <a:t>+ Developing new data dimensions</a:t>
            </a:r>
          </a:p>
        </p:txBody>
      </p:sp>
      <p:sp>
        <p:nvSpPr>
          <p:cNvPr id="4" name="Slide Number Placeholder 3"/>
          <p:cNvSpPr>
            <a:spLocks noGrp="1"/>
          </p:cNvSpPr>
          <p:nvPr>
            <p:ph type="sldNum" sz="quarter" idx="5"/>
          </p:nvPr>
        </p:nvSpPr>
        <p:spPr/>
        <p:txBody>
          <a:bodyPr/>
          <a:lstStyle/>
          <a:p>
            <a:fld id="{0CE0291A-65D5-4A8A-8F74-A48209598798}" type="slidenum">
              <a:rPr lang="en-US" smtClean="0"/>
              <a:t>3</a:t>
            </a:fld>
            <a:endParaRPr lang="en-US"/>
          </a:p>
        </p:txBody>
      </p:sp>
    </p:spTree>
    <p:extLst>
      <p:ext uri="{BB962C8B-B14F-4D97-AF65-F5344CB8AC3E}">
        <p14:creationId xmlns:p14="http://schemas.microsoft.com/office/powerpoint/2010/main" val="2807058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F8591-AF5D-97CD-0131-68BB44CE2F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361FCB-30AD-F95A-6781-5ABB476A53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617552-D622-51FC-D25F-447FFF31BD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7B81BFC-6749-5E39-30A5-DABFD74C359E}"/>
              </a:ext>
            </a:extLst>
          </p:cNvPr>
          <p:cNvSpPr>
            <a:spLocks noGrp="1"/>
          </p:cNvSpPr>
          <p:nvPr>
            <p:ph type="sldNum" sz="quarter" idx="5"/>
          </p:nvPr>
        </p:nvSpPr>
        <p:spPr/>
        <p:txBody>
          <a:bodyPr/>
          <a:lstStyle/>
          <a:p>
            <a:fld id="{0CE0291A-65D5-4A8A-8F74-A48209598798}" type="slidenum">
              <a:rPr lang="en-US" smtClean="0"/>
              <a:t>4</a:t>
            </a:fld>
            <a:endParaRPr lang="en-US"/>
          </a:p>
        </p:txBody>
      </p:sp>
    </p:spTree>
    <p:extLst>
      <p:ext uri="{BB962C8B-B14F-4D97-AF65-F5344CB8AC3E}">
        <p14:creationId xmlns:p14="http://schemas.microsoft.com/office/powerpoint/2010/main" val="128398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Inclusive growth. The concept of inclusive growth is founded on the principle that wealth generation, economic liberty, and equal chances can coexist (Agarwal R.). The OECD (2018) describes it as growth that is evenly distributed throughout society.</a:t>
            </a:r>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E4E862-E263-8B4A-AFB5-DFAAA754BCA9}" type="datetime1">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5/26/2026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49F774-CCF9-492C-9AEB-F2814D4A662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5373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US" b="1" i="0" dirty="0">
                <a:effectLst/>
                <a:latin typeface="Arial" panose="020B0604020202020204" pitchFamily="34" charset="0"/>
              </a:rPr>
              <a:t>Target social spending: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b="1" i="0" dirty="0">
                <a:effectLst/>
                <a:latin typeface="Arial" panose="020B0604020202020204" pitchFamily="34" charset="0"/>
              </a:rPr>
              <a:t>Direct Transfers</a:t>
            </a:r>
            <a:r>
              <a:rPr lang="en-US" b="0" i="0" dirty="0">
                <a:effectLst/>
                <a:latin typeface="Arial" panose="020B0604020202020204" pitchFamily="34" charset="0"/>
              </a:rPr>
              <a:t>: governments can implement direct cash transfer programs more efficiently. By using bank accounts or mobile wallets, funds can be disbursed quickly and securely to those in need.</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b="1" i="0" dirty="0">
                <a:effectLst/>
                <a:latin typeface="Arial" panose="020B0604020202020204" pitchFamily="34" charset="0"/>
              </a:rPr>
              <a:t>Empowerment of Marginalized Groups</a:t>
            </a:r>
            <a:r>
              <a:rPr lang="en-US" b="0" i="0" dirty="0">
                <a:effectLst/>
                <a:latin typeface="Arial" panose="020B0604020202020204" pitchFamily="34" charset="0"/>
              </a:rPr>
              <a:t>: Financial inclusion often focuses on marginalized populations, such as women or low-income individuals. Targeting social spending to these groups can enhance their economic stability and overall community welfare</a:t>
            </a:r>
          </a:p>
          <a:p>
            <a:pPr algn="l">
              <a:buFont typeface="+mj-lt"/>
              <a:buNone/>
            </a:pPr>
            <a:r>
              <a:rPr lang="en-US" b="1" i="0" dirty="0">
                <a:effectLst/>
                <a:latin typeface="Arial" panose="020B0604020202020204" pitchFamily="34" charset="0"/>
              </a:rPr>
              <a:t>3. Data-Driven Insights</a:t>
            </a:r>
            <a:r>
              <a:rPr lang="en-US" b="0" i="0" dirty="0">
                <a:effectLst/>
                <a:latin typeface="Arial" panose="020B0604020202020204" pitchFamily="34" charset="0"/>
              </a:rPr>
              <a:t>: Financial inclusion enables the collection of data on individuals' income, spending patterns, and financial behaviors. This data helps policymakers identify which demographics or regions require more support.</a:t>
            </a:r>
          </a:p>
          <a:p>
            <a:pPr algn="l">
              <a:buFont typeface="+mj-lt"/>
              <a:buNone/>
            </a:pPr>
            <a:endParaRPr lang="en-US" b="0" i="0" dirty="0">
              <a:effectLst/>
              <a:latin typeface="Arial" panose="020B0604020202020204" pitchFamily="34" charset="0"/>
            </a:endParaRPr>
          </a:p>
          <a:p>
            <a:pPr algn="l"/>
            <a:r>
              <a:rPr lang="en-US" b="1" i="0" dirty="0">
                <a:effectLst/>
                <a:latin typeface="Arial" panose="020B0604020202020204" pitchFamily="34" charset="0"/>
              </a:rPr>
              <a:t>4. Feedback Mechanisms</a:t>
            </a:r>
            <a:r>
              <a:rPr lang="en-US" b="0" i="0" dirty="0">
                <a:effectLst/>
                <a:latin typeface="Arial" panose="020B0604020202020204" pitchFamily="34" charset="0"/>
              </a:rPr>
              <a:t>: </a:t>
            </a:r>
            <a:r>
              <a:rPr lang="en-US" b="1" i="0" dirty="0">
                <a:effectLst/>
                <a:latin typeface="Arial" panose="020B0604020202020204" pitchFamily="34" charset="0"/>
              </a:rPr>
              <a:t>Example</a:t>
            </a:r>
            <a:r>
              <a:rPr lang="en-US" b="0" i="0" dirty="0">
                <a:effectLst/>
                <a:latin typeface="Arial" panose="020B0604020202020204" pitchFamily="34" charset="0"/>
              </a:rPr>
              <a:t>: A mobile money service </a:t>
            </a:r>
            <a:r>
              <a:rPr lang="en-US" b="1" i="0" dirty="0">
                <a:effectLst/>
                <a:latin typeface="Arial" panose="020B0604020202020204" pitchFamily="34" charset="0"/>
              </a:rPr>
              <a:t>collects data on transaction patterns and usage frequency among beneficiaries of a social program </a:t>
            </a:r>
            <a:r>
              <a:rPr lang="en-US" b="0" i="0" dirty="0">
                <a:effectLst/>
                <a:latin typeface="Arial" panose="020B0604020202020204" pitchFamily="34" charset="0"/>
              </a:rPr>
              <a:t>(e.g., cash transfers). Feedback: Service providers can analyze this data to understand how recipients are utilizing funds, adjusting the program based on whether beneficiaries are using funds for essential needs (like food and education) or if they are saving them for future use.</a:t>
            </a:r>
            <a:br>
              <a:rPr lang="en-US" b="0" i="0" dirty="0">
                <a:effectLst/>
                <a:latin typeface="Arial" panose="020B0604020202020204" pitchFamily="34" charset="0"/>
              </a:rPr>
            </a:br>
            <a:br>
              <a:rPr lang="en-US" b="0" i="0" dirty="0">
                <a:effectLst/>
                <a:latin typeface="Arial" panose="020B0604020202020204" pitchFamily="34" charset="0"/>
              </a:rPr>
            </a:br>
            <a:r>
              <a:rPr lang="en-US" b="1" i="0" dirty="0">
                <a:effectLst/>
                <a:latin typeface="AvenirNextWorld-Regular"/>
              </a:rPr>
              <a:t>Enabling transition: </a:t>
            </a:r>
          </a:p>
          <a:p>
            <a:pPr algn="l"/>
            <a:r>
              <a:rPr lang="en-US" b="0" i="0" dirty="0">
                <a:effectLst/>
                <a:latin typeface="AvenirNextWorld-Regular"/>
              </a:rPr>
              <a:t>To be paid in the formal sector. </a:t>
            </a:r>
          </a:p>
          <a:p>
            <a:pPr algn="l"/>
            <a:r>
              <a:rPr lang="en-US" b="0" i="0" dirty="0">
                <a:effectLst/>
                <a:latin typeface="AvenirNextWorld-Regular"/>
              </a:rPr>
              <a:t>Reduced Barriers: With financial resources, women can afford transportation, childcare, or other costs associated with seeking paid employment, making it easier to transition into the labor market.</a:t>
            </a:r>
          </a:p>
          <a:p>
            <a:pPr algn="l"/>
            <a:r>
              <a:rPr lang="en-US" b="0" i="0" dirty="0">
                <a:effectLst/>
                <a:latin typeface="AvenirNextWorld-Regular"/>
              </a:rPr>
              <a:t>Work Hours: Financial independence may allow women to negotiate for more flexible work hours, accommodating both professional commitments and domestic responsibilities.</a:t>
            </a:r>
          </a:p>
          <a:p>
            <a:pPr algn="l"/>
            <a:endParaRPr lang="en-US" b="1" i="0" dirty="0">
              <a:effectLst/>
              <a:latin typeface="AvenirNextWorld-Regular"/>
            </a:endParaRPr>
          </a:p>
          <a:p>
            <a:pPr algn="l"/>
            <a:r>
              <a:rPr lang="en-US" b="1" i="0" dirty="0">
                <a:effectLst/>
                <a:latin typeface="AvenirNextWorld-Regular"/>
              </a:rPr>
              <a:t>Key Channels of Impact of Financial Inclusion and Improved daughters’ education </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lang="en-US" b="1" i="0" dirty="0">
                <a:effectLst/>
                <a:latin typeface="Arial" panose="020B0604020202020204" pitchFamily="34" charset="0"/>
              </a:rPr>
              <a:t>Empowerment and Decision-Making</a:t>
            </a:r>
            <a:r>
              <a:rPr lang="en-US" b="0" i="0" dirty="0">
                <a:effectLst/>
                <a:latin typeface="Arial" panose="020B0604020202020204" pitchFamily="34" charset="0"/>
              </a:rPr>
              <a:t>: </a:t>
            </a:r>
          </a:p>
          <a:p>
            <a:pPr algn="l">
              <a:buFont typeface="+mj-lt"/>
              <a:buAutoNum type="arabicPeriod"/>
            </a:pPr>
            <a:r>
              <a:rPr lang="en-US" b="1" i="0" dirty="0">
                <a:effectLst/>
                <a:latin typeface="Arial" panose="020B0604020202020204" pitchFamily="34" charset="0"/>
              </a:rPr>
              <a:t>Increased Household Income</a:t>
            </a:r>
            <a:r>
              <a:rPr lang="en-US" b="0" i="0" dirty="0">
                <a:effectLst/>
                <a:latin typeface="Arial" panose="020B0604020202020204" pitchFamily="34" charset="0"/>
              </a:rPr>
              <a:t>:</a:t>
            </a:r>
          </a:p>
          <a:p>
            <a:pPr algn="l">
              <a:buFont typeface="+mj-lt"/>
              <a:buAutoNum type="arabicPeriod"/>
            </a:pPr>
            <a:r>
              <a:rPr lang="en-US" b="1" i="0" dirty="0">
                <a:effectLst/>
                <a:latin typeface="Arial" panose="020B0604020202020204" pitchFamily="34" charset="0"/>
              </a:rPr>
              <a:t>Investment in Education</a:t>
            </a:r>
            <a:r>
              <a:rPr lang="en-US" b="0" i="0" dirty="0">
                <a:effectLst/>
                <a:latin typeface="Arial" panose="020B0604020202020204" pitchFamily="34" charset="0"/>
              </a:rPr>
              <a:t>: Women with financial resources are more likely to invest in their children's education, including school fees, uniforms, and materials.</a:t>
            </a:r>
          </a:p>
          <a:p>
            <a:pPr algn="l">
              <a:buFont typeface="+mj-lt"/>
              <a:buAutoNum type="arabicPeriod"/>
            </a:pPr>
            <a:r>
              <a:rPr lang="en-US" b="1" i="0" dirty="0">
                <a:effectLst/>
                <a:latin typeface="Arial" panose="020B0604020202020204" pitchFamily="34" charset="0"/>
              </a:rPr>
              <a:t>Improved Financial Literacy</a:t>
            </a:r>
            <a:r>
              <a:rPr lang="en-US" b="0" i="0" dirty="0">
                <a:effectLst/>
                <a:latin typeface="Arial" panose="020B0604020202020204" pitchFamily="34" charset="0"/>
              </a:rPr>
              <a:t>: Access to financial services often comes with education on managing finances. Women who improve their financial literacy may prioritize education and savings for their children's future.</a:t>
            </a:r>
          </a:p>
          <a:p>
            <a:pPr algn="l">
              <a:buFont typeface="+mj-lt"/>
              <a:buAutoNum type="arabicPeriod"/>
            </a:pPr>
            <a:r>
              <a:rPr lang="en-US" b="1" i="0" dirty="0">
                <a:effectLst/>
                <a:latin typeface="Arial" panose="020B0604020202020204" pitchFamily="34" charset="0"/>
              </a:rPr>
              <a:t>Social Norms and Role Modeling</a:t>
            </a:r>
            <a:r>
              <a:rPr lang="en-US" b="0" i="0" dirty="0">
                <a:effectLst/>
                <a:latin typeface="Arial" panose="020B0604020202020204" pitchFamily="34" charset="0"/>
              </a:rPr>
              <a:t>: As women become financially independent, they challenge traditional gender norms. This shift can encourage families to support daughters' education, as mothers serve as role models demonstrating the value of education.</a:t>
            </a:r>
          </a:p>
          <a:p>
            <a:pPr algn="l">
              <a:buFont typeface="Arial" panose="020B0604020202020204" pitchFamily="34" charset="0"/>
              <a:buChar char="•"/>
            </a:pPr>
            <a:endParaRPr lang="en-US" b="0" i="0" dirty="0">
              <a:effectLst/>
              <a:latin typeface="Arial" panose="020B0604020202020204" pitchFamily="34" charset="0"/>
            </a:endParaRPr>
          </a:p>
          <a:p>
            <a:pPr algn="l">
              <a:buFont typeface="+mj-lt"/>
              <a:buNone/>
            </a:pPr>
            <a:endParaRPr lang="en-US" b="0" i="0" dirty="0">
              <a:effectLst/>
              <a:latin typeface="Arial" panose="020B0604020202020204" pitchFamily="34" charset="0"/>
            </a:endParaRPr>
          </a:p>
        </p:txBody>
      </p:sp>
      <p:sp>
        <p:nvSpPr>
          <p:cNvPr id="4" name="Date Placeholder 3"/>
          <p:cNvSpPr>
            <a:spLocks noGrp="1"/>
          </p:cNvSpPr>
          <p:nvPr>
            <p:ph type="dt" idx="1"/>
          </p:nvPr>
        </p:nvSpPr>
        <p:spPr/>
        <p:txBody>
          <a:bodyPr/>
          <a:lstStyle/>
          <a:p>
            <a:fld id="{49E4E862-E263-8B4A-AFB5-DFAAA754BCA9}" type="datetime1">
              <a:rPr lang="en-US" smtClean="0"/>
              <a:t>5/26/2026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6</a:t>
            </a:fld>
            <a:endParaRPr lang="en-US"/>
          </a:p>
        </p:txBody>
      </p:sp>
    </p:spTree>
    <p:extLst>
      <p:ext uri="{BB962C8B-B14F-4D97-AF65-F5344CB8AC3E}">
        <p14:creationId xmlns:p14="http://schemas.microsoft.com/office/powerpoint/2010/main" val="42053517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lr>
                <a:schemeClr val="accent1"/>
              </a:buClr>
            </a:pPr>
            <a:r>
              <a:rPr lang="en-US" sz="1200" i="0" u="none" strike="noStrike" baseline="0">
                <a:latin typeface="+mj-lt"/>
              </a:rPr>
              <a:t>Positive effect of higher level of financial inclusion on the effectiveness of monetary policies </a:t>
            </a:r>
            <a:r>
              <a:rPr lang="en-US" sz="1200" b="0" i="0" u="none" strike="noStrike" baseline="0">
                <a:latin typeface="+mj-lt"/>
              </a:rPr>
              <a:t>(Mehrotra and </a:t>
            </a:r>
            <a:r>
              <a:rPr lang="en-US" sz="1200" b="0" i="0" u="none" strike="noStrike" baseline="0" err="1">
                <a:latin typeface="+mj-lt"/>
              </a:rPr>
              <a:t>Yetman</a:t>
            </a:r>
            <a:r>
              <a:rPr lang="en-US" sz="1200" b="0" i="0" u="none" strike="noStrike" baseline="0">
                <a:latin typeface="+mj-lt"/>
              </a:rPr>
              <a:t>, 2014). </a:t>
            </a:r>
          </a:p>
          <a:p>
            <a:pPr marL="342900" indent="-342900">
              <a:buClr>
                <a:schemeClr val="accent1"/>
              </a:buClr>
              <a:buFont typeface="Wingdings" panose="05000000000000000000" pitchFamily="2" charset="2"/>
              <a:buChar char="§"/>
            </a:pPr>
            <a:endParaRPr lang="en-US" sz="1200">
              <a:solidFill>
                <a:srgbClr val="000000"/>
              </a:solidFill>
              <a:latin typeface="+mj-lt"/>
            </a:endParaRPr>
          </a:p>
          <a:p>
            <a:pPr>
              <a:buClr>
                <a:schemeClr val="accent1"/>
              </a:buClr>
            </a:pPr>
            <a:r>
              <a:rPr lang="en-US" sz="1200" b="0" i="0" u="none" strike="noStrike" baseline="0">
                <a:solidFill>
                  <a:srgbClr val="000000"/>
                </a:solidFill>
                <a:latin typeface="+mj-lt"/>
              </a:rPr>
              <a:t>As an expanding number of people become part of the formal financial sector, the effectiveness of central banks’ use of the interest rate as a primary policy tool increases (</a:t>
            </a:r>
            <a:r>
              <a:rPr lang="en-US" sz="1200" b="0" i="0" u="none" strike="noStrike" baseline="0" err="1">
                <a:solidFill>
                  <a:srgbClr val="000000"/>
                </a:solidFill>
                <a:latin typeface="+mj-lt"/>
              </a:rPr>
              <a:t>Dabla</a:t>
            </a:r>
            <a:r>
              <a:rPr lang="en-US" sz="1200" b="0" i="0" u="none" strike="noStrike" baseline="0">
                <a:solidFill>
                  <a:srgbClr val="000000"/>
                </a:solidFill>
                <a:latin typeface="+mj-lt"/>
              </a:rPr>
              <a:t>-Norris et al., 2015). </a:t>
            </a:r>
            <a:endParaRPr lang="en-US" sz="1200">
              <a:latin typeface="+mj-lt"/>
            </a:endParaRPr>
          </a:p>
          <a:p>
            <a:endParaRPr lang="en-US"/>
          </a:p>
        </p:txBody>
      </p:sp>
      <p:sp>
        <p:nvSpPr>
          <p:cNvPr id="4" name="Slide Number Placeholder 3"/>
          <p:cNvSpPr>
            <a:spLocks noGrp="1"/>
          </p:cNvSpPr>
          <p:nvPr>
            <p:ph type="sldNum" sz="quarter" idx="5"/>
          </p:nvPr>
        </p:nvSpPr>
        <p:spPr/>
        <p:txBody>
          <a:bodyPr/>
          <a:lstStyle/>
          <a:p>
            <a:fld id="{0CE0291A-65D5-4A8A-8F74-A48209598798}" type="slidenum">
              <a:rPr lang="en-US" smtClean="0"/>
              <a:t>7</a:t>
            </a:fld>
            <a:endParaRPr lang="en-US"/>
          </a:p>
        </p:txBody>
      </p:sp>
    </p:spTree>
    <p:extLst>
      <p:ext uri="{BB962C8B-B14F-4D97-AF65-F5344CB8AC3E}">
        <p14:creationId xmlns:p14="http://schemas.microsoft.com/office/powerpoint/2010/main" val="4094312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CE0291A-65D5-4A8A-8F74-A48209598798}" type="slidenum">
              <a:rPr lang="en-US" smtClean="0"/>
              <a:t>8</a:t>
            </a:fld>
            <a:endParaRPr lang="en-US"/>
          </a:p>
        </p:txBody>
      </p:sp>
    </p:spTree>
    <p:extLst>
      <p:ext uri="{BB962C8B-B14F-4D97-AF65-F5344CB8AC3E}">
        <p14:creationId xmlns:p14="http://schemas.microsoft.com/office/powerpoint/2010/main" val="4255159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5B878-9449-E84A-7EA2-D79AB52EE6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C7637-4592-2A69-5F7E-FE56FD34DB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C6D305-DB26-7756-E089-B07F122C61CF}"/>
              </a:ext>
            </a:extLst>
          </p:cNvPr>
          <p:cNvSpPr>
            <a:spLocks noGrp="1"/>
          </p:cNvSpPr>
          <p:nvPr>
            <p:ph type="body" idx="1"/>
          </p:nvPr>
        </p:nvSpPr>
        <p:spPr/>
        <p:txBody>
          <a:bodyPr/>
          <a:lstStyle/>
          <a:p>
            <a:pPr algn="l">
              <a:buFont typeface="+mj-lt"/>
              <a:buNone/>
            </a:pPr>
            <a:r>
              <a:rPr lang="en-US" b="1" dirty="0"/>
              <a:t>Why Formality is good: </a:t>
            </a:r>
            <a:br>
              <a:rPr lang="en-US" dirty="0"/>
            </a:br>
            <a:br>
              <a:rPr lang="en-US" dirty="0"/>
            </a:br>
            <a:r>
              <a:rPr lang="en-US" dirty="0"/>
              <a:t>1. </a:t>
            </a:r>
            <a:r>
              <a:rPr lang="en-US" b="1" i="0" dirty="0">
                <a:effectLst/>
                <a:latin typeface="Arial" panose="020B0604020202020204" pitchFamily="34" charset="0"/>
              </a:rPr>
              <a:t>Payroll Accounts</a:t>
            </a:r>
            <a:r>
              <a:rPr lang="en-US" b="0" i="0" dirty="0">
                <a:effectLst/>
                <a:latin typeface="Arial" panose="020B0604020202020204" pitchFamily="34" charset="0"/>
              </a:rPr>
              <a:t>: Banks may offer accounts specifically designed for employees to receive their salaries directly, which can facilitate easier management of finances.</a:t>
            </a:r>
          </a:p>
          <a:p>
            <a:pPr algn="l">
              <a:buFont typeface="+mj-lt"/>
              <a:buAutoNum type="arabicPeriod"/>
            </a:pPr>
            <a:r>
              <a:rPr lang="en-US" b="1" i="0" dirty="0">
                <a:effectLst/>
                <a:latin typeface="Arial" panose="020B0604020202020204" pitchFamily="34" charset="0"/>
              </a:rPr>
              <a:t>Credit Opportunities</a:t>
            </a:r>
            <a:r>
              <a:rPr lang="en-US" b="0" i="0" dirty="0">
                <a:effectLst/>
                <a:latin typeface="Arial" panose="020B0604020202020204" pitchFamily="34" charset="0"/>
              </a:rPr>
              <a:t>: Employees may have access to loans, credit cards, or other financial products that are tailored for them as part of their employment package.</a:t>
            </a:r>
          </a:p>
          <a:p>
            <a:pPr algn="l">
              <a:buFont typeface="+mj-lt"/>
              <a:buAutoNum type="arabicPeriod"/>
            </a:pPr>
            <a:r>
              <a:rPr lang="en-US" b="1" i="0" dirty="0">
                <a:effectLst/>
                <a:latin typeface="Arial" panose="020B0604020202020204" pitchFamily="34" charset="0"/>
              </a:rPr>
              <a:t>Employer Contributions</a:t>
            </a:r>
            <a:r>
              <a:rPr lang="en-US" b="0" i="0" dirty="0">
                <a:effectLst/>
                <a:latin typeface="Arial" panose="020B0604020202020204" pitchFamily="34" charset="0"/>
              </a:rPr>
              <a:t>: Some systems allow for employers to make direct contributions to savings accounts, retirement funds, or other financial products on behalf of employees.</a:t>
            </a:r>
          </a:p>
          <a:p>
            <a:pPr algn="l">
              <a:buFont typeface="+mj-lt"/>
              <a:buAutoNum type="arabicPeriod"/>
            </a:pPr>
            <a:r>
              <a:rPr lang="en-US" b="1" i="0" dirty="0">
                <a:effectLst/>
                <a:latin typeface="Arial" panose="020B0604020202020204" pitchFamily="34" charset="0"/>
              </a:rPr>
              <a:t>Financial Education</a:t>
            </a:r>
            <a:r>
              <a:rPr lang="en-US" b="0" i="0" dirty="0">
                <a:effectLst/>
                <a:latin typeface="Arial" panose="020B0604020202020204" pitchFamily="34" charset="0"/>
              </a:rPr>
              <a:t>: Employers may partner with financial institutions to provide financial literacy programs to help employees understand banking products and services.</a:t>
            </a:r>
          </a:p>
          <a:p>
            <a:pPr algn="l">
              <a:buFont typeface="+mj-lt"/>
              <a:buAutoNum type="arabicPeriod"/>
            </a:pPr>
            <a:r>
              <a:rPr lang="en-US" b="1" i="0" dirty="0">
                <a:effectLst/>
                <a:latin typeface="Arial" panose="020B0604020202020204" pitchFamily="34" charset="0"/>
              </a:rPr>
              <a:t>Access to Benefits</a:t>
            </a:r>
            <a:r>
              <a:rPr lang="en-US" b="0" i="0" dirty="0">
                <a:effectLst/>
                <a:latin typeface="Arial" panose="020B0604020202020204" pitchFamily="34" charset="0"/>
              </a:rPr>
              <a:t>: Employees may gain access to additional benefits like insurance, investment options, or special interest rates on loans through their employer.</a:t>
            </a:r>
          </a:p>
          <a:p>
            <a:pPr algn="l">
              <a:buFont typeface="+mj-lt"/>
              <a:buAutoNum type="arabicPeriod"/>
            </a:pPr>
            <a:r>
              <a:rPr lang="en-US" b="1" i="0" dirty="0">
                <a:effectLst/>
                <a:latin typeface="Arial" panose="020B0604020202020204" pitchFamily="34" charset="0"/>
              </a:rPr>
              <a:t>Enhanced Trust</a:t>
            </a:r>
            <a:r>
              <a:rPr lang="en-US" b="0" i="0" dirty="0">
                <a:effectLst/>
                <a:latin typeface="Arial" panose="020B0604020202020204" pitchFamily="34" charset="0"/>
              </a:rPr>
              <a:t>: Having a banking relationship linked to employment can build trust between the financial institution and the employee, as the employer may vouch for the employee's stability.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269EEC5-6246-4F39-4D21-F3C054EB7DD9}"/>
              </a:ext>
            </a:extLst>
          </p:cNvPr>
          <p:cNvSpPr>
            <a:spLocks noGrp="1"/>
          </p:cNvSpPr>
          <p:nvPr>
            <p:ph type="sldNum" sz="quarter" idx="5"/>
          </p:nvPr>
        </p:nvSpPr>
        <p:spPr/>
        <p:txBody>
          <a:bodyPr/>
          <a:lstStyle/>
          <a:p>
            <a:fld id="{0CE0291A-65D5-4A8A-8F74-A48209598798}" type="slidenum">
              <a:rPr lang="en-US" smtClean="0"/>
              <a:t>9</a:t>
            </a:fld>
            <a:endParaRPr lang="en-US"/>
          </a:p>
        </p:txBody>
      </p:sp>
    </p:spTree>
    <p:extLst>
      <p:ext uri="{BB962C8B-B14F-4D97-AF65-F5344CB8AC3E}">
        <p14:creationId xmlns:p14="http://schemas.microsoft.com/office/powerpoint/2010/main" val="2299914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41937-4C96-1340-CBE7-5427E04F8B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71F110-7E40-4B48-99DB-384EDD157A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0B2180-D0BC-AFE4-4F3B-2884BE820DCE}"/>
              </a:ext>
            </a:extLst>
          </p:cNvPr>
          <p:cNvSpPr>
            <a:spLocks noGrp="1"/>
          </p:cNvSpPr>
          <p:nvPr>
            <p:ph type="body" idx="1"/>
          </p:nvPr>
        </p:nvSpPr>
        <p:spPr/>
        <p:txBody>
          <a:bodyPr/>
          <a:lstStyle/>
          <a:p>
            <a:r>
              <a:rPr lang="en-US"/>
              <a:t>Source: IMF WP/18/38; Kolovich &amp; Newiak (2024), Ch. 2 &amp; 15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a:effectLst/>
              <a:latin typeface="Arial" panose="020B0604020202020204" pitchFamily="34" charset="0"/>
              <a:ea typeface="Arial" panose="020B0604020202020204" pitchFamily="34" charset="0"/>
              <a:cs typeface="Times New Roman" panose="02020603050405020304" pitchFamily="18" charset="0"/>
            </a:endParaRPr>
          </a:p>
          <a:p>
            <a:endParaRPr lang="en-US"/>
          </a:p>
        </p:txBody>
      </p:sp>
      <p:sp>
        <p:nvSpPr>
          <p:cNvPr id="4" name="Slide Number Placeholder 3">
            <a:extLst>
              <a:ext uri="{FF2B5EF4-FFF2-40B4-BE49-F238E27FC236}">
                <a16:creationId xmlns:a16="http://schemas.microsoft.com/office/drawing/2014/main" id="{BFD619D5-8456-9B30-2783-8C5FDBBD3732}"/>
              </a:ext>
            </a:extLst>
          </p:cNvPr>
          <p:cNvSpPr>
            <a:spLocks noGrp="1"/>
          </p:cNvSpPr>
          <p:nvPr>
            <p:ph type="sldNum" sz="quarter" idx="5"/>
          </p:nvPr>
        </p:nvSpPr>
        <p:spPr/>
        <p:txBody>
          <a:bodyPr/>
          <a:lstStyle/>
          <a:p>
            <a:fld id="{0CE0291A-65D5-4A8A-8F74-A48209598798}" type="slidenum">
              <a:rPr lang="en-US" smtClean="0"/>
              <a:t>10</a:t>
            </a:fld>
            <a:endParaRPr lang="en-US"/>
          </a:p>
        </p:txBody>
      </p:sp>
    </p:spTree>
    <p:extLst>
      <p:ext uri="{BB962C8B-B14F-4D97-AF65-F5344CB8AC3E}">
        <p14:creationId xmlns:p14="http://schemas.microsoft.com/office/powerpoint/2010/main" val="7689188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AAB4D-7524-273F-69BF-294530C5D9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137DB-F6DC-85C0-35E0-BDCD04D00F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A53625-8960-FCA8-59E6-AF14435728D2}"/>
              </a:ext>
            </a:extLst>
          </p:cNvPr>
          <p:cNvSpPr>
            <a:spLocks noGrp="1"/>
          </p:cNvSpPr>
          <p:nvPr>
            <p:ph type="body" idx="1"/>
          </p:nvPr>
        </p:nvSpPr>
        <p:spPr/>
        <p:txBody>
          <a:bodyPr/>
          <a:lstStyle/>
          <a:p>
            <a:r>
              <a:rPr lang="en-US"/>
              <a:t>IMF F&amp;D Magazine (2022); Kolovich &amp; Newiak (2024), Ch. 18</a:t>
            </a:r>
          </a:p>
          <a:p>
            <a:endParaRPr lang="en-US"/>
          </a:p>
          <a:p>
            <a:pPr algn="l">
              <a:buFont typeface="+mj-lt"/>
              <a:buAutoNum type="arabicPeriod"/>
            </a:pPr>
            <a:r>
              <a:rPr lang="en-US" b="1" i="0">
                <a:effectLst/>
                <a:latin typeface="Arial" panose="020B0604020202020204" pitchFamily="34" charset="0"/>
              </a:rPr>
              <a:t>Utility Payment History</a:t>
            </a:r>
            <a:r>
              <a:rPr lang="en-US" b="0" i="0">
                <a:effectLst/>
                <a:latin typeface="Arial" panose="020B0604020202020204" pitchFamily="34" charset="0"/>
              </a:rPr>
              <a:t>: Data on timely payment of utilities (electricity, water, internet) can indicate financial responsibility.</a:t>
            </a:r>
          </a:p>
          <a:p>
            <a:pPr algn="l">
              <a:buFont typeface="+mj-lt"/>
              <a:buAutoNum type="arabicPeriod"/>
            </a:pPr>
            <a:r>
              <a:rPr lang="en-US" b="1" i="0">
                <a:effectLst/>
                <a:latin typeface="Arial" panose="020B0604020202020204" pitchFamily="34" charset="0"/>
              </a:rPr>
              <a:t>Rental Payment History</a:t>
            </a:r>
            <a:r>
              <a:rPr lang="en-US" b="0" i="0">
                <a:effectLst/>
                <a:latin typeface="Arial" panose="020B0604020202020204" pitchFamily="34" charset="0"/>
              </a:rPr>
              <a:t>: Consistent rent payments can serve as a sign of creditworthiness.</a:t>
            </a:r>
          </a:p>
          <a:p>
            <a:pPr algn="l">
              <a:buFont typeface="+mj-lt"/>
              <a:buAutoNum type="arabicPeriod"/>
            </a:pPr>
            <a:r>
              <a:rPr lang="en-US" b="1" i="0">
                <a:effectLst/>
                <a:latin typeface="Arial" panose="020B0604020202020204" pitchFamily="34" charset="0"/>
              </a:rPr>
              <a:t>Mobile Phone Payment Records</a:t>
            </a:r>
            <a:r>
              <a:rPr lang="en-US" b="0" i="0">
                <a:effectLst/>
                <a:latin typeface="Arial" panose="020B0604020202020204" pitchFamily="34" charset="0"/>
              </a:rPr>
              <a:t>: Regular payments for mobile services can provide insights into a borrower's reliability.</a:t>
            </a:r>
          </a:p>
          <a:p>
            <a:pPr algn="l">
              <a:buFont typeface="+mj-lt"/>
              <a:buAutoNum type="arabicPeriod"/>
            </a:pPr>
            <a:r>
              <a:rPr lang="en-US" b="1" i="0">
                <a:effectLst/>
                <a:latin typeface="Arial" panose="020B0604020202020204" pitchFamily="34" charset="0"/>
              </a:rPr>
              <a:t>Social Media Activity</a:t>
            </a:r>
            <a:r>
              <a:rPr lang="en-US" b="0" i="0">
                <a:effectLst/>
                <a:latin typeface="Arial" panose="020B0604020202020204" pitchFamily="34" charset="0"/>
              </a:rPr>
              <a:t>: Analysis of social media behavior might reveal patterns related to financial stability or community involvement.</a:t>
            </a:r>
          </a:p>
          <a:p>
            <a:pPr algn="l">
              <a:buFont typeface="+mj-lt"/>
              <a:buAutoNum type="arabicPeriod"/>
            </a:pPr>
            <a:r>
              <a:rPr lang="en-US" b="1" i="0">
                <a:effectLst/>
                <a:latin typeface="Arial" panose="020B0604020202020204" pitchFamily="34" charset="0"/>
              </a:rPr>
              <a:t>E-commerce Transactions</a:t>
            </a:r>
            <a:r>
              <a:rPr lang="en-US" b="0" i="0">
                <a:effectLst/>
                <a:latin typeface="Arial" panose="020B0604020202020204" pitchFamily="34" charset="0"/>
              </a:rPr>
              <a:t>: Purchase history from online platforms can help assess spending habits and financial behavior.</a:t>
            </a:r>
          </a:p>
          <a:p>
            <a:pPr algn="l">
              <a:buFont typeface="+mj-lt"/>
              <a:buAutoNum type="arabicPeriod"/>
            </a:pPr>
            <a:r>
              <a:rPr lang="en-US" b="1" i="0">
                <a:effectLst/>
                <a:latin typeface="Arial" panose="020B0604020202020204" pitchFamily="34" charset="0"/>
              </a:rPr>
              <a:t>Employment History</a:t>
            </a:r>
            <a:r>
              <a:rPr lang="en-US" b="0" i="0">
                <a:effectLst/>
                <a:latin typeface="Arial" panose="020B0604020202020204" pitchFamily="34" charset="0"/>
              </a:rPr>
              <a:t>: Data regarding job stability, income levels, and career progression can be useful in assessing creditworthiness.</a:t>
            </a:r>
          </a:p>
          <a:p>
            <a:pPr algn="l">
              <a:buFont typeface="+mj-lt"/>
              <a:buAutoNum type="arabicPeriod"/>
            </a:pPr>
            <a:r>
              <a:rPr lang="en-US" b="1" i="0">
                <a:effectLst/>
                <a:latin typeface="Arial" panose="020B0604020202020204" pitchFamily="34" charset="0"/>
              </a:rPr>
              <a:t>Education and Professional Qualifications</a:t>
            </a:r>
            <a:r>
              <a:rPr lang="en-US" b="0" i="0">
                <a:effectLst/>
                <a:latin typeface="Arial" panose="020B0604020202020204" pitchFamily="34" charset="0"/>
              </a:rPr>
              <a:t>: Information about educational background and professional certifications can help evaluate potential earning capacity.</a:t>
            </a:r>
          </a:p>
          <a:p>
            <a:pPr algn="l">
              <a:buFont typeface="+mj-lt"/>
              <a:buAutoNum type="arabicPeriod"/>
            </a:pPr>
            <a:r>
              <a:rPr lang="en-US" b="1" i="0">
                <a:effectLst/>
                <a:latin typeface="Arial" panose="020B0604020202020204" pitchFamily="34" charset="0"/>
              </a:rPr>
              <a:t>Digital Footprint</a:t>
            </a:r>
            <a:r>
              <a:rPr lang="en-US" b="0" i="0">
                <a:effectLst/>
                <a:latin typeface="Arial" panose="020B0604020202020204" pitchFamily="34" charset="0"/>
              </a:rPr>
              <a:t>: Online behavior, such as website visits or app usage, can provide insights into lifestyle and spending habits.</a:t>
            </a:r>
          </a:p>
          <a:p>
            <a:endParaRPr lang="en-US"/>
          </a:p>
          <a:p>
            <a:endParaRPr lang="en-US"/>
          </a:p>
        </p:txBody>
      </p:sp>
      <p:sp>
        <p:nvSpPr>
          <p:cNvPr id="4" name="Slide Number Placeholder 3">
            <a:extLst>
              <a:ext uri="{FF2B5EF4-FFF2-40B4-BE49-F238E27FC236}">
                <a16:creationId xmlns:a16="http://schemas.microsoft.com/office/drawing/2014/main" id="{0EA5C85E-2DC5-3769-E36F-E8FB0A8651C8}"/>
              </a:ext>
            </a:extLst>
          </p:cNvPr>
          <p:cNvSpPr>
            <a:spLocks noGrp="1"/>
          </p:cNvSpPr>
          <p:nvPr>
            <p:ph type="sldNum" sz="quarter" idx="5"/>
          </p:nvPr>
        </p:nvSpPr>
        <p:spPr/>
        <p:txBody>
          <a:bodyPr/>
          <a:lstStyle/>
          <a:p>
            <a:fld id="{0CE0291A-65D5-4A8A-8F74-A48209598798}" type="slidenum">
              <a:rPr lang="en-US" smtClean="0"/>
              <a:t>11</a:t>
            </a:fld>
            <a:endParaRPr lang="en-US"/>
          </a:p>
        </p:txBody>
      </p:sp>
    </p:spTree>
    <p:extLst>
      <p:ext uri="{BB962C8B-B14F-4D97-AF65-F5344CB8AC3E}">
        <p14:creationId xmlns:p14="http://schemas.microsoft.com/office/powerpoint/2010/main" val="17882128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C49F7-D5C2-4738-8641-3125CA2E70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1C4DEB-7EC8-D22A-0D97-42325EC233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31AA28-62F4-6434-07AC-06EE18B597F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CFAE638-9A9C-6DAD-E5B1-FD06134983CE}"/>
              </a:ext>
            </a:extLst>
          </p:cNvPr>
          <p:cNvSpPr>
            <a:spLocks noGrp="1"/>
          </p:cNvSpPr>
          <p:nvPr>
            <p:ph type="sldNum" sz="quarter" idx="5"/>
          </p:nvPr>
        </p:nvSpPr>
        <p:spPr/>
        <p:txBody>
          <a:bodyPr/>
          <a:lstStyle/>
          <a:p>
            <a:fld id="{0CE0291A-65D5-4A8A-8F74-A48209598798}" type="slidenum">
              <a:rPr lang="en-US" smtClean="0"/>
              <a:t>12</a:t>
            </a:fld>
            <a:endParaRPr lang="en-US"/>
          </a:p>
        </p:txBody>
      </p:sp>
    </p:spTree>
    <p:extLst>
      <p:ext uri="{BB962C8B-B14F-4D97-AF65-F5344CB8AC3E}">
        <p14:creationId xmlns:p14="http://schemas.microsoft.com/office/powerpoint/2010/main" val="4170720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US" b="1" dirty="0"/>
              <a:t>Why Formality is good: </a:t>
            </a:r>
            <a:br>
              <a:rPr lang="en-US" dirty="0"/>
            </a:br>
            <a:br>
              <a:rPr lang="en-US" dirty="0"/>
            </a:br>
            <a:r>
              <a:rPr lang="en-US" dirty="0"/>
              <a:t>1. </a:t>
            </a:r>
            <a:r>
              <a:rPr lang="en-US" b="1" i="0" dirty="0">
                <a:effectLst/>
                <a:latin typeface="Arial" panose="020B0604020202020204" pitchFamily="34" charset="0"/>
              </a:rPr>
              <a:t>Payroll Accounts</a:t>
            </a:r>
            <a:r>
              <a:rPr lang="en-US" b="0" i="0" dirty="0">
                <a:effectLst/>
                <a:latin typeface="Arial" panose="020B0604020202020204" pitchFamily="34" charset="0"/>
              </a:rPr>
              <a:t>: Banks may offer accounts specifically designed for employees to receive their salaries directly, which can facilitate easier management of finances.</a:t>
            </a:r>
          </a:p>
          <a:p>
            <a:pPr algn="l">
              <a:buFont typeface="+mj-lt"/>
              <a:buAutoNum type="arabicPeriod"/>
            </a:pPr>
            <a:r>
              <a:rPr lang="en-US" b="1" i="0" dirty="0">
                <a:effectLst/>
                <a:latin typeface="Arial" panose="020B0604020202020204" pitchFamily="34" charset="0"/>
              </a:rPr>
              <a:t>Credit Opportunities</a:t>
            </a:r>
            <a:r>
              <a:rPr lang="en-US" b="0" i="0" dirty="0">
                <a:effectLst/>
                <a:latin typeface="Arial" panose="020B0604020202020204" pitchFamily="34" charset="0"/>
              </a:rPr>
              <a:t>: Employees may have access to loans, credit cards, or other financial products that are tailored for them as part of their employment package.</a:t>
            </a:r>
          </a:p>
          <a:p>
            <a:pPr algn="l">
              <a:buFont typeface="+mj-lt"/>
              <a:buAutoNum type="arabicPeriod"/>
            </a:pPr>
            <a:r>
              <a:rPr lang="en-US" b="1" i="0" dirty="0">
                <a:effectLst/>
                <a:latin typeface="Arial" panose="020B0604020202020204" pitchFamily="34" charset="0"/>
              </a:rPr>
              <a:t>Employer Contributions</a:t>
            </a:r>
            <a:r>
              <a:rPr lang="en-US" b="0" i="0" dirty="0">
                <a:effectLst/>
                <a:latin typeface="Arial" panose="020B0604020202020204" pitchFamily="34" charset="0"/>
              </a:rPr>
              <a:t>: Some systems allow for employers to make direct contributions to savings accounts, retirement funds, or other financial products on behalf of employees.</a:t>
            </a:r>
          </a:p>
          <a:p>
            <a:pPr algn="l">
              <a:buFont typeface="+mj-lt"/>
              <a:buAutoNum type="arabicPeriod"/>
            </a:pPr>
            <a:r>
              <a:rPr lang="en-US" b="1" i="0" dirty="0">
                <a:effectLst/>
                <a:latin typeface="Arial" panose="020B0604020202020204" pitchFamily="34" charset="0"/>
              </a:rPr>
              <a:t>Financial Education</a:t>
            </a:r>
            <a:r>
              <a:rPr lang="en-US" b="0" i="0" dirty="0">
                <a:effectLst/>
                <a:latin typeface="Arial" panose="020B0604020202020204" pitchFamily="34" charset="0"/>
              </a:rPr>
              <a:t>: Employers may partner with financial institutions to provide financial literacy programs to help employees understand banking products and services.</a:t>
            </a:r>
          </a:p>
          <a:p>
            <a:pPr algn="l">
              <a:buFont typeface="+mj-lt"/>
              <a:buAutoNum type="arabicPeriod"/>
            </a:pPr>
            <a:r>
              <a:rPr lang="en-US" b="1" i="0" dirty="0">
                <a:effectLst/>
                <a:latin typeface="Arial" panose="020B0604020202020204" pitchFamily="34" charset="0"/>
              </a:rPr>
              <a:t>Access to Benefits</a:t>
            </a:r>
            <a:r>
              <a:rPr lang="en-US" b="0" i="0" dirty="0">
                <a:effectLst/>
                <a:latin typeface="Arial" panose="020B0604020202020204" pitchFamily="34" charset="0"/>
              </a:rPr>
              <a:t>: Employees may gain access to additional benefits like insurance, investment options, or special interest rates on loans through their employer.</a:t>
            </a:r>
          </a:p>
          <a:p>
            <a:pPr algn="l">
              <a:buFont typeface="+mj-lt"/>
              <a:buAutoNum type="arabicPeriod"/>
            </a:pPr>
            <a:r>
              <a:rPr lang="en-US" b="1" i="0" dirty="0">
                <a:effectLst/>
                <a:latin typeface="Arial" panose="020B0604020202020204" pitchFamily="34" charset="0"/>
              </a:rPr>
              <a:t>Enhanced Trust</a:t>
            </a:r>
            <a:r>
              <a:rPr lang="en-US" b="0" i="0" dirty="0">
                <a:effectLst/>
                <a:latin typeface="Arial" panose="020B0604020202020204" pitchFamily="34" charset="0"/>
              </a:rPr>
              <a:t>: Having a banking relationship linked to employment can build trust between the financial institution and the employee, as the employer may vouch for the employee's stability.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CE0291A-65D5-4A8A-8F74-A48209598798}" type="slidenum">
              <a:rPr lang="en-US" smtClean="0"/>
              <a:t>13</a:t>
            </a:fld>
            <a:endParaRPr lang="en-US"/>
          </a:p>
        </p:txBody>
      </p:sp>
    </p:spTree>
    <p:extLst>
      <p:ext uri="{BB962C8B-B14F-4D97-AF65-F5344CB8AC3E}">
        <p14:creationId xmlns:p14="http://schemas.microsoft.com/office/powerpoint/2010/main" val="3779542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IMF WP/18/38; Kolovich &amp; Newiak (2024), Ch. 2 &amp; 15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a:effectLst/>
              <a:latin typeface="Arial" panose="020B0604020202020204" pitchFamily="34" charset="0"/>
              <a:ea typeface="Arial" panose="020B0604020202020204" pitchFamily="34" charset="0"/>
              <a:cs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fld id="{0CE0291A-65D5-4A8A-8F74-A48209598798}" type="slidenum">
              <a:rPr lang="en-US" smtClean="0"/>
              <a:t>14</a:t>
            </a:fld>
            <a:endParaRPr lang="en-US"/>
          </a:p>
        </p:txBody>
      </p:sp>
    </p:spTree>
    <p:extLst>
      <p:ext uri="{BB962C8B-B14F-4D97-AF65-F5344CB8AC3E}">
        <p14:creationId xmlns:p14="http://schemas.microsoft.com/office/powerpoint/2010/main" val="164251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IMF F&amp;D Magazine (2022); Kolovich &amp; Newiak (2024), Ch. 18</a:t>
            </a:r>
          </a:p>
          <a:p>
            <a:endParaRPr lang="en-US"/>
          </a:p>
          <a:p>
            <a:pPr algn="l">
              <a:buFont typeface="+mj-lt"/>
              <a:buAutoNum type="arabicPeriod"/>
            </a:pPr>
            <a:r>
              <a:rPr lang="en-US" b="1" i="0">
                <a:effectLst/>
                <a:latin typeface="Arial" panose="020B0604020202020204" pitchFamily="34" charset="0"/>
              </a:rPr>
              <a:t>Utility Payment History</a:t>
            </a:r>
            <a:r>
              <a:rPr lang="en-US" b="0" i="0">
                <a:effectLst/>
                <a:latin typeface="Arial" panose="020B0604020202020204" pitchFamily="34" charset="0"/>
              </a:rPr>
              <a:t>: Data on timely payment of utilities (electricity, water, internet) can indicate financial responsibility.</a:t>
            </a:r>
          </a:p>
          <a:p>
            <a:pPr algn="l">
              <a:buFont typeface="+mj-lt"/>
              <a:buAutoNum type="arabicPeriod"/>
            </a:pPr>
            <a:r>
              <a:rPr lang="en-US" b="1" i="0">
                <a:effectLst/>
                <a:latin typeface="Arial" panose="020B0604020202020204" pitchFamily="34" charset="0"/>
              </a:rPr>
              <a:t>Rental Payment History</a:t>
            </a:r>
            <a:r>
              <a:rPr lang="en-US" b="0" i="0">
                <a:effectLst/>
                <a:latin typeface="Arial" panose="020B0604020202020204" pitchFamily="34" charset="0"/>
              </a:rPr>
              <a:t>: Consistent rent payments can serve as a sign of creditworthiness.</a:t>
            </a:r>
          </a:p>
          <a:p>
            <a:pPr algn="l">
              <a:buFont typeface="+mj-lt"/>
              <a:buAutoNum type="arabicPeriod"/>
            </a:pPr>
            <a:r>
              <a:rPr lang="en-US" b="1" i="0">
                <a:effectLst/>
                <a:latin typeface="Arial" panose="020B0604020202020204" pitchFamily="34" charset="0"/>
              </a:rPr>
              <a:t>Mobile Phone Payment Records</a:t>
            </a:r>
            <a:r>
              <a:rPr lang="en-US" b="0" i="0">
                <a:effectLst/>
                <a:latin typeface="Arial" panose="020B0604020202020204" pitchFamily="34" charset="0"/>
              </a:rPr>
              <a:t>: Regular payments for mobile services can provide insights into a borrower's reliability.</a:t>
            </a:r>
          </a:p>
          <a:p>
            <a:pPr algn="l">
              <a:buFont typeface="+mj-lt"/>
              <a:buAutoNum type="arabicPeriod"/>
            </a:pPr>
            <a:r>
              <a:rPr lang="en-US" b="1" i="0">
                <a:effectLst/>
                <a:latin typeface="Arial" panose="020B0604020202020204" pitchFamily="34" charset="0"/>
              </a:rPr>
              <a:t>Social Media Activity</a:t>
            </a:r>
            <a:r>
              <a:rPr lang="en-US" b="0" i="0">
                <a:effectLst/>
                <a:latin typeface="Arial" panose="020B0604020202020204" pitchFamily="34" charset="0"/>
              </a:rPr>
              <a:t>: Analysis of social media behavior might reveal patterns related to financial stability or community involvement.</a:t>
            </a:r>
          </a:p>
          <a:p>
            <a:pPr algn="l">
              <a:buFont typeface="+mj-lt"/>
              <a:buAutoNum type="arabicPeriod"/>
            </a:pPr>
            <a:r>
              <a:rPr lang="en-US" b="1" i="0">
                <a:effectLst/>
                <a:latin typeface="Arial" panose="020B0604020202020204" pitchFamily="34" charset="0"/>
              </a:rPr>
              <a:t>E-commerce Transactions</a:t>
            </a:r>
            <a:r>
              <a:rPr lang="en-US" b="0" i="0">
                <a:effectLst/>
                <a:latin typeface="Arial" panose="020B0604020202020204" pitchFamily="34" charset="0"/>
              </a:rPr>
              <a:t>: Purchase history from online platforms can help assess spending habits and financial behavior.</a:t>
            </a:r>
          </a:p>
          <a:p>
            <a:pPr algn="l">
              <a:buFont typeface="+mj-lt"/>
              <a:buAutoNum type="arabicPeriod"/>
            </a:pPr>
            <a:r>
              <a:rPr lang="en-US" b="1" i="0">
                <a:effectLst/>
                <a:latin typeface="Arial" panose="020B0604020202020204" pitchFamily="34" charset="0"/>
              </a:rPr>
              <a:t>Employment History</a:t>
            </a:r>
            <a:r>
              <a:rPr lang="en-US" b="0" i="0">
                <a:effectLst/>
                <a:latin typeface="Arial" panose="020B0604020202020204" pitchFamily="34" charset="0"/>
              </a:rPr>
              <a:t>: Data regarding job stability, income levels, and career progression can be useful in assessing creditworthiness.</a:t>
            </a:r>
          </a:p>
          <a:p>
            <a:pPr algn="l">
              <a:buFont typeface="+mj-lt"/>
              <a:buAutoNum type="arabicPeriod"/>
            </a:pPr>
            <a:r>
              <a:rPr lang="en-US" b="1" i="0">
                <a:effectLst/>
                <a:latin typeface="Arial" panose="020B0604020202020204" pitchFamily="34" charset="0"/>
              </a:rPr>
              <a:t>Education and Professional Qualifications</a:t>
            </a:r>
            <a:r>
              <a:rPr lang="en-US" b="0" i="0">
                <a:effectLst/>
                <a:latin typeface="Arial" panose="020B0604020202020204" pitchFamily="34" charset="0"/>
              </a:rPr>
              <a:t>: Information about educational background and professional certifications can help evaluate potential earning capacity.</a:t>
            </a:r>
          </a:p>
          <a:p>
            <a:pPr algn="l">
              <a:buFont typeface="+mj-lt"/>
              <a:buAutoNum type="arabicPeriod"/>
            </a:pPr>
            <a:r>
              <a:rPr lang="en-US" b="1" i="0">
                <a:effectLst/>
                <a:latin typeface="Arial" panose="020B0604020202020204" pitchFamily="34" charset="0"/>
              </a:rPr>
              <a:t>Digital Footprint</a:t>
            </a:r>
            <a:r>
              <a:rPr lang="en-US" b="0" i="0">
                <a:effectLst/>
                <a:latin typeface="Arial" panose="020B0604020202020204" pitchFamily="34" charset="0"/>
              </a:rPr>
              <a:t>: Online behavior, such as website visits or app usage, can provide insights into lifestyle and spending habits.</a:t>
            </a:r>
          </a:p>
          <a:p>
            <a:endParaRPr lang="en-US"/>
          </a:p>
          <a:p>
            <a:endParaRPr lang="en-US"/>
          </a:p>
        </p:txBody>
      </p:sp>
      <p:sp>
        <p:nvSpPr>
          <p:cNvPr id="4" name="Slide Number Placeholder 3"/>
          <p:cNvSpPr>
            <a:spLocks noGrp="1"/>
          </p:cNvSpPr>
          <p:nvPr>
            <p:ph type="sldNum" sz="quarter" idx="5"/>
          </p:nvPr>
        </p:nvSpPr>
        <p:spPr/>
        <p:txBody>
          <a:bodyPr/>
          <a:lstStyle/>
          <a:p>
            <a:fld id="{0CE0291A-65D5-4A8A-8F74-A48209598798}" type="slidenum">
              <a:rPr lang="en-US" smtClean="0"/>
              <a:t>15</a:t>
            </a:fld>
            <a:endParaRPr lang="en-US"/>
          </a:p>
        </p:txBody>
      </p:sp>
    </p:spTree>
    <p:extLst>
      <p:ext uri="{BB962C8B-B14F-4D97-AF65-F5344CB8AC3E}">
        <p14:creationId xmlns:p14="http://schemas.microsoft.com/office/powerpoint/2010/main" val="33013317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Source: IMF Gender Strategy (2022); Kolovich &amp; Newiak (2024), Ch. 15–18</a:t>
            </a:r>
          </a:p>
          <a:p>
            <a:pPr algn="l"/>
            <a:r>
              <a:rPr lang="en-US" sz="1800" b="0" i="0" u="none" strike="noStrike" baseline="0" dirty="0">
                <a:latin typeface="SegoeUI"/>
              </a:rPr>
              <a:t>This guidance reflects the need for proportionate risk-based regulation and supervision of small and non-complex institutions striving to serve unserved and underserved customers, which are more often women than men and who typically engage in small</a:t>
            </a:r>
          </a:p>
          <a:p>
            <a:pPr algn="l"/>
            <a:r>
              <a:rPr lang="en-US" sz="1800" b="0" i="0" u="none" strike="noStrike" baseline="0" dirty="0">
                <a:latin typeface="SegoeUI"/>
              </a:rPr>
              <a:t>transactions.</a:t>
            </a:r>
            <a:endParaRPr lang="en-US" dirty="0"/>
          </a:p>
        </p:txBody>
      </p:sp>
      <p:sp>
        <p:nvSpPr>
          <p:cNvPr id="4" name="Slide Number Placeholder 3"/>
          <p:cNvSpPr>
            <a:spLocks noGrp="1"/>
          </p:cNvSpPr>
          <p:nvPr>
            <p:ph type="sldNum" sz="quarter" idx="5"/>
          </p:nvPr>
        </p:nvSpPr>
        <p:spPr/>
        <p:txBody>
          <a:bodyPr/>
          <a:lstStyle/>
          <a:p>
            <a:fld id="{0CE0291A-65D5-4A8A-8F74-A48209598798}" type="slidenum">
              <a:rPr lang="en-US" smtClean="0"/>
              <a:t>16</a:t>
            </a:fld>
            <a:endParaRPr lang="en-US"/>
          </a:p>
        </p:txBody>
      </p:sp>
    </p:spTree>
    <p:extLst>
      <p:ext uri="{BB962C8B-B14F-4D97-AF65-F5344CB8AC3E}">
        <p14:creationId xmlns:p14="http://schemas.microsoft.com/office/powerpoint/2010/main" val="39569472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1AC86-48AA-60D0-F706-E6E6C464B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7C4A56-35B6-C7BC-B978-495E339FD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59A39E-A44A-B376-B980-9D1E2F4A2FE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28D692C-58BF-6B64-7036-51B149D9E0CC}"/>
              </a:ext>
            </a:extLst>
          </p:cNvPr>
          <p:cNvSpPr>
            <a:spLocks noGrp="1"/>
          </p:cNvSpPr>
          <p:nvPr>
            <p:ph type="sldNum" sz="quarter" idx="5"/>
          </p:nvPr>
        </p:nvSpPr>
        <p:spPr/>
        <p:txBody>
          <a:bodyPr/>
          <a:lstStyle/>
          <a:p>
            <a:fld id="{0CE0291A-65D5-4A8A-8F74-A48209598798}" type="slidenum">
              <a:rPr lang="en-US" smtClean="0"/>
              <a:t>17</a:t>
            </a:fld>
            <a:endParaRPr lang="en-US"/>
          </a:p>
        </p:txBody>
      </p:sp>
    </p:spTree>
    <p:extLst>
      <p:ext uri="{BB962C8B-B14F-4D97-AF65-F5344CB8AC3E}">
        <p14:creationId xmlns:p14="http://schemas.microsoft.com/office/powerpoint/2010/main" val="39755494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C7D4D-0C4A-A96C-D3F9-B6F74B93D4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C788A8-4FE1-5201-2F0E-7085C2483C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D0DE1E2-42EE-9271-D6FE-7E12EA534FAF}"/>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17EE60A6-7E60-FA54-2186-F80E452DAC1D}"/>
              </a:ext>
            </a:extLst>
          </p:cNvPr>
          <p:cNvSpPr>
            <a:spLocks noGrp="1"/>
          </p:cNvSpPr>
          <p:nvPr>
            <p:ph type="dt" idx="1"/>
          </p:nvPr>
        </p:nvSpPr>
        <p:spPr/>
        <p:txBody>
          <a:bodyPr/>
          <a:lstStyle/>
          <a:p>
            <a:fld id="{49E4E862-E263-8B4A-AFB5-DFAAA754BCA9}" type="datetime1">
              <a:rPr lang="en-US" smtClean="0"/>
              <a:t>5/26/2026</a:t>
            </a:fld>
            <a:endParaRPr lang="en-US"/>
          </a:p>
        </p:txBody>
      </p:sp>
      <p:sp>
        <p:nvSpPr>
          <p:cNvPr id="5" name="Slide Number Placeholder 4">
            <a:extLst>
              <a:ext uri="{FF2B5EF4-FFF2-40B4-BE49-F238E27FC236}">
                <a16:creationId xmlns:a16="http://schemas.microsoft.com/office/drawing/2014/main" id="{CB8A206F-9420-B02F-2A02-E98138FE3296}"/>
              </a:ext>
            </a:extLst>
          </p:cNvPr>
          <p:cNvSpPr>
            <a:spLocks noGrp="1"/>
          </p:cNvSpPr>
          <p:nvPr>
            <p:ph type="sldNum" sz="quarter" idx="5"/>
          </p:nvPr>
        </p:nvSpPr>
        <p:spPr/>
        <p:txBody>
          <a:bodyPr/>
          <a:lstStyle/>
          <a:p>
            <a:fld id="{BA49F774-CCF9-492C-9AEB-F2814D4A6625}" type="slidenum">
              <a:rPr lang="en-US" smtClean="0"/>
              <a:pPr/>
              <a:t>19</a:t>
            </a:fld>
            <a:endParaRPr lang="en-US"/>
          </a:p>
        </p:txBody>
      </p:sp>
    </p:spTree>
    <p:extLst>
      <p:ext uri="{BB962C8B-B14F-4D97-AF65-F5344CB8AC3E}">
        <p14:creationId xmlns:p14="http://schemas.microsoft.com/office/powerpoint/2010/main" val="15147419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CE0291A-65D5-4A8A-8F74-A48209598798}" type="slidenum">
              <a:rPr lang="en-US" smtClean="0"/>
              <a:t>27</a:t>
            </a:fld>
            <a:endParaRPr lang="en-US"/>
          </a:p>
        </p:txBody>
      </p:sp>
    </p:spTree>
    <p:extLst>
      <p:ext uri="{BB962C8B-B14F-4D97-AF65-F5344CB8AC3E}">
        <p14:creationId xmlns:p14="http://schemas.microsoft.com/office/powerpoint/2010/main" val="23537464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Demand-Side Data </a:t>
            </a:r>
            <a:r>
              <a:rPr lang="en-US" dirty="0"/>
              <a:t>are </a:t>
            </a:r>
            <a:r>
              <a:rPr lang="en-US" b="1" dirty="0"/>
              <a:t>collected directly from households or firms through surveys</a:t>
            </a:r>
            <a:r>
              <a:rPr lang="en-US" dirty="0"/>
              <a:t>. These data capture the experiences, needs, and satisfaction levels of users with financial services, often </a:t>
            </a:r>
            <a:r>
              <a:rPr lang="en-US" b="1" dirty="0"/>
              <a:t>including users’ perceptions </a:t>
            </a:r>
            <a:r>
              <a:rPr lang="en-US" dirty="0"/>
              <a:t>of those services. </a:t>
            </a:r>
            <a:r>
              <a:rPr lang="en-US" b="1" dirty="0"/>
              <a:t>Detailed but low frequency</a:t>
            </a:r>
          </a:p>
          <a:p>
            <a:endParaRPr lang="en-US" dirty="0"/>
          </a:p>
          <a:p>
            <a:r>
              <a:rPr lang="en-US" b="1" dirty="0"/>
              <a:t>Supply-Side Data </a:t>
            </a:r>
            <a:r>
              <a:rPr lang="en-US" dirty="0"/>
              <a:t>are </a:t>
            </a:r>
            <a:r>
              <a:rPr lang="en-US" b="1" dirty="0"/>
              <a:t>sourced from FSPs through administrative or supervisory sources</a:t>
            </a:r>
            <a:r>
              <a:rPr lang="en-US" dirty="0"/>
              <a:t>. The strength of supply-side data lies in their ability to </a:t>
            </a:r>
            <a:r>
              <a:rPr lang="en-US" b="1" dirty="0"/>
              <a:t>provide actual transactional data </a:t>
            </a:r>
            <a:r>
              <a:rPr lang="en-US" dirty="0"/>
              <a:t>on the availability and usage of financial services. These data are typically </a:t>
            </a:r>
            <a:r>
              <a:rPr lang="en-US" b="1" dirty="0"/>
              <a:t>more cost-effective </a:t>
            </a:r>
            <a:r>
              <a:rPr lang="en-US" dirty="0"/>
              <a:t>to collect and can be made available </a:t>
            </a:r>
            <a:r>
              <a:rPr lang="en-US" b="1" dirty="0"/>
              <a:t>more frequently </a:t>
            </a:r>
            <a:r>
              <a:rPr lang="en-US" dirty="0"/>
              <a:t>than demand-side data. </a:t>
            </a:r>
          </a:p>
          <a:p>
            <a:endParaRPr lang="en-US" dirty="0"/>
          </a:p>
        </p:txBody>
      </p:sp>
      <p:sp>
        <p:nvSpPr>
          <p:cNvPr id="4" name="Date Placeholder 3"/>
          <p:cNvSpPr>
            <a:spLocks noGrp="1"/>
          </p:cNvSpPr>
          <p:nvPr>
            <p:ph type="dt" idx="1"/>
          </p:nvPr>
        </p:nvSpPr>
        <p:spPr/>
        <p:txBody>
          <a:bodyPr/>
          <a:lstStyle/>
          <a:p>
            <a:fld id="{49E4E862-E263-8B4A-AFB5-DFAAA754BCA9}" type="datetime1">
              <a:rPr lang="en-US" smtClean="0"/>
              <a:t>5/26/2026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28</a:t>
            </a:fld>
            <a:endParaRPr lang="en-US"/>
          </a:p>
        </p:txBody>
      </p:sp>
    </p:spTree>
    <p:extLst>
      <p:ext uri="{BB962C8B-B14F-4D97-AF65-F5344CB8AC3E}">
        <p14:creationId xmlns:p14="http://schemas.microsoft.com/office/powerpoint/2010/main" val="3392780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available at the World Bank’s Gender Data Portal!</a:t>
            </a:r>
          </a:p>
        </p:txBody>
      </p:sp>
      <p:sp>
        <p:nvSpPr>
          <p:cNvPr id="4" name="Date Placeholder 3"/>
          <p:cNvSpPr>
            <a:spLocks noGrp="1"/>
          </p:cNvSpPr>
          <p:nvPr>
            <p:ph type="dt" idx="1"/>
          </p:nvPr>
        </p:nvSpPr>
        <p:spPr/>
        <p:txBody>
          <a:bodyPr/>
          <a:lstStyle/>
          <a:p>
            <a:fld id="{49E4E862-E263-8B4A-AFB5-DFAAA754BCA9}" type="datetime1">
              <a:rPr lang="en-US" smtClean="0"/>
              <a:t>5/26/2026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29</a:t>
            </a:fld>
            <a:endParaRPr lang="en-US"/>
          </a:p>
        </p:txBody>
      </p:sp>
    </p:spTree>
    <p:extLst>
      <p:ext uri="{BB962C8B-B14F-4D97-AF65-F5344CB8AC3E}">
        <p14:creationId xmlns:p14="http://schemas.microsoft.com/office/powerpoint/2010/main" val="21743365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10000"/>
              </a:lnSpc>
              <a:spcBef>
                <a:spcPts val="0"/>
              </a:spcBef>
              <a:spcAft>
                <a:spcPts val="0"/>
              </a:spcAft>
            </a:pPr>
            <a:r>
              <a:rPr lang="en-US" sz="2800"/>
              <a:t>The latest available data for Kenya, Malawi, Tanzania and Uganda is from 2024. For Rwanda, the most recent data is from 2017. WB has removed Ethiopia data in latest release of financial inclusion report</a:t>
            </a:r>
          </a:p>
          <a:p>
            <a:pPr marL="0" marR="0" algn="just">
              <a:lnSpc>
                <a:spcPct val="110000"/>
              </a:lnSpc>
              <a:spcBef>
                <a:spcPts val="0"/>
              </a:spcBef>
              <a:spcAft>
                <a:spcPts val="0"/>
              </a:spcAft>
            </a:pPr>
            <a:endParaRPr lang="en-US" sz="2800">
              <a:effectLst/>
              <a:latin typeface="Times New Roman" panose="02020603050405020304" pitchFamily="18" charset="0"/>
              <a:ea typeface="PMingLiU" panose="02020500000000000000" pitchFamily="18" charset="-120"/>
            </a:endParaRPr>
          </a:p>
          <a:p>
            <a:pPr algn="l"/>
            <a:r>
              <a:rPr lang="en-US" sz="2800" b="1" i="0">
                <a:effectLst/>
                <a:latin typeface="AvenirNextWorld-Regular"/>
              </a:rPr>
              <a:t>Key Features of a Mobile Money Account:</a:t>
            </a:r>
          </a:p>
          <a:p>
            <a:pPr algn="l">
              <a:buFont typeface="+mj-lt"/>
              <a:buAutoNum type="arabicPeriod"/>
            </a:pPr>
            <a:r>
              <a:rPr lang="en-US" sz="2800" b="1" i="0">
                <a:effectLst/>
                <a:latin typeface="Arial" panose="020B0604020202020204" pitchFamily="34" charset="0"/>
              </a:rPr>
              <a:t>Digital Wallet</a:t>
            </a:r>
            <a:r>
              <a:rPr lang="en-US" sz="2800" b="0" i="0">
                <a:effectLst/>
                <a:latin typeface="Arial" panose="020B0604020202020204" pitchFamily="34" charset="0"/>
              </a:rPr>
              <a:t>: The mobile money account acts as a digital wallet where users can keep their funds securely and access them from their mobile phones.</a:t>
            </a:r>
          </a:p>
          <a:p>
            <a:pPr algn="l">
              <a:buFont typeface="+mj-lt"/>
              <a:buAutoNum type="arabicPeriod"/>
            </a:pPr>
            <a:r>
              <a:rPr lang="en-US" sz="2800" b="1" i="0">
                <a:effectLst/>
                <a:latin typeface="Arial" panose="020B0604020202020204" pitchFamily="34" charset="0"/>
              </a:rPr>
              <a:t>Money Transfers</a:t>
            </a:r>
            <a:r>
              <a:rPr lang="en-US" sz="2800" b="0" i="0">
                <a:effectLst/>
                <a:latin typeface="Arial" panose="020B0604020202020204" pitchFamily="34" charset="0"/>
              </a:rPr>
              <a:t>: Users can send and receive money to and from other mobile money accounts or bank accounts, facilitating peer-to-peer transactions.</a:t>
            </a:r>
          </a:p>
          <a:p>
            <a:pPr algn="l">
              <a:buFont typeface="+mj-lt"/>
              <a:buAutoNum type="arabicPeriod"/>
            </a:pPr>
            <a:r>
              <a:rPr lang="en-US" sz="2800" b="1" i="0">
                <a:effectLst/>
                <a:latin typeface="Arial" panose="020B0604020202020204" pitchFamily="34" charset="0"/>
              </a:rPr>
              <a:t>Bill Payments</a:t>
            </a:r>
            <a:r>
              <a:rPr lang="en-US" sz="2800" b="0" i="0">
                <a:effectLst/>
                <a:latin typeface="Arial" panose="020B0604020202020204" pitchFamily="34" charset="0"/>
              </a:rPr>
              <a:t>: Mobile money accounts often allow users to pay utility bills, school fees, and other services directly from their accounts.</a:t>
            </a:r>
          </a:p>
          <a:p>
            <a:pPr algn="l">
              <a:buFont typeface="+mj-lt"/>
              <a:buAutoNum type="arabicPeriod"/>
            </a:pPr>
            <a:r>
              <a:rPr lang="en-US" sz="2800" b="1" i="0">
                <a:effectLst/>
                <a:latin typeface="Arial" panose="020B0604020202020204" pitchFamily="34" charset="0"/>
              </a:rPr>
              <a:t>Purchasing Goods and Services</a:t>
            </a:r>
            <a:r>
              <a:rPr lang="en-US" sz="2800" b="0" i="0">
                <a:effectLst/>
                <a:latin typeface="Arial" panose="020B0604020202020204" pitchFamily="34" charset="0"/>
              </a:rPr>
              <a:t>: Users can make payments for goods and services at merchants that accept mobile money, often through QR codes or SMS confirmations.</a:t>
            </a:r>
          </a:p>
          <a:p>
            <a:pPr algn="l">
              <a:buFont typeface="+mj-lt"/>
              <a:buAutoNum type="arabicPeriod"/>
            </a:pPr>
            <a:r>
              <a:rPr lang="en-US" sz="2800" b="1" i="0">
                <a:effectLst/>
                <a:latin typeface="Arial" panose="020B0604020202020204" pitchFamily="34" charset="0"/>
              </a:rPr>
              <a:t>Access to Financial Products</a:t>
            </a:r>
            <a:r>
              <a:rPr lang="en-US" sz="2800" b="0" i="0">
                <a:effectLst/>
                <a:latin typeface="Arial" panose="020B0604020202020204" pitchFamily="34" charset="0"/>
              </a:rPr>
              <a:t>: Many mobile money accounts provide additional financial services, such as savings accounts, microloans, and insurance.</a:t>
            </a:r>
          </a:p>
          <a:p>
            <a:pPr algn="l">
              <a:buFont typeface="+mj-lt"/>
              <a:buAutoNum type="arabicPeriod"/>
            </a:pPr>
            <a:r>
              <a:rPr lang="en-US" sz="2800" b="1" i="0">
                <a:effectLst/>
                <a:latin typeface="Arial" panose="020B0604020202020204" pitchFamily="34" charset="0"/>
              </a:rPr>
              <a:t>User-Friendly Interface</a:t>
            </a:r>
            <a:r>
              <a:rPr lang="en-US" sz="2800" b="0" i="0">
                <a:effectLst/>
                <a:latin typeface="Arial" panose="020B0604020202020204" pitchFamily="34" charset="0"/>
              </a:rPr>
              <a:t>: Transactions can typically be conducted via SMS, mobile apps, or USSD codes, making it accessible to users with varying levels of technology proficiency.</a:t>
            </a:r>
          </a:p>
          <a:p>
            <a:pPr algn="l">
              <a:buFont typeface="+mj-lt"/>
              <a:buAutoNum type="arabicPeriod"/>
            </a:pPr>
            <a:r>
              <a:rPr lang="en-US" sz="2800" b="1" i="0">
                <a:effectLst/>
                <a:latin typeface="Arial" panose="020B0604020202020204" pitchFamily="34" charset="0"/>
              </a:rPr>
              <a:t>Security Features</a:t>
            </a:r>
            <a:r>
              <a:rPr lang="en-US" sz="2800" b="0" i="0">
                <a:effectLst/>
                <a:latin typeface="Arial" panose="020B0604020202020204" pitchFamily="34" charset="0"/>
              </a:rPr>
              <a:t>: Mobile money accounts usually incorporate security measures such as PIN codes, biometric authentication, and transaction alerts to protect users' funds.</a:t>
            </a:r>
          </a:p>
          <a:p>
            <a:pPr marL="0" marR="0" algn="just">
              <a:lnSpc>
                <a:spcPct val="110000"/>
              </a:lnSpc>
              <a:spcBef>
                <a:spcPts val="0"/>
              </a:spcBef>
              <a:spcAft>
                <a:spcPts val="0"/>
              </a:spcAft>
            </a:pPr>
            <a:endParaRPr lang="en-US" sz="1800">
              <a:effectLst/>
              <a:latin typeface="Times New Roman" panose="02020603050405020304" pitchFamily="18" charset="0"/>
              <a:ea typeface="PMingLiU" panose="02020500000000000000" pitchFamily="18" charset="-120"/>
            </a:endParaRPr>
          </a:p>
        </p:txBody>
      </p:sp>
      <p:sp>
        <p:nvSpPr>
          <p:cNvPr id="4" name="Date Placeholder 3"/>
          <p:cNvSpPr>
            <a:spLocks noGrp="1"/>
          </p:cNvSpPr>
          <p:nvPr>
            <p:ph type="dt" idx="1"/>
          </p:nvPr>
        </p:nvSpPr>
        <p:spPr/>
        <p:txBody>
          <a:bodyPr/>
          <a:lstStyle/>
          <a:p>
            <a:fld id="{F2FB1009-8102-467C-88A3-A8200E3708E5}" type="datetime1">
              <a:rPr lang="en-US" smtClean="0"/>
              <a:t>5/26/2026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30</a:t>
            </a:fld>
            <a:endParaRPr lang="en-US"/>
          </a:p>
        </p:txBody>
      </p:sp>
    </p:spTree>
    <p:extLst>
      <p:ext uri="{BB962C8B-B14F-4D97-AF65-F5344CB8AC3E}">
        <p14:creationId xmlns:p14="http://schemas.microsoft.com/office/powerpoint/2010/main" val="2090914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9E4E862-E263-8B4A-AFB5-DFAAA754BCA9}" type="datetime1">
              <a:rPr lang="en-US" smtClean="0"/>
              <a:t>5/26/2026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31</a:t>
            </a:fld>
            <a:endParaRPr lang="en-US"/>
          </a:p>
        </p:txBody>
      </p:sp>
    </p:spTree>
    <p:extLst>
      <p:ext uri="{BB962C8B-B14F-4D97-AF65-F5344CB8AC3E}">
        <p14:creationId xmlns:p14="http://schemas.microsoft.com/office/powerpoint/2010/main" val="26596870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t>savings clubs: </a:t>
            </a:r>
            <a:r>
              <a:rPr lang="en-US" sz="1200"/>
              <a:t>While microfinance institutions help reduce the gender gap, they still do not fully close it, and informal financial systems (e.g., savings clubs) may not have risk management tools (financial protection), regulatory protection, limited services. </a:t>
            </a:r>
          </a:p>
          <a:p>
            <a:endParaRPr lang="en-US"/>
          </a:p>
        </p:txBody>
      </p:sp>
      <p:sp>
        <p:nvSpPr>
          <p:cNvPr id="4" name="Date Placeholder 3"/>
          <p:cNvSpPr>
            <a:spLocks noGrp="1"/>
          </p:cNvSpPr>
          <p:nvPr>
            <p:ph type="dt" idx="1"/>
          </p:nvPr>
        </p:nvSpPr>
        <p:spPr/>
        <p:txBody>
          <a:bodyPr/>
          <a:lstStyle/>
          <a:p>
            <a:fld id="{49E4E862-E263-8B4A-AFB5-DFAAA754BCA9}" type="datetime1">
              <a:rPr lang="en-US" smtClean="0"/>
              <a:t>5/26/2026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33</a:t>
            </a:fld>
            <a:endParaRPr lang="en-US"/>
          </a:p>
        </p:txBody>
      </p:sp>
    </p:spTree>
    <p:extLst>
      <p:ext uri="{BB962C8B-B14F-4D97-AF65-F5344CB8AC3E}">
        <p14:creationId xmlns:p14="http://schemas.microsoft.com/office/powerpoint/2010/main" val="38750532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Nearly </a:t>
            </a:r>
            <a:r>
              <a:rPr lang="en-US" b="1"/>
              <a:t>complete global coverage</a:t>
            </a:r>
            <a:r>
              <a:rPr lang="en-US"/>
              <a:t>. </a:t>
            </a:r>
          </a:p>
          <a:p>
            <a:r>
              <a:rPr lang="en-US"/>
              <a:t>Encompasses </a:t>
            </a:r>
            <a:r>
              <a:rPr lang="en-US" b="1"/>
              <a:t>192 economies</a:t>
            </a:r>
            <a:r>
              <a:rPr lang="en-US"/>
              <a:t>—including 36 out of the 39 fragile and conflict-affected states (Annex I). </a:t>
            </a:r>
          </a:p>
          <a:p>
            <a:r>
              <a:rPr lang="en-US"/>
              <a:t>The dataset spans </a:t>
            </a:r>
            <a:r>
              <a:rPr lang="en-US" b="1"/>
              <a:t>two decades (2004–2023</a:t>
            </a:r>
            <a:r>
              <a:rPr lang="en-US"/>
              <a:t>)</a:t>
            </a:r>
          </a:p>
          <a:p>
            <a:endParaRPr lang="en-US"/>
          </a:p>
          <a:p>
            <a:r>
              <a:rPr lang="en-US" b="1"/>
              <a:t>The FAS comprises 121 series </a:t>
            </a:r>
            <a:r>
              <a:rPr lang="en-US"/>
              <a:t>reported directly by participating economies and </a:t>
            </a:r>
            <a:r>
              <a:rPr lang="en-US" b="1"/>
              <a:t>70 estimated indicators</a:t>
            </a:r>
            <a:r>
              <a:rPr lang="en-US"/>
              <a:t>. </a:t>
            </a:r>
          </a:p>
          <a:p>
            <a:r>
              <a:rPr lang="en-US" b="1"/>
              <a:t>Access points are tracked by 125 series</a:t>
            </a:r>
            <a:r>
              <a:rPr lang="en-US"/>
              <a:t>, while </a:t>
            </a:r>
            <a:r>
              <a:rPr lang="en-US" b="1"/>
              <a:t>usage of financial services is tracked by 106 series</a:t>
            </a:r>
            <a:r>
              <a:rPr lang="en-US"/>
              <a:t>. </a:t>
            </a:r>
          </a:p>
          <a:p>
            <a:endParaRPr lang="en-US"/>
          </a:p>
          <a:p>
            <a:r>
              <a:rPr lang="en-US"/>
              <a:t>Thank authorities for their </a:t>
            </a:r>
            <a:r>
              <a:rPr lang="en-US" b="1"/>
              <a:t>excellent FAS reporting </a:t>
            </a:r>
            <a:r>
              <a:rPr lang="en-US"/>
              <a:t>and </a:t>
            </a:r>
            <a:r>
              <a:rPr lang="en-US" b="1"/>
              <a:t>invite to make an extra effort to improve reporting of gender disaggregation</a:t>
            </a:r>
          </a:p>
          <a:p>
            <a:endParaRPr lang="en-US" b="1"/>
          </a:p>
          <a:p>
            <a:r>
              <a:rPr lang="en-US" b="1"/>
              <a:t>https://www.imf.org/en/News/Articles/2024/10/30/pr-24400-imf-releases-the-2024-financial-access-survey-results </a:t>
            </a:r>
          </a:p>
        </p:txBody>
      </p:sp>
      <p:sp>
        <p:nvSpPr>
          <p:cNvPr id="4" name="Slide Number Placeholder 3"/>
          <p:cNvSpPr>
            <a:spLocks noGrp="1"/>
          </p:cNvSpPr>
          <p:nvPr>
            <p:ph type="sldNum" sz="quarter" idx="5"/>
          </p:nvPr>
        </p:nvSpPr>
        <p:spPr/>
        <p:txBody>
          <a:bodyPr/>
          <a:lstStyle/>
          <a:p>
            <a:fld id="{B8617403-9157-4484-802E-AA1E129C24DE}" type="slidenum">
              <a:rPr lang="en-US" smtClean="0"/>
              <a:t>34</a:t>
            </a:fld>
            <a:endParaRPr lang="en-US"/>
          </a:p>
        </p:txBody>
      </p:sp>
    </p:spTree>
    <p:extLst>
      <p:ext uri="{BB962C8B-B14F-4D97-AF65-F5344CB8AC3E}">
        <p14:creationId xmlns:p14="http://schemas.microsoft.com/office/powerpoint/2010/main" val="35335918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9E4E862-E263-8B4A-AFB5-DFAAA754BCA9}" type="datetime1">
              <a:rPr lang="en-US" smtClean="0"/>
              <a:t>5/26/2026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35</a:t>
            </a:fld>
            <a:endParaRPr lang="en-US"/>
          </a:p>
        </p:txBody>
      </p:sp>
    </p:spTree>
    <p:extLst>
      <p:ext uri="{BB962C8B-B14F-4D97-AF65-F5344CB8AC3E}">
        <p14:creationId xmlns:p14="http://schemas.microsoft.com/office/powerpoint/2010/main" val="1907806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9E4E862-E263-8B4A-AFB5-DFAAA754BCA9}" type="datetime1">
              <a:rPr lang="en-US" smtClean="0"/>
              <a:t>5/26/2026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36</a:t>
            </a:fld>
            <a:endParaRPr lang="en-US"/>
          </a:p>
        </p:txBody>
      </p:sp>
    </p:spTree>
    <p:extLst>
      <p:ext uri="{BB962C8B-B14F-4D97-AF65-F5344CB8AC3E}">
        <p14:creationId xmlns:p14="http://schemas.microsoft.com/office/powerpoint/2010/main" val="26641875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9E4E862-E263-8B4A-AFB5-DFAAA754BCA9}" type="datetime1">
              <a:rPr lang="en-US" smtClean="0"/>
              <a:t>5/26/2026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37</a:t>
            </a:fld>
            <a:endParaRPr lang="en-US"/>
          </a:p>
        </p:txBody>
      </p:sp>
    </p:spTree>
    <p:extLst>
      <p:ext uri="{BB962C8B-B14F-4D97-AF65-F5344CB8AC3E}">
        <p14:creationId xmlns:p14="http://schemas.microsoft.com/office/powerpoint/2010/main" val="27206272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49E4E862-E263-8B4A-AFB5-DFAAA754BCA9}" type="datetime1">
              <a:rPr lang="en-US" smtClean="0"/>
              <a:t>5/26/2026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38</a:t>
            </a:fld>
            <a:endParaRPr lang="en-US"/>
          </a:p>
        </p:txBody>
      </p:sp>
    </p:spTree>
    <p:extLst>
      <p:ext uri="{BB962C8B-B14F-4D97-AF65-F5344CB8AC3E}">
        <p14:creationId xmlns:p14="http://schemas.microsoft.com/office/powerpoint/2010/main" val="14336114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Missing Eritrea, Malawi, Tanzania. </a:t>
            </a:r>
          </a:p>
          <a:p>
            <a:endParaRPr lang="en-US"/>
          </a:p>
          <a:p>
            <a:r>
              <a:rPr lang="en-US"/>
              <a:t>With data:</a:t>
            </a:r>
          </a:p>
          <a:p>
            <a:pPr lvl="1"/>
            <a:r>
              <a:rPr lang="en-US"/>
              <a:t>Ethiopia</a:t>
            </a:r>
          </a:p>
          <a:p>
            <a:pPr lvl="1"/>
            <a:r>
              <a:rPr lang="en-US"/>
              <a:t>Kenya</a:t>
            </a:r>
          </a:p>
          <a:p>
            <a:pPr lvl="1"/>
            <a:r>
              <a:rPr lang="en-US" b="1"/>
              <a:t>Malawi</a:t>
            </a:r>
          </a:p>
          <a:p>
            <a:pPr lvl="1"/>
            <a:r>
              <a:rPr lang="en-US"/>
              <a:t>Rwanda</a:t>
            </a:r>
          </a:p>
          <a:p>
            <a:pPr lvl="1"/>
            <a:r>
              <a:rPr lang="en-US" b="1"/>
              <a:t>South Sudan</a:t>
            </a:r>
          </a:p>
          <a:p>
            <a:pPr lvl="1"/>
            <a:r>
              <a:rPr lang="en-US"/>
              <a:t>Tanzania</a:t>
            </a:r>
          </a:p>
          <a:p>
            <a:pPr lvl="1"/>
            <a:r>
              <a:rPr lang="en-US" b="1"/>
              <a:t>Uganda</a:t>
            </a:r>
            <a:endParaRPr lang="en-US"/>
          </a:p>
          <a:p>
            <a:r>
              <a:rPr lang="en-US" b="1"/>
              <a:t>In bold: </a:t>
            </a:r>
            <a:r>
              <a:rPr lang="en-US"/>
              <a:t>gender-disaggregated data available</a:t>
            </a:r>
          </a:p>
          <a:p>
            <a:endParaRPr lang="en-US"/>
          </a:p>
        </p:txBody>
      </p:sp>
      <p:sp>
        <p:nvSpPr>
          <p:cNvPr id="4" name="Date Placeholder 3"/>
          <p:cNvSpPr>
            <a:spLocks noGrp="1"/>
          </p:cNvSpPr>
          <p:nvPr>
            <p:ph type="dt" idx="1"/>
          </p:nvPr>
        </p:nvSpPr>
        <p:spPr/>
        <p:txBody>
          <a:bodyPr/>
          <a:lstStyle/>
          <a:p>
            <a:fld id="{49E4E862-E263-8B4A-AFB5-DFAAA754BCA9}" type="datetime1">
              <a:rPr lang="en-US" smtClean="0"/>
              <a:t>5/26/2026</a:t>
            </a:fld>
            <a:endParaRPr lang="en-US"/>
          </a:p>
        </p:txBody>
      </p:sp>
      <p:sp>
        <p:nvSpPr>
          <p:cNvPr id="5" name="Slide Number Placeholder 4"/>
          <p:cNvSpPr>
            <a:spLocks noGrp="1"/>
          </p:cNvSpPr>
          <p:nvPr>
            <p:ph type="sldNum" sz="quarter" idx="5"/>
          </p:nvPr>
        </p:nvSpPr>
        <p:spPr/>
        <p:txBody>
          <a:bodyPr/>
          <a:lstStyle/>
          <a:p>
            <a:fld id="{BA49F774-CCF9-492C-9AEB-F2814D4A6625}" type="slidenum">
              <a:rPr lang="en-US" smtClean="0"/>
              <a:pPr/>
              <a:t>39</a:t>
            </a:fld>
            <a:endParaRPr lang="en-US"/>
          </a:p>
        </p:txBody>
      </p:sp>
    </p:spTree>
    <p:extLst>
      <p:ext uri="{BB962C8B-B14F-4D97-AF65-F5344CB8AC3E}">
        <p14:creationId xmlns:p14="http://schemas.microsoft.com/office/powerpoint/2010/main" val="8724429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25D73-1CFF-CCB0-C879-58B79E5771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B71B7-FE06-BC8A-105F-CACCC696B4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5B6345-C1BE-8492-34D7-E9D6ADD45641}"/>
              </a:ext>
            </a:extLst>
          </p:cNvPr>
          <p:cNvSpPr>
            <a:spLocks noGrp="1"/>
          </p:cNvSpPr>
          <p:nvPr>
            <p:ph type="body" idx="1"/>
          </p:nvPr>
        </p:nvSpPr>
        <p:spPr/>
        <p:txBody>
          <a:bodyPr/>
          <a:lstStyle/>
          <a:p>
            <a:r>
              <a:rPr lang="en-US"/>
              <a:t>Missing Eritrea, Malawi, Tanzania. </a:t>
            </a:r>
          </a:p>
          <a:p>
            <a:endParaRPr lang="en-US"/>
          </a:p>
          <a:p>
            <a:r>
              <a:rPr lang="en-US"/>
              <a:t>With data:</a:t>
            </a:r>
          </a:p>
          <a:p>
            <a:pPr lvl="1"/>
            <a:r>
              <a:rPr lang="en-US"/>
              <a:t>Ethiopia</a:t>
            </a:r>
          </a:p>
          <a:p>
            <a:pPr lvl="1"/>
            <a:r>
              <a:rPr lang="en-US"/>
              <a:t>Kenya</a:t>
            </a:r>
          </a:p>
          <a:p>
            <a:pPr lvl="1"/>
            <a:r>
              <a:rPr lang="en-US" b="1"/>
              <a:t>Malawi</a:t>
            </a:r>
          </a:p>
          <a:p>
            <a:pPr lvl="1"/>
            <a:r>
              <a:rPr lang="en-US"/>
              <a:t>Rwanda</a:t>
            </a:r>
          </a:p>
          <a:p>
            <a:pPr lvl="1"/>
            <a:r>
              <a:rPr lang="en-US" b="1"/>
              <a:t>South Sudan</a:t>
            </a:r>
          </a:p>
          <a:p>
            <a:pPr lvl="1"/>
            <a:r>
              <a:rPr lang="en-US"/>
              <a:t>Tanzania</a:t>
            </a:r>
          </a:p>
          <a:p>
            <a:pPr lvl="1"/>
            <a:r>
              <a:rPr lang="en-US" b="1"/>
              <a:t>Uganda</a:t>
            </a:r>
            <a:endParaRPr lang="en-US"/>
          </a:p>
          <a:p>
            <a:r>
              <a:rPr lang="en-US" b="1"/>
              <a:t>In bold: </a:t>
            </a:r>
            <a:r>
              <a:rPr lang="en-US"/>
              <a:t>gender-disaggregated data available</a:t>
            </a:r>
          </a:p>
          <a:p>
            <a:endParaRPr lang="en-US"/>
          </a:p>
        </p:txBody>
      </p:sp>
      <p:sp>
        <p:nvSpPr>
          <p:cNvPr id="4" name="Date Placeholder 3">
            <a:extLst>
              <a:ext uri="{FF2B5EF4-FFF2-40B4-BE49-F238E27FC236}">
                <a16:creationId xmlns:a16="http://schemas.microsoft.com/office/drawing/2014/main" id="{72CC897E-D5B9-0D5D-9681-5850B14D3FFB}"/>
              </a:ext>
            </a:extLst>
          </p:cNvPr>
          <p:cNvSpPr>
            <a:spLocks noGrp="1"/>
          </p:cNvSpPr>
          <p:nvPr>
            <p:ph type="dt" idx="1"/>
          </p:nvPr>
        </p:nvSpPr>
        <p:spPr/>
        <p:txBody>
          <a:bodyPr/>
          <a:lstStyle/>
          <a:p>
            <a:fld id="{49E4E862-E263-8B4A-AFB5-DFAAA754BCA9}" type="datetime1">
              <a:rPr lang="en-US" smtClean="0"/>
              <a:t>5/26/2026</a:t>
            </a:fld>
            <a:endParaRPr lang="en-US"/>
          </a:p>
        </p:txBody>
      </p:sp>
      <p:sp>
        <p:nvSpPr>
          <p:cNvPr id="5" name="Slide Number Placeholder 4">
            <a:extLst>
              <a:ext uri="{FF2B5EF4-FFF2-40B4-BE49-F238E27FC236}">
                <a16:creationId xmlns:a16="http://schemas.microsoft.com/office/drawing/2014/main" id="{7FFA49C2-1218-43EB-BA8B-774D7419B38E}"/>
              </a:ext>
            </a:extLst>
          </p:cNvPr>
          <p:cNvSpPr>
            <a:spLocks noGrp="1"/>
          </p:cNvSpPr>
          <p:nvPr>
            <p:ph type="sldNum" sz="quarter" idx="5"/>
          </p:nvPr>
        </p:nvSpPr>
        <p:spPr/>
        <p:txBody>
          <a:bodyPr/>
          <a:lstStyle/>
          <a:p>
            <a:fld id="{BA49F774-CCF9-492C-9AEB-F2814D4A6625}" type="slidenum">
              <a:rPr lang="en-US" smtClean="0"/>
              <a:pPr/>
              <a:t>40</a:t>
            </a:fld>
            <a:endParaRPr lang="en-US"/>
          </a:p>
        </p:txBody>
      </p:sp>
    </p:spTree>
    <p:extLst>
      <p:ext uri="{BB962C8B-B14F-4D97-AF65-F5344CB8AC3E}">
        <p14:creationId xmlns:p14="http://schemas.microsoft.com/office/powerpoint/2010/main" val="8194654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CE0291A-65D5-4A8A-8F74-A48209598798}" type="slidenum">
              <a:rPr lang="en-US" smtClean="0"/>
              <a:t>42</a:t>
            </a:fld>
            <a:endParaRPr lang="en-US"/>
          </a:p>
        </p:txBody>
      </p:sp>
    </p:spTree>
    <p:extLst>
      <p:ext uri="{BB962C8B-B14F-4D97-AF65-F5344CB8AC3E}">
        <p14:creationId xmlns:p14="http://schemas.microsoft.com/office/powerpoint/2010/main" val="23410807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CE0291A-65D5-4A8A-8F74-A48209598798}" type="slidenum">
              <a:rPr lang="en-US" smtClean="0"/>
              <a:t>43</a:t>
            </a:fld>
            <a:endParaRPr lang="en-US"/>
          </a:p>
        </p:txBody>
      </p:sp>
    </p:spTree>
    <p:extLst>
      <p:ext uri="{BB962C8B-B14F-4D97-AF65-F5344CB8AC3E}">
        <p14:creationId xmlns:p14="http://schemas.microsoft.com/office/powerpoint/2010/main" val="25818489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fld id="{49E4E862-E263-8B4A-AFB5-DFAAA754BCA9}" type="datetime1">
              <a:rPr lang="en-US" smtClean="0"/>
              <a:t>5/25/2026</a:t>
            </a:fld>
            <a:endParaRPr lang="en-US"/>
          </a:p>
        </p:txBody>
      </p:sp>
      <p:sp>
        <p:nvSpPr>
          <p:cNvPr id="5" name="Slide Number Placeholder 4"/>
          <p:cNvSpPr>
            <a:spLocks noGrp="1"/>
          </p:cNvSpPr>
          <p:nvPr>
            <p:ph type="sldNum" sz="quarter" idx="11"/>
          </p:nvPr>
        </p:nvSpPr>
        <p:spPr/>
        <p:txBody>
          <a:bodyPr/>
          <a:lstStyle/>
          <a:p>
            <a:fld id="{BA49F774-CCF9-492C-9AEB-F2814D4A6625}" type="slidenum">
              <a:rPr lang="en-US" smtClean="0"/>
              <a:pPr/>
              <a:t>44</a:t>
            </a:fld>
            <a:endParaRPr lang="en-US"/>
          </a:p>
        </p:txBody>
      </p:sp>
    </p:spTree>
    <p:extLst>
      <p:ext uri="{BB962C8B-B14F-4D97-AF65-F5344CB8AC3E}">
        <p14:creationId xmlns:p14="http://schemas.microsoft.com/office/powerpoint/2010/main" val="23754307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Source: IMF Gender Strategy (2022); Kolovich &amp; Newiak (2024), Ch. 15–18</a:t>
            </a:r>
          </a:p>
          <a:p>
            <a:pPr algn="l"/>
            <a:r>
              <a:rPr lang="en-US" sz="1800" b="0" i="0" u="none" strike="noStrike" baseline="0">
                <a:latin typeface="SegoeUI"/>
              </a:rPr>
              <a:t>This guidance reflects the need for proportionate risk-based regulation and supervision of small and non-complex institutions striving to serve unserved and underserved customers, which are more often women than men and who typically engage in small</a:t>
            </a:r>
          </a:p>
          <a:p>
            <a:pPr algn="l"/>
            <a:r>
              <a:rPr lang="en-US" sz="1800" b="0" i="0" u="none" strike="noStrike" baseline="0">
                <a:latin typeface="SegoeUI"/>
              </a:rPr>
              <a:t>transactions.</a:t>
            </a:r>
            <a:endParaRPr lang="en-US"/>
          </a:p>
        </p:txBody>
      </p:sp>
      <p:sp>
        <p:nvSpPr>
          <p:cNvPr id="4" name="Slide Number Placeholder 3"/>
          <p:cNvSpPr>
            <a:spLocks noGrp="1"/>
          </p:cNvSpPr>
          <p:nvPr>
            <p:ph type="sldNum" sz="quarter" idx="5"/>
          </p:nvPr>
        </p:nvSpPr>
        <p:spPr/>
        <p:txBody>
          <a:bodyPr/>
          <a:lstStyle/>
          <a:p>
            <a:fld id="{0CE0291A-65D5-4A8A-8F74-A48209598798}" type="slidenum">
              <a:rPr lang="en-US" smtClean="0"/>
              <a:t>45</a:t>
            </a:fld>
            <a:endParaRPr lang="en-US"/>
          </a:p>
        </p:txBody>
      </p:sp>
    </p:spTree>
    <p:extLst>
      <p:ext uri="{BB962C8B-B14F-4D97-AF65-F5344CB8AC3E}">
        <p14:creationId xmlns:p14="http://schemas.microsoft.com/office/powerpoint/2010/main" val="35052268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741048" y="1940930"/>
            <a:ext cx="5515284" cy="2239337"/>
          </a:xfrm>
        </p:spPr>
        <p:txBody>
          <a:bodyPr lIns="0" tIns="0" rIns="0" bIns="45720" anchor="b" anchorCtr="0">
            <a:normAutofit/>
          </a:bodyPr>
          <a:lstStyle>
            <a:lvl1pPr algn="l">
              <a:lnSpc>
                <a:spcPct val="95000"/>
              </a:lnSpc>
              <a:defRPr sz="4000" b="0" i="0">
                <a:solidFill>
                  <a:schemeClr val="tx2"/>
                </a:solidFill>
                <a:latin typeface="Arial Black" panose="020B0604020202020204" pitchFamily="34" charset="0"/>
                <a:cs typeface="Arial Black" panose="020B0604020202020204" pitchFamily="34" charset="0"/>
              </a:defRPr>
            </a:lvl1pPr>
          </a:lstStyle>
          <a:p>
            <a:r>
              <a:rPr lang="en-US"/>
              <a:t>Presentation Title up to three lines in length</a:t>
            </a:r>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75040"/>
          <a:stretch/>
        </p:blipFill>
        <p:spPr>
          <a:xfrm>
            <a:off x="5623560" y="749808"/>
            <a:ext cx="1102360" cy="1141838"/>
          </a:xfrm>
          <a:prstGeom prst="rect">
            <a:avLst/>
          </a:prstGeom>
        </p:spPr>
      </p:pic>
    </p:spTree>
    <p:extLst>
      <p:ext uri="{BB962C8B-B14F-4D97-AF65-F5344CB8AC3E}">
        <p14:creationId xmlns:p14="http://schemas.microsoft.com/office/powerpoint/2010/main" val="130396914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pt. 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741048" y="1940930"/>
            <a:ext cx="5515284" cy="2239337"/>
          </a:xfrm>
        </p:spPr>
        <p:txBody>
          <a:bodyPr lIns="0" tIns="0" rIns="0" bIns="45720" anchor="b" anchorCtr="0">
            <a:normAutofit/>
          </a:bodyPr>
          <a:lstStyle>
            <a:lvl1pPr algn="l">
              <a:lnSpc>
                <a:spcPct val="95000"/>
              </a:lnSpc>
              <a:defRPr sz="4000" b="0" i="0">
                <a:solidFill>
                  <a:schemeClr val="tx2"/>
                </a:solidFill>
                <a:latin typeface="Arial Black" panose="020B0604020202020204" pitchFamily="34" charset="0"/>
                <a:cs typeface="Arial Black" panose="020B0604020202020204" pitchFamily="34" charset="0"/>
              </a:defRPr>
            </a:lvl1pPr>
          </a:lstStyle>
          <a:p>
            <a:r>
              <a:rPr lang="en-US"/>
              <a:t>Presentation Title up to three lines in length</a:t>
            </a:r>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11" name="Graphic 10">
            <a:extLst>
              <a:ext uri="{FF2B5EF4-FFF2-40B4-BE49-F238E27FC236}">
                <a16:creationId xmlns:a16="http://schemas.microsoft.com/office/drawing/2014/main" id="{297D2D33-B99A-B046-B49A-16CB982B1BB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23560" y="749808"/>
            <a:ext cx="4416552" cy="1141840"/>
          </a:xfrm>
          <a:prstGeom prst="rect">
            <a:avLst/>
          </a:prstGeom>
        </p:spPr>
      </p:pic>
    </p:spTree>
    <p:extLst>
      <p:ext uri="{BB962C8B-B14F-4D97-AF65-F5344CB8AC3E}">
        <p14:creationId xmlns:p14="http://schemas.microsoft.com/office/powerpoint/2010/main" val="215895035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guide id="5" pos="3632">
          <p15:clr>
            <a:srgbClr val="FBAE40"/>
          </p15:clr>
        </p15:guide>
        <p15:guide id="6" orient="horz" pos="83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Cya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(Cyan)</a:t>
            </a:r>
          </a:p>
        </p:txBody>
      </p:sp>
      <p:sp>
        <p:nvSpPr>
          <p:cNvPr id="3" name="TextBox 2">
            <a:extLst>
              <a:ext uri="{FF2B5EF4-FFF2-40B4-BE49-F238E27FC236}">
                <a16:creationId xmlns:a16="http://schemas.microsoft.com/office/drawing/2014/main" id="{387B958B-EF8E-214B-9B02-2EE3EF507FDD}"/>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a:t>
            </a:r>
            <a:endParaRPr lang="en-US" sz="900" b="0">
              <a:solidFill>
                <a:schemeClr val="bg1"/>
              </a:solidFill>
              <a:latin typeface="+mn-lt"/>
              <a:cs typeface="Arial Black" charset="0"/>
            </a:endParaRP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9985379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Green)">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(Green)</a:t>
            </a:r>
          </a:p>
        </p:txBody>
      </p:sp>
      <p:sp>
        <p:nvSpPr>
          <p:cNvPr id="3" name="TextBox 2">
            <a:extLst>
              <a:ext uri="{FF2B5EF4-FFF2-40B4-BE49-F238E27FC236}">
                <a16:creationId xmlns:a16="http://schemas.microsoft.com/office/drawing/2014/main" id="{387B958B-EF8E-214B-9B02-2EE3EF507FDD}"/>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a:t>
            </a:r>
            <a:endParaRPr lang="en-US" sz="900" b="0">
              <a:solidFill>
                <a:schemeClr val="bg1"/>
              </a:solidFill>
              <a:latin typeface="+mn-lt"/>
              <a:cs typeface="Arial Black" charset="0"/>
            </a:endParaRP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4848624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Yellow)">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(Yellow)</a:t>
            </a:r>
          </a:p>
        </p:txBody>
      </p:sp>
      <p:sp>
        <p:nvSpPr>
          <p:cNvPr id="3" name="TextBox 2">
            <a:extLst>
              <a:ext uri="{FF2B5EF4-FFF2-40B4-BE49-F238E27FC236}">
                <a16:creationId xmlns:a16="http://schemas.microsoft.com/office/drawing/2014/main" id="{387B958B-EF8E-214B-9B02-2EE3EF507FDD}"/>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a:t>
            </a:r>
            <a:endParaRPr lang="en-US" sz="900" b="0">
              <a:solidFill>
                <a:schemeClr val="bg1"/>
              </a:solidFill>
              <a:latin typeface="+mn-lt"/>
              <a:cs typeface="Arial Black" charset="0"/>
            </a:endParaRP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34132260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Agenda">
    <p:bg>
      <p:bgPr>
        <a:solidFill>
          <a:schemeClr val="accent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6DC936A-9C43-D84B-9C24-0185515D689C}"/>
              </a:ext>
            </a:extLst>
          </p:cNvPr>
          <p:cNvSpPr/>
          <p:nvPr userDrawn="1"/>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 name="TextBox 2">
            <a:extLst>
              <a:ext uri="{FF2B5EF4-FFF2-40B4-BE49-F238E27FC236}">
                <a16:creationId xmlns:a16="http://schemas.microsoft.com/office/drawing/2014/main" id="{387B958B-EF8E-214B-9B02-2EE3EF507FDD}"/>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a:t>
            </a:r>
            <a:endParaRPr lang="en-US" sz="900" b="0">
              <a:solidFill>
                <a:schemeClr val="bg1"/>
              </a:solidFill>
              <a:latin typeface="+mn-lt"/>
              <a:cs typeface="Arial Black" charset="0"/>
            </a:endParaRP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Tree>
    <p:extLst>
      <p:ext uri="{BB962C8B-B14F-4D97-AF65-F5344CB8AC3E}">
        <p14:creationId xmlns:p14="http://schemas.microsoft.com/office/powerpoint/2010/main" val="12585430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9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W)">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869189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374027718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Two-Column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 Placeholder 2">
            <a:extLst>
              <a:ext uri="{FF2B5EF4-FFF2-40B4-BE49-F238E27FC236}">
                <a16:creationId xmlns:a16="http://schemas.microsoft.com/office/drawing/2014/main" id="{0BF7038D-D496-7248-87EC-9540380F1D12}"/>
              </a:ext>
            </a:extLst>
          </p:cNvPr>
          <p:cNvSpPr>
            <a:spLocks noGrp="1"/>
          </p:cNvSpPr>
          <p:nvPr>
            <p:ph type="body" sz="quarter" idx="13" hasCustomPrompt="1"/>
          </p:nvPr>
        </p:nvSpPr>
        <p:spPr>
          <a:xfrm>
            <a:off x="63833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257387530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Text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Photo+Text</a:t>
            </a:r>
            <a:r>
              <a:rPr lang="en-US"/>
              <a:t> (W)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marL="917575" marR="0"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marL="917575" marR="0" lvl="4"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a:pPr>
            <a:r>
              <a:rPr lang="en-US"/>
              <a:t>Quadruple-click the “Indent More” button (above) for fourth-level bullets</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1239838" y="1669499"/>
            <a:ext cx="4856162" cy="44805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239839" y="5889219"/>
            <a:ext cx="4856162"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407476758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340806" y="491385"/>
            <a:ext cx="3670259" cy="978486"/>
          </a:xfrm>
          <a:prstGeom prst="rect">
            <a:avLst/>
          </a:prstGeom>
        </p:spPr>
        <p:txBody>
          <a:bodyPr vert="horz" lIns="0" tIns="0" rIns="0" bIns="0" rtlCol="0" anchor="ctr">
            <a:normAutofit/>
          </a:bodyPr>
          <a:lstStyle>
            <a:lvl1pPr algn="l">
              <a:defRPr lang="en-US" sz="2400" dirty="0">
                <a:solidFill>
                  <a:schemeClr val="tx2"/>
                </a:solidFill>
                <a:latin typeface="Arial Black" charset="0"/>
                <a:ea typeface="Arial Black" charset="0"/>
                <a:cs typeface="Arial Black" charset="0"/>
              </a:defRPr>
            </a:lvl1pPr>
          </a:lstStyle>
          <a:p>
            <a:pPr marL="0" lvl="0"/>
            <a:r>
              <a:rPr lang="en-US"/>
              <a:t>Title for </a:t>
            </a:r>
            <a:r>
              <a:rPr lang="en-US" err="1"/>
              <a:t>Text+Photo</a:t>
            </a:r>
            <a:r>
              <a:rPr lang="en-US"/>
              <a:t>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340806" y="1469871"/>
            <a:ext cx="3670259"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Picture Placeholder 2">
            <a:extLst>
              <a:ext uri="{FF2B5EF4-FFF2-40B4-BE49-F238E27FC236}">
                <a16:creationId xmlns:a16="http://schemas.microsoft.com/office/drawing/2014/main" id="{47569D7D-6010-454B-A86B-B6C69D7E2E6B}"/>
              </a:ext>
            </a:extLst>
          </p:cNvPr>
          <p:cNvSpPr>
            <a:spLocks noGrp="1"/>
          </p:cNvSpPr>
          <p:nvPr>
            <p:ph type="pic" sz="quarter" idx="11" hasCustomPrompt="1"/>
          </p:nvPr>
        </p:nvSpPr>
        <p:spPr>
          <a:xfrm>
            <a:off x="4191000" y="-1"/>
            <a:ext cx="8001000" cy="662940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FD26CCD3-E500-1F49-8DD8-1545E2CBF0B3}"/>
              </a:ext>
            </a:extLst>
          </p:cNvPr>
          <p:cNvSpPr>
            <a:spLocks noGrp="1"/>
          </p:cNvSpPr>
          <p:nvPr>
            <p:ph type="body" sz="quarter" idx="12" hasCustomPrompt="1"/>
          </p:nvPr>
        </p:nvSpPr>
        <p:spPr>
          <a:xfrm rot="5400000">
            <a:off x="8746884" y="3184281"/>
            <a:ext cx="6629396"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278574406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Photo+Photo</a:t>
            </a:r>
            <a:r>
              <a:rPr lang="en-US"/>
              <a:t> (W)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85439239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rge Photo+Title (W)">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1" y="5349453"/>
            <a:ext cx="12192000" cy="1508547"/>
          </a:xfrm>
          <a:prstGeom prst="rect">
            <a:avLst/>
          </a:prstGeom>
        </p:spPr>
        <p:txBody>
          <a:bodyPr vert="horz" lIns="457200" tIns="182880" rIns="457200" bIns="182880" rtlCol="0" anchor="t" anchorCtr="0">
            <a:noAutofit/>
          </a:bodyPr>
          <a:lstStyle>
            <a:lvl1pPr algn="ctr">
              <a:defRPr lang="en-US" sz="2400" dirty="0">
                <a:solidFill>
                  <a:schemeClr val="tx2"/>
                </a:solidFill>
                <a:latin typeface="Arial Black" charset="0"/>
                <a:ea typeface="Arial Black" charset="0"/>
                <a:cs typeface="Arial Black" charset="0"/>
              </a:defRPr>
            </a:lvl1pPr>
          </a:lstStyle>
          <a:p>
            <a:pPr marL="0" lvl="0"/>
            <a:r>
              <a:rPr lang="en-US"/>
              <a:t>Title for Large Photo (W) Layout</a:t>
            </a:r>
          </a:p>
        </p:txBody>
      </p:sp>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0"/>
            <a:ext cx="12192000" cy="5349875"/>
          </a:xfrm>
          <a:solidFill>
            <a:schemeClr val="bg1">
              <a:lumMod val="90000"/>
            </a:schemeClr>
          </a:solidFill>
        </p:spPr>
        <p:txBody>
          <a:bodyPr tIns="0" bIns="20574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82157655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xtra-Large Photo+Title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172200"/>
          </a:xfrm>
          <a:solidFill>
            <a:schemeClr val="bg1">
              <a:lumMod val="90000"/>
            </a:schemeClr>
          </a:solidFill>
        </p:spPr>
        <p:txBody>
          <a:bodyPr tIns="0" bIns="256032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975483" y="2955682"/>
            <a:ext cx="617219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0" y="6172200"/>
            <a:ext cx="12202245" cy="685800"/>
          </a:xfrm>
          <a:prstGeom prst="rect">
            <a:avLst/>
          </a:prstGeom>
        </p:spPr>
        <p:txBody>
          <a:bodyPr vert="horz" lIns="457200" tIns="91440" rIns="457200" bIns="182880" rtlCol="0" anchor="t" anchorCtr="0">
            <a:normAutofit/>
          </a:bodyPr>
          <a:lstStyle>
            <a:lvl1pPr algn="ctr">
              <a:defRPr lang="en-US" sz="2200" dirty="0">
                <a:solidFill>
                  <a:schemeClr val="tx2"/>
                </a:solidFill>
                <a:latin typeface="Arial Black" charset="0"/>
                <a:ea typeface="Arial Black" charset="0"/>
                <a:cs typeface="Arial Black" charset="0"/>
              </a:defRPr>
            </a:lvl1pPr>
          </a:lstStyle>
          <a:p>
            <a:pPr marL="0" lvl="0"/>
            <a:r>
              <a:rPr lang="en-US"/>
              <a:t>Title for Extra-Large </a:t>
            </a:r>
            <a:r>
              <a:rPr lang="en-US" err="1"/>
              <a:t>Photo+Title</a:t>
            </a:r>
            <a:r>
              <a:rPr lang="en-US"/>
              <a:t> (W) Layout</a:t>
            </a:r>
          </a:p>
        </p:txBody>
      </p:sp>
    </p:spTree>
    <p:extLst>
      <p:ext uri="{BB962C8B-B14F-4D97-AF65-F5344CB8AC3E}">
        <p14:creationId xmlns:p14="http://schemas.microsoft.com/office/powerpoint/2010/main" val="236729822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xtra-Large Photo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58368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769743" y="3161422"/>
            <a:ext cx="658367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48207055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ingle-Column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Single-Column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marL="0" marR="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solidFill>
                  <a:schemeClr val="bg1"/>
                </a:solidFill>
              </a:defRPr>
            </a:lvl1pPr>
            <a:lvl2pPr>
              <a:buClr>
                <a:schemeClr val="tx2">
                  <a:lumMod val="40000"/>
                  <a:lumOff val="60000"/>
                </a:schemeClr>
              </a:buClr>
              <a:defRPr>
                <a:solidFill>
                  <a:schemeClr val="bg1"/>
                </a:solidFill>
              </a:defRPr>
            </a:lvl2pPr>
            <a:lvl3pPr>
              <a:buClr>
                <a:schemeClr val="bg1">
                  <a:lumMod val="75000"/>
                </a:schemeClr>
              </a:buClr>
              <a:defRPr>
                <a:solidFill>
                  <a:schemeClr val="bg1"/>
                </a:solidFill>
              </a:defRPr>
            </a:lvl3pPr>
            <a:lvl4pPr>
              <a:buClr>
                <a:schemeClr val="tx2">
                  <a:lumMod val="40000"/>
                  <a:lumOff val="60000"/>
                </a:schemeClr>
              </a:buClr>
              <a:defRPr>
                <a:solidFill>
                  <a:schemeClr val="bg1"/>
                </a:solidFill>
              </a:defRPr>
            </a:lvl4pPr>
            <a:lvl5pPr>
              <a:buClr>
                <a:schemeClr val="bg1">
                  <a:lumMod val="75000"/>
                </a:schemeClr>
              </a:buClr>
              <a:defRPr>
                <a:solidFill>
                  <a:schemeClr val="bg1"/>
                </a:solidFill>
              </a:defRPr>
            </a:lvl5pPr>
          </a:lstStyle>
          <a:p>
            <a:pPr marL="0" marR="0" lvl="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pPr>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4" name="TextBox 3">
            <a:extLst>
              <a:ext uri="{FF2B5EF4-FFF2-40B4-BE49-F238E27FC236}">
                <a16:creationId xmlns:a16="http://schemas.microsoft.com/office/drawing/2014/main" id="{5B31EA4B-58AD-3842-9BEC-4B9FF60E019D}"/>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IMF</a:t>
            </a:r>
            <a:endParaRPr lang="en-US" sz="900" b="0">
              <a:solidFill>
                <a:schemeClr val="accent1">
                  <a:lumMod val="60000"/>
                  <a:lumOff val="40000"/>
                </a:schemeClr>
              </a:solidFill>
              <a:latin typeface="+mn-lt"/>
              <a:cs typeface="Arial Black" charset="0"/>
            </a:endParaRPr>
          </a:p>
        </p:txBody>
      </p:sp>
      <p:sp>
        <p:nvSpPr>
          <p:cNvPr id="5" name="TextBox 4">
            <a:extLst>
              <a:ext uri="{FF2B5EF4-FFF2-40B4-BE49-F238E27FC236}">
                <a16:creationId xmlns:a16="http://schemas.microsoft.com/office/drawing/2014/main" id="{E06FD9C8-9F14-B64C-88D7-AFEADAB39B39}"/>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3980076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wo-Column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Two-Column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5" name="TextBox 4">
            <a:extLst>
              <a:ext uri="{FF2B5EF4-FFF2-40B4-BE49-F238E27FC236}">
                <a16:creationId xmlns:a16="http://schemas.microsoft.com/office/drawing/2014/main" id="{6DC0B0CE-B013-7641-9551-DA60CF80B4AC}"/>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IMF</a:t>
            </a:r>
            <a:endParaRPr lang="en-US" sz="900" b="0">
              <a:solidFill>
                <a:schemeClr val="accent1">
                  <a:lumMod val="60000"/>
                  <a:lumOff val="40000"/>
                </a:schemeClr>
              </a:solidFill>
              <a:latin typeface="+mn-lt"/>
              <a:cs typeface="Arial Black" charset="0"/>
            </a:endParaRPr>
          </a:p>
        </p:txBody>
      </p:sp>
      <p:sp>
        <p:nvSpPr>
          <p:cNvPr id="6" name="TextBox 5">
            <a:extLst>
              <a:ext uri="{FF2B5EF4-FFF2-40B4-BE49-F238E27FC236}">
                <a16:creationId xmlns:a16="http://schemas.microsoft.com/office/drawing/2014/main" id="{77362889-E692-BF4A-B8C8-D6FF23EE4CF0}"/>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cxnSp>
        <p:nvCxnSpPr>
          <p:cNvPr id="7" name="Straight Connector 6">
            <a:extLst>
              <a:ext uri="{FF2B5EF4-FFF2-40B4-BE49-F238E27FC236}">
                <a16:creationId xmlns:a16="http://schemas.microsoft.com/office/drawing/2014/main" id="{DCB5B26B-2A1F-084E-BAF6-BEA91A8E38A5}"/>
              </a:ext>
            </a:extLst>
          </p:cNvPr>
          <p:cNvCxnSpPr>
            <a:cxnSpLocks/>
          </p:cNvCxnSpPr>
          <p:nvPr userDrawn="1"/>
        </p:nvCxnSpPr>
        <p:spPr>
          <a:xfrm>
            <a:off x="6096000" y="1670538"/>
            <a:ext cx="0" cy="4425462"/>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09754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Photo+Text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a:t>
            </a:r>
            <a:r>
              <a:rPr lang="en-US" err="1"/>
              <a:t>Photo+Text</a:t>
            </a:r>
            <a:r>
              <a:rPr lang="en-US"/>
              <a:t> (B)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5" name="TextBox 4">
            <a:extLst>
              <a:ext uri="{FF2B5EF4-FFF2-40B4-BE49-F238E27FC236}">
                <a16:creationId xmlns:a16="http://schemas.microsoft.com/office/drawing/2014/main" id="{6DC0B0CE-B013-7641-9551-DA60CF80B4AC}"/>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IMF</a:t>
            </a:r>
            <a:endParaRPr lang="en-US" sz="900" b="0">
              <a:solidFill>
                <a:schemeClr val="accent1">
                  <a:lumMod val="60000"/>
                  <a:lumOff val="40000"/>
                </a:schemeClr>
              </a:solidFill>
              <a:latin typeface="+mn-lt"/>
              <a:cs typeface="Arial Black" charset="0"/>
            </a:endParaRPr>
          </a:p>
        </p:txBody>
      </p:sp>
      <p:sp>
        <p:nvSpPr>
          <p:cNvPr id="6" name="TextBox 5">
            <a:extLst>
              <a:ext uri="{FF2B5EF4-FFF2-40B4-BE49-F238E27FC236}">
                <a16:creationId xmlns:a16="http://schemas.microsoft.com/office/drawing/2014/main" id="{77362889-E692-BF4A-B8C8-D6FF23EE4CF0}"/>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9" name="Picture Placeholder 4">
            <a:extLst>
              <a:ext uri="{FF2B5EF4-FFF2-40B4-BE49-F238E27FC236}">
                <a16:creationId xmlns:a16="http://schemas.microsoft.com/office/drawing/2014/main" id="{ADC7D600-7783-1F4F-AD62-06B784E129FD}"/>
              </a:ext>
            </a:extLst>
          </p:cNvPr>
          <p:cNvSpPr>
            <a:spLocks noGrp="1"/>
          </p:cNvSpPr>
          <p:nvPr>
            <p:ph type="pic" sz="quarter" idx="13" hasCustomPrompt="1"/>
          </p:nvPr>
        </p:nvSpPr>
        <p:spPr>
          <a:xfrm>
            <a:off x="1239838" y="1672046"/>
            <a:ext cx="4855464" cy="44805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10" name="Text Placeholder 4">
            <a:extLst>
              <a:ext uri="{FF2B5EF4-FFF2-40B4-BE49-F238E27FC236}">
                <a16:creationId xmlns:a16="http://schemas.microsoft.com/office/drawing/2014/main" id="{A3893C67-9BAE-6946-9896-78E2472B03D8}"/>
              </a:ext>
            </a:extLst>
          </p:cNvPr>
          <p:cNvSpPr>
            <a:spLocks noGrp="1"/>
          </p:cNvSpPr>
          <p:nvPr>
            <p:ph type="body" sz="quarter" idx="14" hasCustomPrompt="1"/>
          </p:nvPr>
        </p:nvSpPr>
        <p:spPr>
          <a:xfrm>
            <a:off x="1239838" y="5891766"/>
            <a:ext cx="4855464"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82433435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1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Photo+Photo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a:t>
            </a:r>
            <a:r>
              <a:rPr lang="en-US" err="1"/>
              <a:t>Photo+Photo</a:t>
            </a:r>
            <a:r>
              <a:rPr lang="en-US"/>
              <a:t> (B)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10" name="TextBox 9">
            <a:extLst>
              <a:ext uri="{FF2B5EF4-FFF2-40B4-BE49-F238E27FC236}">
                <a16:creationId xmlns:a16="http://schemas.microsoft.com/office/drawing/2014/main" id="{8E8A7720-BFE2-8541-8CCE-E6CF2AEB21D5}"/>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IMF</a:t>
            </a:r>
            <a:endParaRPr lang="en-US" sz="900" b="0">
              <a:solidFill>
                <a:schemeClr val="accent1">
                  <a:lumMod val="60000"/>
                  <a:lumOff val="40000"/>
                </a:schemeClr>
              </a:solidFill>
              <a:latin typeface="+mn-lt"/>
              <a:cs typeface="Arial Black" charset="0"/>
            </a:endParaRPr>
          </a:p>
        </p:txBody>
      </p:sp>
      <p:sp>
        <p:nvSpPr>
          <p:cNvPr id="11" name="TextBox 10">
            <a:extLst>
              <a:ext uri="{FF2B5EF4-FFF2-40B4-BE49-F238E27FC236}">
                <a16:creationId xmlns:a16="http://schemas.microsoft.com/office/drawing/2014/main" id="{DF7CAC3A-914C-D94C-9254-C253E5803F2C}"/>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1302595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Large-Photo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0" y="5349450"/>
            <a:ext cx="12191999" cy="1508547"/>
          </a:xfrm>
          <a:prstGeom prst="rect">
            <a:avLst/>
          </a:prstGeom>
        </p:spPr>
        <p:txBody>
          <a:bodyPr vert="horz" lIns="457200" tIns="182880" rIns="457200" bIns="182880" rtlCol="0" anchor="t">
            <a:normAutofit/>
          </a:bodyPr>
          <a:lstStyle>
            <a:lvl1pPr algn="ctr">
              <a:defRPr lang="en-US" sz="2400" dirty="0">
                <a:solidFill>
                  <a:schemeClr val="bg1"/>
                </a:solidFill>
                <a:latin typeface="Arial Black" charset="0"/>
                <a:ea typeface="Arial Black" charset="0"/>
                <a:cs typeface="Arial Black" charset="0"/>
              </a:defRPr>
            </a:lvl1pPr>
          </a:lstStyle>
          <a:p>
            <a:pPr marL="0" lvl="0"/>
            <a:r>
              <a:rPr lang="en-US"/>
              <a:t>Title for Large-Photo (B) Layout</a:t>
            </a:r>
          </a:p>
        </p:txBody>
      </p:sp>
      <p:sp>
        <p:nvSpPr>
          <p:cNvPr id="3" name="Picture Placeholder 2">
            <a:extLst>
              <a:ext uri="{FF2B5EF4-FFF2-40B4-BE49-F238E27FC236}">
                <a16:creationId xmlns:a16="http://schemas.microsoft.com/office/drawing/2014/main" id="{6B57DE7E-D5A7-934A-BDAA-810E25C7A254}"/>
              </a:ext>
            </a:extLst>
          </p:cNvPr>
          <p:cNvSpPr>
            <a:spLocks noGrp="1"/>
          </p:cNvSpPr>
          <p:nvPr>
            <p:ph type="pic" sz="quarter" idx="10" hasCustomPrompt="1"/>
          </p:nvPr>
        </p:nvSpPr>
        <p:spPr>
          <a:xfrm>
            <a:off x="0" y="0"/>
            <a:ext cx="12192000" cy="5349875"/>
          </a:xfrm>
          <a:solidFill>
            <a:schemeClr val="tx2">
              <a:lumMod val="50000"/>
            </a:schemeClr>
          </a:solidFill>
        </p:spPr>
        <p:txBody>
          <a:bodyPr tIns="0" bIns="2057400" anchor="b"/>
          <a:lstStyle>
            <a:lvl1pPr algn="ctr">
              <a:defRPr i="1">
                <a:solidFill>
                  <a:schemeClr val="tx2"/>
                </a:solidFill>
              </a:defRPr>
            </a:lvl1pPr>
          </a:lstStyle>
          <a:p>
            <a:r>
              <a:rPr lang="en-US"/>
              <a:t>Click icon to insert a photo.</a:t>
            </a:r>
          </a:p>
        </p:txBody>
      </p:sp>
      <p:sp>
        <p:nvSpPr>
          <p:cNvPr id="5" name="Text Placeholder 4">
            <a:extLst>
              <a:ext uri="{FF2B5EF4-FFF2-40B4-BE49-F238E27FC236}">
                <a16:creationId xmlns:a16="http://schemas.microsoft.com/office/drawing/2014/main" id="{7096E3DB-FA3A-7842-8A68-4AE4AACEC5FF}"/>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12" name="TextBox 11">
            <a:extLst>
              <a:ext uri="{FF2B5EF4-FFF2-40B4-BE49-F238E27FC236}">
                <a16:creationId xmlns:a16="http://schemas.microsoft.com/office/drawing/2014/main" id="{764FF97F-5A7B-3544-BBF1-8D9147069589}"/>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IMF</a:t>
            </a:r>
            <a:endParaRPr lang="en-US" sz="900" b="0">
              <a:solidFill>
                <a:schemeClr val="accent1">
                  <a:lumMod val="60000"/>
                  <a:lumOff val="40000"/>
                </a:schemeClr>
              </a:solidFill>
              <a:latin typeface="+mn-lt"/>
              <a:cs typeface="Arial Black" charset="0"/>
            </a:endParaRPr>
          </a:p>
        </p:txBody>
      </p:sp>
      <p:sp>
        <p:nvSpPr>
          <p:cNvPr id="13" name="TextBox 12">
            <a:extLst>
              <a:ext uri="{FF2B5EF4-FFF2-40B4-BE49-F238E27FC236}">
                <a16:creationId xmlns:a16="http://schemas.microsoft.com/office/drawing/2014/main" id="{5558205F-7910-2A4D-9D13-3F4027CE12D3}"/>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04441690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55125"/>
          <a:stretch/>
        </p:blipFill>
        <p:spPr>
          <a:xfrm>
            <a:off x="5623560" y="749808"/>
            <a:ext cx="1103811" cy="1143561"/>
          </a:xfrm>
          <a:prstGeom prst="rect">
            <a:avLst/>
          </a:prstGeom>
        </p:spPr>
      </p:pic>
    </p:spTree>
    <p:extLst>
      <p:ext uri="{BB962C8B-B14F-4D97-AF65-F5344CB8AC3E}">
        <p14:creationId xmlns:p14="http://schemas.microsoft.com/office/powerpoint/2010/main" val="23388058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83436" y="71412"/>
            <a:ext cx="9025128" cy="854884"/>
          </a:xfrm>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838200" y="1803156"/>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08305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56313" y="136523"/>
            <a:ext cx="10666675" cy="706094"/>
          </a:xfrm>
        </p:spPr>
        <p:txBody>
          <a:bodyPr anchor="b">
            <a:normAutofit/>
          </a:bodyPr>
          <a:lstStyle>
            <a:lvl1pPr>
              <a:defRPr sz="36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1" y="4589465"/>
            <a:ext cx="10515600"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B8249D-73BB-4688-B427-EB89B5DAF030}"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15317598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5B8249D-73BB-4688-B427-EB89B5DAF030}"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40585184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lvl1pPr>
              <a:defRPr>
                <a:solidFill>
                  <a:srgbClr val="004C97"/>
                </a:solidFill>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5B8249D-73BB-4688-B427-EB89B5DAF030}" type="datetimeFigureOut">
              <a:rPr lang="en-US" smtClean="0"/>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7791000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p:cNvSpPr>
            <a:spLocks noGrp="1"/>
          </p:cNvSpPr>
          <p:nvPr>
            <p:ph type="dt" sz="half" idx="10"/>
          </p:nvPr>
        </p:nvSpPr>
        <p:spPr/>
        <p:txBody>
          <a:bodyPr/>
          <a:lstStyle/>
          <a:p>
            <a:fld id="{B5B8249D-73BB-4688-B427-EB89B5DAF030}" type="datetimeFigureOut">
              <a:rPr lang="en-US" smtClean="0"/>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10061776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B8249D-73BB-4688-B427-EB89B5DAF030}" type="datetimeFigureOut">
              <a:rPr lang="en-US" smtClean="0"/>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6246349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004C97"/>
                </a:solidFill>
              </a:defRPr>
            </a:lvl1pPr>
          </a:lstStyle>
          <a:p>
            <a:r>
              <a:rPr lang="en-US"/>
              <a:t>Click to edit Master title style</a:t>
            </a:r>
          </a:p>
        </p:txBody>
      </p:sp>
      <p:sp>
        <p:nvSpPr>
          <p:cNvPr id="3" name="Content Placeholder 2"/>
          <p:cNvSpPr>
            <a:spLocks noGrp="1"/>
          </p:cNvSpPr>
          <p:nvPr>
            <p:ph idx="1"/>
          </p:nvPr>
        </p:nvSpPr>
        <p:spPr>
          <a:xfrm>
            <a:off x="5183188" y="987427"/>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B8249D-73BB-4688-B427-EB89B5DAF030}"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10495898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004C97"/>
                </a:solidFill>
              </a:defRPr>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B8249D-73BB-4688-B427-EB89B5DAF030}"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20340878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838200" y="1855442"/>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B8249D-73BB-4688-B427-EB89B5DAF030}"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2912214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B8249D-73BB-4688-B427-EB89B5DAF030}"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0626490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1967422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cSld name="Divider Agenda">
    <p:bg>
      <p:bgPr>
        <a:solidFill>
          <a:srgbClr val="90152D"/>
        </a:solidFill>
        <a:effectLst/>
      </p:bgPr>
    </p:bg>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
        <p:nvSpPr>
          <p:cNvPr id="6" name="Rectangle 5">
            <a:extLst>
              <a:ext uri="{FF2B5EF4-FFF2-40B4-BE49-F238E27FC236}">
                <a16:creationId xmlns:a16="http://schemas.microsoft.com/office/drawing/2014/main" id="{C8FA9CB8-B07F-44FD-836E-BCE0675149B4}"/>
              </a:ext>
            </a:extLst>
          </p:cNvPr>
          <p:cNvSpPr/>
          <p:nvPr userDrawn="1"/>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7" name="TextBox 6">
            <a:extLst>
              <a:ext uri="{FF2B5EF4-FFF2-40B4-BE49-F238E27FC236}">
                <a16:creationId xmlns:a16="http://schemas.microsoft.com/office/drawing/2014/main" id="{9B984127-8999-4E06-9847-DAECC8470BF5}"/>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3968716243"/>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8250"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36564627"/>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Blank (W)">
    <p:spTree>
      <p:nvGrpSpPr>
        <p:cNvPr id="1" name=""/>
        <p:cNvGrpSpPr/>
        <p:nvPr/>
      </p:nvGrpSpPr>
      <p:grpSpPr>
        <a:xfrm>
          <a:off x="0" y="0"/>
          <a:ext cx="0" cy="0"/>
          <a:chOff x="0" y="0"/>
          <a:chExt cx="0" cy="0"/>
        </a:xfrm>
      </p:grpSpPr>
    </p:spTree>
    <p:extLst>
      <p:ext uri="{BB962C8B-B14F-4D97-AF65-F5344CB8AC3E}">
        <p14:creationId xmlns:p14="http://schemas.microsoft.com/office/powerpoint/2010/main" val="45368652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wo-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Two-Column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 Placeholder 2">
            <a:extLst>
              <a:ext uri="{FF2B5EF4-FFF2-40B4-BE49-F238E27FC236}">
                <a16:creationId xmlns:a16="http://schemas.microsoft.com/office/drawing/2014/main" id="{0BF7038D-D496-7248-87EC-9540380F1D12}"/>
              </a:ext>
            </a:extLst>
          </p:cNvPr>
          <p:cNvSpPr>
            <a:spLocks noGrp="1"/>
          </p:cNvSpPr>
          <p:nvPr>
            <p:ph type="body" sz="quarter" idx="13" hasCustomPrompt="1"/>
          </p:nvPr>
        </p:nvSpPr>
        <p:spPr>
          <a:xfrm>
            <a:off x="63833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111387702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ext+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340806" y="491385"/>
            <a:ext cx="3670259" cy="978486"/>
          </a:xfrm>
          <a:prstGeom prst="rect">
            <a:avLst/>
          </a:prstGeom>
        </p:spPr>
        <p:txBody>
          <a:bodyPr vert="horz" lIns="0" tIns="0" rIns="0" bIns="0" rtlCol="0" anchor="ctr">
            <a:normAutofit/>
          </a:bodyPr>
          <a:lstStyle>
            <a:lvl1pPr algn="l">
              <a:defRPr lang="en-US" sz="2400" dirty="0">
                <a:solidFill>
                  <a:schemeClr val="tx2"/>
                </a:solidFill>
                <a:latin typeface="Arial Black" charset="0"/>
                <a:ea typeface="Arial Black" charset="0"/>
                <a:cs typeface="Arial Black" charset="0"/>
              </a:defRPr>
            </a:lvl1pPr>
          </a:lstStyle>
          <a:p>
            <a:pPr marL="0" lvl="0"/>
            <a:r>
              <a:rPr lang="en-US"/>
              <a:t>Title for </a:t>
            </a:r>
            <a:r>
              <a:rPr lang="en-US" err="1"/>
              <a:t>Text+Photo</a:t>
            </a:r>
            <a:r>
              <a:rPr lang="en-US"/>
              <a:t>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340806" y="1469871"/>
            <a:ext cx="3670259"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Picture Placeholder 2">
            <a:extLst>
              <a:ext uri="{FF2B5EF4-FFF2-40B4-BE49-F238E27FC236}">
                <a16:creationId xmlns:a16="http://schemas.microsoft.com/office/drawing/2014/main" id="{47569D7D-6010-454B-A86B-B6C69D7E2E6B}"/>
              </a:ext>
            </a:extLst>
          </p:cNvPr>
          <p:cNvSpPr>
            <a:spLocks noGrp="1"/>
          </p:cNvSpPr>
          <p:nvPr>
            <p:ph type="pic" sz="quarter" idx="11" hasCustomPrompt="1"/>
          </p:nvPr>
        </p:nvSpPr>
        <p:spPr>
          <a:xfrm>
            <a:off x="4191000" y="-1"/>
            <a:ext cx="8001000" cy="662940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FD26CCD3-E500-1F49-8DD8-1545E2CBF0B3}"/>
              </a:ext>
            </a:extLst>
          </p:cNvPr>
          <p:cNvSpPr>
            <a:spLocks noGrp="1"/>
          </p:cNvSpPr>
          <p:nvPr>
            <p:ph type="body" sz="quarter" idx="12" hasCustomPrompt="1"/>
          </p:nvPr>
        </p:nvSpPr>
        <p:spPr>
          <a:xfrm rot="5400000">
            <a:off x="8746884" y="3184281"/>
            <a:ext cx="6629396"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210643450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741048" y="1940930"/>
            <a:ext cx="5515284" cy="2239337"/>
          </a:xfrm>
        </p:spPr>
        <p:txBody>
          <a:bodyPr lIns="0" tIns="0" rIns="0" bIns="45720" anchor="b" anchorCtr="0">
            <a:normAutofit/>
          </a:bodyPr>
          <a:lstStyle>
            <a:lvl1pPr algn="l">
              <a:lnSpc>
                <a:spcPct val="95000"/>
              </a:lnSpc>
              <a:defRPr sz="4000" b="0" i="0">
                <a:solidFill>
                  <a:schemeClr val="tx2"/>
                </a:solidFill>
                <a:latin typeface="Arial Black" panose="020B0604020202020204" pitchFamily="34" charset="0"/>
                <a:cs typeface="Arial Black" panose="020B0604020202020204" pitchFamily="34" charset="0"/>
              </a:defRPr>
            </a:lvl1pPr>
          </a:lstStyle>
          <a:p>
            <a:r>
              <a:rPr lang="en-US"/>
              <a:t>Presentation Title up to three lines in length</a:t>
            </a:r>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75040"/>
          <a:stretch/>
        </p:blipFill>
        <p:spPr>
          <a:xfrm>
            <a:off x="5623560" y="749808"/>
            <a:ext cx="1102360" cy="1141838"/>
          </a:xfrm>
          <a:prstGeom prst="rect">
            <a:avLst/>
          </a:prstGeom>
        </p:spPr>
      </p:pic>
      <p:sp>
        <p:nvSpPr>
          <p:cNvPr id="4" name="Rectangle 3">
            <a:extLst>
              <a:ext uri="{FF2B5EF4-FFF2-40B4-BE49-F238E27FC236}">
                <a16:creationId xmlns:a16="http://schemas.microsoft.com/office/drawing/2014/main" id="{B290AAD2-DD8C-BBCF-D2F5-9CF1F6DDB290}"/>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93CC56FA-D16A-796A-8A34-1812B0D1C07E}"/>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75040"/>
          <a:stretch/>
        </p:blipFill>
        <p:spPr>
          <a:xfrm>
            <a:off x="5623560" y="749808"/>
            <a:ext cx="1102360" cy="1141838"/>
          </a:xfrm>
          <a:prstGeom prst="rect">
            <a:avLst/>
          </a:prstGeom>
        </p:spPr>
      </p:pic>
    </p:spTree>
    <p:extLst>
      <p:ext uri="{BB962C8B-B14F-4D97-AF65-F5344CB8AC3E}">
        <p14:creationId xmlns:p14="http://schemas.microsoft.com/office/powerpoint/2010/main" val="31084772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ept. 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5741048" y="1940930"/>
            <a:ext cx="5515284" cy="2239337"/>
          </a:xfrm>
        </p:spPr>
        <p:txBody>
          <a:bodyPr lIns="0" tIns="0" rIns="0" bIns="45720" anchor="b" anchorCtr="0">
            <a:normAutofit/>
          </a:bodyPr>
          <a:lstStyle>
            <a:lvl1pPr algn="l">
              <a:lnSpc>
                <a:spcPct val="95000"/>
              </a:lnSpc>
              <a:defRPr sz="4000" b="0" i="0">
                <a:solidFill>
                  <a:schemeClr val="tx2"/>
                </a:solidFill>
                <a:latin typeface="Arial Black" panose="020B0604020202020204" pitchFamily="34" charset="0"/>
                <a:cs typeface="Arial Black" panose="020B0604020202020204" pitchFamily="34" charset="0"/>
              </a:defRPr>
            </a:lvl1pPr>
          </a:lstStyle>
          <a:p>
            <a:r>
              <a:rPr lang="en-US"/>
              <a:t>Presentation Title up to three lines in length</a:t>
            </a:r>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11" name="Graphic 10">
            <a:extLst>
              <a:ext uri="{FF2B5EF4-FFF2-40B4-BE49-F238E27FC236}">
                <a16:creationId xmlns:a16="http://schemas.microsoft.com/office/drawing/2014/main" id="{297D2D33-B99A-B046-B49A-16CB982B1BB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23560" y="749808"/>
            <a:ext cx="4416552" cy="1141840"/>
          </a:xfrm>
          <a:prstGeom prst="rect">
            <a:avLst/>
          </a:prstGeom>
        </p:spPr>
      </p:pic>
      <p:sp>
        <p:nvSpPr>
          <p:cNvPr id="4" name="Rectangle 3">
            <a:extLst>
              <a:ext uri="{FF2B5EF4-FFF2-40B4-BE49-F238E27FC236}">
                <a16:creationId xmlns:a16="http://schemas.microsoft.com/office/drawing/2014/main" id="{680085DA-4709-BD90-9BBD-222F500CF2F2}"/>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573F4896-E172-CED0-66D1-B0429EC4D2B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23560" y="749808"/>
            <a:ext cx="4416552" cy="1141840"/>
          </a:xfrm>
          <a:prstGeom prst="rect">
            <a:avLst/>
          </a:prstGeom>
        </p:spPr>
      </p:pic>
    </p:spTree>
    <p:extLst>
      <p:ext uri="{BB962C8B-B14F-4D97-AF65-F5344CB8AC3E}">
        <p14:creationId xmlns:p14="http://schemas.microsoft.com/office/powerpoint/2010/main" val="36719013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guide id="5" pos="3632">
          <p15:clr>
            <a:srgbClr val="FBAE40"/>
          </p15:clr>
        </p15:guide>
        <p15:guide id="6" orient="horz" pos="833">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ivider (Cya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(Cyan)</a:t>
            </a:r>
          </a:p>
        </p:txBody>
      </p:sp>
      <p:sp>
        <p:nvSpPr>
          <p:cNvPr id="3" name="TextBox 2">
            <a:extLst>
              <a:ext uri="{FF2B5EF4-FFF2-40B4-BE49-F238E27FC236}">
                <a16:creationId xmlns:a16="http://schemas.microsoft.com/office/drawing/2014/main" id="{387B958B-EF8E-214B-9B02-2EE3EF507FDD}"/>
              </a:ext>
            </a:extLst>
          </p:cNvPr>
          <p:cNvSpPr txBox="1"/>
          <p:nvPr/>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a:t>
            </a:r>
            <a:endParaRPr lang="en-US" sz="900" b="0">
              <a:solidFill>
                <a:schemeClr val="bg1"/>
              </a:solidFill>
              <a:latin typeface="+mn-lt"/>
              <a:cs typeface="Arial Black" charset="0"/>
            </a:endParaRPr>
          </a:p>
        </p:txBody>
      </p:sp>
      <p:sp>
        <p:nvSpPr>
          <p:cNvPr id="4" name="TextBox 3">
            <a:extLst>
              <a:ext uri="{FF2B5EF4-FFF2-40B4-BE49-F238E27FC236}">
                <a16:creationId xmlns:a16="http://schemas.microsoft.com/office/drawing/2014/main" id="{D498BA64-B15C-8146-85CE-EE4EA1ADA406}"/>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5" name="TextBox 4">
            <a:extLst>
              <a:ext uri="{FF2B5EF4-FFF2-40B4-BE49-F238E27FC236}">
                <a16:creationId xmlns:a16="http://schemas.microsoft.com/office/drawing/2014/main" id="{D3EEE4B2-2413-6940-02BE-BCC728C3F82C}"/>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a:t>
            </a:r>
            <a:endParaRPr lang="en-US" sz="900" b="0">
              <a:solidFill>
                <a:schemeClr val="bg1"/>
              </a:solidFill>
              <a:latin typeface="+mn-lt"/>
              <a:cs typeface="Arial Black" charset="0"/>
            </a:endParaRPr>
          </a:p>
        </p:txBody>
      </p:sp>
      <p:sp>
        <p:nvSpPr>
          <p:cNvPr id="6" name="TextBox 5">
            <a:extLst>
              <a:ext uri="{FF2B5EF4-FFF2-40B4-BE49-F238E27FC236}">
                <a16:creationId xmlns:a16="http://schemas.microsoft.com/office/drawing/2014/main" id="{33145057-767C-74DB-33EA-A63E2EBE3754}"/>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40133542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ivider (G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(Green)</a:t>
            </a:r>
          </a:p>
        </p:txBody>
      </p:sp>
      <p:sp>
        <p:nvSpPr>
          <p:cNvPr id="3" name="TextBox 2">
            <a:extLst>
              <a:ext uri="{FF2B5EF4-FFF2-40B4-BE49-F238E27FC236}">
                <a16:creationId xmlns:a16="http://schemas.microsoft.com/office/drawing/2014/main" id="{387B958B-EF8E-214B-9B02-2EE3EF507FDD}"/>
              </a:ext>
            </a:extLst>
          </p:cNvPr>
          <p:cNvSpPr txBox="1"/>
          <p:nvPr/>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a:t>
            </a:r>
            <a:endParaRPr lang="en-US" sz="900" b="0">
              <a:solidFill>
                <a:schemeClr val="bg1"/>
              </a:solidFill>
              <a:latin typeface="+mn-lt"/>
              <a:cs typeface="Arial Black" charset="0"/>
            </a:endParaRPr>
          </a:p>
        </p:txBody>
      </p:sp>
      <p:sp>
        <p:nvSpPr>
          <p:cNvPr id="4" name="TextBox 3">
            <a:extLst>
              <a:ext uri="{FF2B5EF4-FFF2-40B4-BE49-F238E27FC236}">
                <a16:creationId xmlns:a16="http://schemas.microsoft.com/office/drawing/2014/main" id="{D498BA64-B15C-8146-85CE-EE4EA1ADA406}"/>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5" name="TextBox 4">
            <a:extLst>
              <a:ext uri="{FF2B5EF4-FFF2-40B4-BE49-F238E27FC236}">
                <a16:creationId xmlns:a16="http://schemas.microsoft.com/office/drawing/2014/main" id="{030E683C-5361-8B57-9D00-55088C24D79D}"/>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a:t>
            </a:r>
            <a:endParaRPr lang="en-US" sz="900" b="0">
              <a:solidFill>
                <a:schemeClr val="bg1"/>
              </a:solidFill>
              <a:latin typeface="+mn-lt"/>
              <a:cs typeface="Arial Black" charset="0"/>
            </a:endParaRPr>
          </a:p>
        </p:txBody>
      </p:sp>
      <p:sp>
        <p:nvSpPr>
          <p:cNvPr id="6" name="TextBox 5">
            <a:extLst>
              <a:ext uri="{FF2B5EF4-FFF2-40B4-BE49-F238E27FC236}">
                <a16:creationId xmlns:a16="http://schemas.microsoft.com/office/drawing/2014/main" id="{B8F200D8-9B62-DB93-F575-30E3C426F6B7}"/>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41459300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ivider (Yello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(Yellow)</a:t>
            </a:r>
          </a:p>
        </p:txBody>
      </p:sp>
      <p:sp>
        <p:nvSpPr>
          <p:cNvPr id="3" name="TextBox 2">
            <a:extLst>
              <a:ext uri="{FF2B5EF4-FFF2-40B4-BE49-F238E27FC236}">
                <a16:creationId xmlns:a16="http://schemas.microsoft.com/office/drawing/2014/main" id="{387B958B-EF8E-214B-9B02-2EE3EF507FDD}"/>
              </a:ext>
            </a:extLst>
          </p:cNvPr>
          <p:cNvSpPr txBox="1"/>
          <p:nvPr/>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a:t>
            </a:r>
            <a:endParaRPr lang="en-US" sz="900" b="0">
              <a:solidFill>
                <a:schemeClr val="bg1"/>
              </a:solidFill>
              <a:latin typeface="+mn-lt"/>
              <a:cs typeface="Arial Black" charset="0"/>
            </a:endParaRPr>
          </a:p>
        </p:txBody>
      </p:sp>
      <p:sp>
        <p:nvSpPr>
          <p:cNvPr id="4" name="TextBox 3">
            <a:extLst>
              <a:ext uri="{FF2B5EF4-FFF2-40B4-BE49-F238E27FC236}">
                <a16:creationId xmlns:a16="http://schemas.microsoft.com/office/drawing/2014/main" id="{D498BA64-B15C-8146-85CE-EE4EA1ADA406}"/>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5" name="TextBox 4">
            <a:extLst>
              <a:ext uri="{FF2B5EF4-FFF2-40B4-BE49-F238E27FC236}">
                <a16:creationId xmlns:a16="http://schemas.microsoft.com/office/drawing/2014/main" id="{A53C20B8-810F-BA97-FBCE-ADD5F6F4E05D}"/>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a:t>
            </a:r>
            <a:endParaRPr lang="en-US" sz="900" b="0">
              <a:solidFill>
                <a:schemeClr val="bg1"/>
              </a:solidFill>
              <a:latin typeface="+mn-lt"/>
              <a:cs typeface="Arial Black" charset="0"/>
            </a:endParaRPr>
          </a:p>
        </p:txBody>
      </p:sp>
      <p:sp>
        <p:nvSpPr>
          <p:cNvPr id="6" name="TextBox 5">
            <a:extLst>
              <a:ext uri="{FF2B5EF4-FFF2-40B4-BE49-F238E27FC236}">
                <a16:creationId xmlns:a16="http://schemas.microsoft.com/office/drawing/2014/main" id="{2F538F93-4A6E-E1D2-F267-8EB396975971}"/>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3250184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Divider Agend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6DC936A-9C43-D84B-9C24-0185515D689C}"/>
              </a:ext>
            </a:extLst>
          </p:cNvPr>
          <p:cNvSpPr/>
          <p:nvPr/>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 name="TextBox 2">
            <a:extLst>
              <a:ext uri="{FF2B5EF4-FFF2-40B4-BE49-F238E27FC236}">
                <a16:creationId xmlns:a16="http://schemas.microsoft.com/office/drawing/2014/main" id="{387B958B-EF8E-214B-9B02-2EE3EF507FDD}"/>
              </a:ext>
            </a:extLst>
          </p:cNvPr>
          <p:cNvSpPr txBox="1"/>
          <p:nvPr/>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a:t>
            </a:r>
            <a:endParaRPr lang="en-US" sz="900" b="0">
              <a:solidFill>
                <a:schemeClr val="bg1"/>
              </a:solidFill>
              <a:latin typeface="+mn-lt"/>
              <a:cs typeface="Arial Black" charset="0"/>
            </a:endParaRPr>
          </a:p>
        </p:txBody>
      </p:sp>
      <p:sp>
        <p:nvSpPr>
          <p:cNvPr id="4" name="TextBox 3">
            <a:extLst>
              <a:ext uri="{FF2B5EF4-FFF2-40B4-BE49-F238E27FC236}">
                <a16:creationId xmlns:a16="http://schemas.microsoft.com/office/drawing/2014/main" id="{D498BA64-B15C-8146-85CE-EE4EA1ADA406}"/>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
        <p:nvSpPr>
          <p:cNvPr id="2" name="Rectangle 1">
            <a:extLst>
              <a:ext uri="{FF2B5EF4-FFF2-40B4-BE49-F238E27FC236}">
                <a16:creationId xmlns:a16="http://schemas.microsoft.com/office/drawing/2014/main" id="{EFDAAD18-9565-7C6A-C52C-4AEB743A6641}"/>
              </a:ext>
            </a:extLst>
          </p:cNvPr>
          <p:cNvSpPr/>
          <p:nvPr userDrawn="1"/>
        </p:nvSpPr>
        <p:spPr>
          <a:xfrm>
            <a:off x="-1" y="6638778"/>
            <a:ext cx="12192001" cy="2192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5" name="TextBox 4">
            <a:extLst>
              <a:ext uri="{FF2B5EF4-FFF2-40B4-BE49-F238E27FC236}">
                <a16:creationId xmlns:a16="http://schemas.microsoft.com/office/drawing/2014/main" id="{05D89D41-5179-2FFE-BD6E-DA41C5353C09}"/>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a:t>
            </a:r>
            <a:endParaRPr lang="en-US" sz="900" b="0">
              <a:solidFill>
                <a:schemeClr val="bg1"/>
              </a:solidFill>
              <a:latin typeface="+mn-lt"/>
              <a:cs typeface="Arial Black" charset="0"/>
            </a:endParaRPr>
          </a:p>
        </p:txBody>
      </p:sp>
      <p:sp>
        <p:nvSpPr>
          <p:cNvPr id="6" name="TextBox 5">
            <a:extLst>
              <a:ext uri="{FF2B5EF4-FFF2-40B4-BE49-F238E27FC236}">
                <a16:creationId xmlns:a16="http://schemas.microsoft.com/office/drawing/2014/main" id="{227DFB59-FA3D-A1D5-02F0-43A21F59A70A}"/>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39108103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9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nk (W)">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300498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427590401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Two-Column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 Placeholder 2">
            <a:extLst>
              <a:ext uri="{FF2B5EF4-FFF2-40B4-BE49-F238E27FC236}">
                <a16:creationId xmlns:a16="http://schemas.microsoft.com/office/drawing/2014/main" id="{0BF7038D-D496-7248-87EC-9540380F1D12}"/>
              </a:ext>
            </a:extLst>
          </p:cNvPr>
          <p:cNvSpPr>
            <a:spLocks noGrp="1"/>
          </p:cNvSpPr>
          <p:nvPr>
            <p:ph type="body" sz="quarter" idx="13" hasCustomPrompt="1"/>
          </p:nvPr>
        </p:nvSpPr>
        <p:spPr>
          <a:xfrm>
            <a:off x="63833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338419914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hoto+Text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Photo+Text</a:t>
            </a:r>
            <a:r>
              <a:rPr lang="en-US"/>
              <a:t> (W)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marL="917575" marR="0"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marL="917575" marR="0" lvl="4" indent="-225425" algn="l" defTabSz="914314" rtl="0" eaLnBrk="1" fontAlgn="auto" latinLnBrk="0" hangingPunct="1">
              <a:lnSpc>
                <a:spcPct val="100000"/>
              </a:lnSpc>
              <a:spcBef>
                <a:spcPts val="600"/>
              </a:spcBef>
              <a:spcAft>
                <a:spcPts val="0"/>
              </a:spcAft>
              <a:buClr>
                <a:schemeClr val="bg1">
                  <a:lumMod val="50000"/>
                </a:schemeClr>
              </a:buClr>
              <a:buSzTx/>
              <a:buFont typeface=".HelveticaNeueDeskInterface-Regular"/>
              <a:buChar char="●"/>
              <a:tabLst/>
              <a:defRPr/>
            </a:pPr>
            <a:r>
              <a:rPr lang="en-US"/>
              <a:t>Quadruple-click the “Indent More” button (above) for fourth-level bullets</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1239838" y="1669499"/>
            <a:ext cx="4856162" cy="44805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239839" y="5889219"/>
            <a:ext cx="4856162"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224521110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ext+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340806" y="491385"/>
            <a:ext cx="3670259" cy="978486"/>
          </a:xfrm>
          <a:prstGeom prst="rect">
            <a:avLst/>
          </a:prstGeom>
        </p:spPr>
        <p:txBody>
          <a:bodyPr vert="horz" lIns="0" tIns="0" rIns="0" bIns="0" rtlCol="0" anchor="ctr">
            <a:normAutofit/>
          </a:bodyPr>
          <a:lstStyle>
            <a:lvl1pPr algn="l">
              <a:defRPr lang="en-US" sz="2400" dirty="0">
                <a:solidFill>
                  <a:schemeClr val="tx2"/>
                </a:solidFill>
                <a:latin typeface="Arial Black" charset="0"/>
                <a:ea typeface="Arial Black" charset="0"/>
                <a:cs typeface="Arial Black" charset="0"/>
              </a:defRPr>
            </a:lvl1pPr>
          </a:lstStyle>
          <a:p>
            <a:pPr marL="0" lvl="0"/>
            <a:r>
              <a:rPr lang="en-US"/>
              <a:t>Title for </a:t>
            </a:r>
            <a:r>
              <a:rPr lang="en-US" err="1"/>
              <a:t>Text+Photo</a:t>
            </a:r>
            <a:r>
              <a:rPr lang="en-US"/>
              <a:t>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340806" y="1469871"/>
            <a:ext cx="3670259" cy="4860591"/>
          </a:xfrm>
        </p:spPr>
        <p:txBody>
          <a:bodyPr>
            <a:normAutofit/>
          </a:bodyPr>
          <a:lstStyle>
            <a:lvl1pPr>
              <a:spcBef>
                <a:spcPts val="20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Picture Placeholder 2">
            <a:extLst>
              <a:ext uri="{FF2B5EF4-FFF2-40B4-BE49-F238E27FC236}">
                <a16:creationId xmlns:a16="http://schemas.microsoft.com/office/drawing/2014/main" id="{47569D7D-6010-454B-A86B-B6C69D7E2E6B}"/>
              </a:ext>
            </a:extLst>
          </p:cNvPr>
          <p:cNvSpPr>
            <a:spLocks noGrp="1"/>
          </p:cNvSpPr>
          <p:nvPr>
            <p:ph type="pic" sz="quarter" idx="11" hasCustomPrompt="1"/>
          </p:nvPr>
        </p:nvSpPr>
        <p:spPr>
          <a:xfrm>
            <a:off x="4191000" y="-1"/>
            <a:ext cx="8001000" cy="662940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FD26CCD3-E500-1F49-8DD8-1545E2CBF0B3}"/>
              </a:ext>
            </a:extLst>
          </p:cNvPr>
          <p:cNvSpPr>
            <a:spLocks noGrp="1"/>
          </p:cNvSpPr>
          <p:nvPr>
            <p:ph type="body" sz="quarter" idx="12" hasCustomPrompt="1"/>
          </p:nvPr>
        </p:nvSpPr>
        <p:spPr>
          <a:xfrm rot="5400000">
            <a:off x="8746884" y="3184281"/>
            <a:ext cx="6629396"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254664362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hoto+Photo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Title for </a:t>
            </a:r>
            <a:r>
              <a:rPr lang="en-US" err="1"/>
              <a:t>Photo+Photo</a:t>
            </a:r>
            <a:r>
              <a:rPr lang="en-US"/>
              <a:t> (W)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bg1">
              <a:lumMod val="90000"/>
            </a:schemeClr>
          </a:solidFill>
        </p:spPr>
        <p:txBody>
          <a:bodyPr lIns="365760" tIns="365760" rIns="365760" bIns="1828800" anchor="b">
            <a:normAutofit/>
          </a:bodyPr>
          <a:lstStyle>
            <a:lvl1pPr marL="0" indent="0" algn="ctr">
              <a:buNone/>
              <a:defRPr sz="1600" i="1">
                <a:solidFill>
                  <a:schemeClr val="bg1">
                    <a:lumMod val="75000"/>
                  </a:schemeClr>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29438956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Large Photo+Title (W)">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1" y="5349453"/>
            <a:ext cx="12192000" cy="1508547"/>
          </a:xfrm>
          <a:prstGeom prst="rect">
            <a:avLst/>
          </a:prstGeom>
        </p:spPr>
        <p:txBody>
          <a:bodyPr vert="horz" lIns="457200" tIns="182880" rIns="457200" bIns="182880" rtlCol="0" anchor="t" anchorCtr="0">
            <a:noAutofit/>
          </a:bodyPr>
          <a:lstStyle>
            <a:lvl1pPr algn="ctr">
              <a:defRPr lang="en-US" sz="2400" dirty="0">
                <a:solidFill>
                  <a:schemeClr val="tx2"/>
                </a:solidFill>
                <a:latin typeface="Arial Black" charset="0"/>
                <a:ea typeface="Arial Black" charset="0"/>
                <a:cs typeface="Arial Black" charset="0"/>
              </a:defRPr>
            </a:lvl1pPr>
          </a:lstStyle>
          <a:p>
            <a:pPr marL="0" lvl="0"/>
            <a:r>
              <a:rPr lang="en-US"/>
              <a:t>Title for Large Photo (W) Layout</a:t>
            </a:r>
          </a:p>
        </p:txBody>
      </p:sp>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0"/>
            <a:ext cx="12192000" cy="5349875"/>
          </a:xfrm>
          <a:solidFill>
            <a:schemeClr val="bg1">
              <a:lumMod val="90000"/>
            </a:schemeClr>
          </a:solidFill>
        </p:spPr>
        <p:txBody>
          <a:bodyPr tIns="0" bIns="20574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324247540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Extra-Large Photo+Title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172200"/>
          </a:xfrm>
          <a:solidFill>
            <a:schemeClr val="bg1">
              <a:lumMod val="90000"/>
            </a:schemeClr>
          </a:solidFill>
        </p:spPr>
        <p:txBody>
          <a:bodyPr tIns="0" bIns="256032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975483" y="2955682"/>
            <a:ext cx="617219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4" name="Title Placeholder 1">
            <a:extLst>
              <a:ext uri="{FF2B5EF4-FFF2-40B4-BE49-F238E27FC236}">
                <a16:creationId xmlns:a16="http://schemas.microsoft.com/office/drawing/2014/main" id="{24F27426-24A7-3845-8E05-8360D202A2F3}"/>
              </a:ext>
            </a:extLst>
          </p:cNvPr>
          <p:cNvSpPr>
            <a:spLocks noGrp="1"/>
          </p:cNvSpPr>
          <p:nvPr>
            <p:ph type="title" hasCustomPrompt="1"/>
          </p:nvPr>
        </p:nvSpPr>
        <p:spPr>
          <a:xfrm>
            <a:off x="0" y="6172200"/>
            <a:ext cx="12202245" cy="685800"/>
          </a:xfrm>
          <a:prstGeom prst="rect">
            <a:avLst/>
          </a:prstGeom>
        </p:spPr>
        <p:txBody>
          <a:bodyPr vert="horz" lIns="457200" tIns="91440" rIns="457200" bIns="182880" rtlCol="0" anchor="t" anchorCtr="0">
            <a:normAutofit/>
          </a:bodyPr>
          <a:lstStyle>
            <a:lvl1pPr algn="ctr">
              <a:defRPr lang="en-US" sz="2200" dirty="0">
                <a:solidFill>
                  <a:schemeClr val="tx2"/>
                </a:solidFill>
                <a:latin typeface="Arial Black" charset="0"/>
                <a:ea typeface="Arial Black" charset="0"/>
                <a:cs typeface="Arial Black" charset="0"/>
              </a:defRPr>
            </a:lvl1pPr>
          </a:lstStyle>
          <a:p>
            <a:pPr marL="0" lvl="0"/>
            <a:r>
              <a:rPr lang="en-US"/>
              <a:t>Title for Extra-Large </a:t>
            </a:r>
            <a:r>
              <a:rPr lang="en-US" err="1"/>
              <a:t>Photo+Title</a:t>
            </a:r>
            <a:r>
              <a:rPr lang="en-US"/>
              <a:t> (W) Layout</a:t>
            </a:r>
          </a:p>
        </p:txBody>
      </p:sp>
    </p:spTree>
    <p:extLst>
      <p:ext uri="{BB962C8B-B14F-4D97-AF65-F5344CB8AC3E}">
        <p14:creationId xmlns:p14="http://schemas.microsoft.com/office/powerpoint/2010/main" val="8454705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Extra-Large Photo (W)">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8B1EB05-4C3D-C643-8F71-7489EF7CE397}"/>
              </a:ext>
            </a:extLst>
          </p:cNvPr>
          <p:cNvSpPr>
            <a:spLocks noGrp="1"/>
          </p:cNvSpPr>
          <p:nvPr>
            <p:ph type="pic" sz="quarter" idx="10" hasCustomPrompt="1"/>
          </p:nvPr>
        </p:nvSpPr>
        <p:spPr>
          <a:xfrm>
            <a:off x="0" y="-1"/>
            <a:ext cx="12192000" cy="6583680"/>
          </a:xfrm>
          <a:solidFill>
            <a:schemeClr val="bg1">
              <a:lumMod val="90000"/>
            </a:schemeClr>
          </a:solidFill>
        </p:spPr>
        <p:txBody>
          <a:bodyPr tIns="0" bIns="2743200" anchor="b"/>
          <a:lstStyle>
            <a:lvl1pPr algn="ctr">
              <a:defRPr i="1">
                <a:solidFill>
                  <a:schemeClr val="bg1">
                    <a:lumMod val="75000"/>
                  </a:schemeClr>
                </a:solidFill>
              </a:defRPr>
            </a:lvl1pPr>
          </a:lstStyle>
          <a:p>
            <a:r>
              <a:rPr lang="en-US"/>
              <a:t>Click icon to insert a photo.</a:t>
            </a:r>
          </a:p>
        </p:txBody>
      </p:sp>
      <p:sp>
        <p:nvSpPr>
          <p:cNvPr id="6" name="Text Placeholder 4">
            <a:extLst>
              <a:ext uri="{FF2B5EF4-FFF2-40B4-BE49-F238E27FC236}">
                <a16:creationId xmlns:a16="http://schemas.microsoft.com/office/drawing/2014/main" id="{EC91875E-B0A9-0447-9F79-6199D7261229}"/>
              </a:ext>
            </a:extLst>
          </p:cNvPr>
          <p:cNvSpPr>
            <a:spLocks noGrp="1"/>
          </p:cNvSpPr>
          <p:nvPr>
            <p:ph type="body" sz="quarter" idx="11" hasCustomPrompt="1"/>
          </p:nvPr>
        </p:nvSpPr>
        <p:spPr>
          <a:xfrm rot="5400000">
            <a:off x="8769743" y="3161422"/>
            <a:ext cx="6583678" cy="260840"/>
          </a:xfrm>
        </p:spPr>
        <p:txBody>
          <a:bodyPr lIns="91440" tIns="45720" rIns="91440" bIns="45720">
            <a:noAutofit/>
          </a:bodyPr>
          <a:lstStyle>
            <a:lvl1pPr>
              <a:defRPr sz="900">
                <a:solidFill>
                  <a:schemeClr val="bg1">
                    <a:lumMod val="25000"/>
                  </a:schemeClr>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Tree>
    <p:extLst>
      <p:ext uri="{BB962C8B-B14F-4D97-AF65-F5344CB8AC3E}">
        <p14:creationId xmlns:p14="http://schemas.microsoft.com/office/powerpoint/2010/main" val="421966197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ingle-Column (B)">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Single-Column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marL="0" marR="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solidFill>
                  <a:schemeClr val="bg1"/>
                </a:solidFill>
              </a:defRPr>
            </a:lvl1pPr>
            <a:lvl2pPr>
              <a:buClr>
                <a:schemeClr val="tx2">
                  <a:lumMod val="40000"/>
                  <a:lumOff val="60000"/>
                </a:schemeClr>
              </a:buClr>
              <a:defRPr>
                <a:solidFill>
                  <a:schemeClr val="bg1"/>
                </a:solidFill>
              </a:defRPr>
            </a:lvl2pPr>
            <a:lvl3pPr>
              <a:buClr>
                <a:schemeClr val="bg1">
                  <a:lumMod val="75000"/>
                </a:schemeClr>
              </a:buClr>
              <a:defRPr>
                <a:solidFill>
                  <a:schemeClr val="bg1"/>
                </a:solidFill>
              </a:defRPr>
            </a:lvl3pPr>
            <a:lvl4pPr>
              <a:buClr>
                <a:schemeClr val="tx2">
                  <a:lumMod val="40000"/>
                  <a:lumOff val="60000"/>
                </a:schemeClr>
              </a:buClr>
              <a:defRPr>
                <a:solidFill>
                  <a:schemeClr val="bg1"/>
                </a:solidFill>
              </a:defRPr>
            </a:lvl4pPr>
            <a:lvl5pPr>
              <a:buClr>
                <a:schemeClr val="bg1">
                  <a:lumMod val="75000"/>
                </a:schemeClr>
              </a:buClr>
              <a:defRPr>
                <a:solidFill>
                  <a:schemeClr val="bg1"/>
                </a:solidFill>
              </a:defRPr>
            </a:lvl5pPr>
          </a:lstStyle>
          <a:p>
            <a:pPr marL="0" marR="0" lvl="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pPr>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4" name="TextBox 3">
            <a:extLst>
              <a:ext uri="{FF2B5EF4-FFF2-40B4-BE49-F238E27FC236}">
                <a16:creationId xmlns:a16="http://schemas.microsoft.com/office/drawing/2014/main" id="{5B31EA4B-58AD-3842-9BEC-4B9FF60E019D}"/>
              </a:ext>
            </a:extLst>
          </p:cNvPr>
          <p:cNvSpPr txBox="1"/>
          <p:nvPr/>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IMF</a:t>
            </a:r>
            <a:endParaRPr lang="en-US" sz="900" b="0">
              <a:solidFill>
                <a:schemeClr val="accent1">
                  <a:lumMod val="60000"/>
                  <a:lumOff val="40000"/>
                </a:schemeClr>
              </a:solidFill>
              <a:latin typeface="+mn-lt"/>
              <a:cs typeface="Arial Black" charset="0"/>
            </a:endParaRPr>
          </a:p>
        </p:txBody>
      </p:sp>
      <p:sp>
        <p:nvSpPr>
          <p:cNvPr id="5" name="TextBox 4">
            <a:extLst>
              <a:ext uri="{FF2B5EF4-FFF2-40B4-BE49-F238E27FC236}">
                <a16:creationId xmlns:a16="http://schemas.microsoft.com/office/drawing/2014/main" id="{E06FD9C8-9F14-B64C-88D7-AFEADAB39B39}"/>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2" name="TextBox 1">
            <a:extLst>
              <a:ext uri="{FF2B5EF4-FFF2-40B4-BE49-F238E27FC236}">
                <a16:creationId xmlns:a16="http://schemas.microsoft.com/office/drawing/2014/main" id="{76CBBCC2-9838-071A-93ED-F8D0493F27FB}"/>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IMF</a:t>
            </a:r>
            <a:endParaRPr lang="en-US" sz="900" b="0">
              <a:solidFill>
                <a:schemeClr val="accent1">
                  <a:lumMod val="60000"/>
                  <a:lumOff val="40000"/>
                </a:schemeClr>
              </a:solidFill>
              <a:latin typeface="+mn-lt"/>
              <a:cs typeface="Arial Black" charset="0"/>
            </a:endParaRPr>
          </a:p>
        </p:txBody>
      </p:sp>
      <p:sp>
        <p:nvSpPr>
          <p:cNvPr id="6" name="TextBox 5">
            <a:extLst>
              <a:ext uri="{FF2B5EF4-FFF2-40B4-BE49-F238E27FC236}">
                <a16:creationId xmlns:a16="http://schemas.microsoft.com/office/drawing/2014/main" id="{FD88F410-E08B-6AF7-AE18-4BFBEBBBDEFF}"/>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42226343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Column (B)">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Two-Column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5" name="TextBox 4">
            <a:extLst>
              <a:ext uri="{FF2B5EF4-FFF2-40B4-BE49-F238E27FC236}">
                <a16:creationId xmlns:a16="http://schemas.microsoft.com/office/drawing/2014/main" id="{6DC0B0CE-B013-7641-9551-DA60CF80B4AC}"/>
              </a:ext>
            </a:extLst>
          </p:cNvPr>
          <p:cNvSpPr txBox="1"/>
          <p:nvPr/>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IMF</a:t>
            </a:r>
            <a:endParaRPr lang="en-US" sz="900" b="0">
              <a:solidFill>
                <a:schemeClr val="accent1">
                  <a:lumMod val="60000"/>
                  <a:lumOff val="40000"/>
                </a:schemeClr>
              </a:solidFill>
              <a:latin typeface="+mn-lt"/>
              <a:cs typeface="Arial Black" charset="0"/>
            </a:endParaRPr>
          </a:p>
        </p:txBody>
      </p:sp>
      <p:sp>
        <p:nvSpPr>
          <p:cNvPr id="6" name="TextBox 5">
            <a:extLst>
              <a:ext uri="{FF2B5EF4-FFF2-40B4-BE49-F238E27FC236}">
                <a16:creationId xmlns:a16="http://schemas.microsoft.com/office/drawing/2014/main" id="{77362889-E692-BF4A-B8C8-D6FF23EE4CF0}"/>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cxnSp>
        <p:nvCxnSpPr>
          <p:cNvPr id="7" name="Straight Connector 6">
            <a:extLst>
              <a:ext uri="{FF2B5EF4-FFF2-40B4-BE49-F238E27FC236}">
                <a16:creationId xmlns:a16="http://schemas.microsoft.com/office/drawing/2014/main" id="{DCB5B26B-2A1F-084E-BAF6-BEA91A8E38A5}"/>
              </a:ext>
            </a:extLst>
          </p:cNvPr>
          <p:cNvCxnSpPr>
            <a:cxnSpLocks/>
          </p:cNvCxnSpPr>
          <p:nvPr/>
        </p:nvCxnSpPr>
        <p:spPr>
          <a:xfrm>
            <a:off x="6096000" y="1670538"/>
            <a:ext cx="0" cy="4425462"/>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8412C86-AC9E-F2C6-E273-0117120CEDF4}"/>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IMF</a:t>
            </a:r>
            <a:endParaRPr lang="en-US" sz="900" b="0">
              <a:solidFill>
                <a:schemeClr val="accent1">
                  <a:lumMod val="60000"/>
                  <a:lumOff val="40000"/>
                </a:schemeClr>
              </a:solidFill>
              <a:latin typeface="+mn-lt"/>
              <a:cs typeface="Arial Black" charset="0"/>
            </a:endParaRPr>
          </a:p>
        </p:txBody>
      </p:sp>
      <p:sp>
        <p:nvSpPr>
          <p:cNvPr id="8" name="TextBox 7">
            <a:extLst>
              <a:ext uri="{FF2B5EF4-FFF2-40B4-BE49-F238E27FC236}">
                <a16:creationId xmlns:a16="http://schemas.microsoft.com/office/drawing/2014/main" id="{1A17CDB9-C598-A6B2-CC16-8E39ED7C4FF9}"/>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cxnSp>
        <p:nvCxnSpPr>
          <p:cNvPr id="9" name="Straight Connector 8">
            <a:extLst>
              <a:ext uri="{FF2B5EF4-FFF2-40B4-BE49-F238E27FC236}">
                <a16:creationId xmlns:a16="http://schemas.microsoft.com/office/drawing/2014/main" id="{A485A2E5-B8D8-7EEE-69D1-01BE4A519C3B}"/>
              </a:ext>
            </a:extLst>
          </p:cNvPr>
          <p:cNvCxnSpPr>
            <a:cxnSpLocks/>
          </p:cNvCxnSpPr>
          <p:nvPr userDrawn="1"/>
        </p:nvCxnSpPr>
        <p:spPr>
          <a:xfrm>
            <a:off x="6096000" y="1670538"/>
            <a:ext cx="0" cy="4425462"/>
          </a:xfrm>
          <a:prstGeom prst="line">
            <a:avLst/>
          </a:prstGeom>
          <a:ln w="9525">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70093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Photo+Text (B)">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a:t>
            </a:r>
            <a:r>
              <a:rPr lang="en-US" err="1"/>
              <a:t>Photo+Text</a:t>
            </a:r>
            <a:r>
              <a:rPr lang="en-US"/>
              <a:t> (B) Layout</a:t>
            </a:r>
          </a:p>
        </p:txBody>
      </p:sp>
      <p:sp>
        <p:nvSpPr>
          <p:cNvPr id="4" name="Text Placeholder 2">
            <a:extLst>
              <a:ext uri="{FF2B5EF4-FFF2-40B4-BE49-F238E27FC236}">
                <a16:creationId xmlns:a16="http://schemas.microsoft.com/office/drawing/2014/main" id="{8673A610-5F4D-8049-8881-F136A3242FF6}"/>
              </a:ext>
            </a:extLst>
          </p:cNvPr>
          <p:cNvSpPr>
            <a:spLocks noGrp="1"/>
          </p:cNvSpPr>
          <p:nvPr>
            <p:ph type="body" sz="quarter" idx="11" hasCustomPrompt="1"/>
          </p:nvPr>
        </p:nvSpPr>
        <p:spPr>
          <a:xfrm>
            <a:off x="6383338" y="1469871"/>
            <a:ext cx="4572000" cy="4860591"/>
          </a:xfrm>
        </p:spPr>
        <p:txBody>
          <a:bodyPr>
            <a:normAutofit/>
          </a:bodyPr>
          <a:lstStyle>
            <a:lvl1pPr>
              <a:spcBef>
                <a:spcPts val="2000"/>
              </a:spcBef>
              <a:defRPr sz="1800">
                <a:solidFill>
                  <a:schemeClr val="bg1"/>
                </a:solidFill>
              </a:defRPr>
            </a:lvl1pPr>
            <a:lvl2pPr>
              <a:buClr>
                <a:schemeClr val="tx2">
                  <a:lumMod val="40000"/>
                  <a:lumOff val="60000"/>
                </a:schemeClr>
              </a:buClr>
              <a:defRPr sz="1800">
                <a:solidFill>
                  <a:schemeClr val="bg1"/>
                </a:solidFill>
              </a:defRPr>
            </a:lvl2pPr>
            <a:lvl3pPr>
              <a:buClr>
                <a:schemeClr val="bg1">
                  <a:lumMod val="75000"/>
                </a:schemeClr>
              </a:buClr>
              <a:defRPr sz="1800">
                <a:solidFill>
                  <a:schemeClr val="bg1"/>
                </a:solidFill>
              </a:defRPr>
            </a:lvl3pPr>
            <a:lvl4pPr>
              <a:buClr>
                <a:schemeClr val="tx2">
                  <a:lumMod val="40000"/>
                  <a:lumOff val="60000"/>
                </a:schemeClr>
              </a:buClr>
              <a:defRPr sz="1800">
                <a:solidFill>
                  <a:schemeClr val="bg1"/>
                </a:solidFill>
              </a:defRPr>
            </a:lvl4pPr>
            <a:lvl5pPr>
              <a:buClr>
                <a:schemeClr val="bg1">
                  <a:lumMod val="75000"/>
                </a:schemeClr>
              </a:buClr>
              <a:defRPr sz="1800">
                <a:solidFill>
                  <a:schemeClr val="bg1"/>
                </a:solidFill>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5" name="TextBox 4">
            <a:extLst>
              <a:ext uri="{FF2B5EF4-FFF2-40B4-BE49-F238E27FC236}">
                <a16:creationId xmlns:a16="http://schemas.microsoft.com/office/drawing/2014/main" id="{6DC0B0CE-B013-7641-9551-DA60CF80B4AC}"/>
              </a:ext>
            </a:extLst>
          </p:cNvPr>
          <p:cNvSpPr txBox="1"/>
          <p:nvPr/>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IMF</a:t>
            </a:r>
            <a:endParaRPr lang="en-US" sz="900" b="0">
              <a:solidFill>
                <a:schemeClr val="accent1">
                  <a:lumMod val="60000"/>
                  <a:lumOff val="40000"/>
                </a:schemeClr>
              </a:solidFill>
              <a:latin typeface="+mn-lt"/>
              <a:cs typeface="Arial Black" charset="0"/>
            </a:endParaRPr>
          </a:p>
        </p:txBody>
      </p:sp>
      <p:sp>
        <p:nvSpPr>
          <p:cNvPr id="6" name="TextBox 5">
            <a:extLst>
              <a:ext uri="{FF2B5EF4-FFF2-40B4-BE49-F238E27FC236}">
                <a16:creationId xmlns:a16="http://schemas.microsoft.com/office/drawing/2014/main" id="{77362889-E692-BF4A-B8C8-D6FF23EE4CF0}"/>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9" name="Picture Placeholder 4">
            <a:extLst>
              <a:ext uri="{FF2B5EF4-FFF2-40B4-BE49-F238E27FC236}">
                <a16:creationId xmlns:a16="http://schemas.microsoft.com/office/drawing/2014/main" id="{ADC7D600-7783-1F4F-AD62-06B784E129FD}"/>
              </a:ext>
            </a:extLst>
          </p:cNvPr>
          <p:cNvSpPr>
            <a:spLocks noGrp="1"/>
          </p:cNvSpPr>
          <p:nvPr>
            <p:ph type="pic" sz="quarter" idx="13" hasCustomPrompt="1"/>
          </p:nvPr>
        </p:nvSpPr>
        <p:spPr>
          <a:xfrm>
            <a:off x="1239838" y="1672046"/>
            <a:ext cx="4855464" cy="44805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10" name="Text Placeholder 4">
            <a:extLst>
              <a:ext uri="{FF2B5EF4-FFF2-40B4-BE49-F238E27FC236}">
                <a16:creationId xmlns:a16="http://schemas.microsoft.com/office/drawing/2014/main" id="{A3893C67-9BAE-6946-9896-78E2472B03D8}"/>
              </a:ext>
            </a:extLst>
          </p:cNvPr>
          <p:cNvSpPr>
            <a:spLocks noGrp="1"/>
          </p:cNvSpPr>
          <p:nvPr>
            <p:ph type="body" sz="quarter" idx="14" hasCustomPrompt="1"/>
          </p:nvPr>
        </p:nvSpPr>
        <p:spPr>
          <a:xfrm>
            <a:off x="1239838" y="5891766"/>
            <a:ext cx="4855464"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2" name="TextBox 1">
            <a:extLst>
              <a:ext uri="{FF2B5EF4-FFF2-40B4-BE49-F238E27FC236}">
                <a16:creationId xmlns:a16="http://schemas.microsoft.com/office/drawing/2014/main" id="{30298997-F782-2F57-DE92-B9060E75ED29}"/>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IMF</a:t>
            </a:r>
            <a:endParaRPr lang="en-US" sz="900" b="0">
              <a:solidFill>
                <a:schemeClr val="accent1">
                  <a:lumMod val="60000"/>
                  <a:lumOff val="40000"/>
                </a:schemeClr>
              </a:solidFill>
              <a:latin typeface="+mn-lt"/>
              <a:cs typeface="Arial Black" charset="0"/>
            </a:endParaRPr>
          </a:p>
        </p:txBody>
      </p:sp>
      <p:sp>
        <p:nvSpPr>
          <p:cNvPr id="3" name="TextBox 2">
            <a:extLst>
              <a:ext uri="{FF2B5EF4-FFF2-40B4-BE49-F238E27FC236}">
                <a16:creationId xmlns:a16="http://schemas.microsoft.com/office/drawing/2014/main" id="{091C9BC7-B6A6-15E2-E8AD-A771E6223B37}"/>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147502005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1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Photo+Photo (B)">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a:t>
            </a:r>
            <a:r>
              <a:rPr lang="en-US" err="1"/>
              <a:t>Photo+Photo</a:t>
            </a:r>
            <a:r>
              <a:rPr lang="en-US"/>
              <a:t> (B) Layout</a:t>
            </a:r>
          </a:p>
        </p:txBody>
      </p:sp>
      <p:sp>
        <p:nvSpPr>
          <p:cNvPr id="6" name="Picture Placeholder 4">
            <a:extLst>
              <a:ext uri="{FF2B5EF4-FFF2-40B4-BE49-F238E27FC236}">
                <a16:creationId xmlns:a16="http://schemas.microsoft.com/office/drawing/2014/main" id="{68106178-1013-D249-8751-3EA29B2109C8}"/>
              </a:ext>
            </a:extLst>
          </p:cNvPr>
          <p:cNvSpPr>
            <a:spLocks noGrp="1"/>
          </p:cNvSpPr>
          <p:nvPr>
            <p:ph type="pic" sz="quarter" idx="12" hasCustomPrompt="1"/>
          </p:nvPr>
        </p:nvSpPr>
        <p:spPr>
          <a:xfrm>
            <a:off x="0" y="1469871"/>
            <a:ext cx="6096000" cy="42519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7" name="Text Placeholder 4">
            <a:extLst>
              <a:ext uri="{FF2B5EF4-FFF2-40B4-BE49-F238E27FC236}">
                <a16:creationId xmlns:a16="http://schemas.microsoft.com/office/drawing/2014/main" id="{CDAF09BB-AD0B-2041-83F2-50D0A4E8600C}"/>
              </a:ext>
            </a:extLst>
          </p:cNvPr>
          <p:cNvSpPr>
            <a:spLocks noGrp="1"/>
          </p:cNvSpPr>
          <p:nvPr>
            <p:ph type="body" sz="quarter" idx="13" hasCustomPrompt="1"/>
          </p:nvPr>
        </p:nvSpPr>
        <p:spPr>
          <a:xfrm>
            <a:off x="1" y="5460991"/>
            <a:ext cx="6096000"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8" name="Picture Placeholder 4">
            <a:extLst>
              <a:ext uri="{FF2B5EF4-FFF2-40B4-BE49-F238E27FC236}">
                <a16:creationId xmlns:a16="http://schemas.microsoft.com/office/drawing/2014/main" id="{57E259A3-746A-2044-822B-3F7D859E7F10}"/>
              </a:ext>
            </a:extLst>
          </p:cNvPr>
          <p:cNvSpPr>
            <a:spLocks noGrp="1"/>
          </p:cNvSpPr>
          <p:nvPr>
            <p:ph type="pic" sz="quarter" idx="14" hasCustomPrompt="1"/>
          </p:nvPr>
        </p:nvSpPr>
        <p:spPr>
          <a:xfrm>
            <a:off x="6093439" y="1469871"/>
            <a:ext cx="6096000" cy="4251960"/>
          </a:xfrm>
          <a:solidFill>
            <a:schemeClr val="tx2">
              <a:lumMod val="50000"/>
            </a:schemeClr>
          </a:solidFill>
        </p:spPr>
        <p:txBody>
          <a:bodyPr lIns="365760" tIns="365760" rIns="365760" bIns="1828800" anchor="b">
            <a:normAutofit/>
          </a:bodyPr>
          <a:lstStyle>
            <a:lvl1pPr marL="0" indent="0" algn="ctr">
              <a:buNone/>
              <a:defRPr sz="1600" i="1">
                <a:solidFill>
                  <a:schemeClr val="tx2"/>
                </a:solidFill>
              </a:defRPr>
            </a:lvl1pPr>
          </a:lstStyle>
          <a:p>
            <a:r>
              <a:rPr lang="en-US"/>
              <a:t>Click icon to insert a photo.</a:t>
            </a:r>
          </a:p>
        </p:txBody>
      </p:sp>
      <p:sp>
        <p:nvSpPr>
          <p:cNvPr id="9" name="Text Placeholder 4">
            <a:extLst>
              <a:ext uri="{FF2B5EF4-FFF2-40B4-BE49-F238E27FC236}">
                <a16:creationId xmlns:a16="http://schemas.microsoft.com/office/drawing/2014/main" id="{E3F54B41-918E-644B-B610-DDE8277FB261}"/>
              </a:ext>
            </a:extLst>
          </p:cNvPr>
          <p:cNvSpPr>
            <a:spLocks noGrp="1"/>
          </p:cNvSpPr>
          <p:nvPr>
            <p:ph type="body" sz="quarter" idx="15" hasCustomPrompt="1"/>
          </p:nvPr>
        </p:nvSpPr>
        <p:spPr>
          <a:xfrm>
            <a:off x="6093440" y="5460991"/>
            <a:ext cx="6096000" cy="260840"/>
          </a:xfrm>
        </p:spPr>
        <p:txBody>
          <a:bodyPr lIns="45720" tIns="45720" rIns="45720" bIns="45720" anchor="b">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10" name="TextBox 9">
            <a:extLst>
              <a:ext uri="{FF2B5EF4-FFF2-40B4-BE49-F238E27FC236}">
                <a16:creationId xmlns:a16="http://schemas.microsoft.com/office/drawing/2014/main" id="{8E8A7720-BFE2-8541-8CCE-E6CF2AEB21D5}"/>
              </a:ext>
            </a:extLst>
          </p:cNvPr>
          <p:cNvSpPr txBox="1"/>
          <p:nvPr/>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IMF</a:t>
            </a:r>
            <a:endParaRPr lang="en-US" sz="900" b="0">
              <a:solidFill>
                <a:schemeClr val="accent1">
                  <a:lumMod val="60000"/>
                  <a:lumOff val="40000"/>
                </a:schemeClr>
              </a:solidFill>
              <a:latin typeface="+mn-lt"/>
              <a:cs typeface="Arial Black" charset="0"/>
            </a:endParaRPr>
          </a:p>
        </p:txBody>
      </p:sp>
      <p:sp>
        <p:nvSpPr>
          <p:cNvPr id="11" name="TextBox 10">
            <a:extLst>
              <a:ext uri="{FF2B5EF4-FFF2-40B4-BE49-F238E27FC236}">
                <a16:creationId xmlns:a16="http://schemas.microsoft.com/office/drawing/2014/main" id="{DF7CAC3A-914C-D94C-9254-C253E5803F2C}"/>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2" name="TextBox 1">
            <a:extLst>
              <a:ext uri="{FF2B5EF4-FFF2-40B4-BE49-F238E27FC236}">
                <a16:creationId xmlns:a16="http://schemas.microsoft.com/office/drawing/2014/main" id="{698A259C-FD58-DA37-70DC-A5DB57157973}"/>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IMF</a:t>
            </a:r>
            <a:endParaRPr lang="en-US" sz="900" b="0">
              <a:solidFill>
                <a:schemeClr val="accent1">
                  <a:lumMod val="60000"/>
                  <a:lumOff val="40000"/>
                </a:schemeClr>
              </a:solidFill>
              <a:latin typeface="+mn-lt"/>
              <a:cs typeface="Arial Black" charset="0"/>
            </a:endParaRPr>
          </a:p>
        </p:txBody>
      </p:sp>
      <p:sp>
        <p:nvSpPr>
          <p:cNvPr id="3" name="TextBox 2">
            <a:extLst>
              <a:ext uri="{FF2B5EF4-FFF2-40B4-BE49-F238E27FC236}">
                <a16:creationId xmlns:a16="http://schemas.microsoft.com/office/drawing/2014/main" id="{5AB54609-BE4B-A0FE-A749-2F9A8718C3BE}"/>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31280918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Large-Photo (B)">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0" y="5349450"/>
            <a:ext cx="12191999" cy="1508547"/>
          </a:xfrm>
          <a:prstGeom prst="rect">
            <a:avLst/>
          </a:prstGeom>
        </p:spPr>
        <p:txBody>
          <a:bodyPr vert="horz" lIns="457200" tIns="182880" rIns="457200" bIns="182880" rtlCol="0" anchor="t">
            <a:normAutofit/>
          </a:bodyPr>
          <a:lstStyle>
            <a:lvl1pPr algn="ctr">
              <a:defRPr lang="en-US" sz="2400" dirty="0">
                <a:solidFill>
                  <a:schemeClr val="bg1"/>
                </a:solidFill>
                <a:latin typeface="Arial Black" charset="0"/>
                <a:ea typeface="Arial Black" charset="0"/>
                <a:cs typeface="Arial Black" charset="0"/>
              </a:defRPr>
            </a:lvl1pPr>
          </a:lstStyle>
          <a:p>
            <a:pPr marL="0" lvl="0"/>
            <a:r>
              <a:rPr lang="en-US"/>
              <a:t>Title for Large-Photo (B) Layout</a:t>
            </a:r>
          </a:p>
        </p:txBody>
      </p:sp>
      <p:sp>
        <p:nvSpPr>
          <p:cNvPr id="3" name="Picture Placeholder 2">
            <a:extLst>
              <a:ext uri="{FF2B5EF4-FFF2-40B4-BE49-F238E27FC236}">
                <a16:creationId xmlns:a16="http://schemas.microsoft.com/office/drawing/2014/main" id="{6B57DE7E-D5A7-934A-BDAA-810E25C7A254}"/>
              </a:ext>
            </a:extLst>
          </p:cNvPr>
          <p:cNvSpPr>
            <a:spLocks noGrp="1"/>
          </p:cNvSpPr>
          <p:nvPr>
            <p:ph type="pic" sz="quarter" idx="10" hasCustomPrompt="1"/>
          </p:nvPr>
        </p:nvSpPr>
        <p:spPr>
          <a:xfrm>
            <a:off x="0" y="0"/>
            <a:ext cx="12192000" cy="5349875"/>
          </a:xfrm>
          <a:solidFill>
            <a:schemeClr val="tx2">
              <a:lumMod val="50000"/>
            </a:schemeClr>
          </a:solidFill>
        </p:spPr>
        <p:txBody>
          <a:bodyPr tIns="0" bIns="2057400" anchor="b"/>
          <a:lstStyle>
            <a:lvl1pPr algn="ctr">
              <a:defRPr i="1">
                <a:solidFill>
                  <a:schemeClr val="tx2"/>
                </a:solidFill>
              </a:defRPr>
            </a:lvl1pPr>
          </a:lstStyle>
          <a:p>
            <a:r>
              <a:rPr lang="en-US"/>
              <a:t>Click icon to insert a photo.</a:t>
            </a:r>
          </a:p>
        </p:txBody>
      </p:sp>
      <p:sp>
        <p:nvSpPr>
          <p:cNvPr id="5" name="Text Placeholder 4">
            <a:extLst>
              <a:ext uri="{FF2B5EF4-FFF2-40B4-BE49-F238E27FC236}">
                <a16:creationId xmlns:a16="http://schemas.microsoft.com/office/drawing/2014/main" id="{7096E3DB-FA3A-7842-8A68-4AE4AACEC5FF}"/>
              </a:ext>
            </a:extLst>
          </p:cNvPr>
          <p:cNvSpPr>
            <a:spLocks noGrp="1"/>
          </p:cNvSpPr>
          <p:nvPr>
            <p:ph type="body" sz="quarter" idx="11" hasCustomPrompt="1"/>
          </p:nvPr>
        </p:nvSpPr>
        <p:spPr>
          <a:xfrm rot="5400000">
            <a:off x="9386856" y="2544308"/>
            <a:ext cx="5349451"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sp>
        <p:nvSpPr>
          <p:cNvPr id="12" name="TextBox 11">
            <a:extLst>
              <a:ext uri="{FF2B5EF4-FFF2-40B4-BE49-F238E27FC236}">
                <a16:creationId xmlns:a16="http://schemas.microsoft.com/office/drawing/2014/main" id="{764FF97F-5A7B-3544-BBF1-8D9147069589}"/>
              </a:ext>
            </a:extLst>
          </p:cNvPr>
          <p:cNvSpPr txBox="1"/>
          <p:nvPr/>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IMF</a:t>
            </a:r>
            <a:endParaRPr lang="en-US" sz="900" b="0">
              <a:solidFill>
                <a:schemeClr val="accent1">
                  <a:lumMod val="60000"/>
                  <a:lumOff val="40000"/>
                </a:schemeClr>
              </a:solidFill>
              <a:latin typeface="+mn-lt"/>
              <a:cs typeface="Arial Black" charset="0"/>
            </a:endParaRPr>
          </a:p>
        </p:txBody>
      </p:sp>
      <p:sp>
        <p:nvSpPr>
          <p:cNvPr id="13" name="TextBox 12">
            <a:extLst>
              <a:ext uri="{FF2B5EF4-FFF2-40B4-BE49-F238E27FC236}">
                <a16:creationId xmlns:a16="http://schemas.microsoft.com/office/drawing/2014/main" id="{5558205F-7910-2A4D-9D13-3F4027CE12D3}"/>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
        <p:nvSpPr>
          <p:cNvPr id="2" name="TextBox 1">
            <a:extLst>
              <a:ext uri="{FF2B5EF4-FFF2-40B4-BE49-F238E27FC236}">
                <a16:creationId xmlns:a16="http://schemas.microsoft.com/office/drawing/2014/main" id="{6F440D3B-5CFE-E7D3-B68F-381692B25592}"/>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accent1">
                    <a:lumMod val="60000"/>
                    <a:lumOff val="40000"/>
                  </a:schemeClr>
                </a:solidFill>
                <a:latin typeface="Arial Black" charset="0"/>
                <a:cs typeface="Arial Black" charset="0"/>
              </a:rPr>
              <a:t>IMF</a:t>
            </a:r>
            <a:endParaRPr lang="en-US" sz="900" b="0">
              <a:solidFill>
                <a:schemeClr val="accent1">
                  <a:lumMod val="60000"/>
                  <a:lumOff val="40000"/>
                </a:schemeClr>
              </a:solidFill>
              <a:latin typeface="+mn-lt"/>
              <a:cs typeface="Arial Black" charset="0"/>
            </a:endParaRPr>
          </a:p>
        </p:txBody>
      </p:sp>
      <p:sp>
        <p:nvSpPr>
          <p:cNvPr id="4" name="TextBox 3">
            <a:extLst>
              <a:ext uri="{FF2B5EF4-FFF2-40B4-BE49-F238E27FC236}">
                <a16:creationId xmlns:a16="http://schemas.microsoft.com/office/drawing/2014/main" id="{3D7EAA18-837F-89E0-2FEC-C050EE4FE0B8}"/>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211937051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userDrawn="1"/>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55125"/>
          <a:stretch/>
        </p:blipFill>
        <p:spPr>
          <a:xfrm>
            <a:off x="5623560" y="749808"/>
            <a:ext cx="1103811" cy="1143561"/>
          </a:xfrm>
          <a:prstGeom prst="rect">
            <a:avLst/>
          </a:prstGeom>
        </p:spPr>
      </p:pic>
    </p:spTree>
    <p:extLst>
      <p:ext uri="{BB962C8B-B14F-4D97-AF65-F5344CB8AC3E}">
        <p14:creationId xmlns:p14="http://schemas.microsoft.com/office/powerpoint/2010/main" val="389523128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83436" y="71412"/>
            <a:ext cx="9025128" cy="854884"/>
          </a:xfrm>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838200" y="1803156"/>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792637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56313" y="136523"/>
            <a:ext cx="10666675" cy="706094"/>
          </a:xfrm>
        </p:spPr>
        <p:txBody>
          <a:bodyPr anchor="b">
            <a:normAutofit/>
          </a:bodyPr>
          <a:lstStyle>
            <a:lvl1pPr>
              <a:defRPr sz="36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1" y="4589465"/>
            <a:ext cx="10515600"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B8249D-73BB-4688-B427-EB89B5DAF030}"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27933133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5B8249D-73BB-4688-B427-EB89B5DAF030}"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413830413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lvl1pPr>
              <a:defRPr>
                <a:solidFill>
                  <a:srgbClr val="004C97"/>
                </a:solidFill>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5B8249D-73BB-4688-B427-EB89B5DAF030}" type="datetimeFigureOut">
              <a:rPr lang="en-US" smtClean="0"/>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163363987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Date Placeholder 2"/>
          <p:cNvSpPr>
            <a:spLocks noGrp="1"/>
          </p:cNvSpPr>
          <p:nvPr>
            <p:ph type="dt" sz="half" idx="10"/>
          </p:nvPr>
        </p:nvSpPr>
        <p:spPr/>
        <p:txBody>
          <a:bodyPr/>
          <a:lstStyle/>
          <a:p>
            <a:fld id="{B5B8249D-73BB-4688-B427-EB89B5DAF030}" type="datetimeFigureOut">
              <a:rPr lang="en-US" smtClean="0"/>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261801823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B8249D-73BB-4688-B427-EB89B5DAF030}" type="datetimeFigureOut">
              <a:rPr lang="en-US" smtClean="0"/>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361168283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004C97"/>
                </a:solidFill>
              </a:defRPr>
            </a:lvl1pPr>
          </a:lstStyle>
          <a:p>
            <a:r>
              <a:rPr lang="en-US"/>
              <a:t>Click to edit Master title style</a:t>
            </a:r>
          </a:p>
        </p:txBody>
      </p:sp>
      <p:sp>
        <p:nvSpPr>
          <p:cNvPr id="3" name="Content Placeholder 2"/>
          <p:cNvSpPr>
            <a:spLocks noGrp="1"/>
          </p:cNvSpPr>
          <p:nvPr>
            <p:ph idx="1"/>
          </p:nvPr>
        </p:nvSpPr>
        <p:spPr>
          <a:xfrm>
            <a:off x="5183188" y="987427"/>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B8249D-73BB-4688-B427-EB89B5DAF030}"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279332488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004C97"/>
                </a:solidFill>
              </a:defRPr>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B8249D-73BB-4688-B427-EB89B5DAF030}"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137083948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838200" y="1855442"/>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B8249D-73BB-4688-B427-EB89B5DAF030}"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175071654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B8249D-73BB-4688-B427-EB89B5DAF030}"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51149" y="6499964"/>
            <a:ext cx="608731" cy="365125"/>
          </a:xfrm>
          <a:prstGeom prst="rect">
            <a:avLst/>
          </a:prstGeom>
        </p:spPr>
        <p:txBody>
          <a:bodyPr/>
          <a:lstStyle/>
          <a:p>
            <a:fld id="{10D478F3-51D7-414D-882C-32EADC5AA2AE}" type="slidenum">
              <a:rPr lang="en-US" smtClean="0"/>
              <a:t>‹#›</a:t>
            </a:fld>
            <a:endParaRPr lang="en-US"/>
          </a:p>
        </p:txBody>
      </p:sp>
    </p:spTree>
    <p:extLst>
      <p:ext uri="{BB962C8B-B14F-4D97-AF65-F5344CB8AC3E}">
        <p14:creationId xmlns:p14="http://schemas.microsoft.com/office/powerpoint/2010/main" val="221653208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Presenta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35A615-44B8-AC4C-BDEB-B9D50F7261D9}"/>
              </a:ext>
            </a:extLst>
          </p:cNvPr>
          <p:cNvSpPr/>
          <p:nvPr/>
        </p:nvSpPr>
        <p:spPr>
          <a:xfrm>
            <a:off x="11938958" y="-2"/>
            <a:ext cx="253042" cy="685800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741048" y="4180267"/>
            <a:ext cx="5515284" cy="465240"/>
          </a:xfrm>
        </p:spPr>
        <p:txBody>
          <a:bodyPr lIns="0" tIns="91440" rIns="0" bIns="0"/>
          <a:lstStyle>
            <a:lvl1pPr marL="0" indent="0" algn="l">
              <a:buNone/>
              <a:defRPr b="1" cap="all" baseline="0">
                <a:solidFill>
                  <a:schemeClr val="tx2"/>
                </a:solidFill>
              </a:defRPr>
            </a:lvl1pPr>
            <a:lvl2pPr marL="457157" indent="0" algn="ctr">
              <a:buNone/>
              <a:defRPr>
                <a:solidFill>
                  <a:schemeClr val="tx1">
                    <a:tint val="75000"/>
                  </a:schemeClr>
                </a:solidFill>
              </a:defRPr>
            </a:lvl2pPr>
            <a:lvl3pPr marL="914314" indent="0" algn="ctr">
              <a:buNone/>
              <a:defRPr>
                <a:solidFill>
                  <a:schemeClr val="tx1">
                    <a:tint val="75000"/>
                  </a:schemeClr>
                </a:solidFill>
              </a:defRPr>
            </a:lvl3pPr>
            <a:lvl4pPr marL="1371472" indent="0" algn="ctr">
              <a:buNone/>
              <a:defRPr>
                <a:solidFill>
                  <a:schemeClr val="tx1">
                    <a:tint val="75000"/>
                  </a:schemeClr>
                </a:solidFill>
              </a:defRPr>
            </a:lvl4pPr>
            <a:lvl5pPr marL="1828628" indent="0" algn="ctr">
              <a:buNone/>
              <a:defRPr>
                <a:solidFill>
                  <a:schemeClr val="tx1">
                    <a:tint val="75000"/>
                  </a:schemeClr>
                </a:solidFill>
              </a:defRPr>
            </a:lvl5pPr>
            <a:lvl6pPr marL="2285785" indent="0" algn="ctr">
              <a:buNone/>
              <a:defRPr>
                <a:solidFill>
                  <a:schemeClr val="tx1">
                    <a:tint val="75000"/>
                  </a:schemeClr>
                </a:solidFill>
              </a:defRPr>
            </a:lvl6pPr>
            <a:lvl7pPr marL="2742942" indent="0" algn="ctr">
              <a:buNone/>
              <a:defRPr>
                <a:solidFill>
                  <a:schemeClr val="tx1">
                    <a:tint val="75000"/>
                  </a:schemeClr>
                </a:solidFill>
              </a:defRPr>
            </a:lvl7pPr>
            <a:lvl8pPr marL="3200100" indent="0" algn="ctr">
              <a:buNone/>
              <a:defRPr>
                <a:solidFill>
                  <a:schemeClr val="tx1">
                    <a:tint val="75000"/>
                  </a:schemeClr>
                </a:solidFill>
              </a:defRPr>
            </a:lvl8pPr>
            <a:lvl9pPr marL="3657257" indent="0" algn="ctr">
              <a:buNone/>
              <a:defRPr>
                <a:solidFill>
                  <a:schemeClr val="tx1">
                    <a:tint val="75000"/>
                  </a:schemeClr>
                </a:solidFill>
              </a:defRPr>
            </a:lvl9pPr>
          </a:lstStyle>
          <a:p>
            <a:r>
              <a:rPr lang="en-US"/>
              <a:t>Month </a:t>
            </a:r>
            <a:r>
              <a:rPr lang="en-US" err="1"/>
              <a:t>dd</a:t>
            </a:r>
            <a:r>
              <a:rPr lang="en-US"/>
              <a:t>, </a:t>
            </a:r>
            <a:r>
              <a:rPr lang="en-US" err="1"/>
              <a:t>yyyy</a:t>
            </a:r>
            <a:endParaRPr lang="en-US"/>
          </a:p>
        </p:txBody>
      </p:sp>
      <p:sp>
        <p:nvSpPr>
          <p:cNvPr id="12" name="Text Placeholder 11">
            <a:extLst>
              <a:ext uri="{FF2B5EF4-FFF2-40B4-BE49-F238E27FC236}">
                <a16:creationId xmlns:a16="http://schemas.microsoft.com/office/drawing/2014/main" id="{FF8FC6B8-AF18-8A44-98A9-C2E79C685356}"/>
              </a:ext>
            </a:extLst>
          </p:cNvPr>
          <p:cNvSpPr>
            <a:spLocks noGrp="1"/>
          </p:cNvSpPr>
          <p:nvPr>
            <p:ph type="body" sz="quarter" idx="10" hasCustomPrompt="1"/>
          </p:nvPr>
        </p:nvSpPr>
        <p:spPr>
          <a:xfrm>
            <a:off x="5741048" y="4879731"/>
            <a:ext cx="5515284" cy="1213338"/>
          </a:xfrm>
        </p:spPr>
        <p:txBody>
          <a:bodyPr lIns="0" tIns="0" rIns="0" bIns="0" anchor="b" anchorCtr="0"/>
          <a:lstStyle>
            <a:lvl1pPr marL="0" indent="0">
              <a:spcBef>
                <a:spcPts val="300"/>
              </a:spcBef>
              <a:buNone/>
              <a:tabLst/>
              <a:defRPr>
                <a:solidFill>
                  <a:schemeClr val="bg1">
                    <a:lumMod val="50000"/>
                  </a:schemeClr>
                </a:solidFill>
              </a:defRPr>
            </a:lvl1pPr>
            <a:lvl2pPr marL="0" indent="0">
              <a:spcBef>
                <a:spcPts val="300"/>
              </a:spcBef>
              <a:buNone/>
              <a:tabLst/>
              <a:defRPr>
                <a:solidFill>
                  <a:schemeClr val="bg1">
                    <a:lumMod val="50000"/>
                  </a:schemeClr>
                </a:solidFill>
              </a:defRPr>
            </a:lvl2pPr>
            <a:lvl3pPr marL="0" indent="0">
              <a:spcBef>
                <a:spcPts val="300"/>
              </a:spcBef>
              <a:buNone/>
              <a:tabLst/>
              <a:defRPr>
                <a:solidFill>
                  <a:schemeClr val="bg1">
                    <a:lumMod val="50000"/>
                  </a:schemeClr>
                </a:solidFill>
              </a:defRPr>
            </a:lvl3pPr>
            <a:lvl4pPr marL="0" indent="0">
              <a:spcBef>
                <a:spcPts val="300"/>
              </a:spcBef>
              <a:buNone/>
              <a:tabLst/>
              <a:defRPr>
                <a:solidFill>
                  <a:schemeClr val="bg1">
                    <a:lumMod val="50000"/>
                  </a:schemeClr>
                </a:solidFill>
              </a:defRPr>
            </a:lvl4pPr>
            <a:lvl5pPr marL="0" indent="0">
              <a:spcBef>
                <a:spcPts val="300"/>
              </a:spcBef>
              <a:buNone/>
              <a:tabLst/>
              <a:defRPr>
                <a:solidFill>
                  <a:schemeClr val="bg1">
                    <a:lumMod val="50000"/>
                  </a:schemeClr>
                </a:solidFill>
              </a:defRPr>
            </a:lvl5pPr>
          </a:lstStyle>
          <a:p>
            <a:pPr lvl="0"/>
            <a:r>
              <a:rPr lang="en-US"/>
              <a:t>Speaker Name</a:t>
            </a:r>
          </a:p>
          <a:p>
            <a:pPr lvl="0"/>
            <a:r>
              <a:rPr lang="en-US"/>
              <a:t>Division/Title/Affiliation</a:t>
            </a:r>
          </a:p>
        </p:txBody>
      </p:sp>
      <p:sp>
        <p:nvSpPr>
          <p:cNvPr id="5" name="Picture Placeholder 4">
            <a:extLst>
              <a:ext uri="{FF2B5EF4-FFF2-40B4-BE49-F238E27FC236}">
                <a16:creationId xmlns:a16="http://schemas.microsoft.com/office/drawing/2014/main" id="{EDD8EAEE-101A-B04C-9480-47C14533CE54}"/>
              </a:ext>
            </a:extLst>
          </p:cNvPr>
          <p:cNvSpPr>
            <a:spLocks noGrp="1"/>
          </p:cNvSpPr>
          <p:nvPr>
            <p:ph type="pic" sz="quarter" idx="11" hasCustomPrompt="1"/>
          </p:nvPr>
        </p:nvSpPr>
        <p:spPr>
          <a:xfrm>
            <a:off x="0" y="0"/>
            <a:ext cx="4891088" cy="6858000"/>
          </a:xfrm>
          <a:solidFill>
            <a:schemeClr val="tx2"/>
          </a:solidFill>
        </p:spPr>
        <p:txBody>
          <a:bodyPr lIns="365760" tIns="365760" rIns="365760" bIns="2971800" anchor="b">
            <a:normAutofit/>
          </a:bodyPr>
          <a:lstStyle>
            <a:lvl1pPr marL="0" indent="0" algn="ctr">
              <a:buNone/>
              <a:defRPr sz="1600" i="1">
                <a:solidFill>
                  <a:schemeClr val="tx2">
                    <a:lumMod val="40000"/>
                    <a:lumOff val="60000"/>
                  </a:schemeClr>
                </a:solidFill>
              </a:defRPr>
            </a:lvl1pPr>
          </a:lstStyle>
          <a:p>
            <a:r>
              <a:rPr lang="en-US"/>
              <a:t>Click icon to insert a photo.</a:t>
            </a:r>
          </a:p>
        </p:txBody>
      </p:sp>
      <p:sp>
        <p:nvSpPr>
          <p:cNvPr id="8" name="Text Placeholder 4">
            <a:extLst>
              <a:ext uri="{FF2B5EF4-FFF2-40B4-BE49-F238E27FC236}">
                <a16:creationId xmlns:a16="http://schemas.microsoft.com/office/drawing/2014/main" id="{FEFAF05C-419E-4343-8983-4850A83FB6CD}"/>
              </a:ext>
            </a:extLst>
          </p:cNvPr>
          <p:cNvSpPr>
            <a:spLocks noGrp="1"/>
          </p:cNvSpPr>
          <p:nvPr>
            <p:ph type="body" sz="quarter" idx="12" hasCustomPrompt="1"/>
          </p:nvPr>
        </p:nvSpPr>
        <p:spPr>
          <a:xfrm>
            <a:off x="0" y="6597160"/>
            <a:ext cx="4891089" cy="260840"/>
          </a:xfrm>
        </p:spPr>
        <p:txBody>
          <a:bodyPr lIns="91440" tIns="45720" rIns="91440" bIns="45720">
            <a:noAutofit/>
          </a:bodyPr>
          <a:lstStyle>
            <a:lvl1pPr>
              <a:defRPr sz="9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here to insert photo credit/copyright information</a:t>
            </a:r>
          </a:p>
        </p:txBody>
      </p:sp>
      <p:pic>
        <p:nvPicPr>
          <p:cNvPr id="6" name="Graphic 5">
            <a:extLst>
              <a:ext uri="{FF2B5EF4-FFF2-40B4-BE49-F238E27FC236}">
                <a16:creationId xmlns:a16="http://schemas.microsoft.com/office/drawing/2014/main" id="{A84459F0-C776-6C49-B932-81C19C279ABD}"/>
              </a:ext>
            </a:extLst>
          </p:cNvPr>
          <p:cNvPicPr>
            <a:picLocks noChangeAspect="1"/>
          </p:cNvPicPr>
          <p:nvPr/>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rcRect r="70119"/>
          <a:stretch/>
        </p:blipFill>
        <p:spPr>
          <a:xfrm>
            <a:off x="5623560" y="749808"/>
            <a:ext cx="1095647" cy="1143159"/>
          </a:xfrm>
          <a:prstGeom prst="rect">
            <a:avLst/>
          </a:prstGeom>
        </p:spPr>
      </p:pic>
      <p:sp>
        <p:nvSpPr>
          <p:cNvPr id="7" name="Title 6">
            <a:extLst>
              <a:ext uri="{FF2B5EF4-FFF2-40B4-BE49-F238E27FC236}">
                <a16:creationId xmlns:a16="http://schemas.microsoft.com/office/drawing/2014/main" id="{246B1B04-9B4F-40A9-ADCB-3504786ABDD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8165755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3799">
          <p15:clr>
            <a:srgbClr val="FBAE40"/>
          </p15:clr>
        </p15:guide>
        <p15:guide id="3" pos="3600">
          <p15:clr>
            <a:srgbClr val="FBAE40"/>
          </p15:clr>
        </p15:guide>
        <p15:guide id="4" pos="308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Single-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8250"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Single-Column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2936344991"/>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wo-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Two-Column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 Placeholder 2">
            <a:extLst>
              <a:ext uri="{FF2B5EF4-FFF2-40B4-BE49-F238E27FC236}">
                <a16:creationId xmlns:a16="http://schemas.microsoft.com/office/drawing/2014/main" id="{0BF7038D-D496-7248-87EC-9540380F1D12}"/>
              </a:ext>
            </a:extLst>
          </p:cNvPr>
          <p:cNvSpPr>
            <a:spLocks noGrp="1"/>
          </p:cNvSpPr>
          <p:nvPr>
            <p:ph type="body" sz="quarter" idx="13" hasCustomPrompt="1"/>
          </p:nvPr>
        </p:nvSpPr>
        <p:spPr>
          <a:xfrm>
            <a:off x="63833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170347100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1_Blank (W)">
    <p:spTree>
      <p:nvGrpSpPr>
        <p:cNvPr id="1" name=""/>
        <p:cNvGrpSpPr/>
        <p:nvPr/>
      </p:nvGrpSpPr>
      <p:grpSpPr>
        <a:xfrm>
          <a:off x="0" y="0"/>
          <a:ext cx="0" cy="0"/>
          <a:chOff x="0" y="0"/>
          <a:chExt cx="0" cy="0"/>
        </a:xfrm>
      </p:grpSpPr>
    </p:spTree>
    <p:extLst>
      <p:ext uri="{BB962C8B-B14F-4D97-AF65-F5344CB8AC3E}">
        <p14:creationId xmlns:p14="http://schemas.microsoft.com/office/powerpoint/2010/main" val="60828061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wo-Column (W)">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Arial Black" charset="0"/>
                <a:ea typeface="Arial Black" charset="0"/>
                <a:cs typeface="Arial Black" charset="0"/>
              </a:defRPr>
            </a:lvl1pPr>
          </a:lstStyle>
          <a:p>
            <a:pPr marL="0" lvl="0"/>
            <a:r>
              <a:rPr lang="en-US"/>
              <a:t>Slide Title for Two-Column (W)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6" name="Text Placeholder 2">
            <a:extLst>
              <a:ext uri="{FF2B5EF4-FFF2-40B4-BE49-F238E27FC236}">
                <a16:creationId xmlns:a16="http://schemas.microsoft.com/office/drawing/2014/main" id="{0BF7038D-D496-7248-87EC-9540380F1D12}"/>
              </a:ext>
            </a:extLst>
          </p:cNvPr>
          <p:cNvSpPr>
            <a:spLocks noGrp="1"/>
          </p:cNvSpPr>
          <p:nvPr>
            <p:ph type="body" sz="quarter" idx="13" hasCustomPrompt="1"/>
          </p:nvPr>
        </p:nvSpPr>
        <p:spPr>
          <a:xfrm>
            <a:off x="6383338" y="1469871"/>
            <a:ext cx="4572000" cy="4860591"/>
          </a:xfrm>
        </p:spPr>
        <p:txBody>
          <a:bodyPr>
            <a:normAutofit/>
          </a:bodyPr>
          <a:lstStyle>
            <a:lvl1pPr>
              <a:spcBef>
                <a:spcPts val="2400"/>
              </a:spcBef>
              <a:defRPr sz="1800">
                <a:solidFill>
                  <a:schemeClr val="tx1"/>
                </a:solidFill>
              </a:defRPr>
            </a:lvl1pPr>
            <a:lvl2pPr>
              <a:defRPr sz="1800"/>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sz="1800"/>
            </a:lvl3pPr>
            <a:lvl4pPr>
              <a:defRPr sz="1800"/>
            </a:lvl4pPr>
            <a:lvl5pPr>
              <a:defRPr sz="1800"/>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196416643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Divider Agenda">
    <p:bg>
      <p:bgPr>
        <a:solidFill>
          <a:srgbClr val="7030A0"/>
        </a:solidFill>
        <a:effectLst/>
      </p:bgPr>
    </p:bg>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07CE3741-921D-834E-8354-54991BEB2BDD}"/>
              </a:ext>
            </a:extLst>
          </p:cNvPr>
          <p:cNvSpPr>
            <a:spLocks noGrp="1"/>
          </p:cNvSpPr>
          <p:nvPr>
            <p:ph sz="quarter" idx="11" hasCustomPrompt="1"/>
          </p:nvPr>
        </p:nvSpPr>
        <p:spPr>
          <a:xfrm>
            <a:off x="1235964" y="683639"/>
            <a:ext cx="9372600" cy="5486400"/>
          </a:xfrm>
        </p:spPr>
        <p:txBody>
          <a:bodyPr tIns="0" bIns="365760" anchor="ctr" anchorCtr="0"/>
          <a:lstStyle>
            <a:lvl1pPr>
              <a:spcBef>
                <a:spcPts val="0"/>
              </a:spcBef>
              <a:spcAft>
                <a:spcPts val="2400"/>
              </a:spcAft>
              <a:buClrTx/>
              <a:defRPr sz="3400" b="0" i="0">
                <a:solidFill>
                  <a:schemeClr val="bg1"/>
                </a:solidFill>
                <a:latin typeface="Arial Black" panose="020B0604020202020204" pitchFamily="34" charset="0"/>
                <a:cs typeface="Arial Black" panose="020B0604020202020204" pitchFamily="34" charset="0"/>
              </a:defRPr>
            </a:lvl1pPr>
            <a:lvl2pPr marL="342900" indent="-342900">
              <a:spcBef>
                <a:spcPts val="900"/>
              </a:spcBef>
              <a:spcAft>
                <a:spcPts val="0"/>
              </a:spcAft>
              <a:buClrTx/>
              <a:tabLst/>
              <a:defRPr sz="3200" b="0">
                <a:solidFill>
                  <a:schemeClr val="bg1"/>
                </a:solidFill>
              </a:defRPr>
            </a:lvl2pPr>
            <a:lvl3pPr marL="342900" indent="-342900">
              <a:spcBef>
                <a:spcPts val="900"/>
              </a:spcBef>
              <a:spcAft>
                <a:spcPts val="0"/>
              </a:spcAft>
              <a:buClrTx/>
              <a:buSzPct val="100000"/>
              <a:buFont typeface="Wingdings" pitchFamily="2" charset="2"/>
              <a:buChar char="§"/>
              <a:tabLst/>
              <a:defRPr sz="3200" b="1">
                <a:solidFill>
                  <a:schemeClr val="accent2">
                    <a:lumMod val="60000"/>
                    <a:lumOff val="40000"/>
                  </a:schemeClr>
                </a:solidFill>
              </a:defRPr>
            </a:lvl3pPr>
            <a:lvl4pPr marL="514350" indent="-171450">
              <a:spcBef>
                <a:spcPts val="0"/>
              </a:spcBef>
              <a:spcAft>
                <a:spcPts val="300"/>
              </a:spcAft>
              <a:buClrTx/>
              <a:buFont typeface="Arial" panose="020B0604020202020204" pitchFamily="34" charset="0"/>
              <a:buChar char="•"/>
              <a:tabLst/>
              <a:defRPr sz="2100" b="0">
                <a:solidFill>
                  <a:schemeClr val="bg1"/>
                </a:solidFill>
              </a:defRPr>
            </a:lvl4pPr>
            <a:lvl5pPr marL="514350" indent="-171450">
              <a:spcBef>
                <a:spcPts val="0"/>
              </a:spcBef>
              <a:spcAft>
                <a:spcPts val="300"/>
              </a:spcAft>
              <a:buClrTx/>
              <a:buFont typeface="Arial" panose="020B0604020202020204" pitchFamily="34" charset="0"/>
              <a:buChar char="•"/>
              <a:tabLst/>
              <a:defRPr sz="2100" b="1">
                <a:solidFill>
                  <a:schemeClr val="accent2">
                    <a:lumMod val="60000"/>
                    <a:lumOff val="40000"/>
                  </a:schemeClr>
                </a:solidFill>
              </a:defRPr>
            </a:lvl5pPr>
          </a:lstStyle>
          <a:p>
            <a:pPr lvl="0"/>
            <a:r>
              <a:rPr lang="en-US"/>
              <a:t>Title for Divider–Agenda</a:t>
            </a:r>
          </a:p>
          <a:p>
            <a:pPr lvl="1"/>
            <a:r>
              <a:rPr lang="en-US"/>
              <a:t>Agenda Item—Inactive</a:t>
            </a:r>
          </a:p>
          <a:p>
            <a:pPr lvl="2"/>
            <a:r>
              <a:rPr lang="en-US"/>
              <a:t>Agenda Item—Active</a:t>
            </a:r>
          </a:p>
          <a:p>
            <a:pPr lvl="3"/>
            <a:r>
              <a:rPr lang="en-US"/>
              <a:t>Second level</a:t>
            </a:r>
          </a:p>
          <a:p>
            <a:pPr lvl="4"/>
            <a:r>
              <a:rPr lang="en-US"/>
              <a:t>Third level</a:t>
            </a:r>
          </a:p>
        </p:txBody>
      </p:sp>
      <p:sp>
        <p:nvSpPr>
          <p:cNvPr id="6" name="Rectangle 5">
            <a:extLst>
              <a:ext uri="{FF2B5EF4-FFF2-40B4-BE49-F238E27FC236}">
                <a16:creationId xmlns:a16="http://schemas.microsoft.com/office/drawing/2014/main" id="{C8FA9CB8-B07F-44FD-836E-BCE0675149B4}"/>
              </a:ext>
            </a:extLst>
          </p:cNvPr>
          <p:cNvSpPr/>
          <p:nvPr/>
        </p:nvSpPr>
        <p:spPr>
          <a:xfrm>
            <a:off x="-1" y="6638778"/>
            <a:ext cx="12192001" cy="219221"/>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7" name="TextBox 6">
            <a:extLst>
              <a:ext uri="{FF2B5EF4-FFF2-40B4-BE49-F238E27FC236}">
                <a16:creationId xmlns:a16="http://schemas.microsoft.com/office/drawing/2014/main" id="{9B984127-8999-4E06-9847-DAECC8470BF5}"/>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423015379"/>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userDrawn="1">
  <p:cSld name="Divider (Yellow)">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9CCFC-0C7C-7E42-AAEE-3FB70C592937}"/>
              </a:ext>
            </a:extLst>
          </p:cNvPr>
          <p:cNvSpPr>
            <a:spLocks noGrp="1"/>
          </p:cNvSpPr>
          <p:nvPr>
            <p:ph type="title" hasCustomPrompt="1"/>
          </p:nvPr>
        </p:nvSpPr>
        <p:spPr>
          <a:xfrm>
            <a:off x="1295400" y="1371600"/>
            <a:ext cx="9601200" cy="4114800"/>
          </a:xfrm>
        </p:spPr>
        <p:txBody>
          <a:bodyPr anchor="ctr"/>
          <a:lstStyle>
            <a:lvl1pPr algn="ctr">
              <a:defRPr>
                <a:solidFill>
                  <a:schemeClr val="bg1"/>
                </a:solidFill>
              </a:defRPr>
            </a:lvl1pPr>
          </a:lstStyle>
          <a:p>
            <a:r>
              <a:rPr lang="en-US"/>
              <a:t>Title for Divider (Yellow)</a:t>
            </a:r>
          </a:p>
        </p:txBody>
      </p:sp>
      <p:sp>
        <p:nvSpPr>
          <p:cNvPr id="3" name="TextBox 2">
            <a:extLst>
              <a:ext uri="{FF2B5EF4-FFF2-40B4-BE49-F238E27FC236}">
                <a16:creationId xmlns:a16="http://schemas.microsoft.com/office/drawing/2014/main" id="{387B958B-EF8E-214B-9B02-2EE3EF507FDD}"/>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solidFill>
                <a:latin typeface="Arial Black" charset="0"/>
                <a:cs typeface="Arial Black" charset="0"/>
              </a:rPr>
              <a:t>IMF</a:t>
            </a:r>
            <a:endParaRPr lang="en-US" sz="900" b="0">
              <a:solidFill>
                <a:schemeClr val="bg1"/>
              </a:solidFill>
              <a:latin typeface="+mn-lt"/>
              <a:cs typeface="Arial Black" charset="0"/>
            </a:endParaRPr>
          </a:p>
        </p:txBody>
      </p:sp>
      <p:sp>
        <p:nvSpPr>
          <p:cNvPr id="4" name="TextBox 3">
            <a:extLst>
              <a:ext uri="{FF2B5EF4-FFF2-40B4-BE49-F238E27FC236}">
                <a16:creationId xmlns:a16="http://schemas.microsoft.com/office/drawing/2014/main" id="{D498BA64-B15C-8146-85CE-EE4EA1ADA406}"/>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8962683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userDrawn="1">
  <p:cSld name="Single-Column (B)">
    <p:bg>
      <p:bgPr>
        <a:solidFill>
          <a:schemeClr val="tx2"/>
        </a:solidFill>
        <a:effectLst/>
      </p:bgPr>
    </p:bg>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bg1"/>
                </a:solidFill>
                <a:latin typeface="Arial Black" charset="0"/>
                <a:ea typeface="Arial Black" charset="0"/>
                <a:cs typeface="Arial Black" charset="0"/>
              </a:defRPr>
            </a:lvl1pPr>
          </a:lstStyle>
          <a:p>
            <a:pPr marL="0" lvl="0"/>
            <a:r>
              <a:rPr lang="en-US"/>
              <a:t>Title for Single-Column (B)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marL="0" marR="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solidFill>
                  <a:schemeClr val="bg1"/>
                </a:solidFill>
              </a:defRPr>
            </a:lvl1pPr>
            <a:lvl2pPr>
              <a:buClr>
                <a:schemeClr val="tx2">
                  <a:lumMod val="40000"/>
                  <a:lumOff val="60000"/>
                </a:schemeClr>
              </a:buClr>
              <a:defRPr>
                <a:solidFill>
                  <a:schemeClr val="bg1"/>
                </a:solidFill>
              </a:defRPr>
            </a:lvl2pPr>
            <a:lvl3pPr>
              <a:buClr>
                <a:schemeClr val="bg1">
                  <a:lumMod val="75000"/>
                </a:schemeClr>
              </a:buClr>
              <a:defRPr>
                <a:solidFill>
                  <a:schemeClr val="bg1"/>
                </a:solidFill>
              </a:defRPr>
            </a:lvl3pPr>
            <a:lvl4pPr>
              <a:buClr>
                <a:schemeClr val="tx2">
                  <a:lumMod val="40000"/>
                  <a:lumOff val="60000"/>
                </a:schemeClr>
              </a:buClr>
              <a:defRPr>
                <a:solidFill>
                  <a:schemeClr val="bg1"/>
                </a:solidFill>
              </a:defRPr>
            </a:lvl4pPr>
            <a:lvl5pPr>
              <a:buClr>
                <a:schemeClr val="bg1">
                  <a:lumMod val="75000"/>
                </a:schemeClr>
              </a:buClr>
              <a:defRPr>
                <a:solidFill>
                  <a:schemeClr val="bg1"/>
                </a:solidFill>
              </a:defRPr>
            </a:lvl5pPr>
          </a:lstStyle>
          <a:p>
            <a:pPr marL="0" marR="0" lvl="0" indent="0" algn="l" defTabSz="914314" rtl="0" eaLnBrk="1" fontAlgn="auto" latinLnBrk="0" hangingPunct="1">
              <a:lnSpc>
                <a:spcPct val="100000"/>
              </a:lnSpc>
              <a:spcBef>
                <a:spcPts val="2400"/>
              </a:spcBef>
              <a:spcAft>
                <a:spcPts val="0"/>
              </a:spcAft>
              <a:buClr>
                <a:schemeClr val="accent1"/>
              </a:buClr>
              <a:buSzPct val="110000"/>
              <a:buFont typeface="Wingdings" charset="2"/>
              <a:buNone/>
              <a:tabLst/>
              <a:defRPr/>
            </a:pPr>
            <a:r>
              <a:rPr lang="en-US"/>
              <a:t>Paragraph/</a:t>
            </a:r>
            <a:r>
              <a:rPr lang="en-US" err="1"/>
              <a:t>unbulleted</a:t>
            </a:r>
            <a:r>
              <a:rPr lang="en-US"/>
              <a:t> text formatting</a:t>
            </a:r>
          </a:p>
          <a:p>
            <a:pPr lvl="1"/>
            <a:r>
              <a:rPr lang="en-US"/>
              <a:t>Click the “Indent More” button (in the Home ribbon, above) for first-level bullets</a:t>
            </a:r>
          </a:p>
          <a:p>
            <a:pPr lvl="2"/>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
        <p:nvSpPr>
          <p:cNvPr id="5" name="TextBox 4">
            <a:extLst>
              <a:ext uri="{FF2B5EF4-FFF2-40B4-BE49-F238E27FC236}">
                <a16:creationId xmlns:a16="http://schemas.microsoft.com/office/drawing/2014/main" id="{E06FD9C8-9F14-B64C-88D7-AFEADAB39B39}"/>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401814337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Single-Column, White">
    <p:spTree>
      <p:nvGrpSpPr>
        <p:cNvPr id="1" name=""/>
        <p:cNvGrpSpPr/>
        <p:nvPr/>
      </p:nvGrpSpPr>
      <p:grpSpPr>
        <a:xfrm>
          <a:off x="0" y="0"/>
          <a:ext cx="0" cy="0"/>
          <a:chOff x="0" y="0"/>
          <a:chExt cx="0" cy="0"/>
        </a:xfrm>
      </p:grpSpPr>
      <p:sp>
        <p:nvSpPr>
          <p:cNvPr id="15" name="Title Placeholder 1"/>
          <p:cNvSpPr>
            <a:spLocks noGrp="1"/>
          </p:cNvSpPr>
          <p:nvPr>
            <p:ph type="title" hasCustomPrompt="1"/>
          </p:nvPr>
        </p:nvSpPr>
        <p:spPr>
          <a:xfrm>
            <a:off x="1239838" y="491385"/>
            <a:ext cx="9715500" cy="978486"/>
          </a:xfrm>
          <a:prstGeom prst="rect">
            <a:avLst/>
          </a:prstGeom>
        </p:spPr>
        <p:txBody>
          <a:bodyPr vert="horz" lIns="0" tIns="0" rIns="0" bIns="0" rtlCol="0" anchor="ctr">
            <a:normAutofit/>
          </a:bodyPr>
          <a:lstStyle>
            <a:lvl1pPr algn="l">
              <a:defRPr lang="en-US" sz="2800" dirty="0">
                <a:solidFill>
                  <a:schemeClr val="tx2"/>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Slide Title for Single-Column, White Layout</a:t>
            </a:r>
          </a:p>
        </p:txBody>
      </p:sp>
      <p:sp>
        <p:nvSpPr>
          <p:cNvPr id="3" name="Text Placeholder 2">
            <a:extLst>
              <a:ext uri="{FF2B5EF4-FFF2-40B4-BE49-F238E27FC236}">
                <a16:creationId xmlns:a16="http://schemas.microsoft.com/office/drawing/2014/main" id="{BEA590E5-B0BC-F540-8942-A0FB291DEE4F}"/>
              </a:ext>
            </a:extLst>
          </p:cNvPr>
          <p:cNvSpPr>
            <a:spLocks noGrp="1"/>
          </p:cNvSpPr>
          <p:nvPr>
            <p:ph type="body" sz="quarter" idx="10" hasCustomPrompt="1"/>
          </p:nvPr>
        </p:nvSpPr>
        <p:spPr>
          <a:xfrm>
            <a:off x="1239838" y="1469871"/>
            <a:ext cx="9715500" cy="4860591"/>
          </a:xfrm>
        </p:spPr>
        <p:txBody>
          <a:bodyPr/>
          <a:lstStyle>
            <a:lvl1pPr>
              <a:spcBef>
                <a:spcPts val="2400"/>
              </a:spcBef>
              <a:defRPr>
                <a:solidFill>
                  <a:schemeClr val="tx1"/>
                </a:solidFill>
              </a:defRPr>
            </a:lvl1pPr>
            <a:lvl2pPr>
              <a:defRPr/>
            </a:lvl2pPr>
            <a:lvl3pPr marL="458788" marR="0"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lvl3pPr>
            <a:lvl4pPr>
              <a:defRPr/>
            </a:lvl4pPr>
            <a:lvl5pPr>
              <a:defRPr/>
            </a:lvl5pPr>
          </a:lstStyle>
          <a:p>
            <a:pPr lvl="0"/>
            <a:r>
              <a:rPr lang="en-US"/>
              <a:t>Paragraph/</a:t>
            </a:r>
            <a:r>
              <a:rPr lang="en-US" err="1"/>
              <a:t>unbulleted</a:t>
            </a:r>
            <a:r>
              <a:rPr lang="en-US"/>
              <a:t> text formatting</a:t>
            </a:r>
          </a:p>
          <a:p>
            <a:pPr lvl="1"/>
            <a:r>
              <a:rPr lang="en-US"/>
              <a:t>Click the “Indent More” button (in the Home ribbon, above) for first-level bullets</a:t>
            </a:r>
          </a:p>
          <a:p>
            <a:pPr marL="458788" marR="0" lvl="2" indent="-225425" algn="l" defTabSz="914314" rtl="0" eaLnBrk="1" fontAlgn="auto" latinLnBrk="0" hangingPunct="1">
              <a:lnSpc>
                <a:spcPct val="100000"/>
              </a:lnSpc>
              <a:spcBef>
                <a:spcPts val="600"/>
              </a:spcBef>
              <a:spcAft>
                <a:spcPts val="0"/>
              </a:spcAft>
              <a:buClr>
                <a:schemeClr val="bg1">
                  <a:lumMod val="50000"/>
                </a:schemeClr>
              </a:buClr>
              <a:buSzPct val="65000"/>
              <a:buFont typeface="ArialMT"/>
              <a:buChar char="►"/>
              <a:tabLst/>
              <a:defRPr/>
            </a:pPr>
            <a:r>
              <a:rPr lang="en-US"/>
              <a:t>Double-click the “Indent More” button (above) for second-level bullets</a:t>
            </a:r>
          </a:p>
          <a:p>
            <a:pPr lvl="3"/>
            <a:r>
              <a:rPr lang="en-US"/>
              <a:t>Triple-click the “Indent More” button (above) for third-level bullets</a:t>
            </a:r>
          </a:p>
          <a:p>
            <a:pPr lvl="4"/>
            <a:r>
              <a:rPr lang="en-US"/>
              <a:t>Quadruple-click the “Indent More” button (above) for fourth-level bullets</a:t>
            </a:r>
          </a:p>
        </p:txBody>
      </p:sp>
    </p:spTree>
    <p:extLst>
      <p:ext uri="{BB962C8B-B14F-4D97-AF65-F5344CB8AC3E}">
        <p14:creationId xmlns:p14="http://schemas.microsoft.com/office/powerpoint/2010/main" val="9258501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781">
          <p15:clr>
            <a:srgbClr val="FBAE40"/>
          </p15:clr>
        </p15:guide>
        <p15:guide id="4" pos="6901">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A16CF-B80C-80C7-43E1-95EFFFC1A3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41FCE0-0A75-DA82-CEAA-AD3BBF7121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23555E-5665-A8A9-23A1-B65E126CF8BB}"/>
              </a:ext>
            </a:extLst>
          </p:cNvPr>
          <p:cNvSpPr>
            <a:spLocks noGrp="1"/>
          </p:cNvSpPr>
          <p:nvPr>
            <p:ph type="dt" sz="half" idx="10"/>
          </p:nvPr>
        </p:nvSpPr>
        <p:spPr/>
        <p:txBody>
          <a:bodyPr/>
          <a:lstStyle/>
          <a:p>
            <a:fld id="{690E6E60-0A7A-4FD0-B9CA-7385924FAA57}" type="datetimeFigureOut">
              <a:rPr lang="en-US" smtClean="0"/>
              <a:t>5/25/2026</a:t>
            </a:fld>
            <a:endParaRPr lang="en-US"/>
          </a:p>
        </p:txBody>
      </p:sp>
      <p:sp>
        <p:nvSpPr>
          <p:cNvPr id="5" name="Footer Placeholder 4">
            <a:extLst>
              <a:ext uri="{FF2B5EF4-FFF2-40B4-BE49-F238E27FC236}">
                <a16:creationId xmlns:a16="http://schemas.microsoft.com/office/drawing/2014/main" id="{7E245BAE-9867-3FC8-E4C6-B70BC15675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77E221-3D50-CEA4-E609-56C52EB7F2E7}"/>
              </a:ext>
            </a:extLst>
          </p:cNvPr>
          <p:cNvSpPr>
            <a:spLocks noGrp="1"/>
          </p:cNvSpPr>
          <p:nvPr>
            <p:ph type="sldNum" sz="quarter" idx="12"/>
          </p:nvPr>
        </p:nvSpPr>
        <p:spPr/>
        <p:txBody>
          <a:bodyPr/>
          <a:lstStyle/>
          <a:p>
            <a:fld id="{6856360D-F591-440B-842D-5DA9CC922A84}" type="slidenum">
              <a:rPr lang="en-US" smtClean="0"/>
              <a:t>‹#›</a:t>
            </a:fld>
            <a:endParaRPr lang="en-US"/>
          </a:p>
        </p:txBody>
      </p:sp>
    </p:spTree>
    <p:extLst>
      <p:ext uri="{BB962C8B-B14F-4D97-AF65-F5344CB8AC3E}">
        <p14:creationId xmlns:p14="http://schemas.microsoft.com/office/powerpoint/2010/main" val="184483440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F8C10-2094-B0C2-E2A5-73C8506D52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587EE8-E595-1FDC-336E-CB0E2229F6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047876-3279-8783-3FFF-9C31425DF85C}"/>
              </a:ext>
            </a:extLst>
          </p:cNvPr>
          <p:cNvSpPr>
            <a:spLocks noGrp="1"/>
          </p:cNvSpPr>
          <p:nvPr>
            <p:ph type="dt" sz="half" idx="10"/>
          </p:nvPr>
        </p:nvSpPr>
        <p:spPr/>
        <p:txBody>
          <a:bodyPr/>
          <a:lstStyle/>
          <a:p>
            <a:fld id="{690E6E60-0A7A-4FD0-B9CA-7385924FAA57}" type="datetimeFigureOut">
              <a:rPr lang="en-US" smtClean="0"/>
              <a:t>5/25/2026</a:t>
            </a:fld>
            <a:endParaRPr lang="en-US"/>
          </a:p>
        </p:txBody>
      </p:sp>
      <p:sp>
        <p:nvSpPr>
          <p:cNvPr id="5" name="Footer Placeholder 4">
            <a:extLst>
              <a:ext uri="{FF2B5EF4-FFF2-40B4-BE49-F238E27FC236}">
                <a16:creationId xmlns:a16="http://schemas.microsoft.com/office/drawing/2014/main" id="{07E27F4B-F2B4-0908-160F-6D7EE86A38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CA914A-724A-7382-1E79-7D23C509EB33}"/>
              </a:ext>
            </a:extLst>
          </p:cNvPr>
          <p:cNvSpPr>
            <a:spLocks noGrp="1"/>
          </p:cNvSpPr>
          <p:nvPr>
            <p:ph type="sldNum" sz="quarter" idx="12"/>
          </p:nvPr>
        </p:nvSpPr>
        <p:spPr/>
        <p:txBody>
          <a:bodyPr/>
          <a:lstStyle/>
          <a:p>
            <a:fld id="{6856360D-F591-440B-842D-5DA9CC922A84}" type="slidenum">
              <a:rPr lang="en-US" smtClean="0"/>
              <a:t>‹#›</a:t>
            </a:fld>
            <a:endParaRPr lang="en-US"/>
          </a:p>
        </p:txBody>
      </p:sp>
    </p:spTree>
    <p:extLst>
      <p:ext uri="{BB962C8B-B14F-4D97-AF65-F5344CB8AC3E}">
        <p14:creationId xmlns:p14="http://schemas.microsoft.com/office/powerpoint/2010/main" val="305476024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3488E-92F4-B7FE-30AC-BD7FF3D577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A17119-A95B-A68B-FAF8-85C281A052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5BC384-50F7-C036-BE7A-B0900C25A6AA}"/>
              </a:ext>
            </a:extLst>
          </p:cNvPr>
          <p:cNvSpPr>
            <a:spLocks noGrp="1"/>
          </p:cNvSpPr>
          <p:nvPr>
            <p:ph type="dt" sz="half" idx="10"/>
          </p:nvPr>
        </p:nvSpPr>
        <p:spPr/>
        <p:txBody>
          <a:bodyPr/>
          <a:lstStyle/>
          <a:p>
            <a:fld id="{690E6E60-0A7A-4FD0-B9CA-7385924FAA57}" type="datetimeFigureOut">
              <a:rPr lang="en-US" smtClean="0"/>
              <a:t>5/25/2026</a:t>
            </a:fld>
            <a:endParaRPr lang="en-US"/>
          </a:p>
        </p:txBody>
      </p:sp>
      <p:sp>
        <p:nvSpPr>
          <p:cNvPr id="5" name="Footer Placeholder 4">
            <a:extLst>
              <a:ext uri="{FF2B5EF4-FFF2-40B4-BE49-F238E27FC236}">
                <a16:creationId xmlns:a16="http://schemas.microsoft.com/office/drawing/2014/main" id="{C18E0C81-B6C6-4286-0B5F-5961C7755E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A8CF2E-A9A5-71B5-0F05-23DD3861C718}"/>
              </a:ext>
            </a:extLst>
          </p:cNvPr>
          <p:cNvSpPr>
            <a:spLocks noGrp="1"/>
          </p:cNvSpPr>
          <p:nvPr>
            <p:ph type="sldNum" sz="quarter" idx="12"/>
          </p:nvPr>
        </p:nvSpPr>
        <p:spPr/>
        <p:txBody>
          <a:bodyPr/>
          <a:lstStyle/>
          <a:p>
            <a:fld id="{6856360D-F591-440B-842D-5DA9CC922A84}" type="slidenum">
              <a:rPr lang="en-US" smtClean="0"/>
              <a:t>‹#›</a:t>
            </a:fld>
            <a:endParaRPr lang="en-US"/>
          </a:p>
        </p:txBody>
      </p:sp>
    </p:spTree>
    <p:extLst>
      <p:ext uri="{BB962C8B-B14F-4D97-AF65-F5344CB8AC3E}">
        <p14:creationId xmlns:p14="http://schemas.microsoft.com/office/powerpoint/2010/main" val="183842094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E301A-8E56-CE4B-787E-18D6EF5727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77B791-F02B-67F1-2156-08F1B7543E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5851C2F-020E-FE8A-C325-81F5D03715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94438A-7401-87D0-A136-FAC9FC3F44CD}"/>
              </a:ext>
            </a:extLst>
          </p:cNvPr>
          <p:cNvSpPr>
            <a:spLocks noGrp="1"/>
          </p:cNvSpPr>
          <p:nvPr>
            <p:ph type="dt" sz="half" idx="10"/>
          </p:nvPr>
        </p:nvSpPr>
        <p:spPr/>
        <p:txBody>
          <a:bodyPr/>
          <a:lstStyle/>
          <a:p>
            <a:fld id="{690E6E60-0A7A-4FD0-B9CA-7385924FAA57}" type="datetimeFigureOut">
              <a:rPr lang="en-US" smtClean="0"/>
              <a:t>5/25/2026</a:t>
            </a:fld>
            <a:endParaRPr lang="en-US"/>
          </a:p>
        </p:txBody>
      </p:sp>
      <p:sp>
        <p:nvSpPr>
          <p:cNvPr id="6" name="Footer Placeholder 5">
            <a:extLst>
              <a:ext uri="{FF2B5EF4-FFF2-40B4-BE49-F238E27FC236}">
                <a16:creationId xmlns:a16="http://schemas.microsoft.com/office/drawing/2014/main" id="{30BE0D26-1CD4-AD4F-F71A-7B1FD82EDF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F58F5B-8125-959D-57C5-04E5350E431D}"/>
              </a:ext>
            </a:extLst>
          </p:cNvPr>
          <p:cNvSpPr>
            <a:spLocks noGrp="1"/>
          </p:cNvSpPr>
          <p:nvPr>
            <p:ph type="sldNum" sz="quarter" idx="12"/>
          </p:nvPr>
        </p:nvSpPr>
        <p:spPr/>
        <p:txBody>
          <a:bodyPr/>
          <a:lstStyle/>
          <a:p>
            <a:fld id="{6856360D-F591-440B-842D-5DA9CC922A84}" type="slidenum">
              <a:rPr lang="en-US" smtClean="0"/>
              <a:t>‹#›</a:t>
            </a:fld>
            <a:endParaRPr lang="en-US"/>
          </a:p>
        </p:txBody>
      </p:sp>
    </p:spTree>
    <p:extLst>
      <p:ext uri="{BB962C8B-B14F-4D97-AF65-F5344CB8AC3E}">
        <p14:creationId xmlns:p14="http://schemas.microsoft.com/office/powerpoint/2010/main" val="305378979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001D5-6F25-C002-3858-6A53939396D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84C3677-8FAC-B0E3-6DEF-F4363B360E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1F6C3B-3232-52EB-9E03-989859B489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0080844-9901-CF29-CE52-B6860FBBFC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8BFEF9-2752-F786-8664-33CFCF4D27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37AEABE-73F1-0E65-C9A2-283B68823A1A}"/>
              </a:ext>
            </a:extLst>
          </p:cNvPr>
          <p:cNvSpPr>
            <a:spLocks noGrp="1"/>
          </p:cNvSpPr>
          <p:nvPr>
            <p:ph type="dt" sz="half" idx="10"/>
          </p:nvPr>
        </p:nvSpPr>
        <p:spPr/>
        <p:txBody>
          <a:bodyPr/>
          <a:lstStyle/>
          <a:p>
            <a:fld id="{690E6E60-0A7A-4FD0-B9CA-7385924FAA57}" type="datetimeFigureOut">
              <a:rPr lang="en-US" smtClean="0"/>
              <a:t>5/25/2026</a:t>
            </a:fld>
            <a:endParaRPr lang="en-US"/>
          </a:p>
        </p:txBody>
      </p:sp>
      <p:sp>
        <p:nvSpPr>
          <p:cNvPr id="8" name="Footer Placeholder 7">
            <a:extLst>
              <a:ext uri="{FF2B5EF4-FFF2-40B4-BE49-F238E27FC236}">
                <a16:creationId xmlns:a16="http://schemas.microsoft.com/office/drawing/2014/main" id="{4C9142DF-48C7-C5B6-263B-45DF962CEB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B5E1A19-FF68-B8DD-B5C3-83FCABFFA7D2}"/>
              </a:ext>
            </a:extLst>
          </p:cNvPr>
          <p:cNvSpPr>
            <a:spLocks noGrp="1"/>
          </p:cNvSpPr>
          <p:nvPr>
            <p:ph type="sldNum" sz="quarter" idx="12"/>
          </p:nvPr>
        </p:nvSpPr>
        <p:spPr/>
        <p:txBody>
          <a:bodyPr/>
          <a:lstStyle/>
          <a:p>
            <a:fld id="{6856360D-F591-440B-842D-5DA9CC922A84}" type="slidenum">
              <a:rPr lang="en-US" smtClean="0"/>
              <a:t>‹#›</a:t>
            </a:fld>
            <a:endParaRPr lang="en-US"/>
          </a:p>
        </p:txBody>
      </p:sp>
    </p:spTree>
    <p:extLst>
      <p:ext uri="{BB962C8B-B14F-4D97-AF65-F5344CB8AC3E}">
        <p14:creationId xmlns:p14="http://schemas.microsoft.com/office/powerpoint/2010/main" val="93228297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8902A-35B7-1FE2-66D4-38F589B7F5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4CFE052-063E-0C80-07D8-F6FF37CE67CC}"/>
              </a:ext>
            </a:extLst>
          </p:cNvPr>
          <p:cNvSpPr>
            <a:spLocks noGrp="1"/>
          </p:cNvSpPr>
          <p:nvPr>
            <p:ph type="dt" sz="half" idx="10"/>
          </p:nvPr>
        </p:nvSpPr>
        <p:spPr/>
        <p:txBody>
          <a:bodyPr/>
          <a:lstStyle/>
          <a:p>
            <a:fld id="{690E6E60-0A7A-4FD0-B9CA-7385924FAA57}" type="datetimeFigureOut">
              <a:rPr lang="en-US" smtClean="0"/>
              <a:t>5/25/2026</a:t>
            </a:fld>
            <a:endParaRPr lang="en-US"/>
          </a:p>
        </p:txBody>
      </p:sp>
      <p:sp>
        <p:nvSpPr>
          <p:cNvPr id="4" name="Footer Placeholder 3">
            <a:extLst>
              <a:ext uri="{FF2B5EF4-FFF2-40B4-BE49-F238E27FC236}">
                <a16:creationId xmlns:a16="http://schemas.microsoft.com/office/drawing/2014/main" id="{25E7C2B5-B562-B9DA-7F07-1D45CBC8F5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6221A6-3145-D365-8398-D2903105D220}"/>
              </a:ext>
            </a:extLst>
          </p:cNvPr>
          <p:cNvSpPr>
            <a:spLocks noGrp="1"/>
          </p:cNvSpPr>
          <p:nvPr>
            <p:ph type="sldNum" sz="quarter" idx="12"/>
          </p:nvPr>
        </p:nvSpPr>
        <p:spPr/>
        <p:txBody>
          <a:bodyPr/>
          <a:lstStyle/>
          <a:p>
            <a:fld id="{6856360D-F591-440B-842D-5DA9CC922A84}" type="slidenum">
              <a:rPr lang="en-US" smtClean="0"/>
              <a:t>‹#›</a:t>
            </a:fld>
            <a:endParaRPr lang="en-US"/>
          </a:p>
        </p:txBody>
      </p:sp>
    </p:spTree>
    <p:extLst>
      <p:ext uri="{BB962C8B-B14F-4D97-AF65-F5344CB8AC3E}">
        <p14:creationId xmlns:p14="http://schemas.microsoft.com/office/powerpoint/2010/main" val="169312988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EC8100-58E2-9A04-89C3-FA6C8D0A127A}"/>
              </a:ext>
            </a:extLst>
          </p:cNvPr>
          <p:cNvSpPr>
            <a:spLocks noGrp="1"/>
          </p:cNvSpPr>
          <p:nvPr>
            <p:ph type="dt" sz="half" idx="10"/>
          </p:nvPr>
        </p:nvSpPr>
        <p:spPr/>
        <p:txBody>
          <a:bodyPr/>
          <a:lstStyle/>
          <a:p>
            <a:fld id="{690E6E60-0A7A-4FD0-B9CA-7385924FAA57}" type="datetimeFigureOut">
              <a:rPr lang="en-US" smtClean="0"/>
              <a:t>5/25/2026</a:t>
            </a:fld>
            <a:endParaRPr lang="en-US"/>
          </a:p>
        </p:txBody>
      </p:sp>
      <p:sp>
        <p:nvSpPr>
          <p:cNvPr id="3" name="Footer Placeholder 2">
            <a:extLst>
              <a:ext uri="{FF2B5EF4-FFF2-40B4-BE49-F238E27FC236}">
                <a16:creationId xmlns:a16="http://schemas.microsoft.com/office/drawing/2014/main" id="{35C4AFFA-57F9-E824-28B9-440DE8DF9A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98D4CD-A5A1-F949-0DC0-E704B98801DA}"/>
              </a:ext>
            </a:extLst>
          </p:cNvPr>
          <p:cNvSpPr>
            <a:spLocks noGrp="1"/>
          </p:cNvSpPr>
          <p:nvPr>
            <p:ph type="sldNum" sz="quarter" idx="12"/>
          </p:nvPr>
        </p:nvSpPr>
        <p:spPr/>
        <p:txBody>
          <a:bodyPr/>
          <a:lstStyle/>
          <a:p>
            <a:fld id="{6856360D-F591-440B-842D-5DA9CC922A84}" type="slidenum">
              <a:rPr lang="en-US" smtClean="0"/>
              <a:t>‹#›</a:t>
            </a:fld>
            <a:endParaRPr lang="en-US"/>
          </a:p>
        </p:txBody>
      </p:sp>
    </p:spTree>
    <p:extLst>
      <p:ext uri="{BB962C8B-B14F-4D97-AF65-F5344CB8AC3E}">
        <p14:creationId xmlns:p14="http://schemas.microsoft.com/office/powerpoint/2010/main" val="248860987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06666-4B8E-EE0E-F02B-2A53CD4714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1FA3D4C-21FA-C26B-4039-A7C3A668BE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EFE27A7-039F-F30C-57C0-12B3A9FB0E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81BD24-4991-BA8B-FA5E-7B8DB1676F9D}"/>
              </a:ext>
            </a:extLst>
          </p:cNvPr>
          <p:cNvSpPr>
            <a:spLocks noGrp="1"/>
          </p:cNvSpPr>
          <p:nvPr>
            <p:ph type="dt" sz="half" idx="10"/>
          </p:nvPr>
        </p:nvSpPr>
        <p:spPr/>
        <p:txBody>
          <a:bodyPr/>
          <a:lstStyle/>
          <a:p>
            <a:fld id="{690E6E60-0A7A-4FD0-B9CA-7385924FAA57}" type="datetimeFigureOut">
              <a:rPr lang="en-US" smtClean="0"/>
              <a:t>5/25/2026</a:t>
            </a:fld>
            <a:endParaRPr lang="en-US"/>
          </a:p>
        </p:txBody>
      </p:sp>
      <p:sp>
        <p:nvSpPr>
          <p:cNvPr id="6" name="Footer Placeholder 5">
            <a:extLst>
              <a:ext uri="{FF2B5EF4-FFF2-40B4-BE49-F238E27FC236}">
                <a16:creationId xmlns:a16="http://schemas.microsoft.com/office/drawing/2014/main" id="{EEC38801-B795-B1B8-858D-63A3D6EDB2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5691C0-509D-E4C9-E02F-268A7E706A80}"/>
              </a:ext>
            </a:extLst>
          </p:cNvPr>
          <p:cNvSpPr>
            <a:spLocks noGrp="1"/>
          </p:cNvSpPr>
          <p:nvPr>
            <p:ph type="sldNum" sz="quarter" idx="12"/>
          </p:nvPr>
        </p:nvSpPr>
        <p:spPr/>
        <p:txBody>
          <a:bodyPr/>
          <a:lstStyle/>
          <a:p>
            <a:fld id="{6856360D-F591-440B-842D-5DA9CC922A84}" type="slidenum">
              <a:rPr lang="en-US" smtClean="0"/>
              <a:t>‹#›</a:t>
            </a:fld>
            <a:endParaRPr lang="en-US"/>
          </a:p>
        </p:txBody>
      </p:sp>
    </p:spTree>
    <p:extLst>
      <p:ext uri="{BB962C8B-B14F-4D97-AF65-F5344CB8AC3E}">
        <p14:creationId xmlns:p14="http://schemas.microsoft.com/office/powerpoint/2010/main" val="151566481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2CFD8-D0EC-2A0D-D48B-C80E0FA674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594B16-5410-FF32-BEDE-CF37AE419B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97FE85F-5181-C64D-6C2C-DBC8E8B681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2DB0BA-7604-8966-612A-461BE9369BB0}"/>
              </a:ext>
            </a:extLst>
          </p:cNvPr>
          <p:cNvSpPr>
            <a:spLocks noGrp="1"/>
          </p:cNvSpPr>
          <p:nvPr>
            <p:ph type="dt" sz="half" idx="10"/>
          </p:nvPr>
        </p:nvSpPr>
        <p:spPr/>
        <p:txBody>
          <a:bodyPr/>
          <a:lstStyle/>
          <a:p>
            <a:fld id="{690E6E60-0A7A-4FD0-B9CA-7385924FAA57}" type="datetimeFigureOut">
              <a:rPr lang="en-US" smtClean="0"/>
              <a:t>5/25/2026</a:t>
            </a:fld>
            <a:endParaRPr lang="en-US"/>
          </a:p>
        </p:txBody>
      </p:sp>
      <p:sp>
        <p:nvSpPr>
          <p:cNvPr id="6" name="Footer Placeholder 5">
            <a:extLst>
              <a:ext uri="{FF2B5EF4-FFF2-40B4-BE49-F238E27FC236}">
                <a16:creationId xmlns:a16="http://schemas.microsoft.com/office/drawing/2014/main" id="{3B5648DA-8687-22ED-4441-97658F900D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0C9220-68A4-D485-E930-9E0A72CEB77A}"/>
              </a:ext>
            </a:extLst>
          </p:cNvPr>
          <p:cNvSpPr>
            <a:spLocks noGrp="1"/>
          </p:cNvSpPr>
          <p:nvPr>
            <p:ph type="sldNum" sz="quarter" idx="12"/>
          </p:nvPr>
        </p:nvSpPr>
        <p:spPr/>
        <p:txBody>
          <a:bodyPr/>
          <a:lstStyle/>
          <a:p>
            <a:fld id="{6856360D-F591-440B-842D-5DA9CC922A84}" type="slidenum">
              <a:rPr lang="en-US" smtClean="0"/>
              <a:t>‹#›</a:t>
            </a:fld>
            <a:endParaRPr lang="en-US"/>
          </a:p>
        </p:txBody>
      </p:sp>
    </p:spTree>
    <p:extLst>
      <p:ext uri="{BB962C8B-B14F-4D97-AF65-F5344CB8AC3E}">
        <p14:creationId xmlns:p14="http://schemas.microsoft.com/office/powerpoint/2010/main" val="142900840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DF51C-0E6C-5F0A-6CF8-F3586B44B8E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13D8F5-C1F6-E979-F0FD-E0366AB6D4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0B1228-57A5-E0BB-6DB0-AC0F94DA91E8}"/>
              </a:ext>
            </a:extLst>
          </p:cNvPr>
          <p:cNvSpPr>
            <a:spLocks noGrp="1"/>
          </p:cNvSpPr>
          <p:nvPr>
            <p:ph type="dt" sz="half" idx="10"/>
          </p:nvPr>
        </p:nvSpPr>
        <p:spPr/>
        <p:txBody>
          <a:bodyPr/>
          <a:lstStyle/>
          <a:p>
            <a:fld id="{690E6E60-0A7A-4FD0-B9CA-7385924FAA57}" type="datetimeFigureOut">
              <a:rPr lang="en-US" smtClean="0"/>
              <a:t>5/25/2026</a:t>
            </a:fld>
            <a:endParaRPr lang="en-US"/>
          </a:p>
        </p:txBody>
      </p:sp>
      <p:sp>
        <p:nvSpPr>
          <p:cNvPr id="5" name="Footer Placeholder 4">
            <a:extLst>
              <a:ext uri="{FF2B5EF4-FFF2-40B4-BE49-F238E27FC236}">
                <a16:creationId xmlns:a16="http://schemas.microsoft.com/office/drawing/2014/main" id="{097AFFB8-1B25-99E8-2CC5-FE29A5B3F1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428421-0069-324A-1D51-9AF1CE1CA999}"/>
              </a:ext>
            </a:extLst>
          </p:cNvPr>
          <p:cNvSpPr>
            <a:spLocks noGrp="1"/>
          </p:cNvSpPr>
          <p:nvPr>
            <p:ph type="sldNum" sz="quarter" idx="12"/>
          </p:nvPr>
        </p:nvSpPr>
        <p:spPr/>
        <p:txBody>
          <a:bodyPr/>
          <a:lstStyle/>
          <a:p>
            <a:fld id="{6856360D-F591-440B-842D-5DA9CC922A84}" type="slidenum">
              <a:rPr lang="en-US" smtClean="0"/>
              <a:t>‹#›</a:t>
            </a:fld>
            <a:endParaRPr lang="en-US"/>
          </a:p>
        </p:txBody>
      </p:sp>
    </p:spTree>
    <p:extLst>
      <p:ext uri="{BB962C8B-B14F-4D97-AF65-F5344CB8AC3E}">
        <p14:creationId xmlns:p14="http://schemas.microsoft.com/office/powerpoint/2010/main" val="338884280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6BE2B5-A415-376C-8F61-A7E29CA1B85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0C6B39-63E4-C673-A902-C32B2140EE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912F21-50C6-85B2-44EA-23FE20E1B7B2}"/>
              </a:ext>
            </a:extLst>
          </p:cNvPr>
          <p:cNvSpPr>
            <a:spLocks noGrp="1"/>
          </p:cNvSpPr>
          <p:nvPr>
            <p:ph type="dt" sz="half" idx="10"/>
          </p:nvPr>
        </p:nvSpPr>
        <p:spPr/>
        <p:txBody>
          <a:bodyPr/>
          <a:lstStyle/>
          <a:p>
            <a:fld id="{690E6E60-0A7A-4FD0-B9CA-7385924FAA57}" type="datetimeFigureOut">
              <a:rPr lang="en-US" smtClean="0"/>
              <a:t>5/25/2026</a:t>
            </a:fld>
            <a:endParaRPr lang="en-US"/>
          </a:p>
        </p:txBody>
      </p:sp>
      <p:sp>
        <p:nvSpPr>
          <p:cNvPr id="5" name="Footer Placeholder 4">
            <a:extLst>
              <a:ext uri="{FF2B5EF4-FFF2-40B4-BE49-F238E27FC236}">
                <a16:creationId xmlns:a16="http://schemas.microsoft.com/office/drawing/2014/main" id="{5659054B-A0FA-92C1-8A93-B2E58A94D1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E5D173-F492-846E-8857-BA1FEA15BB51}"/>
              </a:ext>
            </a:extLst>
          </p:cNvPr>
          <p:cNvSpPr>
            <a:spLocks noGrp="1"/>
          </p:cNvSpPr>
          <p:nvPr>
            <p:ph type="sldNum" sz="quarter" idx="12"/>
          </p:nvPr>
        </p:nvSpPr>
        <p:spPr/>
        <p:txBody>
          <a:bodyPr/>
          <a:lstStyle/>
          <a:p>
            <a:fld id="{6856360D-F591-440B-842D-5DA9CC922A84}" type="slidenum">
              <a:rPr lang="en-US" smtClean="0"/>
              <a:t>‹#›</a:t>
            </a:fld>
            <a:endParaRPr lang="en-US"/>
          </a:p>
        </p:txBody>
      </p:sp>
    </p:spTree>
    <p:extLst>
      <p:ext uri="{BB962C8B-B14F-4D97-AF65-F5344CB8AC3E}">
        <p14:creationId xmlns:p14="http://schemas.microsoft.com/office/powerpoint/2010/main" val="4102759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image" Target="../media/image3.png"/><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theme" Target="../theme/theme2.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19" Type="http://schemas.openxmlformats.org/officeDocument/2006/relationships/image" Target="../media/image4.png"/><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slideLayout" Target="../slideLayouts/slideLayout55.xml"/><Relationship Id="rId3" Type="http://schemas.openxmlformats.org/officeDocument/2006/relationships/slideLayout" Target="../slideLayouts/slideLayout40.xml"/><Relationship Id="rId21" Type="http://schemas.openxmlformats.org/officeDocument/2006/relationships/slideLayout" Target="../slideLayouts/slideLayout58.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slideLayout" Target="../slideLayouts/slideLayout57.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10" Type="http://schemas.openxmlformats.org/officeDocument/2006/relationships/slideLayout" Target="../slideLayouts/slideLayout47.xml"/><Relationship Id="rId19" Type="http://schemas.openxmlformats.org/officeDocument/2006/relationships/slideLayout" Target="../slideLayouts/slideLayout56.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 Id="rId2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slideLayout" Target="../slideLayouts/slideLayout71.xml"/><Relationship Id="rId18" Type="http://schemas.openxmlformats.org/officeDocument/2006/relationships/slideLayout" Target="../slideLayouts/slideLayout76.xml"/><Relationship Id="rId3" Type="http://schemas.openxmlformats.org/officeDocument/2006/relationships/slideLayout" Target="../slideLayouts/slideLayout61.xml"/><Relationship Id="rId21" Type="http://schemas.openxmlformats.org/officeDocument/2006/relationships/image" Target="../media/image3.png"/><Relationship Id="rId7" Type="http://schemas.openxmlformats.org/officeDocument/2006/relationships/slideLayout" Target="../slideLayouts/slideLayout65.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 Type="http://schemas.openxmlformats.org/officeDocument/2006/relationships/slideLayout" Target="../slideLayouts/slideLayout60.xml"/><Relationship Id="rId16" Type="http://schemas.openxmlformats.org/officeDocument/2006/relationships/slideLayout" Target="../slideLayouts/slideLayout74.xml"/><Relationship Id="rId20" Type="http://schemas.openxmlformats.org/officeDocument/2006/relationships/theme" Target="../theme/theme4.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5" Type="http://schemas.openxmlformats.org/officeDocument/2006/relationships/slideLayout" Target="../slideLayouts/slideLayout73.xml"/><Relationship Id="rId10" Type="http://schemas.openxmlformats.org/officeDocument/2006/relationships/slideLayout" Target="../slideLayouts/slideLayout68.xml"/><Relationship Id="rId19" Type="http://schemas.openxmlformats.org/officeDocument/2006/relationships/slideLayout" Target="../slideLayouts/slideLayout77.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slideLayout" Target="../slideLayouts/slideLayout72.xml"/><Relationship Id="rId22"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5.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2"/>
            <a:ext cx="10972800" cy="4791806"/>
          </a:xfrm>
          <a:prstGeom prst="rect">
            <a:avLst/>
          </a:prstGeom>
        </p:spPr>
        <p:txBody>
          <a:bodyPr vert="horz" lIns="0" tIns="137160" rIns="0" bIns="0" rtlCol="0">
            <a:normAutofit/>
          </a:bodyPr>
          <a:lstStyle/>
          <a:p>
            <a:pPr lvl="0"/>
            <a:r>
              <a:rPr lang="en-US"/>
              <a:t>Paragraph type</a:t>
            </a:r>
          </a:p>
          <a:p>
            <a:pPr lvl="1"/>
            <a:r>
              <a:rPr lang="en-US"/>
              <a:t>Click the “Indent More” button (above) for first-level bullets</a:t>
            </a:r>
          </a:p>
          <a:p>
            <a:pPr lvl="2"/>
            <a:r>
              <a:rPr lang="en-US"/>
              <a:t>Click the “Indent More” button (above) twice for second-level bullets</a:t>
            </a:r>
          </a:p>
          <a:p>
            <a:pPr lvl="3"/>
            <a:r>
              <a:rPr lang="en-US"/>
              <a:t>Click the “Indent More” button (above) three times for third-level bullets</a:t>
            </a:r>
          </a:p>
          <a:p>
            <a:pPr lvl="4"/>
            <a:r>
              <a:rPr lang="en-US"/>
              <a:t>Click the “Indent More” button (above) four times for fourth-level bullets</a:t>
            </a:r>
          </a:p>
        </p:txBody>
      </p:sp>
      <p:sp>
        <p:nvSpPr>
          <p:cNvPr id="2" name="Title Placeholder 1"/>
          <p:cNvSpPr>
            <a:spLocks noGrp="1"/>
          </p:cNvSpPr>
          <p:nvPr>
            <p:ph type="title"/>
          </p:nvPr>
        </p:nvSpPr>
        <p:spPr>
          <a:xfrm>
            <a:off x="609600" y="482138"/>
            <a:ext cx="10972800" cy="1118064"/>
          </a:xfrm>
          <a:prstGeom prst="rect">
            <a:avLst/>
          </a:prstGeom>
        </p:spPr>
        <p:txBody>
          <a:bodyPr vert="horz" lIns="0" tIns="0" rIns="0" bIns="0" rtlCol="0" anchor="ctr">
            <a:normAutofit/>
          </a:bodyPr>
          <a:lstStyle/>
          <a:p>
            <a:r>
              <a:rPr lang="en-US"/>
              <a:t>Master Slide Title</a:t>
            </a:r>
          </a:p>
        </p:txBody>
      </p:sp>
      <p:sp>
        <p:nvSpPr>
          <p:cNvPr id="4" name="TextBox 3">
            <a:extLst>
              <a:ext uri="{FF2B5EF4-FFF2-40B4-BE49-F238E27FC236}">
                <a16:creationId xmlns:a16="http://schemas.microsoft.com/office/drawing/2014/main" id="{8069C718-696D-8C48-95E3-35ACB84AD8D9}"/>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lumMod val="75000"/>
                  </a:schemeClr>
                </a:solidFill>
                <a:latin typeface="Arial Black" charset="0"/>
                <a:cs typeface="Arial Black" charset="0"/>
              </a:rPr>
              <a:t>IMF</a:t>
            </a:r>
            <a:endParaRPr lang="en-US" sz="900" b="0">
              <a:solidFill>
                <a:schemeClr val="bg1">
                  <a:lumMod val="75000"/>
                </a:schemeClr>
              </a:solidFill>
              <a:latin typeface="+mn-lt"/>
              <a:cs typeface="Arial Black" charset="0"/>
            </a:endParaRPr>
          </a:p>
        </p:txBody>
      </p:sp>
      <p:sp>
        <p:nvSpPr>
          <p:cNvPr id="5" name="TextBox 4">
            <a:extLst>
              <a:ext uri="{FF2B5EF4-FFF2-40B4-BE49-F238E27FC236}">
                <a16:creationId xmlns:a16="http://schemas.microsoft.com/office/drawing/2014/main" id="{00B5D478-FD4A-2240-B032-46F4E3BAB6E8}"/>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Tree>
    <p:extLst>
      <p:ext uri="{BB962C8B-B14F-4D97-AF65-F5344CB8AC3E}">
        <p14:creationId xmlns:p14="http://schemas.microsoft.com/office/powerpoint/2010/main" val="1399054518"/>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Lst>
  <p:transition>
    <p:fade/>
  </p:transition>
  <p:hf hdr="0" dt="0"/>
  <p:txStyles>
    <p:titleStyle>
      <a:lvl1pPr algn="l" defTabSz="914314" rtl="0" eaLnBrk="1" latinLnBrk="0" hangingPunct="1">
        <a:lnSpc>
          <a:spcPct val="90000"/>
        </a:lnSpc>
        <a:spcBef>
          <a:spcPct val="0"/>
        </a:spcBef>
        <a:buNone/>
        <a:defRPr sz="3600" b="1" i="0" kern="1200">
          <a:solidFill>
            <a:schemeClr val="tx2"/>
          </a:solidFill>
          <a:latin typeface="Arial Black" panose="020B0604020202020204" pitchFamily="34" charset="0"/>
          <a:ea typeface="+mj-ea"/>
          <a:cs typeface="Arial Black" panose="020B0604020202020204" pitchFamily="34" charset="0"/>
        </a:defRPr>
      </a:lvl1pPr>
    </p:titleStyle>
    <p:body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2" name="Picture 51">
            <a:extLst>
              <a:ext uri="{FF2B5EF4-FFF2-40B4-BE49-F238E27FC236}">
                <a16:creationId xmlns:a16="http://schemas.microsoft.com/office/drawing/2014/main" id="{A2D1FFAD-683D-4DF5-8667-FE7C943F0946}"/>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6405" y="6549163"/>
            <a:ext cx="12316389" cy="305954"/>
          </a:xfrm>
          <a:prstGeom prst="rect">
            <a:avLst/>
          </a:prstGeom>
        </p:spPr>
      </p:pic>
      <p:pic>
        <p:nvPicPr>
          <p:cNvPr id="49" name="Picture 48">
            <a:extLst>
              <a:ext uri="{FF2B5EF4-FFF2-40B4-BE49-F238E27FC236}">
                <a16:creationId xmlns:a16="http://schemas.microsoft.com/office/drawing/2014/main" id="{D539B6A2-25B6-414C-8964-4BB73BDD4DA0}"/>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6405" y="1105"/>
            <a:ext cx="12274927" cy="998531"/>
          </a:xfrm>
          <a:prstGeom prst="rect">
            <a:avLst/>
          </a:prstGeom>
        </p:spPr>
      </p:pic>
      <p:sp>
        <p:nvSpPr>
          <p:cNvPr id="2" name="Title Placeholder 1"/>
          <p:cNvSpPr>
            <a:spLocks noGrp="1"/>
          </p:cNvSpPr>
          <p:nvPr>
            <p:ph type="title"/>
          </p:nvPr>
        </p:nvSpPr>
        <p:spPr>
          <a:xfrm>
            <a:off x="1541488" y="133440"/>
            <a:ext cx="9049421" cy="73385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08398" y="1676538"/>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B8249D-73BB-4688-B427-EB89B5DAF030}" type="datetimeFigureOut">
              <a:rPr lang="en-US" smtClean="0"/>
              <a:t>5/25/2026</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pic>
        <p:nvPicPr>
          <p:cNvPr id="29" name="Picture 28">
            <a:extLst>
              <a:ext uri="{FF2B5EF4-FFF2-40B4-BE49-F238E27FC236}">
                <a16:creationId xmlns:a16="http://schemas.microsoft.com/office/drawing/2014/main" id="{5E4E6BEC-FFD1-403D-AE66-D9C4578DCD25}"/>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04959" y="72826"/>
            <a:ext cx="868467" cy="852107"/>
          </a:xfrm>
          <a:prstGeom prst="rect">
            <a:avLst/>
          </a:prstGeom>
        </p:spPr>
      </p:pic>
      <p:sp>
        <p:nvSpPr>
          <p:cNvPr id="53" name="TextBox 52">
            <a:extLst>
              <a:ext uri="{FF2B5EF4-FFF2-40B4-BE49-F238E27FC236}">
                <a16:creationId xmlns:a16="http://schemas.microsoft.com/office/drawing/2014/main" id="{4A752841-1F14-472B-8136-14C2A87C7CD3}"/>
              </a:ext>
            </a:extLst>
          </p:cNvPr>
          <p:cNvSpPr txBox="1"/>
          <p:nvPr/>
        </p:nvSpPr>
        <p:spPr>
          <a:xfrm>
            <a:off x="117984" y="6594418"/>
            <a:ext cx="12192000" cy="230832"/>
          </a:xfrm>
          <a:prstGeom prst="rect">
            <a:avLst/>
          </a:prstGeom>
          <a:noFill/>
        </p:spPr>
        <p:txBody>
          <a:bodyPr wrap="square" rtlCol="0">
            <a:spAutoFit/>
          </a:bodyPr>
          <a:lstStyle/>
          <a:p>
            <a:r>
              <a:rPr lang="en-US" sz="900" b="1">
                <a:solidFill>
                  <a:schemeClr val="bg1"/>
                </a:solidFill>
                <a:latin typeface="Arial" panose="020B0604020202020204" pitchFamily="34" charset="0"/>
                <a:cs typeface="Arial" panose="020B0604020202020204" pitchFamily="34" charset="0"/>
              </a:rPr>
              <a:t>IMF</a:t>
            </a:r>
            <a:endParaRPr lang="en-US" sz="900" b="0">
              <a:solidFill>
                <a:schemeClr val="bg1"/>
              </a:solidFill>
              <a:latin typeface="Arial" panose="020B0604020202020204" pitchFamily="34" charset="0"/>
              <a:cs typeface="Arial" panose="020B0604020202020204" pitchFamily="34" charset="0"/>
            </a:endParaRPr>
          </a:p>
        </p:txBody>
      </p:sp>
      <p:sp>
        <p:nvSpPr>
          <p:cNvPr id="54" name="TextBox 53">
            <a:extLst>
              <a:ext uri="{FF2B5EF4-FFF2-40B4-BE49-F238E27FC236}">
                <a16:creationId xmlns:a16="http://schemas.microsoft.com/office/drawing/2014/main" id="{53EC36D0-8578-4449-B610-88EB05D95480}"/>
              </a:ext>
            </a:extLst>
          </p:cNvPr>
          <p:cNvSpPr txBox="1"/>
          <p:nvPr/>
        </p:nvSpPr>
        <p:spPr>
          <a:xfrm>
            <a:off x="10372855" y="6579030"/>
            <a:ext cx="1613877"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619092266"/>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Lst>
  <p:txStyles>
    <p:titleStyle>
      <a:lvl1pPr algn="ctr" defTabSz="914400" rtl="0" eaLnBrk="1" latinLnBrk="0" hangingPunct="1">
        <a:lnSpc>
          <a:spcPct val="90000"/>
        </a:lnSpc>
        <a:spcBef>
          <a:spcPct val="0"/>
        </a:spcBef>
        <a:buNone/>
        <a:defRPr sz="36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2"/>
            <a:ext cx="10972800" cy="4791806"/>
          </a:xfrm>
          <a:prstGeom prst="rect">
            <a:avLst/>
          </a:prstGeom>
        </p:spPr>
        <p:txBody>
          <a:bodyPr vert="horz" lIns="0" tIns="137160" rIns="0" bIns="0" rtlCol="0">
            <a:normAutofit/>
          </a:bodyPr>
          <a:lstStyle/>
          <a:p>
            <a:pPr lvl="0"/>
            <a:r>
              <a:rPr lang="en-US"/>
              <a:t>Paragraph type</a:t>
            </a:r>
          </a:p>
          <a:p>
            <a:pPr lvl="1"/>
            <a:r>
              <a:rPr lang="en-US"/>
              <a:t>Click the “Indent More” button (above) for first-level bullets</a:t>
            </a:r>
          </a:p>
          <a:p>
            <a:pPr lvl="2"/>
            <a:r>
              <a:rPr lang="en-US"/>
              <a:t>Click the “Indent More” button (above) twice for second-level bullets</a:t>
            </a:r>
          </a:p>
          <a:p>
            <a:pPr lvl="3"/>
            <a:r>
              <a:rPr lang="en-US"/>
              <a:t>Click the “Indent More” button (above) three times for third-level bullets</a:t>
            </a:r>
          </a:p>
          <a:p>
            <a:pPr lvl="4"/>
            <a:r>
              <a:rPr lang="en-US"/>
              <a:t>Click the “Indent More” button (above) four times for fourth-level bullets</a:t>
            </a:r>
          </a:p>
        </p:txBody>
      </p:sp>
      <p:sp>
        <p:nvSpPr>
          <p:cNvPr id="2" name="Title Placeholder 1"/>
          <p:cNvSpPr>
            <a:spLocks noGrp="1"/>
          </p:cNvSpPr>
          <p:nvPr>
            <p:ph type="title"/>
          </p:nvPr>
        </p:nvSpPr>
        <p:spPr>
          <a:xfrm>
            <a:off x="609600" y="482138"/>
            <a:ext cx="10972800" cy="1118064"/>
          </a:xfrm>
          <a:prstGeom prst="rect">
            <a:avLst/>
          </a:prstGeom>
        </p:spPr>
        <p:txBody>
          <a:bodyPr vert="horz" lIns="0" tIns="0" rIns="0" bIns="0" rtlCol="0" anchor="ctr">
            <a:normAutofit/>
          </a:bodyPr>
          <a:lstStyle/>
          <a:p>
            <a:r>
              <a:rPr lang="en-US"/>
              <a:t>Master Slide Title</a:t>
            </a:r>
          </a:p>
        </p:txBody>
      </p:sp>
      <p:sp>
        <p:nvSpPr>
          <p:cNvPr id="4" name="TextBox 3">
            <a:extLst>
              <a:ext uri="{FF2B5EF4-FFF2-40B4-BE49-F238E27FC236}">
                <a16:creationId xmlns:a16="http://schemas.microsoft.com/office/drawing/2014/main" id="{8069C718-696D-8C48-95E3-35ACB84AD8D9}"/>
              </a:ext>
            </a:extLst>
          </p:cNvPr>
          <p:cNvSpPr txBox="1"/>
          <p:nvPr/>
        </p:nvSpPr>
        <p:spPr>
          <a:xfrm>
            <a:off x="-1" y="6638779"/>
            <a:ext cx="9144000" cy="230832"/>
          </a:xfrm>
          <a:prstGeom prst="rect">
            <a:avLst/>
          </a:prstGeom>
          <a:noFill/>
        </p:spPr>
        <p:txBody>
          <a:bodyPr wrap="square" rtlCol="0">
            <a:spAutoFit/>
          </a:bodyPr>
          <a:lstStyle/>
          <a:p>
            <a:r>
              <a:rPr lang="en-US" sz="900" b="1">
                <a:solidFill>
                  <a:schemeClr val="bg1">
                    <a:lumMod val="75000"/>
                  </a:schemeClr>
                </a:solidFill>
                <a:latin typeface="Arial Black" charset="0"/>
                <a:cs typeface="Arial Black" charset="0"/>
              </a:rPr>
              <a:t>IMF</a:t>
            </a:r>
            <a:endParaRPr lang="en-US" sz="900" b="0">
              <a:solidFill>
                <a:schemeClr val="bg1">
                  <a:lumMod val="75000"/>
                </a:schemeClr>
              </a:solidFill>
              <a:latin typeface="+mn-lt"/>
              <a:cs typeface="Arial Black" charset="0"/>
            </a:endParaRPr>
          </a:p>
        </p:txBody>
      </p:sp>
      <p:sp>
        <p:nvSpPr>
          <p:cNvPr id="5" name="TextBox 4">
            <a:extLst>
              <a:ext uri="{FF2B5EF4-FFF2-40B4-BE49-F238E27FC236}">
                <a16:creationId xmlns:a16="http://schemas.microsoft.com/office/drawing/2014/main" id="{00B5D478-FD4A-2240-B032-46F4E3BAB6E8}"/>
              </a:ext>
            </a:extLst>
          </p:cNvPr>
          <p:cNvSpPr txBox="1"/>
          <p:nvPr/>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
        <p:nvSpPr>
          <p:cNvPr id="6" name="TextBox 5">
            <a:extLst>
              <a:ext uri="{FF2B5EF4-FFF2-40B4-BE49-F238E27FC236}">
                <a16:creationId xmlns:a16="http://schemas.microsoft.com/office/drawing/2014/main" id="{FAD08D58-9E35-EC3B-CEB2-E0963F9C19FD}"/>
              </a:ext>
            </a:extLst>
          </p:cNvPr>
          <p:cNvSpPr txBox="1"/>
          <p:nvPr userDrawn="1"/>
        </p:nvSpPr>
        <p:spPr>
          <a:xfrm>
            <a:off x="-1" y="6638779"/>
            <a:ext cx="9144000" cy="230832"/>
          </a:xfrm>
          <a:prstGeom prst="rect">
            <a:avLst/>
          </a:prstGeom>
          <a:noFill/>
        </p:spPr>
        <p:txBody>
          <a:bodyPr wrap="square" rtlCol="0">
            <a:spAutoFit/>
          </a:bodyPr>
          <a:lstStyle/>
          <a:p>
            <a:r>
              <a:rPr lang="en-US" sz="900" b="1">
                <a:solidFill>
                  <a:schemeClr val="bg1">
                    <a:lumMod val="75000"/>
                  </a:schemeClr>
                </a:solidFill>
                <a:latin typeface="Arial Black" charset="0"/>
                <a:cs typeface="Arial Black" charset="0"/>
              </a:rPr>
              <a:t>IMF</a:t>
            </a:r>
            <a:endParaRPr lang="en-US" sz="900" b="0">
              <a:solidFill>
                <a:schemeClr val="bg1">
                  <a:lumMod val="75000"/>
                </a:schemeClr>
              </a:solidFill>
              <a:latin typeface="+mn-lt"/>
              <a:cs typeface="Arial Black" charset="0"/>
            </a:endParaRPr>
          </a:p>
        </p:txBody>
      </p:sp>
      <p:sp>
        <p:nvSpPr>
          <p:cNvPr id="7" name="TextBox 6">
            <a:extLst>
              <a:ext uri="{FF2B5EF4-FFF2-40B4-BE49-F238E27FC236}">
                <a16:creationId xmlns:a16="http://schemas.microsoft.com/office/drawing/2014/main" id="{A731F237-4973-0931-5A8B-DACD82102F6E}"/>
              </a:ext>
            </a:extLst>
          </p:cNvPr>
          <p:cNvSpPr txBox="1"/>
          <p:nvPr userDrawn="1"/>
        </p:nvSpPr>
        <p:spPr>
          <a:xfrm>
            <a:off x="10981592" y="6623390"/>
            <a:ext cx="1210408" cy="246221"/>
          </a:xfrm>
          <a:prstGeom prst="rect">
            <a:avLst/>
          </a:prstGeom>
          <a:noFill/>
        </p:spPr>
        <p:txBody>
          <a:bodyPr wrap="square" rtlCol="0" anchor="b">
            <a:spAutoFit/>
          </a:bodyPr>
          <a:lstStyle/>
          <a:p>
            <a:pPr algn="r"/>
            <a:fld id="{33391695-0C6B-4B4E-A11F-D5E1D321FCD2}" type="slidenum">
              <a:rPr lang="en-US" sz="1000" smtClean="0">
                <a:solidFill>
                  <a:schemeClr val="accent1"/>
                </a:solidFill>
              </a:rPr>
              <a:pPr algn="r"/>
              <a:t>‹#›</a:t>
            </a:fld>
            <a:endParaRPr lang="en-US" sz="1000">
              <a:solidFill>
                <a:schemeClr val="accent1"/>
              </a:solidFill>
            </a:endParaRPr>
          </a:p>
        </p:txBody>
      </p:sp>
    </p:spTree>
    <p:extLst>
      <p:ext uri="{BB962C8B-B14F-4D97-AF65-F5344CB8AC3E}">
        <p14:creationId xmlns:p14="http://schemas.microsoft.com/office/powerpoint/2010/main" val="3289865169"/>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Lst>
  <p:transition>
    <p:fade/>
  </p:transition>
  <p:hf hdr="0" dt="0"/>
  <p:txStyles>
    <p:titleStyle>
      <a:lvl1pPr algn="l" defTabSz="914314" rtl="0" eaLnBrk="1" latinLnBrk="0" hangingPunct="1">
        <a:lnSpc>
          <a:spcPct val="90000"/>
        </a:lnSpc>
        <a:spcBef>
          <a:spcPct val="0"/>
        </a:spcBef>
        <a:buNone/>
        <a:defRPr sz="3600" b="1" i="0" kern="1200">
          <a:solidFill>
            <a:schemeClr val="tx2"/>
          </a:solidFill>
          <a:latin typeface="Arial Black" panose="020B0604020202020204" pitchFamily="34" charset="0"/>
          <a:ea typeface="+mj-ea"/>
          <a:cs typeface="Arial Black" panose="020B0604020202020204" pitchFamily="34" charset="0"/>
        </a:defRPr>
      </a:lvl1pPr>
    </p:titleStyle>
    <p:bodyStyle>
      <a:lvl1pPr marL="0" indent="0" algn="l" defTabSz="914314" rtl="0" eaLnBrk="1" latinLnBrk="0" hangingPunct="1">
        <a:spcBef>
          <a:spcPts val="2400"/>
        </a:spcBef>
        <a:buClr>
          <a:schemeClr val="accent1"/>
        </a:buClr>
        <a:buSzPct val="110000"/>
        <a:buFont typeface="Wingdings" charset="2"/>
        <a:buNone/>
        <a:tabLst/>
        <a:defRPr sz="2000" kern="1200">
          <a:solidFill>
            <a:schemeClr val="tx1"/>
          </a:solidFill>
          <a:latin typeface="+mn-lt"/>
          <a:ea typeface="+mn-ea"/>
          <a:cs typeface="+mn-cs"/>
        </a:defRPr>
      </a:lvl1pPr>
      <a:lvl2pPr marL="233363" indent="-233363" algn="l" defTabSz="914314" rtl="0" eaLnBrk="1" latinLnBrk="0" hangingPunct="1">
        <a:spcBef>
          <a:spcPts val="600"/>
        </a:spcBef>
        <a:buClr>
          <a:schemeClr val="accent1"/>
        </a:buClr>
        <a:buSzPct val="100000"/>
        <a:buFont typeface="Wingdings" pitchFamily="2" charset="2"/>
        <a:buChar char="§"/>
        <a:tabLst/>
        <a:defRPr sz="2000" kern="1200">
          <a:solidFill>
            <a:schemeClr val="tx1"/>
          </a:solidFill>
          <a:latin typeface="+mn-lt"/>
          <a:ea typeface="+mn-ea"/>
          <a:cs typeface="+mn-cs"/>
        </a:defRPr>
      </a:lvl2pPr>
      <a:lvl3pPr marL="458788" indent="-225425" algn="l" defTabSz="914314" rtl="0" eaLnBrk="1" latinLnBrk="0" hangingPunct="1">
        <a:spcBef>
          <a:spcPts val="600"/>
        </a:spcBef>
        <a:buClr>
          <a:schemeClr val="bg1">
            <a:lumMod val="50000"/>
          </a:schemeClr>
        </a:buClr>
        <a:buSzPct val="65000"/>
        <a:buFont typeface="Lucida Grande" panose="020B0600040502020204" pitchFamily="34" charset="0"/>
        <a:buChar char="▶"/>
        <a:tabLst/>
        <a:defRPr sz="2000" kern="1200">
          <a:solidFill>
            <a:schemeClr val="tx1"/>
          </a:solidFill>
          <a:latin typeface="+mn-lt"/>
          <a:ea typeface="+mn-ea"/>
          <a:cs typeface="+mn-cs"/>
        </a:defRPr>
      </a:lvl3pPr>
      <a:lvl4pPr marL="692150" indent="-233363" algn="l" defTabSz="914314" rtl="0" eaLnBrk="1" latinLnBrk="0" hangingPunct="1">
        <a:spcBef>
          <a:spcPts val="600"/>
        </a:spcBef>
        <a:buClr>
          <a:schemeClr val="accent1"/>
        </a:buClr>
        <a:buSzPct val="100000"/>
        <a:buFont typeface="LucidaGrande" charset="0"/>
        <a:buChar char="◆"/>
        <a:tabLst/>
        <a:defRPr sz="2000" kern="1200">
          <a:solidFill>
            <a:schemeClr val="tx1"/>
          </a:solidFill>
          <a:latin typeface="+mn-lt"/>
          <a:ea typeface="+mn-ea"/>
          <a:cs typeface="+mn-cs"/>
        </a:defRPr>
      </a:lvl4pPr>
      <a:lvl5pPr marL="917575" indent="-225425" algn="l" defTabSz="914314" rtl="0" eaLnBrk="1" latinLnBrk="0" hangingPunct="1">
        <a:spcBef>
          <a:spcPts val="600"/>
        </a:spcBef>
        <a:buClr>
          <a:schemeClr val="bg1">
            <a:lumMod val="50000"/>
          </a:schemeClr>
        </a:buClr>
        <a:buFont typeface=".HelveticaNeueDeskInterface-Regular"/>
        <a:buChar char="●"/>
        <a:tabLst/>
        <a:defRPr sz="2000" kern="1200">
          <a:solidFill>
            <a:schemeClr val="tx1"/>
          </a:solidFill>
          <a:latin typeface="+mn-lt"/>
          <a:ea typeface="+mn-ea"/>
          <a:cs typeface="+mn-cs"/>
        </a:defRPr>
      </a:lvl5pPr>
      <a:lvl6pPr marL="2514364"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22"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79"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35" indent="-228578" algn="l" defTabSz="91431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14" rtl="0" eaLnBrk="1" latinLnBrk="0" hangingPunct="1">
        <a:defRPr sz="1800" kern="1200">
          <a:solidFill>
            <a:schemeClr val="tx1"/>
          </a:solidFill>
          <a:latin typeface="+mn-lt"/>
          <a:ea typeface="+mn-ea"/>
          <a:cs typeface="+mn-cs"/>
        </a:defRPr>
      </a:lvl1pPr>
      <a:lvl2pPr marL="457157" algn="l" defTabSz="914314" rtl="0" eaLnBrk="1" latinLnBrk="0" hangingPunct="1">
        <a:defRPr sz="1800" kern="1200">
          <a:solidFill>
            <a:schemeClr val="tx1"/>
          </a:solidFill>
          <a:latin typeface="+mn-lt"/>
          <a:ea typeface="+mn-ea"/>
          <a:cs typeface="+mn-cs"/>
        </a:defRPr>
      </a:lvl2pPr>
      <a:lvl3pPr marL="914314" algn="l" defTabSz="914314" rtl="0" eaLnBrk="1" latinLnBrk="0" hangingPunct="1">
        <a:defRPr sz="1800" kern="1200">
          <a:solidFill>
            <a:schemeClr val="tx1"/>
          </a:solidFill>
          <a:latin typeface="+mn-lt"/>
          <a:ea typeface="+mn-ea"/>
          <a:cs typeface="+mn-cs"/>
        </a:defRPr>
      </a:lvl3pPr>
      <a:lvl4pPr marL="1371472" algn="l" defTabSz="914314" rtl="0" eaLnBrk="1" latinLnBrk="0" hangingPunct="1">
        <a:defRPr sz="1800" kern="1200">
          <a:solidFill>
            <a:schemeClr val="tx1"/>
          </a:solidFill>
          <a:latin typeface="+mn-lt"/>
          <a:ea typeface="+mn-ea"/>
          <a:cs typeface="+mn-cs"/>
        </a:defRPr>
      </a:lvl4pPr>
      <a:lvl5pPr marL="1828628" algn="l" defTabSz="914314" rtl="0" eaLnBrk="1" latinLnBrk="0" hangingPunct="1">
        <a:defRPr sz="1800" kern="1200">
          <a:solidFill>
            <a:schemeClr val="tx1"/>
          </a:solidFill>
          <a:latin typeface="+mn-lt"/>
          <a:ea typeface="+mn-ea"/>
          <a:cs typeface="+mn-cs"/>
        </a:defRPr>
      </a:lvl5pPr>
      <a:lvl6pPr marL="2285785" algn="l" defTabSz="914314" rtl="0" eaLnBrk="1" latinLnBrk="0" hangingPunct="1">
        <a:defRPr sz="1800" kern="1200">
          <a:solidFill>
            <a:schemeClr val="tx1"/>
          </a:solidFill>
          <a:latin typeface="+mn-lt"/>
          <a:ea typeface="+mn-ea"/>
          <a:cs typeface="+mn-cs"/>
        </a:defRPr>
      </a:lvl6pPr>
      <a:lvl7pPr marL="2742942" algn="l" defTabSz="914314" rtl="0" eaLnBrk="1" latinLnBrk="0" hangingPunct="1">
        <a:defRPr sz="1800" kern="1200">
          <a:solidFill>
            <a:schemeClr val="tx1"/>
          </a:solidFill>
          <a:latin typeface="+mn-lt"/>
          <a:ea typeface="+mn-ea"/>
          <a:cs typeface="+mn-cs"/>
        </a:defRPr>
      </a:lvl7pPr>
      <a:lvl8pPr marL="3200100" algn="l" defTabSz="914314" rtl="0" eaLnBrk="1" latinLnBrk="0" hangingPunct="1">
        <a:defRPr sz="1800" kern="1200">
          <a:solidFill>
            <a:schemeClr val="tx1"/>
          </a:solidFill>
          <a:latin typeface="+mn-lt"/>
          <a:ea typeface="+mn-ea"/>
          <a:cs typeface="+mn-cs"/>
        </a:defRPr>
      </a:lvl8pPr>
      <a:lvl9pPr marL="3657257" algn="l" defTabSz="914314"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2" name="Picture 51">
            <a:extLst>
              <a:ext uri="{FF2B5EF4-FFF2-40B4-BE49-F238E27FC236}">
                <a16:creationId xmlns:a16="http://schemas.microsoft.com/office/drawing/2014/main" id="{A2D1FFAD-683D-4DF5-8667-FE7C943F0946}"/>
              </a:ext>
            </a:extLst>
          </p:cNvPr>
          <p:cNvPicPr>
            <a:picLocks noChangeAspect="1"/>
          </p:cNvPicPr>
          <p:nvPr/>
        </p:nvPicPr>
        <p:blipFill>
          <a:blip r:embed="rId21">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6405" y="6549163"/>
            <a:ext cx="12316389" cy="305954"/>
          </a:xfrm>
          <a:prstGeom prst="rect">
            <a:avLst/>
          </a:prstGeom>
        </p:spPr>
      </p:pic>
      <p:pic>
        <p:nvPicPr>
          <p:cNvPr id="49" name="Picture 48">
            <a:extLst>
              <a:ext uri="{FF2B5EF4-FFF2-40B4-BE49-F238E27FC236}">
                <a16:creationId xmlns:a16="http://schemas.microsoft.com/office/drawing/2014/main" id="{D539B6A2-25B6-414C-8964-4BB73BDD4DA0}"/>
              </a:ext>
            </a:extLst>
          </p:cNvPr>
          <p:cNvPicPr>
            <a:picLocks noChangeAspect="1"/>
          </p:cNvPicPr>
          <p:nvPr/>
        </p:nvPicPr>
        <p:blipFill>
          <a:blip r:embed="rId21">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6405" y="1105"/>
            <a:ext cx="12274927" cy="998531"/>
          </a:xfrm>
          <a:prstGeom prst="rect">
            <a:avLst/>
          </a:prstGeom>
        </p:spPr>
      </p:pic>
      <p:sp>
        <p:nvSpPr>
          <p:cNvPr id="2" name="Title Placeholder 1"/>
          <p:cNvSpPr>
            <a:spLocks noGrp="1"/>
          </p:cNvSpPr>
          <p:nvPr>
            <p:ph type="title"/>
          </p:nvPr>
        </p:nvSpPr>
        <p:spPr>
          <a:xfrm>
            <a:off x="1541488" y="133440"/>
            <a:ext cx="9049421" cy="73385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08398" y="1676538"/>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B8249D-73BB-4688-B427-EB89B5DAF030}" type="datetimeFigureOut">
              <a:rPr lang="en-US" smtClean="0"/>
              <a:t>5/25/2026</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pic>
        <p:nvPicPr>
          <p:cNvPr id="29" name="Picture 28">
            <a:extLst>
              <a:ext uri="{FF2B5EF4-FFF2-40B4-BE49-F238E27FC236}">
                <a16:creationId xmlns:a16="http://schemas.microsoft.com/office/drawing/2014/main" id="{5E4E6BEC-FFD1-403D-AE66-D9C4578DCD25}"/>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204959" y="72826"/>
            <a:ext cx="868467" cy="852107"/>
          </a:xfrm>
          <a:prstGeom prst="rect">
            <a:avLst/>
          </a:prstGeom>
        </p:spPr>
      </p:pic>
      <p:sp>
        <p:nvSpPr>
          <p:cNvPr id="53" name="TextBox 52">
            <a:extLst>
              <a:ext uri="{FF2B5EF4-FFF2-40B4-BE49-F238E27FC236}">
                <a16:creationId xmlns:a16="http://schemas.microsoft.com/office/drawing/2014/main" id="{4A752841-1F14-472B-8136-14C2A87C7CD3}"/>
              </a:ext>
            </a:extLst>
          </p:cNvPr>
          <p:cNvSpPr txBox="1"/>
          <p:nvPr/>
        </p:nvSpPr>
        <p:spPr>
          <a:xfrm>
            <a:off x="117984" y="6594418"/>
            <a:ext cx="12192000" cy="230832"/>
          </a:xfrm>
          <a:prstGeom prst="rect">
            <a:avLst/>
          </a:prstGeom>
          <a:noFill/>
        </p:spPr>
        <p:txBody>
          <a:bodyPr wrap="square" rtlCol="0">
            <a:spAutoFit/>
          </a:bodyPr>
          <a:lstStyle/>
          <a:p>
            <a:r>
              <a:rPr lang="en-US" sz="900" b="1">
                <a:solidFill>
                  <a:schemeClr val="bg1"/>
                </a:solidFill>
                <a:latin typeface="Arial" panose="020B0604020202020204" pitchFamily="34" charset="0"/>
                <a:cs typeface="Arial" panose="020B0604020202020204" pitchFamily="34" charset="0"/>
              </a:rPr>
              <a:t>IMF</a:t>
            </a:r>
            <a:endParaRPr lang="en-US" sz="900" b="0">
              <a:solidFill>
                <a:schemeClr val="bg1"/>
              </a:solidFill>
              <a:latin typeface="Arial" panose="020B0604020202020204" pitchFamily="34" charset="0"/>
              <a:cs typeface="Arial" panose="020B0604020202020204" pitchFamily="34" charset="0"/>
            </a:endParaRPr>
          </a:p>
        </p:txBody>
      </p:sp>
      <p:sp>
        <p:nvSpPr>
          <p:cNvPr id="54" name="TextBox 53">
            <a:extLst>
              <a:ext uri="{FF2B5EF4-FFF2-40B4-BE49-F238E27FC236}">
                <a16:creationId xmlns:a16="http://schemas.microsoft.com/office/drawing/2014/main" id="{53EC36D0-8578-4449-B610-88EB05D95480}"/>
              </a:ext>
            </a:extLst>
          </p:cNvPr>
          <p:cNvSpPr txBox="1"/>
          <p:nvPr/>
        </p:nvSpPr>
        <p:spPr>
          <a:xfrm>
            <a:off x="10393308" y="6538914"/>
            <a:ext cx="1613877" cy="246221"/>
          </a:xfrm>
          <a:prstGeom prst="rect">
            <a:avLst/>
          </a:prstGeom>
          <a:noFill/>
        </p:spPr>
        <p:txBody>
          <a:bodyPr wrap="square" rtlCol="0" anchor="b">
            <a:spAutoFit/>
          </a:bodyPr>
          <a:lstStyle/>
          <a:p>
            <a:pPr algn="r"/>
            <a:fld id="{33391695-0C6B-4B4E-A11F-D5E1D321FCD2}" type="slidenum">
              <a:rPr lang="en-US" sz="1000" smtClean="0">
                <a:solidFill>
                  <a:schemeClr val="bg1"/>
                </a:solidFill>
              </a:rPr>
              <a:pPr algn="r"/>
              <a:t>‹#›</a:t>
            </a:fld>
            <a:endParaRPr lang="en-US" sz="1000">
              <a:solidFill>
                <a:schemeClr val="bg1"/>
              </a:solidFill>
            </a:endParaRPr>
          </a:p>
        </p:txBody>
      </p:sp>
    </p:spTree>
    <p:extLst>
      <p:ext uri="{BB962C8B-B14F-4D97-AF65-F5344CB8AC3E}">
        <p14:creationId xmlns:p14="http://schemas.microsoft.com/office/powerpoint/2010/main" val="3453707307"/>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88" r:id="rId17"/>
    <p:sldLayoutId id="2147483790" r:id="rId18"/>
    <p:sldLayoutId id="2147483791" r:id="rId19"/>
  </p:sldLayoutIdLst>
  <p:txStyles>
    <p:titleStyle>
      <a:lvl1pPr algn="ctr" defTabSz="914400" rtl="0" eaLnBrk="1" latinLnBrk="0" hangingPunct="1">
        <a:lnSpc>
          <a:spcPct val="90000"/>
        </a:lnSpc>
        <a:spcBef>
          <a:spcPct val="0"/>
        </a:spcBef>
        <a:buNone/>
        <a:defRPr sz="36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1F654A-8F75-9206-304F-4C9D39B7CC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37CCBF-188E-8BDD-272B-AC8B42C55D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797D98-DB82-1883-ABF3-496ECD7B92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0E6E60-0A7A-4FD0-B9CA-7385924FAA57}" type="datetimeFigureOut">
              <a:rPr lang="en-US" smtClean="0"/>
              <a:t>5/25/2026</a:t>
            </a:fld>
            <a:endParaRPr lang="en-US"/>
          </a:p>
        </p:txBody>
      </p:sp>
      <p:sp>
        <p:nvSpPr>
          <p:cNvPr id="5" name="Footer Placeholder 4">
            <a:extLst>
              <a:ext uri="{FF2B5EF4-FFF2-40B4-BE49-F238E27FC236}">
                <a16:creationId xmlns:a16="http://schemas.microsoft.com/office/drawing/2014/main" id="{4C152436-2D24-E2FD-EBF5-97F3AF43C8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8893AFB-B06E-B52E-24A8-A3D7F1EAE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56360D-F591-440B-842D-5DA9CC922A84}" type="slidenum">
              <a:rPr lang="en-US" smtClean="0"/>
              <a:t>‹#›</a:t>
            </a:fld>
            <a:endParaRPr lang="en-US"/>
          </a:p>
        </p:txBody>
      </p:sp>
    </p:spTree>
    <p:extLst>
      <p:ext uri="{BB962C8B-B14F-4D97-AF65-F5344CB8AC3E}">
        <p14:creationId xmlns:p14="http://schemas.microsoft.com/office/powerpoint/2010/main" val="2338924978"/>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0.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18" Type="http://schemas.openxmlformats.org/officeDocument/2006/relationships/diagramData" Target="../diagrams/data4.xml"/><Relationship Id="rId26" Type="http://schemas.openxmlformats.org/officeDocument/2006/relationships/diagramColors" Target="../diagrams/colors5.xml"/><Relationship Id="rId3" Type="http://schemas.openxmlformats.org/officeDocument/2006/relationships/diagramData" Target="../diagrams/data1.xml"/><Relationship Id="rId21" Type="http://schemas.openxmlformats.org/officeDocument/2006/relationships/diagramColors" Target="../diagrams/colors4.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5" Type="http://schemas.openxmlformats.org/officeDocument/2006/relationships/diagramQuickStyle" Target="../diagrams/quickStyle5.xml"/><Relationship Id="rId2" Type="http://schemas.openxmlformats.org/officeDocument/2006/relationships/notesSlide" Target="../notesSlides/notesSlide3.xml"/><Relationship Id="rId16" Type="http://schemas.openxmlformats.org/officeDocument/2006/relationships/diagramColors" Target="../diagrams/colors3.xml"/><Relationship Id="rId20" Type="http://schemas.openxmlformats.org/officeDocument/2006/relationships/diagramQuickStyle" Target="../diagrams/quickStyle4.xml"/><Relationship Id="rId1" Type="http://schemas.openxmlformats.org/officeDocument/2006/relationships/slideLayout" Target="../slideLayouts/slideLayout59.xml"/><Relationship Id="rId6" Type="http://schemas.openxmlformats.org/officeDocument/2006/relationships/diagramColors" Target="../diagrams/colors1.xml"/><Relationship Id="rId11" Type="http://schemas.openxmlformats.org/officeDocument/2006/relationships/diagramColors" Target="../diagrams/colors2.xml"/><Relationship Id="rId24" Type="http://schemas.openxmlformats.org/officeDocument/2006/relationships/diagramLayout" Target="../diagrams/layout5.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23" Type="http://schemas.openxmlformats.org/officeDocument/2006/relationships/diagramData" Target="../diagrams/data5.xml"/><Relationship Id="rId10" Type="http://schemas.openxmlformats.org/officeDocument/2006/relationships/diagramQuickStyle" Target="../diagrams/quickStyle2.xml"/><Relationship Id="rId19" Type="http://schemas.openxmlformats.org/officeDocument/2006/relationships/diagramLayout" Target="../diagrams/layout4.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 Id="rId22" Type="http://schemas.microsoft.com/office/2007/relationships/diagramDrawing" Target="../diagrams/drawing4.xml"/><Relationship Id="rId27" Type="http://schemas.microsoft.com/office/2007/relationships/diagramDrawing" Target="../diagrams/drawing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5.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5.xml"/><Relationship Id="rId1" Type="http://schemas.openxmlformats.org/officeDocument/2006/relationships/slideLayout" Target="../slideLayouts/slideLayout70.xml"/><Relationship Id="rId5" Type="http://schemas.openxmlformats.org/officeDocument/2006/relationships/image" Target="../media/image8.sv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70.xml"/><Relationship Id="rId5" Type="http://schemas.openxmlformats.org/officeDocument/2006/relationships/image" Target="../media/image11.sv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7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0.xml"/></Relationships>
</file>

<file path=ppt/slides/_rels/slide17.xml.rels><?xml version="1.0" encoding="UTF-8" standalone="yes"?>
<Relationships xmlns="http://schemas.openxmlformats.org/package/2006/relationships"><Relationship Id="rId3" Type="http://schemas.openxmlformats.org/officeDocument/2006/relationships/hyperlink" Target="https://www.imf.org/-/media/files/publications/cr/2024/english/1ugaea2024002-print-pdf.pdf" TargetMode="External"/><Relationship Id="rId2" Type="http://schemas.openxmlformats.org/officeDocument/2006/relationships/notesSlide" Target="../notesSlides/notesSlide17.xml"/><Relationship Id="rId1" Type="http://schemas.openxmlformats.org/officeDocument/2006/relationships/slideLayout" Target="../slideLayouts/slideLayout60.xml"/><Relationship Id="rId6" Type="http://schemas.openxmlformats.org/officeDocument/2006/relationships/hyperlink" Target="https://www.imf.org/-/media/files/publications/cr/2024/english/1tzaea2024002-print-pdf.pdf" TargetMode="External"/><Relationship Id="rId5" Type="http://schemas.openxmlformats.org/officeDocument/2006/relationships/hyperlink" Target="https://www.imf.org/-/media/files/publications/cr/2025/english/1rwaea2025002-source-pdf.pdf" TargetMode="External"/><Relationship Id="rId4" Type="http://schemas.openxmlformats.org/officeDocument/2006/relationships/hyperlink" Target="https://www.imf.org/-/media/files/publications/cr/2025/english/1ethea2025002-source-pdf.pdf"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8.xml"/><Relationship Id="rId1" Type="http://schemas.openxmlformats.org/officeDocument/2006/relationships/slideLayout" Target="../slideLayouts/slideLayout77.xml"/><Relationship Id="rId5" Type="http://schemas.openxmlformats.org/officeDocument/2006/relationships/image" Target="../media/image13.svg"/><Relationship Id="rId4" Type="http://schemas.openxmlformats.org/officeDocument/2006/relationships/hyperlink" Target="https://gap.hks.harvard.edu/"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gap.hks.harvard.edu/savings-constraints-and-microenterprise-development-evidence-field-experiment-kenya" TargetMode="External"/><Relationship Id="rId2" Type="http://schemas.openxmlformats.org/officeDocument/2006/relationships/hyperlink" Target="https://gap.hks.harvard.edu/her-own-account-how-strengthening-womens-financial-control-impacts-labor-supply-and-gender-norms" TargetMode="External"/><Relationship Id="rId1" Type="http://schemas.openxmlformats.org/officeDocument/2006/relationships/slideLayout" Target="../slideLayouts/slideLayout59.xml"/><Relationship Id="rId4" Type="http://schemas.openxmlformats.org/officeDocument/2006/relationships/hyperlink" Target="https://gap.hks.harvard.edu/economic-returns-social-interaction-experimental-evidence-microfinanc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5.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0.xml"/></Relationships>
</file>

<file path=ppt/slides/_rels/slide2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71.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2.xml"/><Relationship Id="rId1" Type="http://schemas.openxmlformats.org/officeDocument/2006/relationships/slideLayout" Target="../slideLayouts/slideLayout70.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71.xml"/><Relationship Id="rId4" Type="http://schemas.openxmlformats.org/officeDocument/2006/relationships/chart" Target="../charts/char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71.xml"/><Relationship Id="rId5" Type="http://schemas.openxmlformats.org/officeDocument/2006/relationships/chart" Target="../charts/chart5.xml"/><Relationship Id="rId4" Type="http://schemas.openxmlformats.org/officeDocument/2006/relationships/chart" Target="../charts/chart4.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70.xml"/><Relationship Id="rId5" Type="http://schemas.openxmlformats.org/officeDocument/2006/relationships/hyperlink" Target="https://data.imf.org/?sk=e5dcab7e-a5ca-4892-a6ea-598b5463a34c&amp;sid=1460054136937" TargetMode="External"/><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0.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77.xml"/><Relationship Id="rId4" Type="http://schemas.openxmlformats.org/officeDocument/2006/relationships/hyperlink" Target="https://data.imf.org/en/datasets/IMF.STA:FAS"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71.xml"/><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31.xml"/><Relationship Id="rId1" Type="http://schemas.openxmlformats.org/officeDocument/2006/relationships/slideLayout" Target="../slideLayouts/slideLayout71.xml"/><Relationship Id="rId4" Type="http://schemas.openxmlformats.org/officeDocument/2006/relationships/chart" Target="../charts/char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7221FD5-C0B3-DA62-3AA2-E8B9CA5E6389}"/>
              </a:ext>
            </a:extLst>
          </p:cNvPr>
          <p:cNvSpPr>
            <a:spLocks noGrp="1"/>
          </p:cNvSpPr>
          <p:nvPr>
            <p:ph type="body" sz="quarter" idx="10"/>
          </p:nvPr>
        </p:nvSpPr>
        <p:spPr>
          <a:xfrm>
            <a:off x="5551488" y="5265336"/>
            <a:ext cx="6385954" cy="870769"/>
          </a:xfrm>
        </p:spPr>
        <p:txBody>
          <a:bodyPr/>
          <a:lstStyle/>
          <a:p>
            <a:r>
              <a:rPr lang="en-US"/>
              <a:t>Vivian Malta, IMF </a:t>
            </a:r>
          </a:p>
        </p:txBody>
      </p:sp>
      <p:sp>
        <p:nvSpPr>
          <p:cNvPr id="16" name="Text Placeholder 15">
            <a:extLst>
              <a:ext uri="{FF2B5EF4-FFF2-40B4-BE49-F238E27FC236}">
                <a16:creationId xmlns:a16="http://schemas.microsoft.com/office/drawing/2014/main" id="{B4958751-400C-0F44-BB35-6CE0FEAC0E77}"/>
              </a:ext>
            </a:extLst>
          </p:cNvPr>
          <p:cNvSpPr>
            <a:spLocks noGrp="1"/>
          </p:cNvSpPr>
          <p:nvPr>
            <p:ph type="body" sz="quarter" idx="12"/>
          </p:nvPr>
        </p:nvSpPr>
        <p:spPr/>
        <p:txBody>
          <a:bodyPr/>
          <a:lstStyle/>
          <a:p>
            <a:r>
              <a:rPr lang="en-US"/>
              <a:t>IMF Flickr</a:t>
            </a:r>
          </a:p>
        </p:txBody>
      </p:sp>
      <p:sp>
        <p:nvSpPr>
          <p:cNvPr id="2" name="Title 1">
            <a:extLst>
              <a:ext uri="{FF2B5EF4-FFF2-40B4-BE49-F238E27FC236}">
                <a16:creationId xmlns:a16="http://schemas.microsoft.com/office/drawing/2014/main" id="{A9354EC1-60D1-CD48-8690-FF0B6D8AC540}"/>
              </a:ext>
            </a:extLst>
          </p:cNvPr>
          <p:cNvSpPr>
            <a:spLocks noGrp="1"/>
          </p:cNvSpPr>
          <p:nvPr>
            <p:ph type="ctrTitle" idx="4294967295"/>
          </p:nvPr>
        </p:nvSpPr>
        <p:spPr>
          <a:xfrm>
            <a:off x="5551488" y="2022475"/>
            <a:ext cx="6640512" cy="1928813"/>
          </a:xfrm>
          <a:noFill/>
        </p:spPr>
        <p:txBody>
          <a:bodyPr>
            <a:noAutofit/>
          </a:bodyPr>
          <a:lstStyle/>
          <a:p>
            <a:r>
              <a:rPr lang="en-US" sz="3200" b="1" dirty="0">
                <a:solidFill>
                  <a:schemeClr val="tx2"/>
                </a:solidFill>
                <a:latin typeface="Arial Black"/>
              </a:rPr>
              <a:t>Financial Inclusion</a:t>
            </a:r>
            <a:endParaRPr lang="en-US" sz="3200" dirty="0"/>
          </a:p>
        </p:txBody>
      </p:sp>
      <p:sp>
        <p:nvSpPr>
          <p:cNvPr id="4" name="Picture Placeholder 3">
            <a:extLst>
              <a:ext uri="{FF2B5EF4-FFF2-40B4-BE49-F238E27FC236}">
                <a16:creationId xmlns:a16="http://schemas.microsoft.com/office/drawing/2014/main" id="{BD7DBFCA-BF0B-3D44-334A-846D65E38C97}"/>
              </a:ext>
            </a:extLst>
          </p:cNvPr>
          <p:cNvSpPr>
            <a:spLocks noGrp="1"/>
          </p:cNvSpPr>
          <p:nvPr>
            <p:ph type="pic" sz="quarter" idx="11"/>
          </p:nvPr>
        </p:nvSpPr>
        <p:spPr/>
        <p:txBody>
          <a:bodyPr/>
          <a:lstStyle/>
          <a:p>
            <a:endParaRPr lang="en-US"/>
          </a:p>
        </p:txBody>
      </p:sp>
    </p:spTree>
    <p:extLst>
      <p:ext uri="{BB962C8B-B14F-4D97-AF65-F5344CB8AC3E}">
        <p14:creationId xmlns:p14="http://schemas.microsoft.com/office/powerpoint/2010/main" val="33076290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3B3C8924-ED5E-1794-27FF-0F89DE8C8DA8}"/>
              </a:ext>
            </a:extLst>
          </p:cNvPr>
          <p:cNvSpPr>
            <a:spLocks noGrp="1"/>
          </p:cNvSpPr>
          <p:nvPr>
            <p:ph type="title"/>
          </p:nvPr>
        </p:nvSpPr>
        <p:spPr>
          <a:xfrm>
            <a:off x="1238250" y="52409"/>
            <a:ext cx="9715500" cy="978486"/>
          </a:xfrm>
        </p:spPr>
        <p:txBody>
          <a:bodyPr/>
          <a:lstStyle/>
          <a:p>
            <a:r>
              <a:rPr lang="en-US">
                <a:solidFill>
                  <a:schemeClr val="bg1"/>
                </a:solidFill>
              </a:rPr>
              <a:t>What does financial inclusion entail? </a:t>
            </a:r>
          </a:p>
        </p:txBody>
      </p:sp>
      <p:sp>
        <p:nvSpPr>
          <p:cNvPr id="2" name="Text Placeholder 1">
            <a:extLst>
              <a:ext uri="{FF2B5EF4-FFF2-40B4-BE49-F238E27FC236}">
                <a16:creationId xmlns:a16="http://schemas.microsoft.com/office/drawing/2014/main" id="{42C33274-DFAD-0AD5-5B91-DABFC25C5CBD}"/>
              </a:ext>
            </a:extLst>
          </p:cNvPr>
          <p:cNvSpPr>
            <a:spLocks noGrp="1"/>
          </p:cNvSpPr>
          <p:nvPr>
            <p:ph type="body" sz="quarter" idx="10"/>
          </p:nvPr>
        </p:nvSpPr>
        <p:spPr>
          <a:xfrm>
            <a:off x="237565" y="1200930"/>
            <a:ext cx="11716870" cy="4860591"/>
          </a:xfrm>
        </p:spPr>
        <p:txBody>
          <a:bodyPr vert="horz" lIns="91440" tIns="45720" rIns="91440" bIns="45720" rtlCol="0" anchor="t">
            <a:normAutofit fontScale="25000" lnSpcReduction="20000"/>
          </a:bodyPr>
          <a:lstStyle/>
          <a:p>
            <a:pPr>
              <a:lnSpc>
                <a:spcPct val="120000"/>
              </a:lnSpc>
              <a:spcBef>
                <a:spcPts val="600"/>
              </a:spcBef>
              <a:spcAft>
                <a:spcPts val="600"/>
              </a:spcAft>
            </a:pPr>
            <a:r>
              <a:rPr lang="en-US" sz="6400" b="1" dirty="0">
                <a:solidFill>
                  <a:srgbClr val="000000"/>
                </a:solidFill>
                <a:effectLst/>
                <a:latin typeface="Arial"/>
                <a:ea typeface="Century Gothic" panose="020B0502020202020204" pitchFamily="34" charset="0"/>
                <a:cs typeface="Arial"/>
              </a:rPr>
              <a:t>Financial inclusion </a:t>
            </a:r>
            <a:r>
              <a:rPr lang="en-US" sz="6400" dirty="0">
                <a:solidFill>
                  <a:srgbClr val="000000"/>
                </a:solidFill>
                <a:effectLst/>
                <a:latin typeface="Arial"/>
                <a:ea typeface="Century Gothic" panose="020B0502020202020204" pitchFamily="34" charset="0"/>
                <a:cs typeface="Arial"/>
              </a:rPr>
              <a:t>requires that a range of financial services—are </a:t>
            </a:r>
            <a:r>
              <a:rPr lang="en-US" sz="6400" b="1" dirty="0">
                <a:solidFill>
                  <a:srgbClr val="000000"/>
                </a:solidFill>
                <a:effectLst/>
                <a:latin typeface="Arial"/>
                <a:ea typeface="Century Gothic" panose="020B0502020202020204" pitchFamily="34" charset="0"/>
                <a:cs typeface="Arial"/>
              </a:rPr>
              <a:t>accessible</a:t>
            </a:r>
            <a:r>
              <a:rPr lang="en-US" sz="6400" dirty="0">
                <a:solidFill>
                  <a:srgbClr val="000000"/>
                </a:solidFill>
                <a:effectLst/>
                <a:latin typeface="Arial"/>
                <a:ea typeface="Century Gothic" panose="020B0502020202020204" pitchFamily="34" charset="0"/>
                <a:cs typeface="Arial"/>
              </a:rPr>
              <a:t> to and </a:t>
            </a:r>
            <a:r>
              <a:rPr lang="en-US" sz="6400" b="1" dirty="0">
                <a:solidFill>
                  <a:srgbClr val="000000"/>
                </a:solidFill>
                <a:effectLst/>
                <a:latin typeface="Arial"/>
                <a:ea typeface="Century Gothic" panose="020B0502020202020204" pitchFamily="34" charset="0"/>
                <a:cs typeface="Arial"/>
              </a:rPr>
              <a:t>used </a:t>
            </a:r>
            <a:r>
              <a:rPr lang="en-US" sz="6400" dirty="0">
                <a:solidFill>
                  <a:srgbClr val="000000"/>
                </a:solidFill>
                <a:effectLst/>
                <a:latin typeface="Arial"/>
                <a:ea typeface="Century Gothic" panose="020B0502020202020204" pitchFamily="34" charset="0"/>
                <a:cs typeface="Arial"/>
              </a:rPr>
              <a:t>by a wide population, importantly those who are traditionally underserved or excluded, including </a:t>
            </a:r>
            <a:r>
              <a:rPr lang="en-US" sz="6400" dirty="0">
                <a:solidFill>
                  <a:srgbClr val="000000"/>
                </a:solidFill>
                <a:latin typeface="Arial"/>
                <a:ea typeface="Century Gothic" panose="020B0502020202020204" pitchFamily="34" charset="0"/>
                <a:cs typeface="Arial"/>
              </a:rPr>
              <a:t>women</a:t>
            </a:r>
            <a:r>
              <a:rPr lang="en-US" sz="6400" dirty="0">
                <a:solidFill>
                  <a:srgbClr val="000000"/>
                </a:solidFill>
                <a:effectLst/>
                <a:latin typeface="Arial"/>
                <a:ea typeface="Century Gothic" panose="020B0502020202020204" pitchFamily="34" charset="0"/>
                <a:cs typeface="Arial"/>
              </a:rPr>
              <a:t>, low-income individuals, and SMEs</a:t>
            </a:r>
          </a:p>
          <a:p>
            <a:pPr>
              <a:lnSpc>
                <a:spcPct val="120000"/>
              </a:lnSpc>
              <a:spcBef>
                <a:spcPts val="600"/>
              </a:spcBef>
              <a:spcAft>
                <a:spcPts val="600"/>
              </a:spcAft>
            </a:pPr>
            <a:r>
              <a:rPr lang="en-US" sz="6400" b="1" dirty="0"/>
              <a:t>Access to Financial Services: </a:t>
            </a:r>
          </a:p>
          <a:p>
            <a:pPr lvl="1">
              <a:lnSpc>
                <a:spcPct val="120000"/>
              </a:lnSpc>
              <a:spcBef>
                <a:spcPts val="600"/>
              </a:spcBef>
              <a:spcAft>
                <a:spcPts val="600"/>
              </a:spcAft>
            </a:pPr>
            <a:r>
              <a:rPr lang="en-US" sz="6400" dirty="0"/>
              <a:t>Highlights the </a:t>
            </a:r>
            <a:r>
              <a:rPr lang="en-US" sz="6400" b="1" dirty="0"/>
              <a:t>availability and reach of financial services </a:t>
            </a:r>
            <a:r>
              <a:rPr lang="en-US" sz="6400" dirty="0"/>
              <a:t>for the population, regardless of location or economic status. It focuses on accessibility through financial branches, ATMs, agents, mobile money, and other digital platforms, making services easily obtainable within a reasonable distance.</a:t>
            </a:r>
          </a:p>
          <a:p>
            <a:pPr>
              <a:lnSpc>
                <a:spcPct val="120000"/>
              </a:lnSpc>
              <a:spcBef>
                <a:spcPts val="600"/>
              </a:spcBef>
              <a:spcAft>
                <a:spcPts val="600"/>
              </a:spcAft>
            </a:pPr>
            <a:r>
              <a:rPr lang="en-US" sz="6400" b="1" dirty="0"/>
              <a:t>Usage of Financial Services:</a:t>
            </a:r>
          </a:p>
          <a:p>
            <a:pPr lvl="1">
              <a:lnSpc>
                <a:spcPct val="120000"/>
              </a:lnSpc>
              <a:spcBef>
                <a:spcPts val="600"/>
              </a:spcBef>
              <a:spcAft>
                <a:spcPts val="600"/>
              </a:spcAft>
            </a:pPr>
            <a:r>
              <a:rPr lang="en-US" sz="6400" dirty="0"/>
              <a:t>Focuses on how individuals and businesses </a:t>
            </a:r>
            <a:r>
              <a:rPr lang="en-US" sz="6400" u="sng" dirty="0"/>
              <a:t>use </a:t>
            </a:r>
            <a:r>
              <a:rPr lang="en-US" sz="6400" dirty="0"/>
              <a:t>financial products to effectively manage their needs. It includes: </a:t>
            </a:r>
          </a:p>
          <a:p>
            <a:pPr marL="1543050" lvl="3" indent="-171450">
              <a:lnSpc>
                <a:spcPct val="120000"/>
              </a:lnSpc>
              <a:spcBef>
                <a:spcPts val="600"/>
              </a:spcBef>
              <a:spcAft>
                <a:spcPts val="600"/>
              </a:spcAft>
            </a:pPr>
            <a:r>
              <a:rPr lang="en-US" sz="6400" b="1" dirty="0"/>
              <a:t>Transactions and payments</a:t>
            </a:r>
            <a:r>
              <a:rPr lang="en-US" sz="6400" dirty="0"/>
              <a:t>. Conducting financial activities such as receiving salaries and paying bills.</a:t>
            </a:r>
          </a:p>
          <a:p>
            <a:pPr marL="1543050" lvl="3" indent="-171450">
              <a:lnSpc>
                <a:spcPct val="120000"/>
              </a:lnSpc>
              <a:spcBef>
                <a:spcPts val="600"/>
              </a:spcBef>
              <a:spcAft>
                <a:spcPts val="600"/>
              </a:spcAft>
            </a:pPr>
            <a:r>
              <a:rPr lang="en-US" sz="6400" b="1" dirty="0"/>
              <a:t>Deposits and savings</a:t>
            </a:r>
            <a:r>
              <a:rPr lang="en-US" sz="6400" dirty="0"/>
              <a:t>. Offering secure means to save for emergencies, opportunities, and future planning. </a:t>
            </a:r>
          </a:p>
          <a:p>
            <a:pPr marL="1543050" lvl="3" indent="-171450">
              <a:lnSpc>
                <a:spcPct val="120000"/>
              </a:lnSpc>
              <a:spcBef>
                <a:spcPts val="600"/>
              </a:spcBef>
              <a:spcAft>
                <a:spcPts val="600"/>
              </a:spcAft>
            </a:pPr>
            <a:r>
              <a:rPr lang="en-US" sz="6400" b="1" dirty="0"/>
              <a:t>Credit. </a:t>
            </a:r>
            <a:r>
              <a:rPr lang="en-US" sz="6400" dirty="0"/>
              <a:t>Receiving loans and credit for personal, educational, healthcare, or business purposes.</a:t>
            </a:r>
          </a:p>
          <a:p>
            <a:pPr marL="1543050" lvl="3" indent="-171450">
              <a:lnSpc>
                <a:spcPct val="120000"/>
              </a:lnSpc>
              <a:spcBef>
                <a:spcPts val="600"/>
              </a:spcBef>
              <a:spcAft>
                <a:spcPts val="600"/>
              </a:spcAft>
            </a:pPr>
            <a:r>
              <a:rPr lang="en-US" sz="6400" b="1" dirty="0"/>
              <a:t>Insurance. </a:t>
            </a:r>
            <a:r>
              <a:rPr lang="en-US" sz="6400" dirty="0"/>
              <a:t>Using insurance to mitigate health, life, and business risks.</a:t>
            </a:r>
          </a:p>
          <a:p>
            <a:pPr>
              <a:lnSpc>
                <a:spcPct val="120000"/>
              </a:lnSpc>
              <a:spcBef>
                <a:spcPts val="600"/>
              </a:spcBef>
              <a:spcAft>
                <a:spcPts val="600"/>
              </a:spcAft>
            </a:pPr>
            <a:r>
              <a:rPr lang="en-US" sz="6400" dirty="0">
                <a:latin typeface="Arial"/>
                <a:cs typeface="Arial"/>
              </a:rPr>
              <a:t>Financial inclusion may encompass additional dimensions: quality, supporting users with financial literacy, protecting users, affordability. </a:t>
            </a:r>
          </a:p>
          <a:p>
            <a:endParaRPr lang="en-US" dirty="0"/>
          </a:p>
        </p:txBody>
      </p:sp>
    </p:spTree>
    <p:extLst>
      <p:ext uri="{BB962C8B-B14F-4D97-AF65-F5344CB8AC3E}">
        <p14:creationId xmlns:p14="http://schemas.microsoft.com/office/powerpoint/2010/main" val="406822518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F7313789-0C6C-FF48-D1C9-55DDF1359D07}"/>
              </a:ext>
            </a:extLst>
          </p:cNvPr>
          <p:cNvGraphicFramePr/>
          <p:nvPr/>
        </p:nvGraphicFramePr>
        <p:xfrm>
          <a:off x="-1352263" y="1580785"/>
          <a:ext cx="5481182" cy="47399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Rectangle 6">
            <a:extLst>
              <a:ext uri="{FF2B5EF4-FFF2-40B4-BE49-F238E27FC236}">
                <a16:creationId xmlns:a16="http://schemas.microsoft.com/office/drawing/2014/main" id="{1E987D37-6B93-C207-A23B-667D9B6B2EAF}"/>
              </a:ext>
            </a:extLst>
          </p:cNvPr>
          <p:cNvSpPr txBox="1">
            <a:spLocks noChangeArrowheads="1"/>
          </p:cNvSpPr>
          <p:nvPr/>
        </p:nvSpPr>
        <p:spPr>
          <a:xfrm>
            <a:off x="293369" y="1028701"/>
            <a:ext cx="3667125" cy="426720"/>
          </a:xfrm>
          <a:prstGeom prst="rect">
            <a:avLst/>
          </a:prstGeom>
        </p:spPr>
        <p:txBody>
          <a:bodyPr>
            <a:noAutofit/>
          </a:bodyPr>
          <a:lstStyle>
            <a:lvl1pPr marL="342900" indent="-342900" algn="l" defTabSz="914400" rtl="0" eaLnBrk="1" latinLnBrk="0" hangingPunct="1">
              <a:lnSpc>
                <a:spcPts val="2500"/>
              </a:lnSpc>
              <a:spcBef>
                <a:spcPts val="900"/>
              </a:spcBef>
              <a:buClr>
                <a:schemeClr val="tx1">
                  <a:lumMod val="75000"/>
                  <a:lumOff val="25000"/>
                </a:schemeClr>
              </a:buClr>
              <a:buSzPct val="120000"/>
              <a:buFont typeface="Wingdings" pitchFamily="2" charset="2"/>
              <a:buChar char="§"/>
              <a:defRPr sz="2500" kern="1200">
                <a:solidFill>
                  <a:schemeClr val="tx1"/>
                </a:solidFill>
                <a:latin typeface="Calibri" pitchFamily="34" charset="0"/>
                <a:ea typeface="+mn-ea"/>
                <a:cs typeface="Calibri" pitchFamily="34" charset="0"/>
              </a:defRPr>
            </a:lvl1pPr>
            <a:lvl2pPr marL="685800" indent="-336550" algn="l" defTabSz="914400" rtl="0" eaLnBrk="1" latinLnBrk="0" hangingPunct="1">
              <a:lnSpc>
                <a:spcPts val="2200"/>
              </a:lnSpc>
              <a:spcBef>
                <a:spcPts val="600"/>
              </a:spcBef>
              <a:buClr>
                <a:schemeClr val="tx1">
                  <a:lumMod val="75000"/>
                  <a:lumOff val="25000"/>
                </a:schemeClr>
              </a:buClr>
              <a:buSzPct val="135000"/>
              <a:buFont typeface="Arial" pitchFamily="34" charset="0"/>
              <a:buChar char="•"/>
              <a:defRPr sz="2200" kern="1200">
                <a:solidFill>
                  <a:schemeClr val="tx1"/>
                </a:solidFill>
                <a:latin typeface="Calibri" pitchFamily="34" charset="0"/>
                <a:ea typeface="+mn-ea"/>
                <a:cs typeface="Calibri" pitchFamily="34" charset="0"/>
              </a:defRPr>
            </a:lvl2pPr>
            <a:lvl3pPr marL="1035050" indent="-349250" algn="l" defTabSz="914400" rtl="0" eaLnBrk="1" latinLnBrk="0" hangingPunct="1">
              <a:lnSpc>
                <a:spcPts val="2000"/>
              </a:lnSpc>
              <a:spcBef>
                <a:spcPts val="500"/>
              </a:spcBef>
              <a:buClr>
                <a:schemeClr val="tx1">
                  <a:lumMod val="75000"/>
                  <a:lumOff val="25000"/>
                </a:schemeClr>
              </a:buClr>
              <a:buSzPct val="67000"/>
              <a:buFont typeface="Wingdings" pitchFamily="2" charset="2"/>
              <a:buChar char="v"/>
              <a:defRPr sz="1900" kern="1200">
                <a:solidFill>
                  <a:schemeClr val="tx1"/>
                </a:solidFill>
                <a:latin typeface="Calibri" pitchFamily="34" charset="0"/>
                <a:ea typeface="+mn-ea"/>
                <a:cs typeface="Calibri" pitchFamily="34" charset="0"/>
              </a:defRPr>
            </a:lvl3pPr>
            <a:lvl4pPr marL="1371600" indent="-336550" algn="l" defTabSz="914400" rtl="0" eaLnBrk="1" latinLnBrk="0" hangingPunct="1">
              <a:lnSpc>
                <a:spcPts val="1800"/>
              </a:lnSpc>
              <a:spcBef>
                <a:spcPts val="400"/>
              </a:spcBef>
              <a:buClr>
                <a:schemeClr val="tx1">
                  <a:lumMod val="75000"/>
                  <a:lumOff val="25000"/>
                </a:schemeClr>
              </a:buClr>
              <a:buFont typeface="Wingdings" pitchFamily="2" charset="2"/>
              <a:buChar char="§"/>
              <a:defRPr sz="1700" kern="1200">
                <a:solidFill>
                  <a:schemeClr val="tx1"/>
                </a:solidFill>
                <a:latin typeface="Calibri" pitchFamily="34" charset="0"/>
                <a:ea typeface="+mn-ea"/>
                <a:cs typeface="Calibri" pitchFamily="34" charset="0"/>
              </a:defRPr>
            </a:lvl4pPr>
            <a:lvl5pPr marL="1720850" indent="-349250" algn="l" defTabSz="914400" rtl="0" eaLnBrk="1" latinLnBrk="0" hangingPunct="1">
              <a:lnSpc>
                <a:spcPts val="1800"/>
              </a:lnSpc>
              <a:spcBef>
                <a:spcPts val="400"/>
              </a:spcBef>
              <a:buClr>
                <a:schemeClr val="tx1">
                  <a:lumMod val="75000"/>
                  <a:lumOff val="25000"/>
                </a:schemeClr>
              </a:buClr>
              <a:buFont typeface="Arial" pitchFamily="34" charset="0"/>
              <a:buChar char="•"/>
              <a:defRPr sz="1700" i="1" kern="1200">
                <a:solidFill>
                  <a:schemeClr val="tx1"/>
                </a:solidFill>
                <a:latin typeface="Calibri" pitchFamily="34" charset="0"/>
                <a:ea typeface="+mn-ea"/>
                <a:cs typeface="Calibri" pitchFamily="34" charset="0"/>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233363" lvl="1" indent="0" defTabSz="914314">
              <a:lnSpc>
                <a:spcPct val="100000"/>
              </a:lnSpc>
              <a:buClr>
                <a:schemeClr val="accent1"/>
              </a:buClr>
              <a:buSzPct val="100000"/>
              <a:buNone/>
              <a:defRPr/>
            </a:pPr>
            <a:r>
              <a:rPr lang="en-US" sz="2000" i="1">
                <a:latin typeface="+mn-lt"/>
                <a:cs typeface="Segoe UI" panose="020B0502040204020203" pitchFamily="34" charset="0"/>
              </a:rPr>
              <a:t>Financial health implies that individuals and households can</a:t>
            </a:r>
            <a:endParaRPr lang="en-US" sz="2000" i="1"/>
          </a:p>
        </p:txBody>
      </p:sp>
      <p:sp>
        <p:nvSpPr>
          <p:cNvPr id="3" name="Rectangle 6">
            <a:extLst>
              <a:ext uri="{FF2B5EF4-FFF2-40B4-BE49-F238E27FC236}">
                <a16:creationId xmlns:a16="http://schemas.microsoft.com/office/drawing/2014/main" id="{C227FBF3-8774-27EC-0886-5073809778CB}"/>
              </a:ext>
            </a:extLst>
          </p:cNvPr>
          <p:cNvSpPr txBox="1">
            <a:spLocks noChangeArrowheads="1"/>
          </p:cNvSpPr>
          <p:nvPr/>
        </p:nvSpPr>
        <p:spPr>
          <a:xfrm>
            <a:off x="4284997" y="1028701"/>
            <a:ext cx="7534405" cy="426720"/>
          </a:xfrm>
          <a:prstGeom prst="rect">
            <a:avLst/>
          </a:prstGeom>
        </p:spPr>
        <p:txBody>
          <a:bodyPr>
            <a:noAutofit/>
          </a:bodyPr>
          <a:lstStyle>
            <a:lvl1pPr marL="342900" indent="-342900" algn="l" defTabSz="914400" rtl="0" eaLnBrk="1" latinLnBrk="0" hangingPunct="1">
              <a:lnSpc>
                <a:spcPts val="2500"/>
              </a:lnSpc>
              <a:spcBef>
                <a:spcPts val="900"/>
              </a:spcBef>
              <a:buClr>
                <a:schemeClr val="tx1">
                  <a:lumMod val="75000"/>
                  <a:lumOff val="25000"/>
                </a:schemeClr>
              </a:buClr>
              <a:buSzPct val="120000"/>
              <a:buFont typeface="Wingdings" pitchFamily="2" charset="2"/>
              <a:buChar char="§"/>
              <a:defRPr sz="2500" kern="1200">
                <a:solidFill>
                  <a:schemeClr val="tx1"/>
                </a:solidFill>
                <a:latin typeface="Calibri" pitchFamily="34" charset="0"/>
                <a:ea typeface="+mn-ea"/>
                <a:cs typeface="Calibri" pitchFamily="34" charset="0"/>
              </a:defRPr>
            </a:lvl1pPr>
            <a:lvl2pPr marL="685800" indent="-336550" algn="l" defTabSz="914400" rtl="0" eaLnBrk="1" latinLnBrk="0" hangingPunct="1">
              <a:lnSpc>
                <a:spcPts val="2200"/>
              </a:lnSpc>
              <a:spcBef>
                <a:spcPts val="600"/>
              </a:spcBef>
              <a:buClr>
                <a:schemeClr val="tx1">
                  <a:lumMod val="75000"/>
                  <a:lumOff val="25000"/>
                </a:schemeClr>
              </a:buClr>
              <a:buSzPct val="135000"/>
              <a:buFont typeface="Arial" pitchFamily="34" charset="0"/>
              <a:buChar char="•"/>
              <a:defRPr sz="2200" kern="1200">
                <a:solidFill>
                  <a:schemeClr val="tx1"/>
                </a:solidFill>
                <a:latin typeface="Calibri" pitchFamily="34" charset="0"/>
                <a:ea typeface="+mn-ea"/>
                <a:cs typeface="Calibri" pitchFamily="34" charset="0"/>
              </a:defRPr>
            </a:lvl2pPr>
            <a:lvl3pPr marL="1035050" indent="-349250" algn="l" defTabSz="914400" rtl="0" eaLnBrk="1" latinLnBrk="0" hangingPunct="1">
              <a:lnSpc>
                <a:spcPts val="2000"/>
              </a:lnSpc>
              <a:spcBef>
                <a:spcPts val="500"/>
              </a:spcBef>
              <a:buClr>
                <a:schemeClr val="tx1">
                  <a:lumMod val="75000"/>
                  <a:lumOff val="25000"/>
                </a:schemeClr>
              </a:buClr>
              <a:buSzPct val="67000"/>
              <a:buFont typeface="Wingdings" pitchFamily="2" charset="2"/>
              <a:buChar char="v"/>
              <a:defRPr sz="1900" kern="1200">
                <a:solidFill>
                  <a:schemeClr val="tx1"/>
                </a:solidFill>
                <a:latin typeface="Calibri" pitchFamily="34" charset="0"/>
                <a:ea typeface="+mn-ea"/>
                <a:cs typeface="Calibri" pitchFamily="34" charset="0"/>
              </a:defRPr>
            </a:lvl3pPr>
            <a:lvl4pPr marL="1371600" indent="-336550" algn="l" defTabSz="914400" rtl="0" eaLnBrk="1" latinLnBrk="0" hangingPunct="1">
              <a:lnSpc>
                <a:spcPts val="1800"/>
              </a:lnSpc>
              <a:spcBef>
                <a:spcPts val="400"/>
              </a:spcBef>
              <a:buClr>
                <a:schemeClr val="tx1">
                  <a:lumMod val="75000"/>
                  <a:lumOff val="25000"/>
                </a:schemeClr>
              </a:buClr>
              <a:buFont typeface="Wingdings" pitchFamily="2" charset="2"/>
              <a:buChar char="§"/>
              <a:defRPr sz="1700" kern="1200">
                <a:solidFill>
                  <a:schemeClr val="tx1"/>
                </a:solidFill>
                <a:latin typeface="Calibri" pitchFamily="34" charset="0"/>
                <a:ea typeface="+mn-ea"/>
                <a:cs typeface="Calibri" pitchFamily="34" charset="0"/>
              </a:defRPr>
            </a:lvl4pPr>
            <a:lvl5pPr marL="1720850" indent="-349250" algn="l" defTabSz="914400" rtl="0" eaLnBrk="1" latinLnBrk="0" hangingPunct="1">
              <a:lnSpc>
                <a:spcPts val="1800"/>
              </a:lnSpc>
              <a:spcBef>
                <a:spcPts val="400"/>
              </a:spcBef>
              <a:buClr>
                <a:schemeClr val="tx1">
                  <a:lumMod val="75000"/>
                  <a:lumOff val="25000"/>
                </a:schemeClr>
              </a:buClr>
              <a:buFont typeface="Arial" pitchFamily="34" charset="0"/>
              <a:buChar char="•"/>
              <a:defRPr sz="1700" i="1" kern="1200">
                <a:solidFill>
                  <a:schemeClr val="tx1"/>
                </a:solidFill>
                <a:latin typeface="Calibri" pitchFamily="34" charset="0"/>
                <a:ea typeface="+mn-ea"/>
                <a:cs typeface="Calibri" pitchFamily="34" charset="0"/>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233363" lvl="1" indent="0" defTabSz="914314">
              <a:lnSpc>
                <a:spcPct val="100000"/>
              </a:lnSpc>
              <a:buClr>
                <a:schemeClr val="accent1"/>
              </a:buClr>
              <a:buSzPct val="100000"/>
              <a:buNone/>
              <a:defRPr/>
            </a:pPr>
            <a:r>
              <a:rPr lang="en-US" sz="2000" i="1">
                <a:latin typeface="+mn-lt"/>
                <a:cs typeface="Segoe UI" panose="020B0502040204020203" pitchFamily="34" charset="0"/>
              </a:rPr>
              <a:t>There are different variables that can reflect the state of an individual’s financial wellness</a:t>
            </a:r>
          </a:p>
        </p:txBody>
      </p:sp>
      <p:graphicFrame>
        <p:nvGraphicFramePr>
          <p:cNvPr id="4" name="Diagram 3">
            <a:extLst>
              <a:ext uri="{FF2B5EF4-FFF2-40B4-BE49-F238E27FC236}">
                <a16:creationId xmlns:a16="http://schemas.microsoft.com/office/drawing/2014/main" id="{9380BBB0-7869-663A-4804-D4A5F3CFEA77}"/>
              </a:ext>
            </a:extLst>
          </p:cNvPr>
          <p:cNvGraphicFramePr/>
          <p:nvPr/>
        </p:nvGraphicFramePr>
        <p:xfrm>
          <a:off x="4722496" y="1871353"/>
          <a:ext cx="6704904" cy="68951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6" name="Diagram 5">
            <a:extLst>
              <a:ext uri="{FF2B5EF4-FFF2-40B4-BE49-F238E27FC236}">
                <a16:creationId xmlns:a16="http://schemas.microsoft.com/office/drawing/2014/main" id="{8E574759-D3A5-303B-67CB-B954307E7576}"/>
              </a:ext>
            </a:extLst>
          </p:cNvPr>
          <p:cNvGraphicFramePr/>
          <p:nvPr/>
        </p:nvGraphicFramePr>
        <p:xfrm>
          <a:off x="4722496" y="2936319"/>
          <a:ext cx="6704904" cy="68951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7" name="Diagram 6">
            <a:extLst>
              <a:ext uri="{FF2B5EF4-FFF2-40B4-BE49-F238E27FC236}">
                <a16:creationId xmlns:a16="http://schemas.microsoft.com/office/drawing/2014/main" id="{F028EC6B-64B1-C922-08AD-B190C5AE5C97}"/>
              </a:ext>
            </a:extLst>
          </p:cNvPr>
          <p:cNvGraphicFramePr/>
          <p:nvPr/>
        </p:nvGraphicFramePr>
        <p:xfrm>
          <a:off x="4710631" y="4001286"/>
          <a:ext cx="6660402" cy="902176"/>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graphicFrame>
        <p:nvGraphicFramePr>
          <p:cNvPr id="8" name="Diagram 7">
            <a:extLst>
              <a:ext uri="{FF2B5EF4-FFF2-40B4-BE49-F238E27FC236}">
                <a16:creationId xmlns:a16="http://schemas.microsoft.com/office/drawing/2014/main" id="{29180D14-2195-B57D-C618-210E092A928E}"/>
              </a:ext>
            </a:extLst>
          </p:cNvPr>
          <p:cNvGraphicFramePr/>
          <p:nvPr/>
        </p:nvGraphicFramePr>
        <p:xfrm>
          <a:off x="4666129" y="5229751"/>
          <a:ext cx="6704904" cy="689511"/>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cxnSp>
        <p:nvCxnSpPr>
          <p:cNvPr id="17" name="Straight Connector 16">
            <a:extLst>
              <a:ext uri="{FF2B5EF4-FFF2-40B4-BE49-F238E27FC236}">
                <a16:creationId xmlns:a16="http://schemas.microsoft.com/office/drawing/2014/main" id="{8A4640D8-F012-7627-4689-66C2235D6E4C}"/>
              </a:ext>
            </a:extLst>
          </p:cNvPr>
          <p:cNvCxnSpPr/>
          <p:nvPr/>
        </p:nvCxnSpPr>
        <p:spPr>
          <a:xfrm>
            <a:off x="2563009" y="2218084"/>
            <a:ext cx="2103120" cy="0"/>
          </a:xfrm>
          <a:prstGeom prst="line">
            <a:avLst/>
          </a:prstGeom>
          <a:ln w="28575">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D1E123D-CC10-494A-0382-E3E447AC7F65}"/>
              </a:ext>
            </a:extLst>
          </p:cNvPr>
          <p:cNvCxnSpPr/>
          <p:nvPr/>
        </p:nvCxnSpPr>
        <p:spPr>
          <a:xfrm>
            <a:off x="2563009" y="3311998"/>
            <a:ext cx="2103120" cy="0"/>
          </a:xfrm>
          <a:prstGeom prst="line">
            <a:avLst/>
          </a:prstGeom>
          <a:ln w="28575">
            <a:solidFill>
              <a:schemeClr val="bg1">
                <a:lumMod val="50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76A6F75-8D99-E5A3-0D88-D6EC0741A168}"/>
              </a:ext>
            </a:extLst>
          </p:cNvPr>
          <p:cNvCxnSpPr/>
          <p:nvPr/>
        </p:nvCxnSpPr>
        <p:spPr>
          <a:xfrm>
            <a:off x="2551144" y="4399710"/>
            <a:ext cx="2103120" cy="0"/>
          </a:xfrm>
          <a:prstGeom prst="line">
            <a:avLst/>
          </a:prstGeom>
          <a:ln w="28575">
            <a:solidFill>
              <a:srgbClr val="004C97"/>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F27AD23-2F43-76CC-D101-39B97076C6C8}"/>
              </a:ext>
            </a:extLst>
          </p:cNvPr>
          <p:cNvCxnSpPr/>
          <p:nvPr/>
        </p:nvCxnSpPr>
        <p:spPr>
          <a:xfrm>
            <a:off x="2506642" y="5582027"/>
            <a:ext cx="2103120" cy="0"/>
          </a:xfrm>
          <a:prstGeom prst="line">
            <a:avLst/>
          </a:prstGeom>
          <a:ln w="28575">
            <a:solidFill>
              <a:srgbClr val="6EB9EC"/>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CE53DF2A-41B5-2728-957D-BED1E7E87CF1}"/>
              </a:ext>
            </a:extLst>
          </p:cNvPr>
          <p:cNvSpPr>
            <a:spLocks noGrp="1"/>
          </p:cNvSpPr>
          <p:nvPr>
            <p:ph type="title"/>
          </p:nvPr>
        </p:nvSpPr>
        <p:spPr>
          <a:xfrm>
            <a:off x="1302463" y="-833930"/>
            <a:ext cx="3595205" cy="854884"/>
          </a:xfrm>
        </p:spPr>
        <p:txBody>
          <a:bodyPr>
            <a:normAutofit/>
          </a:bodyPr>
          <a:lstStyle/>
          <a:p>
            <a:r>
              <a:rPr lang="en-US" sz="2800">
                <a:latin typeface="Arial Black"/>
              </a:rPr>
              <a:t>Financial Health</a:t>
            </a:r>
          </a:p>
        </p:txBody>
      </p:sp>
      <p:sp>
        <p:nvSpPr>
          <p:cNvPr id="10" name="Text Placeholder 4">
            <a:extLst>
              <a:ext uri="{FF2B5EF4-FFF2-40B4-BE49-F238E27FC236}">
                <a16:creationId xmlns:a16="http://schemas.microsoft.com/office/drawing/2014/main" id="{BC302C19-AC43-0491-6AA1-59AB4AB16EC9}"/>
              </a:ext>
            </a:extLst>
          </p:cNvPr>
          <p:cNvSpPr txBox="1">
            <a:spLocks/>
          </p:cNvSpPr>
          <p:nvPr/>
        </p:nvSpPr>
        <p:spPr>
          <a:xfrm>
            <a:off x="1302463" y="194670"/>
            <a:ext cx="12179845" cy="68509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Clr>
                <a:schemeClr val="accent1"/>
              </a:buClr>
              <a:buFont typeface="Arial" panose="020B0604020202020204" pitchFamily="34" charset="0"/>
              <a:buNone/>
            </a:pPr>
            <a:r>
              <a:rPr lang="en-US" sz="2400" dirty="0">
                <a:solidFill>
                  <a:schemeClr val="bg1"/>
                </a:solidFill>
                <a:latin typeface="Arial Black" panose="020B0A04020102020204" pitchFamily="34" charset="0"/>
                <a:cs typeface="+mn-cs"/>
              </a:rPr>
              <a:t>Financial Health: measuring financial well-being outcomes</a:t>
            </a:r>
            <a:endParaRPr lang="en-US" sz="2400" b="1" dirty="0">
              <a:solidFill>
                <a:schemeClr val="bg1"/>
              </a:solidFill>
            </a:endParaRPr>
          </a:p>
        </p:txBody>
      </p:sp>
    </p:spTree>
    <p:extLst>
      <p:ext uri="{BB962C8B-B14F-4D97-AF65-F5344CB8AC3E}">
        <p14:creationId xmlns:p14="http://schemas.microsoft.com/office/powerpoint/2010/main" val="1847610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9CAF2-D443-6689-07BE-9EE7F8765B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C7984-E005-238B-DF0B-E5FCF205F5A9}"/>
              </a:ext>
            </a:extLst>
          </p:cNvPr>
          <p:cNvSpPr>
            <a:spLocks noGrp="1"/>
          </p:cNvSpPr>
          <p:nvPr>
            <p:ph type="title"/>
          </p:nvPr>
        </p:nvSpPr>
        <p:spPr/>
        <p:txBody>
          <a:bodyPr/>
          <a:lstStyle/>
          <a:p>
            <a:r>
              <a:rPr lang="en-US" b="1"/>
              <a:t>Financial Inclusion and Macroeconomic Implications</a:t>
            </a:r>
          </a:p>
        </p:txBody>
      </p:sp>
    </p:spTree>
    <p:extLst>
      <p:ext uri="{BB962C8B-B14F-4D97-AF65-F5344CB8AC3E}">
        <p14:creationId xmlns:p14="http://schemas.microsoft.com/office/powerpoint/2010/main" val="296878243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3B3C8924-ED5E-1794-27FF-0F89DE8C8DA8}"/>
              </a:ext>
            </a:extLst>
          </p:cNvPr>
          <p:cNvSpPr>
            <a:spLocks noGrp="1"/>
          </p:cNvSpPr>
          <p:nvPr>
            <p:ph type="title"/>
          </p:nvPr>
        </p:nvSpPr>
        <p:spPr>
          <a:xfrm>
            <a:off x="1496788" y="0"/>
            <a:ext cx="11319699" cy="978486"/>
          </a:xfrm>
        </p:spPr>
        <p:txBody>
          <a:bodyPr>
            <a:noAutofit/>
          </a:bodyPr>
          <a:lstStyle/>
          <a:p>
            <a:pPr lvl="1"/>
            <a:r>
              <a:rPr lang="en-US" sz="2800" b="1">
                <a:solidFill>
                  <a:schemeClr val="bg1"/>
                </a:solidFill>
                <a:latin typeface="Arial Black" panose="020B0A04020102020204" pitchFamily="34" charset="0"/>
              </a:rPr>
              <a:t>Financial Inclusion: A Catalyst for Inclusive Growth</a:t>
            </a:r>
          </a:p>
        </p:txBody>
      </p:sp>
      <p:sp>
        <p:nvSpPr>
          <p:cNvPr id="6" name="Text Placeholder 5">
            <a:extLst>
              <a:ext uri="{FF2B5EF4-FFF2-40B4-BE49-F238E27FC236}">
                <a16:creationId xmlns:a16="http://schemas.microsoft.com/office/drawing/2014/main" id="{9E2919AD-887F-27F6-CED0-AE4017DDA3A8}"/>
              </a:ext>
            </a:extLst>
          </p:cNvPr>
          <p:cNvSpPr>
            <a:spLocks noGrp="1"/>
          </p:cNvSpPr>
          <p:nvPr>
            <p:ph type="body" sz="quarter" idx="10"/>
          </p:nvPr>
        </p:nvSpPr>
        <p:spPr>
          <a:xfrm>
            <a:off x="736224" y="1437144"/>
            <a:ext cx="10719551" cy="867593"/>
          </a:xfrm>
        </p:spPr>
        <p:txBody>
          <a:bodyPr>
            <a:normAutofit/>
          </a:bodyPr>
          <a:lstStyle/>
          <a:p>
            <a:pPr marL="0" indent="0">
              <a:buNone/>
            </a:pPr>
            <a:r>
              <a:rPr lang="en-US" sz="1800" b="1">
                <a:solidFill>
                  <a:srgbClr val="004C97"/>
                </a:solidFill>
                <a:latin typeface="Arial Black" panose="020B0A04020102020204" pitchFamily="34" charset="0"/>
                <a:cs typeface="+mn-cs"/>
              </a:rPr>
              <a:t>Financial inclusion serves as a catalyst not only for economic growth but crucially for </a:t>
            </a:r>
            <a:r>
              <a:rPr lang="en-US" sz="1800" b="1" u="sng">
                <a:solidFill>
                  <a:srgbClr val="004C97"/>
                </a:solidFill>
                <a:latin typeface="Arial Black" panose="020B0A04020102020204" pitchFamily="34" charset="0"/>
                <a:cs typeface="+mn-cs"/>
              </a:rPr>
              <a:t>inclusive growth</a:t>
            </a:r>
            <a:r>
              <a:rPr lang="en-US" sz="1800" b="1">
                <a:solidFill>
                  <a:srgbClr val="004C97"/>
                </a:solidFill>
                <a:latin typeface="Arial Black" panose="020B0A04020102020204" pitchFamily="34" charset="0"/>
                <a:cs typeface="+mn-cs"/>
              </a:rPr>
              <a:t>, supporting the reduction of poverty </a:t>
            </a:r>
            <a:r>
              <a:rPr lang="en-US" sz="1800" b="1" u="sng">
                <a:solidFill>
                  <a:srgbClr val="004C97"/>
                </a:solidFill>
                <a:latin typeface="Arial Black" panose="020B0A04020102020204" pitchFamily="34" charset="0"/>
                <a:cs typeface="+mn-cs"/>
              </a:rPr>
              <a:t>and inequality</a:t>
            </a:r>
          </a:p>
          <a:p>
            <a:endParaRPr lang="en-US" b="1"/>
          </a:p>
        </p:txBody>
      </p:sp>
      <p:sp>
        <p:nvSpPr>
          <p:cNvPr id="3" name="TextBox 2">
            <a:extLst>
              <a:ext uri="{FF2B5EF4-FFF2-40B4-BE49-F238E27FC236}">
                <a16:creationId xmlns:a16="http://schemas.microsoft.com/office/drawing/2014/main" id="{B877AA47-C208-A037-1A0F-D7FC1CE5E6BE}"/>
              </a:ext>
            </a:extLst>
          </p:cNvPr>
          <p:cNvSpPr txBox="1"/>
          <p:nvPr/>
        </p:nvSpPr>
        <p:spPr>
          <a:xfrm>
            <a:off x="892629" y="2681798"/>
            <a:ext cx="10563145" cy="646331"/>
          </a:xfrm>
          <a:prstGeom prst="rect">
            <a:avLst/>
          </a:prstGeom>
          <a:noFill/>
        </p:spPr>
        <p:txBody>
          <a:bodyPr wrap="square">
            <a:spAutoFit/>
          </a:bodyPr>
          <a:lstStyle/>
          <a:p>
            <a:pPr marL="342900" indent="-342900">
              <a:buFont typeface="Wingdings" panose="05000000000000000000" pitchFamily="2" charset="2"/>
              <a:buChar char="§"/>
            </a:pPr>
            <a:endParaRPr lang="en-US" sz="1800"/>
          </a:p>
          <a:p>
            <a:pPr marL="342900" indent="-342900">
              <a:buFont typeface="Wingdings" panose="05000000000000000000" pitchFamily="2" charset="2"/>
              <a:buChar char="§"/>
            </a:pPr>
            <a:endParaRPr lang="en-US" sz="1800"/>
          </a:p>
        </p:txBody>
      </p:sp>
      <p:sp>
        <p:nvSpPr>
          <p:cNvPr id="8" name="TextBox 7">
            <a:extLst>
              <a:ext uri="{FF2B5EF4-FFF2-40B4-BE49-F238E27FC236}">
                <a16:creationId xmlns:a16="http://schemas.microsoft.com/office/drawing/2014/main" id="{82F0A167-4BC2-3E7C-3DD4-E42FDED0DB1E}"/>
              </a:ext>
            </a:extLst>
          </p:cNvPr>
          <p:cNvSpPr txBox="1"/>
          <p:nvPr/>
        </p:nvSpPr>
        <p:spPr>
          <a:xfrm>
            <a:off x="1680834" y="2681798"/>
            <a:ext cx="9576636" cy="646331"/>
          </a:xfrm>
          <a:prstGeom prst="rect">
            <a:avLst/>
          </a:prstGeom>
          <a:noFill/>
        </p:spPr>
        <p:txBody>
          <a:bodyPr wrap="square">
            <a:spAutoFit/>
          </a:bodyPr>
          <a:lstStyle/>
          <a:p>
            <a:r>
              <a:rPr lang="en-US" sz="1800"/>
              <a:t>Providing individuals and businesses with </a:t>
            </a:r>
            <a:r>
              <a:rPr lang="en-US" sz="1800" b="1"/>
              <a:t>access to capital, allowing them to invest in education, healthcare, and income-generating activities</a:t>
            </a:r>
            <a:r>
              <a:rPr lang="en-US" sz="1800"/>
              <a:t>.</a:t>
            </a:r>
          </a:p>
        </p:txBody>
      </p:sp>
      <p:sp>
        <p:nvSpPr>
          <p:cNvPr id="11" name="TextBox 10">
            <a:extLst>
              <a:ext uri="{FF2B5EF4-FFF2-40B4-BE49-F238E27FC236}">
                <a16:creationId xmlns:a16="http://schemas.microsoft.com/office/drawing/2014/main" id="{C68EC49C-B47E-F0A6-3B67-EB5EDD0869A4}"/>
              </a:ext>
            </a:extLst>
          </p:cNvPr>
          <p:cNvSpPr txBox="1"/>
          <p:nvPr/>
        </p:nvSpPr>
        <p:spPr>
          <a:xfrm>
            <a:off x="1680834" y="3597399"/>
            <a:ext cx="9774940" cy="646331"/>
          </a:xfrm>
          <a:prstGeom prst="rect">
            <a:avLst/>
          </a:prstGeom>
          <a:noFill/>
        </p:spPr>
        <p:txBody>
          <a:bodyPr wrap="square">
            <a:spAutoFit/>
          </a:bodyPr>
          <a:lstStyle/>
          <a:p>
            <a:r>
              <a:rPr lang="en-US" sz="1800"/>
              <a:t>Helping underserved groups </a:t>
            </a:r>
            <a:r>
              <a:rPr lang="en-US" sz="1800" b="1"/>
              <a:t>smooth their consumption, manage their financial risks, and invest in the future</a:t>
            </a:r>
            <a:r>
              <a:rPr lang="en-US" sz="1800"/>
              <a:t> – thereby reducing poverty and inequality.</a:t>
            </a:r>
          </a:p>
        </p:txBody>
      </p:sp>
      <p:pic>
        <p:nvPicPr>
          <p:cNvPr id="23" name="Graphic 22" descr="Classroom outline">
            <a:extLst>
              <a:ext uri="{FF2B5EF4-FFF2-40B4-BE49-F238E27FC236}">
                <a16:creationId xmlns:a16="http://schemas.microsoft.com/office/drawing/2014/main" id="{97AC7792-0C8D-2171-462A-6C51E2E1B9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7817" y="2558676"/>
            <a:ext cx="914400" cy="914400"/>
          </a:xfrm>
          <a:prstGeom prst="rect">
            <a:avLst/>
          </a:prstGeom>
        </p:spPr>
      </p:pic>
      <p:pic>
        <p:nvPicPr>
          <p:cNvPr id="25" name="Graphic 24" descr="Piggy Bank outline">
            <a:extLst>
              <a:ext uri="{FF2B5EF4-FFF2-40B4-BE49-F238E27FC236}">
                <a16:creationId xmlns:a16="http://schemas.microsoft.com/office/drawing/2014/main" id="{D6223835-6C17-126C-B190-9F8F2A51589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1885" y="3415000"/>
            <a:ext cx="914400" cy="914400"/>
          </a:xfrm>
          <a:prstGeom prst="rect">
            <a:avLst/>
          </a:prstGeom>
        </p:spPr>
      </p:pic>
      <p:sp>
        <p:nvSpPr>
          <p:cNvPr id="7" name="TextBox 6">
            <a:extLst>
              <a:ext uri="{FF2B5EF4-FFF2-40B4-BE49-F238E27FC236}">
                <a16:creationId xmlns:a16="http://schemas.microsoft.com/office/drawing/2014/main" id="{CEE2771A-8195-18C9-0014-882E6CC90CC2}"/>
              </a:ext>
            </a:extLst>
          </p:cNvPr>
          <p:cNvSpPr txBox="1"/>
          <p:nvPr/>
        </p:nvSpPr>
        <p:spPr>
          <a:xfrm>
            <a:off x="1680834" y="4611409"/>
            <a:ext cx="9576636" cy="646331"/>
          </a:xfrm>
          <a:prstGeom prst="rect">
            <a:avLst/>
          </a:prstGeom>
          <a:noFill/>
        </p:spPr>
        <p:txBody>
          <a:bodyPr wrap="square">
            <a:spAutoFit/>
          </a:bodyPr>
          <a:lstStyle/>
          <a:p>
            <a:r>
              <a:rPr lang="en-US" sz="1800"/>
              <a:t>Making available the access and use of financial services to a </a:t>
            </a:r>
            <a:r>
              <a:rPr lang="en-US" sz="1800" b="1"/>
              <a:t>broad spectrum of society</a:t>
            </a:r>
            <a:r>
              <a:rPr lang="en-US" sz="1800"/>
              <a:t>, especially under-served groups </a:t>
            </a:r>
            <a:r>
              <a:rPr lang="en-US" sz="1800" b="1"/>
              <a:t>including women</a:t>
            </a:r>
            <a:r>
              <a:rPr lang="en-US" sz="1800"/>
              <a:t>; thus enabling them to </a:t>
            </a:r>
            <a:r>
              <a:rPr lang="en-US" sz="1800" b="1"/>
              <a:t>benefit from economic growth</a:t>
            </a:r>
            <a:r>
              <a:rPr lang="en-US" sz="1800"/>
              <a:t>. </a:t>
            </a:r>
          </a:p>
        </p:txBody>
      </p:sp>
      <p:pic>
        <p:nvPicPr>
          <p:cNvPr id="10" name="Graphic 9" descr="Female with solid fill">
            <a:extLst>
              <a:ext uri="{FF2B5EF4-FFF2-40B4-BE49-F238E27FC236}">
                <a16:creationId xmlns:a16="http://schemas.microsoft.com/office/drawing/2014/main" id="{3ED86FF4-FA79-4DB6-D8C4-A0F8D802FB8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7817" y="4611409"/>
            <a:ext cx="914400" cy="914400"/>
          </a:xfrm>
          <a:prstGeom prst="rect">
            <a:avLst/>
          </a:prstGeom>
        </p:spPr>
      </p:pic>
    </p:spTree>
    <p:extLst>
      <p:ext uri="{BB962C8B-B14F-4D97-AF65-F5344CB8AC3E}">
        <p14:creationId xmlns:p14="http://schemas.microsoft.com/office/powerpoint/2010/main" val="294485831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3B3C8924-ED5E-1794-27FF-0F89DE8C8DA8}"/>
              </a:ext>
            </a:extLst>
          </p:cNvPr>
          <p:cNvSpPr>
            <a:spLocks noGrp="1"/>
          </p:cNvSpPr>
          <p:nvPr>
            <p:ph type="title"/>
          </p:nvPr>
        </p:nvSpPr>
        <p:spPr>
          <a:xfrm>
            <a:off x="1486825" y="0"/>
            <a:ext cx="9715500" cy="978486"/>
          </a:xfrm>
        </p:spPr>
        <p:txBody>
          <a:bodyPr/>
          <a:lstStyle/>
          <a:p>
            <a:r>
              <a:rPr lang="en-US">
                <a:solidFill>
                  <a:schemeClr val="bg1"/>
                </a:solidFill>
              </a:rPr>
              <a:t>Financial Inclusion and Some Macro-economic Implications</a:t>
            </a:r>
          </a:p>
        </p:txBody>
      </p:sp>
      <p:sp>
        <p:nvSpPr>
          <p:cNvPr id="2" name="Text Placeholder 4">
            <a:extLst>
              <a:ext uri="{FF2B5EF4-FFF2-40B4-BE49-F238E27FC236}">
                <a16:creationId xmlns:a16="http://schemas.microsoft.com/office/drawing/2014/main" id="{8E060448-BC38-C1AB-9FEC-08ADA1E7D01D}"/>
              </a:ext>
            </a:extLst>
          </p:cNvPr>
          <p:cNvSpPr>
            <a:spLocks noGrp="1"/>
          </p:cNvSpPr>
          <p:nvPr>
            <p:ph type="body" sz="quarter" idx="10"/>
          </p:nvPr>
        </p:nvSpPr>
        <p:spPr>
          <a:xfrm>
            <a:off x="621321" y="1195564"/>
            <a:ext cx="11446508" cy="1307004"/>
          </a:xfrm>
        </p:spPr>
        <p:txBody>
          <a:bodyPr>
            <a:normAutofit/>
          </a:bodyPr>
          <a:lstStyle/>
          <a:p>
            <a:pPr marL="0" indent="0">
              <a:lnSpc>
                <a:spcPct val="120000"/>
              </a:lnSpc>
              <a:buClr>
                <a:schemeClr val="accent1"/>
              </a:buClr>
              <a:buNone/>
            </a:pPr>
            <a:r>
              <a:rPr lang="en-US" sz="2200">
                <a:solidFill>
                  <a:srgbClr val="004C97"/>
                </a:solidFill>
                <a:latin typeface="Arial Black" panose="020B0A04020102020204" pitchFamily="34" charset="0"/>
                <a:cs typeface="+mn-cs"/>
              </a:rPr>
              <a:t>Empirical literature suggests beneficial effects on labor markets and fiscal outcomes.</a:t>
            </a:r>
            <a:endParaRPr lang="en-US" sz="2100" b="1">
              <a:latin typeface="Arial" panose="020B0604020202020204" pitchFamily="34" charset="0"/>
            </a:endParaRPr>
          </a:p>
        </p:txBody>
      </p:sp>
      <p:pic>
        <p:nvPicPr>
          <p:cNvPr id="5" name="Graphic 4" descr="Business Growth with solid fill">
            <a:extLst>
              <a:ext uri="{FF2B5EF4-FFF2-40B4-BE49-F238E27FC236}">
                <a16:creationId xmlns:a16="http://schemas.microsoft.com/office/drawing/2014/main" id="{869A62B6-BC52-B5FF-1237-ADCDCFE4C65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6365" y="2579083"/>
            <a:ext cx="914400" cy="914400"/>
          </a:xfrm>
          <a:prstGeom prst="rect">
            <a:avLst/>
          </a:prstGeom>
        </p:spPr>
      </p:pic>
      <p:pic>
        <p:nvPicPr>
          <p:cNvPr id="7" name="Graphic 6" descr="Briefcase with solid fill">
            <a:extLst>
              <a:ext uri="{FF2B5EF4-FFF2-40B4-BE49-F238E27FC236}">
                <a16:creationId xmlns:a16="http://schemas.microsoft.com/office/drawing/2014/main" id="{67ABFE1C-0CCB-C2C7-3B8B-A0F3F91BA49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7190" y="4199384"/>
            <a:ext cx="914400" cy="914400"/>
          </a:xfrm>
          <a:prstGeom prst="rect">
            <a:avLst/>
          </a:prstGeom>
        </p:spPr>
      </p:pic>
      <p:sp>
        <p:nvSpPr>
          <p:cNvPr id="6" name="TextBox 5">
            <a:extLst>
              <a:ext uri="{FF2B5EF4-FFF2-40B4-BE49-F238E27FC236}">
                <a16:creationId xmlns:a16="http://schemas.microsoft.com/office/drawing/2014/main" id="{3BA02143-234B-05FD-CA79-DCF215BA9FC1}"/>
              </a:ext>
            </a:extLst>
          </p:cNvPr>
          <p:cNvSpPr txBox="1"/>
          <p:nvPr/>
        </p:nvSpPr>
        <p:spPr>
          <a:xfrm>
            <a:off x="1721239" y="4289016"/>
            <a:ext cx="9487035" cy="1261884"/>
          </a:xfrm>
          <a:prstGeom prst="rect">
            <a:avLst/>
          </a:prstGeom>
          <a:noFill/>
        </p:spPr>
        <p:txBody>
          <a:bodyPr wrap="square">
            <a:spAutoFit/>
          </a:bodyPr>
          <a:lstStyle/>
          <a:p>
            <a:r>
              <a:rPr lang="en-US" sz="2000" b="1" dirty="0"/>
              <a:t>Fiscal Policy: tax base and taxable income (revenue), </a:t>
            </a:r>
            <a:r>
              <a:rPr lang="en-US" sz="2000" b="1" u="sng" dirty="0"/>
              <a:t>target social spending effectively  </a:t>
            </a:r>
            <a:r>
              <a:rPr lang="en-US" sz="2000" b="1" dirty="0"/>
              <a:t>(expenditure) (Mathai et al., 2020)  </a:t>
            </a:r>
          </a:p>
          <a:p>
            <a:endParaRPr lang="en-US" sz="1800" b="1" dirty="0"/>
          </a:p>
          <a:p>
            <a:endParaRPr lang="en-US" sz="1800" b="1" dirty="0"/>
          </a:p>
        </p:txBody>
      </p:sp>
      <p:sp>
        <p:nvSpPr>
          <p:cNvPr id="11" name="TextBox 10">
            <a:extLst>
              <a:ext uri="{FF2B5EF4-FFF2-40B4-BE49-F238E27FC236}">
                <a16:creationId xmlns:a16="http://schemas.microsoft.com/office/drawing/2014/main" id="{22B8AD53-3207-5B87-983E-B72D1505A707}"/>
              </a:ext>
            </a:extLst>
          </p:cNvPr>
          <p:cNvSpPr txBox="1"/>
          <p:nvPr/>
        </p:nvSpPr>
        <p:spPr>
          <a:xfrm>
            <a:off x="1622759" y="2308972"/>
            <a:ext cx="9487034" cy="2123658"/>
          </a:xfrm>
          <a:prstGeom prst="rect">
            <a:avLst/>
          </a:prstGeom>
          <a:noFill/>
        </p:spPr>
        <p:txBody>
          <a:bodyPr wrap="square">
            <a:spAutoFit/>
          </a:bodyPr>
          <a:lstStyle/>
          <a:p>
            <a:r>
              <a:rPr lang="en-US" sz="2000" b="1" dirty="0"/>
              <a:t>Labor market implications: Spur entrepreneurship, job creation, and income generating activities growth (Beck and Levine, 2018)</a:t>
            </a:r>
          </a:p>
          <a:p>
            <a:r>
              <a:rPr lang="en-US" dirty="0">
                <a:latin typeface="Arial" panose="020B0604020202020204" pitchFamily="34" charset="0"/>
                <a:ea typeface="SimSun" panose="02010600030101010101" pitchFamily="2" charset="-122"/>
                <a:cs typeface="Times New Roman" panose="02020603050405020304" pitchFamily="18" charset="0"/>
              </a:rPr>
              <a:t>In particular: access to financial services </a:t>
            </a:r>
            <a:r>
              <a:rPr lang="en-US" b="1" dirty="0">
                <a:latin typeface="Arial" panose="020B0604020202020204" pitchFamily="34" charset="0"/>
                <a:ea typeface="SimSun" panose="02010600030101010101" pitchFamily="2" charset="-122"/>
                <a:cs typeface="Times New Roman" panose="02020603050405020304" pitchFamily="18" charset="0"/>
              </a:rPr>
              <a:t>helps women enter the labor market</a:t>
            </a:r>
            <a:r>
              <a:rPr lang="en-US" dirty="0">
                <a:latin typeface="Arial" panose="020B0604020202020204" pitchFamily="34" charset="0"/>
                <a:ea typeface="SimSun" panose="02010600030101010101" pitchFamily="2" charset="-122"/>
                <a:cs typeface="Times New Roman" panose="02020603050405020304" pitchFamily="18" charset="0"/>
              </a:rPr>
              <a:t>, either by fostering entrepreneurship or enabling the transition from unpaid domestic work to paid employment (CGAP, 2021).</a:t>
            </a:r>
          </a:p>
          <a:p>
            <a:endParaRPr lang="en-US" sz="2000" b="1" dirty="0"/>
          </a:p>
          <a:p>
            <a:endParaRPr lang="en-US" b="1" dirty="0"/>
          </a:p>
        </p:txBody>
      </p:sp>
      <p:pic>
        <p:nvPicPr>
          <p:cNvPr id="3" name="Graphic 2" descr="Professor female outline">
            <a:extLst>
              <a:ext uri="{FF2B5EF4-FFF2-40B4-BE49-F238E27FC236}">
                <a16:creationId xmlns:a16="http://schemas.microsoft.com/office/drawing/2014/main" id="{0518CFBF-49BF-1ADF-938F-8867E14C66A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6526" y="5391467"/>
            <a:ext cx="914400" cy="914400"/>
          </a:xfrm>
          <a:prstGeom prst="rect">
            <a:avLst/>
          </a:prstGeom>
        </p:spPr>
      </p:pic>
      <p:sp>
        <p:nvSpPr>
          <p:cNvPr id="8" name="TextBox 7">
            <a:extLst>
              <a:ext uri="{FF2B5EF4-FFF2-40B4-BE49-F238E27FC236}">
                <a16:creationId xmlns:a16="http://schemas.microsoft.com/office/drawing/2014/main" id="{3FAF4D7C-BC89-4C29-1556-D6CFC731D281}"/>
              </a:ext>
            </a:extLst>
          </p:cNvPr>
          <p:cNvSpPr txBox="1"/>
          <p:nvPr/>
        </p:nvSpPr>
        <p:spPr>
          <a:xfrm>
            <a:off x="1721239" y="5314952"/>
            <a:ext cx="9481086" cy="750847"/>
          </a:xfrm>
          <a:prstGeom prst="rect">
            <a:avLst/>
          </a:prstGeom>
          <a:noFill/>
        </p:spPr>
        <p:txBody>
          <a:bodyPr wrap="square">
            <a:spAutoFit/>
          </a:bodyPr>
          <a:lstStyle/>
          <a:p>
            <a:pPr marL="285750" marR="0" indent="-285750">
              <a:lnSpc>
                <a:spcPct val="125000"/>
              </a:lnSpc>
              <a:spcBef>
                <a:spcPts val="800"/>
              </a:spcBef>
              <a:spcAft>
                <a:spcPts val="0"/>
              </a:spcAft>
              <a:buFont typeface="Wingdings" panose="05000000000000000000" pitchFamily="2" charset="2"/>
              <a:buChar char="§"/>
            </a:pPr>
            <a:r>
              <a:rPr lang="en-US" sz="1800" dirty="0">
                <a:latin typeface="Arial" panose="020B0604020202020204" pitchFamily="34" charset="0"/>
                <a:ea typeface="SimSun" panose="02010600030101010101" pitchFamily="2" charset="-122"/>
                <a:cs typeface="Times New Roman" panose="02020603050405020304" pitchFamily="18" charset="0"/>
              </a:rPr>
              <a:t>Women’s financial inclusion is associated with </a:t>
            </a:r>
            <a:r>
              <a:rPr lang="en-US" sz="1800" b="1" dirty="0">
                <a:latin typeface="Arial" panose="020B0604020202020204" pitchFamily="34" charset="0"/>
                <a:ea typeface="SimSun" panose="02010600030101010101" pitchFamily="2" charset="-122"/>
                <a:cs typeface="Times New Roman" panose="02020603050405020304" pitchFamily="18" charset="0"/>
              </a:rPr>
              <a:t>better outcomes in human capital, such as improved daughters’ education </a:t>
            </a:r>
            <a:r>
              <a:rPr lang="en-US" sz="1800" dirty="0">
                <a:latin typeface="Arial" panose="020B0604020202020204" pitchFamily="34" charset="0"/>
                <a:ea typeface="SimSun" panose="02010600030101010101" pitchFamily="2" charset="-122"/>
                <a:cs typeface="Times New Roman" panose="02020603050405020304" pitchFamily="18" charset="0"/>
              </a:rPr>
              <a:t>(</a:t>
            </a:r>
            <a:r>
              <a:rPr lang="en-US" sz="1800" dirty="0" err="1">
                <a:latin typeface="Arial" panose="020B0604020202020204" pitchFamily="34" charset="0"/>
                <a:ea typeface="SimSun" panose="02010600030101010101" pitchFamily="2" charset="-122"/>
                <a:cs typeface="Times New Roman" panose="02020603050405020304" pitchFamily="18" charset="0"/>
              </a:rPr>
              <a:t>Chiapa</a:t>
            </a:r>
            <a:r>
              <a:rPr lang="en-US" sz="1800" dirty="0">
                <a:latin typeface="Arial" panose="020B0604020202020204" pitchFamily="34" charset="0"/>
                <a:ea typeface="SimSun" panose="02010600030101010101" pitchFamily="2" charset="-122"/>
                <a:cs typeface="Times New Roman" panose="02020603050405020304" pitchFamily="18" charset="0"/>
              </a:rPr>
              <a:t> et al. 2015).</a:t>
            </a:r>
          </a:p>
        </p:txBody>
      </p:sp>
    </p:spTree>
    <p:extLst>
      <p:ext uri="{BB962C8B-B14F-4D97-AF65-F5344CB8AC3E}">
        <p14:creationId xmlns:p14="http://schemas.microsoft.com/office/powerpoint/2010/main" val="238138785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AEDB7-8C42-1049-8D4C-110CB2584AD0}"/>
              </a:ext>
            </a:extLst>
          </p:cNvPr>
          <p:cNvSpPr>
            <a:spLocks noGrp="1"/>
          </p:cNvSpPr>
          <p:nvPr>
            <p:ph type="title"/>
          </p:nvPr>
        </p:nvSpPr>
        <p:spPr>
          <a:xfrm>
            <a:off x="1512570" y="0"/>
            <a:ext cx="9715500" cy="978486"/>
          </a:xfrm>
        </p:spPr>
        <p:txBody>
          <a:bodyPr/>
          <a:lstStyle/>
          <a:p>
            <a:r>
              <a:rPr lang="en-US">
                <a:solidFill>
                  <a:schemeClr val="bg1"/>
                </a:solidFill>
              </a:rPr>
              <a:t>Financial Inclusion and Monetary Implications</a:t>
            </a:r>
          </a:p>
        </p:txBody>
      </p:sp>
      <p:sp>
        <p:nvSpPr>
          <p:cNvPr id="6" name="TextBox 5">
            <a:extLst>
              <a:ext uri="{FF2B5EF4-FFF2-40B4-BE49-F238E27FC236}">
                <a16:creationId xmlns:a16="http://schemas.microsoft.com/office/drawing/2014/main" id="{B1C5FC1F-1AF7-94BC-2AB7-A08478A69120}"/>
              </a:ext>
            </a:extLst>
          </p:cNvPr>
          <p:cNvSpPr txBox="1"/>
          <p:nvPr/>
        </p:nvSpPr>
        <p:spPr>
          <a:xfrm>
            <a:off x="655585" y="1281053"/>
            <a:ext cx="11429470" cy="707886"/>
          </a:xfrm>
          <a:prstGeom prst="rect">
            <a:avLst/>
          </a:prstGeom>
          <a:noFill/>
        </p:spPr>
        <p:txBody>
          <a:bodyPr wrap="square">
            <a:spAutoFit/>
          </a:bodyPr>
          <a:lstStyle/>
          <a:p>
            <a:pPr>
              <a:buClr>
                <a:schemeClr val="accent1"/>
              </a:buClr>
            </a:pPr>
            <a:r>
              <a:rPr lang="en-US" sz="2000" i="0" u="none" strike="noStrike" baseline="0">
                <a:solidFill>
                  <a:srgbClr val="004C97"/>
                </a:solidFill>
                <a:latin typeface="Arial Black" panose="020B0A04020102020204" pitchFamily="34" charset="0"/>
              </a:rPr>
              <a:t>Literature indicates that a higher level of financial inclusion positively impacts the effectiveness of monetary policy (Mehrotra and </a:t>
            </a:r>
            <a:r>
              <a:rPr lang="en-US" sz="2000" i="0" u="none" strike="noStrike" baseline="0" err="1">
                <a:solidFill>
                  <a:srgbClr val="004C97"/>
                </a:solidFill>
                <a:latin typeface="Arial Black" panose="020B0A04020102020204" pitchFamily="34" charset="0"/>
              </a:rPr>
              <a:t>Yetman</a:t>
            </a:r>
            <a:r>
              <a:rPr lang="en-US" sz="2000" i="0" u="none" strike="noStrike" baseline="0">
                <a:solidFill>
                  <a:srgbClr val="004C97"/>
                </a:solidFill>
                <a:latin typeface="Arial Black" panose="020B0A04020102020204" pitchFamily="34" charset="0"/>
              </a:rPr>
              <a:t>, 2014). </a:t>
            </a:r>
            <a:endParaRPr lang="en-US" sz="2000">
              <a:solidFill>
                <a:srgbClr val="004C97"/>
              </a:solidFill>
              <a:latin typeface="Arial Black" panose="020B0A04020102020204" pitchFamily="34" charset="0"/>
            </a:endParaRPr>
          </a:p>
        </p:txBody>
      </p:sp>
      <p:graphicFrame>
        <p:nvGraphicFramePr>
          <p:cNvPr id="7" name="Content Placeholder 2">
            <a:extLst>
              <a:ext uri="{FF2B5EF4-FFF2-40B4-BE49-F238E27FC236}">
                <a16:creationId xmlns:a16="http://schemas.microsoft.com/office/drawing/2014/main" id="{0C1A16C8-8060-1E32-E07B-1B6DD7ACF75A}"/>
              </a:ext>
            </a:extLst>
          </p:cNvPr>
          <p:cNvGraphicFramePr>
            <a:graphicFrameLocks/>
          </p:cNvGraphicFramePr>
          <p:nvPr/>
        </p:nvGraphicFramePr>
        <p:xfrm>
          <a:off x="1737925" y="1988939"/>
          <a:ext cx="9122748" cy="40723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1936237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2BD30-090B-1297-CE5E-3C02B467B17F}"/>
              </a:ext>
            </a:extLst>
          </p:cNvPr>
          <p:cNvSpPr>
            <a:spLocks noGrp="1"/>
          </p:cNvSpPr>
          <p:nvPr>
            <p:ph type="title"/>
          </p:nvPr>
        </p:nvSpPr>
        <p:spPr/>
        <p:txBody>
          <a:bodyPr/>
          <a:lstStyle/>
          <a:p>
            <a:r>
              <a:rPr lang="en-US" b="1" dirty="0"/>
              <a:t>Barriers to Financial Inclusion</a:t>
            </a:r>
          </a:p>
        </p:txBody>
      </p:sp>
    </p:spTree>
    <p:extLst>
      <p:ext uri="{BB962C8B-B14F-4D97-AF65-F5344CB8AC3E}">
        <p14:creationId xmlns:p14="http://schemas.microsoft.com/office/powerpoint/2010/main" val="7940172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D1A7A-E3A1-4296-6194-6124DAD447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EDED0C-4412-2955-61F8-A5E2D338461F}"/>
              </a:ext>
            </a:extLst>
          </p:cNvPr>
          <p:cNvSpPr>
            <a:spLocks noGrp="1"/>
          </p:cNvSpPr>
          <p:nvPr>
            <p:ph type="title"/>
          </p:nvPr>
        </p:nvSpPr>
        <p:spPr/>
        <p:txBody>
          <a:bodyPr>
            <a:normAutofit/>
          </a:bodyPr>
          <a:lstStyle/>
          <a:p>
            <a:r>
              <a:rPr lang="en-US"/>
              <a:t>Economic and Structural Barriers</a:t>
            </a:r>
          </a:p>
        </p:txBody>
      </p:sp>
      <p:sp>
        <p:nvSpPr>
          <p:cNvPr id="4" name="Content Placeholder 3">
            <a:extLst>
              <a:ext uri="{FF2B5EF4-FFF2-40B4-BE49-F238E27FC236}">
                <a16:creationId xmlns:a16="http://schemas.microsoft.com/office/drawing/2014/main" id="{7A33EA38-E83A-790B-EEF1-953D6AC721B8}"/>
              </a:ext>
            </a:extLst>
          </p:cNvPr>
          <p:cNvSpPr>
            <a:spLocks noGrp="1"/>
          </p:cNvSpPr>
          <p:nvPr>
            <p:ph idx="1"/>
          </p:nvPr>
        </p:nvSpPr>
        <p:spPr>
          <a:xfrm>
            <a:off x="838200" y="1253331"/>
            <a:ext cx="10515600" cy="4351338"/>
          </a:xfrm>
        </p:spPr>
        <p:txBody>
          <a:bodyPr>
            <a:normAutofit fontScale="92500" lnSpcReduction="10000"/>
          </a:bodyPr>
          <a:lstStyle/>
          <a:p>
            <a:pPr>
              <a:spcBef>
                <a:spcPts val="1800"/>
              </a:spcBef>
            </a:pPr>
            <a:endParaRPr lang="en-US" sz="2400" dirty="0"/>
          </a:p>
          <a:p>
            <a:pPr>
              <a:lnSpc>
                <a:spcPct val="120000"/>
              </a:lnSpc>
              <a:spcBef>
                <a:spcPts val="1800"/>
              </a:spcBef>
            </a:pPr>
            <a:r>
              <a:rPr lang="en-US" sz="2400" b="1" dirty="0"/>
              <a:t>Lower earnings</a:t>
            </a:r>
            <a:r>
              <a:rPr lang="en-US" sz="2400" dirty="0"/>
              <a:t>: Wage gaps and informal work reduce savings and loan eligibility.</a:t>
            </a:r>
          </a:p>
          <a:p>
            <a:pPr>
              <a:lnSpc>
                <a:spcPct val="120000"/>
              </a:lnSpc>
              <a:spcBef>
                <a:spcPts val="1800"/>
              </a:spcBef>
            </a:pPr>
            <a:r>
              <a:rPr lang="en-US" sz="2400" b="1" dirty="0"/>
              <a:t>Job informality</a:t>
            </a:r>
            <a:r>
              <a:rPr lang="en-US" sz="2400" dirty="0"/>
              <a:t>: Limits access to formal employer-linked banking systems; lack of proof of income. </a:t>
            </a:r>
          </a:p>
          <a:p>
            <a:pPr>
              <a:lnSpc>
                <a:spcPct val="120000"/>
              </a:lnSpc>
              <a:spcBef>
                <a:spcPts val="1800"/>
              </a:spcBef>
            </a:pPr>
            <a:r>
              <a:rPr lang="en-US" sz="2400" b="1" dirty="0"/>
              <a:t>Women's lower asset ownership </a:t>
            </a:r>
            <a:r>
              <a:rPr lang="en-US" sz="2400" dirty="0"/>
              <a:t>can affect their ability to secure credit, as banks typically require collateral. </a:t>
            </a:r>
          </a:p>
          <a:p>
            <a:pPr>
              <a:lnSpc>
                <a:spcPct val="120000"/>
              </a:lnSpc>
              <a:spcBef>
                <a:spcPts val="1800"/>
              </a:spcBef>
            </a:pPr>
            <a:r>
              <a:rPr lang="en-US" sz="2400" b="1" dirty="0"/>
              <a:t>Credit information gaps</a:t>
            </a:r>
            <a:r>
              <a:rPr lang="en-US" sz="2400" dirty="0"/>
              <a:t>: Women often lack credit histories due to limited formal financial engagement.</a:t>
            </a:r>
          </a:p>
          <a:p>
            <a:pPr marL="0" indent="0">
              <a:buNone/>
            </a:pPr>
            <a:endParaRPr lang="en-US" sz="2400" dirty="0"/>
          </a:p>
          <a:p>
            <a:endParaRPr lang="en-US" sz="2400"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4094797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A258D-F01B-AFE7-92BB-0738051A403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15C296F-B16D-4BAD-09AD-994824D07338}"/>
              </a:ext>
            </a:extLst>
          </p:cNvPr>
          <p:cNvSpPr>
            <a:spLocks noGrp="1"/>
          </p:cNvSpPr>
          <p:nvPr>
            <p:ph type="title"/>
          </p:nvPr>
        </p:nvSpPr>
        <p:spPr/>
        <p:txBody>
          <a:bodyPr>
            <a:normAutofit/>
          </a:bodyPr>
          <a:lstStyle/>
          <a:p>
            <a:r>
              <a:rPr lang="en-US"/>
              <a:t>Legal and Social Norms</a:t>
            </a:r>
          </a:p>
        </p:txBody>
      </p:sp>
      <p:sp>
        <p:nvSpPr>
          <p:cNvPr id="4" name="Content Placeholder 3">
            <a:extLst>
              <a:ext uri="{FF2B5EF4-FFF2-40B4-BE49-F238E27FC236}">
                <a16:creationId xmlns:a16="http://schemas.microsoft.com/office/drawing/2014/main" id="{A597C861-537E-F8D5-37D6-63EA3CF987F8}"/>
              </a:ext>
            </a:extLst>
          </p:cNvPr>
          <p:cNvSpPr>
            <a:spLocks noGrp="1"/>
          </p:cNvSpPr>
          <p:nvPr>
            <p:ph idx="1"/>
          </p:nvPr>
        </p:nvSpPr>
        <p:spPr/>
        <p:txBody>
          <a:bodyPr>
            <a:normAutofit/>
          </a:bodyPr>
          <a:lstStyle/>
          <a:p>
            <a:pPr>
              <a:lnSpc>
                <a:spcPct val="100000"/>
              </a:lnSpc>
              <a:spcBef>
                <a:spcPts val="1800"/>
              </a:spcBef>
            </a:pPr>
            <a:r>
              <a:rPr lang="en-US" sz="2400" b="1"/>
              <a:t>Asset Ownership Restrictions</a:t>
            </a:r>
            <a:r>
              <a:rPr lang="en-US" sz="2400"/>
              <a:t>: Legal/customary laws limit women's rights to own or inherit property, </a:t>
            </a:r>
            <a:r>
              <a:rPr lang="en-US" sz="2400">
                <a:effectLst/>
                <a:latin typeface="Arial" panose="020B0604020202020204" pitchFamily="34" charset="0"/>
                <a:ea typeface="Arial" panose="020B0604020202020204" pitchFamily="34" charset="0"/>
                <a:cs typeface="Times New Roman" panose="02020603050405020304" pitchFamily="18" charset="0"/>
              </a:rPr>
              <a:t>undermining access to credit.</a:t>
            </a:r>
            <a:endParaRPr lang="en-US" sz="2400"/>
          </a:p>
          <a:p>
            <a:pPr>
              <a:lnSpc>
                <a:spcPct val="100000"/>
              </a:lnSpc>
              <a:spcBef>
                <a:spcPts val="1800"/>
              </a:spcBef>
            </a:pPr>
            <a:r>
              <a:rPr lang="en-US" sz="2400" b="1"/>
              <a:t>Lack of Legal Protections</a:t>
            </a:r>
            <a:r>
              <a:rPr lang="en-US" sz="2400"/>
              <a:t>: Many countries lack anti-discrimination laws in finance and employment.</a:t>
            </a:r>
          </a:p>
          <a:p>
            <a:pPr>
              <a:lnSpc>
                <a:spcPct val="100000"/>
              </a:lnSpc>
              <a:spcBef>
                <a:spcPts val="1800"/>
              </a:spcBef>
            </a:pPr>
            <a:r>
              <a:rPr lang="en-US" sz="2400" b="1"/>
              <a:t>Social norms </a:t>
            </a:r>
            <a:r>
              <a:rPr lang="en-US" sz="2400"/>
              <a:t>regarding women’s financial independence; need for male approval.</a:t>
            </a:r>
          </a:p>
          <a:p>
            <a:pPr>
              <a:lnSpc>
                <a:spcPct val="100000"/>
              </a:lnSpc>
              <a:spcBef>
                <a:spcPts val="1800"/>
              </a:spcBef>
            </a:pPr>
            <a:r>
              <a:rPr lang="en-US" sz="2400" b="1"/>
              <a:t>Self-Perception</a:t>
            </a:r>
            <a:r>
              <a:rPr lang="en-US" sz="2400"/>
              <a:t> and Confidence Gaps: Women are less likely to apply for loans.</a:t>
            </a:r>
          </a:p>
          <a:p>
            <a:pPr>
              <a:spcBef>
                <a:spcPts val="1800"/>
              </a:spcBef>
            </a:pPr>
            <a:endParaRPr lang="en-US" sz="2400"/>
          </a:p>
          <a:p>
            <a:pPr>
              <a:spcBef>
                <a:spcPts val="1800"/>
              </a:spcBef>
            </a:pPr>
            <a:endParaRPr lang="en-US" sz="2400"/>
          </a:p>
          <a:p>
            <a:endParaRPr lang="en-US"/>
          </a:p>
        </p:txBody>
      </p:sp>
    </p:spTree>
    <p:extLst>
      <p:ext uri="{BB962C8B-B14F-4D97-AF65-F5344CB8AC3E}">
        <p14:creationId xmlns:p14="http://schemas.microsoft.com/office/powerpoint/2010/main" val="2863536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CB3FB-ECCB-8583-2E7F-4A041F23E9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C1E3A49-1275-ECA0-EC78-F0C4934168A6}"/>
              </a:ext>
            </a:extLst>
          </p:cNvPr>
          <p:cNvSpPr>
            <a:spLocks noGrp="1"/>
          </p:cNvSpPr>
          <p:nvPr>
            <p:ph type="title"/>
          </p:nvPr>
        </p:nvSpPr>
        <p:spPr/>
        <p:txBody>
          <a:bodyPr>
            <a:normAutofit/>
          </a:bodyPr>
          <a:lstStyle/>
          <a:p>
            <a:r>
              <a:rPr lang="en-US"/>
              <a:t>Digital Financial Services</a:t>
            </a:r>
          </a:p>
        </p:txBody>
      </p:sp>
      <p:sp>
        <p:nvSpPr>
          <p:cNvPr id="4" name="Content Placeholder 3">
            <a:extLst>
              <a:ext uri="{FF2B5EF4-FFF2-40B4-BE49-F238E27FC236}">
                <a16:creationId xmlns:a16="http://schemas.microsoft.com/office/drawing/2014/main" id="{181905E0-2774-0C61-3A3D-08F260CFFE22}"/>
              </a:ext>
            </a:extLst>
          </p:cNvPr>
          <p:cNvSpPr>
            <a:spLocks noGrp="1"/>
          </p:cNvSpPr>
          <p:nvPr>
            <p:ph idx="1"/>
          </p:nvPr>
        </p:nvSpPr>
        <p:spPr/>
        <p:txBody>
          <a:bodyPr>
            <a:normAutofit/>
          </a:bodyPr>
          <a:lstStyle/>
          <a:p>
            <a:pPr marL="0" indent="0">
              <a:lnSpc>
                <a:spcPct val="100000"/>
              </a:lnSpc>
              <a:buNone/>
            </a:pPr>
            <a:r>
              <a:rPr lang="en-US" sz="2000" dirty="0"/>
              <a:t>By relying on alternative data rather than credit histories or formal collateral, </a:t>
            </a:r>
            <a:r>
              <a:rPr lang="en-US" sz="2000" b="1" dirty="0"/>
              <a:t>fintech could/can better evaluate female borrowers </a:t>
            </a:r>
            <a:r>
              <a:rPr lang="en-US" sz="2000" dirty="0"/>
              <a:t>who are otherwise marginalized by traditional systems. </a:t>
            </a:r>
          </a:p>
          <a:p>
            <a:pPr marL="0" indent="0">
              <a:lnSpc>
                <a:spcPct val="100000"/>
              </a:lnSpc>
              <a:buNone/>
            </a:pPr>
            <a:endParaRPr lang="en-US" sz="2000" dirty="0"/>
          </a:p>
          <a:p>
            <a:pPr marL="0" indent="0">
              <a:lnSpc>
                <a:spcPct val="100000"/>
              </a:lnSpc>
              <a:buNone/>
            </a:pPr>
            <a:r>
              <a:rPr lang="en-US" sz="2000" dirty="0"/>
              <a:t>However, some barriers to digital financial services are: </a:t>
            </a:r>
          </a:p>
          <a:p>
            <a:pPr>
              <a:lnSpc>
                <a:spcPct val="100000"/>
              </a:lnSpc>
            </a:pPr>
            <a:r>
              <a:rPr lang="en-US" sz="2000" b="1" dirty="0"/>
              <a:t>Lower Digital Literacy</a:t>
            </a:r>
            <a:r>
              <a:rPr lang="en-US" sz="2000" dirty="0"/>
              <a:t>: Women less likely to use mobile internet or fintech.</a:t>
            </a:r>
          </a:p>
          <a:p>
            <a:pPr>
              <a:lnSpc>
                <a:spcPct val="100000"/>
              </a:lnSpc>
            </a:pPr>
            <a:r>
              <a:rPr lang="en-US" sz="2000" b="1" dirty="0"/>
              <a:t>Access to Devices</a:t>
            </a:r>
            <a:r>
              <a:rPr lang="en-US" sz="2000" dirty="0"/>
              <a:t>: Limited ownership of smartphones or private tech access.</a:t>
            </a:r>
          </a:p>
          <a:p>
            <a:pPr>
              <a:lnSpc>
                <a:spcPct val="100000"/>
              </a:lnSpc>
            </a:pPr>
            <a:r>
              <a:rPr lang="en-US" sz="2000" b="1" dirty="0"/>
              <a:t>Fintech Bias</a:t>
            </a:r>
            <a:r>
              <a:rPr lang="en-US" sz="2000" dirty="0"/>
              <a:t>: Algorithms may replicate biases in credit access.</a:t>
            </a:r>
          </a:p>
          <a:p>
            <a:endParaRPr lang="en-US" dirty="0"/>
          </a:p>
        </p:txBody>
      </p:sp>
    </p:spTree>
    <p:extLst>
      <p:ext uri="{BB962C8B-B14F-4D97-AF65-F5344CB8AC3E}">
        <p14:creationId xmlns:p14="http://schemas.microsoft.com/office/powerpoint/2010/main" val="4030087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C2C14-A947-023B-73BB-BEA20D727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86A392-0325-0D3F-7167-C0C37E5272DB}"/>
              </a:ext>
            </a:extLst>
          </p:cNvPr>
          <p:cNvSpPr>
            <a:spLocks noGrp="1"/>
          </p:cNvSpPr>
          <p:nvPr>
            <p:ph type="title"/>
          </p:nvPr>
        </p:nvSpPr>
        <p:spPr>
          <a:xfrm>
            <a:off x="1" y="1371600"/>
            <a:ext cx="12321308" cy="4114800"/>
          </a:xfrm>
        </p:spPr>
        <p:txBody>
          <a:bodyPr/>
          <a:lstStyle/>
          <a:p>
            <a:r>
              <a:rPr lang="en-US" b="1" dirty="0"/>
              <a:t>Policy Options</a:t>
            </a:r>
          </a:p>
        </p:txBody>
      </p:sp>
    </p:spTree>
    <p:extLst>
      <p:ext uri="{BB962C8B-B14F-4D97-AF65-F5344CB8AC3E}">
        <p14:creationId xmlns:p14="http://schemas.microsoft.com/office/powerpoint/2010/main" val="285320184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26130F-DE55-E1EA-5406-09219F63C8CA}"/>
              </a:ext>
            </a:extLst>
          </p:cNvPr>
          <p:cNvSpPr>
            <a:spLocks noGrp="1"/>
          </p:cNvSpPr>
          <p:nvPr>
            <p:ph type="title"/>
          </p:nvPr>
        </p:nvSpPr>
        <p:spPr/>
        <p:txBody>
          <a:bodyPr>
            <a:normAutofit/>
          </a:bodyPr>
          <a:lstStyle/>
          <a:p>
            <a:r>
              <a:rPr lang="en-US"/>
              <a:t>Economic and Structural Barriers</a:t>
            </a:r>
          </a:p>
        </p:txBody>
      </p:sp>
      <p:sp>
        <p:nvSpPr>
          <p:cNvPr id="4" name="Content Placeholder 3">
            <a:extLst>
              <a:ext uri="{FF2B5EF4-FFF2-40B4-BE49-F238E27FC236}">
                <a16:creationId xmlns:a16="http://schemas.microsoft.com/office/drawing/2014/main" id="{D1B7E7C7-646D-BC69-4221-A27588053F0F}"/>
              </a:ext>
            </a:extLst>
          </p:cNvPr>
          <p:cNvSpPr>
            <a:spLocks noGrp="1"/>
          </p:cNvSpPr>
          <p:nvPr>
            <p:ph idx="1"/>
          </p:nvPr>
        </p:nvSpPr>
        <p:spPr>
          <a:xfrm>
            <a:off x="838200" y="1253331"/>
            <a:ext cx="10515600" cy="4351338"/>
          </a:xfrm>
        </p:spPr>
        <p:txBody>
          <a:bodyPr>
            <a:normAutofit fontScale="92500" lnSpcReduction="10000"/>
          </a:bodyPr>
          <a:lstStyle/>
          <a:p>
            <a:pPr>
              <a:spcBef>
                <a:spcPts val="1800"/>
              </a:spcBef>
            </a:pPr>
            <a:endParaRPr lang="en-US" sz="2400" dirty="0"/>
          </a:p>
          <a:p>
            <a:pPr>
              <a:lnSpc>
                <a:spcPct val="120000"/>
              </a:lnSpc>
              <a:spcBef>
                <a:spcPts val="1800"/>
              </a:spcBef>
            </a:pPr>
            <a:r>
              <a:rPr lang="en-US" sz="2400" b="1" dirty="0"/>
              <a:t>Lower earnings</a:t>
            </a:r>
            <a:r>
              <a:rPr lang="en-US" sz="2400" dirty="0"/>
              <a:t>: Wage gaps and informal work reduce savings and loan eligibility.</a:t>
            </a:r>
          </a:p>
          <a:p>
            <a:pPr>
              <a:lnSpc>
                <a:spcPct val="120000"/>
              </a:lnSpc>
              <a:spcBef>
                <a:spcPts val="1800"/>
              </a:spcBef>
            </a:pPr>
            <a:r>
              <a:rPr lang="en-US" sz="2400" b="1" dirty="0"/>
              <a:t>Job informality</a:t>
            </a:r>
            <a:r>
              <a:rPr lang="en-US" sz="2400" dirty="0"/>
              <a:t>: Limits access to formal employer-linked banking systems; lack of proof of income. </a:t>
            </a:r>
          </a:p>
          <a:p>
            <a:pPr>
              <a:lnSpc>
                <a:spcPct val="120000"/>
              </a:lnSpc>
              <a:spcBef>
                <a:spcPts val="1800"/>
              </a:spcBef>
            </a:pPr>
            <a:r>
              <a:rPr lang="en-US" sz="2400" b="1" dirty="0"/>
              <a:t>Women's lower asset ownership </a:t>
            </a:r>
            <a:r>
              <a:rPr lang="en-US" sz="2400" dirty="0"/>
              <a:t>can affect their ability to secure credit, as banks typically require collateral. </a:t>
            </a:r>
          </a:p>
          <a:p>
            <a:pPr>
              <a:lnSpc>
                <a:spcPct val="120000"/>
              </a:lnSpc>
              <a:spcBef>
                <a:spcPts val="1800"/>
              </a:spcBef>
            </a:pPr>
            <a:r>
              <a:rPr lang="en-US" sz="2400" b="1" dirty="0"/>
              <a:t>Credit information gaps</a:t>
            </a:r>
            <a:r>
              <a:rPr lang="en-US" sz="2400" dirty="0"/>
              <a:t>: Women often lack credit histories due to limited formal financial engagement.</a:t>
            </a:r>
          </a:p>
          <a:p>
            <a:pPr marL="0" indent="0">
              <a:buNone/>
            </a:pPr>
            <a:endParaRPr lang="en-US" sz="2400" dirty="0"/>
          </a:p>
          <a:p>
            <a:endParaRPr lang="en-US" sz="2400"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1675964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26130F-DE55-E1EA-5406-09219F63C8CA}"/>
              </a:ext>
            </a:extLst>
          </p:cNvPr>
          <p:cNvSpPr>
            <a:spLocks noGrp="1"/>
          </p:cNvSpPr>
          <p:nvPr>
            <p:ph type="title"/>
          </p:nvPr>
        </p:nvSpPr>
        <p:spPr/>
        <p:txBody>
          <a:bodyPr>
            <a:normAutofit/>
          </a:bodyPr>
          <a:lstStyle/>
          <a:p>
            <a:r>
              <a:rPr lang="en-US"/>
              <a:t>Legal and Social Norms</a:t>
            </a:r>
          </a:p>
        </p:txBody>
      </p:sp>
      <p:sp>
        <p:nvSpPr>
          <p:cNvPr id="4" name="Content Placeholder 3">
            <a:extLst>
              <a:ext uri="{FF2B5EF4-FFF2-40B4-BE49-F238E27FC236}">
                <a16:creationId xmlns:a16="http://schemas.microsoft.com/office/drawing/2014/main" id="{D1B7E7C7-646D-BC69-4221-A27588053F0F}"/>
              </a:ext>
            </a:extLst>
          </p:cNvPr>
          <p:cNvSpPr>
            <a:spLocks noGrp="1"/>
          </p:cNvSpPr>
          <p:nvPr>
            <p:ph idx="1"/>
          </p:nvPr>
        </p:nvSpPr>
        <p:spPr/>
        <p:txBody>
          <a:bodyPr>
            <a:normAutofit/>
          </a:bodyPr>
          <a:lstStyle/>
          <a:p>
            <a:pPr>
              <a:lnSpc>
                <a:spcPct val="100000"/>
              </a:lnSpc>
              <a:spcBef>
                <a:spcPts val="1800"/>
              </a:spcBef>
            </a:pPr>
            <a:r>
              <a:rPr lang="en-US" sz="2400" b="1"/>
              <a:t>Asset Ownership Restrictions</a:t>
            </a:r>
            <a:r>
              <a:rPr lang="en-US" sz="2400"/>
              <a:t>: Legal/customary laws limit women's rights to own or inherit property, </a:t>
            </a:r>
            <a:r>
              <a:rPr lang="en-US" sz="2400">
                <a:effectLst/>
                <a:latin typeface="Arial" panose="020B0604020202020204" pitchFamily="34" charset="0"/>
                <a:ea typeface="Arial" panose="020B0604020202020204" pitchFamily="34" charset="0"/>
                <a:cs typeface="Times New Roman" panose="02020603050405020304" pitchFamily="18" charset="0"/>
              </a:rPr>
              <a:t>undermining access to credit.</a:t>
            </a:r>
            <a:endParaRPr lang="en-US" sz="2400"/>
          </a:p>
          <a:p>
            <a:pPr>
              <a:lnSpc>
                <a:spcPct val="100000"/>
              </a:lnSpc>
              <a:spcBef>
                <a:spcPts val="1800"/>
              </a:spcBef>
            </a:pPr>
            <a:r>
              <a:rPr lang="en-US" sz="2400" b="1"/>
              <a:t>Lack of Legal Protections</a:t>
            </a:r>
            <a:r>
              <a:rPr lang="en-US" sz="2400"/>
              <a:t>: Many countries lack anti-discrimination laws in finance and employment.</a:t>
            </a:r>
          </a:p>
          <a:p>
            <a:pPr>
              <a:lnSpc>
                <a:spcPct val="100000"/>
              </a:lnSpc>
              <a:spcBef>
                <a:spcPts val="1800"/>
              </a:spcBef>
            </a:pPr>
            <a:r>
              <a:rPr lang="en-US" sz="2400" b="1"/>
              <a:t>Social norms </a:t>
            </a:r>
            <a:r>
              <a:rPr lang="en-US" sz="2400"/>
              <a:t>regarding women’s financial independence; need for male approval.</a:t>
            </a:r>
          </a:p>
          <a:p>
            <a:pPr>
              <a:lnSpc>
                <a:spcPct val="100000"/>
              </a:lnSpc>
              <a:spcBef>
                <a:spcPts val="1800"/>
              </a:spcBef>
            </a:pPr>
            <a:r>
              <a:rPr lang="en-US" sz="2400" b="1"/>
              <a:t>Self-Perception</a:t>
            </a:r>
            <a:r>
              <a:rPr lang="en-US" sz="2400"/>
              <a:t> and Confidence Gaps: Women are less likely to apply for loans.</a:t>
            </a:r>
          </a:p>
          <a:p>
            <a:pPr>
              <a:spcBef>
                <a:spcPts val="1800"/>
              </a:spcBef>
            </a:pPr>
            <a:endParaRPr lang="en-US" sz="2400"/>
          </a:p>
          <a:p>
            <a:pPr>
              <a:spcBef>
                <a:spcPts val="1800"/>
              </a:spcBef>
            </a:pPr>
            <a:endParaRPr lang="en-US" sz="2400"/>
          </a:p>
          <a:p>
            <a:endParaRPr lang="en-US"/>
          </a:p>
        </p:txBody>
      </p:sp>
    </p:spTree>
    <p:extLst>
      <p:ext uri="{BB962C8B-B14F-4D97-AF65-F5344CB8AC3E}">
        <p14:creationId xmlns:p14="http://schemas.microsoft.com/office/powerpoint/2010/main" val="437063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26130F-DE55-E1EA-5406-09219F63C8CA}"/>
              </a:ext>
            </a:extLst>
          </p:cNvPr>
          <p:cNvSpPr>
            <a:spLocks noGrp="1"/>
          </p:cNvSpPr>
          <p:nvPr>
            <p:ph type="title"/>
          </p:nvPr>
        </p:nvSpPr>
        <p:spPr/>
        <p:txBody>
          <a:bodyPr>
            <a:normAutofit/>
          </a:bodyPr>
          <a:lstStyle/>
          <a:p>
            <a:r>
              <a:rPr lang="en-US"/>
              <a:t>Digital Financial Services</a:t>
            </a:r>
          </a:p>
        </p:txBody>
      </p:sp>
      <p:sp>
        <p:nvSpPr>
          <p:cNvPr id="4" name="Content Placeholder 3">
            <a:extLst>
              <a:ext uri="{FF2B5EF4-FFF2-40B4-BE49-F238E27FC236}">
                <a16:creationId xmlns:a16="http://schemas.microsoft.com/office/drawing/2014/main" id="{D1B7E7C7-646D-BC69-4221-A27588053F0F}"/>
              </a:ext>
            </a:extLst>
          </p:cNvPr>
          <p:cNvSpPr>
            <a:spLocks noGrp="1"/>
          </p:cNvSpPr>
          <p:nvPr>
            <p:ph idx="1"/>
          </p:nvPr>
        </p:nvSpPr>
        <p:spPr/>
        <p:txBody>
          <a:bodyPr>
            <a:normAutofit/>
          </a:bodyPr>
          <a:lstStyle/>
          <a:p>
            <a:pPr marL="0" indent="0">
              <a:lnSpc>
                <a:spcPct val="100000"/>
              </a:lnSpc>
              <a:buNone/>
            </a:pPr>
            <a:r>
              <a:rPr lang="en-US" sz="2000" dirty="0"/>
              <a:t>By relying on alternative data rather than credit histories or formal collateral, </a:t>
            </a:r>
            <a:r>
              <a:rPr lang="en-US" sz="2000" b="1" dirty="0"/>
              <a:t>fintech could/can better evaluate female borrowers </a:t>
            </a:r>
            <a:r>
              <a:rPr lang="en-US" sz="2000" dirty="0"/>
              <a:t>who are otherwise marginalized by traditional systems. </a:t>
            </a:r>
          </a:p>
          <a:p>
            <a:pPr marL="0" indent="0">
              <a:lnSpc>
                <a:spcPct val="100000"/>
              </a:lnSpc>
              <a:buNone/>
            </a:pPr>
            <a:endParaRPr lang="en-US" sz="2000" dirty="0"/>
          </a:p>
          <a:p>
            <a:pPr marL="0" indent="0">
              <a:lnSpc>
                <a:spcPct val="100000"/>
              </a:lnSpc>
              <a:buNone/>
            </a:pPr>
            <a:r>
              <a:rPr lang="en-US" sz="2000" dirty="0"/>
              <a:t>However, some barriers to digital financial services are: </a:t>
            </a:r>
          </a:p>
          <a:p>
            <a:pPr>
              <a:lnSpc>
                <a:spcPct val="100000"/>
              </a:lnSpc>
            </a:pPr>
            <a:r>
              <a:rPr lang="en-US" sz="2000" b="1" dirty="0"/>
              <a:t>Lower Digital Literacy</a:t>
            </a:r>
            <a:r>
              <a:rPr lang="en-US" sz="2000" dirty="0"/>
              <a:t>: Women less likely to use mobile internet or fintech.</a:t>
            </a:r>
          </a:p>
          <a:p>
            <a:pPr>
              <a:lnSpc>
                <a:spcPct val="100000"/>
              </a:lnSpc>
            </a:pPr>
            <a:r>
              <a:rPr lang="en-US" sz="2000" b="1" dirty="0"/>
              <a:t>Access to Devices</a:t>
            </a:r>
            <a:r>
              <a:rPr lang="en-US" sz="2000" dirty="0"/>
              <a:t>: Limited ownership of smartphones or private tech access.</a:t>
            </a:r>
          </a:p>
          <a:p>
            <a:pPr>
              <a:lnSpc>
                <a:spcPct val="100000"/>
              </a:lnSpc>
            </a:pPr>
            <a:r>
              <a:rPr lang="en-US" sz="2000" b="1" dirty="0"/>
              <a:t>Fintech Bias</a:t>
            </a:r>
            <a:r>
              <a:rPr lang="en-US" sz="2000" dirty="0"/>
              <a:t>: Algorithms may replicate biases in credit access.</a:t>
            </a:r>
          </a:p>
          <a:p>
            <a:endParaRPr lang="en-US" dirty="0"/>
          </a:p>
        </p:txBody>
      </p:sp>
    </p:spTree>
    <p:extLst>
      <p:ext uri="{BB962C8B-B14F-4D97-AF65-F5344CB8AC3E}">
        <p14:creationId xmlns:p14="http://schemas.microsoft.com/office/powerpoint/2010/main" val="3932007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C22E4-4C22-698F-0CF3-A36026269617}"/>
              </a:ext>
            </a:extLst>
          </p:cNvPr>
          <p:cNvSpPr>
            <a:spLocks noGrp="1"/>
          </p:cNvSpPr>
          <p:nvPr>
            <p:ph type="title"/>
          </p:nvPr>
        </p:nvSpPr>
        <p:spPr>
          <a:xfrm>
            <a:off x="756313" y="288923"/>
            <a:ext cx="10666675" cy="706094"/>
          </a:xfrm>
        </p:spPr>
        <p:txBody>
          <a:bodyPr>
            <a:normAutofit fontScale="90000"/>
          </a:bodyPr>
          <a:lstStyle/>
          <a:p>
            <a:r>
              <a:rPr lang="en-US" dirty="0"/>
              <a:t>Bridging the Financial Inclusion Gender Gap: </a:t>
            </a:r>
            <a:br>
              <a:rPr lang="en-US" dirty="0"/>
            </a:br>
            <a:r>
              <a:rPr lang="en-US" dirty="0"/>
              <a:t>Policy Levers</a:t>
            </a:r>
          </a:p>
        </p:txBody>
      </p:sp>
      <p:sp>
        <p:nvSpPr>
          <p:cNvPr id="3" name="Text Placeholder 2">
            <a:extLst>
              <a:ext uri="{FF2B5EF4-FFF2-40B4-BE49-F238E27FC236}">
                <a16:creationId xmlns:a16="http://schemas.microsoft.com/office/drawing/2014/main" id="{F3C2CEDF-E6FA-62BB-0930-9DBA241CEE1E}"/>
              </a:ext>
            </a:extLst>
          </p:cNvPr>
          <p:cNvSpPr>
            <a:spLocks noGrp="1"/>
          </p:cNvSpPr>
          <p:nvPr>
            <p:ph type="body" idx="1"/>
          </p:nvPr>
        </p:nvSpPr>
        <p:spPr>
          <a:xfrm>
            <a:off x="756313" y="1770485"/>
            <a:ext cx="10515600" cy="4578247"/>
          </a:xfrm>
        </p:spPr>
        <p:txBody>
          <a:bodyPr>
            <a:normAutofit fontScale="85000" lnSpcReduction="10000"/>
          </a:bodyPr>
          <a:lstStyle/>
          <a:p>
            <a:pPr marL="342900" indent="-342900">
              <a:lnSpc>
                <a:spcPct val="110000"/>
              </a:lnSpc>
              <a:buFont typeface="Arial" panose="020B0604020202020204" pitchFamily="34" charset="0"/>
              <a:buChar char="•"/>
            </a:pPr>
            <a:r>
              <a:rPr lang="en-US" sz="2200" b="1" dirty="0"/>
              <a:t>Reform Legal Frameworks: </a:t>
            </a:r>
            <a:r>
              <a:rPr lang="en-US" sz="2200" dirty="0"/>
              <a:t>Guarantee property and credit rights without discrimination.</a:t>
            </a:r>
          </a:p>
          <a:p>
            <a:pPr marL="342900" indent="-342900">
              <a:lnSpc>
                <a:spcPct val="110000"/>
              </a:lnSpc>
              <a:buFont typeface="Arial" panose="020B0604020202020204" pitchFamily="34" charset="0"/>
              <a:buChar char="•"/>
            </a:pPr>
            <a:r>
              <a:rPr lang="en-US" sz="2200" dirty="0"/>
              <a:t>Supervisory guidance for </a:t>
            </a:r>
            <a:r>
              <a:rPr lang="en-US" sz="2200" b="1" dirty="0"/>
              <a:t>FIs to reduce biases</a:t>
            </a:r>
          </a:p>
          <a:p>
            <a:pPr marL="342900" indent="-342900">
              <a:lnSpc>
                <a:spcPct val="110000"/>
              </a:lnSpc>
              <a:buFont typeface="Arial" panose="020B0604020202020204" pitchFamily="34" charset="0"/>
              <a:buChar char="•"/>
            </a:pPr>
            <a:r>
              <a:rPr lang="en-US" sz="2200" b="1" dirty="0"/>
              <a:t>Invest in Digital and Financial Literacy: </a:t>
            </a:r>
            <a:r>
              <a:rPr lang="en-US" sz="2200" dirty="0"/>
              <a:t>Launch targeted financial and digital education programs.</a:t>
            </a:r>
          </a:p>
          <a:p>
            <a:pPr marL="342900" indent="-342900">
              <a:lnSpc>
                <a:spcPct val="110000"/>
              </a:lnSpc>
              <a:buFont typeface="Arial" panose="020B0604020202020204" pitchFamily="34" charset="0"/>
              <a:buChar char="•"/>
            </a:pPr>
            <a:r>
              <a:rPr lang="en-US" sz="2200" b="1" dirty="0"/>
              <a:t>Proportionate and risk-based supervision </a:t>
            </a:r>
            <a:r>
              <a:rPr lang="en-US" sz="2200" dirty="0"/>
              <a:t>of small and non-complex institutions striving to serve unserved and underserved customers, which are more often women than men.</a:t>
            </a:r>
          </a:p>
          <a:p>
            <a:pPr marL="342900" indent="-342900">
              <a:lnSpc>
                <a:spcPct val="110000"/>
              </a:lnSpc>
              <a:buFont typeface="Arial" panose="020B0604020202020204" pitchFamily="34" charset="0"/>
              <a:buChar char="•"/>
            </a:pPr>
            <a:r>
              <a:rPr lang="en-US" sz="2200" b="1" dirty="0"/>
              <a:t>Promote Gender Budgeting: </a:t>
            </a:r>
            <a:r>
              <a:rPr lang="en-US" sz="2200" dirty="0"/>
              <a:t>Channel fiscal policy toward inclusive finance for women.</a:t>
            </a:r>
          </a:p>
          <a:p>
            <a:pPr marL="342900" indent="-342900">
              <a:lnSpc>
                <a:spcPct val="110000"/>
              </a:lnSpc>
              <a:buFont typeface="Arial" panose="020B0604020202020204" pitchFamily="34" charset="0"/>
              <a:buChar char="•"/>
            </a:pPr>
            <a:r>
              <a:rPr lang="en-US" sz="2200" b="1" dirty="0"/>
              <a:t>Improve Data Collection: </a:t>
            </a:r>
            <a:r>
              <a:rPr lang="en-US" sz="2200" dirty="0"/>
              <a:t>Use sex-disaggregated data to monitor and tailor policy interventions.</a:t>
            </a:r>
          </a:p>
          <a:p>
            <a:pPr marL="342900" indent="-342900">
              <a:lnSpc>
                <a:spcPct val="110000"/>
              </a:lnSpc>
              <a:buFont typeface="Arial" panose="020B0604020202020204" pitchFamily="34" charset="0"/>
              <a:buChar char="•"/>
            </a:pPr>
            <a:r>
              <a:rPr lang="en-US" sz="2200" b="1" dirty="0"/>
              <a:t>Support Inclusive Fintech: </a:t>
            </a:r>
            <a:r>
              <a:rPr lang="en-US" sz="2200" dirty="0"/>
              <a:t>Promote alternative credit scoring models and mobile finance.</a:t>
            </a:r>
          </a:p>
          <a:p>
            <a:pPr marL="342900" indent="-342900">
              <a:lnSpc>
                <a:spcPct val="110000"/>
              </a:lnSpc>
              <a:buFont typeface="Arial" panose="020B0604020202020204" pitchFamily="34" charset="0"/>
              <a:buChar char="•"/>
            </a:pPr>
            <a:r>
              <a:rPr lang="en-US" sz="2200" dirty="0"/>
              <a:t>Improve </a:t>
            </a:r>
            <a:r>
              <a:rPr lang="en-US" sz="2200" b="1" dirty="0"/>
              <a:t>access to digital infrastructure</a:t>
            </a:r>
            <a:r>
              <a:rPr lang="en-US" sz="2200" dirty="0"/>
              <a:t> (mobile phones, high-speed internet, digital ID)</a:t>
            </a:r>
          </a:p>
          <a:p>
            <a:endParaRPr lang="en-US" dirty="0"/>
          </a:p>
        </p:txBody>
      </p:sp>
    </p:spTree>
    <p:extLst>
      <p:ext uri="{BB962C8B-B14F-4D97-AF65-F5344CB8AC3E}">
        <p14:creationId xmlns:p14="http://schemas.microsoft.com/office/powerpoint/2010/main" val="1589456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9EF78-6C6E-4F07-9FA2-32778B7FEC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44DAC-79EF-1CAA-2C69-A8F7A08C09A9}"/>
              </a:ext>
            </a:extLst>
          </p:cNvPr>
          <p:cNvSpPr>
            <a:spLocks noGrp="1"/>
          </p:cNvSpPr>
          <p:nvPr>
            <p:ph type="title"/>
          </p:nvPr>
        </p:nvSpPr>
        <p:spPr>
          <a:xfrm>
            <a:off x="756313" y="288923"/>
            <a:ext cx="10666675" cy="706094"/>
          </a:xfrm>
        </p:spPr>
        <p:txBody>
          <a:bodyPr>
            <a:normAutofit fontScale="90000"/>
          </a:bodyPr>
          <a:lstStyle/>
          <a:p>
            <a:r>
              <a:rPr lang="en-US"/>
              <a:t>Financial Inclusion: </a:t>
            </a:r>
            <a:br>
              <a:rPr lang="en-US"/>
            </a:br>
            <a:r>
              <a:rPr lang="en-US"/>
              <a:t>Policy Levers</a:t>
            </a:r>
          </a:p>
        </p:txBody>
      </p:sp>
      <p:sp>
        <p:nvSpPr>
          <p:cNvPr id="4" name="TextBox 3">
            <a:extLst>
              <a:ext uri="{FF2B5EF4-FFF2-40B4-BE49-F238E27FC236}">
                <a16:creationId xmlns:a16="http://schemas.microsoft.com/office/drawing/2014/main" id="{E5BE56B3-FF17-155C-79FC-E3F2CCA481A9}"/>
              </a:ext>
            </a:extLst>
          </p:cNvPr>
          <p:cNvSpPr txBox="1"/>
          <p:nvPr/>
        </p:nvSpPr>
        <p:spPr>
          <a:xfrm>
            <a:off x="858980" y="1960759"/>
            <a:ext cx="9421091" cy="2616101"/>
          </a:xfrm>
          <a:prstGeom prst="rect">
            <a:avLst/>
          </a:prstGeom>
          <a:noFill/>
        </p:spPr>
        <p:txBody>
          <a:bodyPr wrap="square" rtlCol="0">
            <a:spAutoFit/>
          </a:bodyPr>
          <a:lstStyle/>
          <a:p>
            <a:r>
              <a:rPr lang="en-US" sz="2000" b="1" dirty="0"/>
              <a:t>IMF AIV Country Examples:</a:t>
            </a:r>
          </a:p>
          <a:p>
            <a:endParaRPr lang="en-US" dirty="0">
              <a:hlinkClick r:id="rId3"/>
            </a:endParaRPr>
          </a:p>
          <a:p>
            <a:r>
              <a:rPr lang="en-US" dirty="0">
                <a:hlinkClick r:id="rId4"/>
              </a:rPr>
              <a:t>Ethiopia</a:t>
            </a:r>
            <a:r>
              <a:rPr lang="en-US" dirty="0"/>
              <a:t>: Digitalization, national IDs</a:t>
            </a:r>
          </a:p>
          <a:p>
            <a:endParaRPr lang="en-US" dirty="0"/>
          </a:p>
          <a:p>
            <a:r>
              <a:rPr lang="en-US" dirty="0">
                <a:hlinkClick r:id="rId5"/>
              </a:rPr>
              <a:t>Rwanda</a:t>
            </a:r>
            <a:r>
              <a:rPr lang="en-US" dirty="0"/>
              <a:t>: Expanding access to land, credit, and digital financial services</a:t>
            </a:r>
          </a:p>
          <a:p>
            <a:endParaRPr lang="en-US" dirty="0"/>
          </a:p>
          <a:p>
            <a:r>
              <a:rPr lang="en-US" dirty="0">
                <a:hlinkClick r:id="rId6"/>
              </a:rPr>
              <a:t>Tanzania</a:t>
            </a:r>
            <a:r>
              <a:rPr lang="en-US" dirty="0"/>
              <a:t>: Loan provisions, training for entrepreneurs, analysis of gender gaps in financial inclusion</a:t>
            </a:r>
          </a:p>
          <a:p>
            <a:endParaRPr lang="en-US" dirty="0">
              <a:hlinkClick r:id="rId3"/>
            </a:endParaRPr>
          </a:p>
          <a:p>
            <a:r>
              <a:rPr lang="en-US" dirty="0">
                <a:hlinkClick r:id="rId3"/>
              </a:rPr>
              <a:t>Uganda</a:t>
            </a:r>
            <a:r>
              <a:rPr lang="en-US" dirty="0"/>
              <a:t>: Credit registries to support female financial inclusion </a:t>
            </a:r>
          </a:p>
        </p:txBody>
      </p:sp>
    </p:spTree>
    <p:extLst>
      <p:ext uri="{BB962C8B-B14F-4D97-AF65-F5344CB8AC3E}">
        <p14:creationId xmlns:p14="http://schemas.microsoft.com/office/powerpoint/2010/main" val="2866688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C40E8E-EB2A-E8E5-508B-EB9D5ED62E41}"/>
              </a:ext>
            </a:extLst>
          </p:cNvPr>
          <p:cNvSpPr>
            <a:spLocks noGrp="1"/>
          </p:cNvSpPr>
          <p:nvPr>
            <p:ph type="title"/>
          </p:nvPr>
        </p:nvSpPr>
        <p:spPr/>
        <p:txBody>
          <a:bodyPr/>
          <a:lstStyle/>
          <a:p>
            <a:r>
              <a:rPr lang="en-US" dirty="0"/>
              <a:t>Policy Interventions Studies</a:t>
            </a:r>
          </a:p>
        </p:txBody>
      </p:sp>
    </p:spTree>
    <p:extLst>
      <p:ext uri="{BB962C8B-B14F-4D97-AF65-F5344CB8AC3E}">
        <p14:creationId xmlns:p14="http://schemas.microsoft.com/office/powerpoint/2010/main" val="368338909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9C76F-7B77-8522-E7BD-2AFEE6604CC4}"/>
            </a:ext>
          </a:extLst>
        </p:cNvPr>
        <p:cNvGrpSpPr/>
        <p:nvPr/>
      </p:nvGrpSpPr>
      <p:grpSpPr>
        <a:xfrm>
          <a:off x="0" y="0"/>
          <a:ext cx="0" cy="0"/>
          <a:chOff x="0" y="0"/>
          <a:chExt cx="0" cy="0"/>
        </a:xfrm>
      </p:grpSpPr>
      <p:sp>
        <p:nvSpPr>
          <p:cNvPr id="23" name="Title 1">
            <a:extLst>
              <a:ext uri="{FF2B5EF4-FFF2-40B4-BE49-F238E27FC236}">
                <a16:creationId xmlns:a16="http://schemas.microsoft.com/office/drawing/2014/main" id="{FF742DC5-1B7E-C519-710A-26E766B0EB92}"/>
              </a:ext>
            </a:extLst>
          </p:cNvPr>
          <p:cNvSpPr>
            <a:spLocks noGrp="1"/>
          </p:cNvSpPr>
          <p:nvPr>
            <p:ph type="title"/>
          </p:nvPr>
        </p:nvSpPr>
        <p:spPr>
          <a:xfrm>
            <a:off x="1026723" y="275984"/>
            <a:ext cx="10138554" cy="978486"/>
          </a:xfrm>
        </p:spPr>
        <p:txBody>
          <a:bodyPr vert="horz" lIns="0" tIns="0" rIns="0" bIns="0" rtlCol="0" anchor="ctr">
            <a:normAutofit/>
          </a:bodyPr>
          <a:lstStyle/>
          <a:p>
            <a:pPr algn="ctr"/>
            <a:r>
              <a:rPr lang="en-US" sz="3600" dirty="0">
                <a:solidFill>
                  <a:schemeClr val="bg1"/>
                </a:solidFill>
                <a:latin typeface="Arial" panose="020B0604020202020204" pitchFamily="34" charset="0"/>
                <a:ea typeface="+mj-ea"/>
                <a:cs typeface="Arial" panose="020B0604020202020204" pitchFamily="34" charset="0"/>
              </a:rPr>
              <a:t>Harvard’s Gender Action Portal</a:t>
            </a:r>
          </a:p>
        </p:txBody>
      </p:sp>
      <p:sp>
        <p:nvSpPr>
          <p:cNvPr id="9" name="Freeform: Shape 8">
            <a:extLst>
              <a:ext uri="{FF2B5EF4-FFF2-40B4-BE49-F238E27FC236}">
                <a16:creationId xmlns:a16="http://schemas.microsoft.com/office/drawing/2014/main" id="{029602B5-907C-028C-F658-0E6CA5D11E35}"/>
              </a:ext>
            </a:extLst>
          </p:cNvPr>
          <p:cNvSpPr/>
          <p:nvPr/>
        </p:nvSpPr>
        <p:spPr>
          <a:xfrm>
            <a:off x="5135124" y="1835264"/>
            <a:ext cx="6400800" cy="2743200"/>
          </a:xfrm>
          <a:custGeom>
            <a:avLst/>
            <a:gdLst>
              <a:gd name="connsiteX0" fmla="*/ 0 w 6405757"/>
              <a:gd name="connsiteY0" fmla="*/ 0 h 629732"/>
              <a:gd name="connsiteX1" fmla="*/ 6405757 w 6405757"/>
              <a:gd name="connsiteY1" fmla="*/ 0 h 629732"/>
              <a:gd name="connsiteX2" fmla="*/ 6405757 w 6405757"/>
              <a:gd name="connsiteY2" fmla="*/ 629732 h 629732"/>
              <a:gd name="connsiteX3" fmla="*/ 0 w 6405757"/>
              <a:gd name="connsiteY3" fmla="*/ 629732 h 629732"/>
              <a:gd name="connsiteX4" fmla="*/ 0 w 6405757"/>
              <a:gd name="connsiteY4" fmla="*/ 0 h 629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5757" h="629732">
                <a:moveTo>
                  <a:pt x="0" y="0"/>
                </a:moveTo>
                <a:lnTo>
                  <a:pt x="6405757" y="0"/>
                </a:lnTo>
                <a:lnTo>
                  <a:pt x="6405757" y="629732"/>
                </a:lnTo>
                <a:lnTo>
                  <a:pt x="0" y="629732"/>
                </a:lnTo>
                <a:lnTo>
                  <a:pt x="0" y="0"/>
                </a:lnTo>
                <a:close/>
              </a:path>
            </a:pathLst>
          </a:custGeom>
          <a:ln>
            <a:solidFill>
              <a:schemeClr val="accent1"/>
            </a:solidFill>
          </a:ln>
        </p:spPr>
        <p:style>
          <a:lnRef idx="2">
            <a:schemeClr val="dk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2">
              <a:hueOff val="0"/>
              <a:satOff val="0"/>
              <a:lumOff val="0"/>
              <a:alphaOff val="0"/>
            </a:schemeClr>
          </a:fontRef>
        </p:style>
        <p:txBody>
          <a:bodyPr spcFirstLastPara="0" vert="horz" wrap="square" lIns="45720" tIns="45720" rIns="45720" bIns="45720" numCol="1" spcCol="1270" anchor="ctr" anchorCtr="0">
            <a:noAutofit/>
          </a:bodyPr>
          <a:lstStyle/>
          <a:p>
            <a:pPr marL="169863" marR="0" lvl="1" indent="-169863" defTabSz="533400">
              <a:spcBef>
                <a:spcPct val="0"/>
              </a:spcBef>
              <a:spcAft>
                <a:spcPct val="15000"/>
              </a:spcAft>
              <a:buSzPct val="100000"/>
              <a:buFont typeface="Arial" panose="020B0604020202020204" pitchFamily="34" charset="0"/>
              <a:buChar char="•"/>
              <a:tabLst>
                <a:tab pos="457200" algn="l"/>
              </a:tabLst>
            </a:pPr>
            <a:r>
              <a:rPr lang="en-US" sz="2000" dirty="0">
                <a:solidFill>
                  <a:schemeClr val="tx1"/>
                </a:solidFill>
              </a:rPr>
              <a:t>A resource by Harvard Kennedy School Women &amp; Public Policy Program</a:t>
            </a:r>
          </a:p>
          <a:p>
            <a:pPr marL="169863" marR="0" lvl="1" indent="-169863" defTabSz="533400">
              <a:spcBef>
                <a:spcPct val="0"/>
              </a:spcBef>
              <a:spcAft>
                <a:spcPct val="15000"/>
              </a:spcAft>
              <a:buSzPct val="100000"/>
              <a:buFont typeface="Arial" panose="020B0604020202020204" pitchFamily="34" charset="0"/>
              <a:buChar char="•"/>
              <a:tabLst>
                <a:tab pos="457200" algn="l"/>
              </a:tabLst>
            </a:pPr>
            <a:r>
              <a:rPr lang="en-US" sz="2000" dirty="0">
                <a:solidFill>
                  <a:schemeClr val="tx1"/>
                </a:solidFill>
              </a:rPr>
              <a:t>Explores intersectional research on gender equality</a:t>
            </a:r>
          </a:p>
          <a:p>
            <a:pPr marL="169863" marR="0" lvl="1" indent="-169863" defTabSz="533400">
              <a:spcBef>
                <a:spcPct val="0"/>
              </a:spcBef>
              <a:spcAft>
                <a:spcPct val="15000"/>
              </a:spcAft>
              <a:buSzPct val="100000"/>
              <a:buFont typeface="Arial" panose="020B0604020202020204" pitchFamily="34" charset="0"/>
              <a:buChar char="•"/>
              <a:tabLst>
                <a:tab pos="457200" algn="l"/>
              </a:tabLst>
            </a:pPr>
            <a:r>
              <a:rPr lang="en-US" sz="2000" dirty="0">
                <a:solidFill>
                  <a:schemeClr val="tx1"/>
                </a:solidFill>
              </a:rPr>
              <a:t>Incorporates a gender perspective into thought leadership &amp; policymaking</a:t>
            </a:r>
          </a:p>
          <a:p>
            <a:pPr marL="169863" marR="0" lvl="1" indent="-169863" defTabSz="533400">
              <a:spcBef>
                <a:spcPct val="0"/>
              </a:spcBef>
              <a:spcAft>
                <a:spcPct val="15000"/>
              </a:spcAft>
              <a:buSzPct val="100000"/>
              <a:buFont typeface="Arial" panose="020B0604020202020204" pitchFamily="34" charset="0"/>
              <a:buChar char="•"/>
              <a:tabLst>
                <a:tab pos="457200" algn="l"/>
              </a:tabLst>
            </a:pPr>
            <a:r>
              <a:rPr lang="en-US" sz="2000" dirty="0">
                <a:solidFill>
                  <a:schemeClr val="tx1"/>
                </a:solidFill>
              </a:rPr>
              <a:t>Includes 324 studies by 850 researchers; covering 20 topics from 47 countries</a:t>
            </a:r>
          </a:p>
          <a:p>
            <a:pPr marL="169863" marR="0" lvl="1" indent="-169863" defTabSz="533400">
              <a:spcBef>
                <a:spcPct val="0"/>
              </a:spcBef>
              <a:spcAft>
                <a:spcPct val="15000"/>
              </a:spcAft>
              <a:buSzPct val="100000"/>
              <a:buFont typeface="Arial" panose="020B0604020202020204" pitchFamily="34" charset="0"/>
              <a:buChar char="•"/>
              <a:tabLst>
                <a:tab pos="457200" algn="l"/>
              </a:tabLst>
            </a:pPr>
            <a:endParaRPr lang="en-US" dirty="0">
              <a:solidFill>
                <a:schemeClr val="tx1"/>
              </a:solidFill>
            </a:endParaRPr>
          </a:p>
        </p:txBody>
      </p:sp>
      <p:sp>
        <p:nvSpPr>
          <p:cNvPr id="2" name="Pentagon 2">
            <a:extLst>
              <a:ext uri="{FF2B5EF4-FFF2-40B4-BE49-F238E27FC236}">
                <a16:creationId xmlns:a16="http://schemas.microsoft.com/office/drawing/2014/main" id="{21EFA58F-C033-9ADE-5799-D71BBFE16630}"/>
              </a:ext>
            </a:extLst>
          </p:cNvPr>
          <p:cNvSpPr/>
          <p:nvPr/>
        </p:nvSpPr>
        <p:spPr>
          <a:xfrm>
            <a:off x="635710" y="2267850"/>
            <a:ext cx="1416922" cy="1384243"/>
          </a:xfrm>
          <a:prstGeom prst="homePlate">
            <a:avLst>
              <a:gd name="adj" fmla="val 29569"/>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8" name="Graphic 17" descr="Lightbulb and gear">
            <a:extLst>
              <a:ext uri="{FF2B5EF4-FFF2-40B4-BE49-F238E27FC236}">
                <a16:creationId xmlns:a16="http://schemas.microsoft.com/office/drawing/2014/main" id="{3ACFE839-A306-62B0-8E2A-39A1A11BF2E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253" y="2457805"/>
            <a:ext cx="1004331" cy="1004331"/>
          </a:xfrm>
          <a:prstGeom prst="rect">
            <a:avLst/>
          </a:prstGeom>
        </p:spPr>
      </p:pic>
      <p:sp>
        <p:nvSpPr>
          <p:cNvPr id="21" name="Rectangle 20">
            <a:extLst>
              <a:ext uri="{FF2B5EF4-FFF2-40B4-BE49-F238E27FC236}">
                <a16:creationId xmlns:a16="http://schemas.microsoft.com/office/drawing/2014/main" id="{E48E5405-3342-7787-13B0-D18F977EC32C}"/>
              </a:ext>
            </a:extLst>
          </p:cNvPr>
          <p:cNvSpPr/>
          <p:nvPr/>
        </p:nvSpPr>
        <p:spPr>
          <a:xfrm>
            <a:off x="2292710" y="2450513"/>
            <a:ext cx="2670773" cy="9784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1200"/>
              </a:spcAft>
            </a:pPr>
            <a:r>
              <a:rPr lang="en-US" sz="2800" dirty="0">
                <a:solidFill>
                  <a:schemeClr val="tx1"/>
                </a:solidFill>
                <a:latin typeface="Arial Black" panose="020B0A04020102020204" pitchFamily="34" charset="0"/>
                <a:hlinkClick r:id="rId4"/>
              </a:rPr>
              <a:t>Harvard’s GAP</a:t>
            </a:r>
            <a:endParaRPr lang="en-US" dirty="0">
              <a:solidFill>
                <a:schemeClr val="tx1"/>
              </a:solidFill>
              <a:latin typeface="Arial Black" panose="020B0A04020102020204" pitchFamily="34" charset="0"/>
            </a:endParaRPr>
          </a:p>
        </p:txBody>
      </p:sp>
      <p:pic>
        <p:nvPicPr>
          <p:cNvPr id="40" name="Graphic 39" descr="Open book outline">
            <a:extLst>
              <a:ext uri="{FF2B5EF4-FFF2-40B4-BE49-F238E27FC236}">
                <a16:creationId xmlns:a16="http://schemas.microsoft.com/office/drawing/2014/main" id="{F352EE50-0520-F7FB-D110-2F53A9C3510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3522" y="5409818"/>
            <a:ext cx="909110" cy="909110"/>
          </a:xfrm>
          <a:prstGeom prst="rect">
            <a:avLst/>
          </a:prstGeom>
        </p:spPr>
      </p:pic>
      <p:sp>
        <p:nvSpPr>
          <p:cNvPr id="20" name="Rectangle 19">
            <a:extLst>
              <a:ext uri="{FF2B5EF4-FFF2-40B4-BE49-F238E27FC236}">
                <a16:creationId xmlns:a16="http://schemas.microsoft.com/office/drawing/2014/main" id="{6E42A8C9-24DD-9752-5D67-34A93251FE4A}"/>
              </a:ext>
            </a:extLst>
          </p:cNvPr>
          <p:cNvSpPr/>
          <p:nvPr/>
        </p:nvSpPr>
        <p:spPr>
          <a:xfrm>
            <a:off x="4963483" y="1835264"/>
            <a:ext cx="45719" cy="2743200"/>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68575BED-ACFE-AE2E-3376-69C0074687EF}"/>
              </a:ext>
            </a:extLst>
          </p:cNvPr>
          <p:cNvSpPr txBox="1"/>
          <p:nvPr/>
        </p:nvSpPr>
        <p:spPr>
          <a:xfrm>
            <a:off x="635710" y="5237901"/>
            <a:ext cx="10529567" cy="584775"/>
          </a:xfrm>
          <a:prstGeom prst="rect">
            <a:avLst/>
          </a:prstGeom>
          <a:noFill/>
        </p:spPr>
        <p:txBody>
          <a:bodyPr wrap="square" rtlCol="0">
            <a:spAutoFit/>
          </a:bodyPr>
          <a:lstStyle/>
          <a:p>
            <a:r>
              <a:rPr lang="en-US" sz="1600" i="1" dirty="0"/>
              <a:t>Disclaimer: The findings of these studies are those of the authors and do not necessarily represent the views of the IMF, its Executive Board or IMF Management.</a:t>
            </a:r>
          </a:p>
        </p:txBody>
      </p:sp>
    </p:spTree>
    <p:extLst>
      <p:ext uri="{BB962C8B-B14F-4D97-AF65-F5344CB8AC3E}">
        <p14:creationId xmlns:p14="http://schemas.microsoft.com/office/powerpoint/2010/main" val="91345881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5B54E2-A3C2-56FC-526F-F3FF19277F74}"/>
              </a:ext>
            </a:extLst>
          </p:cNvPr>
          <p:cNvSpPr>
            <a:spLocks noGrp="1"/>
          </p:cNvSpPr>
          <p:nvPr>
            <p:ph type="title"/>
          </p:nvPr>
        </p:nvSpPr>
        <p:spPr/>
        <p:txBody>
          <a:bodyPr/>
          <a:lstStyle/>
          <a:p>
            <a:r>
              <a:rPr lang="en-US" dirty="0"/>
              <a:t>Policy Experiments: Harvard’s GAP</a:t>
            </a:r>
          </a:p>
        </p:txBody>
      </p:sp>
      <p:sp>
        <p:nvSpPr>
          <p:cNvPr id="5" name="Content Placeholder 4">
            <a:extLst>
              <a:ext uri="{FF2B5EF4-FFF2-40B4-BE49-F238E27FC236}">
                <a16:creationId xmlns:a16="http://schemas.microsoft.com/office/drawing/2014/main" id="{820CEB4C-0CD9-CD1B-62D0-358D6C577475}"/>
              </a:ext>
            </a:extLst>
          </p:cNvPr>
          <p:cNvSpPr>
            <a:spLocks noGrp="1"/>
          </p:cNvSpPr>
          <p:nvPr>
            <p:ph idx="1"/>
          </p:nvPr>
        </p:nvSpPr>
        <p:spPr/>
        <p:txBody>
          <a:bodyPr>
            <a:normAutofit/>
          </a:bodyPr>
          <a:lstStyle/>
          <a:p>
            <a:pPr marL="457200" indent="-457200">
              <a:spcBef>
                <a:spcPts val="3600"/>
              </a:spcBef>
              <a:buFont typeface="+mj-lt"/>
              <a:buAutoNum type="arabicPeriod"/>
            </a:pPr>
            <a:r>
              <a:rPr lang="en-US" sz="2000" dirty="0">
                <a:hlinkClick r:id="rId2"/>
              </a:rPr>
              <a:t>On Her Own Account: How Strengthening Women’s Financial Control Impacts Labor Supply and Gender Norms</a:t>
            </a:r>
            <a:endParaRPr lang="en-US" sz="2000" dirty="0"/>
          </a:p>
          <a:p>
            <a:pPr marL="457200" indent="-457200" fontAlgn="ctr">
              <a:spcBef>
                <a:spcPts val="3600"/>
              </a:spcBef>
              <a:buFont typeface="+mj-lt"/>
              <a:buAutoNum type="arabicPeriod"/>
            </a:pPr>
            <a:r>
              <a:rPr lang="en-US" sz="2000" dirty="0">
                <a:hlinkClick r:id="rId3"/>
              </a:rPr>
              <a:t>Savings Constraints and Microenterprise Development: Evidence from a Field Experiment in Kenya</a:t>
            </a:r>
            <a:endParaRPr lang="en-US" sz="2000" dirty="0"/>
          </a:p>
          <a:p>
            <a:pPr marL="457200" indent="-457200" fontAlgn="ctr">
              <a:spcBef>
                <a:spcPts val="3600"/>
              </a:spcBef>
              <a:buFont typeface="+mj-lt"/>
              <a:buAutoNum type="arabicPeriod"/>
            </a:pPr>
            <a:r>
              <a:rPr lang="en-US" sz="2000" dirty="0">
                <a:hlinkClick r:id="rId4"/>
              </a:rPr>
              <a:t>The Economic Returns to Social Interaction: Experimental Evidence from Microfinance</a:t>
            </a:r>
            <a:endParaRPr lang="en-US" sz="2000" dirty="0"/>
          </a:p>
        </p:txBody>
      </p:sp>
    </p:spTree>
    <p:extLst>
      <p:ext uri="{BB962C8B-B14F-4D97-AF65-F5344CB8AC3E}">
        <p14:creationId xmlns:p14="http://schemas.microsoft.com/office/powerpoint/2010/main" val="1956053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E4CE0E-AC3A-F2E2-E554-4B6AB5C953E7}"/>
              </a:ext>
            </a:extLst>
          </p:cNvPr>
          <p:cNvSpPr>
            <a:spLocks noGrp="1"/>
          </p:cNvSpPr>
          <p:nvPr>
            <p:ph type="title"/>
          </p:nvPr>
        </p:nvSpPr>
        <p:spPr/>
        <p:txBody>
          <a:bodyPr/>
          <a:lstStyle/>
          <a:p>
            <a:r>
              <a:rPr lang="en-US" dirty="0"/>
              <a:t>1) “On Her Own Account”</a:t>
            </a:r>
          </a:p>
        </p:txBody>
      </p:sp>
      <p:sp>
        <p:nvSpPr>
          <p:cNvPr id="5" name="Content Placeholder 4">
            <a:extLst>
              <a:ext uri="{FF2B5EF4-FFF2-40B4-BE49-F238E27FC236}">
                <a16:creationId xmlns:a16="http://schemas.microsoft.com/office/drawing/2014/main" id="{05DB1BE4-69F1-3F08-9975-E76245AC8A2C}"/>
              </a:ext>
            </a:extLst>
          </p:cNvPr>
          <p:cNvSpPr>
            <a:spLocks noGrp="1"/>
          </p:cNvSpPr>
          <p:nvPr>
            <p:ph idx="1"/>
          </p:nvPr>
        </p:nvSpPr>
        <p:spPr/>
        <p:txBody>
          <a:bodyPr>
            <a:normAutofit fontScale="85000" lnSpcReduction="20000"/>
          </a:bodyPr>
          <a:lstStyle/>
          <a:p>
            <a:pPr lvl="0">
              <a:lnSpc>
                <a:spcPct val="120000"/>
              </a:lnSpc>
            </a:pPr>
            <a:r>
              <a:rPr lang="en-US" sz="2200" b="1" dirty="0"/>
              <a:t>Target:</a:t>
            </a:r>
            <a:r>
              <a:rPr lang="en-US" sz="2200" dirty="0"/>
              <a:t> Women in rural Madhya Pradesh, India, who were eligible for the national workfare program (MGNREGS).</a:t>
            </a:r>
          </a:p>
          <a:p>
            <a:pPr lvl="0">
              <a:lnSpc>
                <a:spcPct val="120000"/>
              </a:lnSpc>
            </a:pPr>
            <a:r>
              <a:rPr lang="en-US" sz="2200" b="1" dirty="0"/>
              <a:t>The Goal:</a:t>
            </a:r>
            <a:r>
              <a:rPr lang="en-US" sz="2200" dirty="0"/>
              <a:t> To determine if simply having an account is enough, or if women need both </a:t>
            </a:r>
            <a:r>
              <a:rPr lang="en-US" sz="2200" b="1" dirty="0"/>
              <a:t>direct ownership</a:t>
            </a:r>
            <a:r>
              <a:rPr lang="en-US" sz="2200" dirty="0"/>
              <a:t> of their wages and </a:t>
            </a:r>
            <a:r>
              <a:rPr lang="en-US" sz="2200" b="1" dirty="0"/>
              <a:t>technical agency</a:t>
            </a:r>
            <a:r>
              <a:rPr lang="en-US" sz="2200" dirty="0"/>
              <a:t> to overcome household barriers to working.</a:t>
            </a:r>
          </a:p>
          <a:p>
            <a:pPr lvl="0">
              <a:lnSpc>
                <a:spcPct val="120000"/>
              </a:lnSpc>
            </a:pPr>
            <a:r>
              <a:rPr lang="en-US" sz="2200" b="1" dirty="0"/>
              <a:t>The Intervention:</a:t>
            </a:r>
            <a:r>
              <a:rPr lang="en-US" sz="2200" dirty="0"/>
              <a:t> A Randomized Controlled Trial (RCT) with four groups. The most effective "high-intensity" group received:</a:t>
            </a:r>
          </a:p>
          <a:p>
            <a:pPr lvl="1">
              <a:lnSpc>
                <a:spcPct val="120000"/>
              </a:lnSpc>
            </a:pPr>
            <a:r>
              <a:rPr lang="en-US" sz="2200" b="1" dirty="0"/>
              <a:t>Individual Accounts:</a:t>
            </a:r>
            <a:r>
              <a:rPr lang="en-US" sz="2200" dirty="0"/>
              <a:t> Assistance in opening a private bank account.</a:t>
            </a:r>
          </a:p>
          <a:p>
            <a:pPr lvl="1">
              <a:lnSpc>
                <a:spcPct val="120000"/>
              </a:lnSpc>
            </a:pPr>
            <a:r>
              <a:rPr lang="en-US" sz="2200" b="1" dirty="0"/>
              <a:t>Direct Deposit:</a:t>
            </a:r>
            <a:r>
              <a:rPr lang="en-US" sz="2200" dirty="0"/>
              <a:t> Legal redirection of their government wages into that private account (rather than a shared household account).</a:t>
            </a:r>
          </a:p>
          <a:p>
            <a:pPr lvl="1">
              <a:lnSpc>
                <a:spcPct val="120000"/>
              </a:lnSpc>
            </a:pPr>
            <a:r>
              <a:rPr lang="en-US" sz="2200" b="1" dirty="0"/>
              <a:t>Technical Training:</a:t>
            </a:r>
            <a:r>
              <a:rPr lang="en-US" sz="2200" dirty="0"/>
              <a:t> A 2-hour "hands-on" session. Researchers took women to local banking kiosks and taught them how to use biometric smartcards, check their balance privately, and withdraw cash without needing a male relative to act as an intermediary.</a:t>
            </a:r>
          </a:p>
          <a:p>
            <a:endParaRPr lang="en-US" dirty="0"/>
          </a:p>
        </p:txBody>
      </p:sp>
    </p:spTree>
    <p:extLst>
      <p:ext uri="{BB962C8B-B14F-4D97-AF65-F5344CB8AC3E}">
        <p14:creationId xmlns:p14="http://schemas.microsoft.com/office/powerpoint/2010/main" val="4045873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6BEA5-5E14-4366-F912-FE0B6EF01ED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AC81A9D-982F-3C6D-0090-E88667901C69}"/>
              </a:ext>
            </a:extLst>
          </p:cNvPr>
          <p:cNvSpPr>
            <a:spLocks noGrp="1"/>
          </p:cNvSpPr>
          <p:nvPr>
            <p:ph type="title"/>
          </p:nvPr>
        </p:nvSpPr>
        <p:spPr/>
        <p:txBody>
          <a:bodyPr/>
          <a:lstStyle/>
          <a:p>
            <a:r>
              <a:rPr lang="en-US" dirty="0"/>
              <a:t>1) “On Her Own Account”</a:t>
            </a:r>
          </a:p>
        </p:txBody>
      </p:sp>
      <p:sp>
        <p:nvSpPr>
          <p:cNvPr id="5" name="Content Placeholder 4">
            <a:extLst>
              <a:ext uri="{FF2B5EF4-FFF2-40B4-BE49-F238E27FC236}">
                <a16:creationId xmlns:a16="http://schemas.microsoft.com/office/drawing/2014/main" id="{AA3B5FBC-014D-5E21-E9B2-FBBAB61D7329}"/>
              </a:ext>
            </a:extLst>
          </p:cNvPr>
          <p:cNvSpPr>
            <a:spLocks noGrp="1"/>
          </p:cNvSpPr>
          <p:nvPr>
            <p:ph idx="1"/>
          </p:nvPr>
        </p:nvSpPr>
        <p:spPr/>
        <p:txBody>
          <a:bodyPr>
            <a:normAutofit/>
          </a:bodyPr>
          <a:lstStyle/>
          <a:p>
            <a:pPr lvl="0">
              <a:lnSpc>
                <a:spcPct val="120000"/>
              </a:lnSpc>
            </a:pPr>
            <a:r>
              <a:rPr lang="en-US" sz="2200" b="1" dirty="0"/>
              <a:t>Key Results: </a:t>
            </a:r>
            <a:r>
              <a:rPr lang="en-US" sz="2200" dirty="0"/>
              <a:t>Only the women who received the Training + Direct Deposit significantly increased their labor supply and developed more liberal gender norms.</a:t>
            </a:r>
          </a:p>
          <a:p>
            <a:pPr lvl="0">
              <a:lnSpc>
                <a:spcPct val="120000"/>
              </a:lnSpc>
            </a:pPr>
            <a:r>
              <a:rPr lang="en-US" sz="2200" b="1" dirty="0"/>
              <a:t>Explanation: </a:t>
            </a:r>
            <a:r>
              <a:rPr lang="en-US" sz="2200" dirty="0"/>
              <a:t>Direct control over money changes the power dynamic at home. When a woman knows how to manage her money privately, the "cost" of working decreases because her earnings are shielded from being "taxed" or controlled by other family members. This proves that financial literacy and privacy are just as important as financial access.</a:t>
            </a:r>
          </a:p>
          <a:p>
            <a:endParaRPr lang="en-US" dirty="0"/>
          </a:p>
        </p:txBody>
      </p:sp>
    </p:spTree>
    <p:extLst>
      <p:ext uri="{BB962C8B-B14F-4D97-AF65-F5344CB8AC3E}">
        <p14:creationId xmlns:p14="http://schemas.microsoft.com/office/powerpoint/2010/main" val="3685407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714E0-0AEF-2F70-0E51-F0BC3015A4B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8298411-26DF-743E-928F-931FF4AC9548}"/>
              </a:ext>
            </a:extLst>
          </p:cNvPr>
          <p:cNvSpPr>
            <a:spLocks noGrp="1"/>
          </p:cNvSpPr>
          <p:nvPr>
            <p:ph type="title"/>
          </p:nvPr>
        </p:nvSpPr>
        <p:spPr/>
        <p:txBody>
          <a:bodyPr/>
          <a:lstStyle/>
          <a:p>
            <a:r>
              <a:rPr lang="en-US" dirty="0"/>
              <a:t>2) “Savings Constraints &amp; Microenterprise ”</a:t>
            </a:r>
          </a:p>
        </p:txBody>
      </p:sp>
      <p:sp>
        <p:nvSpPr>
          <p:cNvPr id="5" name="Content Placeholder 4">
            <a:extLst>
              <a:ext uri="{FF2B5EF4-FFF2-40B4-BE49-F238E27FC236}">
                <a16:creationId xmlns:a16="http://schemas.microsoft.com/office/drawing/2014/main" id="{1BC4E411-DA49-434D-5CA1-A6382C6CE93E}"/>
              </a:ext>
            </a:extLst>
          </p:cNvPr>
          <p:cNvSpPr>
            <a:spLocks noGrp="1"/>
          </p:cNvSpPr>
          <p:nvPr>
            <p:ph idx="1"/>
          </p:nvPr>
        </p:nvSpPr>
        <p:spPr/>
        <p:txBody>
          <a:bodyPr>
            <a:normAutofit lnSpcReduction="10000"/>
          </a:bodyPr>
          <a:lstStyle/>
          <a:p>
            <a:pPr lvl="0">
              <a:lnSpc>
                <a:spcPct val="120000"/>
              </a:lnSpc>
            </a:pPr>
            <a:r>
              <a:rPr lang="en-US" sz="2200" b="1" dirty="0"/>
              <a:t>Target</a:t>
            </a:r>
            <a:r>
              <a:rPr lang="en-US" sz="2200" dirty="0"/>
              <a:t>: Daily-income earners in rural Kenya, specifically female market vendors and male bicycle taxi drivers.</a:t>
            </a:r>
          </a:p>
          <a:p>
            <a:pPr lvl="0">
              <a:lnSpc>
                <a:spcPct val="120000"/>
              </a:lnSpc>
            </a:pPr>
            <a:r>
              <a:rPr lang="en-US" sz="2200" b="1" dirty="0"/>
              <a:t>The Goal</a:t>
            </a:r>
            <a:r>
              <a:rPr lang="en-US" sz="2200" dirty="0"/>
              <a:t>: To test if a "safe place to keep money" is a more significant barrier to business growth than the cost of credit or interest rates.</a:t>
            </a:r>
          </a:p>
          <a:p>
            <a:pPr lvl="0">
              <a:lnSpc>
                <a:spcPct val="120000"/>
              </a:lnSpc>
            </a:pPr>
            <a:r>
              <a:rPr lang="en-US" sz="2200" b="1" dirty="0"/>
              <a:t>The Intervention</a:t>
            </a:r>
            <a:r>
              <a:rPr lang="en-US" sz="2200" dirty="0"/>
              <a:t>: Researchers partnered with a local village bank to provide:</a:t>
            </a:r>
          </a:p>
          <a:p>
            <a:pPr lvl="1">
              <a:lnSpc>
                <a:spcPct val="120000"/>
              </a:lnSpc>
            </a:pPr>
            <a:r>
              <a:rPr lang="en-US" sz="1800" dirty="0"/>
              <a:t>Subsidized Entry: They paid the $6 account opening fee and provided the minimum balance for the treatment group.</a:t>
            </a:r>
          </a:p>
          <a:p>
            <a:pPr lvl="1">
              <a:lnSpc>
                <a:spcPct val="120000"/>
              </a:lnSpc>
            </a:pPr>
            <a:r>
              <a:rPr lang="en-US" sz="1800" dirty="0"/>
              <a:t>Intentional Friction: The accounts paid 0% interest and actually charged a $0.50 withdrawal fee.</a:t>
            </a:r>
          </a:p>
          <a:p>
            <a:pPr lvl="1">
              <a:lnSpc>
                <a:spcPct val="120000"/>
              </a:lnSpc>
            </a:pPr>
            <a:r>
              <a:rPr lang="en-US" sz="1800" dirty="0"/>
              <a:t>Usage Tracking: Researchers monitored daily deposits to see if participants used the bank to store small daily surpluses that would otherwise be spent or given away.</a:t>
            </a:r>
          </a:p>
          <a:p>
            <a:pPr lvl="1">
              <a:lnSpc>
                <a:spcPct val="120000"/>
              </a:lnSpc>
            </a:pPr>
            <a:endParaRPr lang="en-US" sz="1800" dirty="0"/>
          </a:p>
          <a:p>
            <a:endParaRPr lang="en-US" dirty="0"/>
          </a:p>
        </p:txBody>
      </p:sp>
    </p:spTree>
    <p:extLst>
      <p:ext uri="{BB962C8B-B14F-4D97-AF65-F5344CB8AC3E}">
        <p14:creationId xmlns:p14="http://schemas.microsoft.com/office/powerpoint/2010/main" val="37666917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7DD97-0731-1417-F643-6EACB7DE4E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F736918-F2F8-FD56-20FE-7875043F7E1D}"/>
              </a:ext>
            </a:extLst>
          </p:cNvPr>
          <p:cNvSpPr>
            <a:spLocks noGrp="1"/>
          </p:cNvSpPr>
          <p:nvPr>
            <p:ph type="title"/>
          </p:nvPr>
        </p:nvSpPr>
        <p:spPr/>
        <p:txBody>
          <a:bodyPr/>
          <a:lstStyle/>
          <a:p>
            <a:r>
              <a:rPr lang="en-US" dirty="0"/>
              <a:t>2) “Savings Constraints &amp; Microenterprise ”</a:t>
            </a:r>
          </a:p>
        </p:txBody>
      </p:sp>
      <p:sp>
        <p:nvSpPr>
          <p:cNvPr id="5" name="Content Placeholder 4">
            <a:extLst>
              <a:ext uri="{FF2B5EF4-FFF2-40B4-BE49-F238E27FC236}">
                <a16:creationId xmlns:a16="http://schemas.microsoft.com/office/drawing/2014/main" id="{5D14A78A-32C4-8B76-DBFA-D1A2A36BDDE3}"/>
              </a:ext>
            </a:extLst>
          </p:cNvPr>
          <p:cNvSpPr>
            <a:spLocks noGrp="1"/>
          </p:cNvSpPr>
          <p:nvPr>
            <p:ph idx="1"/>
          </p:nvPr>
        </p:nvSpPr>
        <p:spPr/>
        <p:txBody>
          <a:bodyPr>
            <a:normAutofit/>
          </a:bodyPr>
          <a:lstStyle/>
          <a:p>
            <a:pPr lvl="1">
              <a:lnSpc>
                <a:spcPct val="120000"/>
              </a:lnSpc>
            </a:pPr>
            <a:r>
              <a:rPr lang="en-US" sz="2000" b="1" dirty="0"/>
              <a:t>Key Results: </a:t>
            </a:r>
            <a:r>
              <a:rPr lang="en-US" sz="2000" dirty="0"/>
              <a:t>Female market vendors used the accounts heavily and increased their business investments by nearly 40%. Men saw no significant change.</a:t>
            </a:r>
          </a:p>
          <a:p>
            <a:pPr marL="457200" lvl="1" indent="0">
              <a:lnSpc>
                <a:spcPct val="120000"/>
              </a:lnSpc>
              <a:buNone/>
            </a:pPr>
            <a:endParaRPr lang="en-US" sz="2000" dirty="0"/>
          </a:p>
          <a:p>
            <a:pPr lvl="1">
              <a:lnSpc>
                <a:spcPct val="120000"/>
              </a:lnSpc>
            </a:pPr>
            <a:r>
              <a:rPr lang="en-US" sz="2000" b="1" dirty="0"/>
              <a:t>Explanation: </a:t>
            </a:r>
            <a:r>
              <a:rPr lang="en-US" sz="2000" dirty="0"/>
              <a:t>Women face high "social taxes"—constant pressure from their social network to lend out visible cash. The bank account acts as a shield, providing a socially acceptable excuse ("The money is in the bank") to refuse requests. This allows them to accumulate the "lumpy" sums of cash needed to buy inventory and grow their business.</a:t>
            </a:r>
          </a:p>
          <a:p>
            <a:pPr lvl="1">
              <a:lnSpc>
                <a:spcPct val="120000"/>
              </a:lnSpc>
            </a:pPr>
            <a:endParaRPr lang="en-US" sz="1800" dirty="0"/>
          </a:p>
          <a:p>
            <a:endParaRPr lang="en-US" dirty="0"/>
          </a:p>
        </p:txBody>
      </p:sp>
    </p:spTree>
    <p:extLst>
      <p:ext uri="{BB962C8B-B14F-4D97-AF65-F5344CB8AC3E}">
        <p14:creationId xmlns:p14="http://schemas.microsoft.com/office/powerpoint/2010/main" val="675329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C80AC-CE55-1323-8FA1-923EEB6943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67CBFC-50EB-5AE6-BD0C-F89B04D2A872}"/>
              </a:ext>
            </a:extLst>
          </p:cNvPr>
          <p:cNvSpPr>
            <a:spLocks noGrp="1"/>
          </p:cNvSpPr>
          <p:nvPr>
            <p:ph type="title"/>
          </p:nvPr>
        </p:nvSpPr>
        <p:spPr/>
        <p:txBody>
          <a:bodyPr/>
          <a:lstStyle/>
          <a:p>
            <a:r>
              <a:rPr lang="en-US" dirty="0"/>
              <a:t>3) “Economic Returns to Social Interaction ”</a:t>
            </a:r>
          </a:p>
        </p:txBody>
      </p:sp>
      <p:sp>
        <p:nvSpPr>
          <p:cNvPr id="5" name="Content Placeholder 4">
            <a:extLst>
              <a:ext uri="{FF2B5EF4-FFF2-40B4-BE49-F238E27FC236}">
                <a16:creationId xmlns:a16="http://schemas.microsoft.com/office/drawing/2014/main" id="{8F543AED-135C-2173-03AB-55E9E67EB6F3}"/>
              </a:ext>
            </a:extLst>
          </p:cNvPr>
          <p:cNvSpPr>
            <a:spLocks noGrp="1"/>
          </p:cNvSpPr>
          <p:nvPr>
            <p:ph idx="1"/>
          </p:nvPr>
        </p:nvSpPr>
        <p:spPr/>
        <p:txBody>
          <a:bodyPr>
            <a:normAutofit/>
          </a:bodyPr>
          <a:lstStyle/>
          <a:p>
            <a:pPr lvl="1">
              <a:lnSpc>
                <a:spcPct val="120000"/>
              </a:lnSpc>
            </a:pPr>
            <a:r>
              <a:rPr lang="en-US" sz="2000" b="1" dirty="0"/>
              <a:t>Target: </a:t>
            </a:r>
            <a:r>
              <a:rPr lang="en-US" sz="2000" dirty="0"/>
              <a:t>New female microfinance clients in West Bengal, India.</a:t>
            </a:r>
          </a:p>
          <a:p>
            <a:pPr lvl="1">
              <a:lnSpc>
                <a:spcPct val="120000"/>
              </a:lnSpc>
            </a:pPr>
            <a:r>
              <a:rPr lang="en-US" sz="2000" b="1" dirty="0"/>
              <a:t>The Goal: </a:t>
            </a:r>
            <a:r>
              <a:rPr lang="en-US" sz="2000" dirty="0"/>
              <a:t>To determine if the social frequency of meetings (sitting together) builds enough trust to reduce loan defaults and create a mutual support network.</a:t>
            </a:r>
          </a:p>
          <a:p>
            <a:pPr lvl="1">
              <a:lnSpc>
                <a:spcPct val="120000"/>
              </a:lnSpc>
            </a:pPr>
            <a:r>
              <a:rPr lang="en-US" sz="2000" b="1" dirty="0"/>
              <a:t>The Intervention: </a:t>
            </a:r>
            <a:r>
              <a:rPr lang="en-US" sz="2000" dirty="0"/>
              <a:t>Researchers randomized the mandatory meeting schedules for newly formed groups of 10 women:</a:t>
            </a:r>
          </a:p>
          <a:p>
            <a:pPr lvl="2">
              <a:lnSpc>
                <a:spcPct val="120000"/>
              </a:lnSpc>
            </a:pPr>
            <a:r>
              <a:rPr lang="en-US" sz="1600" dirty="0"/>
              <a:t>Weekly Meetings: Groups met 4 times a month to repay their loans.</a:t>
            </a:r>
          </a:p>
          <a:p>
            <a:pPr lvl="2">
              <a:lnSpc>
                <a:spcPct val="120000"/>
              </a:lnSpc>
            </a:pPr>
            <a:r>
              <a:rPr lang="en-US" sz="1600" dirty="0"/>
              <a:t>Monthly Meetings: Groups met only once a month to pay the same total amount.</a:t>
            </a:r>
          </a:p>
          <a:p>
            <a:pPr lvl="1">
              <a:lnSpc>
                <a:spcPct val="120000"/>
              </a:lnSpc>
            </a:pPr>
            <a:r>
              <a:rPr lang="en-US" sz="2000" b="1" dirty="0"/>
              <a:t>	The Experiment: </a:t>
            </a:r>
            <a:r>
              <a:rPr lang="en-US" sz="2000" dirty="0"/>
              <a:t>Both groups had the same loan terms; the only difference was how often they were forced to see each other. Researchers then tracked their interactions outside the meetings (visiting homes, sharing food) and their long-term repayment behavior.</a:t>
            </a:r>
          </a:p>
          <a:p>
            <a:pPr lvl="1">
              <a:lnSpc>
                <a:spcPct val="120000"/>
              </a:lnSpc>
            </a:pPr>
            <a:endParaRPr lang="en-US" sz="1800" dirty="0"/>
          </a:p>
          <a:p>
            <a:endParaRPr lang="en-US" dirty="0"/>
          </a:p>
        </p:txBody>
      </p:sp>
    </p:spTree>
    <p:extLst>
      <p:ext uri="{BB962C8B-B14F-4D97-AF65-F5344CB8AC3E}">
        <p14:creationId xmlns:p14="http://schemas.microsoft.com/office/powerpoint/2010/main" val="3816150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9D76B-C68A-38D4-D809-481BB0AC1A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2952DC7-1756-E4BF-A420-14073844E755}"/>
              </a:ext>
            </a:extLst>
          </p:cNvPr>
          <p:cNvSpPr>
            <a:spLocks noGrp="1"/>
          </p:cNvSpPr>
          <p:nvPr>
            <p:ph type="title"/>
          </p:nvPr>
        </p:nvSpPr>
        <p:spPr/>
        <p:txBody>
          <a:bodyPr/>
          <a:lstStyle/>
          <a:p>
            <a:r>
              <a:rPr lang="en-US" dirty="0"/>
              <a:t>3) “Economic Returns to Social Interaction ”</a:t>
            </a:r>
          </a:p>
        </p:txBody>
      </p:sp>
      <p:sp>
        <p:nvSpPr>
          <p:cNvPr id="5" name="Content Placeholder 4">
            <a:extLst>
              <a:ext uri="{FF2B5EF4-FFF2-40B4-BE49-F238E27FC236}">
                <a16:creationId xmlns:a16="http://schemas.microsoft.com/office/drawing/2014/main" id="{2C704DB5-DB4D-BF2B-6CD2-38A021B735EA}"/>
              </a:ext>
            </a:extLst>
          </p:cNvPr>
          <p:cNvSpPr>
            <a:spLocks noGrp="1"/>
          </p:cNvSpPr>
          <p:nvPr>
            <p:ph idx="1"/>
          </p:nvPr>
        </p:nvSpPr>
        <p:spPr/>
        <p:txBody>
          <a:bodyPr>
            <a:normAutofit/>
          </a:bodyPr>
          <a:lstStyle/>
          <a:p>
            <a:pPr lvl="1">
              <a:lnSpc>
                <a:spcPct val="120000"/>
              </a:lnSpc>
            </a:pPr>
            <a:r>
              <a:rPr lang="en-US" sz="2000" b="1" dirty="0"/>
              <a:t>Key Results: </a:t>
            </a:r>
            <a:r>
              <a:rPr lang="en-US" sz="2000" dirty="0"/>
              <a:t>Women who met weekly were three times less likely to default on future loans and shared much more business advice and childcare support.</a:t>
            </a:r>
          </a:p>
          <a:p>
            <a:pPr lvl="1">
              <a:lnSpc>
                <a:spcPct val="120000"/>
              </a:lnSpc>
            </a:pPr>
            <a:endParaRPr lang="en-US" sz="2000" dirty="0"/>
          </a:p>
          <a:p>
            <a:pPr lvl="1">
              <a:lnSpc>
                <a:spcPct val="120000"/>
              </a:lnSpc>
            </a:pPr>
            <a:r>
              <a:rPr lang="en-US" sz="2000" b="1" dirty="0"/>
              <a:t>Explanation: </a:t>
            </a:r>
            <a:r>
              <a:rPr lang="en-US" sz="2000" dirty="0"/>
              <a:t>Frequent interaction builds "social collateral." When women know each other well, they are more willing to step in and help a peer who has a bad week. For policy makers, this suggests that the "social" part of microfinance isn't a byproduct—it's the engine that makes the lending safe and the community more resilient.</a:t>
            </a:r>
          </a:p>
          <a:p>
            <a:pPr lvl="1">
              <a:lnSpc>
                <a:spcPct val="120000"/>
              </a:lnSpc>
            </a:pPr>
            <a:endParaRPr lang="en-US" sz="1800" dirty="0"/>
          </a:p>
          <a:p>
            <a:endParaRPr lang="en-US" dirty="0"/>
          </a:p>
        </p:txBody>
      </p:sp>
    </p:spTree>
    <p:extLst>
      <p:ext uri="{BB962C8B-B14F-4D97-AF65-F5344CB8AC3E}">
        <p14:creationId xmlns:p14="http://schemas.microsoft.com/office/powerpoint/2010/main" val="3242067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2BD30-090B-1297-CE5E-3C02B467B17F}"/>
              </a:ext>
            </a:extLst>
          </p:cNvPr>
          <p:cNvSpPr>
            <a:spLocks noGrp="1"/>
          </p:cNvSpPr>
          <p:nvPr>
            <p:ph type="title"/>
          </p:nvPr>
        </p:nvSpPr>
        <p:spPr/>
        <p:txBody>
          <a:bodyPr/>
          <a:lstStyle/>
          <a:p>
            <a:r>
              <a:rPr lang="en-US" b="1"/>
              <a:t>Data</a:t>
            </a:r>
          </a:p>
        </p:txBody>
      </p:sp>
    </p:spTree>
    <p:extLst>
      <p:ext uri="{BB962C8B-B14F-4D97-AF65-F5344CB8AC3E}">
        <p14:creationId xmlns:p14="http://schemas.microsoft.com/office/powerpoint/2010/main" val="1699253809"/>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3B3C8924-ED5E-1794-27FF-0F89DE8C8DA8}"/>
              </a:ext>
            </a:extLst>
          </p:cNvPr>
          <p:cNvSpPr>
            <a:spLocks noGrp="1"/>
          </p:cNvSpPr>
          <p:nvPr>
            <p:ph type="title"/>
          </p:nvPr>
        </p:nvSpPr>
        <p:spPr>
          <a:xfrm>
            <a:off x="1537195" y="9236"/>
            <a:ext cx="10192987" cy="978486"/>
          </a:xfrm>
        </p:spPr>
        <p:txBody>
          <a:bodyPr/>
          <a:lstStyle/>
          <a:p>
            <a:r>
              <a:rPr lang="en-US">
                <a:solidFill>
                  <a:schemeClr val="bg1"/>
                </a:solidFill>
              </a:rPr>
              <a:t>Financial inclusion: How is it measured?</a:t>
            </a:r>
          </a:p>
        </p:txBody>
      </p:sp>
      <p:sp>
        <p:nvSpPr>
          <p:cNvPr id="3" name="Flowchart: Process 2">
            <a:extLst>
              <a:ext uri="{FF2B5EF4-FFF2-40B4-BE49-F238E27FC236}">
                <a16:creationId xmlns:a16="http://schemas.microsoft.com/office/drawing/2014/main" id="{27D725AF-923F-B8A5-28B7-C03134EEA508}"/>
              </a:ext>
            </a:extLst>
          </p:cNvPr>
          <p:cNvSpPr/>
          <p:nvPr/>
        </p:nvSpPr>
        <p:spPr>
          <a:xfrm>
            <a:off x="1981200" y="1765965"/>
            <a:ext cx="3474720" cy="1024128"/>
          </a:xfrm>
          <a:prstGeom prst="flowChartProcess">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1"/>
                </a:solidFill>
              </a:rPr>
              <a:t>Supply Side Data</a:t>
            </a:r>
          </a:p>
        </p:txBody>
      </p:sp>
      <p:sp>
        <p:nvSpPr>
          <p:cNvPr id="10" name="Flowchart: Process 9">
            <a:extLst>
              <a:ext uri="{FF2B5EF4-FFF2-40B4-BE49-F238E27FC236}">
                <a16:creationId xmlns:a16="http://schemas.microsoft.com/office/drawing/2014/main" id="{B77FF38E-EC6C-2F66-24F2-EFFFE7C91654}"/>
              </a:ext>
            </a:extLst>
          </p:cNvPr>
          <p:cNvSpPr/>
          <p:nvPr/>
        </p:nvSpPr>
        <p:spPr>
          <a:xfrm>
            <a:off x="6461760" y="1765965"/>
            <a:ext cx="3474720" cy="1024128"/>
          </a:xfrm>
          <a:prstGeom prst="flowChartProcess">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1"/>
                </a:solidFill>
              </a:rPr>
              <a:t>Demand Side Data</a:t>
            </a:r>
          </a:p>
        </p:txBody>
      </p:sp>
      <p:pic>
        <p:nvPicPr>
          <p:cNvPr id="12" name="Picture 11">
            <a:extLst>
              <a:ext uri="{FF2B5EF4-FFF2-40B4-BE49-F238E27FC236}">
                <a16:creationId xmlns:a16="http://schemas.microsoft.com/office/drawing/2014/main" id="{7F505F95-1129-7758-D538-7E6ECBF37201}"/>
              </a:ext>
            </a:extLst>
          </p:cNvPr>
          <p:cNvPicPr>
            <a:picLocks noChangeAspect="1"/>
          </p:cNvPicPr>
          <p:nvPr/>
        </p:nvPicPr>
        <p:blipFill>
          <a:blip r:embed="rId3"/>
          <a:stretch>
            <a:fillRect/>
          </a:stretch>
        </p:blipFill>
        <p:spPr>
          <a:xfrm>
            <a:off x="1129022" y="3191827"/>
            <a:ext cx="9933955" cy="2797493"/>
          </a:xfrm>
          <a:prstGeom prst="rect">
            <a:avLst/>
          </a:prstGeom>
        </p:spPr>
      </p:pic>
    </p:spTree>
    <p:extLst>
      <p:ext uri="{BB962C8B-B14F-4D97-AF65-F5344CB8AC3E}">
        <p14:creationId xmlns:p14="http://schemas.microsoft.com/office/powerpoint/2010/main" val="1431380792"/>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3B3C8924-ED5E-1794-27FF-0F89DE8C8DA8}"/>
              </a:ext>
            </a:extLst>
          </p:cNvPr>
          <p:cNvSpPr>
            <a:spLocks noGrp="1"/>
          </p:cNvSpPr>
          <p:nvPr>
            <p:ph type="title"/>
          </p:nvPr>
        </p:nvSpPr>
        <p:spPr>
          <a:xfrm>
            <a:off x="1238250" y="151627"/>
            <a:ext cx="9715500" cy="978486"/>
          </a:xfrm>
        </p:spPr>
        <p:txBody>
          <a:bodyPr/>
          <a:lstStyle/>
          <a:p>
            <a:r>
              <a:rPr lang="en-US" dirty="0">
                <a:solidFill>
                  <a:schemeClr val="bg1"/>
                </a:solidFill>
              </a:rPr>
              <a:t>Financial Access – Demand Side Data</a:t>
            </a:r>
          </a:p>
        </p:txBody>
      </p:sp>
      <p:sp>
        <p:nvSpPr>
          <p:cNvPr id="2" name="TextBox 1">
            <a:extLst>
              <a:ext uri="{FF2B5EF4-FFF2-40B4-BE49-F238E27FC236}">
                <a16:creationId xmlns:a16="http://schemas.microsoft.com/office/drawing/2014/main" id="{9E3A0F56-8D33-F1E3-F996-7BFCB9B161A4}"/>
              </a:ext>
            </a:extLst>
          </p:cNvPr>
          <p:cNvSpPr txBox="1"/>
          <p:nvPr/>
        </p:nvSpPr>
        <p:spPr>
          <a:xfrm>
            <a:off x="611703" y="6187002"/>
            <a:ext cx="3924202" cy="338554"/>
          </a:xfrm>
          <a:prstGeom prst="rect">
            <a:avLst/>
          </a:prstGeom>
          <a:noFill/>
        </p:spPr>
        <p:txBody>
          <a:bodyPr wrap="square">
            <a:spAutoFit/>
          </a:bodyPr>
          <a:lstStyle/>
          <a:p>
            <a:r>
              <a:rPr lang="en-US" sz="1600" dirty="0"/>
              <a:t>Source: World Bank’s Findex</a:t>
            </a:r>
          </a:p>
        </p:txBody>
      </p:sp>
      <p:sp>
        <p:nvSpPr>
          <p:cNvPr id="5" name="TextBox 4">
            <a:extLst>
              <a:ext uri="{FF2B5EF4-FFF2-40B4-BE49-F238E27FC236}">
                <a16:creationId xmlns:a16="http://schemas.microsoft.com/office/drawing/2014/main" id="{7254F939-5AED-AC99-6807-45FD5DCD2D71}"/>
              </a:ext>
            </a:extLst>
          </p:cNvPr>
          <p:cNvSpPr txBox="1"/>
          <p:nvPr/>
        </p:nvSpPr>
        <p:spPr>
          <a:xfrm>
            <a:off x="3390997" y="1162600"/>
            <a:ext cx="5755833" cy="369332"/>
          </a:xfrm>
          <a:prstGeom prst="rect">
            <a:avLst/>
          </a:prstGeom>
          <a:noFill/>
        </p:spPr>
        <p:txBody>
          <a:bodyPr wrap="square">
            <a:spAutoFit/>
          </a:bodyPr>
          <a:lstStyle/>
          <a:p>
            <a:pPr marL="0" marR="0" algn="ctr">
              <a:spcBef>
                <a:spcPts val="0"/>
              </a:spcBef>
              <a:spcAft>
                <a:spcPts val="0"/>
              </a:spcAft>
            </a:pPr>
            <a:r>
              <a:rPr lang="en-US" sz="1800" b="1" i="0">
                <a:solidFill>
                  <a:srgbClr val="004C97"/>
                </a:solidFill>
                <a:effectLst/>
                <a:latin typeface="Arial" panose="020B0604020202020204" pitchFamily="34" charset="0"/>
                <a:ea typeface="Arial" panose="020B0604020202020204" pitchFamily="34" charset="0"/>
                <a:cs typeface="Times New Roman" panose="02020603050405020304" pitchFamily="18" charset="0"/>
              </a:rPr>
              <a:t>Account ownership (% of population ages 15+)</a:t>
            </a:r>
          </a:p>
        </p:txBody>
      </p:sp>
      <p:graphicFrame>
        <p:nvGraphicFramePr>
          <p:cNvPr id="8" name="Chart 7">
            <a:extLst>
              <a:ext uri="{FF2B5EF4-FFF2-40B4-BE49-F238E27FC236}">
                <a16:creationId xmlns:a16="http://schemas.microsoft.com/office/drawing/2014/main" id="{7EF72758-3579-4F63-B032-CB08BB18145C}"/>
              </a:ext>
            </a:extLst>
          </p:cNvPr>
          <p:cNvGraphicFramePr>
            <a:graphicFrameLocks/>
          </p:cNvGraphicFramePr>
          <p:nvPr/>
        </p:nvGraphicFramePr>
        <p:xfrm>
          <a:off x="2727558" y="1564419"/>
          <a:ext cx="6736882" cy="4406671"/>
        </p:xfrm>
        <a:graphic>
          <a:graphicData uri="http://schemas.openxmlformats.org/drawingml/2006/chart">
            <c:chart xmlns:c="http://schemas.openxmlformats.org/drawingml/2006/chart" xmlns:r="http://schemas.openxmlformats.org/officeDocument/2006/relationships" r:id="rId3"/>
          </a:graphicData>
        </a:graphic>
      </p:graphicFrame>
      <p:pic>
        <p:nvPicPr>
          <p:cNvPr id="14" name="Picture 13">
            <a:extLst>
              <a:ext uri="{FF2B5EF4-FFF2-40B4-BE49-F238E27FC236}">
                <a16:creationId xmlns:a16="http://schemas.microsoft.com/office/drawing/2014/main" id="{14BFDE89-8B52-8AB8-6C0A-A32C65EBA6F7}"/>
              </a:ext>
            </a:extLst>
          </p:cNvPr>
          <p:cNvPicPr>
            <a:picLocks noChangeAspect="1"/>
          </p:cNvPicPr>
          <p:nvPr/>
        </p:nvPicPr>
        <p:blipFill>
          <a:blip r:embed="rId4"/>
          <a:stretch>
            <a:fillRect/>
          </a:stretch>
        </p:blipFill>
        <p:spPr>
          <a:xfrm>
            <a:off x="4716693" y="5877920"/>
            <a:ext cx="2758613" cy="251314"/>
          </a:xfrm>
          <a:prstGeom prst="rect">
            <a:avLst/>
          </a:prstGeom>
        </p:spPr>
      </p:pic>
    </p:spTree>
    <p:extLst>
      <p:ext uri="{BB962C8B-B14F-4D97-AF65-F5344CB8AC3E}">
        <p14:creationId xmlns:p14="http://schemas.microsoft.com/office/powerpoint/2010/main" val="935847370"/>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AEDB7-8C42-1049-8D4C-110CB2584AD0}"/>
              </a:ext>
            </a:extLst>
          </p:cNvPr>
          <p:cNvSpPr>
            <a:spLocks noGrp="1"/>
          </p:cNvSpPr>
          <p:nvPr>
            <p:ph type="title"/>
          </p:nvPr>
        </p:nvSpPr>
        <p:spPr>
          <a:xfrm>
            <a:off x="1638523" y="77503"/>
            <a:ext cx="9715500" cy="978486"/>
          </a:xfrm>
        </p:spPr>
        <p:txBody>
          <a:bodyPr>
            <a:normAutofit/>
          </a:bodyPr>
          <a:lstStyle/>
          <a:p>
            <a:r>
              <a:rPr lang="en-US" sz="2700">
                <a:solidFill>
                  <a:schemeClr val="bg1"/>
                </a:solidFill>
              </a:rPr>
              <a:t>Mobile Accounts</a:t>
            </a:r>
            <a:endParaRPr lang="en-US" sz="1800">
              <a:solidFill>
                <a:srgbClr val="7030A0"/>
              </a:solidFill>
            </a:endParaRPr>
          </a:p>
        </p:txBody>
      </p:sp>
      <p:graphicFrame>
        <p:nvGraphicFramePr>
          <p:cNvPr id="3" name="Chart 2">
            <a:extLst>
              <a:ext uri="{FF2B5EF4-FFF2-40B4-BE49-F238E27FC236}">
                <a16:creationId xmlns:a16="http://schemas.microsoft.com/office/drawing/2014/main" id="{1A1E013E-6888-48CF-A20B-CECE53D60AB9}"/>
              </a:ext>
            </a:extLst>
          </p:cNvPr>
          <p:cNvGraphicFramePr>
            <a:graphicFrameLocks/>
          </p:cNvGraphicFramePr>
          <p:nvPr/>
        </p:nvGraphicFramePr>
        <p:xfrm>
          <a:off x="1561097" y="1167628"/>
          <a:ext cx="9069806" cy="4803954"/>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5CC86712-FF64-6CC2-AF3E-72B615256E1C}"/>
              </a:ext>
            </a:extLst>
          </p:cNvPr>
          <p:cNvSpPr txBox="1"/>
          <p:nvPr/>
        </p:nvSpPr>
        <p:spPr>
          <a:xfrm>
            <a:off x="611703" y="6187002"/>
            <a:ext cx="3924202" cy="338554"/>
          </a:xfrm>
          <a:prstGeom prst="rect">
            <a:avLst/>
          </a:prstGeom>
          <a:noFill/>
        </p:spPr>
        <p:txBody>
          <a:bodyPr wrap="square">
            <a:spAutoFit/>
          </a:bodyPr>
          <a:lstStyle/>
          <a:p>
            <a:r>
              <a:rPr lang="en-US" sz="1600" dirty="0"/>
              <a:t>Source: World Bank’s Findex</a:t>
            </a:r>
          </a:p>
        </p:txBody>
      </p:sp>
    </p:spTree>
    <p:extLst>
      <p:ext uri="{BB962C8B-B14F-4D97-AF65-F5344CB8AC3E}">
        <p14:creationId xmlns:p14="http://schemas.microsoft.com/office/powerpoint/2010/main" val="2385894298"/>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3B3C8924-ED5E-1794-27FF-0F89DE8C8DA8}"/>
              </a:ext>
            </a:extLst>
          </p:cNvPr>
          <p:cNvSpPr>
            <a:spLocks noGrp="1"/>
          </p:cNvSpPr>
          <p:nvPr>
            <p:ph type="title"/>
          </p:nvPr>
        </p:nvSpPr>
        <p:spPr>
          <a:xfrm>
            <a:off x="1238250" y="151627"/>
            <a:ext cx="9715500" cy="978486"/>
          </a:xfrm>
        </p:spPr>
        <p:txBody>
          <a:bodyPr/>
          <a:lstStyle/>
          <a:p>
            <a:r>
              <a:rPr lang="en-US">
                <a:solidFill>
                  <a:schemeClr val="bg1"/>
                </a:solidFill>
              </a:rPr>
              <a:t>Financial Usage: Borrowing</a:t>
            </a:r>
          </a:p>
        </p:txBody>
      </p:sp>
      <p:sp>
        <p:nvSpPr>
          <p:cNvPr id="3" name="TextBox 2">
            <a:extLst>
              <a:ext uri="{FF2B5EF4-FFF2-40B4-BE49-F238E27FC236}">
                <a16:creationId xmlns:a16="http://schemas.microsoft.com/office/drawing/2014/main" id="{914391B2-C06C-6A6A-ED4D-98C8867EF1BC}"/>
              </a:ext>
            </a:extLst>
          </p:cNvPr>
          <p:cNvSpPr txBox="1"/>
          <p:nvPr/>
        </p:nvSpPr>
        <p:spPr>
          <a:xfrm>
            <a:off x="3390997" y="1162600"/>
            <a:ext cx="5755833" cy="369332"/>
          </a:xfrm>
          <a:prstGeom prst="rect">
            <a:avLst/>
          </a:prstGeom>
          <a:noFill/>
        </p:spPr>
        <p:txBody>
          <a:bodyPr wrap="square">
            <a:spAutoFit/>
          </a:bodyPr>
          <a:lstStyle/>
          <a:p>
            <a:pPr marL="0" marR="0" algn="ctr">
              <a:spcBef>
                <a:spcPts val="0"/>
              </a:spcBef>
              <a:spcAft>
                <a:spcPts val="0"/>
              </a:spcAft>
            </a:pPr>
            <a:r>
              <a:rPr lang="en-US" b="1">
                <a:solidFill>
                  <a:srgbClr val="004C97"/>
                </a:solidFill>
                <a:latin typeface="Arial" panose="020B0604020202020204" pitchFamily="34" charset="0"/>
                <a:ea typeface="Arial" panose="020B0604020202020204" pitchFamily="34" charset="0"/>
                <a:cs typeface="Times New Roman" panose="02020603050405020304" pitchFamily="18" charset="0"/>
              </a:rPr>
              <a:t>Borrowed any money </a:t>
            </a:r>
            <a:r>
              <a:rPr lang="en-US" sz="1800" b="1" i="0">
                <a:solidFill>
                  <a:srgbClr val="004C97"/>
                </a:solidFill>
                <a:effectLst/>
                <a:latin typeface="Arial" panose="020B0604020202020204" pitchFamily="34" charset="0"/>
                <a:ea typeface="Arial" panose="020B0604020202020204" pitchFamily="34" charset="0"/>
                <a:cs typeface="Times New Roman" panose="02020603050405020304" pitchFamily="18" charset="0"/>
              </a:rPr>
              <a:t>(% of population ages 15+)</a:t>
            </a:r>
          </a:p>
        </p:txBody>
      </p:sp>
      <p:pic>
        <p:nvPicPr>
          <p:cNvPr id="10" name="Picture 9">
            <a:extLst>
              <a:ext uri="{FF2B5EF4-FFF2-40B4-BE49-F238E27FC236}">
                <a16:creationId xmlns:a16="http://schemas.microsoft.com/office/drawing/2014/main" id="{38372FF9-4667-5667-0E58-1866E4C6B517}"/>
              </a:ext>
            </a:extLst>
          </p:cNvPr>
          <p:cNvPicPr>
            <a:picLocks noChangeAspect="1"/>
          </p:cNvPicPr>
          <p:nvPr/>
        </p:nvPicPr>
        <p:blipFill>
          <a:blip r:embed="rId3"/>
          <a:stretch>
            <a:fillRect/>
          </a:stretch>
        </p:blipFill>
        <p:spPr>
          <a:xfrm>
            <a:off x="4716693" y="5877920"/>
            <a:ext cx="2758613" cy="251314"/>
          </a:xfrm>
          <a:prstGeom prst="rect">
            <a:avLst/>
          </a:prstGeom>
        </p:spPr>
      </p:pic>
      <p:graphicFrame>
        <p:nvGraphicFramePr>
          <p:cNvPr id="11" name="Chart 10">
            <a:extLst>
              <a:ext uri="{FF2B5EF4-FFF2-40B4-BE49-F238E27FC236}">
                <a16:creationId xmlns:a16="http://schemas.microsoft.com/office/drawing/2014/main" id="{F8B3169D-6909-4739-A8CD-8DE2AB28767E}"/>
              </a:ext>
            </a:extLst>
          </p:cNvPr>
          <p:cNvGraphicFramePr>
            <a:graphicFrameLocks/>
          </p:cNvGraphicFramePr>
          <p:nvPr/>
        </p:nvGraphicFramePr>
        <p:xfrm>
          <a:off x="2899349" y="1564419"/>
          <a:ext cx="6739128" cy="4407408"/>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a:extLst>
              <a:ext uri="{FF2B5EF4-FFF2-40B4-BE49-F238E27FC236}">
                <a16:creationId xmlns:a16="http://schemas.microsoft.com/office/drawing/2014/main" id="{1E8FDB7D-EFA7-C71F-775C-527D8B4A0AB2}"/>
              </a:ext>
            </a:extLst>
          </p:cNvPr>
          <p:cNvSpPr txBox="1"/>
          <p:nvPr/>
        </p:nvSpPr>
        <p:spPr>
          <a:xfrm>
            <a:off x="611703" y="6187002"/>
            <a:ext cx="3924202" cy="338554"/>
          </a:xfrm>
          <a:prstGeom prst="rect">
            <a:avLst/>
          </a:prstGeom>
          <a:noFill/>
        </p:spPr>
        <p:txBody>
          <a:bodyPr wrap="square">
            <a:spAutoFit/>
          </a:bodyPr>
          <a:lstStyle/>
          <a:p>
            <a:r>
              <a:rPr lang="en-US" sz="1600" dirty="0"/>
              <a:t>Source: World Bank’s Findex</a:t>
            </a:r>
          </a:p>
        </p:txBody>
      </p:sp>
    </p:spTree>
    <p:extLst>
      <p:ext uri="{BB962C8B-B14F-4D97-AF65-F5344CB8AC3E}">
        <p14:creationId xmlns:p14="http://schemas.microsoft.com/office/powerpoint/2010/main" val="974257647"/>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BB306-258E-BDEB-D092-39B3C025EA8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393C7CE-25A5-79D7-15A9-564E26558A14}"/>
              </a:ext>
            </a:extLst>
          </p:cNvPr>
          <p:cNvSpPr>
            <a:spLocks noGrp="1"/>
          </p:cNvSpPr>
          <p:nvPr>
            <p:ph type="title"/>
          </p:nvPr>
        </p:nvSpPr>
        <p:spPr/>
        <p:txBody>
          <a:bodyPr/>
          <a:lstStyle/>
          <a:p>
            <a:r>
              <a:rPr lang="en-US" dirty="0"/>
              <a:t>Financial Access – Demand Side Data</a:t>
            </a:r>
          </a:p>
        </p:txBody>
      </p:sp>
      <p:sp>
        <p:nvSpPr>
          <p:cNvPr id="8" name="Text Placeholder 7">
            <a:extLst>
              <a:ext uri="{FF2B5EF4-FFF2-40B4-BE49-F238E27FC236}">
                <a16:creationId xmlns:a16="http://schemas.microsoft.com/office/drawing/2014/main" id="{02146795-9376-3C75-9A1C-96FA1268BF58}"/>
              </a:ext>
            </a:extLst>
          </p:cNvPr>
          <p:cNvSpPr>
            <a:spLocks noGrp="1"/>
          </p:cNvSpPr>
          <p:nvPr>
            <p:ph type="body" idx="1"/>
          </p:nvPr>
        </p:nvSpPr>
        <p:spPr>
          <a:xfrm>
            <a:off x="907388" y="2554477"/>
            <a:ext cx="10515600" cy="1500187"/>
          </a:xfrm>
        </p:spPr>
        <p:txBody>
          <a:bodyPr>
            <a:normAutofit/>
          </a:bodyPr>
          <a:lstStyle/>
          <a:p>
            <a:pPr algn="ctr"/>
            <a:r>
              <a:rPr lang="en-US" sz="3200" b="1" dirty="0"/>
              <a:t>Group Exercise: </a:t>
            </a:r>
            <a:r>
              <a:rPr lang="en-US" sz="3200" dirty="0"/>
              <a:t>Exploring Findex data </a:t>
            </a:r>
          </a:p>
        </p:txBody>
      </p:sp>
    </p:spTree>
    <p:extLst>
      <p:ext uri="{BB962C8B-B14F-4D97-AF65-F5344CB8AC3E}">
        <p14:creationId xmlns:p14="http://schemas.microsoft.com/office/powerpoint/2010/main" val="6047511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3B3C8924-ED5E-1794-27FF-0F89DE8C8DA8}"/>
              </a:ext>
            </a:extLst>
          </p:cNvPr>
          <p:cNvSpPr>
            <a:spLocks noGrp="1"/>
          </p:cNvSpPr>
          <p:nvPr>
            <p:ph type="title"/>
          </p:nvPr>
        </p:nvSpPr>
        <p:spPr>
          <a:xfrm>
            <a:off x="1238250" y="151627"/>
            <a:ext cx="9715500" cy="978486"/>
          </a:xfrm>
        </p:spPr>
        <p:txBody>
          <a:bodyPr/>
          <a:lstStyle/>
          <a:p>
            <a:r>
              <a:rPr lang="en-US">
                <a:solidFill>
                  <a:schemeClr val="bg1"/>
                </a:solidFill>
              </a:rPr>
              <a:t>Financial Usage: Savings</a:t>
            </a:r>
          </a:p>
        </p:txBody>
      </p:sp>
      <p:sp>
        <p:nvSpPr>
          <p:cNvPr id="7" name="TextBox 6">
            <a:extLst>
              <a:ext uri="{FF2B5EF4-FFF2-40B4-BE49-F238E27FC236}">
                <a16:creationId xmlns:a16="http://schemas.microsoft.com/office/drawing/2014/main" id="{BA07DB37-97A1-D9B3-E1D3-3355AAB4CDFB}"/>
              </a:ext>
            </a:extLst>
          </p:cNvPr>
          <p:cNvSpPr txBox="1"/>
          <p:nvPr/>
        </p:nvSpPr>
        <p:spPr>
          <a:xfrm>
            <a:off x="6539036" y="5603328"/>
            <a:ext cx="3013085" cy="276999"/>
          </a:xfrm>
          <a:prstGeom prst="rect">
            <a:avLst/>
          </a:prstGeom>
          <a:noFill/>
        </p:spPr>
        <p:txBody>
          <a:bodyPr wrap="square" rtlCol="0">
            <a:spAutoFit/>
          </a:bodyPr>
          <a:lstStyle/>
          <a:p>
            <a:r>
              <a:rPr lang="en-US" sz="1200"/>
              <a:t>*Data for 2024 except Rwanda (2017)</a:t>
            </a:r>
          </a:p>
        </p:txBody>
      </p:sp>
      <p:sp>
        <p:nvSpPr>
          <p:cNvPr id="6" name="TextBox 5">
            <a:extLst>
              <a:ext uri="{FF2B5EF4-FFF2-40B4-BE49-F238E27FC236}">
                <a16:creationId xmlns:a16="http://schemas.microsoft.com/office/drawing/2014/main" id="{DA3E042D-9F31-A10B-E621-F9BD3F663BC9}"/>
              </a:ext>
            </a:extLst>
          </p:cNvPr>
          <p:cNvSpPr txBox="1"/>
          <p:nvPr/>
        </p:nvSpPr>
        <p:spPr>
          <a:xfrm>
            <a:off x="541953" y="1130113"/>
            <a:ext cx="5755833" cy="646331"/>
          </a:xfrm>
          <a:prstGeom prst="rect">
            <a:avLst/>
          </a:prstGeom>
          <a:noFill/>
        </p:spPr>
        <p:txBody>
          <a:bodyPr wrap="square">
            <a:spAutoFit/>
          </a:bodyPr>
          <a:lstStyle/>
          <a:p>
            <a:pPr algn="ctr"/>
            <a:r>
              <a:rPr lang="en-US" b="1">
                <a:solidFill>
                  <a:srgbClr val="004C97"/>
                </a:solidFill>
                <a:latin typeface="Arial" panose="020B0604020202020204" pitchFamily="34" charset="0"/>
                <a:ea typeface="Arial" panose="020B0604020202020204" pitchFamily="34" charset="0"/>
                <a:cs typeface="Times New Roman" panose="02020603050405020304" pitchFamily="18" charset="0"/>
              </a:rPr>
              <a:t>Saved using a savings club or a person outside the family </a:t>
            </a:r>
            <a:r>
              <a:rPr lang="en-US" sz="1800" b="1" i="0">
                <a:solidFill>
                  <a:srgbClr val="004C97"/>
                </a:solidFill>
                <a:effectLst/>
                <a:latin typeface="Arial" panose="020B0604020202020204" pitchFamily="34" charset="0"/>
                <a:ea typeface="Arial" panose="020B0604020202020204" pitchFamily="34" charset="0"/>
                <a:cs typeface="Times New Roman" panose="02020603050405020304" pitchFamily="18" charset="0"/>
              </a:rPr>
              <a:t>(% of population ages 15+)</a:t>
            </a:r>
          </a:p>
        </p:txBody>
      </p:sp>
      <p:pic>
        <p:nvPicPr>
          <p:cNvPr id="8" name="Picture 7">
            <a:extLst>
              <a:ext uri="{FF2B5EF4-FFF2-40B4-BE49-F238E27FC236}">
                <a16:creationId xmlns:a16="http://schemas.microsoft.com/office/drawing/2014/main" id="{D26BEB96-FBA9-7ADF-35A4-0EB3821F0F33}"/>
              </a:ext>
            </a:extLst>
          </p:cNvPr>
          <p:cNvPicPr>
            <a:picLocks noChangeAspect="1"/>
          </p:cNvPicPr>
          <p:nvPr/>
        </p:nvPicPr>
        <p:blipFill>
          <a:blip r:embed="rId3"/>
          <a:stretch>
            <a:fillRect/>
          </a:stretch>
        </p:blipFill>
        <p:spPr>
          <a:xfrm>
            <a:off x="1800375" y="5798338"/>
            <a:ext cx="2758613" cy="251314"/>
          </a:xfrm>
          <a:prstGeom prst="rect">
            <a:avLst/>
          </a:prstGeom>
        </p:spPr>
      </p:pic>
      <p:graphicFrame>
        <p:nvGraphicFramePr>
          <p:cNvPr id="10" name="Chart 9">
            <a:extLst>
              <a:ext uri="{FF2B5EF4-FFF2-40B4-BE49-F238E27FC236}">
                <a16:creationId xmlns:a16="http://schemas.microsoft.com/office/drawing/2014/main" id="{B1FC6CED-C7CE-4952-B7D7-F75316F9CE99}"/>
              </a:ext>
            </a:extLst>
          </p:cNvPr>
          <p:cNvGraphicFramePr>
            <a:graphicFrameLocks/>
          </p:cNvGraphicFramePr>
          <p:nvPr/>
        </p:nvGraphicFramePr>
        <p:xfrm>
          <a:off x="61578" y="1776444"/>
          <a:ext cx="6236208" cy="396849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DFB3BF99-1283-48F7-A67D-D906FCE53547}"/>
              </a:ext>
            </a:extLst>
          </p:cNvPr>
          <p:cNvGraphicFramePr>
            <a:graphicFrameLocks/>
          </p:cNvGraphicFramePr>
          <p:nvPr/>
        </p:nvGraphicFramePr>
        <p:xfrm>
          <a:off x="6297786" y="1776444"/>
          <a:ext cx="5755834" cy="3968496"/>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Box 13">
            <a:extLst>
              <a:ext uri="{FF2B5EF4-FFF2-40B4-BE49-F238E27FC236}">
                <a16:creationId xmlns:a16="http://schemas.microsoft.com/office/drawing/2014/main" id="{EA77940E-7168-AAC7-9F81-36D35BD65F9B}"/>
              </a:ext>
            </a:extLst>
          </p:cNvPr>
          <p:cNvSpPr txBox="1"/>
          <p:nvPr/>
        </p:nvSpPr>
        <p:spPr>
          <a:xfrm>
            <a:off x="6508211" y="1130113"/>
            <a:ext cx="5755833" cy="646331"/>
          </a:xfrm>
          <a:prstGeom prst="rect">
            <a:avLst/>
          </a:prstGeom>
          <a:noFill/>
        </p:spPr>
        <p:txBody>
          <a:bodyPr wrap="square">
            <a:spAutoFit/>
          </a:bodyPr>
          <a:lstStyle/>
          <a:p>
            <a:pPr algn="ctr"/>
            <a:r>
              <a:rPr lang="en-US" b="1">
                <a:solidFill>
                  <a:srgbClr val="004C97"/>
                </a:solidFill>
                <a:latin typeface="Arial" panose="020B0604020202020204" pitchFamily="34" charset="0"/>
                <a:ea typeface="Arial" panose="020B0604020202020204" pitchFamily="34" charset="0"/>
                <a:cs typeface="Times New Roman" panose="02020603050405020304" pitchFamily="18" charset="0"/>
              </a:rPr>
              <a:t>Saved at a bank or financial institution or using a mobile money account </a:t>
            </a:r>
            <a:r>
              <a:rPr lang="en-US" sz="1800" b="1" i="0">
                <a:solidFill>
                  <a:srgbClr val="004C97"/>
                </a:solidFill>
                <a:effectLst/>
                <a:latin typeface="Arial" panose="020B0604020202020204" pitchFamily="34" charset="0"/>
                <a:ea typeface="Arial" panose="020B0604020202020204" pitchFamily="34" charset="0"/>
                <a:cs typeface="Times New Roman" panose="02020603050405020304" pitchFamily="18" charset="0"/>
              </a:rPr>
              <a:t>(% of population ages 15+)</a:t>
            </a:r>
          </a:p>
        </p:txBody>
      </p:sp>
      <p:sp>
        <p:nvSpPr>
          <p:cNvPr id="15" name="TextBox 14">
            <a:extLst>
              <a:ext uri="{FF2B5EF4-FFF2-40B4-BE49-F238E27FC236}">
                <a16:creationId xmlns:a16="http://schemas.microsoft.com/office/drawing/2014/main" id="{09B7FB41-EECC-D5F4-C109-F1C6743074BB}"/>
              </a:ext>
            </a:extLst>
          </p:cNvPr>
          <p:cNvSpPr txBox="1"/>
          <p:nvPr/>
        </p:nvSpPr>
        <p:spPr>
          <a:xfrm>
            <a:off x="611703" y="6187002"/>
            <a:ext cx="3924202" cy="338554"/>
          </a:xfrm>
          <a:prstGeom prst="rect">
            <a:avLst/>
          </a:prstGeom>
          <a:noFill/>
        </p:spPr>
        <p:txBody>
          <a:bodyPr wrap="square">
            <a:spAutoFit/>
          </a:bodyPr>
          <a:lstStyle/>
          <a:p>
            <a:r>
              <a:rPr lang="en-US" sz="1600"/>
              <a:t>Source: World Bank Gender Data Portal</a:t>
            </a:r>
          </a:p>
        </p:txBody>
      </p:sp>
    </p:spTree>
    <p:extLst>
      <p:ext uri="{BB962C8B-B14F-4D97-AF65-F5344CB8AC3E}">
        <p14:creationId xmlns:p14="http://schemas.microsoft.com/office/powerpoint/2010/main" val="1847053445"/>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1E149-B6BB-0A3E-2534-58AF40F56B70}"/>
              </a:ext>
            </a:extLst>
          </p:cNvPr>
          <p:cNvSpPr>
            <a:spLocks noGrp="1"/>
          </p:cNvSpPr>
          <p:nvPr>
            <p:ph type="title"/>
          </p:nvPr>
        </p:nvSpPr>
        <p:spPr>
          <a:xfrm>
            <a:off x="1238250" y="-6773"/>
            <a:ext cx="10709910" cy="978486"/>
          </a:xfrm>
        </p:spPr>
        <p:txBody>
          <a:bodyPr>
            <a:normAutofit/>
          </a:bodyPr>
          <a:lstStyle/>
          <a:p>
            <a:r>
              <a:rPr lang="en-US" sz="2800">
                <a:solidFill>
                  <a:schemeClr val="bg1"/>
                </a:solidFill>
                <a:latin typeface="Arial Black" panose="020B0A04020102020204" pitchFamily="34" charset="0"/>
              </a:rPr>
              <a:t>Financial Inclusion: The IMF Financial Access Survey</a:t>
            </a:r>
            <a:endParaRPr lang="en-US">
              <a:solidFill>
                <a:schemeClr val="bg1"/>
              </a:solidFill>
              <a:latin typeface="Arial Black" panose="020B0A04020102020204" pitchFamily="34" charset="0"/>
            </a:endParaRPr>
          </a:p>
        </p:txBody>
      </p:sp>
      <p:sp>
        <p:nvSpPr>
          <p:cNvPr id="6" name="TextBox 5">
            <a:extLst>
              <a:ext uri="{FF2B5EF4-FFF2-40B4-BE49-F238E27FC236}">
                <a16:creationId xmlns:a16="http://schemas.microsoft.com/office/drawing/2014/main" id="{A3459634-2F07-91C2-401E-C7F74F67CA94}"/>
              </a:ext>
            </a:extLst>
          </p:cNvPr>
          <p:cNvSpPr txBox="1"/>
          <p:nvPr/>
        </p:nvSpPr>
        <p:spPr>
          <a:xfrm>
            <a:off x="1080653" y="1071257"/>
            <a:ext cx="9642763" cy="646331"/>
          </a:xfrm>
          <a:prstGeom prst="rect">
            <a:avLst/>
          </a:prstGeom>
          <a:noFill/>
        </p:spPr>
        <p:txBody>
          <a:bodyPr wrap="square">
            <a:spAutoFit/>
          </a:bodyPr>
          <a:lstStyle/>
          <a:p>
            <a:pPr marL="0" marR="0">
              <a:spcBef>
                <a:spcPts val="0"/>
              </a:spcBef>
              <a:spcAft>
                <a:spcPts val="0"/>
              </a:spcAft>
            </a:pPr>
            <a:r>
              <a:rPr lang="en-US" sz="1800" b="1" i="0">
                <a:solidFill>
                  <a:srgbClr val="004C97"/>
                </a:solidFill>
                <a:effectLst/>
                <a:latin typeface="Arial" panose="020B0604020202020204" pitchFamily="34" charset="0"/>
                <a:ea typeface="Arial" panose="020B0604020202020204" pitchFamily="34" charset="0"/>
                <a:cs typeface="Times New Roman" panose="02020603050405020304" pitchFamily="18" charset="0"/>
              </a:rPr>
              <a:t>The Financial Access Survey (FAS) is the most extensive supply-side database for financial access and usage</a:t>
            </a:r>
            <a:endParaRPr lang="en-US"/>
          </a:p>
        </p:txBody>
      </p:sp>
      <p:pic>
        <p:nvPicPr>
          <p:cNvPr id="12" name="Picture 11">
            <a:extLst>
              <a:ext uri="{FF2B5EF4-FFF2-40B4-BE49-F238E27FC236}">
                <a16:creationId xmlns:a16="http://schemas.microsoft.com/office/drawing/2014/main" id="{1CBA06AC-BCA5-48C6-301B-C1A25FE8564A}"/>
              </a:ext>
            </a:extLst>
          </p:cNvPr>
          <p:cNvPicPr>
            <a:picLocks noChangeAspect="1"/>
          </p:cNvPicPr>
          <p:nvPr/>
        </p:nvPicPr>
        <p:blipFill>
          <a:blip r:embed="rId3"/>
          <a:stretch>
            <a:fillRect/>
          </a:stretch>
        </p:blipFill>
        <p:spPr>
          <a:xfrm>
            <a:off x="1080653" y="2124635"/>
            <a:ext cx="2322218" cy="3087495"/>
          </a:xfrm>
          <a:prstGeom prst="rect">
            <a:avLst/>
          </a:prstGeom>
        </p:spPr>
      </p:pic>
      <p:pic>
        <p:nvPicPr>
          <p:cNvPr id="4" name="Picture 3">
            <a:extLst>
              <a:ext uri="{FF2B5EF4-FFF2-40B4-BE49-F238E27FC236}">
                <a16:creationId xmlns:a16="http://schemas.microsoft.com/office/drawing/2014/main" id="{30D83272-8695-DBC4-DEE5-97B441A74F2D}"/>
              </a:ext>
            </a:extLst>
          </p:cNvPr>
          <p:cNvPicPr>
            <a:picLocks noChangeAspect="1"/>
          </p:cNvPicPr>
          <p:nvPr/>
        </p:nvPicPr>
        <p:blipFill>
          <a:blip r:embed="rId4"/>
          <a:stretch>
            <a:fillRect/>
          </a:stretch>
        </p:blipFill>
        <p:spPr>
          <a:xfrm>
            <a:off x="4186517" y="1717588"/>
            <a:ext cx="7174607" cy="4547622"/>
          </a:xfrm>
          <a:prstGeom prst="rect">
            <a:avLst/>
          </a:prstGeom>
        </p:spPr>
      </p:pic>
      <p:sp>
        <p:nvSpPr>
          <p:cNvPr id="7" name="TextBox 6">
            <a:extLst>
              <a:ext uri="{FF2B5EF4-FFF2-40B4-BE49-F238E27FC236}">
                <a16:creationId xmlns:a16="http://schemas.microsoft.com/office/drawing/2014/main" id="{B31D868B-B6D6-46FB-EA77-4A585A962072}"/>
              </a:ext>
            </a:extLst>
          </p:cNvPr>
          <p:cNvSpPr txBox="1"/>
          <p:nvPr/>
        </p:nvSpPr>
        <p:spPr>
          <a:xfrm>
            <a:off x="585786" y="5858461"/>
            <a:ext cx="3743326" cy="276999"/>
          </a:xfrm>
          <a:prstGeom prst="rect">
            <a:avLst/>
          </a:prstGeom>
          <a:noFill/>
        </p:spPr>
        <p:txBody>
          <a:bodyPr wrap="square">
            <a:spAutoFit/>
          </a:bodyPr>
          <a:lstStyle/>
          <a:p>
            <a:r>
              <a:rPr lang="en-US" sz="1200">
                <a:hlinkClick r:id="rId5"/>
              </a:rPr>
              <a:t>Financial Access Survey - By Indicator - IMF Data</a:t>
            </a:r>
            <a:endParaRPr lang="en-US" sz="1200"/>
          </a:p>
        </p:txBody>
      </p:sp>
    </p:spTree>
    <p:extLst>
      <p:ext uri="{BB962C8B-B14F-4D97-AF65-F5344CB8AC3E}">
        <p14:creationId xmlns:p14="http://schemas.microsoft.com/office/powerpoint/2010/main" val="3149602654"/>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3B3C8924-ED5E-1794-27FF-0F89DE8C8DA8}"/>
              </a:ext>
            </a:extLst>
          </p:cNvPr>
          <p:cNvSpPr>
            <a:spLocks noGrp="1"/>
          </p:cNvSpPr>
          <p:nvPr>
            <p:ph type="title"/>
          </p:nvPr>
        </p:nvSpPr>
        <p:spPr>
          <a:xfrm>
            <a:off x="1238250" y="52409"/>
            <a:ext cx="9715500" cy="978486"/>
          </a:xfrm>
        </p:spPr>
        <p:txBody>
          <a:bodyPr/>
          <a:lstStyle/>
          <a:p>
            <a:r>
              <a:rPr lang="en-US">
                <a:solidFill>
                  <a:schemeClr val="bg1"/>
                </a:solidFill>
              </a:rPr>
              <a:t>FAS Series</a:t>
            </a:r>
          </a:p>
        </p:txBody>
      </p:sp>
      <p:sp>
        <p:nvSpPr>
          <p:cNvPr id="2" name="Text Placeholder 1">
            <a:extLst>
              <a:ext uri="{FF2B5EF4-FFF2-40B4-BE49-F238E27FC236}">
                <a16:creationId xmlns:a16="http://schemas.microsoft.com/office/drawing/2014/main" id="{42C33274-DFAD-0AD5-5B91-DABFC25C5CBD}"/>
              </a:ext>
            </a:extLst>
          </p:cNvPr>
          <p:cNvSpPr>
            <a:spLocks noGrp="1"/>
          </p:cNvSpPr>
          <p:nvPr>
            <p:ph type="body" sz="quarter" idx="10"/>
          </p:nvPr>
        </p:nvSpPr>
        <p:spPr>
          <a:xfrm>
            <a:off x="237565" y="1200930"/>
            <a:ext cx="11716870" cy="4860591"/>
          </a:xfrm>
        </p:spPr>
        <p:txBody>
          <a:bodyPr>
            <a:normAutofit/>
          </a:bodyPr>
          <a:lstStyle/>
          <a:p>
            <a:pPr marL="0" indent="0">
              <a:buNone/>
            </a:pPr>
            <a:r>
              <a:rPr lang="en-US" sz="1800" dirty="0">
                <a:effectLst/>
                <a:latin typeface="Arial" panose="020B0604020202020204" pitchFamily="34" charset="0"/>
                <a:ea typeface="Arial" panose="020B0604020202020204" pitchFamily="34" charset="0"/>
                <a:cs typeface="Times New Roman" panose="02020603050405020304" pitchFamily="18" charset="0"/>
              </a:rPr>
              <a:t>The FAS comprises 121 series reported directly by participating economies, including 15 focused on access and 106 on the usage of financial services. The FAS covers a broad spectrum of types of financial institutions, with further data disaggregation, allowing for nuanced analysis.</a:t>
            </a:r>
          </a:p>
          <a:p>
            <a:pPr marL="0" marR="0" indent="0">
              <a:lnSpc>
                <a:spcPct val="125000"/>
              </a:lnSpc>
              <a:spcBef>
                <a:spcPts val="800"/>
              </a:spcBef>
              <a:spcAft>
                <a:spcPts val="0"/>
              </a:spcAft>
              <a:buNone/>
            </a:pPr>
            <a:r>
              <a:rPr lang="en-US" sz="1800" b="1" dirty="0">
                <a:effectLst/>
                <a:latin typeface="Arial" panose="020B0604020202020204" pitchFamily="34" charset="0"/>
                <a:ea typeface="Arial" panose="020B0604020202020204" pitchFamily="34" charset="0"/>
                <a:cs typeface="Times New Roman" panose="02020603050405020304" pitchFamily="18" charset="0"/>
              </a:rPr>
              <a:t>Access to financial services. </a:t>
            </a:r>
            <a:r>
              <a:rPr lang="en-US" sz="1800" dirty="0">
                <a:effectLst/>
                <a:latin typeface="Arial" panose="020B0604020202020204" pitchFamily="34" charset="0"/>
                <a:ea typeface="Arial" panose="020B0604020202020204" pitchFamily="34" charset="0"/>
                <a:cs typeface="Times New Roman" panose="02020603050405020304" pitchFamily="18" charset="0"/>
              </a:rPr>
              <a:t>The FAS captures data on both traditional and non-traditional access points:</a:t>
            </a:r>
          </a:p>
          <a:p>
            <a:pPr marL="800100" lvl="1" indent="-342900">
              <a:lnSpc>
                <a:spcPct val="125000"/>
              </a:lnSpc>
              <a:spcBef>
                <a:spcPts val="800"/>
              </a:spcBef>
              <a:buFont typeface="Symbol" panose="05050102010706020507" pitchFamily="18" charset="2"/>
              <a:buChar char=""/>
            </a:pPr>
            <a:r>
              <a:rPr lang="en-US" sz="1400" i="1" dirty="0">
                <a:solidFill>
                  <a:srgbClr val="000000"/>
                </a:solidFill>
                <a:effectLst/>
                <a:latin typeface="Arial" panose="020B0604020202020204" pitchFamily="34" charset="0"/>
                <a:ea typeface="Century Gothic" panose="020B0502020202020204" pitchFamily="34" charset="0"/>
              </a:rPr>
              <a:t>Traditional. </a:t>
            </a:r>
            <a:r>
              <a:rPr lang="en-US" sz="1400" dirty="0">
                <a:solidFill>
                  <a:srgbClr val="000000"/>
                </a:solidFill>
                <a:effectLst/>
                <a:latin typeface="Arial" panose="020B0604020202020204" pitchFamily="34" charset="0"/>
                <a:ea typeface="Century Gothic" panose="020B0502020202020204" pitchFamily="34" charset="0"/>
              </a:rPr>
              <a:t>Includes the number of institutions, branches (for all financial institutions except insurance corporations), and ATMs.</a:t>
            </a:r>
          </a:p>
          <a:p>
            <a:pPr marL="800100" lvl="1" indent="-342900">
              <a:lnSpc>
                <a:spcPct val="125000"/>
              </a:lnSpc>
              <a:spcBef>
                <a:spcPts val="0"/>
              </a:spcBef>
              <a:buFont typeface="Symbol" panose="05050102010706020507" pitchFamily="18" charset="2"/>
              <a:buChar char=""/>
            </a:pPr>
            <a:r>
              <a:rPr lang="en-US" sz="1400" i="1" dirty="0">
                <a:solidFill>
                  <a:srgbClr val="000000"/>
                </a:solidFill>
                <a:effectLst/>
                <a:latin typeface="Arial" panose="020B0604020202020204" pitchFamily="34" charset="0"/>
                <a:ea typeface="Century Gothic" panose="020B0502020202020204" pitchFamily="34" charset="0"/>
              </a:rPr>
              <a:t>Non-traditional. </a:t>
            </a:r>
            <a:r>
              <a:rPr lang="en-US" sz="1400" dirty="0">
                <a:solidFill>
                  <a:srgbClr val="000000"/>
                </a:solidFill>
                <a:effectLst/>
                <a:latin typeface="Arial" panose="020B0604020202020204" pitchFamily="34" charset="0"/>
                <a:ea typeface="Century Gothic" panose="020B0502020202020204" pitchFamily="34" charset="0"/>
              </a:rPr>
              <a:t>Includes non-branch retail agent outlets, and both registered and active mobile money agent outlets.</a:t>
            </a:r>
          </a:p>
          <a:p>
            <a:pPr marL="0" indent="0">
              <a:buNone/>
            </a:pPr>
            <a:r>
              <a:rPr lang="en-US" sz="1800" b="1" dirty="0">
                <a:effectLst/>
                <a:latin typeface="Arial" panose="020B0604020202020204" pitchFamily="34" charset="0"/>
                <a:ea typeface="Arial" panose="020B0604020202020204" pitchFamily="34" charset="0"/>
                <a:cs typeface="Times New Roman" panose="02020603050405020304" pitchFamily="18" charset="0"/>
              </a:rPr>
              <a:t>Usage of financial services. </a:t>
            </a:r>
            <a:r>
              <a:rPr lang="en-US" sz="1800" dirty="0">
                <a:effectLst/>
                <a:latin typeface="Arial" panose="020B0604020202020204" pitchFamily="34" charset="0"/>
                <a:ea typeface="Arial" panose="020B0604020202020204" pitchFamily="34" charset="0"/>
                <a:cs typeface="Times New Roman" panose="02020603050405020304" pitchFamily="18" charset="0"/>
              </a:rPr>
              <a:t>The FAS offers extensive series on the usage of both traditional and non-traditional financial services:</a:t>
            </a:r>
          </a:p>
          <a:p>
            <a:pPr marL="800100" lvl="1" indent="-342900">
              <a:lnSpc>
                <a:spcPct val="125000"/>
              </a:lnSpc>
              <a:buFont typeface="Symbol" panose="05050102010706020507" pitchFamily="18" charset="2"/>
              <a:buChar char=""/>
            </a:pPr>
            <a:r>
              <a:rPr lang="en-US" sz="1400" i="1" dirty="0">
                <a:solidFill>
                  <a:srgbClr val="000000"/>
                </a:solidFill>
              </a:rPr>
              <a:t>Traditional services. </a:t>
            </a:r>
            <a:r>
              <a:rPr lang="en-US" sz="1400" dirty="0">
                <a:solidFill>
                  <a:srgbClr val="000000"/>
                </a:solidFill>
              </a:rPr>
              <a:t>Includes data on deposits and loans (number of accounts, account holders, and outstanding balances), debit and credit cards, and insurance (number of policyholders and policies, and outstanding values of technical reserves and annuities entitlements).</a:t>
            </a:r>
          </a:p>
          <a:p>
            <a:pPr marL="800100" lvl="1" indent="-342900">
              <a:lnSpc>
                <a:spcPct val="125000"/>
              </a:lnSpc>
              <a:buFont typeface="Symbol" panose="05050102010706020507" pitchFamily="18" charset="2"/>
              <a:buChar char=""/>
            </a:pPr>
            <a:r>
              <a:rPr lang="en-US" sz="1400" i="1" dirty="0">
                <a:solidFill>
                  <a:srgbClr val="000000"/>
                </a:solidFill>
              </a:rPr>
              <a:t>Non-traditional services. </a:t>
            </a:r>
            <a:r>
              <a:rPr lang="en-US" sz="1400" dirty="0">
                <a:solidFill>
                  <a:srgbClr val="000000"/>
                </a:solidFill>
              </a:rPr>
              <a:t>Covers mobile and internet banking (number and value of transactions) and mobile money (active and registered accounts, along with the number and value of transactions).</a:t>
            </a:r>
          </a:p>
          <a:p>
            <a:endParaRPr lang="en-US" sz="1800" dirty="0">
              <a:solidFill>
                <a:srgbClr val="000000"/>
              </a:solidFill>
              <a:effectLst/>
              <a:latin typeface="Arial" panose="020B0604020202020204" pitchFamily="34" charset="0"/>
              <a:ea typeface="Century Gothic" panose="020B0502020202020204" pitchFamily="34" charset="0"/>
            </a:endParaRPr>
          </a:p>
          <a:p>
            <a:endParaRPr lang="en-US" sz="1800" dirty="0">
              <a:solidFill>
                <a:srgbClr val="000000"/>
              </a:solidFill>
              <a:effectLst/>
              <a:latin typeface="Arial" panose="020B0604020202020204" pitchFamily="34" charset="0"/>
              <a:ea typeface="Century Gothic" panose="020B0502020202020204" pitchFamily="34" charset="0"/>
            </a:endParaRPr>
          </a:p>
          <a:p>
            <a:pPr marL="0" indent="0">
              <a:buNone/>
            </a:pPr>
            <a:endParaRPr lang="en-US" dirty="0"/>
          </a:p>
        </p:txBody>
      </p:sp>
    </p:spTree>
    <p:extLst>
      <p:ext uri="{BB962C8B-B14F-4D97-AF65-F5344CB8AC3E}">
        <p14:creationId xmlns:p14="http://schemas.microsoft.com/office/powerpoint/2010/main" val="3595422818"/>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3B3C8924-ED5E-1794-27FF-0F89DE8C8DA8}"/>
              </a:ext>
            </a:extLst>
          </p:cNvPr>
          <p:cNvSpPr>
            <a:spLocks noGrp="1"/>
          </p:cNvSpPr>
          <p:nvPr>
            <p:ph type="title"/>
          </p:nvPr>
        </p:nvSpPr>
        <p:spPr>
          <a:xfrm>
            <a:off x="1238250" y="52409"/>
            <a:ext cx="9715500" cy="978486"/>
          </a:xfrm>
        </p:spPr>
        <p:txBody>
          <a:bodyPr/>
          <a:lstStyle/>
          <a:p>
            <a:r>
              <a:rPr lang="en-US">
                <a:solidFill>
                  <a:schemeClr val="bg1"/>
                </a:solidFill>
              </a:rPr>
              <a:t>FAS Series</a:t>
            </a:r>
          </a:p>
        </p:txBody>
      </p:sp>
      <p:sp>
        <p:nvSpPr>
          <p:cNvPr id="2" name="Text Placeholder 1">
            <a:extLst>
              <a:ext uri="{FF2B5EF4-FFF2-40B4-BE49-F238E27FC236}">
                <a16:creationId xmlns:a16="http://schemas.microsoft.com/office/drawing/2014/main" id="{42C33274-DFAD-0AD5-5B91-DABFC25C5CBD}"/>
              </a:ext>
            </a:extLst>
          </p:cNvPr>
          <p:cNvSpPr>
            <a:spLocks noGrp="1"/>
          </p:cNvSpPr>
          <p:nvPr>
            <p:ph type="body" sz="quarter" idx="10"/>
          </p:nvPr>
        </p:nvSpPr>
        <p:spPr>
          <a:xfrm>
            <a:off x="237565" y="1200930"/>
            <a:ext cx="11716870" cy="4860591"/>
          </a:xfrm>
        </p:spPr>
        <p:txBody>
          <a:bodyPr>
            <a:normAutofit/>
          </a:bodyPr>
          <a:lstStyle/>
          <a:p>
            <a:pPr marL="0" marR="0" indent="0">
              <a:lnSpc>
                <a:spcPct val="125000"/>
              </a:lnSpc>
              <a:spcBef>
                <a:spcPts val="800"/>
              </a:spcBef>
              <a:spcAft>
                <a:spcPts val="0"/>
              </a:spcAft>
              <a:buNone/>
            </a:pPr>
            <a:r>
              <a:rPr lang="en-US" sz="1800" b="1" dirty="0">
                <a:effectLst/>
                <a:latin typeface="Arial" panose="020B0604020202020204" pitchFamily="34" charset="0"/>
                <a:ea typeface="Arial" panose="020B0604020202020204" pitchFamily="34" charset="0"/>
                <a:cs typeface="Times New Roman" panose="02020603050405020304" pitchFamily="18" charset="0"/>
              </a:rPr>
              <a:t>Type of Institutions. </a:t>
            </a:r>
            <a:r>
              <a:rPr lang="en-US" sz="1800" dirty="0">
                <a:effectLst/>
                <a:latin typeface="Arial" panose="020B0604020202020204" pitchFamily="34" charset="0"/>
                <a:ea typeface="Arial" panose="020B0604020202020204" pitchFamily="34" charset="0"/>
                <a:cs typeface="Times New Roman" panose="02020603050405020304" pitchFamily="18" charset="0"/>
              </a:rPr>
              <a:t>The FAS collects data from a wide range of institutions, including:</a:t>
            </a:r>
          </a:p>
          <a:p>
            <a:pPr marL="800100" lvl="1" indent="-342900">
              <a:lnSpc>
                <a:spcPct val="125000"/>
              </a:lnSpc>
              <a:spcBef>
                <a:spcPts val="800"/>
              </a:spcBef>
              <a:buFont typeface="Symbol" panose="05050102010706020507" pitchFamily="18" charset="2"/>
              <a:buChar char=""/>
            </a:pPr>
            <a:r>
              <a:rPr lang="en-US" sz="1400" i="1" dirty="0">
                <a:solidFill>
                  <a:srgbClr val="000000"/>
                </a:solidFill>
                <a:effectLst/>
                <a:latin typeface="Arial" panose="020B0604020202020204" pitchFamily="34" charset="0"/>
                <a:ea typeface="Century Gothic" panose="020B0502020202020204" pitchFamily="34" charset="0"/>
              </a:rPr>
              <a:t>Commercial banks</a:t>
            </a:r>
            <a:endParaRPr lang="en-US" sz="1400" dirty="0">
              <a:solidFill>
                <a:srgbClr val="000000"/>
              </a:solidFill>
              <a:effectLst/>
              <a:latin typeface="Arial" panose="020B0604020202020204" pitchFamily="34" charset="0"/>
              <a:ea typeface="Century Gothic" panose="020B0502020202020204" pitchFamily="34" charset="0"/>
            </a:endParaRPr>
          </a:p>
          <a:p>
            <a:pPr marL="800100" lvl="1" indent="-342900">
              <a:lnSpc>
                <a:spcPct val="125000"/>
              </a:lnSpc>
              <a:spcBef>
                <a:spcPts val="0"/>
              </a:spcBef>
              <a:buFont typeface="Symbol" panose="05050102010706020507" pitchFamily="18" charset="2"/>
              <a:buChar char=""/>
            </a:pPr>
            <a:r>
              <a:rPr lang="en-US" sz="1400" i="1" dirty="0">
                <a:solidFill>
                  <a:srgbClr val="000000"/>
                </a:solidFill>
                <a:effectLst/>
                <a:latin typeface="Arial" panose="020B0604020202020204" pitchFamily="34" charset="0"/>
                <a:ea typeface="Century Gothic" panose="020B0502020202020204" pitchFamily="34" charset="0"/>
              </a:rPr>
              <a:t>Credit unions and cooperatives.</a:t>
            </a:r>
            <a:endParaRPr lang="en-US" sz="1400" dirty="0">
              <a:solidFill>
                <a:srgbClr val="000000"/>
              </a:solidFill>
              <a:effectLst/>
              <a:latin typeface="Arial" panose="020B0604020202020204" pitchFamily="34" charset="0"/>
              <a:ea typeface="Century Gothic" panose="020B0502020202020204" pitchFamily="34" charset="0"/>
            </a:endParaRPr>
          </a:p>
          <a:p>
            <a:pPr marL="800100" lvl="1" indent="-342900">
              <a:lnSpc>
                <a:spcPct val="125000"/>
              </a:lnSpc>
              <a:spcBef>
                <a:spcPts val="0"/>
              </a:spcBef>
              <a:buFont typeface="Symbol" panose="05050102010706020507" pitchFamily="18" charset="2"/>
              <a:buChar char=""/>
            </a:pPr>
            <a:r>
              <a:rPr lang="en-US" sz="1400" i="1" dirty="0">
                <a:solidFill>
                  <a:srgbClr val="000000"/>
                </a:solidFill>
                <a:effectLst/>
                <a:latin typeface="Arial" panose="020B0604020202020204" pitchFamily="34" charset="0"/>
                <a:ea typeface="Century Gothic" panose="020B0502020202020204" pitchFamily="34" charset="0"/>
              </a:rPr>
              <a:t>Microfinance institutions (both deposit taking and non-deposit taking)</a:t>
            </a:r>
            <a:endParaRPr lang="en-US" sz="1400" dirty="0">
              <a:solidFill>
                <a:srgbClr val="000000"/>
              </a:solidFill>
              <a:effectLst/>
              <a:latin typeface="Arial" panose="020B0604020202020204" pitchFamily="34" charset="0"/>
              <a:ea typeface="Century Gothic" panose="020B0502020202020204" pitchFamily="34" charset="0"/>
            </a:endParaRPr>
          </a:p>
          <a:p>
            <a:pPr marL="800100" lvl="1" indent="-342900">
              <a:lnSpc>
                <a:spcPct val="125000"/>
              </a:lnSpc>
              <a:spcBef>
                <a:spcPts val="0"/>
              </a:spcBef>
              <a:buFont typeface="Symbol" panose="05050102010706020507" pitchFamily="18" charset="2"/>
              <a:buChar char=""/>
            </a:pPr>
            <a:r>
              <a:rPr lang="en-US" sz="1400" i="1" dirty="0">
                <a:solidFill>
                  <a:srgbClr val="000000"/>
                </a:solidFill>
                <a:effectLst/>
                <a:latin typeface="Arial" panose="020B0604020202020204" pitchFamily="34" charset="0"/>
                <a:ea typeface="Century Gothic" panose="020B0502020202020204" pitchFamily="34" charset="0"/>
              </a:rPr>
              <a:t>Other deposit takers</a:t>
            </a:r>
            <a:endParaRPr lang="en-US" sz="1400" dirty="0">
              <a:solidFill>
                <a:srgbClr val="000000"/>
              </a:solidFill>
              <a:effectLst/>
              <a:latin typeface="Arial" panose="020B0604020202020204" pitchFamily="34" charset="0"/>
              <a:ea typeface="Century Gothic" panose="020B0502020202020204" pitchFamily="34" charset="0"/>
            </a:endParaRPr>
          </a:p>
          <a:p>
            <a:pPr marL="800100" lvl="1" indent="-342900">
              <a:lnSpc>
                <a:spcPct val="125000"/>
              </a:lnSpc>
              <a:spcBef>
                <a:spcPts val="0"/>
              </a:spcBef>
              <a:buFont typeface="Symbol" panose="05050102010706020507" pitchFamily="18" charset="2"/>
              <a:buChar char=""/>
            </a:pPr>
            <a:r>
              <a:rPr lang="en-US" sz="1400" i="1" dirty="0">
                <a:solidFill>
                  <a:srgbClr val="000000"/>
                </a:solidFill>
                <a:effectLst/>
                <a:latin typeface="Arial" panose="020B0604020202020204" pitchFamily="34" charset="0"/>
                <a:ea typeface="Century Gothic" panose="020B0502020202020204" pitchFamily="34" charset="0"/>
              </a:rPr>
              <a:t>Insurance corporations.</a:t>
            </a:r>
            <a:endParaRPr lang="en-US" sz="1400" dirty="0">
              <a:solidFill>
                <a:srgbClr val="000000"/>
              </a:solidFill>
              <a:effectLst/>
              <a:latin typeface="Arial" panose="020B0604020202020204" pitchFamily="34" charset="0"/>
              <a:ea typeface="Century Gothic" panose="020B0502020202020204" pitchFamily="34" charset="0"/>
            </a:endParaRPr>
          </a:p>
          <a:p>
            <a:pPr marL="800100" lvl="1" indent="-342900">
              <a:lnSpc>
                <a:spcPct val="125000"/>
              </a:lnSpc>
              <a:spcBef>
                <a:spcPts val="0"/>
              </a:spcBef>
              <a:buFont typeface="Symbol" panose="05050102010706020507" pitchFamily="18" charset="2"/>
              <a:buChar char=""/>
            </a:pPr>
            <a:r>
              <a:rPr lang="en-US" sz="1400" i="1" dirty="0">
                <a:solidFill>
                  <a:srgbClr val="000000"/>
                </a:solidFill>
                <a:effectLst/>
                <a:latin typeface="Arial" panose="020B0604020202020204" pitchFamily="34" charset="0"/>
                <a:ea typeface="Century Gothic" panose="020B0502020202020204" pitchFamily="34" charset="0"/>
              </a:rPr>
              <a:t>Mobile money operators.</a:t>
            </a:r>
            <a:endParaRPr lang="en-US" sz="1400" dirty="0">
              <a:solidFill>
                <a:srgbClr val="000000"/>
              </a:solidFill>
              <a:effectLst/>
              <a:latin typeface="Arial" panose="020B0604020202020204" pitchFamily="34" charset="0"/>
              <a:ea typeface="Century Gothic" panose="020B0502020202020204" pitchFamily="34" charset="0"/>
            </a:endParaRPr>
          </a:p>
          <a:p>
            <a:pPr marL="0" indent="0" algn="l">
              <a:buNone/>
            </a:pPr>
            <a:r>
              <a:rPr lang="en-US" sz="1800" b="1" i="0" u="none" strike="noStrike" baseline="0" dirty="0">
                <a:latin typeface="Arial-BoldMT"/>
              </a:rPr>
              <a:t>Further data disaggregation. </a:t>
            </a:r>
            <a:r>
              <a:rPr lang="en-US" sz="1800" b="0" i="0" u="none" strike="noStrike" baseline="0" dirty="0">
                <a:latin typeface="ArialMT"/>
              </a:rPr>
              <a:t>The FAS provides data disaggregated by relevant sectors and gender (male/female) for selected series and financial institutions. </a:t>
            </a:r>
          </a:p>
          <a:p>
            <a:r>
              <a:rPr lang="en-US" sz="1800" b="0" i="0" u="none" strike="noStrike" baseline="0" dirty="0">
                <a:latin typeface="ArialMT"/>
              </a:rPr>
              <a:t>deposit and loan series for commercial banks and credit unions and cooperatives include values for both households and SMEs</a:t>
            </a:r>
            <a:endParaRPr lang="en-US" sz="1800" dirty="0">
              <a:latin typeface="ArialMT"/>
            </a:endParaRPr>
          </a:p>
          <a:p>
            <a:r>
              <a:rPr lang="en-US" sz="1800" b="0" i="0" u="none" strike="noStrike" baseline="0" dirty="0">
                <a:latin typeface="ArialMT"/>
              </a:rPr>
              <a:t>Household data are further broken down by gender.</a:t>
            </a:r>
            <a:endParaRPr lang="en-US" sz="1800" dirty="0">
              <a:solidFill>
                <a:srgbClr val="000000"/>
              </a:solidFill>
              <a:effectLst/>
              <a:latin typeface="Arial" panose="020B0604020202020204" pitchFamily="34" charset="0"/>
              <a:ea typeface="Century Gothic" panose="020B0502020202020204" pitchFamily="34" charset="0"/>
            </a:endParaRPr>
          </a:p>
          <a:p>
            <a:endParaRPr lang="en-US" sz="1800" dirty="0">
              <a:solidFill>
                <a:srgbClr val="000000"/>
              </a:solidFill>
              <a:effectLst/>
              <a:latin typeface="Arial" panose="020B0604020202020204" pitchFamily="34" charset="0"/>
              <a:ea typeface="Century Gothic" panose="020B0502020202020204" pitchFamily="34" charset="0"/>
            </a:endParaRPr>
          </a:p>
          <a:p>
            <a:pPr marL="0" indent="0">
              <a:buNone/>
            </a:pPr>
            <a:endParaRPr lang="en-US" dirty="0"/>
          </a:p>
        </p:txBody>
      </p:sp>
    </p:spTree>
    <p:extLst>
      <p:ext uri="{BB962C8B-B14F-4D97-AF65-F5344CB8AC3E}">
        <p14:creationId xmlns:p14="http://schemas.microsoft.com/office/powerpoint/2010/main" val="2065459539"/>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3B3C8924-ED5E-1794-27FF-0F89DE8C8DA8}"/>
              </a:ext>
            </a:extLst>
          </p:cNvPr>
          <p:cNvSpPr>
            <a:spLocks noGrp="1"/>
          </p:cNvSpPr>
          <p:nvPr>
            <p:ph type="title"/>
          </p:nvPr>
        </p:nvSpPr>
        <p:spPr>
          <a:xfrm>
            <a:off x="1238250" y="114868"/>
            <a:ext cx="9715500" cy="978486"/>
          </a:xfrm>
        </p:spPr>
        <p:txBody>
          <a:bodyPr/>
          <a:lstStyle/>
          <a:p>
            <a:r>
              <a:rPr lang="en-US">
                <a:solidFill>
                  <a:schemeClr val="bg1"/>
                </a:solidFill>
              </a:rPr>
              <a:t>FAS Indicators</a:t>
            </a:r>
          </a:p>
        </p:txBody>
      </p:sp>
      <p:sp>
        <p:nvSpPr>
          <p:cNvPr id="2" name="Text Placeholder 1">
            <a:extLst>
              <a:ext uri="{FF2B5EF4-FFF2-40B4-BE49-F238E27FC236}">
                <a16:creationId xmlns:a16="http://schemas.microsoft.com/office/drawing/2014/main" id="{96487B58-A630-E3EB-FA2B-0020F3C8F57B}"/>
              </a:ext>
            </a:extLst>
          </p:cNvPr>
          <p:cNvSpPr>
            <a:spLocks noGrp="1"/>
          </p:cNvSpPr>
          <p:nvPr>
            <p:ph type="body" sz="quarter" idx="10"/>
          </p:nvPr>
        </p:nvSpPr>
        <p:spPr>
          <a:xfrm>
            <a:off x="295835" y="1192307"/>
            <a:ext cx="11636189" cy="5138156"/>
          </a:xfrm>
        </p:spPr>
        <p:txBody>
          <a:bodyPr>
            <a:normAutofit lnSpcReduction="10000"/>
          </a:bodyPr>
          <a:lstStyle/>
          <a:p>
            <a:pPr marL="0" indent="0">
              <a:buNone/>
            </a:pPr>
            <a:r>
              <a:rPr lang="en-US" sz="1800" dirty="0"/>
              <a:t>The FAS also include 70 indicators—17 on financial access and 53 on usage—normalized by the size of the adult population, land area, and GDP in addition to the 121 series directly reported by participating economies.</a:t>
            </a:r>
          </a:p>
          <a:p>
            <a:pPr marL="0" marR="0" indent="0">
              <a:lnSpc>
                <a:spcPct val="125000"/>
              </a:lnSpc>
              <a:spcBef>
                <a:spcPts val="800"/>
              </a:spcBef>
              <a:spcAft>
                <a:spcPts val="0"/>
              </a:spcAft>
              <a:buNone/>
            </a:pPr>
            <a:r>
              <a:rPr lang="en-US" sz="1800" b="1" dirty="0">
                <a:effectLst/>
                <a:latin typeface="Arial" panose="020B0604020202020204" pitchFamily="34" charset="0"/>
                <a:ea typeface="Arial" panose="020B0604020202020204" pitchFamily="34" charset="0"/>
                <a:cs typeface="Times New Roman" panose="02020603050405020304" pitchFamily="18" charset="0"/>
              </a:rPr>
              <a:t>Indicators on </a:t>
            </a:r>
            <a:r>
              <a:rPr lang="en-US" sz="1800" b="1" u="sng" dirty="0">
                <a:effectLst/>
                <a:latin typeface="Arial" panose="020B0604020202020204" pitchFamily="34" charset="0"/>
                <a:ea typeface="Arial" panose="020B0604020202020204" pitchFamily="34" charset="0"/>
                <a:cs typeface="Times New Roman" panose="02020603050405020304" pitchFamily="18" charset="0"/>
              </a:rPr>
              <a:t>access</a:t>
            </a:r>
            <a:r>
              <a:rPr lang="en-US" sz="1800" b="1" dirty="0">
                <a:effectLst/>
                <a:latin typeface="Arial" panose="020B0604020202020204" pitchFamily="34" charset="0"/>
                <a:ea typeface="Arial" panose="020B0604020202020204" pitchFamily="34" charset="0"/>
                <a:cs typeface="Times New Roman" panose="02020603050405020304" pitchFamily="18" charset="0"/>
              </a:rPr>
              <a:t> to financial services.</a:t>
            </a:r>
            <a:endParaRPr lang="en-US" sz="1800" dirty="0">
              <a:effectLst/>
              <a:latin typeface="Arial" panose="020B0604020202020204" pitchFamily="34" charset="0"/>
              <a:ea typeface="Arial" panose="020B0604020202020204" pitchFamily="34" charset="0"/>
              <a:cs typeface="Times New Roman" panose="02020603050405020304" pitchFamily="18" charset="0"/>
            </a:endParaRPr>
          </a:p>
          <a:p>
            <a:pPr marL="457200" lvl="1">
              <a:lnSpc>
                <a:spcPct val="125000"/>
              </a:lnSpc>
              <a:spcBef>
                <a:spcPts val="800"/>
              </a:spcBef>
            </a:pPr>
            <a:r>
              <a:rPr lang="en-US" sz="1400" i="1" dirty="0">
                <a:effectLst/>
                <a:latin typeface="Arial" panose="020B0604020202020204" pitchFamily="34" charset="0"/>
                <a:ea typeface="Arial" panose="020B0604020202020204" pitchFamily="34" charset="0"/>
                <a:cs typeface="Times New Roman" panose="02020603050405020304" pitchFamily="18" charset="0"/>
              </a:rPr>
              <a:t>Traditional access. </a:t>
            </a:r>
            <a:r>
              <a:rPr lang="en-US" sz="1400" dirty="0">
                <a:effectLst/>
                <a:latin typeface="Arial" panose="020B0604020202020204" pitchFamily="34" charset="0"/>
                <a:ea typeface="Arial" panose="020B0604020202020204" pitchFamily="34" charset="0"/>
                <a:cs typeface="Times New Roman" panose="02020603050405020304" pitchFamily="18" charset="0"/>
              </a:rPr>
              <a:t>Measures the number of branches and ATMs per 1,000 km² and per 100,000 adults, as well as the number of insurance corporations per 100,000 adults.</a:t>
            </a:r>
          </a:p>
          <a:p>
            <a:pPr marL="457200" lvl="1">
              <a:lnSpc>
                <a:spcPct val="125000"/>
              </a:lnSpc>
              <a:spcBef>
                <a:spcPts val="800"/>
              </a:spcBef>
            </a:pPr>
            <a:r>
              <a:rPr lang="en-US" sz="1400" i="1" dirty="0">
                <a:effectLst/>
                <a:latin typeface="Arial" panose="020B0604020202020204" pitchFamily="34" charset="0"/>
                <a:ea typeface="Arial" panose="020B0604020202020204" pitchFamily="34" charset="0"/>
                <a:cs typeface="Times New Roman" panose="02020603050405020304" pitchFamily="18" charset="0"/>
              </a:rPr>
              <a:t>Non-traditional access</a:t>
            </a:r>
            <a:r>
              <a:rPr lang="en-US" sz="1400" dirty="0">
                <a:effectLst/>
                <a:latin typeface="Arial" panose="020B0604020202020204" pitchFamily="34" charset="0"/>
                <a:ea typeface="Arial" panose="020B0604020202020204" pitchFamily="34" charset="0"/>
                <a:cs typeface="Times New Roman" panose="02020603050405020304" pitchFamily="18" charset="0"/>
              </a:rPr>
              <a:t>. Includes non-branch retail agents and the number of registered and active mobile money agents per 1,000 km2 and per 100,000 adults.</a:t>
            </a:r>
          </a:p>
          <a:p>
            <a:pPr marL="0" marR="0" indent="0">
              <a:lnSpc>
                <a:spcPct val="125000"/>
              </a:lnSpc>
              <a:spcBef>
                <a:spcPts val="800"/>
              </a:spcBef>
              <a:spcAft>
                <a:spcPts val="0"/>
              </a:spcAft>
              <a:buNone/>
            </a:pPr>
            <a:r>
              <a:rPr lang="en-US" sz="1800" b="1" dirty="0">
                <a:effectLst/>
                <a:latin typeface="Arial" panose="020B0604020202020204" pitchFamily="34" charset="0"/>
                <a:ea typeface="Arial" panose="020B0604020202020204" pitchFamily="34" charset="0"/>
                <a:cs typeface="Times New Roman" panose="02020603050405020304" pitchFamily="18" charset="0"/>
              </a:rPr>
              <a:t>Indicators on the </a:t>
            </a:r>
            <a:r>
              <a:rPr lang="en-US" sz="1800" b="1" u="sng" dirty="0">
                <a:effectLst/>
                <a:latin typeface="Arial" panose="020B0604020202020204" pitchFamily="34" charset="0"/>
                <a:ea typeface="Arial" panose="020B0604020202020204" pitchFamily="34" charset="0"/>
                <a:cs typeface="Times New Roman" panose="02020603050405020304" pitchFamily="18" charset="0"/>
              </a:rPr>
              <a:t>usage</a:t>
            </a:r>
            <a:r>
              <a:rPr lang="en-US" sz="1800" b="1" dirty="0">
                <a:effectLst/>
                <a:latin typeface="Arial" panose="020B0604020202020204" pitchFamily="34" charset="0"/>
                <a:ea typeface="Arial" panose="020B0604020202020204" pitchFamily="34" charset="0"/>
                <a:cs typeface="Times New Roman" panose="02020603050405020304" pitchFamily="18" charset="0"/>
              </a:rPr>
              <a:t> of financial services.</a:t>
            </a:r>
            <a:endParaRPr lang="en-US" sz="1800" dirty="0">
              <a:effectLst/>
              <a:latin typeface="Arial" panose="020B0604020202020204" pitchFamily="34" charset="0"/>
              <a:ea typeface="Arial" panose="020B0604020202020204" pitchFamily="34" charset="0"/>
              <a:cs typeface="Times New Roman" panose="02020603050405020304" pitchFamily="18" charset="0"/>
            </a:endParaRPr>
          </a:p>
          <a:p>
            <a:pPr marL="457200" lvl="1">
              <a:lnSpc>
                <a:spcPct val="125000"/>
              </a:lnSpc>
              <a:spcBef>
                <a:spcPts val="800"/>
              </a:spcBef>
            </a:pPr>
            <a:r>
              <a:rPr lang="en-US" sz="1400" i="1" dirty="0">
                <a:effectLst/>
                <a:latin typeface="Arial" panose="020B0604020202020204" pitchFamily="34" charset="0"/>
                <a:ea typeface="Arial" panose="020B0604020202020204" pitchFamily="34" charset="0"/>
                <a:cs typeface="Times New Roman" panose="02020603050405020304" pitchFamily="18" charset="0"/>
              </a:rPr>
              <a:t>Traditional usage</a:t>
            </a:r>
            <a:r>
              <a:rPr lang="en-US" sz="1400" dirty="0">
                <a:effectLst/>
                <a:latin typeface="Arial" panose="020B0604020202020204" pitchFamily="34" charset="0"/>
                <a:ea typeface="Arial" panose="020B0604020202020204" pitchFamily="34" charset="0"/>
                <a:cs typeface="Times New Roman" panose="02020603050405020304" pitchFamily="18" charset="0"/>
              </a:rPr>
              <a:t>. Covers data on the number of deposit accounts, depositors, loan accounts, and borrowers per 1,000 adults. Additional indicators cover outstanding deposits and loans (normalized by GDP); as well as the number of life and non-life insurance policies, and credit and debit cards per 1,000 adults.</a:t>
            </a:r>
          </a:p>
          <a:p>
            <a:pPr marL="457200" lvl="1">
              <a:lnSpc>
                <a:spcPct val="125000"/>
              </a:lnSpc>
              <a:spcBef>
                <a:spcPts val="800"/>
              </a:spcBef>
            </a:pPr>
            <a:r>
              <a:rPr lang="en-US" sz="1400" i="1" dirty="0">
                <a:effectLst/>
                <a:latin typeface="Arial" panose="020B0604020202020204" pitchFamily="34" charset="0"/>
                <a:ea typeface="Arial" panose="020B0604020202020204" pitchFamily="34" charset="0"/>
                <a:cs typeface="Times New Roman" panose="02020603050405020304" pitchFamily="18" charset="0"/>
              </a:rPr>
              <a:t>Non-traditional usage</a:t>
            </a:r>
            <a:r>
              <a:rPr lang="en-US" sz="1400" dirty="0">
                <a:effectLst/>
                <a:latin typeface="Arial" panose="020B0604020202020204" pitchFamily="34" charset="0"/>
                <a:ea typeface="Arial" panose="020B0604020202020204" pitchFamily="34" charset="0"/>
                <a:cs typeface="Times New Roman" panose="02020603050405020304" pitchFamily="18" charset="0"/>
              </a:rPr>
              <a:t>. Covers the number of mobile and internet banking transactions, mobile money transactions, and active and registered mobile money accounts per 1,000 adults. Indicators on the value of mobile and internet banking transactions, and mobile money transactions, normalized by GDP are also available.</a:t>
            </a:r>
          </a:p>
          <a:p>
            <a:pPr marL="457200" lvl="1">
              <a:lnSpc>
                <a:spcPct val="125000"/>
              </a:lnSpc>
              <a:spcBef>
                <a:spcPts val="800"/>
              </a:spcBef>
            </a:pPr>
            <a:r>
              <a:rPr lang="en-US" sz="1400" i="1" dirty="0">
                <a:effectLst/>
                <a:latin typeface="Arial" panose="020B0604020202020204" pitchFamily="34" charset="0"/>
                <a:ea typeface="Arial" panose="020B0604020202020204" pitchFamily="34" charset="0"/>
                <a:cs typeface="Times New Roman" panose="02020603050405020304" pitchFamily="18" charset="0"/>
              </a:rPr>
              <a:t>Disaggregated usage indicators</a:t>
            </a:r>
            <a:r>
              <a:rPr lang="en-US" sz="1400" dirty="0">
                <a:effectLst/>
                <a:latin typeface="Arial" panose="020B0604020202020204" pitchFamily="34" charset="0"/>
                <a:ea typeface="Arial" panose="020B0604020202020204" pitchFamily="34" charset="0"/>
                <a:cs typeface="Times New Roman" panose="02020603050405020304" pitchFamily="18" charset="0"/>
              </a:rPr>
              <a:t>: Deposit and loan indicators for commercial banks are further broken down by SMEs and households, with gender disaggregated data for the household sector. Microfinance indicators on borrowers and loan accounts are also disaggregated by gender.</a:t>
            </a:r>
          </a:p>
          <a:p>
            <a:pPr marL="0" indent="0">
              <a:buNone/>
            </a:pPr>
            <a:endParaRPr lang="en-US" sz="1800" dirty="0"/>
          </a:p>
        </p:txBody>
      </p:sp>
    </p:spTree>
    <p:extLst>
      <p:ext uri="{BB962C8B-B14F-4D97-AF65-F5344CB8AC3E}">
        <p14:creationId xmlns:p14="http://schemas.microsoft.com/office/powerpoint/2010/main" val="1000563241"/>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27D9E-BB90-9757-9665-A780FA512F0E}"/>
              </a:ext>
            </a:extLst>
          </p:cNvPr>
          <p:cNvSpPr>
            <a:spLocks noGrp="1"/>
          </p:cNvSpPr>
          <p:nvPr>
            <p:ph type="title"/>
          </p:nvPr>
        </p:nvSpPr>
        <p:spPr>
          <a:xfrm>
            <a:off x="1354295" y="0"/>
            <a:ext cx="11479576" cy="978486"/>
          </a:xfrm>
        </p:spPr>
        <p:txBody>
          <a:bodyPr>
            <a:normAutofit/>
          </a:bodyPr>
          <a:lstStyle/>
          <a:p>
            <a:r>
              <a:rPr lang="en-US" sz="2400" dirty="0">
                <a:solidFill>
                  <a:schemeClr val="bg1"/>
                </a:solidFill>
                <a:latin typeface="Arial Black" panose="020B0A04020102020204" pitchFamily="34" charset="0"/>
              </a:rPr>
              <a:t>Mobile money is playing a transformative role in expanding access to finance in SSA. </a:t>
            </a:r>
          </a:p>
        </p:txBody>
      </p:sp>
      <p:pic>
        <p:nvPicPr>
          <p:cNvPr id="5" name="Picture 4">
            <a:extLst>
              <a:ext uri="{FF2B5EF4-FFF2-40B4-BE49-F238E27FC236}">
                <a16:creationId xmlns:a16="http://schemas.microsoft.com/office/drawing/2014/main" id="{4262DF99-3904-781B-D789-532D59402D22}"/>
              </a:ext>
            </a:extLst>
          </p:cNvPr>
          <p:cNvPicPr>
            <a:picLocks noChangeAspect="1"/>
          </p:cNvPicPr>
          <p:nvPr/>
        </p:nvPicPr>
        <p:blipFill>
          <a:blip r:embed="rId3"/>
          <a:stretch>
            <a:fillRect/>
          </a:stretch>
        </p:blipFill>
        <p:spPr>
          <a:xfrm>
            <a:off x="760640" y="1286990"/>
            <a:ext cx="10767572" cy="5262506"/>
          </a:xfrm>
          <a:prstGeom prst="rect">
            <a:avLst/>
          </a:prstGeom>
        </p:spPr>
      </p:pic>
      <p:sp>
        <p:nvSpPr>
          <p:cNvPr id="7" name="TextBox 6">
            <a:extLst>
              <a:ext uri="{FF2B5EF4-FFF2-40B4-BE49-F238E27FC236}">
                <a16:creationId xmlns:a16="http://schemas.microsoft.com/office/drawing/2014/main" id="{0A71B007-9F4E-DC7E-C831-0720A0E8D01E}"/>
              </a:ext>
            </a:extLst>
          </p:cNvPr>
          <p:cNvSpPr txBox="1"/>
          <p:nvPr/>
        </p:nvSpPr>
        <p:spPr>
          <a:xfrm>
            <a:off x="5395511" y="5783588"/>
            <a:ext cx="608682" cy="369332"/>
          </a:xfrm>
          <a:prstGeom prst="rect">
            <a:avLst/>
          </a:prstGeom>
          <a:noFill/>
        </p:spPr>
        <p:txBody>
          <a:bodyPr wrap="square">
            <a:spAutoFit/>
          </a:bodyPr>
          <a:lstStyle/>
          <a:p>
            <a:r>
              <a:rPr lang="en-US">
                <a:hlinkClick r:id="rId4"/>
              </a:rPr>
              <a:t>FAS</a:t>
            </a:r>
            <a:endParaRPr lang="en-US"/>
          </a:p>
        </p:txBody>
      </p:sp>
    </p:spTree>
    <p:extLst>
      <p:ext uri="{BB962C8B-B14F-4D97-AF65-F5344CB8AC3E}">
        <p14:creationId xmlns:p14="http://schemas.microsoft.com/office/powerpoint/2010/main" val="3993834732"/>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3B3C8924-ED5E-1794-27FF-0F89DE8C8DA8}"/>
              </a:ext>
            </a:extLst>
          </p:cNvPr>
          <p:cNvSpPr>
            <a:spLocks noGrp="1"/>
          </p:cNvSpPr>
          <p:nvPr>
            <p:ph type="title"/>
          </p:nvPr>
        </p:nvSpPr>
        <p:spPr>
          <a:xfrm>
            <a:off x="1238250" y="151627"/>
            <a:ext cx="9715500" cy="978486"/>
          </a:xfrm>
        </p:spPr>
        <p:txBody>
          <a:bodyPr/>
          <a:lstStyle/>
          <a:p>
            <a:r>
              <a:rPr lang="en-US">
                <a:solidFill>
                  <a:schemeClr val="bg1"/>
                </a:solidFill>
              </a:rPr>
              <a:t>IMF’s FAS data</a:t>
            </a:r>
          </a:p>
        </p:txBody>
      </p:sp>
      <p:pic>
        <p:nvPicPr>
          <p:cNvPr id="8" name="Picture 7">
            <a:extLst>
              <a:ext uri="{FF2B5EF4-FFF2-40B4-BE49-F238E27FC236}">
                <a16:creationId xmlns:a16="http://schemas.microsoft.com/office/drawing/2014/main" id="{DFFA0154-D57E-3D31-2386-0DD5B7DB6D57}"/>
              </a:ext>
            </a:extLst>
          </p:cNvPr>
          <p:cNvPicPr>
            <a:picLocks noChangeAspect="1"/>
          </p:cNvPicPr>
          <p:nvPr/>
        </p:nvPicPr>
        <p:blipFill>
          <a:blip r:embed="rId3"/>
          <a:stretch>
            <a:fillRect/>
          </a:stretch>
        </p:blipFill>
        <p:spPr>
          <a:xfrm>
            <a:off x="6020948" y="1723482"/>
            <a:ext cx="5949306" cy="3844052"/>
          </a:xfrm>
          <a:prstGeom prst="rect">
            <a:avLst/>
          </a:prstGeom>
        </p:spPr>
      </p:pic>
      <p:pic>
        <p:nvPicPr>
          <p:cNvPr id="10" name="Picture 9">
            <a:extLst>
              <a:ext uri="{FF2B5EF4-FFF2-40B4-BE49-F238E27FC236}">
                <a16:creationId xmlns:a16="http://schemas.microsoft.com/office/drawing/2014/main" id="{9FD6D076-1AF2-295C-87D2-22B78ECE2430}"/>
              </a:ext>
            </a:extLst>
          </p:cNvPr>
          <p:cNvPicPr>
            <a:picLocks noChangeAspect="1"/>
          </p:cNvPicPr>
          <p:nvPr/>
        </p:nvPicPr>
        <p:blipFill>
          <a:blip r:embed="rId4"/>
          <a:stretch>
            <a:fillRect/>
          </a:stretch>
        </p:blipFill>
        <p:spPr>
          <a:xfrm>
            <a:off x="340504" y="1723481"/>
            <a:ext cx="5329275" cy="3967300"/>
          </a:xfrm>
          <a:prstGeom prst="rect">
            <a:avLst/>
          </a:prstGeom>
        </p:spPr>
      </p:pic>
      <p:sp>
        <p:nvSpPr>
          <p:cNvPr id="3" name="TextBox 2">
            <a:extLst>
              <a:ext uri="{FF2B5EF4-FFF2-40B4-BE49-F238E27FC236}">
                <a16:creationId xmlns:a16="http://schemas.microsoft.com/office/drawing/2014/main" id="{ABACE908-AEB5-7E4B-3086-31DB28548E7E}"/>
              </a:ext>
            </a:extLst>
          </p:cNvPr>
          <p:cNvSpPr txBox="1"/>
          <p:nvPr/>
        </p:nvSpPr>
        <p:spPr>
          <a:xfrm>
            <a:off x="611703" y="6187002"/>
            <a:ext cx="3924202" cy="338554"/>
          </a:xfrm>
          <a:prstGeom prst="rect">
            <a:avLst/>
          </a:prstGeom>
          <a:noFill/>
        </p:spPr>
        <p:txBody>
          <a:bodyPr wrap="square">
            <a:spAutoFit/>
          </a:bodyPr>
          <a:lstStyle/>
          <a:p>
            <a:r>
              <a:rPr lang="en-US" sz="1600"/>
              <a:t>Source: IMF Financial Access Survey</a:t>
            </a:r>
          </a:p>
        </p:txBody>
      </p:sp>
    </p:spTree>
    <p:extLst>
      <p:ext uri="{BB962C8B-B14F-4D97-AF65-F5344CB8AC3E}">
        <p14:creationId xmlns:p14="http://schemas.microsoft.com/office/powerpoint/2010/main" val="2062883966"/>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3DF61-1043-72AF-305C-A1D92EB4A61D}"/>
            </a:ext>
          </a:extLst>
        </p:cNvPr>
        <p:cNvGrpSpPr/>
        <p:nvPr/>
      </p:nvGrpSpPr>
      <p:grpSpPr>
        <a:xfrm>
          <a:off x="0" y="0"/>
          <a:ext cx="0" cy="0"/>
          <a:chOff x="0" y="0"/>
          <a:chExt cx="0" cy="0"/>
        </a:xfrm>
      </p:grpSpPr>
      <p:sp>
        <p:nvSpPr>
          <p:cNvPr id="9" name="Title 3">
            <a:extLst>
              <a:ext uri="{FF2B5EF4-FFF2-40B4-BE49-F238E27FC236}">
                <a16:creationId xmlns:a16="http://schemas.microsoft.com/office/drawing/2014/main" id="{77325687-F53A-8045-820E-C99E31E0795D}"/>
              </a:ext>
            </a:extLst>
          </p:cNvPr>
          <p:cNvSpPr>
            <a:spLocks noGrp="1"/>
          </p:cNvSpPr>
          <p:nvPr>
            <p:ph type="title"/>
          </p:nvPr>
        </p:nvSpPr>
        <p:spPr>
          <a:xfrm>
            <a:off x="1238250" y="151627"/>
            <a:ext cx="9715500" cy="978486"/>
          </a:xfrm>
        </p:spPr>
        <p:txBody>
          <a:bodyPr/>
          <a:lstStyle/>
          <a:p>
            <a:r>
              <a:rPr lang="en-US">
                <a:solidFill>
                  <a:schemeClr val="bg1"/>
                </a:solidFill>
              </a:rPr>
              <a:t>IMF’s FAS data</a:t>
            </a:r>
          </a:p>
        </p:txBody>
      </p:sp>
      <p:sp>
        <p:nvSpPr>
          <p:cNvPr id="3" name="TextBox 2">
            <a:extLst>
              <a:ext uri="{FF2B5EF4-FFF2-40B4-BE49-F238E27FC236}">
                <a16:creationId xmlns:a16="http://schemas.microsoft.com/office/drawing/2014/main" id="{CA1B71CD-456B-D28C-B417-4852C54C1C9C}"/>
              </a:ext>
            </a:extLst>
          </p:cNvPr>
          <p:cNvSpPr txBox="1"/>
          <p:nvPr/>
        </p:nvSpPr>
        <p:spPr>
          <a:xfrm>
            <a:off x="611703" y="6187002"/>
            <a:ext cx="3924202" cy="338554"/>
          </a:xfrm>
          <a:prstGeom prst="rect">
            <a:avLst/>
          </a:prstGeom>
          <a:noFill/>
        </p:spPr>
        <p:txBody>
          <a:bodyPr wrap="square">
            <a:spAutoFit/>
          </a:bodyPr>
          <a:lstStyle/>
          <a:p>
            <a:r>
              <a:rPr lang="en-US" sz="1600"/>
              <a:t>Source: IMF Financial Access Survey</a:t>
            </a:r>
          </a:p>
        </p:txBody>
      </p:sp>
      <p:graphicFrame>
        <p:nvGraphicFramePr>
          <p:cNvPr id="2" name="Chart 1">
            <a:extLst>
              <a:ext uri="{FF2B5EF4-FFF2-40B4-BE49-F238E27FC236}">
                <a16:creationId xmlns:a16="http://schemas.microsoft.com/office/drawing/2014/main" id="{CD702C3B-55FE-0229-0F37-5298E0DFA31B}"/>
              </a:ext>
            </a:extLst>
          </p:cNvPr>
          <p:cNvGraphicFramePr>
            <a:graphicFrameLocks/>
          </p:cNvGraphicFramePr>
          <p:nvPr/>
        </p:nvGraphicFramePr>
        <p:xfrm>
          <a:off x="221746" y="1879893"/>
          <a:ext cx="5330952" cy="3968496"/>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DD913E09-BB1C-A3FC-E601-7532768F8250}"/>
              </a:ext>
            </a:extLst>
          </p:cNvPr>
          <p:cNvSpPr txBox="1"/>
          <p:nvPr/>
        </p:nvSpPr>
        <p:spPr>
          <a:xfrm>
            <a:off x="6173348" y="1282513"/>
            <a:ext cx="5755833" cy="523220"/>
          </a:xfrm>
          <a:prstGeom prst="rect">
            <a:avLst/>
          </a:prstGeom>
          <a:noFill/>
        </p:spPr>
        <p:txBody>
          <a:bodyPr wrap="square">
            <a:spAutoFit/>
          </a:bodyPr>
          <a:lstStyle/>
          <a:p>
            <a:pPr algn="ctr"/>
            <a:r>
              <a:rPr lang="en-US" sz="1400" b="1">
                <a:solidFill>
                  <a:srgbClr val="004C97"/>
                </a:solidFill>
                <a:latin typeface="Arial" panose="020B0604020202020204" pitchFamily="34" charset="0"/>
                <a:ea typeface="Arial" panose="020B0604020202020204" pitchFamily="34" charset="0"/>
                <a:cs typeface="Times New Roman" panose="02020603050405020304" pitchFamily="18" charset="0"/>
              </a:rPr>
              <a:t>No. of Deposit Accounts of the Household Sector with Commercial Banks, per 1,000 Adults, by Gender</a:t>
            </a:r>
            <a:endParaRPr lang="en-US" sz="1400" b="1" i="0">
              <a:solidFill>
                <a:srgbClr val="004C97"/>
              </a:solidFill>
              <a:effectLst/>
              <a:latin typeface="Arial" panose="020B0604020202020204" pitchFamily="34" charset="0"/>
              <a:ea typeface="Arial" panose="020B06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CC932C4-54B8-672D-FCCB-0C6A41B5FFFA}"/>
              </a:ext>
            </a:extLst>
          </p:cNvPr>
          <p:cNvSpPr txBox="1"/>
          <p:nvPr/>
        </p:nvSpPr>
        <p:spPr>
          <a:xfrm>
            <a:off x="417515" y="1282513"/>
            <a:ext cx="5755833" cy="523220"/>
          </a:xfrm>
          <a:prstGeom prst="rect">
            <a:avLst/>
          </a:prstGeom>
          <a:noFill/>
        </p:spPr>
        <p:txBody>
          <a:bodyPr wrap="square">
            <a:spAutoFit/>
          </a:bodyPr>
          <a:lstStyle/>
          <a:p>
            <a:pPr algn="ctr"/>
            <a:r>
              <a:rPr lang="en-US" sz="1400" b="1">
                <a:solidFill>
                  <a:srgbClr val="004C97"/>
                </a:solidFill>
                <a:latin typeface="Arial" panose="020B0604020202020204" pitchFamily="34" charset="0"/>
                <a:ea typeface="Arial" panose="020B0604020202020204" pitchFamily="34" charset="0"/>
                <a:cs typeface="Times New Roman" panose="02020603050405020304" pitchFamily="18" charset="0"/>
              </a:rPr>
              <a:t>Use of Financial Services, Number of Borrowers, Commercial Banks; Household Sector Borrowers</a:t>
            </a:r>
            <a:endParaRPr lang="en-US" sz="1400" b="1" i="0">
              <a:solidFill>
                <a:srgbClr val="004C97"/>
              </a:solidFill>
              <a:effectLst/>
              <a:latin typeface="Arial" panose="020B0604020202020204" pitchFamily="34" charset="0"/>
              <a:ea typeface="Arial" panose="020B0604020202020204" pitchFamily="34" charset="0"/>
              <a:cs typeface="Times New Roman" panose="02020603050405020304" pitchFamily="18" charset="0"/>
            </a:endParaRPr>
          </a:p>
        </p:txBody>
      </p:sp>
      <p:graphicFrame>
        <p:nvGraphicFramePr>
          <p:cNvPr id="6" name="Chart 5">
            <a:extLst>
              <a:ext uri="{FF2B5EF4-FFF2-40B4-BE49-F238E27FC236}">
                <a16:creationId xmlns:a16="http://schemas.microsoft.com/office/drawing/2014/main" id="{3C322FC1-5287-49EF-89CB-22632097C408}"/>
              </a:ext>
            </a:extLst>
          </p:cNvPr>
          <p:cNvGraphicFramePr>
            <a:graphicFrameLocks/>
          </p:cNvGraphicFramePr>
          <p:nvPr/>
        </p:nvGraphicFramePr>
        <p:xfrm>
          <a:off x="6385788" y="1879893"/>
          <a:ext cx="5330952" cy="396849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54310685"/>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2A705-CAAA-DC86-20FB-324D906E252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0A8F7DC-AA21-85FD-8CEC-81D166C04F33}"/>
              </a:ext>
            </a:extLst>
          </p:cNvPr>
          <p:cNvSpPr>
            <a:spLocks noGrp="1"/>
          </p:cNvSpPr>
          <p:nvPr>
            <p:ph type="title"/>
          </p:nvPr>
        </p:nvSpPr>
        <p:spPr/>
        <p:txBody>
          <a:bodyPr/>
          <a:lstStyle/>
          <a:p>
            <a:r>
              <a:rPr lang="en-US" dirty="0"/>
              <a:t>Financial Access – Supply Side Data</a:t>
            </a:r>
          </a:p>
        </p:txBody>
      </p:sp>
      <p:sp>
        <p:nvSpPr>
          <p:cNvPr id="8" name="Text Placeholder 7">
            <a:extLst>
              <a:ext uri="{FF2B5EF4-FFF2-40B4-BE49-F238E27FC236}">
                <a16:creationId xmlns:a16="http://schemas.microsoft.com/office/drawing/2014/main" id="{B3AC4A7D-6D09-8B3C-2C4A-91B2A62F0ABB}"/>
              </a:ext>
            </a:extLst>
          </p:cNvPr>
          <p:cNvSpPr>
            <a:spLocks noGrp="1"/>
          </p:cNvSpPr>
          <p:nvPr>
            <p:ph type="body" idx="1"/>
          </p:nvPr>
        </p:nvSpPr>
        <p:spPr>
          <a:xfrm>
            <a:off x="907388" y="2554477"/>
            <a:ext cx="10515600" cy="1500187"/>
          </a:xfrm>
        </p:spPr>
        <p:txBody>
          <a:bodyPr>
            <a:normAutofit/>
          </a:bodyPr>
          <a:lstStyle/>
          <a:p>
            <a:pPr algn="ctr"/>
            <a:r>
              <a:rPr lang="en-US" sz="3200" b="1" dirty="0"/>
              <a:t>Group Exercise: </a:t>
            </a:r>
            <a:r>
              <a:rPr lang="en-US" sz="3200" dirty="0"/>
              <a:t>Exploring FAS data </a:t>
            </a:r>
          </a:p>
        </p:txBody>
      </p:sp>
    </p:spTree>
    <p:extLst>
      <p:ext uri="{BB962C8B-B14F-4D97-AF65-F5344CB8AC3E}">
        <p14:creationId xmlns:p14="http://schemas.microsoft.com/office/powerpoint/2010/main" val="35387092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2BD30-090B-1297-CE5E-3C02B467B17F}"/>
              </a:ext>
            </a:extLst>
          </p:cNvPr>
          <p:cNvSpPr>
            <a:spLocks noGrp="1"/>
          </p:cNvSpPr>
          <p:nvPr>
            <p:ph type="title"/>
          </p:nvPr>
        </p:nvSpPr>
        <p:spPr>
          <a:xfrm>
            <a:off x="1" y="1371600"/>
            <a:ext cx="12321308" cy="4114800"/>
          </a:xfrm>
        </p:spPr>
        <p:txBody>
          <a:bodyPr/>
          <a:lstStyle/>
          <a:p>
            <a:r>
              <a:rPr lang="en-US" b="1"/>
              <a:t>Concluding Remarks</a:t>
            </a:r>
          </a:p>
        </p:txBody>
      </p:sp>
    </p:spTree>
    <p:extLst>
      <p:ext uri="{BB962C8B-B14F-4D97-AF65-F5344CB8AC3E}">
        <p14:creationId xmlns:p14="http://schemas.microsoft.com/office/powerpoint/2010/main" val="807132595"/>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AEDB7-8C42-1049-8D4C-110CB2584AD0}"/>
              </a:ext>
            </a:extLst>
          </p:cNvPr>
          <p:cNvSpPr>
            <a:spLocks noGrp="1"/>
          </p:cNvSpPr>
          <p:nvPr>
            <p:ph type="title"/>
          </p:nvPr>
        </p:nvSpPr>
        <p:spPr>
          <a:xfrm>
            <a:off x="1480742" y="0"/>
            <a:ext cx="9715500" cy="978486"/>
          </a:xfrm>
        </p:spPr>
        <p:txBody>
          <a:bodyPr/>
          <a:lstStyle/>
          <a:p>
            <a:r>
              <a:rPr lang="en-US">
                <a:solidFill>
                  <a:schemeClr val="bg1"/>
                </a:solidFill>
              </a:rPr>
              <a:t>Concluding Remarks</a:t>
            </a:r>
          </a:p>
        </p:txBody>
      </p:sp>
      <p:sp>
        <p:nvSpPr>
          <p:cNvPr id="5" name="Text Placeholder 4">
            <a:extLst>
              <a:ext uri="{FF2B5EF4-FFF2-40B4-BE49-F238E27FC236}">
                <a16:creationId xmlns:a16="http://schemas.microsoft.com/office/drawing/2014/main" id="{55993C5F-C448-6542-89BC-ECE1A4FE3F56}"/>
              </a:ext>
            </a:extLst>
          </p:cNvPr>
          <p:cNvSpPr>
            <a:spLocks noGrp="1"/>
          </p:cNvSpPr>
          <p:nvPr>
            <p:ph type="body" sz="quarter" idx="10"/>
          </p:nvPr>
        </p:nvSpPr>
        <p:spPr>
          <a:xfrm>
            <a:off x="168442" y="1554816"/>
            <a:ext cx="11875169" cy="4860591"/>
          </a:xfrm>
        </p:spPr>
        <p:txBody>
          <a:bodyPr>
            <a:normAutofit/>
          </a:bodyPr>
          <a:lstStyle/>
          <a:p>
            <a:pPr marL="914400" lvl="1" indent="-457200">
              <a:buAutoNum type="arabicPeriod"/>
            </a:pPr>
            <a:r>
              <a:rPr lang="en-US"/>
              <a:t>Financial inclusion for underserved groups, </a:t>
            </a:r>
            <a:r>
              <a:rPr lang="en-US" b="1"/>
              <a:t>particularly women</a:t>
            </a:r>
            <a:r>
              <a:rPr lang="en-US"/>
              <a:t>, is crucial for economic development and inclusive growth, contributing to the reduction of poverty </a:t>
            </a:r>
            <a:r>
              <a:rPr lang="en-US" b="1" u="sng"/>
              <a:t>and inequality</a:t>
            </a:r>
            <a:r>
              <a:rPr lang="en-US"/>
              <a:t>.</a:t>
            </a:r>
          </a:p>
          <a:p>
            <a:pPr marL="914400" lvl="1" indent="-457200">
              <a:buAutoNum type="arabicPeriod"/>
            </a:pPr>
            <a:endParaRPr lang="en-US"/>
          </a:p>
          <a:p>
            <a:pPr marL="914400" lvl="1" indent="-457200">
              <a:buAutoNum type="arabicPeriod"/>
            </a:pPr>
            <a:r>
              <a:rPr lang="en-US"/>
              <a:t>To develop </a:t>
            </a:r>
            <a:r>
              <a:rPr lang="en-US" b="1"/>
              <a:t>data to adequately support evidence-based policy</a:t>
            </a:r>
            <a:r>
              <a:rPr lang="en-US"/>
              <a:t>, it is of key relevance to </a:t>
            </a:r>
            <a:r>
              <a:rPr lang="en-US" b="1"/>
              <a:t>keep in perspective the macroeconomic implications </a:t>
            </a:r>
            <a:r>
              <a:rPr lang="en-US"/>
              <a:t>of financial inclusion.</a:t>
            </a:r>
          </a:p>
          <a:p>
            <a:pPr lvl="3"/>
            <a:r>
              <a:rPr lang="en-US"/>
              <a:t>Need to increase FAS data availability (gender-disaggregated): IMF liaises with Central Banks</a:t>
            </a:r>
          </a:p>
          <a:p>
            <a:pPr marL="914400" lvl="1" indent="-457200">
              <a:buAutoNum type="arabicPeriod"/>
            </a:pPr>
            <a:endParaRPr lang="en-US"/>
          </a:p>
          <a:p>
            <a:pPr marL="914400" lvl="1" indent="-457200">
              <a:buAutoNum type="arabicPeriod"/>
            </a:pPr>
            <a:r>
              <a:rPr lang="en-US"/>
              <a:t>There are several policy options for </a:t>
            </a:r>
            <a:r>
              <a:rPr lang="en-US" b="1"/>
              <a:t>improving financial inclusion</a:t>
            </a:r>
            <a:r>
              <a:rPr lang="en-US"/>
              <a:t>. </a:t>
            </a:r>
          </a:p>
          <a:p>
            <a:pPr marL="914400" lvl="1" indent="-457200">
              <a:buAutoNum type="arabicPeriod"/>
            </a:pPr>
            <a:endParaRPr lang="en-US"/>
          </a:p>
          <a:p>
            <a:pPr lvl="1"/>
            <a:endParaRPr lang="en-US"/>
          </a:p>
        </p:txBody>
      </p:sp>
    </p:spTree>
    <p:extLst>
      <p:ext uri="{BB962C8B-B14F-4D97-AF65-F5344CB8AC3E}">
        <p14:creationId xmlns:p14="http://schemas.microsoft.com/office/powerpoint/2010/main" val="682040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animEffect transition="in" filter="fade">
                                      <p:cBhvr>
                                        <p:cTn id="14" dur="1000"/>
                                        <p:tgtEl>
                                          <p:spTgt spid="5">
                                            <p:txEl>
                                              <p:pRg st="2" end="2"/>
                                            </p:txEl>
                                          </p:spTgt>
                                        </p:tgtEl>
                                      </p:cBhvr>
                                    </p:animEffect>
                                    <p:anim calcmode="lin" valueType="num">
                                      <p:cBhvr>
                                        <p:cTn id="15"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1000"/>
                                        <p:tgtEl>
                                          <p:spTgt spid="5">
                                            <p:txEl>
                                              <p:pRg st="3" end="3"/>
                                            </p:txEl>
                                          </p:spTgt>
                                        </p:tgtEl>
                                      </p:cBhvr>
                                    </p:animEffect>
                                    <p:anim calcmode="lin" valueType="num">
                                      <p:cBhvr>
                                        <p:cTn id="22"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fade">
                                      <p:cBhvr>
                                        <p:cTn id="28" dur="1000"/>
                                        <p:tgtEl>
                                          <p:spTgt spid="5">
                                            <p:txEl>
                                              <p:pRg st="5" end="5"/>
                                            </p:txEl>
                                          </p:spTgt>
                                        </p:tgtEl>
                                      </p:cBhvr>
                                    </p:animEffect>
                                    <p:anim calcmode="lin" valueType="num">
                                      <p:cBhvr>
                                        <p:cTn id="29"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AEDB7-8C42-1049-8D4C-110CB2584AD0}"/>
              </a:ext>
            </a:extLst>
          </p:cNvPr>
          <p:cNvSpPr>
            <a:spLocks noGrp="1"/>
          </p:cNvSpPr>
          <p:nvPr>
            <p:ph type="title"/>
          </p:nvPr>
        </p:nvSpPr>
        <p:spPr>
          <a:xfrm>
            <a:off x="900204" y="2276643"/>
            <a:ext cx="9931919" cy="1981848"/>
          </a:xfrm>
        </p:spPr>
        <p:txBody>
          <a:bodyPr>
            <a:normAutofit/>
          </a:bodyPr>
          <a:lstStyle/>
          <a:p>
            <a:pPr algn="ctr"/>
            <a:r>
              <a:rPr lang="en-US" sz="4900"/>
              <a:t>Thank you!</a:t>
            </a:r>
            <a:br>
              <a:rPr lang="en-US"/>
            </a:br>
            <a:br>
              <a:rPr lang="en-US"/>
            </a:br>
            <a:r>
              <a:rPr lang="en-US"/>
              <a:t>Get in touch: </a:t>
            </a:r>
            <a:r>
              <a:rPr lang="en-US">
                <a:solidFill>
                  <a:srgbClr val="FFC000"/>
                </a:solidFill>
              </a:rPr>
              <a:t>vmalta@imf.org</a:t>
            </a:r>
          </a:p>
        </p:txBody>
      </p:sp>
    </p:spTree>
    <p:extLst>
      <p:ext uri="{BB962C8B-B14F-4D97-AF65-F5344CB8AC3E}">
        <p14:creationId xmlns:p14="http://schemas.microsoft.com/office/powerpoint/2010/main" val="3256201253"/>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C22E4-4C22-698F-0CF3-A36026269617}"/>
              </a:ext>
            </a:extLst>
          </p:cNvPr>
          <p:cNvSpPr>
            <a:spLocks noGrp="1"/>
          </p:cNvSpPr>
          <p:nvPr>
            <p:ph type="title"/>
          </p:nvPr>
        </p:nvSpPr>
        <p:spPr>
          <a:xfrm>
            <a:off x="756313" y="288923"/>
            <a:ext cx="10666675" cy="706094"/>
          </a:xfrm>
        </p:spPr>
        <p:txBody>
          <a:bodyPr>
            <a:normAutofit fontScale="90000"/>
          </a:bodyPr>
          <a:lstStyle/>
          <a:p>
            <a:r>
              <a:rPr lang="en-US"/>
              <a:t>Financial Inclusion: </a:t>
            </a:r>
            <a:br>
              <a:rPr lang="en-US"/>
            </a:br>
            <a:r>
              <a:rPr lang="en-US"/>
              <a:t>Policy Levers</a:t>
            </a:r>
          </a:p>
        </p:txBody>
      </p:sp>
      <p:sp>
        <p:nvSpPr>
          <p:cNvPr id="3" name="Text Placeholder 2">
            <a:extLst>
              <a:ext uri="{FF2B5EF4-FFF2-40B4-BE49-F238E27FC236}">
                <a16:creationId xmlns:a16="http://schemas.microsoft.com/office/drawing/2014/main" id="{F3C2CEDF-E6FA-62BB-0930-9DBA241CEE1E}"/>
              </a:ext>
            </a:extLst>
          </p:cNvPr>
          <p:cNvSpPr>
            <a:spLocks noGrp="1"/>
          </p:cNvSpPr>
          <p:nvPr>
            <p:ph type="body" idx="1"/>
          </p:nvPr>
        </p:nvSpPr>
        <p:spPr>
          <a:xfrm>
            <a:off x="756313" y="1770485"/>
            <a:ext cx="10515600" cy="4578247"/>
          </a:xfrm>
        </p:spPr>
        <p:txBody>
          <a:bodyPr>
            <a:normAutofit fontScale="92500" lnSpcReduction="10000"/>
          </a:bodyPr>
          <a:lstStyle/>
          <a:p>
            <a:pPr marL="342900" indent="-342900">
              <a:lnSpc>
                <a:spcPct val="110000"/>
              </a:lnSpc>
              <a:buFont typeface="Arial" panose="020B0604020202020204" pitchFamily="34" charset="0"/>
              <a:buChar char="•"/>
            </a:pPr>
            <a:r>
              <a:rPr lang="en-US" sz="2200" b="1"/>
              <a:t>Strengthen implementation of legal frameworks: </a:t>
            </a:r>
            <a:r>
              <a:rPr lang="en-US" sz="2200"/>
              <a:t>Ensure equal property, inheritance, and contractual rights are enforced in practice. </a:t>
            </a:r>
          </a:p>
          <a:p>
            <a:pPr marL="342900" indent="-342900">
              <a:lnSpc>
                <a:spcPct val="110000"/>
              </a:lnSpc>
              <a:buFont typeface="Arial" panose="020B0604020202020204" pitchFamily="34" charset="0"/>
              <a:buChar char="•"/>
            </a:pPr>
            <a:r>
              <a:rPr lang="en-US" sz="2200" b="1"/>
              <a:t>Digital and financial literacy: </a:t>
            </a:r>
            <a:r>
              <a:rPr lang="en-US" sz="2200"/>
              <a:t>Targeted financial and digital education programs.</a:t>
            </a:r>
          </a:p>
          <a:p>
            <a:pPr marL="342900" indent="-342900">
              <a:lnSpc>
                <a:spcPct val="110000"/>
              </a:lnSpc>
              <a:buFont typeface="Arial" panose="020B0604020202020204" pitchFamily="34" charset="0"/>
              <a:buChar char="•"/>
            </a:pPr>
            <a:r>
              <a:rPr lang="en-US" sz="2200" b="1"/>
              <a:t>Tailor regulatory and supervisory requirements</a:t>
            </a:r>
            <a:r>
              <a:rPr lang="en-US" sz="2200"/>
              <a:t> to size, complexity, and risk profile of providers for underserved customers, while maintaining financial integrity and consumer protection</a:t>
            </a:r>
          </a:p>
          <a:p>
            <a:pPr marL="342900" indent="-342900">
              <a:lnSpc>
                <a:spcPct val="110000"/>
              </a:lnSpc>
              <a:buFont typeface="Arial" panose="020B0604020202020204" pitchFamily="34" charset="0"/>
              <a:buChar char="•"/>
            </a:pPr>
            <a:r>
              <a:rPr lang="en-US" sz="2200" b="1"/>
              <a:t>Improve data collection: </a:t>
            </a:r>
            <a:r>
              <a:rPr lang="en-US" sz="2200"/>
              <a:t>Use sex-disaggregated data to monitor and tailor policy interventions in supervision, fiscal targeting, and program evaluation.</a:t>
            </a:r>
          </a:p>
          <a:p>
            <a:pPr marL="342900" indent="-342900">
              <a:lnSpc>
                <a:spcPct val="110000"/>
              </a:lnSpc>
              <a:buFont typeface="Arial" panose="020B0604020202020204" pitchFamily="34" charset="0"/>
              <a:buChar char="•"/>
            </a:pPr>
            <a:r>
              <a:rPr lang="en-US" sz="2200" b="1"/>
              <a:t>Support inclusive fintech: </a:t>
            </a:r>
            <a:r>
              <a:rPr lang="en-US" sz="2200"/>
              <a:t>Promote alternative credit scoring models and mobile finance.</a:t>
            </a:r>
          </a:p>
          <a:p>
            <a:pPr marL="342900" indent="-342900">
              <a:lnSpc>
                <a:spcPct val="110000"/>
              </a:lnSpc>
              <a:buFont typeface="Arial" panose="020B0604020202020204" pitchFamily="34" charset="0"/>
              <a:buChar char="•"/>
            </a:pPr>
            <a:r>
              <a:rPr lang="en-US" sz="2200" b="1"/>
              <a:t>Improve access to digital infrastructure</a:t>
            </a:r>
            <a:r>
              <a:rPr lang="en-US" sz="2200"/>
              <a:t> (mobile phones, interoperable payment systems, high-speed internet, digital ID)</a:t>
            </a:r>
          </a:p>
          <a:p>
            <a:endParaRPr lang="en-US"/>
          </a:p>
        </p:txBody>
      </p:sp>
    </p:spTree>
    <p:extLst>
      <p:ext uri="{BB962C8B-B14F-4D97-AF65-F5344CB8AC3E}">
        <p14:creationId xmlns:p14="http://schemas.microsoft.com/office/powerpoint/2010/main" val="1146406546"/>
      </p:ext>
    </p:extLst>
  </p:cSld>
  <p:clrMapOvr>
    <a:masterClrMapping/>
  </p:clrMapOvr>
</p:sld>
</file>

<file path=ppt/theme/theme1.xml><?xml version="1.0" encoding="utf-8"?>
<a:theme xmlns:a="http://schemas.openxmlformats.org/drawingml/2006/main" name="1_Custom Design">
  <a:themeElements>
    <a:clrScheme name="IMF Colors V2">
      <a:dk1>
        <a:srgbClr val="000000"/>
      </a:dk1>
      <a:lt1>
        <a:srgbClr val="FEFEFE"/>
      </a:lt1>
      <a:dk2>
        <a:srgbClr val="004C97"/>
      </a:dk2>
      <a:lt2>
        <a:srgbClr val="CAEDFE"/>
      </a:lt2>
      <a:accent1>
        <a:srgbClr val="009CDE"/>
      </a:accent1>
      <a:accent2>
        <a:srgbClr val="F2A900"/>
      </a:accent2>
      <a:accent3>
        <a:srgbClr val="8030A7"/>
      </a:accent3>
      <a:accent4>
        <a:srgbClr val="DA281C"/>
      </a:accent4>
      <a:accent5>
        <a:srgbClr val="78BE20"/>
      </a:accent5>
      <a:accent6>
        <a:srgbClr val="00B0B9"/>
      </a:accent6>
      <a:hlink>
        <a:srgbClr val="0065B3"/>
      </a:hlink>
      <a:folHlink>
        <a:srgbClr val="FFBD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2" id="{0F6FC95C-7DB0-5E4B-B67F-173A56C0DDE5}" vid="{F874BC0B-433F-CC41-B809-45181DDB1AAA}"/>
    </a:ext>
  </a:extLst>
</a:theme>
</file>

<file path=ppt/theme/theme2.xml><?xml version="1.0" encoding="utf-8"?>
<a:theme xmlns:a="http://schemas.openxmlformats.org/drawingml/2006/main" name="Office Theme">
  <a:themeElements>
    <a:clrScheme name="Fund Standard Colors">
      <a:dk1>
        <a:sysClr val="windowText" lastClr="000000"/>
      </a:dk1>
      <a:lt1>
        <a:sysClr val="window" lastClr="FFFFFF"/>
      </a:lt1>
      <a:dk2>
        <a:srgbClr val="004C97"/>
      </a:dk2>
      <a:lt2>
        <a:srgbClr val="CAEDFE"/>
      </a:lt2>
      <a:accent1>
        <a:srgbClr val="009CDE"/>
      </a:accent1>
      <a:accent2>
        <a:srgbClr val="F2A900"/>
      </a:accent2>
      <a:accent3>
        <a:srgbClr val="8031A7"/>
      </a:accent3>
      <a:accent4>
        <a:srgbClr val="DA291C"/>
      </a:accent4>
      <a:accent5>
        <a:srgbClr val="78BE20"/>
      </a:accent5>
      <a:accent6>
        <a:srgbClr val="FF8200"/>
      </a:accent6>
      <a:hlink>
        <a:srgbClr val="009CDE"/>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RTTAC-PPT-Template-Wide-15-Dec-2021.potx" id="{F628AFBA-17EB-49E5-BC69-C6AE953424D6}" vid="{6BC5DA02-7E34-41B8-ADA6-35A3853989AA}"/>
    </a:ext>
  </a:extLst>
</a:theme>
</file>

<file path=ppt/theme/theme3.xml><?xml version="1.0" encoding="utf-8"?>
<a:theme xmlns:a="http://schemas.openxmlformats.org/drawingml/2006/main" name="Theme1">
  <a:themeElements>
    <a:clrScheme name="IMF Colors V2">
      <a:dk1>
        <a:srgbClr val="000000"/>
      </a:dk1>
      <a:lt1>
        <a:srgbClr val="FEFEFE"/>
      </a:lt1>
      <a:dk2>
        <a:srgbClr val="004C97"/>
      </a:dk2>
      <a:lt2>
        <a:srgbClr val="CAEDFE"/>
      </a:lt2>
      <a:accent1>
        <a:srgbClr val="009CDE"/>
      </a:accent1>
      <a:accent2>
        <a:srgbClr val="F2A900"/>
      </a:accent2>
      <a:accent3>
        <a:srgbClr val="8030A7"/>
      </a:accent3>
      <a:accent4>
        <a:srgbClr val="DA281C"/>
      </a:accent4>
      <a:accent5>
        <a:srgbClr val="78BE20"/>
      </a:accent5>
      <a:accent6>
        <a:srgbClr val="00B0B9"/>
      </a:accent6>
      <a:hlink>
        <a:srgbClr val="0065B3"/>
      </a:hlink>
      <a:folHlink>
        <a:srgbClr val="FFBD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4C6079A6-D655-4CC9-860D-F3DF31BEE5F8}" vid="{7F233802-B6D6-44DD-A911-7E2252AC0D23}"/>
    </a:ext>
  </a:extLst>
</a:theme>
</file>

<file path=ppt/theme/theme4.xml><?xml version="1.0" encoding="utf-8"?>
<a:theme xmlns:a="http://schemas.openxmlformats.org/drawingml/2006/main" name="1_Office Theme">
  <a:themeElements>
    <a:clrScheme name="Fund Standard Colors">
      <a:dk1>
        <a:sysClr val="windowText" lastClr="000000"/>
      </a:dk1>
      <a:lt1>
        <a:sysClr val="window" lastClr="FFFFFF"/>
      </a:lt1>
      <a:dk2>
        <a:srgbClr val="004C97"/>
      </a:dk2>
      <a:lt2>
        <a:srgbClr val="CAEDFE"/>
      </a:lt2>
      <a:accent1>
        <a:srgbClr val="009CDE"/>
      </a:accent1>
      <a:accent2>
        <a:srgbClr val="F2A900"/>
      </a:accent2>
      <a:accent3>
        <a:srgbClr val="8031A7"/>
      </a:accent3>
      <a:accent4>
        <a:srgbClr val="DA291C"/>
      </a:accent4>
      <a:accent5>
        <a:srgbClr val="78BE20"/>
      </a:accent5>
      <a:accent6>
        <a:srgbClr val="FF8200"/>
      </a:accent6>
      <a:hlink>
        <a:srgbClr val="009CDE"/>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RTTAC-PPT-Template-Wide-15-Dec-2021.potx" id="{F628AFBA-17EB-49E5-BC69-C6AE953424D6}" vid="{6BC5DA02-7E34-41B8-ADA6-35A3853989AA}"/>
    </a:ext>
  </a:ext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808F46CC7369E44A38836926FD52CA4" ma:contentTypeVersion="17" ma:contentTypeDescription="Create a new document." ma:contentTypeScope="" ma:versionID="34d57240de38c5ca99423c2d81288a91">
  <xsd:schema xmlns:xsd="http://www.w3.org/2001/XMLSchema" xmlns:xs="http://www.w3.org/2001/XMLSchema" xmlns:p="http://schemas.microsoft.com/office/2006/metadata/properties" xmlns:ns2="3b9dc015-dd13-448b-b628-7af3b634cca4" xmlns:ns3="0c6f1c3b-ea25-4e6f-91c5-aeb92d62b0fb" targetNamespace="http://schemas.microsoft.com/office/2006/metadata/properties" ma:root="true" ma:fieldsID="e270c38f22e04ee44ccb8e6601e8d1f8" ns2:_="" ns3:_="">
    <xsd:import namespace="3b9dc015-dd13-448b-b628-7af3b634cca4"/>
    <xsd:import namespace="0c6f1c3b-ea25-4e6f-91c5-aeb92d62b0f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9dc015-dd13-448b-b628-7af3b634cc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81b0229-19ef-4425-8520-9f00e8db620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6f1c3b-ea25-4e6f-91c5-aeb92d62b0f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14a2595-35b6-44ef-becd-33de771bf95a}" ma:internalName="TaxCatchAll" ma:showField="CatchAllData" ma:web="0c6f1c3b-ea25-4e6f-91c5-aeb92d62b0fb">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b9dc015-dd13-448b-b628-7af3b634cca4">
      <Terms xmlns="http://schemas.microsoft.com/office/infopath/2007/PartnerControls"/>
    </lcf76f155ced4ddcb4097134ff3c332f>
    <TaxCatchAll xmlns="0c6f1c3b-ea25-4e6f-91c5-aeb92d62b0fb" xsi:nil="true"/>
  </documentManagement>
</p:properties>
</file>

<file path=customXml/itemProps1.xml><?xml version="1.0" encoding="utf-8"?>
<ds:datastoreItem xmlns:ds="http://schemas.openxmlformats.org/officeDocument/2006/customXml" ds:itemID="{F4D8CCDB-7B12-46F5-96D0-DD5260FBCCCF}">
  <ds:schemaRefs>
    <ds:schemaRef ds:uri="0c6f1c3b-ea25-4e6f-91c5-aeb92d62b0fb"/>
    <ds:schemaRef ds:uri="3b9dc015-dd13-448b-b628-7af3b634cca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43BC481-6683-4B28-B0AF-ADA6A3F4E945}">
  <ds:schemaRefs>
    <ds:schemaRef ds:uri="http://schemas.microsoft.com/sharepoint/v3/contenttype/forms"/>
  </ds:schemaRefs>
</ds:datastoreItem>
</file>

<file path=customXml/itemProps3.xml><?xml version="1.0" encoding="utf-8"?>
<ds:datastoreItem xmlns:ds="http://schemas.openxmlformats.org/officeDocument/2006/customXml" ds:itemID="{93D56C6B-A885-47A7-A69E-CBE883F68DB0}">
  <ds:schemaRefs>
    <ds:schemaRef ds:uri="0c6f1c3b-ea25-4e6f-91c5-aeb92d62b0fb"/>
    <ds:schemaRef ds:uri="3b9dc015-dd13-448b-b628-7af3b634cca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blank</Template>
  <TotalTime>155</TotalTime>
  <Words>5240</Words>
  <Application>Microsoft Office PowerPoint</Application>
  <PresentationFormat>Widescreen</PresentationFormat>
  <Paragraphs>427</Paragraphs>
  <Slides>45</Slides>
  <Notes>35</Notes>
  <HiddenSlides>1</HiddenSlides>
  <MMClips>0</MMClips>
  <ScaleCrop>false</ScaleCrop>
  <HeadingPairs>
    <vt:vector size="6" baseType="variant">
      <vt:variant>
        <vt:lpstr>Fonts Used</vt:lpstr>
      </vt:variant>
      <vt:variant>
        <vt:i4>15</vt:i4>
      </vt:variant>
      <vt:variant>
        <vt:lpstr>Theme</vt:lpstr>
      </vt:variant>
      <vt:variant>
        <vt:i4>5</vt:i4>
      </vt:variant>
      <vt:variant>
        <vt:lpstr>Slide Titles</vt:lpstr>
      </vt:variant>
      <vt:variant>
        <vt:i4>45</vt:i4>
      </vt:variant>
    </vt:vector>
  </HeadingPairs>
  <TitlesOfParts>
    <vt:vector size="65" baseType="lpstr">
      <vt:lpstr>.HelveticaNeueDeskInterface-Regular</vt:lpstr>
      <vt:lpstr>Arial</vt:lpstr>
      <vt:lpstr>Arial Black</vt:lpstr>
      <vt:lpstr>Arial-BoldMT</vt:lpstr>
      <vt:lpstr>ArialMT</vt:lpstr>
      <vt:lpstr>AvenirNextWorld-Regular</vt:lpstr>
      <vt:lpstr>Calibri</vt:lpstr>
      <vt:lpstr>Calibri Light</vt:lpstr>
      <vt:lpstr>Lucida Grande</vt:lpstr>
      <vt:lpstr>LucidaGrande</vt:lpstr>
      <vt:lpstr>Segoe UI</vt:lpstr>
      <vt:lpstr>SegoeUI</vt:lpstr>
      <vt:lpstr>Symbol</vt:lpstr>
      <vt:lpstr>Times New Roman</vt:lpstr>
      <vt:lpstr>Wingdings</vt:lpstr>
      <vt:lpstr>1_Custom Design</vt:lpstr>
      <vt:lpstr>Office Theme</vt:lpstr>
      <vt:lpstr>Theme1</vt:lpstr>
      <vt:lpstr>1_Office Theme</vt:lpstr>
      <vt:lpstr>Custom Design</vt:lpstr>
      <vt:lpstr>Financial Inclusion</vt:lpstr>
      <vt:lpstr>What does financial inclusion entail? </vt:lpstr>
      <vt:lpstr>Financial Health</vt:lpstr>
      <vt:lpstr>Financial Inclusion and Macroeconomic Implications</vt:lpstr>
      <vt:lpstr>Financial Inclusion: A Catalyst for Inclusive Growth</vt:lpstr>
      <vt:lpstr>Financial Inclusion and Some Macro-economic Implications</vt:lpstr>
      <vt:lpstr>Financial Inclusion and Monetary Implications</vt:lpstr>
      <vt:lpstr>Barriers to Financial Inclusion</vt:lpstr>
      <vt:lpstr>Economic and Structural Barriers</vt:lpstr>
      <vt:lpstr>Legal and Social Norms</vt:lpstr>
      <vt:lpstr>Digital Financial Services</vt:lpstr>
      <vt:lpstr>Policy Options</vt:lpstr>
      <vt:lpstr>Economic and Structural Barriers</vt:lpstr>
      <vt:lpstr>Legal and Social Norms</vt:lpstr>
      <vt:lpstr>Digital Financial Services</vt:lpstr>
      <vt:lpstr>Bridging the Financial Inclusion Gender Gap:  Policy Levers</vt:lpstr>
      <vt:lpstr>Financial Inclusion:  Policy Levers</vt:lpstr>
      <vt:lpstr>Policy Interventions Studies</vt:lpstr>
      <vt:lpstr>Harvard’s Gender Action Portal</vt:lpstr>
      <vt:lpstr>Policy Experiments: Harvard’s GAP</vt:lpstr>
      <vt:lpstr>1) “On Her Own Account”</vt:lpstr>
      <vt:lpstr>1) “On Her Own Account”</vt:lpstr>
      <vt:lpstr>2) “Savings Constraints &amp; Microenterprise ”</vt:lpstr>
      <vt:lpstr>2) “Savings Constraints &amp; Microenterprise ”</vt:lpstr>
      <vt:lpstr>3) “Economic Returns to Social Interaction ”</vt:lpstr>
      <vt:lpstr>3) “Economic Returns to Social Interaction ”</vt:lpstr>
      <vt:lpstr>Data</vt:lpstr>
      <vt:lpstr>Financial inclusion: How is it measured?</vt:lpstr>
      <vt:lpstr>Financial Access – Demand Side Data</vt:lpstr>
      <vt:lpstr>Mobile Accounts</vt:lpstr>
      <vt:lpstr>Financial Usage: Borrowing</vt:lpstr>
      <vt:lpstr>Financial Access – Demand Side Data</vt:lpstr>
      <vt:lpstr>Financial Usage: Savings</vt:lpstr>
      <vt:lpstr>Financial Inclusion: The IMF Financial Access Survey</vt:lpstr>
      <vt:lpstr>FAS Series</vt:lpstr>
      <vt:lpstr>FAS Series</vt:lpstr>
      <vt:lpstr>FAS Indicators</vt:lpstr>
      <vt:lpstr>Mobile money is playing a transformative role in expanding access to finance in SSA. </vt:lpstr>
      <vt:lpstr>IMF’s FAS data</vt:lpstr>
      <vt:lpstr>IMF’s FAS data</vt:lpstr>
      <vt:lpstr>Financial Access – Supply Side Data</vt:lpstr>
      <vt:lpstr>Concluding Remarks</vt:lpstr>
      <vt:lpstr>Concluding Remarks</vt:lpstr>
      <vt:lpstr>Thank you!  Get in touch: vmalta@imf.org</vt:lpstr>
      <vt:lpstr>Financial Inclusion:  Policy Levers</vt:lpstr>
    </vt:vector>
  </TitlesOfParts>
  <Company>IMF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Gender Data Hub DECEMBER 2024</dc:title>
  <dc:creator>Gomes, Camila</dc:creator>
  <cp:lastModifiedBy>Malta, Vivian</cp:lastModifiedBy>
  <cp:revision>1</cp:revision>
  <cp:lastPrinted>2024-12-12T16:04:06Z</cp:lastPrinted>
  <dcterms:created xsi:type="dcterms:W3CDTF">2024-12-05T16:35:20Z</dcterms:created>
  <dcterms:modified xsi:type="dcterms:W3CDTF">2026-05-26T05:08:55Z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c07ed86-5dc5-4593-ad03-a8684b843815_Enabled">
    <vt:lpwstr>true</vt:lpwstr>
  </property>
  <property fmtid="{D5CDD505-2E9C-101B-9397-08002B2CF9AE}" pid="3" name="MSIP_Label_0c07ed86-5dc5-4593-ad03-a8684b843815_SetDate">
    <vt:lpwstr>2024-12-05T19:30:14Z</vt:lpwstr>
  </property>
  <property fmtid="{D5CDD505-2E9C-101B-9397-08002B2CF9AE}" pid="4" name="MSIP_Label_0c07ed86-5dc5-4593-ad03-a8684b843815_Method">
    <vt:lpwstr>Standard</vt:lpwstr>
  </property>
  <property fmtid="{D5CDD505-2E9C-101B-9397-08002B2CF9AE}" pid="5" name="MSIP_Label_0c07ed86-5dc5-4593-ad03-a8684b843815_Name">
    <vt:lpwstr>0c07ed86-5dc5-4593-ad03-a8684b843815</vt:lpwstr>
  </property>
  <property fmtid="{D5CDD505-2E9C-101B-9397-08002B2CF9AE}" pid="6" name="MSIP_Label_0c07ed86-5dc5-4593-ad03-a8684b843815_SiteId">
    <vt:lpwstr>8085fa43-302e-45bd-b171-a6648c3b6be7</vt:lpwstr>
  </property>
  <property fmtid="{D5CDD505-2E9C-101B-9397-08002B2CF9AE}" pid="7" name="MSIP_Label_0c07ed86-5dc5-4593-ad03-a8684b843815_ActionId">
    <vt:lpwstr>38ebc403-b4bb-4ae4-a3fc-967107816354</vt:lpwstr>
  </property>
  <property fmtid="{D5CDD505-2E9C-101B-9397-08002B2CF9AE}" pid="8" name="MSIP_Label_0c07ed86-5dc5-4593-ad03-a8684b843815_ContentBits">
    <vt:lpwstr>0</vt:lpwstr>
  </property>
  <property fmtid="{D5CDD505-2E9C-101B-9397-08002B2CF9AE}" pid="9" name="ContentTypeId">
    <vt:lpwstr>0x0101003808F46CC7369E44A38836926FD52CA4</vt:lpwstr>
  </property>
  <property fmtid="{D5CDD505-2E9C-101B-9397-08002B2CF9AE}" pid="10" name="MediaServiceImageTags">
    <vt:lpwstr/>
  </property>
</Properties>
</file>