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762" r:id="rId5"/>
    <p:sldMasterId id="2147483776" r:id="rId6"/>
  </p:sldMasterIdLst>
  <p:notesMasterIdLst>
    <p:notesMasterId r:id="rId35"/>
  </p:notesMasterIdLst>
  <p:handoutMasterIdLst>
    <p:handoutMasterId r:id="rId36"/>
  </p:handoutMasterIdLst>
  <p:sldIdLst>
    <p:sldId id="4368" r:id="rId7"/>
    <p:sldId id="4532" r:id="rId8"/>
    <p:sldId id="4515" r:id="rId9"/>
    <p:sldId id="4523" r:id="rId10"/>
    <p:sldId id="1233" r:id="rId11"/>
    <p:sldId id="4555" r:id="rId12"/>
    <p:sldId id="4517" r:id="rId13"/>
    <p:sldId id="4524" r:id="rId14"/>
    <p:sldId id="1206" r:id="rId15"/>
    <p:sldId id="1207" r:id="rId16"/>
    <p:sldId id="1237" r:id="rId17"/>
    <p:sldId id="4457" r:id="rId18"/>
    <p:sldId id="1222" r:id="rId19"/>
    <p:sldId id="4370" r:id="rId20"/>
    <p:sldId id="4559" r:id="rId21"/>
    <p:sldId id="4557" r:id="rId22"/>
    <p:sldId id="4556" r:id="rId23"/>
    <p:sldId id="4558" r:id="rId24"/>
    <p:sldId id="4528" r:id="rId25"/>
    <p:sldId id="4529" r:id="rId26"/>
    <p:sldId id="4534" r:id="rId27"/>
    <p:sldId id="4384" r:id="rId28"/>
    <p:sldId id="4266" r:id="rId29"/>
    <p:sldId id="1210" r:id="rId30"/>
    <p:sldId id="4525" r:id="rId31"/>
    <p:sldId id="4512" r:id="rId32"/>
    <p:sldId id="4304" r:id="rId33"/>
    <p:sldId id="1155" r:id="rId34"/>
  </p:sldIdLst>
  <p:sldSz cx="12192000" cy="6858000"/>
  <p:notesSz cx="7023100" cy="9309100"/>
  <p:custDataLst>
    <p:tags r:id="rId37"/>
  </p:custDataLst>
  <p:defaultTextStyle>
    <a:defPPr>
      <a:defRPr lang="en-US"/>
    </a:defPPr>
    <a:lvl1pPr marL="0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7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4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72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28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85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42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00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57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1754463-30FA-824E-9681-17E0926DDDD5}">
          <p14:sldIdLst>
            <p14:sldId id="4368"/>
            <p14:sldId id="4532"/>
            <p14:sldId id="4515"/>
            <p14:sldId id="4523"/>
            <p14:sldId id="1233"/>
            <p14:sldId id="4555"/>
            <p14:sldId id="4517"/>
            <p14:sldId id="4524"/>
            <p14:sldId id="1206"/>
            <p14:sldId id="1207"/>
            <p14:sldId id="1237"/>
            <p14:sldId id="4457"/>
            <p14:sldId id="1222"/>
            <p14:sldId id="4370"/>
            <p14:sldId id="4559"/>
            <p14:sldId id="4557"/>
            <p14:sldId id="4556"/>
            <p14:sldId id="4558"/>
            <p14:sldId id="4528"/>
            <p14:sldId id="4529"/>
            <p14:sldId id="4534"/>
            <p14:sldId id="4384"/>
            <p14:sldId id="4266"/>
            <p14:sldId id="1210"/>
            <p14:sldId id="4525"/>
            <p14:sldId id="4512"/>
            <p14:sldId id="4304"/>
            <p14:sldId id="1155"/>
          </p14:sldIdLst>
        </p14:section>
        <p14:section name="Annex" id="{EF66E54F-1FB2-4D22-B0DF-A59E8009AF3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44" userDrawn="1">
          <p15:clr>
            <a:srgbClr val="A4A3A4"/>
          </p15:clr>
        </p15:guide>
        <p15:guide id="2" pos="2124" userDrawn="1">
          <p15:clr>
            <a:srgbClr val="A4A3A4"/>
          </p15:clr>
        </p15:guide>
        <p15:guide id="3" orient="horz" pos="2932" userDrawn="1">
          <p15:clr>
            <a:srgbClr val="A4A3A4"/>
          </p15:clr>
        </p15:guide>
        <p15:guide id="4" pos="221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19A2F19-CB1E-740C-50CD-B91678F8B4AE}" name="Newiak, Monique" initials="NM" userId="S::MNewiak@imf.org::d81357e1-9dfe-4194-af64-4cbd758c7fe5" providerId="AD"/>
  <p188:author id="{DD9CB68F-BC65-091C-6788-2B28176404D4}" name="Amer, Ziad" initials="AZ" userId="S::zamer@imf.org::0a431275-cb52-45d3-b442-ebf0db759b76" providerId="AD"/>
  <p188:author id="{F9268FA7-36FA-7F93-E320-2B2AE8F0B00B}" name="Spatafora, Nikola" initials="NLS" userId="Spatafora, Nikola" providerId="None"/>
  <p188:author id="{552C54AA-0A67-D0AD-5293-19D9F3AEE0A5}" name="Gu, Jiajia" initials="GJ" userId="S::jgu@imf.org::93729d89-a8cf-4851-a369-786cd0f0554a" providerId="AD"/>
  <p188:author id="{0D8F83E4-EF17-15AA-7DA0-1A43993D769E}" name="Malta, Vivian" initials="VM" userId="S::VMalta@imf.org::c9130ee9-f22b-44aa-bb73-83a935e86cf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Spofford, Laura" initials="SL" lastIdx="2" clrIdx="6">
    <p:extLst>
      <p:ext uri="{19B8F6BF-5375-455C-9EA6-DF929625EA0E}">
        <p15:presenceInfo xmlns:p15="http://schemas.microsoft.com/office/powerpoint/2012/main" userId="S::lspofford@imf.org::729f3023-7458-4886-8b15-5f4e1b9d797d" providerId="AD"/>
      </p:ext>
    </p:extLst>
  </p:cmAuthor>
  <p:cmAuthor id="1" name="Nandwa, Boaz" initials="NB" lastIdx="10" clrIdx="0"/>
  <p:cmAuthor id="8" name="Newiak, Monique" initials="NM" lastIdx="0" clrIdx="7">
    <p:extLst>
      <p:ext uri="{19B8F6BF-5375-455C-9EA6-DF929625EA0E}">
        <p15:presenceInfo xmlns:p15="http://schemas.microsoft.com/office/powerpoint/2012/main" userId="S::MNewiak@IMF.ORG::d81357e1-9dfe-4194-af64-4cbd758c7fe5" providerId="AD"/>
      </p:ext>
    </p:extLst>
  </p:cmAuthor>
  <p:cmAuthor id="2" name="Kamil Dybczak" initials="KD" lastIdx="10" clrIdx="1"/>
  <p:cmAuthor id="9" name="Kazandjian, Romina" initials="KR" lastIdx="4" clrIdx="8">
    <p:extLst>
      <p:ext uri="{19B8F6BF-5375-455C-9EA6-DF929625EA0E}">
        <p15:presenceInfo xmlns:p15="http://schemas.microsoft.com/office/powerpoint/2012/main" userId="S::RKazandjian@imf.org::981dfeef-ec4e-4cfc-812b-25e2594e53c9" providerId="AD"/>
      </p:ext>
    </p:extLst>
  </p:cmAuthor>
  <p:cmAuthor id="3" name="Tamirisa, Natalia" initials="TN" lastIdx="12" clrIdx="2"/>
  <p:cmAuthor id="10" name="Spatafora, Nikola" initials="NLS" lastIdx="53" clrIdx="9">
    <p:extLst>
      <p:ext uri="{19B8F6BF-5375-455C-9EA6-DF929625EA0E}">
        <p15:presenceInfo xmlns:p15="http://schemas.microsoft.com/office/powerpoint/2012/main" userId="Spatafora, Nikola" providerId="None"/>
      </p:ext>
    </p:extLst>
  </p:cmAuthor>
  <p:cmAuthor id="4" name="Almalik, Mansour" initials="AM" lastIdx="6" clrIdx="3"/>
  <p:cmAuthor id="5" name="Pierre, Gaelle" initials="PG" lastIdx="3" clrIdx="4"/>
  <p:cmAuthor id="6" name="Basile, Gregory" initials="BG" lastIdx="9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D9D9D9"/>
    <a:srgbClr val="25D129"/>
    <a:srgbClr val="5E8AB4"/>
    <a:srgbClr val="E46C0A"/>
    <a:srgbClr val="DC4234"/>
    <a:srgbClr val="00AEB3"/>
    <a:srgbClr val="ED7D31"/>
    <a:srgbClr val="A6A6A6"/>
    <a:srgbClr val="70A8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73114" autoAdjust="0"/>
  </p:normalViewPr>
  <p:slideViewPr>
    <p:cSldViewPr snapToGrid="0">
      <p:cViewPr varScale="1">
        <p:scale>
          <a:sx n="51" d="100"/>
          <a:sy n="51" d="100"/>
        </p:scale>
        <p:origin x="10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44"/>
        <p:guide pos="2124"/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presProps" Target="pres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notesMaster" Target="notesMasters/notesMaster1.xml"/><Relationship Id="rId43" Type="http://schemas.microsoft.com/office/2016/11/relationships/changesInfo" Target="changesInfos/changesInfo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ta, Vivian" userId="c9130ee9-f22b-44aa-bb73-83a935e86cf9" providerId="ADAL" clId="{9140235C-6F4B-4C4C-96E9-70B35F501552}"/>
    <pc:docChg chg="undo custSel addSld delSld modSld sldOrd modSection">
      <pc:chgData name="Malta, Vivian" userId="c9130ee9-f22b-44aa-bb73-83a935e86cf9" providerId="ADAL" clId="{9140235C-6F4B-4C4C-96E9-70B35F501552}" dt="2026-05-28T04:05:39.119" v="356" actId="6549"/>
      <pc:docMkLst>
        <pc:docMk/>
      </pc:docMkLst>
      <pc:sldChg chg="modNotesTx">
        <pc:chgData name="Malta, Vivian" userId="c9130ee9-f22b-44aa-bb73-83a935e86cf9" providerId="ADAL" clId="{9140235C-6F4B-4C4C-96E9-70B35F501552}" dt="2026-05-25T05:22:33.639" v="1" actId="20577"/>
        <pc:sldMkLst>
          <pc:docMk/>
          <pc:sldMk cId="2255559934" sldId="1210"/>
        </pc:sldMkLst>
      </pc:sldChg>
      <pc:sldChg chg="modNotesTx">
        <pc:chgData name="Malta, Vivian" userId="c9130ee9-f22b-44aa-bb73-83a935e86cf9" providerId="ADAL" clId="{9140235C-6F4B-4C4C-96E9-70B35F501552}" dt="2026-05-25T05:35:13.316" v="33" actId="113"/>
        <pc:sldMkLst>
          <pc:docMk/>
          <pc:sldMk cId="1533558352" sldId="4266"/>
        </pc:sldMkLst>
      </pc:sldChg>
      <pc:sldChg chg="modSp mod">
        <pc:chgData name="Malta, Vivian" userId="c9130ee9-f22b-44aa-bb73-83a935e86cf9" providerId="ADAL" clId="{9140235C-6F4B-4C4C-96E9-70B35F501552}" dt="2026-05-25T06:58:45.144" v="132" actId="113"/>
        <pc:sldMkLst>
          <pc:docMk/>
          <pc:sldMk cId="448565080" sldId="4384"/>
        </pc:sldMkLst>
        <pc:spChg chg="mod">
          <ac:chgData name="Malta, Vivian" userId="c9130ee9-f22b-44aa-bb73-83a935e86cf9" providerId="ADAL" clId="{9140235C-6F4B-4C4C-96E9-70B35F501552}" dt="2026-05-25T06:58:45.144" v="132" actId="113"/>
          <ac:spMkLst>
            <pc:docMk/>
            <pc:sldMk cId="448565080" sldId="4384"/>
            <ac:spMk id="11" creationId="{7E5C06ED-3482-99D3-AC1E-76E9B37B7132}"/>
          </ac:spMkLst>
        </pc:spChg>
      </pc:sldChg>
      <pc:sldChg chg="modSp mod">
        <pc:chgData name="Malta, Vivian" userId="c9130ee9-f22b-44aa-bb73-83a935e86cf9" providerId="ADAL" clId="{9140235C-6F4B-4C4C-96E9-70B35F501552}" dt="2026-05-25T05:32:10.119" v="31" actId="113"/>
        <pc:sldMkLst>
          <pc:docMk/>
          <pc:sldMk cId="3473293243" sldId="4528"/>
        </pc:sldMkLst>
        <pc:spChg chg="mod">
          <ac:chgData name="Malta, Vivian" userId="c9130ee9-f22b-44aa-bb73-83a935e86cf9" providerId="ADAL" clId="{9140235C-6F4B-4C4C-96E9-70B35F501552}" dt="2026-05-25T05:32:10.119" v="31" actId="113"/>
          <ac:spMkLst>
            <pc:docMk/>
            <pc:sldMk cId="3473293243" sldId="4528"/>
            <ac:spMk id="3" creationId="{B1A1A2F5-C77E-FD95-D8BD-17D13F09B3A7}"/>
          </ac:spMkLst>
        </pc:spChg>
      </pc:sldChg>
      <pc:sldChg chg="modSp mod">
        <pc:chgData name="Malta, Vivian" userId="c9130ee9-f22b-44aa-bb73-83a935e86cf9" providerId="ADAL" clId="{9140235C-6F4B-4C4C-96E9-70B35F501552}" dt="2026-05-25T06:57:41.901" v="131" actId="108"/>
        <pc:sldMkLst>
          <pc:docMk/>
          <pc:sldMk cId="1670813740" sldId="4556"/>
        </pc:sldMkLst>
        <pc:spChg chg="mod">
          <ac:chgData name="Malta, Vivian" userId="c9130ee9-f22b-44aa-bb73-83a935e86cf9" providerId="ADAL" clId="{9140235C-6F4B-4C4C-96E9-70B35F501552}" dt="2026-05-25T06:57:41.901" v="131" actId="108"/>
          <ac:spMkLst>
            <pc:docMk/>
            <pc:sldMk cId="1670813740" sldId="4556"/>
            <ac:spMk id="3" creationId="{81CA319C-9651-C002-7EEC-DD3D26F16A04}"/>
          </ac:spMkLst>
        </pc:spChg>
      </pc:sldChg>
      <pc:sldChg chg="modSp mod ord modNotesTx">
        <pc:chgData name="Malta, Vivian" userId="c9130ee9-f22b-44aa-bb73-83a935e86cf9" providerId="ADAL" clId="{9140235C-6F4B-4C4C-96E9-70B35F501552}" dt="2026-05-28T04:05:39.119" v="356" actId="6549"/>
        <pc:sldMkLst>
          <pc:docMk/>
          <pc:sldMk cId="2249295387" sldId="4557"/>
        </pc:sldMkLst>
        <pc:spChg chg="mod">
          <ac:chgData name="Malta, Vivian" userId="c9130ee9-f22b-44aa-bb73-83a935e86cf9" providerId="ADAL" clId="{9140235C-6F4B-4C4C-96E9-70B35F501552}" dt="2026-05-25T05:25:39.422" v="23" actId="27636"/>
          <ac:spMkLst>
            <pc:docMk/>
            <pc:sldMk cId="2249295387" sldId="4557"/>
            <ac:spMk id="2" creationId="{BF7A71DA-3684-69AB-1AA3-EB2C3308DBDC}"/>
          </ac:spMkLst>
        </pc:spChg>
        <pc:spChg chg="mod">
          <ac:chgData name="Malta, Vivian" userId="c9130ee9-f22b-44aa-bb73-83a935e86cf9" providerId="ADAL" clId="{9140235C-6F4B-4C4C-96E9-70B35F501552}" dt="2026-05-25T05:28:15.459" v="26" actId="20577"/>
          <ac:spMkLst>
            <pc:docMk/>
            <pc:sldMk cId="2249295387" sldId="4557"/>
            <ac:spMk id="3" creationId="{AA200641-0C61-6F31-ABDC-C4D3467A4397}"/>
          </ac:spMkLst>
        </pc:spChg>
      </pc:sldChg>
      <pc:sldChg chg="modSp mod">
        <pc:chgData name="Malta, Vivian" userId="c9130ee9-f22b-44aa-bb73-83a935e86cf9" providerId="ADAL" clId="{9140235C-6F4B-4C4C-96E9-70B35F501552}" dt="2026-05-25T07:15:57.714" v="343" actId="1076"/>
        <pc:sldMkLst>
          <pc:docMk/>
          <pc:sldMk cId="4148795801" sldId="4558"/>
        </pc:sldMkLst>
        <pc:spChg chg="mod">
          <ac:chgData name="Malta, Vivian" userId="c9130ee9-f22b-44aa-bb73-83a935e86cf9" providerId="ADAL" clId="{9140235C-6F4B-4C4C-96E9-70B35F501552}" dt="2026-05-25T07:15:57.714" v="343" actId="1076"/>
          <ac:spMkLst>
            <pc:docMk/>
            <pc:sldMk cId="4148795801" sldId="4558"/>
            <ac:spMk id="3" creationId="{11DD59CE-A2C8-C184-1AB9-0404C5038A8C}"/>
          </ac:spMkLst>
        </pc:spChg>
      </pc:sldChg>
      <pc:sldChg chg="addSp delSp modSp new mod ord modClrScheme chgLayout">
        <pc:chgData name="Malta, Vivian" userId="c9130ee9-f22b-44aa-bb73-83a935e86cf9" providerId="ADAL" clId="{9140235C-6F4B-4C4C-96E9-70B35F501552}" dt="2026-05-25T07:17:57.607" v="355" actId="1035"/>
        <pc:sldMkLst>
          <pc:docMk/>
          <pc:sldMk cId="1930351111" sldId="4559"/>
        </pc:sldMkLst>
        <pc:spChg chg="add mod">
          <ac:chgData name="Malta, Vivian" userId="c9130ee9-f22b-44aa-bb73-83a935e86cf9" providerId="ADAL" clId="{9140235C-6F4B-4C4C-96E9-70B35F501552}" dt="2026-05-25T07:06:01.906" v="229" actId="14100"/>
          <ac:spMkLst>
            <pc:docMk/>
            <pc:sldMk cId="1930351111" sldId="4559"/>
            <ac:spMk id="4" creationId="{0B6767C1-6C47-8C82-68FB-4DC96C5CC346}"/>
          </ac:spMkLst>
        </pc:spChg>
        <pc:spChg chg="add mod ord">
          <ac:chgData name="Malta, Vivian" userId="c9130ee9-f22b-44aa-bb73-83a935e86cf9" providerId="ADAL" clId="{9140235C-6F4B-4C4C-96E9-70B35F501552}" dt="2026-05-25T07:15:01.254" v="266" actId="20577"/>
          <ac:spMkLst>
            <pc:docMk/>
            <pc:sldMk cId="1930351111" sldId="4559"/>
            <ac:spMk id="7" creationId="{1B7AB48C-E571-901C-2D46-6760EC41628E}"/>
          </ac:spMkLst>
        </pc:spChg>
        <pc:spChg chg="add mod ord">
          <ac:chgData name="Malta, Vivian" userId="c9130ee9-f22b-44aa-bb73-83a935e86cf9" providerId="ADAL" clId="{9140235C-6F4B-4C4C-96E9-70B35F501552}" dt="2026-05-25T07:16:35.886" v="354" actId="20577"/>
          <ac:spMkLst>
            <pc:docMk/>
            <pc:sldMk cId="1930351111" sldId="4559"/>
            <ac:spMk id="8" creationId="{93DDC6BA-5B20-9016-44C0-18B3FDC48F6F}"/>
          </ac:spMkLst>
        </pc:spChg>
        <pc:picChg chg="add mod">
          <ac:chgData name="Malta, Vivian" userId="c9130ee9-f22b-44aa-bb73-83a935e86cf9" providerId="ADAL" clId="{9140235C-6F4B-4C4C-96E9-70B35F501552}" dt="2026-05-25T07:17:57.607" v="355" actId="1035"/>
          <ac:picMkLst>
            <pc:docMk/>
            <pc:sldMk cId="1930351111" sldId="4559"/>
            <ac:picMk id="6" creationId="{A099DA01-ABA0-72DB-8BF4-48EB75921BFD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ntlmonetaryfund.sharepoint.com/teams/SPRAIIG/Shared%20Documents/General/SGIAG/Output%20gains%20from%20reforms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intlmonetaryfund.sharepoint.com/teams/SPRAIIG/Shared%20Documents/General/SGIAG/Output%20gains%20from%20reforms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909286930986602E-2"/>
          <c:y val="0.22729187418659555"/>
          <c:w val="0.90855463433476513"/>
          <c:h val="0.6746207776140582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074-43A1-8222-D5F43E46228A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074-43A1-8222-D5F43E46228A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074-43A1-8222-D5F43E46228A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074-43A1-8222-D5F43E46228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074-43A1-8222-D5F43E46228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Sheet1!$A$4:$A$8</c:f>
              <c:strCache>
                <c:ptCount val="5"/>
                <c:pt idx="0">
                  <c:v>Governance</c:v>
                </c:pt>
                <c:pt idx="1">
                  <c:v>Product Market</c:v>
                </c:pt>
                <c:pt idx="2">
                  <c:v>Labor Market</c:v>
                </c:pt>
                <c:pt idx="3">
                  <c:v>Domestic Finance</c:v>
                </c:pt>
                <c:pt idx="4">
                  <c:v>Gender</c:v>
                </c:pt>
              </c:strCache>
            </c:strRef>
          </c:cat>
          <c:val>
            <c:numRef>
              <c:f>Sheet1!$C$4:$C$8</c:f>
              <c:numCache>
                <c:formatCode>0.0</c:formatCode>
                <c:ptCount val="5"/>
                <c:pt idx="0">
                  <c:v>1.94</c:v>
                </c:pt>
                <c:pt idx="1">
                  <c:v>4.0599999999999996</c:v>
                </c:pt>
                <c:pt idx="2">
                  <c:v>5.21</c:v>
                </c:pt>
                <c:pt idx="3">
                  <c:v>7.31</c:v>
                </c:pt>
                <c:pt idx="4">
                  <c:v>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074-43A1-8222-D5F43E4622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94537600"/>
        <c:axId val="1794541760"/>
      </c:barChart>
      <c:catAx>
        <c:axId val="1794537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794541760"/>
        <c:crosses val="autoZero"/>
        <c:auto val="1"/>
        <c:lblAlgn val="ctr"/>
        <c:lblOffset val="100"/>
        <c:noMultiLvlLbl val="0"/>
      </c:catAx>
      <c:valAx>
        <c:axId val="1794541760"/>
        <c:scaling>
          <c:orientation val="minMax"/>
          <c:max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794537600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356285140911318E-2"/>
          <c:y val="0.23343777776674296"/>
          <c:w val="0.92257748625267266"/>
          <c:h val="0.7118115729728924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Sheet1!$A$10:$A$13</c:f>
              <c:strCache>
                <c:ptCount val="4"/>
                <c:pt idx="0">
                  <c:v>P25</c:v>
                </c:pt>
                <c:pt idx="1">
                  <c:v>Median</c:v>
                </c:pt>
                <c:pt idx="2">
                  <c:v>P75</c:v>
                </c:pt>
                <c:pt idx="3">
                  <c:v>P90</c:v>
                </c:pt>
              </c:strCache>
            </c:strRef>
          </c:cat>
          <c:val>
            <c:numRef>
              <c:f>Sheet1!$C$10:$C$13</c:f>
              <c:numCache>
                <c:formatCode>0.0</c:formatCode>
                <c:ptCount val="4"/>
                <c:pt idx="0">
                  <c:v>8</c:v>
                </c:pt>
                <c:pt idx="1">
                  <c:v>14.9</c:v>
                </c:pt>
                <c:pt idx="2">
                  <c:v>25.2</c:v>
                </c:pt>
                <c:pt idx="3">
                  <c:v>45.2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1C-4184-820E-5EC1DCCD1B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94537600"/>
        <c:axId val="1794541760"/>
      </c:barChart>
      <c:catAx>
        <c:axId val="1794537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794541760"/>
        <c:crosses val="autoZero"/>
        <c:auto val="1"/>
        <c:lblAlgn val="ctr"/>
        <c:lblOffset val="100"/>
        <c:noMultiLvlLbl val="0"/>
      </c:catAx>
      <c:valAx>
        <c:axId val="179454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794537600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C2B5E6-67C1-4B42-BE9D-8AEFC077FF0F}" type="doc">
      <dgm:prSet loTypeId="urn:microsoft.com/office/officeart/2005/8/layout/hList7" loCatId="list" qsTypeId="urn:microsoft.com/office/officeart/2005/8/quickstyle/simple1" qsCatId="simple" csTypeId="urn:microsoft.com/office/officeart/2005/8/colors/accent0_3" csCatId="mainScheme" phldr="1"/>
      <dgm:spPr/>
    </dgm:pt>
    <dgm:pt modelId="{85C22A65-D9CD-457E-90FC-54A04E679462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None/>
          </a:pPr>
          <a:r>
            <a:rPr lang="en-US" sz="18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Legal reforms</a:t>
          </a:r>
        </a:p>
      </dgm:t>
    </dgm:pt>
    <dgm:pt modelId="{B93638A8-D6A4-4C89-BDF8-D93EE89D0A8C}" type="parTrans" cxnId="{93E155BF-8EAE-4E52-8DD0-A1CB3F1094F2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992FBAE-B68F-4A17-9E9B-E5162CE67164}" type="sibTrans" cxnId="{93E155BF-8EAE-4E52-8DD0-A1CB3F1094F2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C7C8E93-04BB-4BE9-ADAC-BA529B5A7191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None/>
          </a:pPr>
          <a:r>
            <a:rPr lang="en-US" sz="18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Fiscal policies </a:t>
          </a:r>
        </a:p>
      </dgm:t>
    </dgm:pt>
    <dgm:pt modelId="{B735156E-EEA1-4218-BD58-05CFF3D91A50}" type="parTrans" cxnId="{003CAF84-2606-42BA-AEEC-3B62B105EE20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C9FA2BA-75C3-4F11-9B4C-8A3E04DF38C7}" type="sibTrans" cxnId="{003CAF84-2606-42BA-AEEC-3B62B105EE20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75EB003-5FAD-4FE6-93FE-892253193214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None/>
          </a:pPr>
          <a:r>
            <a:rPr lang="en-US" sz="18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Financial sector policies</a:t>
          </a:r>
        </a:p>
      </dgm:t>
    </dgm:pt>
    <dgm:pt modelId="{8F804B53-C149-448F-B57B-DD222A4B524E}" type="parTrans" cxnId="{373E031B-779B-4BF1-81E5-1E7819A80E98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71F52A1-7C31-4F4E-BB43-2C3F767B885C}" type="sibTrans" cxnId="{373E031B-779B-4BF1-81E5-1E7819A80E98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FF583C4-B91C-42E8-B77E-B98688E6D1F8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None/>
          </a:pPr>
          <a:r>
            <a:rPr lang="en-US" sz="18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Policies matter despite social norms:</a:t>
          </a:r>
        </a:p>
      </dgm:t>
    </dgm:pt>
    <dgm:pt modelId="{0A64C802-D9A8-4AF4-A8B1-10C56FE69724}" type="parTrans" cxnId="{4577A1D6-E60F-43A1-B0AE-AEAFF9326403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B0AECAC-827D-47C0-AF00-8D1A499D53B7}" type="sibTrans" cxnId="{4577A1D6-E60F-43A1-B0AE-AEAFF9326403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A09FF5A-E7AB-4518-9ACD-A8179F576867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Constitutional law and civil rights</a:t>
          </a:r>
        </a:p>
      </dgm:t>
    </dgm:pt>
    <dgm:pt modelId="{95AF53A5-BBF4-4D2E-B4B6-AEBBE600F87A}" type="parTrans" cxnId="{F9F3C344-6001-449E-A50C-DD4A66FB7787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0068C39-E24A-4881-8EC7-89EFE7469F61}" type="sibTrans" cxnId="{F9F3C344-6001-449E-A50C-DD4A66FB7787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601114C-2441-4B34-8300-01180383234D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Family law</a:t>
          </a:r>
        </a:p>
      </dgm:t>
    </dgm:pt>
    <dgm:pt modelId="{2EA9F76D-3288-48E4-A395-3016A20E3966}" type="parTrans" cxnId="{9E788E86-14A0-463E-8A91-5FDF9C0984C1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C8258DD-91AF-4FC3-973C-22892ECA0D89}" type="sibTrans" cxnId="{9E788E86-14A0-463E-8A91-5FDF9C0984C1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91F3A81-AA88-46F7-897E-899031161181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Property law</a:t>
          </a:r>
        </a:p>
      </dgm:t>
    </dgm:pt>
    <dgm:pt modelId="{177AC777-DA7C-4339-8561-E9EFC0693AEA}" type="parTrans" cxnId="{222CEA59-0580-433F-81BF-C5D41542B95A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2ADE1C3-D87B-4AED-82E0-A11F5EF6C0F4}" type="sibTrans" cxnId="{222CEA59-0580-433F-81BF-C5D41542B95A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940D8BD-A369-4A1C-97B7-4E09C2FE5BD4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6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rPr>
            <a:t>Gender-responsive budgeting</a:t>
          </a:r>
        </a:p>
      </dgm:t>
    </dgm:pt>
    <dgm:pt modelId="{AEA10D38-1148-4011-9207-C773A8F9F80C}" type="parTrans" cxnId="{C6DA00EA-093B-4ED8-9088-90DDCCD841BC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003E25F-9417-4433-8C9F-4F8F13B601CA}" type="sibTrans" cxnId="{C6DA00EA-093B-4ED8-9088-90DDCCD841BC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A264D96-7143-46A8-BA62-57D314A845E5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Equal access to digital infrastructure (mobile phones, high-speed internet, digital ID)</a:t>
          </a:r>
        </a:p>
      </dgm:t>
    </dgm:pt>
    <dgm:pt modelId="{49FB3B8A-DF9E-4C1B-A4D2-AE879EEA42D7}" type="parTrans" cxnId="{32184106-5CD9-4B8C-9A4A-359B7DB11B3E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126AFF0-1B70-4D5B-A366-C9F8379438CC}" type="sibTrans" cxnId="{32184106-5CD9-4B8C-9A4A-359B7DB11B3E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91F1335-D8FB-4867-8684-1BDEBE6BC990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None/>
          </a:pPr>
          <a:r>
            <a:rPr lang="en-US" sz="18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Labor market policies</a:t>
          </a:r>
        </a:p>
      </dgm:t>
    </dgm:pt>
    <dgm:pt modelId="{5F34B261-2904-4201-8E27-AF4AC516030E}" type="parTrans" cxnId="{C0D1F826-9698-4C57-8ABB-889C91730998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549E027-20EB-452D-AE47-880972ED08C8}" type="sibTrans" cxnId="{C0D1F826-9698-4C57-8ABB-889C91730998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8F901AB-422E-40CC-ADD8-23AA3A230E67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Removing biases in recruitment, promotion and retention policies</a:t>
          </a:r>
        </a:p>
      </dgm:t>
    </dgm:pt>
    <dgm:pt modelId="{F718967D-3903-4169-B1D7-F4F44F2E6CCE}" type="parTrans" cxnId="{CD5DAD70-C68C-44AD-919F-E7487ACD748E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EE9BB70-0424-4D25-9E43-D3DE24C02AD1}" type="sibTrans" cxnId="{CD5DAD70-C68C-44AD-919F-E7487ACD748E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4034C3B-E933-43EF-AB5E-D64733E4392B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Eliminate sexual harassment in the workplace</a:t>
          </a:r>
        </a:p>
      </dgm:t>
    </dgm:pt>
    <dgm:pt modelId="{A7C245A1-683B-4842-948F-2205832CAC23}" type="parTrans" cxnId="{F1FAADE6-DCAC-4EB8-AD29-4EDB5CF740BD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B994A61-8DEF-4388-A154-FCFB8F303C9D}" type="sibTrans" cxnId="{F1FAADE6-DCAC-4EB8-AD29-4EDB5CF740BD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D51B4B7-7486-45AC-B227-DB701DBD2B97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Labor law</a:t>
          </a:r>
        </a:p>
      </dgm:t>
    </dgm:pt>
    <dgm:pt modelId="{9BC4D656-00D8-4F34-B181-5EDAE8CDC2AB}" type="parTrans" cxnId="{6C1DE4A2-D9CF-48DB-BD6D-0C39B9C0A459}">
      <dgm:prSet/>
      <dgm:spPr/>
      <dgm:t>
        <a:bodyPr/>
        <a:lstStyle/>
        <a:p>
          <a:endParaRPr lang="en-US"/>
        </a:p>
      </dgm:t>
    </dgm:pt>
    <dgm:pt modelId="{28BA716F-A2C6-4273-9286-63CD9A498628}" type="sibTrans" cxnId="{6C1DE4A2-D9CF-48DB-BD6D-0C39B9C0A459}">
      <dgm:prSet/>
      <dgm:spPr/>
      <dgm:t>
        <a:bodyPr/>
        <a:lstStyle/>
        <a:p>
          <a:endParaRPr lang="en-US"/>
        </a:p>
      </dgm:t>
    </dgm:pt>
    <dgm:pt modelId="{86A1E7F0-05F1-4DA1-91C2-3B2860E9419C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Tax law</a:t>
          </a:r>
        </a:p>
      </dgm:t>
    </dgm:pt>
    <dgm:pt modelId="{B6087608-5BB5-4C10-910F-BA3474C29930}" type="parTrans" cxnId="{98FACE80-7E4F-4EB6-A618-B8FD21546C14}">
      <dgm:prSet/>
      <dgm:spPr/>
      <dgm:t>
        <a:bodyPr/>
        <a:lstStyle/>
        <a:p>
          <a:endParaRPr lang="en-US"/>
        </a:p>
      </dgm:t>
    </dgm:pt>
    <dgm:pt modelId="{B6AD057F-400E-4E01-816E-6A5C5A1C167B}" type="sibTrans" cxnId="{98FACE80-7E4F-4EB6-A618-B8FD21546C14}">
      <dgm:prSet/>
      <dgm:spPr/>
      <dgm:t>
        <a:bodyPr/>
        <a:lstStyle/>
        <a:p>
          <a:endParaRPr lang="en-US"/>
        </a:p>
      </dgm:t>
    </dgm:pt>
    <dgm:pt modelId="{A8B5E5C7-E952-497E-B955-369B9D395EF6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Direct/indirect taxation</a:t>
          </a:r>
        </a:p>
      </dgm:t>
    </dgm:pt>
    <dgm:pt modelId="{8451AEFE-8E7D-45A4-B957-ADB774BF51C9}" type="parTrans" cxnId="{2B88BE0F-BF7F-4161-A7FE-66A9062EE189}">
      <dgm:prSet/>
      <dgm:spPr/>
      <dgm:t>
        <a:bodyPr/>
        <a:lstStyle/>
        <a:p>
          <a:endParaRPr lang="en-US"/>
        </a:p>
      </dgm:t>
    </dgm:pt>
    <dgm:pt modelId="{D312F436-8128-4E74-AE50-C6BCA70C925F}" type="sibTrans" cxnId="{2B88BE0F-BF7F-4161-A7FE-66A9062EE189}">
      <dgm:prSet/>
      <dgm:spPr/>
      <dgm:t>
        <a:bodyPr/>
        <a:lstStyle/>
        <a:p>
          <a:endParaRPr lang="en-US"/>
        </a:p>
      </dgm:t>
    </dgm:pt>
    <dgm:pt modelId="{1B1EEEA3-F203-4EA8-BB6A-407B5AF1E35B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endParaRPr lang="en-US" sz="14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6D1F756-5B3D-48A8-8DB7-D7F7C0290052}" type="parTrans" cxnId="{AED05C4C-A9EE-4F65-B7F3-6D585A8FD7C0}">
      <dgm:prSet/>
      <dgm:spPr/>
      <dgm:t>
        <a:bodyPr/>
        <a:lstStyle/>
        <a:p>
          <a:endParaRPr lang="en-US"/>
        </a:p>
      </dgm:t>
    </dgm:pt>
    <dgm:pt modelId="{ED05273C-3350-416A-9D10-36C2CF0018D1}" type="sibTrans" cxnId="{AED05C4C-A9EE-4F65-B7F3-6D585A8FD7C0}">
      <dgm:prSet/>
      <dgm:spPr/>
      <dgm:t>
        <a:bodyPr/>
        <a:lstStyle/>
        <a:p>
          <a:endParaRPr lang="en-US"/>
        </a:p>
      </dgm:t>
    </dgm:pt>
    <dgm:pt modelId="{793DDD76-97B9-4670-8BB6-A9B6433EED5A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</dgm:t>
    </dgm:pt>
    <dgm:pt modelId="{E35BCB7F-8401-4B93-9826-3AC0144D2694}" type="parTrans" cxnId="{1C1DB63B-C05D-4905-B5F4-9A0532028800}">
      <dgm:prSet/>
      <dgm:spPr/>
      <dgm:t>
        <a:bodyPr/>
        <a:lstStyle/>
        <a:p>
          <a:endParaRPr lang="en-US"/>
        </a:p>
      </dgm:t>
    </dgm:pt>
    <dgm:pt modelId="{D04ADDE8-572B-4B6C-8CC9-5EE859AEA445}" type="sibTrans" cxnId="{1C1DB63B-C05D-4905-B5F4-9A0532028800}">
      <dgm:prSet/>
      <dgm:spPr/>
      <dgm:t>
        <a:bodyPr/>
        <a:lstStyle/>
        <a:p>
          <a:endParaRPr lang="en-US"/>
        </a:p>
      </dgm:t>
    </dgm:pt>
    <dgm:pt modelId="{C8177BC6-F446-4788-989D-640C4482A220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endParaRPr lang="en-US" sz="14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16A585C-4D78-4090-8F70-FFA0D834D9C8}" type="parTrans" cxnId="{9C69190B-B705-4591-94A1-BC00BF74CA1F}">
      <dgm:prSet/>
      <dgm:spPr/>
      <dgm:t>
        <a:bodyPr/>
        <a:lstStyle/>
        <a:p>
          <a:endParaRPr lang="en-US"/>
        </a:p>
      </dgm:t>
    </dgm:pt>
    <dgm:pt modelId="{261D8C93-541B-4C8C-8152-053F160FE6BE}" type="sibTrans" cxnId="{9C69190B-B705-4591-94A1-BC00BF74CA1F}">
      <dgm:prSet/>
      <dgm:spPr/>
      <dgm:t>
        <a:bodyPr/>
        <a:lstStyle/>
        <a:p>
          <a:endParaRPr lang="en-US"/>
        </a:p>
      </dgm:t>
    </dgm:pt>
    <dgm:pt modelId="{4E97D756-87F9-4D48-96DD-83189C5243CE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Spending on education, health, infrastructure and well-targeted social assistance</a:t>
          </a:r>
        </a:p>
      </dgm:t>
    </dgm:pt>
    <dgm:pt modelId="{95C7936C-7A39-46A0-934F-F24E08F91F2E}" type="parTrans" cxnId="{C305777D-36C0-4B53-A803-BBD5E7DAC410}">
      <dgm:prSet/>
      <dgm:spPr/>
      <dgm:t>
        <a:bodyPr/>
        <a:lstStyle/>
        <a:p>
          <a:endParaRPr lang="en-US"/>
        </a:p>
      </dgm:t>
    </dgm:pt>
    <dgm:pt modelId="{4240CC55-178B-4110-9EE1-C429D7153503}" type="sibTrans" cxnId="{C305777D-36C0-4B53-A803-BBD5E7DAC410}">
      <dgm:prSet/>
      <dgm:spPr/>
      <dgm:t>
        <a:bodyPr/>
        <a:lstStyle/>
        <a:p>
          <a:endParaRPr lang="en-US"/>
        </a:p>
      </dgm:t>
    </dgm:pt>
    <dgm:pt modelId="{54CA0C58-9D4A-4B66-BA0F-0377F59FF673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Training and skills enhancement </a:t>
          </a:r>
        </a:p>
      </dgm:t>
    </dgm:pt>
    <dgm:pt modelId="{68C9B453-EBE5-40AC-88A9-C69A684CA42F}" type="parTrans" cxnId="{D6D1D48D-7580-4839-96AE-A87DD86E1E2D}">
      <dgm:prSet/>
      <dgm:spPr/>
      <dgm:t>
        <a:bodyPr/>
        <a:lstStyle/>
        <a:p>
          <a:endParaRPr lang="en-US"/>
        </a:p>
      </dgm:t>
    </dgm:pt>
    <dgm:pt modelId="{12FE8E7D-44AC-4DD3-A9BD-8652AF6E50E0}" type="sibTrans" cxnId="{D6D1D48D-7580-4839-96AE-A87DD86E1E2D}">
      <dgm:prSet/>
      <dgm:spPr/>
      <dgm:t>
        <a:bodyPr/>
        <a:lstStyle/>
        <a:p>
          <a:endParaRPr lang="en-US"/>
        </a:p>
      </dgm:t>
    </dgm:pt>
    <dgm:pt modelId="{26B10B57-EF00-4499-9C1A-77F4FDCD2EFA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Public sector wage policies</a:t>
          </a:r>
        </a:p>
      </dgm:t>
    </dgm:pt>
    <dgm:pt modelId="{7A3596E0-A732-4CB8-B71C-C798B5134F8E}" type="sibTrans" cxnId="{0FFA3546-2D29-4C78-8FA9-95B041187B82}">
      <dgm:prSet/>
      <dgm:spPr/>
      <dgm:t>
        <a:bodyPr/>
        <a:lstStyle/>
        <a:p>
          <a:endParaRPr lang="en-US"/>
        </a:p>
      </dgm:t>
    </dgm:pt>
    <dgm:pt modelId="{23589996-F4E1-4C24-93FD-47409EC19DB9}" type="parTrans" cxnId="{0FFA3546-2D29-4C78-8FA9-95B041187B82}">
      <dgm:prSet/>
      <dgm:spPr/>
      <dgm:t>
        <a:bodyPr/>
        <a:lstStyle/>
        <a:p>
          <a:endParaRPr lang="en-US"/>
        </a:p>
      </dgm:t>
    </dgm:pt>
    <dgm:pt modelId="{16BC76CB-2AA9-4339-84A6-04C590BEBC7A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Parental leave and child/elderly care</a:t>
          </a:r>
        </a:p>
      </dgm:t>
    </dgm:pt>
    <dgm:pt modelId="{B09F91E6-0EF7-43CA-A9A8-683F1020C5D3}" type="parTrans" cxnId="{B50F6421-0841-4D88-991F-247021E28BA8}">
      <dgm:prSet/>
      <dgm:spPr/>
      <dgm:t>
        <a:bodyPr/>
        <a:lstStyle/>
        <a:p>
          <a:endParaRPr lang="en-US"/>
        </a:p>
      </dgm:t>
    </dgm:pt>
    <dgm:pt modelId="{521805C7-857F-4F60-A029-E76E59E509EC}" type="sibTrans" cxnId="{B50F6421-0841-4D88-991F-247021E28BA8}">
      <dgm:prSet/>
      <dgm:spPr/>
      <dgm:t>
        <a:bodyPr/>
        <a:lstStyle/>
        <a:p>
          <a:endParaRPr lang="en-US"/>
        </a:p>
      </dgm:t>
    </dgm:pt>
    <dgm:pt modelId="{0174374F-2B02-42B9-A4FA-ACAC1130A414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Supervisory guidance for FIs to reduce biases</a:t>
          </a:r>
        </a:p>
      </dgm:t>
    </dgm:pt>
    <dgm:pt modelId="{A443AC3E-9852-4F05-8F04-ED81042528CB}" type="parTrans" cxnId="{6F61D647-9BC8-402C-BC28-626F847E9BE4}">
      <dgm:prSet/>
      <dgm:spPr/>
      <dgm:t>
        <a:bodyPr/>
        <a:lstStyle/>
        <a:p>
          <a:endParaRPr lang="en-US"/>
        </a:p>
      </dgm:t>
    </dgm:pt>
    <dgm:pt modelId="{FDAA4099-E5E9-4306-B709-EB10AB9F639D}" type="sibTrans" cxnId="{6F61D647-9BC8-402C-BC28-626F847E9BE4}">
      <dgm:prSet/>
      <dgm:spPr/>
      <dgm:t>
        <a:bodyPr/>
        <a:lstStyle/>
        <a:p>
          <a:endParaRPr lang="en-US"/>
        </a:p>
      </dgm:t>
    </dgm:pt>
    <dgm:pt modelId="{D971EE62-B0F4-497D-8463-8773BC526133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Investing in digital and financial literacy</a:t>
          </a:r>
        </a:p>
      </dgm:t>
    </dgm:pt>
    <dgm:pt modelId="{8107B2FE-CCED-48AF-9CFA-405D0530CB23}" type="parTrans" cxnId="{E8EE451D-216E-4967-9A3F-11AEA20C108E}">
      <dgm:prSet/>
      <dgm:spPr/>
      <dgm:t>
        <a:bodyPr/>
        <a:lstStyle/>
        <a:p>
          <a:endParaRPr lang="en-US"/>
        </a:p>
      </dgm:t>
    </dgm:pt>
    <dgm:pt modelId="{076F0DF3-1153-4750-A669-25F4234B1C99}" type="sibTrans" cxnId="{E8EE451D-216E-4967-9A3F-11AEA20C108E}">
      <dgm:prSet/>
      <dgm:spPr/>
      <dgm:t>
        <a:bodyPr/>
        <a:lstStyle/>
        <a:p>
          <a:endParaRPr lang="en-US"/>
        </a:p>
      </dgm:t>
    </dgm:pt>
    <dgm:pt modelId="{CFF8AD4C-4F63-4EC7-956C-C9FAF64A73C9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Proportionate and risk-based supervision</a:t>
          </a:r>
        </a:p>
      </dgm:t>
    </dgm:pt>
    <dgm:pt modelId="{DDF1271E-2BB2-4950-8C58-27C6851868B4}" type="sibTrans" cxnId="{6BBA5121-2203-4EA3-AD1E-413D6DA19141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B354E59-44C3-4C70-9C34-FE896655B13C}" type="parTrans" cxnId="{6BBA5121-2203-4EA3-AD1E-413D6DA19141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A962D88-776E-47FA-BCEB-895F82D1416A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Taxation</a:t>
          </a:r>
        </a:p>
      </dgm:t>
    </dgm:pt>
    <dgm:pt modelId="{8C245E98-B4C9-4BB9-8CAB-BB8471E4ECC9}" type="parTrans" cxnId="{28B6EBD9-B5DC-479D-9973-B43F68EF5D12}">
      <dgm:prSet/>
      <dgm:spPr/>
      <dgm:t>
        <a:bodyPr/>
        <a:lstStyle/>
        <a:p>
          <a:endParaRPr lang="en-US"/>
        </a:p>
      </dgm:t>
    </dgm:pt>
    <dgm:pt modelId="{EA98089C-407A-4A3D-9C30-D95677CE6934}" type="sibTrans" cxnId="{28B6EBD9-B5DC-479D-9973-B43F68EF5D12}">
      <dgm:prSet/>
      <dgm:spPr/>
      <dgm:t>
        <a:bodyPr/>
        <a:lstStyle/>
        <a:p>
          <a:endParaRPr lang="en-US"/>
        </a:p>
      </dgm:t>
    </dgm:pt>
    <dgm:pt modelId="{B65E8502-9D68-4733-B260-5A99C97F3224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Childcare</a:t>
          </a:r>
        </a:p>
      </dgm:t>
    </dgm:pt>
    <dgm:pt modelId="{F0720244-A809-479D-904E-2F31B6EFC506}" type="parTrans" cxnId="{08F137D2-3C90-4966-B7DA-23F66A4AB3E0}">
      <dgm:prSet/>
      <dgm:spPr/>
      <dgm:t>
        <a:bodyPr/>
        <a:lstStyle/>
        <a:p>
          <a:endParaRPr lang="en-US"/>
        </a:p>
      </dgm:t>
    </dgm:pt>
    <dgm:pt modelId="{B70FC9A8-D952-47CE-9746-DBDFCDFBDA84}" type="sibTrans" cxnId="{08F137D2-3C90-4966-B7DA-23F66A4AB3E0}">
      <dgm:prSet/>
      <dgm:spPr/>
      <dgm:t>
        <a:bodyPr/>
        <a:lstStyle/>
        <a:p>
          <a:endParaRPr lang="en-US"/>
        </a:p>
      </dgm:t>
    </dgm:pt>
    <dgm:pt modelId="{C87925B8-90FD-4D21-B566-A59088B8F295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Parental leave</a:t>
          </a:r>
        </a:p>
      </dgm:t>
    </dgm:pt>
    <dgm:pt modelId="{550923A5-BE10-4B10-A993-B492DC57A426}" type="parTrans" cxnId="{900C9328-289E-42D8-9ABC-5A7AEF19F186}">
      <dgm:prSet/>
      <dgm:spPr/>
      <dgm:t>
        <a:bodyPr/>
        <a:lstStyle/>
        <a:p>
          <a:endParaRPr lang="en-US"/>
        </a:p>
      </dgm:t>
    </dgm:pt>
    <dgm:pt modelId="{1D2DFDC0-51F8-424B-B86B-55BBEDEA4D6C}" type="sibTrans" cxnId="{900C9328-289E-42D8-9ABC-5A7AEF19F186}">
      <dgm:prSet/>
      <dgm:spPr/>
      <dgm:t>
        <a:bodyPr/>
        <a:lstStyle/>
        <a:p>
          <a:endParaRPr lang="en-US"/>
        </a:p>
      </dgm:t>
    </dgm:pt>
    <dgm:pt modelId="{7984284F-0D3E-4030-B2AC-1301B2196843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Education</a:t>
          </a:r>
        </a:p>
      </dgm:t>
    </dgm:pt>
    <dgm:pt modelId="{AD8ABFD8-42B2-432C-9DEC-3FF492BBB7D8}" type="parTrans" cxnId="{61E2920A-B005-430D-A5E3-712310BA73B8}">
      <dgm:prSet/>
      <dgm:spPr/>
      <dgm:t>
        <a:bodyPr/>
        <a:lstStyle/>
        <a:p>
          <a:endParaRPr lang="en-US"/>
        </a:p>
      </dgm:t>
    </dgm:pt>
    <dgm:pt modelId="{46B6C9E7-A1D1-4672-8355-E74AD71CB439}" type="sibTrans" cxnId="{61E2920A-B005-430D-A5E3-712310BA73B8}">
      <dgm:prSet/>
      <dgm:spPr/>
      <dgm:t>
        <a:bodyPr/>
        <a:lstStyle/>
        <a:p>
          <a:endParaRPr lang="en-US"/>
        </a:p>
      </dgm:t>
    </dgm:pt>
    <dgm:pt modelId="{EF14AE40-F623-4DF4-8A34-E68F4E70A6A1}">
      <dgm:prSet phldrT="[Text]" custT="1"/>
      <dgm:spPr>
        <a:noFill/>
        <a:ln>
          <a:solidFill>
            <a:srgbClr val="000000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Family allowances</a:t>
          </a:r>
        </a:p>
      </dgm:t>
    </dgm:pt>
    <dgm:pt modelId="{723C55C1-E72A-4300-A5F1-DE0E315FFD2A}" type="parTrans" cxnId="{405BFBA0-D780-4E4C-80CD-96B37C80487E}">
      <dgm:prSet/>
      <dgm:spPr/>
    </dgm:pt>
    <dgm:pt modelId="{EF8207B2-3AE0-481E-8FDA-86C15C23EFD9}" type="sibTrans" cxnId="{405BFBA0-D780-4E4C-80CD-96B37C80487E}">
      <dgm:prSet/>
      <dgm:spPr/>
    </dgm:pt>
    <dgm:pt modelId="{338A4185-B1D2-440E-A0E7-43D1107DF5AE}" type="pres">
      <dgm:prSet presAssocID="{E0C2B5E6-67C1-4B42-BE9D-8AEFC077FF0F}" presName="Name0" presStyleCnt="0">
        <dgm:presLayoutVars>
          <dgm:dir/>
          <dgm:resizeHandles val="exact"/>
        </dgm:presLayoutVars>
      </dgm:prSet>
      <dgm:spPr/>
    </dgm:pt>
    <dgm:pt modelId="{D3B8DC0D-5D4C-418A-87CE-3BC034DFC215}" type="pres">
      <dgm:prSet presAssocID="{E0C2B5E6-67C1-4B42-BE9D-8AEFC077FF0F}" presName="fgShape" presStyleLbl="fgShp" presStyleIdx="0" presStyleCnt="1" custFlipVert="0" custScaleY="20620" custLinFactNeighborX="-632" custLinFactNeighborY="51693"/>
      <dgm:spPr>
        <a:noFill/>
        <a:ln>
          <a:noFill/>
        </a:ln>
      </dgm:spPr>
    </dgm:pt>
    <dgm:pt modelId="{BC4D1A8D-953F-4FDB-B2A5-700D6EB02C02}" type="pres">
      <dgm:prSet presAssocID="{E0C2B5E6-67C1-4B42-BE9D-8AEFC077FF0F}" presName="linComp" presStyleCnt="0"/>
      <dgm:spPr/>
    </dgm:pt>
    <dgm:pt modelId="{AD50AD09-7677-4C2C-A54C-F358234162ED}" type="pres">
      <dgm:prSet presAssocID="{85C22A65-D9CD-457E-90FC-54A04E679462}" presName="compNode" presStyleCnt="0"/>
      <dgm:spPr/>
    </dgm:pt>
    <dgm:pt modelId="{A29E77C6-8010-4DD5-8B76-AD0FE8725733}" type="pres">
      <dgm:prSet presAssocID="{85C22A65-D9CD-457E-90FC-54A04E679462}" presName="bkgdShape" presStyleLbl="node1" presStyleIdx="0" presStyleCnt="5" custLinFactNeighborX="-1670"/>
      <dgm:spPr/>
    </dgm:pt>
    <dgm:pt modelId="{836B4CA0-E9E9-4867-AE68-864BAEE98E7F}" type="pres">
      <dgm:prSet presAssocID="{85C22A65-D9CD-457E-90FC-54A04E679462}" presName="nodeTx" presStyleLbl="node1" presStyleIdx="0" presStyleCnt="5">
        <dgm:presLayoutVars>
          <dgm:bulletEnabled val="1"/>
        </dgm:presLayoutVars>
      </dgm:prSet>
      <dgm:spPr/>
    </dgm:pt>
    <dgm:pt modelId="{A8D79233-BA4F-42C8-B7C4-18DAF6293BCC}" type="pres">
      <dgm:prSet presAssocID="{85C22A65-D9CD-457E-90FC-54A04E679462}" presName="invisiNode" presStyleLbl="node1" presStyleIdx="0" presStyleCnt="5"/>
      <dgm:spPr/>
    </dgm:pt>
    <dgm:pt modelId="{85DC69AD-B0A9-4C91-BD33-E8E2E662B5BD}" type="pres">
      <dgm:prSet presAssocID="{85C22A65-D9CD-457E-90FC-54A04E679462}" presName="imagNode" presStyleLbl="fgImgPlace1" presStyleIdx="0" presStyleCnt="5"/>
      <dgm:spPr>
        <a:blipFill>
          <a:blip xmlns:r="http://schemas.openxmlformats.org/officeDocument/2006/relationships">
            <a:alphaModFix/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solidFill>
            <a:schemeClr val="tx2">
              <a:lumMod val="75000"/>
            </a:schemeClr>
          </a:solidFill>
        </a:ln>
      </dgm:spPr>
    </dgm:pt>
    <dgm:pt modelId="{40F9C3FE-E129-40ED-A863-45D384D7FEE4}" type="pres">
      <dgm:prSet presAssocID="{2992FBAE-B68F-4A17-9E9B-E5162CE67164}" presName="sibTrans" presStyleLbl="sibTrans2D1" presStyleIdx="0" presStyleCnt="0"/>
      <dgm:spPr/>
    </dgm:pt>
    <dgm:pt modelId="{D4334134-F07B-4CB6-9342-D8DAB7ABF2A9}" type="pres">
      <dgm:prSet presAssocID="{4C7C8E93-04BB-4BE9-ADAC-BA529B5A7191}" presName="compNode" presStyleCnt="0"/>
      <dgm:spPr/>
    </dgm:pt>
    <dgm:pt modelId="{A69CF96E-A7DE-4E45-A45B-70481139A67E}" type="pres">
      <dgm:prSet presAssocID="{4C7C8E93-04BB-4BE9-ADAC-BA529B5A7191}" presName="bkgdShape" presStyleLbl="node1" presStyleIdx="1" presStyleCnt="5"/>
      <dgm:spPr/>
    </dgm:pt>
    <dgm:pt modelId="{A125F6D6-E7A7-425D-970B-B3C6C95AF839}" type="pres">
      <dgm:prSet presAssocID="{4C7C8E93-04BB-4BE9-ADAC-BA529B5A7191}" presName="nodeTx" presStyleLbl="node1" presStyleIdx="1" presStyleCnt="5">
        <dgm:presLayoutVars>
          <dgm:bulletEnabled val="1"/>
        </dgm:presLayoutVars>
      </dgm:prSet>
      <dgm:spPr/>
    </dgm:pt>
    <dgm:pt modelId="{D299114F-D217-4705-8781-7BC6B5302E6A}" type="pres">
      <dgm:prSet presAssocID="{4C7C8E93-04BB-4BE9-ADAC-BA529B5A7191}" presName="invisiNode" presStyleLbl="node1" presStyleIdx="1" presStyleCnt="5"/>
      <dgm:spPr/>
    </dgm:pt>
    <dgm:pt modelId="{EBA0200A-C908-413E-9B79-0C1C9E070E96}" type="pres">
      <dgm:prSet presAssocID="{4C7C8E93-04BB-4BE9-ADAC-BA529B5A7191}" presName="imagNode" presStyleLbl="fgImgPlac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solidFill>
            <a:schemeClr val="accent2">
              <a:lumMod val="75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Family with girl with solid fill"/>
        </a:ext>
      </dgm:extLst>
    </dgm:pt>
    <dgm:pt modelId="{89BAC2C2-D20D-44C6-9B38-1ED66A63759A}" type="pres">
      <dgm:prSet presAssocID="{AC9FA2BA-75C3-4F11-9B4C-8A3E04DF38C7}" presName="sibTrans" presStyleLbl="sibTrans2D1" presStyleIdx="0" presStyleCnt="0"/>
      <dgm:spPr/>
    </dgm:pt>
    <dgm:pt modelId="{1A4F1D30-2ED8-4CB8-AF0E-B6F0249BF228}" type="pres">
      <dgm:prSet presAssocID="{575EB003-5FAD-4FE6-93FE-892253193214}" presName="compNode" presStyleCnt="0"/>
      <dgm:spPr/>
    </dgm:pt>
    <dgm:pt modelId="{85B8E0F9-3B18-47CA-86DD-29CED24D6EB6}" type="pres">
      <dgm:prSet presAssocID="{575EB003-5FAD-4FE6-93FE-892253193214}" presName="bkgdShape" presStyleLbl="node1" presStyleIdx="2" presStyleCnt="5"/>
      <dgm:spPr/>
    </dgm:pt>
    <dgm:pt modelId="{8DF4F614-448E-4608-8D9D-8067C64B58A0}" type="pres">
      <dgm:prSet presAssocID="{575EB003-5FAD-4FE6-93FE-892253193214}" presName="nodeTx" presStyleLbl="node1" presStyleIdx="2" presStyleCnt="5">
        <dgm:presLayoutVars>
          <dgm:bulletEnabled val="1"/>
        </dgm:presLayoutVars>
      </dgm:prSet>
      <dgm:spPr/>
    </dgm:pt>
    <dgm:pt modelId="{FA72CFFB-4EAB-413E-854F-A72773CA5B0B}" type="pres">
      <dgm:prSet presAssocID="{575EB003-5FAD-4FE6-93FE-892253193214}" presName="invisiNode" presStyleLbl="node1" presStyleIdx="2" presStyleCnt="5"/>
      <dgm:spPr/>
    </dgm:pt>
    <dgm:pt modelId="{ACD2ACED-847C-4E84-96CC-E7B48F931109}" type="pres">
      <dgm:prSet presAssocID="{575EB003-5FAD-4FE6-93FE-892253193214}" presName="imagNode" presStyleLbl="fgImgPlace1" presStyleIdx="2" presStyleCnt="5" custLinFactX="100000" custLinFactNeighborX="157194" custLinFactNeighborY="-286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solidFill>
            <a:schemeClr val="accent5">
              <a:lumMod val="75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Home with solid fill"/>
        </a:ext>
      </dgm:extLst>
    </dgm:pt>
    <dgm:pt modelId="{4C7A5279-BBF5-4E5D-842F-3AB1EBB81491}" type="pres">
      <dgm:prSet presAssocID="{671F52A1-7C31-4F4E-BB43-2C3F767B885C}" presName="sibTrans" presStyleLbl="sibTrans2D1" presStyleIdx="0" presStyleCnt="0"/>
      <dgm:spPr/>
    </dgm:pt>
    <dgm:pt modelId="{CFFBC479-C8F7-446A-A2CC-EB979EFCC644}" type="pres">
      <dgm:prSet presAssocID="{191F1335-D8FB-4867-8684-1BDEBE6BC990}" presName="compNode" presStyleCnt="0"/>
      <dgm:spPr/>
    </dgm:pt>
    <dgm:pt modelId="{90486CE5-6CC2-47FE-B922-43C155078C74}" type="pres">
      <dgm:prSet presAssocID="{191F1335-D8FB-4867-8684-1BDEBE6BC990}" presName="bkgdShape" presStyleLbl="node1" presStyleIdx="3" presStyleCnt="5"/>
      <dgm:spPr/>
    </dgm:pt>
    <dgm:pt modelId="{19277732-F9C3-4136-BB7C-E6FC5934346C}" type="pres">
      <dgm:prSet presAssocID="{191F1335-D8FB-4867-8684-1BDEBE6BC990}" presName="nodeTx" presStyleLbl="node1" presStyleIdx="3" presStyleCnt="5">
        <dgm:presLayoutVars>
          <dgm:bulletEnabled val="1"/>
        </dgm:presLayoutVars>
      </dgm:prSet>
      <dgm:spPr/>
    </dgm:pt>
    <dgm:pt modelId="{E35C7F57-9EE6-4D3F-9485-79003FF54966}" type="pres">
      <dgm:prSet presAssocID="{191F1335-D8FB-4867-8684-1BDEBE6BC990}" presName="invisiNode" presStyleLbl="node1" presStyleIdx="3" presStyleCnt="5"/>
      <dgm:spPr/>
    </dgm:pt>
    <dgm:pt modelId="{5F1D95E6-39A4-4E61-8A07-C7D0B10011B2}" type="pres">
      <dgm:prSet presAssocID="{191F1335-D8FB-4867-8684-1BDEBE6BC990}" presName="imagNode" presStyleLbl="fgImgPlac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solidFill>
            <a:schemeClr val="accent4">
              <a:lumMod val="75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Office worker female with solid fill"/>
        </a:ext>
      </dgm:extLst>
    </dgm:pt>
    <dgm:pt modelId="{C3077E06-02F4-488F-98A1-DAC3F6738B6A}" type="pres">
      <dgm:prSet presAssocID="{C549E027-20EB-452D-AE47-880972ED08C8}" presName="sibTrans" presStyleLbl="sibTrans2D1" presStyleIdx="0" presStyleCnt="0"/>
      <dgm:spPr/>
    </dgm:pt>
    <dgm:pt modelId="{DF52BE8C-EB65-40F2-9DF8-384B9D28552C}" type="pres">
      <dgm:prSet presAssocID="{FFF583C4-B91C-42E8-B77E-B98688E6D1F8}" presName="compNode" presStyleCnt="0"/>
      <dgm:spPr/>
    </dgm:pt>
    <dgm:pt modelId="{FC169443-8077-49B7-AF08-6C95B316AA17}" type="pres">
      <dgm:prSet presAssocID="{FFF583C4-B91C-42E8-B77E-B98688E6D1F8}" presName="bkgdShape" presStyleLbl="node1" presStyleIdx="4" presStyleCnt="5"/>
      <dgm:spPr/>
    </dgm:pt>
    <dgm:pt modelId="{CCF773B1-2AC8-411B-841B-396BAC867618}" type="pres">
      <dgm:prSet presAssocID="{FFF583C4-B91C-42E8-B77E-B98688E6D1F8}" presName="nodeTx" presStyleLbl="node1" presStyleIdx="4" presStyleCnt="5">
        <dgm:presLayoutVars>
          <dgm:bulletEnabled val="1"/>
        </dgm:presLayoutVars>
      </dgm:prSet>
      <dgm:spPr/>
    </dgm:pt>
    <dgm:pt modelId="{2FF7A7BE-4AAF-4F63-AA20-614540455939}" type="pres">
      <dgm:prSet presAssocID="{FFF583C4-B91C-42E8-B77E-B98688E6D1F8}" presName="invisiNode" presStyleLbl="node1" presStyleIdx="4" presStyleCnt="5"/>
      <dgm:spPr/>
    </dgm:pt>
    <dgm:pt modelId="{CF9AAE62-BB45-4C1C-A17F-9B73D125ECB5}" type="pres">
      <dgm:prSet presAssocID="{FFF583C4-B91C-42E8-B77E-B98688E6D1F8}" presName="imagNode" presStyleLbl="fgImgPlace1" presStyleIdx="4" presStyleCnt="5" custLinFactX="-100000" custLinFactNeighborX="-162600" custLinFactNeighborY="-301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solidFill>
            <a:schemeClr val="accent3">
              <a:lumMod val="75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Tax with solid fill"/>
        </a:ext>
      </dgm:extLst>
    </dgm:pt>
  </dgm:ptLst>
  <dgm:cxnLst>
    <dgm:cxn modelId="{D5394A01-2D3D-4611-8A1D-BB26FD2FE0CE}" type="presOf" srcId="{A8B5E5C7-E952-497E-B955-369B9D395EF6}" destId="{A125F6D6-E7A7-425D-970B-B3C6C95AF839}" srcOrd="1" destOrd="3" presId="urn:microsoft.com/office/officeart/2005/8/layout/hList7"/>
    <dgm:cxn modelId="{6E6BBB03-564C-4C85-BB8B-52B216F7E077}" type="presOf" srcId="{54CA0C58-9D4A-4B66-BA0F-0377F59FF673}" destId="{19277732-F9C3-4136-BB7C-E6FC5934346C}" srcOrd="1" destOrd="3" presId="urn:microsoft.com/office/officeart/2005/8/layout/hList7"/>
    <dgm:cxn modelId="{32184106-5CD9-4B8C-9A4A-359B7DB11B3E}" srcId="{575EB003-5FAD-4FE6-93FE-892253193214}" destId="{4A264D96-7143-46A8-BA62-57D314A845E5}" srcOrd="3" destOrd="0" parTransId="{49FB3B8A-DF9E-4C1B-A4D2-AE879EEA42D7}" sibTransId="{2126AFF0-1B70-4D5B-A366-C9F8379438CC}"/>
    <dgm:cxn modelId="{61E2920A-B005-430D-A5E3-712310BA73B8}" srcId="{FFF583C4-B91C-42E8-B77E-B98688E6D1F8}" destId="{7984284F-0D3E-4030-B2AC-1301B2196843}" srcOrd="4" destOrd="0" parTransId="{AD8ABFD8-42B2-432C-9DEC-3FF492BBB7D8}" sibTransId="{46B6C9E7-A1D1-4672-8355-E74AD71CB439}"/>
    <dgm:cxn modelId="{9C69190B-B705-4591-94A1-BC00BF74CA1F}" srcId="{4C7C8E93-04BB-4BE9-ADAC-BA529B5A7191}" destId="{C8177BC6-F446-4788-989D-640C4482A220}" srcOrd="4" destOrd="0" parTransId="{616A585C-4D78-4090-8F70-FFA0D834D9C8}" sibTransId="{261D8C93-541B-4C8C-8152-053F160FE6BE}"/>
    <dgm:cxn modelId="{6B69D30E-991F-4ED0-BDCD-12B983509496}" type="presOf" srcId="{4D51B4B7-7486-45AC-B227-DB701DBD2B97}" destId="{836B4CA0-E9E9-4867-AE68-864BAEE98E7F}" srcOrd="1" destOrd="4" presId="urn:microsoft.com/office/officeart/2005/8/layout/hList7"/>
    <dgm:cxn modelId="{B249150F-B4E7-4F6F-B00D-7C5D66DFE7FE}" type="presOf" srcId="{4E97D756-87F9-4D48-96DD-83189C5243CE}" destId="{A69CF96E-A7DE-4E45-A45B-70481139A67E}" srcOrd="0" destOrd="2" presId="urn:microsoft.com/office/officeart/2005/8/layout/hList7"/>
    <dgm:cxn modelId="{2B88BE0F-BF7F-4161-A7FE-66A9062EE189}" srcId="{4C7C8E93-04BB-4BE9-ADAC-BA529B5A7191}" destId="{A8B5E5C7-E952-497E-B955-369B9D395EF6}" srcOrd="2" destOrd="0" parTransId="{8451AEFE-8E7D-45A4-B957-ADB774BF51C9}" sibTransId="{D312F436-8128-4E74-AE50-C6BCA70C925F}"/>
    <dgm:cxn modelId="{9AF27E10-92C4-4EAE-992A-04C1F7CC0493}" type="presOf" srcId="{191F1335-D8FB-4867-8684-1BDEBE6BC990}" destId="{90486CE5-6CC2-47FE-B922-43C155078C74}" srcOrd="0" destOrd="0" presId="urn:microsoft.com/office/officeart/2005/8/layout/hList7"/>
    <dgm:cxn modelId="{93EA4612-944C-48C4-8A54-2ED839BCAB16}" type="presOf" srcId="{9A962D88-776E-47FA-BCEB-895F82D1416A}" destId="{FC169443-8077-49B7-AF08-6C95B316AA17}" srcOrd="0" destOrd="1" presId="urn:microsoft.com/office/officeart/2005/8/layout/hList7"/>
    <dgm:cxn modelId="{F8B0C713-4B7A-467C-A9E3-5D67EEF0E8CD}" type="presOf" srcId="{C8177BC6-F446-4788-989D-640C4482A220}" destId="{A69CF96E-A7DE-4E45-A45B-70481139A67E}" srcOrd="0" destOrd="5" presId="urn:microsoft.com/office/officeart/2005/8/layout/hList7"/>
    <dgm:cxn modelId="{05440216-795C-4532-A72E-BE6BC241663A}" type="presOf" srcId="{793DDD76-97B9-4670-8BB6-A9B6433EED5A}" destId="{A125F6D6-E7A7-425D-970B-B3C6C95AF839}" srcOrd="1" destOrd="6" presId="urn:microsoft.com/office/officeart/2005/8/layout/hList7"/>
    <dgm:cxn modelId="{373E031B-779B-4BF1-81E5-1E7819A80E98}" srcId="{E0C2B5E6-67C1-4B42-BE9D-8AEFC077FF0F}" destId="{575EB003-5FAD-4FE6-93FE-892253193214}" srcOrd="2" destOrd="0" parTransId="{8F804B53-C149-448F-B57B-DD222A4B524E}" sibTransId="{671F52A1-7C31-4F4E-BB43-2C3F767B885C}"/>
    <dgm:cxn modelId="{E8EE451D-216E-4967-9A3F-11AEA20C108E}" srcId="{575EB003-5FAD-4FE6-93FE-892253193214}" destId="{D971EE62-B0F4-497D-8463-8773BC526133}" srcOrd="2" destOrd="0" parTransId="{8107B2FE-CCED-48AF-9CFA-405D0530CB23}" sibTransId="{076F0DF3-1153-4750-A669-25F4234B1C99}"/>
    <dgm:cxn modelId="{6C6E8F20-37A7-4C3D-AAF5-3CF680D92BE6}" type="presOf" srcId="{AC9FA2BA-75C3-4F11-9B4C-8A3E04DF38C7}" destId="{89BAC2C2-D20D-44C6-9B38-1ED66A63759A}" srcOrd="0" destOrd="0" presId="urn:microsoft.com/office/officeart/2005/8/layout/hList7"/>
    <dgm:cxn modelId="{B50F6421-0841-4D88-991F-247021E28BA8}" srcId="{191F1335-D8FB-4867-8684-1BDEBE6BC990}" destId="{16BC76CB-2AA9-4339-84A6-04C590BEBC7A}" srcOrd="1" destOrd="0" parTransId="{B09F91E6-0EF7-43CA-A9A8-683F1020C5D3}" sibTransId="{521805C7-857F-4F60-A029-E76E59E509EC}"/>
    <dgm:cxn modelId="{6BBA5121-2203-4EA3-AD1E-413D6DA19141}" srcId="{575EB003-5FAD-4FE6-93FE-892253193214}" destId="{CFF8AD4C-4F63-4EC7-956C-C9FAF64A73C9}" srcOrd="0" destOrd="0" parTransId="{2B354E59-44C3-4C70-9C34-FE896655B13C}" sibTransId="{DDF1271E-2BB2-4950-8C58-27C6851868B4}"/>
    <dgm:cxn modelId="{45E66724-146B-4601-8142-96F1C59B7E1A}" type="presOf" srcId="{0601114C-2441-4B34-8300-01180383234D}" destId="{836B4CA0-E9E9-4867-AE68-864BAEE98E7F}" srcOrd="1" destOrd="2" presId="urn:microsoft.com/office/officeart/2005/8/layout/hList7"/>
    <dgm:cxn modelId="{C0D1F826-9698-4C57-8ABB-889C91730998}" srcId="{E0C2B5E6-67C1-4B42-BE9D-8AEFC077FF0F}" destId="{191F1335-D8FB-4867-8684-1BDEBE6BC990}" srcOrd="3" destOrd="0" parTransId="{5F34B261-2904-4201-8E27-AF4AC516030E}" sibTransId="{C549E027-20EB-452D-AE47-880972ED08C8}"/>
    <dgm:cxn modelId="{900C9328-289E-42D8-9ABC-5A7AEF19F186}" srcId="{FFF583C4-B91C-42E8-B77E-B98688E6D1F8}" destId="{C87925B8-90FD-4D21-B566-A59088B8F295}" srcOrd="3" destOrd="0" parTransId="{550923A5-BE10-4B10-A993-B492DC57A426}" sibTransId="{1D2DFDC0-51F8-424B-B86B-55BBEDEA4D6C}"/>
    <dgm:cxn modelId="{F77BDE28-0A80-4BF9-BB63-A931895F4D9A}" type="presOf" srcId="{85C22A65-D9CD-457E-90FC-54A04E679462}" destId="{836B4CA0-E9E9-4867-AE68-864BAEE98E7F}" srcOrd="1" destOrd="0" presId="urn:microsoft.com/office/officeart/2005/8/layout/hList7"/>
    <dgm:cxn modelId="{1041E529-1E42-4628-B485-5D818C3E684C}" type="presOf" srcId="{4A264D96-7143-46A8-BA62-57D314A845E5}" destId="{8DF4F614-448E-4608-8D9D-8067C64B58A0}" srcOrd="1" destOrd="4" presId="urn:microsoft.com/office/officeart/2005/8/layout/hList7"/>
    <dgm:cxn modelId="{6716582B-DC71-4619-BC64-31CDB54A32F6}" type="presOf" srcId="{C87925B8-90FD-4D21-B566-A59088B8F295}" destId="{FC169443-8077-49B7-AF08-6C95B316AA17}" srcOrd="0" destOrd="4" presId="urn:microsoft.com/office/officeart/2005/8/layout/hList7"/>
    <dgm:cxn modelId="{9D01032E-71AC-4F0A-BC9D-9ABB400BEC2E}" type="presOf" srcId="{4D51B4B7-7486-45AC-B227-DB701DBD2B97}" destId="{A29E77C6-8010-4DD5-8B76-AD0FE8725733}" srcOrd="0" destOrd="4" presId="urn:microsoft.com/office/officeart/2005/8/layout/hList7"/>
    <dgm:cxn modelId="{EFFD672F-46C1-4B95-B79F-F411AE1BB86D}" type="presOf" srcId="{4E97D756-87F9-4D48-96DD-83189C5243CE}" destId="{A125F6D6-E7A7-425D-970B-B3C6C95AF839}" srcOrd="1" destOrd="2" presId="urn:microsoft.com/office/officeart/2005/8/layout/hList7"/>
    <dgm:cxn modelId="{EC3BCB31-487D-4B91-B356-04C9B3C965F8}" type="presOf" srcId="{78F901AB-422E-40CC-ADD8-23AA3A230E67}" destId="{90486CE5-6CC2-47FE-B922-43C155078C74}" srcOrd="0" destOrd="1" presId="urn:microsoft.com/office/officeart/2005/8/layout/hList7"/>
    <dgm:cxn modelId="{D2EDD032-40EC-409E-AF21-A21D0993FEBB}" type="presOf" srcId="{EF14AE40-F623-4DF4-8A34-E68F4E70A6A1}" destId="{FC169443-8077-49B7-AF08-6C95B316AA17}" srcOrd="0" destOrd="2" presId="urn:microsoft.com/office/officeart/2005/8/layout/hList7"/>
    <dgm:cxn modelId="{60B1CB38-EE7B-41E4-8B4A-A63CED703AED}" type="presOf" srcId="{191F1335-D8FB-4867-8684-1BDEBE6BC990}" destId="{19277732-F9C3-4136-BB7C-E6FC5934346C}" srcOrd="1" destOrd="0" presId="urn:microsoft.com/office/officeart/2005/8/layout/hList7"/>
    <dgm:cxn modelId="{1C1DB63B-C05D-4905-B5F4-9A0532028800}" srcId="{4C7C8E93-04BB-4BE9-ADAC-BA529B5A7191}" destId="{793DDD76-97B9-4670-8BB6-A9B6433EED5A}" srcOrd="5" destOrd="0" parTransId="{E35BCB7F-8401-4B93-9826-3AC0144D2694}" sibTransId="{D04ADDE8-572B-4B6C-8CC9-5EE859AEA445}"/>
    <dgm:cxn modelId="{1D007261-CDFB-4923-BAA0-05DFCA8B46C9}" type="presOf" srcId="{86A1E7F0-05F1-4DA1-91C2-3B2860E9419C}" destId="{836B4CA0-E9E9-4867-AE68-864BAEE98E7F}" srcOrd="1" destOrd="5" presId="urn:microsoft.com/office/officeart/2005/8/layout/hList7"/>
    <dgm:cxn modelId="{22276862-C5DA-4E8B-806F-DF408AC73F82}" type="presOf" srcId="{3940D8BD-A369-4A1C-97B7-4E09C2FE5BD4}" destId="{A125F6D6-E7A7-425D-970B-B3C6C95AF839}" srcOrd="1" destOrd="1" presId="urn:microsoft.com/office/officeart/2005/8/layout/hList7"/>
    <dgm:cxn modelId="{F55D3F44-2852-47BD-9F6A-350C1AA028E2}" type="presOf" srcId="{C8177BC6-F446-4788-989D-640C4482A220}" destId="{A125F6D6-E7A7-425D-970B-B3C6C95AF839}" srcOrd="1" destOrd="5" presId="urn:microsoft.com/office/officeart/2005/8/layout/hList7"/>
    <dgm:cxn modelId="{B571B144-46F4-4C27-AA2E-93063A4F7C86}" type="presOf" srcId="{B65E8502-9D68-4733-B260-5A99C97F3224}" destId="{FC169443-8077-49B7-AF08-6C95B316AA17}" srcOrd="0" destOrd="3" presId="urn:microsoft.com/office/officeart/2005/8/layout/hList7"/>
    <dgm:cxn modelId="{F9F3C344-6001-449E-A50C-DD4A66FB7787}" srcId="{85C22A65-D9CD-457E-90FC-54A04E679462}" destId="{2A09FF5A-E7AB-4518-9ACD-A8179F576867}" srcOrd="0" destOrd="0" parTransId="{95AF53A5-BBF4-4D2E-B4B6-AEBBE600F87A}" sibTransId="{E0068C39-E24A-4881-8EC7-89EFE7469F61}"/>
    <dgm:cxn modelId="{0FFA3546-2D29-4C78-8FA9-95B041187B82}" srcId="{4C7C8E93-04BB-4BE9-ADAC-BA529B5A7191}" destId="{26B10B57-EF00-4499-9C1A-77F4FDCD2EFA}" srcOrd="3" destOrd="0" parTransId="{23589996-F4E1-4C24-93FD-47409EC19DB9}" sibTransId="{7A3596E0-A732-4CB8-B71C-C798B5134F8E}"/>
    <dgm:cxn modelId="{6F61D647-9BC8-402C-BC28-626F847E9BE4}" srcId="{575EB003-5FAD-4FE6-93FE-892253193214}" destId="{0174374F-2B02-42B9-A4FA-ACAC1130A414}" srcOrd="1" destOrd="0" parTransId="{A443AC3E-9852-4F05-8F04-ED81042528CB}" sibTransId="{FDAA4099-E5E9-4306-B709-EB10AB9F639D}"/>
    <dgm:cxn modelId="{AED05C4C-A9EE-4F65-B7F3-6D585A8FD7C0}" srcId="{4C7C8E93-04BB-4BE9-ADAC-BA529B5A7191}" destId="{1B1EEEA3-F203-4EA8-BB6A-407B5AF1E35B}" srcOrd="6" destOrd="0" parTransId="{16D1F756-5B3D-48A8-8DB7-D7F7C0290052}" sibTransId="{ED05273C-3350-416A-9D10-36C2CF0018D1}"/>
    <dgm:cxn modelId="{5C548A6C-E63B-4E4E-ADA6-496D9EAE1914}" type="presOf" srcId="{0174374F-2B02-42B9-A4FA-ACAC1130A414}" destId="{8DF4F614-448E-4608-8D9D-8067C64B58A0}" srcOrd="1" destOrd="2" presId="urn:microsoft.com/office/officeart/2005/8/layout/hList7"/>
    <dgm:cxn modelId="{03ECBC6C-E683-4837-91C3-6637CE92EB2E}" type="presOf" srcId="{E4034C3B-E933-43EF-AB5E-D64733E4392B}" destId="{19277732-F9C3-4136-BB7C-E6FC5934346C}" srcOrd="1" destOrd="4" presId="urn:microsoft.com/office/officeart/2005/8/layout/hList7"/>
    <dgm:cxn modelId="{E9FF106E-122D-4496-B341-5D52CEFC613E}" type="presOf" srcId="{4C7C8E93-04BB-4BE9-ADAC-BA529B5A7191}" destId="{A69CF96E-A7DE-4E45-A45B-70481139A67E}" srcOrd="0" destOrd="0" presId="urn:microsoft.com/office/officeart/2005/8/layout/hList7"/>
    <dgm:cxn modelId="{5A4C3750-9AC7-44C8-9215-DA9ABF36B9FB}" type="presOf" srcId="{16BC76CB-2AA9-4339-84A6-04C590BEBC7A}" destId="{90486CE5-6CC2-47FE-B922-43C155078C74}" srcOrd="0" destOrd="2" presId="urn:microsoft.com/office/officeart/2005/8/layout/hList7"/>
    <dgm:cxn modelId="{CD5DAD70-C68C-44AD-919F-E7487ACD748E}" srcId="{191F1335-D8FB-4867-8684-1BDEBE6BC990}" destId="{78F901AB-422E-40CC-ADD8-23AA3A230E67}" srcOrd="0" destOrd="0" parTransId="{F718967D-3903-4169-B1D7-F4F44F2E6CCE}" sibTransId="{BEE9BB70-0424-4D25-9E43-D3DE24C02AD1}"/>
    <dgm:cxn modelId="{7CA4E470-04EF-49F9-83D1-801F58E8F0B6}" type="presOf" srcId="{091F3A81-AA88-46F7-897E-899031161181}" destId="{A29E77C6-8010-4DD5-8B76-AD0FE8725733}" srcOrd="0" destOrd="3" presId="urn:microsoft.com/office/officeart/2005/8/layout/hList7"/>
    <dgm:cxn modelId="{5A9B2452-3C65-4002-887C-2B96C16BBE65}" type="presOf" srcId="{793DDD76-97B9-4670-8BB6-A9B6433EED5A}" destId="{A69CF96E-A7DE-4E45-A45B-70481139A67E}" srcOrd="0" destOrd="6" presId="urn:microsoft.com/office/officeart/2005/8/layout/hList7"/>
    <dgm:cxn modelId="{A09F4252-6717-43C3-AEA5-1EE9347089E2}" type="presOf" srcId="{9A962D88-776E-47FA-BCEB-895F82D1416A}" destId="{CCF773B1-2AC8-411B-841B-396BAC867618}" srcOrd="1" destOrd="1" presId="urn:microsoft.com/office/officeart/2005/8/layout/hList7"/>
    <dgm:cxn modelId="{E03F4A55-FBC8-4060-9EFD-0EEA5FB4872B}" type="presOf" srcId="{2A09FF5A-E7AB-4518-9ACD-A8179F576867}" destId="{A29E77C6-8010-4DD5-8B76-AD0FE8725733}" srcOrd="0" destOrd="1" presId="urn:microsoft.com/office/officeart/2005/8/layout/hList7"/>
    <dgm:cxn modelId="{1D109275-1761-466D-B6C0-54D48B1ECBE5}" type="presOf" srcId="{26B10B57-EF00-4499-9C1A-77F4FDCD2EFA}" destId="{A69CF96E-A7DE-4E45-A45B-70481139A67E}" srcOrd="0" destOrd="4" presId="urn:microsoft.com/office/officeart/2005/8/layout/hList7"/>
    <dgm:cxn modelId="{222CEA59-0580-433F-81BF-C5D41542B95A}" srcId="{85C22A65-D9CD-457E-90FC-54A04E679462}" destId="{091F3A81-AA88-46F7-897E-899031161181}" srcOrd="2" destOrd="0" parTransId="{177AC777-DA7C-4339-8561-E9EFC0693AEA}" sibTransId="{82ADE1C3-D87B-4AED-82E0-A11F5EF6C0F4}"/>
    <dgm:cxn modelId="{CA5A2C7A-7511-4439-951A-8A4C58BF5743}" type="presOf" srcId="{0601114C-2441-4B34-8300-01180383234D}" destId="{A29E77C6-8010-4DD5-8B76-AD0FE8725733}" srcOrd="0" destOrd="2" presId="urn:microsoft.com/office/officeart/2005/8/layout/hList7"/>
    <dgm:cxn modelId="{C305777D-36C0-4B53-A803-BBD5E7DAC410}" srcId="{4C7C8E93-04BB-4BE9-ADAC-BA529B5A7191}" destId="{4E97D756-87F9-4D48-96DD-83189C5243CE}" srcOrd="1" destOrd="0" parTransId="{95C7936C-7A39-46A0-934F-F24E08F91F2E}" sibTransId="{4240CC55-178B-4110-9EE1-C429D7153503}"/>
    <dgm:cxn modelId="{118FA67E-077C-48AF-A8CF-5D728CC8D5A1}" type="presOf" srcId="{1B1EEEA3-F203-4EA8-BB6A-407B5AF1E35B}" destId="{A69CF96E-A7DE-4E45-A45B-70481139A67E}" srcOrd="0" destOrd="7" presId="urn:microsoft.com/office/officeart/2005/8/layout/hList7"/>
    <dgm:cxn modelId="{98FACE80-7E4F-4EB6-A618-B8FD21546C14}" srcId="{85C22A65-D9CD-457E-90FC-54A04E679462}" destId="{86A1E7F0-05F1-4DA1-91C2-3B2860E9419C}" srcOrd="4" destOrd="0" parTransId="{B6087608-5BB5-4C10-910F-BA3474C29930}" sibTransId="{B6AD057F-400E-4E01-816E-6A5C5A1C167B}"/>
    <dgm:cxn modelId="{003CAF84-2606-42BA-AEEC-3B62B105EE20}" srcId="{E0C2B5E6-67C1-4B42-BE9D-8AEFC077FF0F}" destId="{4C7C8E93-04BB-4BE9-ADAC-BA529B5A7191}" srcOrd="1" destOrd="0" parTransId="{B735156E-EEA1-4218-BD58-05CFF3D91A50}" sibTransId="{AC9FA2BA-75C3-4F11-9B4C-8A3E04DF38C7}"/>
    <dgm:cxn modelId="{9E788E86-14A0-463E-8A91-5FDF9C0984C1}" srcId="{85C22A65-D9CD-457E-90FC-54A04E679462}" destId="{0601114C-2441-4B34-8300-01180383234D}" srcOrd="1" destOrd="0" parTransId="{2EA9F76D-3288-48E4-A395-3016A20E3966}" sibTransId="{BC8258DD-91AF-4FC3-973C-22892ECA0D89}"/>
    <dgm:cxn modelId="{54A3F687-6F4D-41A2-800C-30BD6068791B}" type="presOf" srcId="{E0C2B5E6-67C1-4B42-BE9D-8AEFC077FF0F}" destId="{338A4185-B1D2-440E-A0E7-43D1107DF5AE}" srcOrd="0" destOrd="0" presId="urn:microsoft.com/office/officeart/2005/8/layout/hList7"/>
    <dgm:cxn modelId="{35A09F88-7DE7-42F4-AA4D-22BBAB8B51B0}" type="presOf" srcId="{7984284F-0D3E-4030-B2AC-1301B2196843}" destId="{CCF773B1-2AC8-411B-841B-396BAC867618}" srcOrd="1" destOrd="5" presId="urn:microsoft.com/office/officeart/2005/8/layout/hList7"/>
    <dgm:cxn modelId="{7BD5DF88-91DD-4B41-977B-8071BB887133}" type="presOf" srcId="{3940D8BD-A369-4A1C-97B7-4E09C2FE5BD4}" destId="{A69CF96E-A7DE-4E45-A45B-70481139A67E}" srcOrd="0" destOrd="1" presId="urn:microsoft.com/office/officeart/2005/8/layout/hList7"/>
    <dgm:cxn modelId="{F844BF8A-C90E-42C9-A1B6-22286AA725A5}" type="presOf" srcId="{4A264D96-7143-46A8-BA62-57D314A845E5}" destId="{85B8E0F9-3B18-47CA-86DD-29CED24D6EB6}" srcOrd="0" destOrd="4" presId="urn:microsoft.com/office/officeart/2005/8/layout/hList7"/>
    <dgm:cxn modelId="{DA23BE8C-AF41-4C5D-AA9D-596981553C01}" type="presOf" srcId="{D971EE62-B0F4-497D-8463-8773BC526133}" destId="{8DF4F614-448E-4608-8D9D-8067C64B58A0}" srcOrd="1" destOrd="3" presId="urn:microsoft.com/office/officeart/2005/8/layout/hList7"/>
    <dgm:cxn modelId="{D6D1D48D-7580-4839-96AE-A87DD86E1E2D}" srcId="{191F1335-D8FB-4867-8684-1BDEBE6BC990}" destId="{54CA0C58-9D4A-4B66-BA0F-0377F59FF673}" srcOrd="2" destOrd="0" parTransId="{68C9B453-EBE5-40AC-88A9-C69A684CA42F}" sibTransId="{12FE8E7D-44AC-4DD3-A9BD-8652AF6E50E0}"/>
    <dgm:cxn modelId="{3D7D3E8E-DFC0-4163-BF3F-6F154B45B684}" type="presOf" srcId="{A8B5E5C7-E952-497E-B955-369B9D395EF6}" destId="{A69CF96E-A7DE-4E45-A45B-70481139A67E}" srcOrd="0" destOrd="3" presId="urn:microsoft.com/office/officeart/2005/8/layout/hList7"/>
    <dgm:cxn modelId="{09843995-3585-46CB-B556-C00B37C3BF8E}" type="presOf" srcId="{C87925B8-90FD-4D21-B566-A59088B8F295}" destId="{CCF773B1-2AC8-411B-841B-396BAC867618}" srcOrd="1" destOrd="4" presId="urn:microsoft.com/office/officeart/2005/8/layout/hList7"/>
    <dgm:cxn modelId="{0026E896-8CED-4FEC-BDB8-1F86E4FBD79E}" type="presOf" srcId="{575EB003-5FAD-4FE6-93FE-892253193214}" destId="{85B8E0F9-3B18-47CA-86DD-29CED24D6EB6}" srcOrd="0" destOrd="0" presId="urn:microsoft.com/office/officeart/2005/8/layout/hList7"/>
    <dgm:cxn modelId="{8E7A7F9B-8FBE-4BBF-9795-8AAC5FA0D929}" type="presOf" srcId="{54CA0C58-9D4A-4B66-BA0F-0377F59FF673}" destId="{90486CE5-6CC2-47FE-B922-43C155078C74}" srcOrd="0" destOrd="3" presId="urn:microsoft.com/office/officeart/2005/8/layout/hList7"/>
    <dgm:cxn modelId="{6846D69C-4250-4A04-8523-7769AE8DBEEA}" type="presOf" srcId="{D971EE62-B0F4-497D-8463-8773BC526133}" destId="{85B8E0F9-3B18-47CA-86DD-29CED24D6EB6}" srcOrd="0" destOrd="3" presId="urn:microsoft.com/office/officeart/2005/8/layout/hList7"/>
    <dgm:cxn modelId="{5A09099F-0CA8-4398-8724-440DB1008493}" type="presOf" srcId="{26B10B57-EF00-4499-9C1A-77F4FDCD2EFA}" destId="{A125F6D6-E7A7-425D-970B-B3C6C95AF839}" srcOrd="1" destOrd="4" presId="urn:microsoft.com/office/officeart/2005/8/layout/hList7"/>
    <dgm:cxn modelId="{405BFBA0-D780-4E4C-80CD-96B37C80487E}" srcId="{FFF583C4-B91C-42E8-B77E-B98688E6D1F8}" destId="{EF14AE40-F623-4DF4-8A34-E68F4E70A6A1}" srcOrd="1" destOrd="0" parTransId="{723C55C1-E72A-4300-A5F1-DE0E315FFD2A}" sibTransId="{EF8207B2-3AE0-481E-8FDA-86C15C23EFD9}"/>
    <dgm:cxn modelId="{6C1DE4A2-D9CF-48DB-BD6D-0C39B9C0A459}" srcId="{85C22A65-D9CD-457E-90FC-54A04E679462}" destId="{4D51B4B7-7486-45AC-B227-DB701DBD2B97}" srcOrd="3" destOrd="0" parTransId="{9BC4D656-00D8-4F34-B181-5EDAE8CDC2AB}" sibTransId="{28BA716F-A2C6-4273-9286-63CD9A498628}"/>
    <dgm:cxn modelId="{E7AB87A3-D1CC-4AF0-A575-E4E228230ED1}" type="presOf" srcId="{EF14AE40-F623-4DF4-8A34-E68F4E70A6A1}" destId="{CCF773B1-2AC8-411B-841B-396BAC867618}" srcOrd="1" destOrd="2" presId="urn:microsoft.com/office/officeart/2005/8/layout/hList7"/>
    <dgm:cxn modelId="{350C4AA6-A6FF-425B-A79D-FA31BFCCE588}" type="presOf" srcId="{B65E8502-9D68-4733-B260-5A99C97F3224}" destId="{CCF773B1-2AC8-411B-841B-396BAC867618}" srcOrd="1" destOrd="3" presId="urn:microsoft.com/office/officeart/2005/8/layout/hList7"/>
    <dgm:cxn modelId="{76E4E1A7-EEF6-4502-98A4-D049F6E32BDC}" type="presOf" srcId="{CFF8AD4C-4F63-4EC7-956C-C9FAF64A73C9}" destId="{85B8E0F9-3B18-47CA-86DD-29CED24D6EB6}" srcOrd="0" destOrd="1" presId="urn:microsoft.com/office/officeart/2005/8/layout/hList7"/>
    <dgm:cxn modelId="{135B1EAD-64FC-4A1C-AA12-3E860A040E9F}" type="presOf" srcId="{2992FBAE-B68F-4A17-9E9B-E5162CE67164}" destId="{40F9C3FE-E129-40ED-A863-45D384D7FEE4}" srcOrd="0" destOrd="0" presId="urn:microsoft.com/office/officeart/2005/8/layout/hList7"/>
    <dgm:cxn modelId="{D69A0EAE-ACF9-4B46-9044-543932F7DD95}" type="presOf" srcId="{86A1E7F0-05F1-4DA1-91C2-3B2860E9419C}" destId="{A29E77C6-8010-4DD5-8B76-AD0FE8725733}" srcOrd="0" destOrd="5" presId="urn:microsoft.com/office/officeart/2005/8/layout/hList7"/>
    <dgm:cxn modelId="{675772B3-ED5D-4811-A702-8D9921F0B3C1}" type="presOf" srcId="{0174374F-2B02-42B9-A4FA-ACAC1130A414}" destId="{85B8E0F9-3B18-47CA-86DD-29CED24D6EB6}" srcOrd="0" destOrd="2" presId="urn:microsoft.com/office/officeart/2005/8/layout/hList7"/>
    <dgm:cxn modelId="{CDBEB5B5-F14F-43DD-AD0F-6F9B4E4B1171}" type="presOf" srcId="{4C7C8E93-04BB-4BE9-ADAC-BA529B5A7191}" destId="{A125F6D6-E7A7-425D-970B-B3C6C95AF839}" srcOrd="1" destOrd="0" presId="urn:microsoft.com/office/officeart/2005/8/layout/hList7"/>
    <dgm:cxn modelId="{815600B7-8EA2-4247-B727-695E9D7802F9}" type="presOf" srcId="{16BC76CB-2AA9-4339-84A6-04C590BEBC7A}" destId="{19277732-F9C3-4136-BB7C-E6FC5934346C}" srcOrd="1" destOrd="2" presId="urn:microsoft.com/office/officeart/2005/8/layout/hList7"/>
    <dgm:cxn modelId="{B7CBC3B7-B11D-42BF-8B69-C99BC58773FB}" type="presOf" srcId="{E4034C3B-E933-43EF-AB5E-D64733E4392B}" destId="{90486CE5-6CC2-47FE-B922-43C155078C74}" srcOrd="0" destOrd="4" presId="urn:microsoft.com/office/officeart/2005/8/layout/hList7"/>
    <dgm:cxn modelId="{A88D98B9-A2DB-49F3-A02F-2513D70E3844}" type="presOf" srcId="{7984284F-0D3E-4030-B2AC-1301B2196843}" destId="{FC169443-8077-49B7-AF08-6C95B316AA17}" srcOrd="0" destOrd="5" presId="urn:microsoft.com/office/officeart/2005/8/layout/hList7"/>
    <dgm:cxn modelId="{4D3B5CBB-62A7-4522-8B1A-1B2562969224}" type="presOf" srcId="{CFF8AD4C-4F63-4EC7-956C-C9FAF64A73C9}" destId="{8DF4F614-448E-4608-8D9D-8067C64B58A0}" srcOrd="1" destOrd="1" presId="urn:microsoft.com/office/officeart/2005/8/layout/hList7"/>
    <dgm:cxn modelId="{93E155BF-8EAE-4E52-8DD0-A1CB3F1094F2}" srcId="{E0C2B5E6-67C1-4B42-BE9D-8AEFC077FF0F}" destId="{85C22A65-D9CD-457E-90FC-54A04E679462}" srcOrd="0" destOrd="0" parTransId="{B93638A8-D6A4-4C89-BDF8-D93EE89D0A8C}" sibTransId="{2992FBAE-B68F-4A17-9E9B-E5162CE67164}"/>
    <dgm:cxn modelId="{1D3E74C3-D631-451B-BF62-D9AFDA93803C}" type="presOf" srcId="{1B1EEEA3-F203-4EA8-BB6A-407B5AF1E35B}" destId="{A125F6D6-E7A7-425D-970B-B3C6C95AF839}" srcOrd="1" destOrd="7" presId="urn:microsoft.com/office/officeart/2005/8/layout/hList7"/>
    <dgm:cxn modelId="{BA4F8AC4-B1FB-4C97-BD9B-F537A1E9AF2F}" type="presOf" srcId="{FFF583C4-B91C-42E8-B77E-B98688E6D1F8}" destId="{CCF773B1-2AC8-411B-841B-396BAC867618}" srcOrd="1" destOrd="0" presId="urn:microsoft.com/office/officeart/2005/8/layout/hList7"/>
    <dgm:cxn modelId="{8037CFC5-D3A4-4421-96AF-4783E2473917}" type="presOf" srcId="{091F3A81-AA88-46F7-897E-899031161181}" destId="{836B4CA0-E9E9-4867-AE68-864BAEE98E7F}" srcOrd="1" destOrd="3" presId="urn:microsoft.com/office/officeart/2005/8/layout/hList7"/>
    <dgm:cxn modelId="{08F137D2-3C90-4966-B7DA-23F66A4AB3E0}" srcId="{FFF583C4-B91C-42E8-B77E-B98688E6D1F8}" destId="{B65E8502-9D68-4733-B260-5A99C97F3224}" srcOrd="2" destOrd="0" parTransId="{F0720244-A809-479D-904E-2F31B6EFC506}" sibTransId="{B70FC9A8-D952-47CE-9746-DBDFCDFBDA84}"/>
    <dgm:cxn modelId="{5EA89DD4-44E6-40AD-809D-4B3DE6ACDEB4}" type="presOf" srcId="{FFF583C4-B91C-42E8-B77E-B98688E6D1F8}" destId="{FC169443-8077-49B7-AF08-6C95B316AA17}" srcOrd="0" destOrd="0" presId="urn:microsoft.com/office/officeart/2005/8/layout/hList7"/>
    <dgm:cxn modelId="{28F85BD6-F8A6-4537-9D11-BD4ECF3C535B}" type="presOf" srcId="{78F901AB-422E-40CC-ADD8-23AA3A230E67}" destId="{19277732-F9C3-4136-BB7C-E6FC5934346C}" srcOrd="1" destOrd="1" presId="urn:microsoft.com/office/officeart/2005/8/layout/hList7"/>
    <dgm:cxn modelId="{4577A1D6-E60F-43A1-B0AE-AEAFF9326403}" srcId="{E0C2B5E6-67C1-4B42-BE9D-8AEFC077FF0F}" destId="{FFF583C4-B91C-42E8-B77E-B98688E6D1F8}" srcOrd="4" destOrd="0" parTransId="{0A64C802-D9A8-4AF4-A8B1-10C56FE69724}" sibTransId="{9B0AECAC-827D-47C0-AF00-8D1A499D53B7}"/>
    <dgm:cxn modelId="{28B6EBD9-B5DC-479D-9973-B43F68EF5D12}" srcId="{FFF583C4-B91C-42E8-B77E-B98688E6D1F8}" destId="{9A962D88-776E-47FA-BCEB-895F82D1416A}" srcOrd="0" destOrd="0" parTransId="{8C245E98-B4C9-4BB9-8CAB-BB8471E4ECC9}" sibTransId="{EA98089C-407A-4A3D-9C30-D95677CE6934}"/>
    <dgm:cxn modelId="{EFC35DDB-28B6-4866-8FA1-30E3C2E46BA7}" type="presOf" srcId="{C549E027-20EB-452D-AE47-880972ED08C8}" destId="{C3077E06-02F4-488F-98A1-DAC3F6738B6A}" srcOrd="0" destOrd="0" presId="urn:microsoft.com/office/officeart/2005/8/layout/hList7"/>
    <dgm:cxn modelId="{199E13DE-8149-410F-9702-6CD632DFF949}" type="presOf" srcId="{85C22A65-D9CD-457E-90FC-54A04E679462}" destId="{A29E77C6-8010-4DD5-8B76-AD0FE8725733}" srcOrd="0" destOrd="0" presId="urn:microsoft.com/office/officeart/2005/8/layout/hList7"/>
    <dgm:cxn modelId="{B6D94EE3-89F9-4FD4-9FA6-CC6366ADC9B8}" type="presOf" srcId="{2A09FF5A-E7AB-4518-9ACD-A8179F576867}" destId="{836B4CA0-E9E9-4867-AE68-864BAEE98E7F}" srcOrd="1" destOrd="1" presId="urn:microsoft.com/office/officeart/2005/8/layout/hList7"/>
    <dgm:cxn modelId="{F1FAADE6-DCAC-4EB8-AD29-4EDB5CF740BD}" srcId="{191F1335-D8FB-4867-8684-1BDEBE6BC990}" destId="{E4034C3B-E933-43EF-AB5E-D64733E4392B}" srcOrd="3" destOrd="0" parTransId="{A7C245A1-683B-4842-948F-2205832CAC23}" sibTransId="{DB994A61-8DEF-4388-A154-FCFB8F303C9D}"/>
    <dgm:cxn modelId="{C6DA00EA-093B-4ED8-9088-90DDCCD841BC}" srcId="{4C7C8E93-04BB-4BE9-ADAC-BA529B5A7191}" destId="{3940D8BD-A369-4A1C-97B7-4E09C2FE5BD4}" srcOrd="0" destOrd="0" parTransId="{AEA10D38-1148-4011-9207-C773A8F9F80C}" sibTransId="{0003E25F-9417-4433-8C9F-4F8F13B601CA}"/>
    <dgm:cxn modelId="{066CCFF4-9B8A-4AA8-AD7A-DDDFCEBF39BB}" type="presOf" srcId="{575EB003-5FAD-4FE6-93FE-892253193214}" destId="{8DF4F614-448E-4608-8D9D-8067C64B58A0}" srcOrd="1" destOrd="0" presId="urn:microsoft.com/office/officeart/2005/8/layout/hList7"/>
    <dgm:cxn modelId="{11AFA0FA-F25C-4ACD-B6EB-B1FF26803943}" type="presOf" srcId="{671F52A1-7C31-4F4E-BB43-2C3F767B885C}" destId="{4C7A5279-BBF5-4E5D-842F-3AB1EBB81491}" srcOrd="0" destOrd="0" presId="urn:microsoft.com/office/officeart/2005/8/layout/hList7"/>
    <dgm:cxn modelId="{16ACF27C-200E-4826-9F34-4C206262FE21}" type="presParOf" srcId="{338A4185-B1D2-440E-A0E7-43D1107DF5AE}" destId="{D3B8DC0D-5D4C-418A-87CE-3BC034DFC215}" srcOrd="0" destOrd="0" presId="urn:microsoft.com/office/officeart/2005/8/layout/hList7"/>
    <dgm:cxn modelId="{1F99C983-83A4-4EEC-8DFC-6760EC87B0CE}" type="presParOf" srcId="{338A4185-B1D2-440E-A0E7-43D1107DF5AE}" destId="{BC4D1A8D-953F-4FDB-B2A5-700D6EB02C02}" srcOrd="1" destOrd="0" presId="urn:microsoft.com/office/officeart/2005/8/layout/hList7"/>
    <dgm:cxn modelId="{6DABEBFA-5D8E-419D-AEFF-8D0B4B2DCA1F}" type="presParOf" srcId="{BC4D1A8D-953F-4FDB-B2A5-700D6EB02C02}" destId="{AD50AD09-7677-4C2C-A54C-F358234162ED}" srcOrd="0" destOrd="0" presId="urn:microsoft.com/office/officeart/2005/8/layout/hList7"/>
    <dgm:cxn modelId="{41E0D111-BDDB-49C6-A2AA-9EC84204C81F}" type="presParOf" srcId="{AD50AD09-7677-4C2C-A54C-F358234162ED}" destId="{A29E77C6-8010-4DD5-8B76-AD0FE8725733}" srcOrd="0" destOrd="0" presId="urn:microsoft.com/office/officeart/2005/8/layout/hList7"/>
    <dgm:cxn modelId="{FC0E9054-5D7A-4097-A939-0ABCC24A1B3C}" type="presParOf" srcId="{AD50AD09-7677-4C2C-A54C-F358234162ED}" destId="{836B4CA0-E9E9-4867-AE68-864BAEE98E7F}" srcOrd="1" destOrd="0" presId="urn:microsoft.com/office/officeart/2005/8/layout/hList7"/>
    <dgm:cxn modelId="{8C977910-5651-4656-9005-CCEAD4219E8A}" type="presParOf" srcId="{AD50AD09-7677-4C2C-A54C-F358234162ED}" destId="{A8D79233-BA4F-42C8-B7C4-18DAF6293BCC}" srcOrd="2" destOrd="0" presId="urn:microsoft.com/office/officeart/2005/8/layout/hList7"/>
    <dgm:cxn modelId="{7876F796-932D-4FEB-9B49-6C51B66FEAE8}" type="presParOf" srcId="{AD50AD09-7677-4C2C-A54C-F358234162ED}" destId="{85DC69AD-B0A9-4C91-BD33-E8E2E662B5BD}" srcOrd="3" destOrd="0" presId="urn:microsoft.com/office/officeart/2005/8/layout/hList7"/>
    <dgm:cxn modelId="{1CD62BDD-0EBF-4E3F-A584-24A79E60FDD6}" type="presParOf" srcId="{BC4D1A8D-953F-4FDB-B2A5-700D6EB02C02}" destId="{40F9C3FE-E129-40ED-A863-45D384D7FEE4}" srcOrd="1" destOrd="0" presId="urn:microsoft.com/office/officeart/2005/8/layout/hList7"/>
    <dgm:cxn modelId="{E19E7BDF-CBE4-4488-92ED-0B695C5FAC6E}" type="presParOf" srcId="{BC4D1A8D-953F-4FDB-B2A5-700D6EB02C02}" destId="{D4334134-F07B-4CB6-9342-D8DAB7ABF2A9}" srcOrd="2" destOrd="0" presId="urn:microsoft.com/office/officeart/2005/8/layout/hList7"/>
    <dgm:cxn modelId="{872289C3-74F7-49F1-9792-62A0144F5906}" type="presParOf" srcId="{D4334134-F07B-4CB6-9342-D8DAB7ABF2A9}" destId="{A69CF96E-A7DE-4E45-A45B-70481139A67E}" srcOrd="0" destOrd="0" presId="urn:microsoft.com/office/officeart/2005/8/layout/hList7"/>
    <dgm:cxn modelId="{915115E8-01FF-409D-BD08-7FD47254CD08}" type="presParOf" srcId="{D4334134-F07B-4CB6-9342-D8DAB7ABF2A9}" destId="{A125F6D6-E7A7-425D-970B-B3C6C95AF839}" srcOrd="1" destOrd="0" presId="urn:microsoft.com/office/officeart/2005/8/layout/hList7"/>
    <dgm:cxn modelId="{9F935E8D-23D6-4609-8CE1-C4D0898809CC}" type="presParOf" srcId="{D4334134-F07B-4CB6-9342-D8DAB7ABF2A9}" destId="{D299114F-D217-4705-8781-7BC6B5302E6A}" srcOrd="2" destOrd="0" presId="urn:microsoft.com/office/officeart/2005/8/layout/hList7"/>
    <dgm:cxn modelId="{784DA1F4-E66D-41C7-ABCC-C2578F67FA1A}" type="presParOf" srcId="{D4334134-F07B-4CB6-9342-D8DAB7ABF2A9}" destId="{EBA0200A-C908-413E-9B79-0C1C9E070E96}" srcOrd="3" destOrd="0" presId="urn:microsoft.com/office/officeart/2005/8/layout/hList7"/>
    <dgm:cxn modelId="{190EBE19-1E3C-498C-A6BB-D3D3963E1582}" type="presParOf" srcId="{BC4D1A8D-953F-4FDB-B2A5-700D6EB02C02}" destId="{89BAC2C2-D20D-44C6-9B38-1ED66A63759A}" srcOrd="3" destOrd="0" presId="urn:microsoft.com/office/officeart/2005/8/layout/hList7"/>
    <dgm:cxn modelId="{CE79C54E-433E-4566-ADB7-CCBD8357042D}" type="presParOf" srcId="{BC4D1A8D-953F-4FDB-B2A5-700D6EB02C02}" destId="{1A4F1D30-2ED8-4CB8-AF0E-B6F0249BF228}" srcOrd="4" destOrd="0" presId="urn:microsoft.com/office/officeart/2005/8/layout/hList7"/>
    <dgm:cxn modelId="{BCD66E2C-46F6-439A-A74E-EB73A4B50DBB}" type="presParOf" srcId="{1A4F1D30-2ED8-4CB8-AF0E-B6F0249BF228}" destId="{85B8E0F9-3B18-47CA-86DD-29CED24D6EB6}" srcOrd="0" destOrd="0" presId="urn:microsoft.com/office/officeart/2005/8/layout/hList7"/>
    <dgm:cxn modelId="{05DAFA11-B8E3-404E-8EC7-34A060BE64E1}" type="presParOf" srcId="{1A4F1D30-2ED8-4CB8-AF0E-B6F0249BF228}" destId="{8DF4F614-448E-4608-8D9D-8067C64B58A0}" srcOrd="1" destOrd="0" presId="urn:microsoft.com/office/officeart/2005/8/layout/hList7"/>
    <dgm:cxn modelId="{602F0410-9BD5-4D3D-A273-81AD8139DE08}" type="presParOf" srcId="{1A4F1D30-2ED8-4CB8-AF0E-B6F0249BF228}" destId="{FA72CFFB-4EAB-413E-854F-A72773CA5B0B}" srcOrd="2" destOrd="0" presId="urn:microsoft.com/office/officeart/2005/8/layout/hList7"/>
    <dgm:cxn modelId="{B832DA41-5ED4-4C13-95C5-ADCB912B5FEC}" type="presParOf" srcId="{1A4F1D30-2ED8-4CB8-AF0E-B6F0249BF228}" destId="{ACD2ACED-847C-4E84-96CC-E7B48F931109}" srcOrd="3" destOrd="0" presId="urn:microsoft.com/office/officeart/2005/8/layout/hList7"/>
    <dgm:cxn modelId="{CD6D0990-1E0F-4C51-9322-C8DD85BB1BF1}" type="presParOf" srcId="{BC4D1A8D-953F-4FDB-B2A5-700D6EB02C02}" destId="{4C7A5279-BBF5-4E5D-842F-3AB1EBB81491}" srcOrd="5" destOrd="0" presId="urn:microsoft.com/office/officeart/2005/8/layout/hList7"/>
    <dgm:cxn modelId="{5C0EE88E-B8A1-483C-8AD2-B6CDFDAD3503}" type="presParOf" srcId="{BC4D1A8D-953F-4FDB-B2A5-700D6EB02C02}" destId="{CFFBC479-C8F7-446A-A2CC-EB979EFCC644}" srcOrd="6" destOrd="0" presId="urn:microsoft.com/office/officeart/2005/8/layout/hList7"/>
    <dgm:cxn modelId="{78B07130-7C78-4905-9C25-E94FC2A55392}" type="presParOf" srcId="{CFFBC479-C8F7-446A-A2CC-EB979EFCC644}" destId="{90486CE5-6CC2-47FE-B922-43C155078C74}" srcOrd="0" destOrd="0" presId="urn:microsoft.com/office/officeart/2005/8/layout/hList7"/>
    <dgm:cxn modelId="{5C2392FB-91BA-413E-9DA1-6BB52BA69B2C}" type="presParOf" srcId="{CFFBC479-C8F7-446A-A2CC-EB979EFCC644}" destId="{19277732-F9C3-4136-BB7C-E6FC5934346C}" srcOrd="1" destOrd="0" presId="urn:microsoft.com/office/officeart/2005/8/layout/hList7"/>
    <dgm:cxn modelId="{4FCF1A06-FBDC-4AB5-9F67-2B02E9E9610F}" type="presParOf" srcId="{CFFBC479-C8F7-446A-A2CC-EB979EFCC644}" destId="{E35C7F57-9EE6-4D3F-9485-79003FF54966}" srcOrd="2" destOrd="0" presId="urn:microsoft.com/office/officeart/2005/8/layout/hList7"/>
    <dgm:cxn modelId="{4831D61A-DE20-4D29-B489-24D5FF7DB84B}" type="presParOf" srcId="{CFFBC479-C8F7-446A-A2CC-EB979EFCC644}" destId="{5F1D95E6-39A4-4E61-8A07-C7D0B10011B2}" srcOrd="3" destOrd="0" presId="urn:microsoft.com/office/officeart/2005/8/layout/hList7"/>
    <dgm:cxn modelId="{8AD2A73F-3E4A-4FE4-B83D-A8F9292599D5}" type="presParOf" srcId="{BC4D1A8D-953F-4FDB-B2A5-700D6EB02C02}" destId="{C3077E06-02F4-488F-98A1-DAC3F6738B6A}" srcOrd="7" destOrd="0" presId="urn:microsoft.com/office/officeart/2005/8/layout/hList7"/>
    <dgm:cxn modelId="{C5A467F7-00CC-4DFD-AF8F-CEB173F21F6F}" type="presParOf" srcId="{BC4D1A8D-953F-4FDB-B2A5-700D6EB02C02}" destId="{DF52BE8C-EB65-40F2-9DF8-384B9D28552C}" srcOrd="8" destOrd="0" presId="urn:microsoft.com/office/officeart/2005/8/layout/hList7"/>
    <dgm:cxn modelId="{EC3CD226-4B08-4116-A612-E5CFFA255573}" type="presParOf" srcId="{DF52BE8C-EB65-40F2-9DF8-384B9D28552C}" destId="{FC169443-8077-49B7-AF08-6C95B316AA17}" srcOrd="0" destOrd="0" presId="urn:microsoft.com/office/officeart/2005/8/layout/hList7"/>
    <dgm:cxn modelId="{CF9E6D8D-3784-425A-9099-FB542168528D}" type="presParOf" srcId="{DF52BE8C-EB65-40F2-9DF8-384B9D28552C}" destId="{CCF773B1-2AC8-411B-841B-396BAC867618}" srcOrd="1" destOrd="0" presId="urn:microsoft.com/office/officeart/2005/8/layout/hList7"/>
    <dgm:cxn modelId="{0BC46550-0404-4B4E-81E5-37178396CF7A}" type="presParOf" srcId="{DF52BE8C-EB65-40F2-9DF8-384B9D28552C}" destId="{2FF7A7BE-4AAF-4F63-AA20-614540455939}" srcOrd="2" destOrd="0" presId="urn:microsoft.com/office/officeart/2005/8/layout/hList7"/>
    <dgm:cxn modelId="{DD9D1F17-3412-48B6-8446-3EAD3954176B}" type="presParOf" srcId="{DF52BE8C-EB65-40F2-9DF8-384B9D28552C}" destId="{CF9AAE62-BB45-4C1C-A17F-9B73D125ECB5}" srcOrd="3" destOrd="0" presId="urn:microsoft.com/office/officeart/2005/8/layout/hList7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9E77C6-8010-4DD5-8B76-AD0FE8725733}">
      <dsp:nvSpPr>
        <dsp:cNvPr id="0" name=""/>
        <dsp:cNvSpPr/>
      </dsp:nvSpPr>
      <dsp:spPr>
        <a:xfrm>
          <a:off x="0" y="0"/>
          <a:ext cx="2129234" cy="5132985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0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Legal reforms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Constitutional law and civil rights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Family law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Property law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Labor law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Tax law</a:t>
          </a:r>
        </a:p>
      </dsp:txBody>
      <dsp:txXfrm>
        <a:off x="0" y="2053194"/>
        <a:ext cx="2129234" cy="2053194"/>
      </dsp:txXfrm>
    </dsp:sp>
    <dsp:sp modelId="{85DC69AD-B0A9-4C91-BD33-E8E2E662B5BD}">
      <dsp:nvSpPr>
        <dsp:cNvPr id="0" name=""/>
        <dsp:cNvSpPr/>
      </dsp:nvSpPr>
      <dsp:spPr>
        <a:xfrm>
          <a:off x="209975" y="307979"/>
          <a:ext cx="1709284" cy="1709284"/>
        </a:xfrm>
        <a:prstGeom prst="ellipse">
          <a:avLst/>
        </a:prstGeom>
        <a:blipFill>
          <a:blip xmlns:r="http://schemas.openxmlformats.org/officeDocument/2006/relationships">
            <a:alphaModFix/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9CF96E-A7DE-4E45-A45B-70481139A67E}">
      <dsp:nvSpPr>
        <dsp:cNvPr id="0" name=""/>
        <dsp:cNvSpPr/>
      </dsp:nvSpPr>
      <dsp:spPr>
        <a:xfrm>
          <a:off x="2193111" y="0"/>
          <a:ext cx="2129234" cy="5132985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0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Fiscal policies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600" b="1" kern="12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rPr>
            <a:t>Gender-responsive budgeting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Spending on education, health, infrastructure and well-targeted social assistance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Direct/indirect taxation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Public sector wage policies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endParaRPr lang="en-US" sz="1400" kern="12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endParaRPr lang="en-US" sz="1400" kern="12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193111" y="2053194"/>
        <a:ext cx="2129234" cy="2053194"/>
      </dsp:txXfrm>
    </dsp:sp>
    <dsp:sp modelId="{EBA0200A-C908-413E-9B79-0C1C9E070E96}">
      <dsp:nvSpPr>
        <dsp:cNvPr id="0" name=""/>
        <dsp:cNvSpPr/>
      </dsp:nvSpPr>
      <dsp:spPr>
        <a:xfrm>
          <a:off x="2403086" y="307979"/>
          <a:ext cx="1709284" cy="1709284"/>
        </a:xfrm>
        <a:prstGeom prst="ellipse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8E0F9-3B18-47CA-86DD-29CED24D6EB6}">
      <dsp:nvSpPr>
        <dsp:cNvPr id="0" name=""/>
        <dsp:cNvSpPr/>
      </dsp:nvSpPr>
      <dsp:spPr>
        <a:xfrm>
          <a:off x="4386222" y="0"/>
          <a:ext cx="2129234" cy="5132985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0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Financial sector policies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Proportionate and risk-based supervision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Supervisory guidance for FIs to reduce biases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Investing in digital and financial literacy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Equal access to digital infrastructure (mobile phones, high-speed internet, digital ID)</a:t>
          </a:r>
        </a:p>
      </dsp:txBody>
      <dsp:txXfrm>
        <a:off x="4386222" y="2053194"/>
        <a:ext cx="2129234" cy="2053194"/>
      </dsp:txXfrm>
    </dsp:sp>
    <dsp:sp modelId="{ACD2ACED-847C-4E84-96CC-E7B48F931109}">
      <dsp:nvSpPr>
        <dsp:cNvPr id="0" name=""/>
        <dsp:cNvSpPr/>
      </dsp:nvSpPr>
      <dsp:spPr>
        <a:xfrm>
          <a:off x="8992373" y="259093"/>
          <a:ext cx="1709284" cy="1709284"/>
        </a:xfrm>
        <a:prstGeom prst="ellipse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5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486CE5-6CC2-47FE-B922-43C155078C74}">
      <dsp:nvSpPr>
        <dsp:cNvPr id="0" name=""/>
        <dsp:cNvSpPr/>
      </dsp:nvSpPr>
      <dsp:spPr>
        <a:xfrm>
          <a:off x="6579334" y="0"/>
          <a:ext cx="2129234" cy="5132985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0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Labor market policies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Removing biases in recruitment, promotion and retention policies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Parental leave and child/elderly care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Training and skills enhancement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Eliminate sexual harassment in the workplace</a:t>
          </a:r>
        </a:p>
      </dsp:txBody>
      <dsp:txXfrm>
        <a:off x="6579334" y="2053194"/>
        <a:ext cx="2129234" cy="2053194"/>
      </dsp:txXfrm>
    </dsp:sp>
    <dsp:sp modelId="{5F1D95E6-39A4-4E61-8A07-C7D0B10011B2}">
      <dsp:nvSpPr>
        <dsp:cNvPr id="0" name=""/>
        <dsp:cNvSpPr/>
      </dsp:nvSpPr>
      <dsp:spPr>
        <a:xfrm>
          <a:off x="6789309" y="307979"/>
          <a:ext cx="1709284" cy="1709284"/>
        </a:xfrm>
        <a:prstGeom prst="ellipse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4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169443-8077-49B7-AF08-6C95B316AA17}">
      <dsp:nvSpPr>
        <dsp:cNvPr id="0" name=""/>
        <dsp:cNvSpPr/>
      </dsp:nvSpPr>
      <dsp:spPr>
        <a:xfrm>
          <a:off x="8772445" y="0"/>
          <a:ext cx="2129234" cy="5132985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0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Policies matter despite social norms: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Taxation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Family allowances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Childcare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Parental leave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Education</a:t>
          </a:r>
        </a:p>
      </dsp:txBody>
      <dsp:txXfrm>
        <a:off x="8772445" y="2053194"/>
        <a:ext cx="2129234" cy="2053194"/>
      </dsp:txXfrm>
    </dsp:sp>
    <dsp:sp modelId="{CF9AAE62-BB45-4C1C-A17F-9B73D125ECB5}">
      <dsp:nvSpPr>
        <dsp:cNvPr id="0" name=""/>
        <dsp:cNvSpPr/>
      </dsp:nvSpPr>
      <dsp:spPr>
        <a:xfrm>
          <a:off x="4493841" y="256529"/>
          <a:ext cx="1709284" cy="1709284"/>
        </a:xfrm>
        <a:prstGeom prst="ellipse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3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8DC0D-5D4C-418A-87CE-3BC034DFC215}">
      <dsp:nvSpPr>
        <dsp:cNvPr id="0" name=""/>
        <dsp:cNvSpPr/>
      </dsp:nvSpPr>
      <dsp:spPr>
        <a:xfrm>
          <a:off x="372680" y="4809989"/>
          <a:ext cx="10029545" cy="158763"/>
        </a:xfrm>
        <a:prstGeom prst="leftRightArrow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0.00252</cdr:x>
      <cdr:y>0.01504</cdr:y>
    </cdr:from>
    <cdr:to>
      <cdr:x>0.87956</cdr:x>
      <cdr:y>0.23352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B845DB85-4333-6F0A-2460-A6A3A595140C}"/>
            </a:ext>
          </a:extLst>
        </cdr:cNvPr>
        <cdr:cNvSpPr txBox="1"/>
      </cdr:nvSpPr>
      <cdr:spPr>
        <a:xfrm xmlns:a="http://schemas.openxmlformats.org/drawingml/2006/main">
          <a:off x="12319" y="62946"/>
          <a:ext cx="429364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l" rtl="0">
            <a:defRPr sz="1400" b="0" i="0" u="none" strike="noStrike" kern="1200" spc="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r>
            <a:rPr lang="en-US" b="1" dirty="0"/>
            <a:t>GDP gains from Reforms </a:t>
          </a:r>
        </a:p>
        <a:p xmlns:a="http://schemas.openxmlformats.org/drawingml/2006/main">
          <a:pPr algn="l" rtl="0">
            <a:defRPr sz="1400" b="0" i="0" u="none" strike="noStrike" kern="1200" spc="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r>
            <a:rPr lang="en-US" i="1" dirty="0"/>
            <a:t>Model results, based on actual reforms</a:t>
          </a:r>
        </a:p>
        <a:p xmlns:a="http://schemas.openxmlformats.org/drawingml/2006/main">
          <a:pPr algn="l" rtl="0">
            <a:defRPr sz="1400" b="0" i="0" u="none" strike="noStrike" kern="1200" spc="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r>
            <a:rPr lang="en-US" sz="1050" dirty="0"/>
            <a:t>(% of GDP)</a:t>
          </a:r>
          <a:endParaRPr lang="en-US" dirty="0"/>
        </a:p>
        <a:p xmlns:a="http://schemas.openxmlformats.org/drawingml/2006/main">
          <a:endParaRPr lang="en-US" sz="1100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0.01477</cdr:x>
      <cdr:y>0</cdr:y>
    </cdr:from>
    <cdr:to>
      <cdr:x>1</cdr:x>
      <cdr:y>0.22703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EB282F7F-300D-82D2-585C-0A48EAD0CE2F}"/>
            </a:ext>
          </a:extLst>
        </cdr:cNvPr>
        <cdr:cNvSpPr txBox="1"/>
      </cdr:nvSpPr>
      <cdr:spPr>
        <a:xfrm xmlns:a="http://schemas.openxmlformats.org/drawingml/2006/main">
          <a:off x="65772" y="0"/>
          <a:ext cx="4387694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l" rtl="0">
            <a:defRPr sz="1400" b="0" i="0" u="none" strike="noStrike" kern="1200" spc="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r>
            <a:rPr lang="en-US" b="1" dirty="0"/>
            <a:t>GDP gains from fully Closing Gender Gaps </a:t>
          </a:r>
        </a:p>
        <a:p xmlns:a="http://schemas.openxmlformats.org/drawingml/2006/main">
          <a:pPr algn="l" rtl="0">
            <a:defRPr sz="1400" b="0" i="0" u="none" strike="noStrike" kern="1200" spc="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r>
            <a:rPr lang="en-US" b="1" dirty="0"/>
            <a:t>in Labor Force Participation </a:t>
          </a:r>
        </a:p>
        <a:p xmlns:a="http://schemas.openxmlformats.org/drawingml/2006/main">
          <a:pPr algn="l" rtl="0">
            <a:defRPr sz="1400" b="0" i="0" u="none" strike="noStrike" kern="1200" spc="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r>
            <a:rPr lang="en-US" i="1" dirty="0"/>
            <a:t>Model-based, a longer-term scenario</a:t>
          </a:r>
        </a:p>
        <a:p xmlns:a="http://schemas.openxmlformats.org/drawingml/2006/main">
          <a:pPr algn="l" rtl="0">
            <a:defRPr sz="1400" b="0" i="0" u="none" strike="noStrike" kern="1200" spc="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r>
            <a:rPr lang="en-US" sz="1050" dirty="0"/>
            <a:t>(% of GDP)</a:t>
          </a:r>
          <a:endParaRPr lang="en-US" dirty="0"/>
        </a:p>
        <a:p xmlns:a="http://schemas.openxmlformats.org/drawingml/2006/main">
          <a:endParaRPr lang="en-US" sz="1100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2" y="12"/>
            <a:ext cx="3043447" cy="464977"/>
          </a:xfrm>
          <a:prstGeom prst="rect">
            <a:avLst/>
          </a:prstGeom>
        </p:spPr>
        <p:txBody>
          <a:bodyPr vert="horz" lIns="91239" tIns="45618" rIns="91239" bIns="4561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2" y="8842547"/>
            <a:ext cx="3043447" cy="464977"/>
          </a:xfrm>
          <a:prstGeom prst="rect">
            <a:avLst/>
          </a:prstGeom>
        </p:spPr>
        <p:txBody>
          <a:bodyPr vert="horz" lIns="91239" tIns="45618" rIns="91239" bIns="4561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075" y="8842547"/>
            <a:ext cx="3043447" cy="464977"/>
          </a:xfrm>
          <a:prstGeom prst="rect">
            <a:avLst/>
          </a:prstGeom>
        </p:spPr>
        <p:txBody>
          <a:bodyPr vert="horz" lIns="91239" tIns="45618" rIns="91239" bIns="45618" rtlCol="0" anchor="b"/>
          <a:lstStyle>
            <a:lvl1pPr algn="r">
              <a:defRPr sz="1200"/>
            </a:lvl1pPr>
          </a:lstStyle>
          <a:p>
            <a:fld id="{70787CFD-D5C7-455D-B121-683BFE13FB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8984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6"/>
            <a:ext cx="3043343" cy="465455"/>
          </a:xfrm>
          <a:prstGeom prst="rect">
            <a:avLst/>
          </a:prstGeom>
        </p:spPr>
        <p:txBody>
          <a:bodyPr vert="horz" lIns="93134" tIns="46567" rIns="93134" bIns="4656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9" y="6"/>
            <a:ext cx="3043343" cy="465455"/>
          </a:xfrm>
          <a:prstGeom prst="rect">
            <a:avLst/>
          </a:prstGeom>
        </p:spPr>
        <p:txBody>
          <a:bodyPr vert="horz" lIns="93134" tIns="46567" rIns="93134" bIns="46567" rtlCol="0"/>
          <a:lstStyle>
            <a:lvl1pPr algn="r">
              <a:defRPr sz="1200"/>
            </a:lvl1pPr>
          </a:lstStyle>
          <a:p>
            <a:fld id="{F2FB1009-8102-467C-88A3-A8200E3708E5}" type="datetime1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39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4" tIns="46567" rIns="93134" bIns="4656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3" y="4421825"/>
            <a:ext cx="5618480" cy="4189095"/>
          </a:xfrm>
          <a:prstGeom prst="rect">
            <a:avLst/>
          </a:prstGeom>
        </p:spPr>
        <p:txBody>
          <a:bodyPr vert="horz" lIns="93134" tIns="46567" rIns="93134" bIns="4656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42036"/>
            <a:ext cx="3043343" cy="465455"/>
          </a:xfrm>
          <a:prstGeom prst="rect">
            <a:avLst/>
          </a:prstGeom>
        </p:spPr>
        <p:txBody>
          <a:bodyPr vert="horz" lIns="93134" tIns="46567" rIns="93134" bIns="4656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9" y="8842036"/>
            <a:ext cx="3043343" cy="465455"/>
          </a:xfrm>
          <a:prstGeom prst="rect">
            <a:avLst/>
          </a:prstGeom>
        </p:spPr>
        <p:txBody>
          <a:bodyPr vert="horz" lIns="93134" tIns="46567" rIns="93134" bIns="46567" rtlCol="0" anchor="b"/>
          <a:lstStyle>
            <a:lvl1pPr algn="r">
              <a:defRPr sz="1200"/>
            </a:lvl1pPr>
          </a:lstStyle>
          <a:p>
            <a:fld id="{BA49F774-CCF9-492C-9AEB-F2814D4A66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1023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7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4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2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28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5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2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0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57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1B9B78-73FE-4DA1-81AD-EEA68D15F9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128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E4E862-E263-8B4A-AFB5-DFAAA754BCA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9F774-CCF9-492C-9AEB-F2814D4A66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4808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2FB1009-8102-467C-88A3-A8200E3708E5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31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GDP production​ = ∑(Output−Intermediate Consumption)+Taxes on products−Subsidies on products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2FB1009-8102-467C-88A3-A8200E3708E5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19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2FB1009-8102-467C-88A3-A8200E3708E5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57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06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2FB1009-8102-467C-88A3-A8200E3708E5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28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50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2FB1009-8102-467C-88A3-A8200E3708E5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84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CMBX10"/>
              </a:rPr>
              <a:t>Goldin, Claudia. </a:t>
            </a:r>
            <a:r>
              <a:rPr lang="en-US" sz="1800" b="0" i="0" u="none" strike="noStrike" baseline="0" dirty="0">
                <a:latin typeface="CMR10"/>
              </a:rPr>
              <a:t>2014. “A Grand Gender Convergence: Its Last Chapter.“ </a:t>
            </a:r>
            <a:r>
              <a:rPr lang="en-US" sz="1800" b="0" i="0" u="none" strike="noStrike" baseline="0" dirty="0">
                <a:latin typeface="CMTI10"/>
              </a:rPr>
              <a:t>American Economic Review</a:t>
            </a:r>
            <a:r>
              <a:rPr lang="en-US" sz="1800" b="0" i="0" u="none" strike="noStrike" baseline="0" dirty="0">
                <a:latin typeface="CMR10"/>
              </a:rPr>
              <a:t>, 104(4): 1091{1119.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2FB1009-8102-467C-88A3-A8200E3708E5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12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evaluates </a:t>
            </a:r>
            <a:r>
              <a:rPr lang="en-US" b="1" dirty="0"/>
              <a:t>how restrictions on female employment and entrepreneurship reduce aggregate productivity and income per capita</a:t>
            </a:r>
            <a:r>
              <a:rPr lang="en-US" dirty="0"/>
              <a:t>.</a:t>
            </a:r>
          </a:p>
          <a:p>
            <a:r>
              <a:rPr lang="en-US" dirty="0"/>
              <a:t>The analysis is </a:t>
            </a:r>
            <a:r>
              <a:rPr lang="en-US" b="1" dirty="0"/>
              <a:t>global</a:t>
            </a:r>
            <a:r>
              <a:rPr lang="en-US" dirty="0"/>
              <a:t>, covering </a:t>
            </a:r>
            <a:r>
              <a:rPr lang="en-US" b="1" dirty="0"/>
              <a:t>126 countries</a:t>
            </a:r>
            <a:r>
              <a:rPr lang="en-US" dirty="0"/>
              <a:t>, including both developed and developing economies.</a:t>
            </a:r>
          </a:p>
          <a:p>
            <a:r>
              <a:rPr lang="en-US" dirty="0"/>
              <a:t>Data is sourced from the </a:t>
            </a:r>
            <a:r>
              <a:rPr lang="en-US" b="1" dirty="0"/>
              <a:t>International </a:t>
            </a:r>
            <a:r>
              <a:rPr lang="en-US" b="1" dirty="0" err="1"/>
              <a:t>Labour</a:t>
            </a:r>
            <a:r>
              <a:rPr lang="en-US" b="1" dirty="0"/>
              <a:t> Organization (ILO)</a:t>
            </a:r>
            <a:r>
              <a:rPr lang="en-US" dirty="0"/>
              <a:t> and simulations are conducted </a:t>
            </a:r>
            <a:r>
              <a:rPr lang="en-US" b="1" dirty="0"/>
              <a:t>country by country</a:t>
            </a:r>
            <a:r>
              <a:rPr lang="en-US" dirty="0"/>
              <a:t>, with results presented by </a:t>
            </a:r>
            <a:r>
              <a:rPr lang="en-US" b="1" dirty="0"/>
              <a:t>region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04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 rtl="0" fontAlgn="base"/>
            <a:r>
              <a:rPr lang="en-US" sz="800" dirty="0">
                <a:solidFill>
                  <a:srgbClr val="000000"/>
                </a:solidFill>
                <a:latin typeface="+mn-lt"/>
              </a:rPr>
              <a:t>This slide presents the gains from structural reforms and from closing gender gaps in labor force participation, based on feasible scenarios in both areas.  </a:t>
            </a:r>
            <a:endParaRPr lang="en-US" sz="800" b="0" i="0" dirty="0">
              <a:solidFill>
                <a:srgbClr val="000000"/>
              </a:solidFill>
              <a:effectLst/>
              <a:latin typeface="+mn-lt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000000"/>
                </a:solidFill>
                <a:latin typeface="+mn-lt"/>
              </a:rPr>
              <a:t>The first four columns in the left chart show the sizable model-based gains from major structural reforms, based on actual reforms, as published in the </a:t>
            </a:r>
            <a:r>
              <a:rPr lang="en-US" sz="800" b="1" dirty="0">
                <a:solidFill>
                  <a:srgbClr val="000000"/>
                </a:solidFill>
                <a:latin typeface="+mn-lt"/>
              </a:rPr>
              <a:t>2019 October World Economic Outlook</a:t>
            </a:r>
            <a:r>
              <a:rPr lang="en-US" sz="800" dirty="0">
                <a:solidFill>
                  <a:srgbClr val="000000"/>
                </a:solidFill>
                <a:latin typeface="+mn-lt"/>
              </a:rPr>
              <a:t>.  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000000"/>
                </a:solidFill>
                <a:latin typeface="+mn-lt"/>
              </a:rPr>
              <a:t>The last column in the left chart presents the model-based gains from reducing gender gaps using the methodology presented in a 2018 Staff Discussion Note. The results suggest that reducing gender </a:t>
            </a:r>
            <a:r>
              <a:rPr lang="en-US" sz="800" b="1" dirty="0">
                <a:solidFill>
                  <a:srgbClr val="000000"/>
                </a:solidFill>
                <a:latin typeface="+mn-lt"/>
              </a:rPr>
              <a:t>gaps in line with the average decrease seen in the 5 percent of countries that saw the largest gender gap reductions between 2014 and 2019</a:t>
            </a:r>
            <a:r>
              <a:rPr lang="en-US" sz="800" dirty="0">
                <a:solidFill>
                  <a:srgbClr val="000000"/>
                </a:solidFill>
                <a:latin typeface="+mn-lt"/>
              </a:rPr>
              <a:t>—that is mirroring a reasonable medium-term change—could yield an average GDP gain of 7.7 percent (</a:t>
            </a:r>
            <a:r>
              <a:rPr lang="en-US" sz="800" dirty="0" err="1">
                <a:solidFill>
                  <a:srgbClr val="000000"/>
                </a:solidFill>
                <a:latin typeface="+mn-lt"/>
              </a:rPr>
              <a:t>albania</a:t>
            </a:r>
            <a:r>
              <a:rPr lang="en-US" sz="800" dirty="0">
                <a:solidFill>
                  <a:srgbClr val="000000"/>
                </a:solidFill>
                <a:latin typeface="+mn-lt"/>
              </a:rPr>
              <a:t> 9%, UAE 8.7%, Malta 8%&lt; 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000000"/>
                </a:solidFill>
                <a:latin typeface="+mn-lt"/>
              </a:rPr>
              <a:t>The chart on the right illustrates the potential GDP gains from closing gender gaps in labor force participation in 128 emerging and developing economies, a longer-term scenario. The GDP gains from such a decrease could reach 23 percent on average. For it to be realized, frictions such as financial barriers and informality would need to be addressed, requiring both broad macro-structural reforms and reforms to specifically tackle the frictions that hinder the closing of the gender gaps. </a:t>
            </a:r>
          </a:p>
          <a:p>
            <a:pPr algn="l" rtl="0" fontAlgn="base"/>
            <a:r>
              <a:rPr lang="en-US" sz="800" dirty="0">
                <a:solidFill>
                  <a:srgbClr val="000000"/>
                </a:solidFill>
                <a:latin typeface="+mn-lt"/>
              </a:rPr>
              <a:t>Structural reforms are therefore critically important and necessary for growth and improved gender outcomes. At the same time, structural reforms designed without a gender lens are unlikely to be sufficient to reduce gender gaps, and a gender lens can amplify the positive impact of structural reforms on growth. This calls for a systematic and intentional approach to integrating gender into reform design.  </a:t>
            </a:r>
            <a:endParaRPr lang="en-US" sz="800" b="0" i="0" dirty="0">
              <a:solidFill>
                <a:srgbClr val="000000"/>
              </a:solidFill>
              <a:effectLst/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91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dependent variable is bank’s distance-to-distress, also known as the z-score (Zit). Distance-to-distress is defined as the buffers that banks have (capital to assets plus return on assets), scaled by their volatility of returns (standard deviation of return on assets). Higher distance-</a:t>
            </a:r>
            <a:r>
              <a:rPr lang="en-US" dirty="0" err="1"/>
              <a:t>todistress</a:t>
            </a:r>
            <a:r>
              <a:rPr lang="en-US" dirty="0"/>
              <a:t> means that banks’ buffers are higher relative to volatility of their earnings.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2FB1009-8102-467C-88A3-A8200E3708E5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51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2FB1009-8102-467C-88A3-A8200E3708E5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511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2FB1009-8102-467C-88A3-A8200E3708E5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20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30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0119"/>
          <a:stretch/>
        </p:blipFill>
        <p:spPr>
          <a:xfrm>
            <a:off x="5623560" y="749808"/>
            <a:ext cx="1095647" cy="114315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46B1B04-9B4F-40A9-ADCB-3504786A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799" userDrawn="1">
          <p15:clr>
            <a:srgbClr val="FBAE40"/>
          </p15:clr>
        </p15:guide>
        <p15:guide id="3" pos="3600" userDrawn="1">
          <p15:clr>
            <a:srgbClr val="FBAE40"/>
          </p15:clr>
        </p15:guide>
        <p15:guide id="4" pos="30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pt. 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41048" y="1940930"/>
            <a:ext cx="5515284" cy="2239337"/>
          </a:xfrm>
        </p:spPr>
        <p:txBody>
          <a:bodyPr lIns="0" tIns="0" rIns="0" bIns="45720" anchor="b" anchorCtr="0">
            <a:normAutofit/>
          </a:bodyPr>
          <a:lstStyle>
            <a:lvl1pPr algn="l">
              <a:lnSpc>
                <a:spcPct val="95000"/>
              </a:lnSpc>
              <a:defRPr sz="4000" b="0" i="0">
                <a:solidFill>
                  <a:schemeClr val="tx2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Presentation Title up to three lines in length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97D2D33-B99A-B046-B49A-16CB982B1BB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3560" y="749808"/>
            <a:ext cx="3666226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18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  <p15:guide id="5" pos="3632" userDrawn="1">
          <p15:clr>
            <a:srgbClr val="FBAE40"/>
          </p15:clr>
        </p15:guide>
        <p15:guide id="6" orient="horz" pos="83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0119"/>
          <a:stretch/>
        </p:blipFill>
        <p:spPr>
          <a:xfrm>
            <a:off x="5623560" y="749808"/>
            <a:ext cx="1095647" cy="114315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46B1B04-9B4F-40A9-ADCB-3504786A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799" userDrawn="1">
          <p15:clr>
            <a:srgbClr val="FBAE40"/>
          </p15:clr>
        </p15:guide>
        <p15:guide id="3" pos="3600" userDrawn="1">
          <p15:clr>
            <a:srgbClr val="FBAE40"/>
          </p15:clr>
        </p15:guide>
        <p15:guide id="4" pos="308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pt. 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41048" y="1940930"/>
            <a:ext cx="5515284" cy="2239337"/>
          </a:xfrm>
        </p:spPr>
        <p:txBody>
          <a:bodyPr lIns="0" tIns="0" rIns="0" bIns="45720" anchor="b" anchorCtr="0">
            <a:normAutofit/>
          </a:bodyPr>
          <a:lstStyle>
            <a:lvl1pPr algn="l">
              <a:lnSpc>
                <a:spcPct val="95000"/>
              </a:lnSpc>
              <a:defRPr sz="4000" b="0" i="0">
                <a:solidFill>
                  <a:schemeClr val="tx2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Presentation Title up to three lines in length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97D2D33-B99A-B046-B49A-16CB982B1BB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3560" y="749808"/>
            <a:ext cx="3666226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18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  <p15:guide id="5" pos="3632" userDrawn="1">
          <p15:clr>
            <a:srgbClr val="FBAE40"/>
          </p15:clr>
        </p15:guide>
        <p15:guide id="6" orient="horz" pos="83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Cyan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CCFC-0C7C-7E42-AAEE-3FB70C5929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5400" y="1371600"/>
            <a:ext cx="9601200" cy="41148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for Divider (Cyan)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87336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Green)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CCFC-0C7C-7E42-AAEE-3FB70C5929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5400" y="1371600"/>
            <a:ext cx="9601200" cy="41148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for Divider (Green)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59108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Yellow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CCFC-0C7C-7E42-AAEE-3FB70C5929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5400" y="1371600"/>
            <a:ext cx="9601200" cy="41148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for Divider (Yellow)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9912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6DC936A-9C43-D84B-9C24-0185515D689C}"/>
              </a:ext>
            </a:extLst>
          </p:cNvPr>
          <p:cNvSpPr/>
          <p:nvPr userDrawn="1"/>
        </p:nvSpPr>
        <p:spPr>
          <a:xfrm>
            <a:off x="-1" y="6638778"/>
            <a:ext cx="12192001" cy="2192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7CE3741-921D-834E-8354-54991BEB2B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35964" y="683639"/>
            <a:ext cx="9372600" cy="5486400"/>
          </a:xfrm>
        </p:spPr>
        <p:txBody>
          <a:bodyPr tIns="0" bIns="365760" anchor="ctr" anchorCtr="0"/>
          <a:lstStyle>
            <a:lvl1pPr>
              <a:spcBef>
                <a:spcPts val="0"/>
              </a:spcBef>
              <a:spcAft>
                <a:spcPts val="2400"/>
              </a:spcAft>
              <a:buClrTx/>
              <a:defRPr sz="3400" b="0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342900" indent="-342900">
              <a:spcBef>
                <a:spcPts val="900"/>
              </a:spcBef>
              <a:spcAft>
                <a:spcPts val="0"/>
              </a:spcAft>
              <a:buClrTx/>
              <a:tabLst/>
              <a:defRPr sz="3200" b="0">
                <a:solidFill>
                  <a:schemeClr val="bg1"/>
                </a:solidFill>
              </a:defRPr>
            </a:lvl2pPr>
            <a:lvl3pPr marL="342900" indent="-342900">
              <a:spcBef>
                <a:spcPts val="9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3pPr>
            <a:lvl4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0">
                <a:solidFill>
                  <a:schemeClr val="bg1"/>
                </a:solidFill>
              </a:defRPr>
            </a:lvl4pPr>
            <a:lvl5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/>
              <a:t>Title for Divider–Agenda</a:t>
            </a:r>
          </a:p>
          <a:p>
            <a:pPr lvl="1"/>
            <a:r>
              <a:rPr lang="en-US"/>
              <a:t>Agenda Item—Inactive</a:t>
            </a:r>
          </a:p>
          <a:p>
            <a:pPr lvl="2"/>
            <a:r>
              <a:rPr lang="en-US"/>
              <a:t>Agenda Item—Active</a:t>
            </a:r>
          </a:p>
          <a:p>
            <a:pPr lvl="3"/>
            <a:r>
              <a:rPr lang="en-US"/>
              <a:t>Second level</a:t>
            </a:r>
          </a:p>
          <a:p>
            <a:pPr lvl="4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83390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99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79914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Slide Title for Single-Column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8080275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81" userDrawn="1">
          <p15:clr>
            <a:srgbClr val="FBAE40"/>
          </p15:clr>
        </p15:guide>
        <p15:guide id="4" pos="690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Slide Title for Two-Column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BF7038D-D496-7248-87EC-9540380F1D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2198208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+Text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Photo+Text</a:t>
            </a:r>
            <a:r>
              <a:rPr lang="en-US"/>
              <a:t> (W)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 marL="917575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.HelveticaNeueDeskInterface-Regular"/>
              <a:buChar char="●"/>
              <a:tabLst/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marL="917575" marR="0" lvl="4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.HelveticaNeueDeskInterface-Regular"/>
              <a:buChar char="●"/>
              <a:tabLst/>
              <a:defRPr/>
            </a:pPr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8106178-1013-D249-8751-3EA29B2109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39838" y="1669499"/>
            <a:ext cx="4856162" cy="44805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AF09BB-AD0B-2041-83F2-50D0A4E86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9839" y="5889219"/>
            <a:ext cx="4856162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5367013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Photo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40806" y="491385"/>
            <a:ext cx="3670259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4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Text+Photo</a:t>
            </a:r>
            <a:r>
              <a:rPr lang="en-US"/>
              <a:t>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806" y="1469871"/>
            <a:ext cx="3670259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47569D7D-6010-454B-A86B-B6C69D7E2E6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191000" y="-1"/>
            <a:ext cx="8001000" cy="6629400"/>
          </a:xfrm>
          <a:solidFill>
            <a:schemeClr val="bg1">
              <a:lumMod val="90000"/>
            </a:schemeClr>
          </a:solidFill>
        </p:spPr>
        <p:txBody>
          <a:bodyPr tIns="0" bIns="27432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D26CCD3-E500-1F49-8DD8-1545E2CBF0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5400000">
            <a:off x="8746884" y="3184281"/>
            <a:ext cx="6629396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40165849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+Photo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Photo+Photo</a:t>
            </a:r>
            <a:r>
              <a:rPr lang="en-US"/>
              <a:t> (W) Layout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8106178-1013-D249-8751-3EA29B2109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69871"/>
            <a:ext cx="6096000" cy="42519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AF09BB-AD0B-2041-83F2-50D0A4E86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57E259A3-746A-2044-822B-3F7D859E7F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3439" y="1469871"/>
            <a:ext cx="6096000" cy="42519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3F54B41-918E-644B-B610-DDE8277FB2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3440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6085019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+Title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27426-24A7-3845-8E05-8360D202A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5349453"/>
            <a:ext cx="12192000" cy="1508547"/>
          </a:xfrm>
          <a:prstGeom prst="rect">
            <a:avLst/>
          </a:prstGeom>
        </p:spPr>
        <p:txBody>
          <a:bodyPr vert="horz" lIns="457200" tIns="182880" rIns="457200" bIns="182880" rtlCol="0" anchor="t" anchorCtr="0">
            <a:noAutofit/>
          </a:bodyPr>
          <a:lstStyle>
            <a:lvl1pPr algn="ctr">
              <a:defRPr lang="en-US" sz="24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Large Photo (W) Layout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5349875"/>
          </a:xfrm>
          <a:solidFill>
            <a:schemeClr val="bg1">
              <a:lumMod val="90000"/>
            </a:schemeClr>
          </a:solidFill>
        </p:spPr>
        <p:txBody>
          <a:bodyPr tIns="0" bIns="20574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386856" y="2544308"/>
            <a:ext cx="5349451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1687998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ra-Large Photo+Title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172200"/>
          </a:xfrm>
          <a:solidFill>
            <a:schemeClr val="bg1">
              <a:lumMod val="90000"/>
            </a:schemeClr>
          </a:solidFill>
        </p:spPr>
        <p:txBody>
          <a:bodyPr tIns="0" bIns="256032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8975483" y="2955682"/>
            <a:ext cx="6172198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27426-24A7-3845-8E05-8360D202A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6172200"/>
            <a:ext cx="12202245" cy="685800"/>
          </a:xfrm>
          <a:prstGeom prst="rect">
            <a:avLst/>
          </a:prstGeom>
        </p:spPr>
        <p:txBody>
          <a:bodyPr vert="horz" lIns="457200" tIns="91440" rIns="457200" bIns="182880" rtlCol="0" anchor="t" anchorCtr="0">
            <a:normAutofit/>
          </a:bodyPr>
          <a:lstStyle>
            <a:lvl1pPr algn="ctr">
              <a:defRPr lang="en-US" sz="22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Extra-Large </a:t>
            </a:r>
            <a:r>
              <a:rPr lang="en-US" err="1"/>
              <a:t>Photo+Title</a:t>
            </a:r>
            <a:r>
              <a:rPr lang="en-US"/>
              <a:t> (W) Layout</a:t>
            </a:r>
          </a:p>
        </p:txBody>
      </p:sp>
    </p:spTree>
    <p:extLst>
      <p:ext uri="{BB962C8B-B14F-4D97-AF65-F5344CB8AC3E}">
        <p14:creationId xmlns:p14="http://schemas.microsoft.com/office/powerpoint/2010/main" val="11519002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ra-Large Photo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583680"/>
          </a:xfrm>
          <a:solidFill>
            <a:schemeClr val="bg1">
              <a:lumMod val="90000"/>
            </a:schemeClr>
          </a:solidFill>
        </p:spPr>
        <p:txBody>
          <a:bodyPr tIns="0" bIns="27432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8769743" y="3161422"/>
            <a:ext cx="6583678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4016884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ngle-Column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Single-Column (B)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 marL="0" marR="0" indent="0" algn="l" defTabSz="914314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 charset="2"/>
              <a:buNone/>
              <a:tabLst/>
              <a:defRPr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 charset="2"/>
              <a:buNone/>
              <a:tabLst/>
              <a:defRPr/>
            </a:pPr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FD9C8-9F14-B64C-88D7-AFEADAB39B39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2685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-Column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Two-Column (B)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62889-E692-BF4A-B8C8-D6FF23EE4CF0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B5B26B-2A1F-084E-BAF6-BEA91A8E38A5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0538"/>
            <a:ext cx="0" cy="4425462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1589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+Text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Photo+Text</a:t>
            </a:r>
            <a:r>
              <a:rPr lang="en-US"/>
              <a:t> (B)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62889-E692-BF4A-B8C8-D6FF23EE4CF0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DC7D600-7783-1F4F-AD62-06B784E129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9838" y="1672046"/>
            <a:ext cx="4855464" cy="4480560"/>
          </a:xfrm>
          <a:solidFill>
            <a:schemeClr val="tx2">
              <a:lumMod val="5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3893C67-9BAE-6946-9896-78E2472B0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9838" y="5891766"/>
            <a:ext cx="4855464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11157693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1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+Photo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Photo+Photo</a:t>
            </a:r>
            <a:r>
              <a:rPr lang="en-US"/>
              <a:t> (B) Layout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8106178-1013-D249-8751-3EA29B2109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69871"/>
            <a:ext cx="6096000" cy="4251960"/>
          </a:xfrm>
          <a:solidFill>
            <a:schemeClr val="tx2">
              <a:lumMod val="5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AF09BB-AD0B-2041-83F2-50D0A4E86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57E259A3-746A-2044-822B-3F7D859E7F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3439" y="1469871"/>
            <a:ext cx="6096000" cy="4251960"/>
          </a:xfrm>
          <a:solidFill>
            <a:schemeClr val="tx2">
              <a:lumMod val="5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3F54B41-918E-644B-B610-DDE8277FB2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3440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7CAC3A-914C-D94C-9254-C253E5803F2C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261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-Photo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0" y="5349450"/>
            <a:ext cx="12191999" cy="1508547"/>
          </a:xfrm>
          <a:prstGeom prst="rect">
            <a:avLst/>
          </a:prstGeom>
        </p:spPr>
        <p:txBody>
          <a:bodyPr vert="horz" lIns="457200" tIns="182880" rIns="457200" bIns="182880" rtlCol="0" anchor="t">
            <a:normAutofit/>
          </a:bodyPr>
          <a:lstStyle>
            <a:lvl1pPr algn="ctr">
              <a:defRPr lang="en-US" sz="24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Large-Photo (B)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57DE7E-D5A7-934A-BDAA-810E25C7A25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5349875"/>
          </a:xfrm>
          <a:solidFill>
            <a:schemeClr val="tx2">
              <a:lumMod val="50000"/>
            </a:schemeClr>
          </a:solidFill>
        </p:spPr>
        <p:txBody>
          <a:bodyPr tIns="0" bIns="2057400" anchor="b"/>
          <a:lstStyle>
            <a:lvl1pPr algn="ctr">
              <a:defRPr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6E3DB-FA3A-7842-8A68-4AE4AACEC5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386856" y="2544308"/>
            <a:ext cx="5349451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58205F-7910-2A4D-9D13-3F4027CE12D3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125"/>
          <a:stretch/>
        </p:blipFill>
        <p:spPr>
          <a:xfrm>
            <a:off x="5623560" y="749808"/>
            <a:ext cx="1103811" cy="114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704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125"/>
          <a:stretch/>
        </p:blipFill>
        <p:spPr>
          <a:xfrm>
            <a:off x="5623560" y="749808"/>
            <a:ext cx="1103811" cy="114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704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-Column,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/>
              <a:t>Slide Title for Single-Column, White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15792800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ingle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8250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Slide Title for Single-Column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34050123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RTTAC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3E802-0087-4A88-B9F3-B27074E51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256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0EF9D1-8FE4-4A6C-8373-E5034EFA4A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4E6205-D9A5-4D27-BFB4-F7BCEB65A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08059" y="3079268"/>
            <a:ext cx="6567856" cy="34967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3B1E383-8E3E-4961-9E67-7569E541E23B}"/>
              </a:ext>
            </a:extLst>
          </p:cNvPr>
          <p:cNvSpPr/>
          <p:nvPr/>
        </p:nvSpPr>
        <p:spPr>
          <a:xfrm>
            <a:off x="-7068" y="6538035"/>
            <a:ext cx="12273893" cy="365125"/>
          </a:xfrm>
          <a:prstGeom prst="rect">
            <a:avLst/>
          </a:prstGeom>
          <a:solidFill>
            <a:srgbClr val="F2A900"/>
          </a:solidFill>
          <a:ln>
            <a:solidFill>
              <a:srgbClr val="F2A9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800"/>
          </a:p>
        </p:txBody>
      </p:sp>
      <p:sp>
        <p:nvSpPr>
          <p:cNvPr id="18" name="Text Box 2">
            <a:extLst>
              <a:ext uri="{FF2B5EF4-FFF2-40B4-BE49-F238E27FC236}">
                <a16:creationId xmlns:a16="http://schemas.microsoft.com/office/drawing/2014/main" id="{9327A731-E579-490F-A267-6AACC1A09895}"/>
              </a:ext>
            </a:extLst>
          </p:cNvPr>
          <p:cNvSpPr txBox="1"/>
          <p:nvPr/>
        </p:nvSpPr>
        <p:spPr>
          <a:xfrm>
            <a:off x="106544" y="4244701"/>
            <a:ext cx="1987550" cy="4191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600" b="1" cap="small" baseline="0">
                <a:solidFill>
                  <a:srgbClr val="FFFFFF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member countries</a:t>
            </a:r>
            <a:endParaRPr lang="en-US" sz="1600" b="1" cap="small" baseline="0">
              <a:effectLst/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D74BBD-1874-42BC-AB24-65343EF71610}"/>
              </a:ext>
            </a:extLst>
          </p:cNvPr>
          <p:cNvCxnSpPr>
            <a:cxnSpLocks/>
          </p:cNvCxnSpPr>
          <p:nvPr/>
        </p:nvCxnSpPr>
        <p:spPr>
          <a:xfrm flipV="1">
            <a:off x="186553" y="4584288"/>
            <a:ext cx="4833204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Box 2">
            <a:extLst>
              <a:ext uri="{FF2B5EF4-FFF2-40B4-BE49-F238E27FC236}">
                <a16:creationId xmlns:a16="http://schemas.microsoft.com/office/drawing/2014/main" id="{B6760F4B-0E53-4873-811E-91CFF0C3FA44}"/>
              </a:ext>
            </a:extLst>
          </p:cNvPr>
          <p:cNvSpPr txBox="1"/>
          <p:nvPr/>
        </p:nvSpPr>
        <p:spPr>
          <a:xfrm>
            <a:off x="80042" y="5422821"/>
            <a:ext cx="2531412" cy="4191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600" b="1" cap="small" baseline="0">
                <a:solidFill>
                  <a:srgbClr val="FFFFFF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development partners</a:t>
            </a:r>
            <a:endParaRPr lang="en-US" sz="1600" b="1" cap="small" baseline="0">
              <a:effectLst/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AE5E040-1BD7-4446-A6F1-1EBE8A0590EA}"/>
              </a:ext>
            </a:extLst>
          </p:cNvPr>
          <p:cNvCxnSpPr>
            <a:cxnSpLocks/>
          </p:cNvCxnSpPr>
          <p:nvPr/>
        </p:nvCxnSpPr>
        <p:spPr>
          <a:xfrm flipV="1">
            <a:off x="160051" y="5760417"/>
            <a:ext cx="4833204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Picture 78" descr="A picture containing text&#10;&#10;Description automatically generated">
            <a:extLst>
              <a:ext uri="{FF2B5EF4-FFF2-40B4-BE49-F238E27FC236}">
                <a16:creationId xmlns:a16="http://schemas.microsoft.com/office/drawing/2014/main" id="{6B05876D-8396-4524-AB44-3AC466521B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92" y="5820054"/>
            <a:ext cx="1522744" cy="369598"/>
          </a:xfrm>
          <a:prstGeom prst="rect">
            <a:avLst/>
          </a:prstGeom>
        </p:spPr>
      </p:pic>
      <p:sp>
        <p:nvSpPr>
          <p:cNvPr id="103" name="Text Box 2">
            <a:extLst>
              <a:ext uri="{FF2B5EF4-FFF2-40B4-BE49-F238E27FC236}">
                <a16:creationId xmlns:a16="http://schemas.microsoft.com/office/drawing/2014/main" id="{055F566B-93E6-4A71-B2B1-18231CC3E9FB}"/>
              </a:ext>
            </a:extLst>
          </p:cNvPr>
          <p:cNvSpPr txBox="1"/>
          <p:nvPr/>
        </p:nvSpPr>
        <p:spPr>
          <a:xfrm>
            <a:off x="164128" y="5093348"/>
            <a:ext cx="750318" cy="2479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800">
                <a:solidFill>
                  <a:srgbClr val="FFFFFF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Bangladesh</a:t>
            </a:r>
            <a:endParaRPr lang="en-US" sz="80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Text Box 2">
            <a:extLst>
              <a:ext uri="{FF2B5EF4-FFF2-40B4-BE49-F238E27FC236}">
                <a16:creationId xmlns:a16="http://schemas.microsoft.com/office/drawing/2014/main" id="{6A4F2024-16FB-41A6-91E1-ECDDF91FA78C}"/>
              </a:ext>
            </a:extLst>
          </p:cNvPr>
          <p:cNvSpPr txBox="1"/>
          <p:nvPr/>
        </p:nvSpPr>
        <p:spPr>
          <a:xfrm>
            <a:off x="1056253" y="5106079"/>
            <a:ext cx="530423" cy="2479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800">
                <a:solidFill>
                  <a:srgbClr val="FFFFFF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Bhutan</a:t>
            </a:r>
            <a:endParaRPr lang="en-US" sz="80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Text Box 2">
            <a:extLst>
              <a:ext uri="{FF2B5EF4-FFF2-40B4-BE49-F238E27FC236}">
                <a16:creationId xmlns:a16="http://schemas.microsoft.com/office/drawing/2014/main" id="{8FB12644-5B3A-45F7-8851-A9F07291388E}"/>
              </a:ext>
            </a:extLst>
          </p:cNvPr>
          <p:cNvSpPr txBox="1"/>
          <p:nvPr/>
        </p:nvSpPr>
        <p:spPr>
          <a:xfrm>
            <a:off x="1931593" y="5089364"/>
            <a:ext cx="496439" cy="2479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900">
                <a:solidFill>
                  <a:srgbClr val="FFFFFF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India</a:t>
            </a:r>
            <a:endParaRPr lang="en-US" sz="90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7" name="Text Box 2">
            <a:extLst>
              <a:ext uri="{FF2B5EF4-FFF2-40B4-BE49-F238E27FC236}">
                <a16:creationId xmlns:a16="http://schemas.microsoft.com/office/drawing/2014/main" id="{343B0394-3A95-499F-9024-683962B64689}"/>
              </a:ext>
            </a:extLst>
          </p:cNvPr>
          <p:cNvSpPr txBox="1"/>
          <p:nvPr/>
        </p:nvSpPr>
        <p:spPr>
          <a:xfrm>
            <a:off x="2673999" y="5108639"/>
            <a:ext cx="628679" cy="2479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800">
                <a:solidFill>
                  <a:srgbClr val="FFFFFF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Maldives</a:t>
            </a:r>
            <a:endParaRPr lang="en-US" sz="80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8" name="Text Box 2">
            <a:extLst>
              <a:ext uri="{FF2B5EF4-FFF2-40B4-BE49-F238E27FC236}">
                <a16:creationId xmlns:a16="http://schemas.microsoft.com/office/drawing/2014/main" id="{23D860F5-B5E6-4F02-B526-922F1D3D46FA}"/>
              </a:ext>
            </a:extLst>
          </p:cNvPr>
          <p:cNvSpPr txBox="1"/>
          <p:nvPr/>
        </p:nvSpPr>
        <p:spPr>
          <a:xfrm>
            <a:off x="3411254" y="5108639"/>
            <a:ext cx="491920" cy="2479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800">
                <a:solidFill>
                  <a:srgbClr val="FFFFFF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Nepal</a:t>
            </a:r>
            <a:endParaRPr lang="en-US" sz="80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9" name="Text Box 2">
            <a:extLst>
              <a:ext uri="{FF2B5EF4-FFF2-40B4-BE49-F238E27FC236}">
                <a16:creationId xmlns:a16="http://schemas.microsoft.com/office/drawing/2014/main" id="{BA7AD0F8-FCBA-4156-AFB1-F623DB42E273}"/>
              </a:ext>
            </a:extLst>
          </p:cNvPr>
          <p:cNvSpPr txBox="1"/>
          <p:nvPr/>
        </p:nvSpPr>
        <p:spPr>
          <a:xfrm>
            <a:off x="4117024" y="5121700"/>
            <a:ext cx="628679" cy="2479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800">
                <a:solidFill>
                  <a:srgbClr val="FFFFFF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Sri Lanka</a:t>
            </a:r>
            <a:endParaRPr lang="en-US" sz="80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181419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ivider (Cyan)">
    <p:bg>
      <p:bgPr>
        <a:solidFill>
          <a:srgbClr val="90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CCFC-0C7C-7E42-AAEE-3FB70C5929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5400" y="1371600"/>
            <a:ext cx="9601200" cy="41148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for Divider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B958B-EF8E-214B-9B02-2EE3EF507FDD}"/>
              </a:ext>
            </a:extLst>
          </p:cNvPr>
          <p:cNvSpPr txBox="1"/>
          <p:nvPr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/>
                </a:solidFill>
                <a:latin typeface="Arial Black" charset="0"/>
                <a:cs typeface="Arial Black" charset="0"/>
              </a:rPr>
              <a:t>IMF</a:t>
            </a:r>
            <a:endParaRPr lang="en-US" sz="900" b="0">
              <a:solidFill>
                <a:schemeClr val="bg1"/>
              </a:solidFill>
              <a:latin typeface="+mn-lt"/>
              <a:cs typeface="Arial Black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509806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Agenda">
    <p:bg>
      <p:bgPr>
        <a:solidFill>
          <a:srgbClr val="90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6DC936A-9C43-D84B-9C24-0185515D689C}"/>
              </a:ext>
            </a:extLst>
          </p:cNvPr>
          <p:cNvSpPr/>
          <p:nvPr/>
        </p:nvSpPr>
        <p:spPr>
          <a:xfrm>
            <a:off x="-1" y="6638778"/>
            <a:ext cx="12192001" cy="219221"/>
          </a:xfrm>
          <a:prstGeom prst="rect">
            <a:avLst/>
          </a:prstGeom>
          <a:solidFill>
            <a:srgbClr val="9015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B958B-EF8E-214B-9B02-2EE3EF507FDD}"/>
              </a:ext>
            </a:extLst>
          </p:cNvPr>
          <p:cNvSpPr txBox="1"/>
          <p:nvPr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/>
                </a:solidFill>
                <a:latin typeface="Arial Black" charset="0"/>
                <a:cs typeface="Arial Black" charset="0"/>
              </a:rPr>
              <a:t>IMF </a:t>
            </a:r>
            <a:r>
              <a:rPr lang="en-US" sz="900" b="0">
                <a:solidFill>
                  <a:schemeClr val="bg1"/>
                </a:solidFill>
                <a:latin typeface="+mn-lt"/>
                <a:cs typeface="Arial Black" charset="0"/>
              </a:rPr>
              <a:t>| South Asia Regional Training and Technical Assistance Center— SARTTAC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7CE3741-921D-834E-8354-54991BEB2B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35964" y="683639"/>
            <a:ext cx="9372600" cy="5486400"/>
          </a:xfrm>
        </p:spPr>
        <p:txBody>
          <a:bodyPr tIns="0" bIns="365760" anchor="ctr" anchorCtr="0"/>
          <a:lstStyle>
            <a:lvl1pPr>
              <a:spcBef>
                <a:spcPts val="0"/>
              </a:spcBef>
              <a:spcAft>
                <a:spcPts val="2400"/>
              </a:spcAft>
              <a:buClrTx/>
              <a:defRPr sz="3400" b="0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342900" indent="-342900">
              <a:spcBef>
                <a:spcPts val="900"/>
              </a:spcBef>
              <a:spcAft>
                <a:spcPts val="0"/>
              </a:spcAft>
              <a:buClrTx/>
              <a:tabLst/>
              <a:defRPr sz="3200" b="0">
                <a:solidFill>
                  <a:schemeClr val="bg1"/>
                </a:solidFill>
              </a:defRPr>
            </a:lvl2pPr>
            <a:lvl3pPr marL="342900" indent="-342900">
              <a:spcBef>
                <a:spcPts val="9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3pPr>
            <a:lvl4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0">
                <a:solidFill>
                  <a:schemeClr val="bg1"/>
                </a:solidFill>
              </a:defRPr>
            </a:lvl4pPr>
            <a:lvl5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/>
              <a:t>Title for Divider–Agenda</a:t>
            </a:r>
          </a:p>
          <a:p>
            <a:pPr lvl="1"/>
            <a:r>
              <a:rPr lang="en-US"/>
              <a:t>Agenda Item—Inactive</a:t>
            </a:r>
          </a:p>
          <a:p>
            <a:pPr lvl="2"/>
            <a:r>
              <a:rPr lang="en-US"/>
              <a:t>Agenda Item—Active</a:t>
            </a:r>
          </a:p>
          <a:p>
            <a:pPr lvl="3"/>
            <a:r>
              <a:rPr lang="en-US"/>
              <a:t>Second level</a:t>
            </a:r>
          </a:p>
          <a:p>
            <a:pPr lvl="4"/>
            <a:r>
              <a:rPr lang="en-US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A9CB8-B07F-44FD-836E-BCE0675149B4}"/>
              </a:ext>
            </a:extLst>
          </p:cNvPr>
          <p:cNvSpPr/>
          <p:nvPr userDrawn="1"/>
        </p:nvSpPr>
        <p:spPr>
          <a:xfrm>
            <a:off x="-1" y="6638778"/>
            <a:ext cx="12192001" cy="2192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84127-8999-4E06-9847-DAECC8470BF5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398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2160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orient="horz" pos="3998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Slide Title for Single-Column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40185200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pos="781" userDrawn="1">
          <p15:clr>
            <a:srgbClr val="FBAE40"/>
          </p15:clr>
        </p15:guide>
        <p15:guide id="8" pos="6901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Slide Title for Two-Column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BF7038D-D496-7248-87EC-9540380F1D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32207676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+Text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Photo+Text</a:t>
            </a:r>
            <a:r>
              <a:rPr lang="en-US"/>
              <a:t> (W)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 marL="917575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.HelveticaNeueDeskInterface-Regular"/>
              <a:buChar char="●"/>
              <a:tabLst/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marL="917575" marR="0" lvl="4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.HelveticaNeueDeskInterface-Regular"/>
              <a:buChar char="●"/>
              <a:tabLst/>
              <a:defRPr/>
            </a:pPr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8106178-1013-D249-8751-3EA29B2109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39838" y="1669499"/>
            <a:ext cx="4856162" cy="44805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AF09BB-AD0B-2041-83F2-50D0A4E86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9839" y="5889219"/>
            <a:ext cx="4856162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7997778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Photo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40806" y="491385"/>
            <a:ext cx="3670259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4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Text+Photo</a:t>
            </a:r>
            <a:r>
              <a:rPr lang="en-US"/>
              <a:t>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806" y="1469871"/>
            <a:ext cx="3670259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47569D7D-6010-454B-A86B-B6C69D7E2E6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191000" y="-1"/>
            <a:ext cx="8001000" cy="6629400"/>
          </a:xfrm>
          <a:solidFill>
            <a:schemeClr val="bg1">
              <a:lumMod val="90000"/>
            </a:schemeClr>
          </a:solidFill>
        </p:spPr>
        <p:txBody>
          <a:bodyPr tIns="0" bIns="27432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D26CCD3-E500-1F49-8DD8-1545E2CBF0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5400000">
            <a:off x="8746884" y="3184281"/>
            <a:ext cx="6629396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42758679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+Photo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Photo+Photo</a:t>
            </a:r>
            <a:r>
              <a:rPr lang="en-US"/>
              <a:t> (W) Layout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8106178-1013-D249-8751-3EA29B2109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69871"/>
            <a:ext cx="6096000" cy="42519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AF09BB-AD0B-2041-83F2-50D0A4E86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57E259A3-746A-2044-822B-3F7D859E7F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3439" y="1469871"/>
            <a:ext cx="6096000" cy="42519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3F54B41-918E-644B-B610-DDE8277FB2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3440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7484380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+Title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27426-24A7-3845-8E05-8360D202A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5349453"/>
            <a:ext cx="12192000" cy="1508547"/>
          </a:xfrm>
          <a:prstGeom prst="rect">
            <a:avLst/>
          </a:prstGeom>
        </p:spPr>
        <p:txBody>
          <a:bodyPr vert="horz" lIns="457200" tIns="182880" rIns="457200" bIns="182880" rtlCol="0" anchor="t" anchorCtr="0">
            <a:noAutofit/>
          </a:bodyPr>
          <a:lstStyle>
            <a:lvl1pPr algn="ctr">
              <a:defRPr lang="en-US" sz="24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Large Photo (W) Layout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5349875"/>
          </a:xfrm>
          <a:solidFill>
            <a:schemeClr val="bg1">
              <a:lumMod val="90000"/>
            </a:schemeClr>
          </a:solidFill>
        </p:spPr>
        <p:txBody>
          <a:bodyPr tIns="0" bIns="20574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386856" y="2544308"/>
            <a:ext cx="5349451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0745999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tra-Large Photo+Title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172200"/>
          </a:xfrm>
          <a:solidFill>
            <a:schemeClr val="bg1">
              <a:lumMod val="90000"/>
            </a:schemeClr>
          </a:solidFill>
        </p:spPr>
        <p:txBody>
          <a:bodyPr tIns="0" bIns="256032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8975483" y="2955682"/>
            <a:ext cx="6172198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27426-24A7-3845-8E05-8360D202A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6172200"/>
            <a:ext cx="12202245" cy="685800"/>
          </a:xfrm>
          <a:prstGeom prst="rect">
            <a:avLst/>
          </a:prstGeom>
        </p:spPr>
        <p:txBody>
          <a:bodyPr vert="horz" lIns="457200" tIns="91440" rIns="457200" bIns="182880" rtlCol="0" anchor="t" anchorCtr="0">
            <a:normAutofit/>
          </a:bodyPr>
          <a:lstStyle>
            <a:lvl1pPr algn="ctr">
              <a:defRPr lang="en-US" sz="22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Extra-Large </a:t>
            </a:r>
            <a:r>
              <a:rPr lang="en-US" err="1"/>
              <a:t>Photo+Title</a:t>
            </a:r>
            <a:r>
              <a:rPr lang="en-US"/>
              <a:t> (W) Layout</a:t>
            </a:r>
          </a:p>
        </p:txBody>
      </p:sp>
    </p:spTree>
    <p:extLst>
      <p:ext uri="{BB962C8B-B14F-4D97-AF65-F5344CB8AC3E}">
        <p14:creationId xmlns:p14="http://schemas.microsoft.com/office/powerpoint/2010/main" val="21213206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tra-Large Photo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583680"/>
          </a:xfrm>
          <a:solidFill>
            <a:schemeClr val="bg1">
              <a:lumMod val="90000"/>
            </a:schemeClr>
          </a:solidFill>
        </p:spPr>
        <p:txBody>
          <a:bodyPr tIns="0" bIns="27432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8769743" y="3161422"/>
            <a:ext cx="6583678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17366231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0119"/>
          <a:stretch/>
        </p:blipFill>
        <p:spPr>
          <a:xfrm>
            <a:off x="5623560" y="749808"/>
            <a:ext cx="1095647" cy="114315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46B1B04-9B4F-40A9-ADCB-3504786A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78907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C45A-1DFA-4A98-9CFC-E737FF48E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C9212-6CF3-428D-833E-9884E5B94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F7FD1-F24E-4011-8D2B-0EF8A8DB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E3075-8294-44BB-A707-64D12E6B055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4AA69-D0CE-4E95-AE2B-060B9B8D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57728-51FC-473C-8CA3-352C1FE1A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DADC-2B7E-4835-8C4D-8E8B74895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80897"/>
      </p:ext>
    </p:extLst>
  </p:cSld>
  <p:clrMapOvr>
    <a:masterClrMapping/>
  </p:clrMapOvr>
  <p:hf sldNum="0" hdr="0" ft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125"/>
          <a:stretch/>
        </p:blipFill>
        <p:spPr>
          <a:xfrm>
            <a:off x="5623560" y="749808"/>
            <a:ext cx="1103811" cy="114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662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436" y="71412"/>
            <a:ext cx="9025128" cy="85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3156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90742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13" y="136523"/>
            <a:ext cx="10666675" cy="706094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896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396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004C9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961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0597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723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04C9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642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04C9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08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55442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952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468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0119"/>
          <a:stretch/>
        </p:blipFill>
        <p:spPr>
          <a:xfrm>
            <a:off x="5623560" y="749808"/>
            <a:ext cx="1095647" cy="114315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46B1B04-9B4F-40A9-ADCB-3504786A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367162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 Agenda">
    <p:bg>
      <p:bgPr>
        <a:solidFill>
          <a:srgbClr val="90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7CE3741-921D-834E-8354-54991BEB2B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35964" y="683639"/>
            <a:ext cx="9372600" cy="5486400"/>
          </a:xfrm>
        </p:spPr>
        <p:txBody>
          <a:bodyPr tIns="0" bIns="365760" anchor="ctr" anchorCtr="0"/>
          <a:lstStyle>
            <a:lvl1pPr>
              <a:spcBef>
                <a:spcPts val="0"/>
              </a:spcBef>
              <a:spcAft>
                <a:spcPts val="2400"/>
              </a:spcAft>
              <a:buClrTx/>
              <a:defRPr sz="3400" b="0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342900" indent="-342900">
              <a:spcBef>
                <a:spcPts val="900"/>
              </a:spcBef>
              <a:spcAft>
                <a:spcPts val="0"/>
              </a:spcAft>
              <a:buClrTx/>
              <a:tabLst/>
              <a:defRPr sz="3200" b="0">
                <a:solidFill>
                  <a:schemeClr val="bg1"/>
                </a:solidFill>
              </a:defRPr>
            </a:lvl2pPr>
            <a:lvl3pPr marL="342900" indent="-342900">
              <a:spcBef>
                <a:spcPts val="9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3pPr>
            <a:lvl4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0">
                <a:solidFill>
                  <a:schemeClr val="bg1"/>
                </a:solidFill>
              </a:defRPr>
            </a:lvl4pPr>
            <a:lvl5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/>
              <a:t>Title for Divider–Agenda</a:t>
            </a:r>
          </a:p>
          <a:p>
            <a:pPr lvl="1"/>
            <a:r>
              <a:rPr lang="en-US"/>
              <a:t>Agenda Item—Inactive</a:t>
            </a:r>
          </a:p>
          <a:p>
            <a:pPr lvl="2"/>
            <a:r>
              <a:rPr lang="en-US"/>
              <a:t>Agenda Item—Active</a:t>
            </a:r>
          </a:p>
          <a:p>
            <a:pPr lvl="3"/>
            <a:r>
              <a:rPr lang="en-US"/>
              <a:t>Second level</a:t>
            </a:r>
          </a:p>
          <a:p>
            <a:pPr lvl="4"/>
            <a:r>
              <a:rPr lang="en-US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A9CB8-B07F-44FD-836E-BCE0675149B4}"/>
              </a:ext>
            </a:extLst>
          </p:cNvPr>
          <p:cNvSpPr/>
          <p:nvPr userDrawn="1"/>
        </p:nvSpPr>
        <p:spPr>
          <a:xfrm>
            <a:off x="-1" y="6638778"/>
            <a:ext cx="12192001" cy="2192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84127-8999-4E06-9847-DAECC8470BF5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4089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ngle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8250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Slide Title for Single-Column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23879196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C45A-1DFA-4A98-9CFC-E737FF48E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C9212-6CF3-428D-833E-9884E5B94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F7FD1-F24E-4011-8D2B-0EF8A8DB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E3075-8294-44BB-A707-64D12E6B055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4AA69-D0CE-4E95-AE2B-060B9B8D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57728-51FC-473C-8CA3-352C1FE1A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DADC-2B7E-4835-8C4D-8E8B74895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32700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4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791806"/>
          </a:xfrm>
          <a:prstGeom prst="rect">
            <a:avLst/>
          </a:prstGeom>
        </p:spPr>
        <p:txBody>
          <a:bodyPr vert="horz" lIns="0" tIns="137160" rIns="0" bIns="0" rtlCol="0">
            <a:normAutofit/>
          </a:bodyPr>
          <a:lstStyle/>
          <a:p>
            <a:pPr lvl="0"/>
            <a:r>
              <a:rPr lang="en-US"/>
              <a:t>Paragraph type</a:t>
            </a:r>
          </a:p>
          <a:p>
            <a:pPr lvl="1"/>
            <a:r>
              <a:rPr lang="en-US"/>
              <a:t>Click the “Indent More” button (above) for first-level bullets</a:t>
            </a:r>
          </a:p>
          <a:p>
            <a:pPr lvl="2"/>
            <a:r>
              <a:rPr lang="en-US"/>
              <a:t>Click the “Indent More” button (above) twice for second-level bullets</a:t>
            </a:r>
          </a:p>
          <a:p>
            <a:pPr lvl="3"/>
            <a:r>
              <a:rPr lang="en-US"/>
              <a:t>Click the “Indent More” button (above) three times for third-level bullets</a:t>
            </a:r>
          </a:p>
          <a:p>
            <a:pPr lvl="4"/>
            <a:r>
              <a:rPr lang="en-US"/>
              <a:t>Click the “Indent More” button (above) four times for fourth-level bullets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82138"/>
            <a:ext cx="10972800" cy="1118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Master Slide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5D478-FD4A-2240-B032-46F4E3BAB6E8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accent1"/>
                </a:solidFill>
              </a:rPr>
              <a:pPr algn="r"/>
              <a:t>‹#›</a:t>
            </a:fld>
            <a:endParaRPr lang="en-US" sz="1000">
              <a:solidFill>
                <a:schemeClr val="accen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661" r:id="rId3"/>
    <p:sldLayoutId id="2147483760" r:id="rId4"/>
    <p:sldLayoutId id="2147483754" r:id="rId5"/>
    <p:sldLayoutId id="2147483755" r:id="rId6"/>
    <p:sldLayoutId id="2147483756" r:id="rId7"/>
    <p:sldLayoutId id="2147483758" r:id="rId8"/>
    <p:sldLayoutId id="2147483757" r:id="rId9"/>
    <p:sldLayoutId id="2147483707" r:id="rId10"/>
    <p:sldLayoutId id="2147483759" r:id="rId11"/>
    <p:sldLayoutId id="2147483748" r:id="rId12"/>
    <p:sldLayoutId id="2147483744" r:id="rId13"/>
    <p:sldLayoutId id="2147483750" r:id="rId14"/>
    <p:sldLayoutId id="2147483747" r:id="rId15"/>
    <p:sldLayoutId id="2147483752" r:id="rId16"/>
    <p:sldLayoutId id="2147483751" r:id="rId17"/>
    <p:sldLayoutId id="2147483745" r:id="rId18"/>
    <p:sldLayoutId id="2147483746" r:id="rId19"/>
    <p:sldLayoutId id="2147483749" r:id="rId20"/>
    <p:sldLayoutId id="2147483753" r:id="rId21"/>
    <p:sldLayoutId id="2147483743" r:id="rId22"/>
    <p:sldLayoutId id="2147483799" r:id="rId23"/>
    <p:sldLayoutId id="2147483792" r:id="rId24"/>
    <p:sldLayoutId id="2147483800" r:id="rId25"/>
    <p:sldLayoutId id="2147483801" r:id="rId26"/>
  </p:sldLayoutIdLst>
  <p:transition>
    <p:fade/>
  </p:transition>
  <p:hf hdr="0" ftr="0" dt="0"/>
  <p:txStyles>
    <p:titleStyle>
      <a:lvl1pPr algn="l" defTabSz="914314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0" indent="0" algn="l" defTabSz="914314" rtl="0" eaLnBrk="1" latinLnBrk="0" hangingPunct="1">
        <a:spcBef>
          <a:spcPts val="2400"/>
        </a:spcBef>
        <a:buClr>
          <a:schemeClr val="accent1"/>
        </a:buClr>
        <a:buSzPct val="110000"/>
        <a:buFont typeface="Wingdings" charset="2"/>
        <a:buNone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33363" indent="-233363" algn="l" defTabSz="914314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8788" indent="-225425" algn="l" defTabSz="914314" rtl="0" eaLnBrk="1" latinLnBrk="0" hangingPunct="1">
        <a:spcBef>
          <a:spcPts val="600"/>
        </a:spcBef>
        <a:buClr>
          <a:schemeClr val="bg1">
            <a:lumMod val="50000"/>
          </a:schemeClr>
        </a:buClr>
        <a:buSzPct val="65000"/>
        <a:buFont typeface="Lucida Grande" panose="020B0600040502020204" pitchFamily="34" charset="0"/>
        <a:buChar char="▶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92150" indent="-233363" algn="l" defTabSz="914314" rtl="0" eaLnBrk="1" latinLnBrk="0" hangingPunct="1">
        <a:spcBef>
          <a:spcPts val="600"/>
        </a:spcBef>
        <a:buClr>
          <a:schemeClr val="accent1"/>
        </a:buClr>
        <a:buSzPct val="100000"/>
        <a:buFont typeface="LucidaGrande" charset="0"/>
        <a:buChar char="◆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917575" indent="-225425" algn="l" defTabSz="914314" rtl="0" eaLnBrk="1" latinLnBrk="0" hangingPunct="1">
        <a:spcBef>
          <a:spcPts val="600"/>
        </a:spcBef>
        <a:buClr>
          <a:schemeClr val="bg1">
            <a:lumMod val="50000"/>
          </a:schemeClr>
        </a:buClr>
        <a:buFont typeface=".HelveticaNeueDeskInterface-Regular"/>
        <a:buChar char="●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64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22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79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35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7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4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2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8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85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42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00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57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791806"/>
          </a:xfrm>
          <a:prstGeom prst="rect">
            <a:avLst/>
          </a:prstGeom>
        </p:spPr>
        <p:txBody>
          <a:bodyPr vert="horz" lIns="0" tIns="137160" rIns="0" bIns="0" rtlCol="0">
            <a:normAutofit/>
          </a:bodyPr>
          <a:lstStyle/>
          <a:p>
            <a:pPr lvl="0"/>
            <a:r>
              <a:rPr lang="en-US"/>
              <a:t>Paragraph type</a:t>
            </a:r>
          </a:p>
          <a:p>
            <a:pPr lvl="1"/>
            <a:r>
              <a:rPr lang="en-US"/>
              <a:t>Click the “Indent More” button (above) for first-level bullets</a:t>
            </a:r>
          </a:p>
          <a:p>
            <a:pPr lvl="2"/>
            <a:r>
              <a:rPr lang="en-US"/>
              <a:t>Click the “Indent More” button (above) twice for second-level bullets</a:t>
            </a:r>
          </a:p>
          <a:p>
            <a:pPr lvl="3"/>
            <a:r>
              <a:rPr lang="en-US"/>
              <a:t>Click the “Indent More” button (above) three times for third-level bullets</a:t>
            </a:r>
          </a:p>
          <a:p>
            <a:pPr lvl="4"/>
            <a:r>
              <a:rPr lang="en-US"/>
              <a:t>Click the “Indent More” button (above) four times for fourth-level bullets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82138"/>
            <a:ext cx="10972800" cy="1118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Master Slide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9C718-696D-8C48-95E3-35ACB84AD8D9}"/>
              </a:ext>
            </a:extLst>
          </p:cNvPr>
          <p:cNvSpPr txBox="1"/>
          <p:nvPr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>
                    <a:lumMod val="75000"/>
                  </a:schemeClr>
                </a:solidFill>
                <a:latin typeface="Arial Black" charset="0"/>
                <a:cs typeface="Arial Black" charset="0"/>
              </a:rPr>
              <a:t>IMF</a:t>
            </a:r>
            <a:endParaRPr lang="en-US" sz="900" b="0">
              <a:solidFill>
                <a:schemeClr val="bg1">
                  <a:lumMod val="75000"/>
                </a:schemeClr>
              </a:solidFill>
              <a:latin typeface="+mn-lt"/>
              <a:cs typeface="Arial Black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5D478-FD4A-2240-B032-46F4E3BAB6E8}"/>
              </a:ext>
            </a:extLst>
          </p:cNvPr>
          <p:cNvSpPr txBox="1"/>
          <p:nvPr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accent1"/>
                </a:solidFill>
              </a:rPr>
              <a:pPr algn="r"/>
              <a:t>‹#›</a:t>
            </a:fld>
            <a:endParaRPr lang="en-US" sz="100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C54C7-734D-43A7-BEFB-A9BE6BF97DF4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accent1"/>
                </a:solidFill>
              </a:rPr>
              <a:pPr algn="r"/>
              <a:t>‹#›</a:t>
            </a:fld>
            <a:endParaRPr lang="en-US" sz="10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906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91" r:id="rId14"/>
  </p:sldLayoutIdLst>
  <p:transition>
    <p:fade/>
  </p:transition>
  <p:hf hdr="0" ftr="0" dt="0"/>
  <p:txStyles>
    <p:titleStyle>
      <a:lvl1pPr algn="l" defTabSz="914314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0" indent="0" algn="l" defTabSz="914314" rtl="0" eaLnBrk="1" latinLnBrk="0" hangingPunct="1">
        <a:spcBef>
          <a:spcPts val="2400"/>
        </a:spcBef>
        <a:buClr>
          <a:schemeClr val="accent1"/>
        </a:buClr>
        <a:buSzPct val="110000"/>
        <a:buFont typeface="Wingdings" charset="2"/>
        <a:buNone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33363" indent="-233363" algn="l" defTabSz="914314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8788" indent="-225425" algn="l" defTabSz="914314" rtl="0" eaLnBrk="1" latinLnBrk="0" hangingPunct="1">
        <a:spcBef>
          <a:spcPts val="600"/>
        </a:spcBef>
        <a:buClr>
          <a:schemeClr val="bg1">
            <a:lumMod val="50000"/>
          </a:schemeClr>
        </a:buClr>
        <a:buSzPct val="65000"/>
        <a:buFont typeface="Lucida Grande" panose="020B0600040502020204" pitchFamily="34" charset="0"/>
        <a:buChar char="▶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92150" indent="-233363" algn="l" defTabSz="914314" rtl="0" eaLnBrk="1" latinLnBrk="0" hangingPunct="1">
        <a:spcBef>
          <a:spcPts val="600"/>
        </a:spcBef>
        <a:buClr>
          <a:schemeClr val="accent1"/>
        </a:buClr>
        <a:buSzPct val="100000"/>
        <a:buFont typeface="LucidaGrande" charset="0"/>
        <a:buChar char="◆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917575" indent="-225425" algn="l" defTabSz="914314" rtl="0" eaLnBrk="1" latinLnBrk="0" hangingPunct="1">
        <a:spcBef>
          <a:spcPts val="600"/>
        </a:spcBef>
        <a:buClr>
          <a:schemeClr val="bg1">
            <a:lumMod val="50000"/>
          </a:schemeClr>
        </a:buClr>
        <a:buFont typeface=".HelveticaNeueDeskInterface-Regular"/>
        <a:buChar char="●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64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22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79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35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7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4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2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8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85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42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00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57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A2D1FFAD-683D-4DF5-8667-FE7C943F09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5" y="6549163"/>
            <a:ext cx="12316389" cy="30595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539B6A2-25B6-414C-8964-4BB73BDD4DA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5" y="1105"/>
            <a:ext cx="12274927" cy="99853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41488" y="133440"/>
            <a:ext cx="9049421" cy="733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8398" y="16765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8249D-73BB-4688-B427-EB89B5DAF03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E4E6BEC-FFD1-403D-AE66-D9C4578DCD25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59" y="72826"/>
            <a:ext cx="868467" cy="85210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4A752841-1F14-472B-8136-14C2A87C7CD3}"/>
              </a:ext>
            </a:extLst>
          </p:cNvPr>
          <p:cNvSpPr txBox="1"/>
          <p:nvPr/>
        </p:nvSpPr>
        <p:spPr>
          <a:xfrm>
            <a:off x="117984" y="6594418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IMF</a:t>
            </a:r>
            <a:endParaRPr lang="en-US" sz="900" b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EC36D0-8578-4449-B610-88EB05D95480}"/>
              </a:ext>
            </a:extLst>
          </p:cNvPr>
          <p:cNvSpPr txBox="1"/>
          <p:nvPr/>
        </p:nvSpPr>
        <p:spPr>
          <a:xfrm>
            <a:off x="10372855" y="6579030"/>
            <a:ext cx="1613877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613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dr.undp.org/data-center/thematic-composite-indices/gender-inequality-index#/indicies/GII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Relationship Id="rId4" Type="http://schemas.openxmlformats.org/officeDocument/2006/relationships/chart" Target="../charts/char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mailto:mnewiak@imf.or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221FD5-C0B3-DA62-3AA2-E8B9CA5E63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4804" y="5047979"/>
            <a:ext cx="6782638" cy="14622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4958751-400C-0F44-BB35-6CE0FEAC0E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IMF Flickr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54EC1-60D1-CD48-8690-FF0B6D8AC54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084466" y="2022569"/>
            <a:ext cx="6640809" cy="1552576"/>
          </a:xfrm>
          <a:noFill/>
        </p:spPr>
        <p:txBody>
          <a:bodyPr>
            <a:noAutofit/>
          </a:bodyPr>
          <a:lstStyle/>
          <a:p>
            <a:r>
              <a:rPr lang="en-US" sz="3200" dirty="0">
                <a:latin typeface="Arial Black"/>
              </a:rPr>
              <a:t>Show me the Evidence: Linking Distributional and Macroeconomic Outcomes</a:t>
            </a:r>
            <a:endParaRPr lang="en-US" sz="320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D7DBFCA-BF0B-3D44-334A-846D65E38C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62906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D6C90-BDEF-96F5-7831-4FF05DADF45C}"/>
              </a:ext>
            </a:extLst>
          </p:cNvPr>
          <p:cNvSpPr txBox="1">
            <a:spLocks/>
          </p:cNvSpPr>
          <p:nvPr/>
        </p:nvSpPr>
        <p:spPr>
          <a:xfrm>
            <a:off x="281230" y="298310"/>
            <a:ext cx="11844555" cy="983152"/>
          </a:xfrm>
          <a:prstGeom prst="rect">
            <a:avLst/>
          </a:prstGeom>
        </p:spPr>
        <p:txBody>
          <a:bodyPr/>
          <a:lstStyle>
            <a:lvl1pPr algn="l" defTabSz="91431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91431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4C97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Calibri" panose="020F0502020204030204" pitchFamily="34" charset="0"/>
              </a:rPr>
              <a:t>Focus of this session: </a:t>
            </a:r>
          </a:p>
          <a:p>
            <a:pPr marL="0" marR="0" lvl="0" indent="0" algn="l" defTabSz="91431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4C97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Calibri" panose="020F0502020204030204" pitchFamily="34" charset="0"/>
              </a:rPr>
              <a:t>Linking gender inequality to macroeconomic outcomes and policies</a:t>
            </a:r>
          </a:p>
          <a:p>
            <a:pPr marL="0" marR="0" lvl="0" indent="0" algn="l" defTabSz="91431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4C97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5713F0-ABAA-17D4-BF43-867F9945BD72}"/>
              </a:ext>
            </a:extLst>
          </p:cNvPr>
          <p:cNvSpPr/>
          <p:nvPr/>
        </p:nvSpPr>
        <p:spPr>
          <a:xfrm>
            <a:off x="3861228" y="3602849"/>
            <a:ext cx="2743200" cy="2743200"/>
          </a:xfrm>
          <a:prstGeom prst="ellipse">
            <a:avLst/>
          </a:prstGeom>
          <a:solidFill>
            <a:srgbClr val="004C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Policies </a:t>
            </a: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fiscal, monetary, structural, financial</a:t>
            </a: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92E198-2C5A-2628-2C17-A66CE410CB87}"/>
              </a:ext>
            </a:extLst>
          </p:cNvPr>
          <p:cNvSpPr/>
          <p:nvPr/>
        </p:nvSpPr>
        <p:spPr>
          <a:xfrm>
            <a:off x="1518948" y="1083496"/>
            <a:ext cx="2743200" cy="2743200"/>
          </a:xfrm>
          <a:prstGeom prst="ellipse">
            <a:avLst/>
          </a:prstGeom>
          <a:solidFill>
            <a:srgbClr val="C0000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Inequality </a:t>
            </a: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Legal rights, education, health, financial inclusion</a:t>
            </a: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LFP, wages,</a:t>
            </a: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representation/</a:t>
            </a: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leadership</a:t>
            </a:r>
          </a:p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147098-72CE-B838-A1E8-D0DCA0B0925D}"/>
              </a:ext>
            </a:extLst>
          </p:cNvPr>
          <p:cNvSpPr/>
          <p:nvPr/>
        </p:nvSpPr>
        <p:spPr>
          <a:xfrm>
            <a:off x="6203508" y="1083496"/>
            <a:ext cx="2743200" cy="2743200"/>
          </a:xfrm>
          <a:prstGeom prst="ellipse">
            <a:avLst/>
          </a:prstGeom>
          <a:solidFill>
            <a:srgbClr val="004C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Macro Outcomes</a:t>
            </a: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Economic growth and resilience,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macro-financial stability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8441641-EBD4-8E3B-A0A7-3D79D0446D70}"/>
              </a:ext>
            </a:extLst>
          </p:cNvPr>
          <p:cNvSpPr/>
          <p:nvPr/>
        </p:nvSpPr>
        <p:spPr>
          <a:xfrm rot="12954239">
            <a:off x="6461920" y="3180761"/>
            <a:ext cx="914400" cy="182880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3253EFE-D3A3-B341-9FA3-A54C13E8D7A4}"/>
              </a:ext>
            </a:extLst>
          </p:cNvPr>
          <p:cNvSpPr/>
          <p:nvPr/>
        </p:nvSpPr>
        <p:spPr>
          <a:xfrm rot="8404864">
            <a:off x="3065954" y="3180761"/>
            <a:ext cx="914400" cy="1828800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29BF8D97-B68B-9B88-5C33-545DD5D00931}"/>
              </a:ext>
            </a:extLst>
          </p:cNvPr>
          <p:cNvSpPr/>
          <p:nvPr/>
        </p:nvSpPr>
        <p:spPr>
          <a:xfrm>
            <a:off x="3912598" y="1411950"/>
            <a:ext cx="2640459" cy="983152"/>
          </a:xfrm>
          <a:prstGeom prst="leftRightArrow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427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5EEF584-0DD4-B16E-3F48-A33877E2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presentation we will explore the economic gains from better allocation of talents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98242C-57A2-0111-CCB2-82E58C5355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38250" y="1706177"/>
            <a:ext cx="9715500" cy="416036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Why? What are the channels?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What is the empirical evidence?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Is there room for economic policy?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Country Cases</a:t>
            </a:r>
          </a:p>
        </p:txBody>
      </p:sp>
    </p:spTree>
    <p:extLst>
      <p:ext uri="{BB962C8B-B14F-4D97-AF65-F5344CB8AC3E}">
        <p14:creationId xmlns:p14="http://schemas.microsoft.com/office/powerpoint/2010/main" val="124840299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128D-DDA5-8D75-6CEA-FB57E2F0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400" y="2777385"/>
            <a:ext cx="8707120" cy="978486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Why does female economic empowerment boosts GDP?</a:t>
            </a:r>
          </a:p>
        </p:txBody>
      </p:sp>
    </p:spTree>
    <p:extLst>
      <p:ext uri="{BB962C8B-B14F-4D97-AF65-F5344CB8AC3E}">
        <p14:creationId xmlns:p14="http://schemas.microsoft.com/office/powerpoint/2010/main" val="225037821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B16A1-E62F-4AF6-BD07-EC6E76F35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GDP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16B4B-F9F0-435C-8409-80DF3B704B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82"/>
              </a:spcAft>
              <a:buSzPct val="45000"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CA" altLang="en-US" b="1" dirty="0"/>
              <a:t>GDP through Demand Side = C + I + G + (X – M)</a:t>
            </a:r>
          </a:p>
          <a:p>
            <a:pPr marL="195864" indent="-195864">
              <a:spcBef>
                <a:spcPts val="0"/>
              </a:spcBef>
              <a:spcAft>
                <a:spcPts val="1282"/>
              </a:spcAft>
              <a:buSzPct val="45000"/>
              <a:buFont typeface="Wingdings" panose="05000000000000000000" pitchFamily="2" charset="2"/>
              <a:buChar char=""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CA" altLang="en-US" dirty="0"/>
              <a:t>Consumption: </a:t>
            </a:r>
            <a:r>
              <a:rPr lang="en-US" altLang="en-US" dirty="0"/>
              <a:t> Living Standards Measurement Studies (LSMSs)</a:t>
            </a:r>
            <a:r>
              <a:rPr lang="en-CA" altLang="en-US" dirty="0"/>
              <a:t> consistently show that women and men spend money on different items.</a:t>
            </a:r>
          </a:p>
          <a:p>
            <a:pPr marL="195864" indent="-195864">
              <a:spcBef>
                <a:spcPts val="0"/>
              </a:spcBef>
              <a:spcAft>
                <a:spcPts val="1282"/>
              </a:spcAft>
              <a:buSzPct val="45000"/>
              <a:buFont typeface="Wingdings" panose="05000000000000000000" pitchFamily="2" charset="2"/>
              <a:buChar char=""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CA" altLang="en-US" dirty="0"/>
              <a:t>Investment: LSMSs consistently show that investment patterns in male-run businesses are different from those of female-run businesses. </a:t>
            </a:r>
          </a:p>
          <a:p>
            <a:pPr marL="195864" indent="-195864">
              <a:spcBef>
                <a:spcPts val="0"/>
              </a:spcBef>
              <a:spcAft>
                <a:spcPts val="1282"/>
              </a:spcAft>
              <a:buSzPct val="45000"/>
              <a:buFont typeface="Wingdings" panose="05000000000000000000" pitchFamily="2" charset="2"/>
              <a:buChar char=""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CA" altLang="en-US" dirty="0"/>
              <a:t>Government: government spending affects men and women differently; they also have different needs for public expenditure and are impacted differently by taxes.</a:t>
            </a:r>
          </a:p>
          <a:p>
            <a:pPr marL="195864" indent="-195864">
              <a:spcBef>
                <a:spcPts val="0"/>
              </a:spcBef>
              <a:spcAft>
                <a:spcPts val="1282"/>
              </a:spcAft>
              <a:buSzPct val="45000"/>
              <a:buFont typeface="Wingdings" panose="05000000000000000000" pitchFamily="2" charset="2"/>
              <a:buChar char=""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CA" altLang="en-US" dirty="0"/>
              <a:t>Misallocation of talents influences exports and imports opportunities (e.g., through access to credit)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34988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3D33D-9949-2E47-4DEE-944F0259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D0AF9-A4D4-FE11-DD09-5168FA013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GDP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74EEA-AE39-914A-556B-4AFD17DC9F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82"/>
              </a:spcAft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US" altLang="en-US" b="1" dirty="0"/>
              <a:t>GDP through Income Factors = W + R + π</a:t>
            </a:r>
          </a:p>
          <a:p>
            <a:pPr marL="342900" indent="-342900">
              <a:spcBef>
                <a:spcPts val="0"/>
              </a:spcBef>
              <a:spcAft>
                <a:spcPts val="1282"/>
              </a:spcAft>
              <a:buFont typeface="Arial" panose="020B0604020202020204" pitchFamily="34" charset="0"/>
              <a:buChar char="•"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US" altLang="en-US" dirty="0"/>
              <a:t>Wages: differences in wages are well-established, as well as bias in hiring and promotion.</a:t>
            </a:r>
          </a:p>
          <a:p>
            <a:pPr marL="342900" indent="-342900">
              <a:spcBef>
                <a:spcPts val="0"/>
              </a:spcBef>
              <a:spcAft>
                <a:spcPts val="1282"/>
              </a:spcAft>
              <a:buFont typeface="Arial" panose="020B0604020202020204" pitchFamily="34" charset="0"/>
              <a:buChar char="•"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US" altLang="en-US" dirty="0"/>
              <a:t>Rents: Property is unequally distributed between women and men. </a:t>
            </a:r>
          </a:p>
          <a:p>
            <a:pPr marL="342900" indent="-342900">
              <a:spcBef>
                <a:spcPts val="0"/>
              </a:spcBef>
              <a:spcAft>
                <a:spcPts val="1282"/>
              </a:spcAft>
              <a:buFont typeface="Arial" panose="020B0604020202020204" pitchFamily="34" charset="0"/>
              <a:buChar char="•"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US" altLang="en-US" dirty="0"/>
              <a:t>Profits: reflect the unequal corporate ownership and access to credit. </a:t>
            </a:r>
          </a:p>
          <a:p>
            <a:pPr>
              <a:spcBef>
                <a:spcPts val="0"/>
              </a:spcBef>
              <a:spcAft>
                <a:spcPts val="1282"/>
              </a:spcAft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CA" altLang="en-US" dirty="0"/>
              <a:t> </a:t>
            </a:r>
            <a:r>
              <a:rPr lang="en-CA" altLang="en-US" b="1" dirty="0"/>
              <a:t>GDP through Supply Side (Production): </a:t>
            </a:r>
          </a:p>
          <a:p>
            <a:pPr marL="342900" indent="-342900">
              <a:spcBef>
                <a:spcPts val="0"/>
              </a:spcBef>
              <a:spcAft>
                <a:spcPts val="1282"/>
              </a:spcAft>
              <a:buFont typeface="Arial" panose="020B0604020202020204" pitchFamily="34" charset="0"/>
              <a:buChar char="•"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CA" altLang="en-US" dirty="0"/>
              <a:t>Note since traditional measures of GDP exclude non-market transactions, women’s unpaid care work and subsistence work are not counted.</a:t>
            </a:r>
          </a:p>
          <a:p>
            <a:pPr marL="342900" indent="-342900">
              <a:spcBef>
                <a:spcPts val="0"/>
              </a:spcBef>
              <a:spcAft>
                <a:spcPts val="1282"/>
              </a:spcAft>
              <a:buFont typeface="Arial" panose="020B0604020202020204" pitchFamily="34" charset="0"/>
              <a:buChar char="•"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CA" altLang="en-US" dirty="0"/>
              <a:t>Affected by productivity</a:t>
            </a:r>
          </a:p>
          <a:p>
            <a:pPr marL="342900" indent="-342900">
              <a:spcBef>
                <a:spcPts val="0"/>
              </a:spcBef>
              <a:spcAft>
                <a:spcPts val="1282"/>
              </a:spcAft>
              <a:buFont typeface="Arial" panose="020B0604020202020204" pitchFamily="34" charset="0"/>
              <a:buChar char="•"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4729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5A99B-53E6-FC0E-C0BC-B7061309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GDP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60BB0-2042-E2D8-53F5-CC26D6E4E5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38250" y="1366463"/>
            <a:ext cx="9715500" cy="496399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Productivity</a:t>
            </a:r>
            <a:r>
              <a:rPr lang="en-US" dirty="0"/>
              <a:t> is affected by barriers to women’s economic participation through</a:t>
            </a:r>
          </a:p>
          <a:p>
            <a:pPr marL="801688" lvl="2" indent="-342900">
              <a:buFont typeface="Arial" panose="020B0604020202020204" pitchFamily="34" charset="0"/>
              <a:buChar char="•"/>
            </a:pPr>
            <a:r>
              <a:rPr lang="en-US" dirty="0"/>
              <a:t>education (noting also the importance of mother’s education on children’s future outcomes)</a:t>
            </a:r>
          </a:p>
          <a:p>
            <a:pPr marL="801688" lvl="2" indent="-342900">
              <a:buFont typeface="Arial" panose="020B0604020202020204" pitchFamily="34" charset="0"/>
              <a:buChar char="•"/>
            </a:pPr>
            <a:r>
              <a:rPr lang="en-US" dirty="0"/>
              <a:t>health (maternal health, harmful practices)</a:t>
            </a:r>
          </a:p>
          <a:p>
            <a:pPr marL="801688" lvl="2" indent="-342900">
              <a:buFont typeface="Arial" panose="020B0604020202020204" pitchFamily="34" charset="0"/>
              <a:buChar char="•"/>
            </a:pPr>
            <a:r>
              <a:rPr lang="en-US" dirty="0"/>
              <a:t>legal protection (parental leave, equal pay for the same tasks, anti-discrimination)</a:t>
            </a:r>
          </a:p>
          <a:p>
            <a:pPr marL="801688" lvl="2" indent="-342900">
              <a:buFont typeface="Arial" panose="020B0604020202020204" pitchFamily="34" charset="0"/>
              <a:buChar char="•"/>
            </a:pPr>
            <a:r>
              <a:rPr lang="en-US" dirty="0"/>
              <a:t>access to childcare </a:t>
            </a:r>
          </a:p>
          <a:p>
            <a:pPr marL="801688" lvl="2" indent="-342900">
              <a:buFont typeface="Arial" panose="020B0604020202020204" pitchFamily="34" charset="0"/>
              <a:buChar char="•"/>
            </a:pPr>
            <a:r>
              <a:rPr lang="en-US" dirty="0"/>
              <a:t>house chores, elderly care and other unpaid work</a:t>
            </a:r>
          </a:p>
          <a:p>
            <a:r>
              <a:rPr lang="en-US" b="1" dirty="0"/>
              <a:t>Occupational choices</a:t>
            </a:r>
            <a:r>
              <a:rPr lang="en-US" dirty="0"/>
              <a:t> that can lower aggregate productivity are affected by</a:t>
            </a:r>
            <a:endParaRPr lang="en-US" b="1" dirty="0"/>
          </a:p>
          <a:p>
            <a:pPr marL="576263" lvl="1" indent="-342900">
              <a:buFont typeface="Arial" panose="020B0604020202020204" pitchFamily="34" charset="0"/>
              <a:buChar char="•"/>
            </a:pPr>
            <a:r>
              <a:rPr lang="en-US" dirty="0"/>
              <a:t>cultural expectations, stereotypes about skills</a:t>
            </a:r>
          </a:p>
          <a:p>
            <a:pPr marL="576263" lvl="1" indent="-342900">
              <a:buFont typeface="Arial" panose="020B0604020202020204" pitchFamily="34" charset="0"/>
              <a:buChar char="•"/>
            </a:pPr>
            <a:r>
              <a:rPr lang="en-US" dirty="0"/>
              <a:t>lack of networks or mentorships </a:t>
            </a:r>
          </a:p>
          <a:p>
            <a:pPr lvl="1" indent="0">
              <a:buNone/>
            </a:pPr>
            <a:endParaRPr lang="en-US" b="1" dirty="0"/>
          </a:p>
          <a:p>
            <a:r>
              <a:rPr lang="en-US" dirty="0">
                <a:solidFill>
                  <a:schemeClr val="tx2"/>
                </a:solidFill>
              </a:rPr>
              <a:t>All these factors generate </a:t>
            </a:r>
            <a:r>
              <a:rPr lang="en-US" b="1" dirty="0">
                <a:solidFill>
                  <a:schemeClr val="tx2"/>
                </a:solidFill>
              </a:rPr>
              <a:t>misallocation of workforce across the economy, lowering aggregate productivity</a:t>
            </a:r>
            <a:r>
              <a:rPr lang="en-US" dirty="0">
                <a:solidFill>
                  <a:schemeClr val="tx2"/>
                </a:solidFill>
              </a:rPr>
              <a:t>. </a:t>
            </a:r>
          </a:p>
          <a:p>
            <a:pPr lvl="1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837425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128D-DDA5-8D75-6CEA-FB57E2F0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2695192"/>
            <a:ext cx="9325318" cy="978486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Women’s Participation and Economic Activity: Correlations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23016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9AEDB7-8C42-1049-8D4C-110CB2584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931" y="299791"/>
            <a:ext cx="9736138" cy="978486"/>
          </a:xfrm>
        </p:spPr>
        <p:txBody>
          <a:bodyPr/>
          <a:lstStyle/>
          <a:p>
            <a:r>
              <a:rPr lang="en-US" dirty="0"/>
              <a:t>On growth, eyeballing the evidence gives a striking picture: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702F20-2F8E-4490-A5AB-540A47511C78}"/>
              </a:ext>
            </a:extLst>
          </p:cNvPr>
          <p:cNvSpPr/>
          <p:nvPr/>
        </p:nvSpPr>
        <p:spPr>
          <a:xfrm>
            <a:off x="2257425" y="1582854"/>
            <a:ext cx="97361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Arial Black" charset="0"/>
              </a:rPr>
              <a:t>Correlation with GDP per Capita Growth, 1990-2010</a:t>
            </a:r>
            <a:endParaRPr lang="en-US" sz="2000" dirty="0">
              <a:solidFill>
                <a:schemeClr val="tx2"/>
              </a:solidFill>
              <a:latin typeface="Arial Black" charset="0"/>
            </a:endParaRPr>
          </a:p>
          <a:p>
            <a:endParaRPr lang="en-US" sz="2000" dirty="0">
              <a:solidFill>
                <a:schemeClr val="tx2"/>
              </a:solidFill>
              <a:latin typeface="Arial Black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AE8E22-E12C-F2EF-0DB5-2CAEF4EB017E}"/>
              </a:ext>
            </a:extLst>
          </p:cNvPr>
          <p:cNvSpPr txBox="1"/>
          <p:nvPr/>
        </p:nvSpPr>
        <p:spPr>
          <a:xfrm>
            <a:off x="1447068" y="6181949"/>
            <a:ext cx="111494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>
                <a:hlinkClick r:id="rId3"/>
              </a:rPr>
              <a:t>Check out the data: Gender Inequality Index | Human Development Reports (undp.org)</a:t>
            </a:r>
            <a:endParaRPr lang="en-US" sz="1100" b="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6FE80D-18FA-709F-8E8F-5C68BC4E7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5293" y="1982964"/>
            <a:ext cx="6618608" cy="4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75931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3191A7-A325-428E-BE7B-1298A8361546}"/>
              </a:ext>
            </a:extLst>
          </p:cNvPr>
          <p:cNvSpPr/>
          <p:nvPr/>
        </p:nvSpPr>
        <p:spPr>
          <a:xfrm>
            <a:off x="1066800" y="618962"/>
            <a:ext cx="52097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Arial Black" charset="0"/>
              </a:rPr>
              <a:t>Correlation with Income Inequality in Sub-Saharan Africa…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00000000-0008-0000-0500-000004000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966471"/>
            <a:ext cx="6276975" cy="8381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45720" tIns="36576" rIns="0" bIns="0" anchor="t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Sources: </a:t>
            </a:r>
            <a:r>
              <a:rPr lang="en-US" sz="1400" baseline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Solt, Frederick. 2014. "The Standardized World Income Inequality Database" Working paper. SWIID Version 5.0, October 2014; 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United Nations Development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Programme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and Gonzales and others (2015b).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F922A4-26EF-4492-8D80-F7E11EDA5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725410"/>
            <a:ext cx="7143695" cy="298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F84A37-DC32-F95F-00D1-AA8F330906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57"/>
          <a:stretch/>
        </p:blipFill>
        <p:spPr>
          <a:xfrm>
            <a:off x="7631047" y="1811135"/>
            <a:ext cx="3593408" cy="30483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E5DD6BB-2E76-D53F-59BB-224744C64461}"/>
              </a:ext>
            </a:extLst>
          </p:cNvPr>
          <p:cNvSpPr/>
          <p:nvPr/>
        </p:nvSpPr>
        <p:spPr>
          <a:xfrm>
            <a:off x="7631047" y="618962"/>
            <a:ext cx="43525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Arial Black" charset="0"/>
              </a:rPr>
              <a:t>... with human development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41122EC6-4A6B-2583-1F1B-01D09032F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3850" y="4966471"/>
            <a:ext cx="3593409" cy="8381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45720" tIns="36576" rIns="0" bIns="0" anchor="t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Sources: </a:t>
            </a:r>
            <a:r>
              <a:rPr lang="en-US" sz="1400" baseline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 Human Development Index, and IMF estimates. </a:t>
            </a:r>
            <a:br>
              <a:rPr lang="en-US" sz="1400" baseline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aseline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Note: HIC = high-income country; MIC = middle-income country; LIC = low-income country. </a:t>
            </a:r>
            <a:endParaRPr 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64715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8F74CE-9634-49A6-8153-3B21871F23FE}"/>
              </a:ext>
            </a:extLst>
          </p:cNvPr>
          <p:cNvSpPr/>
          <p:nvPr/>
        </p:nvSpPr>
        <p:spPr>
          <a:xfrm>
            <a:off x="2429874" y="1080510"/>
            <a:ext cx="80652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Arial Black" charset="0"/>
              </a:rPr>
              <a:t>… with global competitiveness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BFDE37AF-EC88-6404-ECD6-612869DBFBF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57202" y="3600450"/>
            <a:ext cx="3048000" cy="27761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vert270" wrap="square" lIns="45720" tIns="36576" rIns="0" bIns="0" anchor="t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Competitiveness Index (1-7)</a:t>
            </a:r>
            <a:endParaRPr 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E297E9-805E-A595-B6FB-F69048DA7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037" y="1738056"/>
            <a:ext cx="6811326" cy="3667637"/>
          </a:xfrm>
          <a:prstGeom prst="rect">
            <a:avLst/>
          </a:prstGeom>
        </p:spPr>
      </p:pic>
      <p:sp>
        <p:nvSpPr>
          <p:cNvPr id="10" name="Text Box 4">
            <a:extLst>
              <a:ext uri="{FF2B5EF4-FFF2-40B4-BE49-F238E27FC236}">
                <a16:creationId xmlns:a16="http://schemas.microsoft.com/office/drawing/2014/main" id="{5655DB84-A6AD-ECCD-D6B8-3EADE152A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9874" y="5777490"/>
            <a:ext cx="6486525" cy="8381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45720" tIns="36576" rIns="0" bIns="0" anchor="t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The Global Competitive Report 2015-2016 (World Economic Forum and United Nations Development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2015 Human Development Report. </a:t>
            </a:r>
            <a:endParaRPr 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81263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2D6AA4-34F3-4617-973B-A5F89FBDCC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900" b="6637"/>
          <a:stretch/>
        </p:blipFill>
        <p:spPr>
          <a:xfrm>
            <a:off x="734291" y="1707916"/>
            <a:ext cx="7265548" cy="4226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8128B7-AC20-C749-5970-E7D6798273C8}"/>
              </a:ext>
            </a:extLst>
          </p:cNvPr>
          <p:cNvSpPr txBox="1"/>
          <p:nvPr/>
        </p:nvSpPr>
        <p:spPr>
          <a:xfrm>
            <a:off x="609600" y="6211669"/>
            <a:ext cx="11485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pPr>
            <a:r>
              <a:rPr lang="en-US" sz="1400" b="0" i="0" u="none" strike="noStrike" baseline="0" dirty="0">
                <a:solidFill>
                  <a:srgbClr val="000000"/>
                </a:solidFill>
                <a:cs typeface="Arial" panose="020B0604020202020204" pitchFamily="34" charset="0"/>
              </a:rPr>
              <a:t>Sources: </a:t>
            </a:r>
            <a: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  <a:t>Kazandjian et al </a:t>
            </a:r>
            <a:r>
              <a:rPr lang="en-US" sz="1400" b="0" i="0" u="none" strike="noStrike" baseline="0" dirty="0">
                <a:solidFill>
                  <a:srgbClr val="000000"/>
                </a:solidFill>
                <a:cs typeface="Arial" panose="020B0604020202020204" pitchFamily="34" charset="0"/>
              </a:rPr>
              <a:t>(2016) “</a:t>
            </a:r>
            <a:r>
              <a:rPr lang="en-US" sz="1400" b="0" i="0" u="none" strike="noStrike" baseline="0" dirty="0"/>
              <a:t>Gender Equality and Economic Diversification.” IMF Working Paper 16/140</a:t>
            </a:r>
            <a:r>
              <a:rPr lang="en-US" sz="1400" b="0" i="0" u="none" strike="noStrike" baseline="0" dirty="0">
                <a:solidFill>
                  <a:srgbClr val="000000"/>
                </a:solidFill>
                <a:cs typeface="Arial" panose="020B0604020202020204" pitchFamily="34" charset="0"/>
              </a:rPr>
              <a:t>. Data from 1990 to 2013.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DB1E67-C5AC-AB43-952D-C449CA62B260}"/>
              </a:ext>
            </a:extLst>
          </p:cNvPr>
          <p:cNvSpPr txBox="1"/>
          <p:nvPr/>
        </p:nvSpPr>
        <p:spPr>
          <a:xfrm>
            <a:off x="8537471" y="1707916"/>
            <a:ext cx="34527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Some channels: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Less education limit human capital in the economy, constrain the production of new ideas.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Less access to credit and to expand firms to export.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55EDF-A953-2081-3DD8-AAF4D5679F9A}"/>
              </a:ext>
            </a:extLst>
          </p:cNvPr>
          <p:cNvSpPr txBox="1"/>
          <p:nvPr/>
        </p:nvSpPr>
        <p:spPr>
          <a:xfrm>
            <a:off x="1714500" y="9231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  <a:latin typeface="Arial Black" charset="0"/>
              </a:rPr>
              <a:t>… with export diversification</a:t>
            </a:r>
          </a:p>
        </p:txBody>
      </p:sp>
    </p:spTree>
    <p:extLst>
      <p:ext uri="{BB962C8B-B14F-4D97-AF65-F5344CB8AC3E}">
        <p14:creationId xmlns:p14="http://schemas.microsoft.com/office/powerpoint/2010/main" val="5335045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9AEDB7-8C42-1049-8D4C-110CB2584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543636"/>
            <a:ext cx="10219944" cy="978486"/>
          </a:xfrm>
        </p:spPr>
        <p:txBody>
          <a:bodyPr/>
          <a:lstStyle/>
          <a:p>
            <a:r>
              <a:rPr lang="en-US" dirty="0"/>
              <a:t>Correlation: more unpaid care work and lower GDP per capita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52D4D-69C7-A32D-E426-C933BE365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614" y="1522122"/>
            <a:ext cx="75914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13397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128D-DDA5-8D75-6CEA-FB57E2F0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337" y="2805960"/>
            <a:ext cx="9585325" cy="978486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Women’s Participation and Economic Activity: </a:t>
            </a:r>
            <a:br>
              <a:rPr lang="en-US" dirty="0"/>
            </a:br>
            <a:r>
              <a:rPr lang="en-US" dirty="0"/>
              <a:t>Empirical Evidence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3817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Infographic explaining the U-shaped relationship between economic development and women's labor force participation.">
            <a:extLst>
              <a:ext uri="{FF2B5EF4-FFF2-40B4-BE49-F238E27FC236}">
                <a16:creationId xmlns:a16="http://schemas.microsoft.com/office/drawing/2014/main" id="{0B6767C1-6C47-8C82-68FB-4DC96C5CC3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99DA01-ABA0-72DB-8BF4-48EB75921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30" y="-12526"/>
            <a:ext cx="3827721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B7AB48C-E571-901C-2D46-6760EC416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9224" y="491385"/>
            <a:ext cx="6186114" cy="978486"/>
          </a:xfrm>
        </p:spPr>
        <p:txBody>
          <a:bodyPr/>
          <a:lstStyle/>
          <a:p>
            <a:r>
              <a:rPr lang="en-US" dirty="0"/>
              <a:t>Female LFP and Development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DDC6BA-5B20-9016-44C0-18B3FDC48F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69224" y="1469871"/>
            <a:ext cx="6186114" cy="4860591"/>
          </a:xfrm>
        </p:spPr>
        <p:txBody>
          <a:bodyPr/>
          <a:lstStyle/>
          <a:p>
            <a:pPr algn="ctr"/>
            <a:r>
              <a:rPr lang="en-US" b="1" dirty="0"/>
              <a:t>Three seminal papers:</a:t>
            </a:r>
          </a:p>
          <a:p>
            <a:pPr algn="ctr"/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Galor &amp; Weil (1993, 1996):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Claudia Goldin (1995)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Mammen &amp; Paxson (2000)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5111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71DA-3684-69AB-1AA3-EB2C3308D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Cross-Country Data Showed Differences in Female Labor Across Different Development Stages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00641-0C61-6F31-ABDC-C4D3467A43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b="1" dirty="0"/>
              <a:t>Claudia Goldin (1995)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Formalized the hypothesis the female LFP forms a U-shape when plotted against economic growth.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Initial decline after agriculture </a:t>
            </a:r>
            <a:r>
              <a:rPr lang="en-US" dirty="0"/>
              <a:t>(Income Effect): early industrialization moves labor from family farms to factories. Rising household income from husbands enables married women to exit grueling manual labor.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Eventual Rise </a:t>
            </a:r>
            <a:r>
              <a:rPr lang="en-US" dirty="0"/>
              <a:t>(Substitution Effect): As education advances and clean, white-collar service sectors emerge, wages rise. This makes the opportunity cost of staying home too high, drawing women back into the market.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29538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5A3BF-76F4-F9CE-C74C-D46E455E0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Seminal papers from the 90s found feedback loops from economic growth and demographic transitions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A319C-9651-C002-7EEC-DD3D26F16A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b="1" dirty="0"/>
              <a:t>Galor &amp; Weil (1993, 1996</a:t>
            </a:r>
            <a:r>
              <a:rPr lang="en-US" b="1" i="1" dirty="0"/>
              <a:t>):</a:t>
            </a:r>
          </a:p>
          <a:p>
            <a:pPr lvl="1"/>
            <a:r>
              <a:rPr lang="en-US" dirty="0"/>
              <a:t>They demonstrate that </a:t>
            </a:r>
            <a:r>
              <a:rPr lang="en-US" b="1" dirty="0"/>
              <a:t>as an economy accumulates </a:t>
            </a:r>
            <a:r>
              <a:rPr lang="en-US" b="1" dirty="0">
                <a:solidFill>
                  <a:schemeClr val="tx2"/>
                </a:solidFill>
              </a:rPr>
              <a:t>capital</a:t>
            </a:r>
            <a:r>
              <a:rPr lang="en-US" dirty="0"/>
              <a:t>, the </a:t>
            </a:r>
            <a:r>
              <a:rPr lang="en-US" b="1" dirty="0"/>
              <a:t>relative wages of women rise</a:t>
            </a:r>
            <a:r>
              <a:rPr lang="en-US" dirty="0"/>
              <a:t> because capital better complements women's labor inputs (as opposed to physical-strength / intensive tasks)</a:t>
            </a:r>
          </a:p>
          <a:p>
            <a:pPr lvl="1"/>
            <a:r>
              <a:rPr lang="en-US" b="1" dirty="0"/>
              <a:t>Higher relative wages increase the opportunity cost of having children, triggering </a:t>
            </a:r>
            <a:r>
              <a:rPr lang="en-US" dirty="0"/>
              <a:t>a demographic transition (</a:t>
            </a:r>
            <a:r>
              <a:rPr lang="en-US" b="1" dirty="0">
                <a:solidFill>
                  <a:schemeClr val="tx2"/>
                </a:solidFill>
              </a:rPr>
              <a:t>lower fertility</a:t>
            </a:r>
            <a:r>
              <a:rPr lang="en-US" dirty="0"/>
              <a:t>) and boosting female labor force participation</a:t>
            </a:r>
          </a:p>
          <a:p>
            <a:pPr lvl="1"/>
            <a:r>
              <a:rPr lang="en-US" b="1" dirty="0"/>
              <a:t>This shift alters household resource allocation</a:t>
            </a:r>
            <a:r>
              <a:rPr lang="en-US" dirty="0"/>
              <a:t>—since working women tend to invest a </a:t>
            </a:r>
            <a:r>
              <a:rPr lang="en-US" b="1" dirty="0"/>
              <a:t>higher share of income into the health and education of their children—accelerating long-term human capital accumulation and economic growth</a:t>
            </a:r>
          </a:p>
        </p:txBody>
      </p:sp>
    </p:spTree>
    <p:extLst>
      <p:ext uri="{BB962C8B-B14F-4D97-AF65-F5344CB8AC3E}">
        <p14:creationId xmlns:p14="http://schemas.microsoft.com/office/powerpoint/2010/main" val="167081374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56277-6A59-7FDD-FF66-6D6DAF6B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5D7C3-5449-9139-F34E-45972893E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Cross-Country Data Reinforced Differences in Female Labor Across Different Development Stages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D59CE-A2C8-C184-1AB9-0404C5038A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1226" y="1469871"/>
            <a:ext cx="9715500" cy="4860591"/>
          </a:xfrm>
        </p:spPr>
        <p:txBody>
          <a:bodyPr/>
          <a:lstStyle/>
          <a:p>
            <a:pPr lvl="0"/>
            <a:r>
              <a:rPr lang="en-US" b="1" dirty="0"/>
              <a:t>Mammen &amp; Paxson (2000)</a:t>
            </a:r>
            <a:endParaRPr lang="en-US" dirty="0"/>
          </a:p>
          <a:p>
            <a:pPr lvl="1"/>
            <a:r>
              <a:rPr lang="en-US" dirty="0"/>
              <a:t>They evaluate cross-country data to understand how women's economic activities change as economies modernize.</a:t>
            </a:r>
          </a:p>
          <a:p>
            <a:pPr lvl="1"/>
            <a:r>
              <a:rPr lang="en-US" dirty="0"/>
              <a:t>They document a distinct U-shaped relationship between economic development and female labor force participation. </a:t>
            </a:r>
          </a:p>
          <a:p>
            <a:pPr lvl="2"/>
            <a:r>
              <a:rPr lang="en-US" dirty="0"/>
              <a:t>At low levels of income, women work heavily in </a:t>
            </a:r>
            <a:r>
              <a:rPr lang="en-US" b="1" dirty="0">
                <a:solidFill>
                  <a:schemeClr val="tx2"/>
                </a:solidFill>
              </a:rPr>
              <a:t>family agricultural enterprises </a:t>
            </a:r>
          </a:p>
          <a:p>
            <a:pPr lvl="2"/>
            <a:r>
              <a:rPr lang="en-US" dirty="0"/>
              <a:t>As industrialization pulls work out of the home, participation initially dips due to </a:t>
            </a:r>
            <a:r>
              <a:rPr lang="en-US" b="1" dirty="0">
                <a:solidFill>
                  <a:schemeClr val="tx2"/>
                </a:solidFill>
              </a:rPr>
              <a:t>social stigmas and structural barriers</a:t>
            </a:r>
            <a:r>
              <a:rPr lang="en-US" dirty="0"/>
              <a:t>… </a:t>
            </a:r>
          </a:p>
          <a:p>
            <a:pPr lvl="2"/>
            <a:r>
              <a:rPr lang="en-US" dirty="0"/>
              <a:t>… before rebounding strongly as women gain higher education levels, leading to permanent structural growth gains.</a:t>
            </a:r>
          </a:p>
        </p:txBody>
      </p:sp>
    </p:spTree>
    <p:extLst>
      <p:ext uri="{BB962C8B-B14F-4D97-AF65-F5344CB8AC3E}">
        <p14:creationId xmlns:p14="http://schemas.microsoft.com/office/powerpoint/2010/main" val="414879580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F470-5489-EB62-5E8A-E1F0C866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 Economic Growth from 1960 to 2010 largely due to reduction of barriers to women in the labor market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A2F5-C77E-FD95-D8BD-17D13F09B3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39838" y="1469871"/>
            <a:ext cx="6377512" cy="4860591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1960, 94 percent of doctors and lawyers were white men. By 2010, the fraction was just 62 percent.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Similar changes in other highly-skilled occupations have occurred throughout the U.S. economy during the last 50 years.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Given that the innate talent for these professions is unlikely to have changed differently across groups, the change in the occupational distribution since 1960 suggests that a substantial pool of innately talented women and black men in 1960 were not pursuing their comparative advantage.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paper examines the effect on aggregate productivity from1960 and 2010 through the prism of a Roy model.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Estimates that</a:t>
            </a:r>
            <a:r>
              <a:rPr lang="en-US" b="1" dirty="0"/>
              <a:t> 37% of US growth in that period </a:t>
            </a:r>
            <a:r>
              <a:rPr lang="en-US" dirty="0"/>
              <a:t>is due to the improved allocation of talent of women.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4A5E9-611A-109A-15BA-2CC0C83B8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475" y="1503664"/>
            <a:ext cx="4185424" cy="495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9324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4C945-4E57-510A-8E4C-306053909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 production responsibilities in the US in the 80s and 90s affecting female economic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B05E8-F05C-DC36-BBFE-6FC2E7D21F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39838" y="1820849"/>
            <a:ext cx="5113254" cy="45096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Goldin (2014) offers a narrative in which differences in </a:t>
            </a:r>
            <a:r>
              <a:rPr lang="en-US" b="1" dirty="0"/>
              <a:t>home production responsibilities create gaps in labor market outcomes</a:t>
            </a:r>
            <a:r>
              <a:rPr lang="en-US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Quantitative assessment of this narrative found that the fact that women spent much more time in home production was responsible for a large share in differential economic outcomes: </a:t>
            </a:r>
            <a:r>
              <a:rPr lang="en-US" b="1" dirty="0"/>
              <a:t>occupational choice, wages, and hours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E7E1E-8B12-B3A5-A47A-893A1DE27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873" y="1820849"/>
            <a:ext cx="5350127" cy="344763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9E5FFA5-C19A-70DB-713E-8386C68DC795}"/>
              </a:ext>
            </a:extLst>
          </p:cNvPr>
          <p:cNvCxnSpPr/>
          <p:nvPr/>
        </p:nvCxnSpPr>
        <p:spPr>
          <a:xfrm>
            <a:off x="4855762" y="6172200"/>
            <a:ext cx="149733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79347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C8E27-8218-30C9-B129-15C2C4396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118" y="434235"/>
            <a:ext cx="9715500" cy="978486"/>
          </a:xfrm>
        </p:spPr>
        <p:txBody>
          <a:bodyPr/>
          <a:lstStyle/>
          <a:p>
            <a:r>
              <a:rPr lang="en-US" dirty="0"/>
              <a:t>Home production responsibilities changes occupational choices, wages, and hours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FFE30-F059-6415-3AF6-FCDC1A17A2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0942" y="3484245"/>
            <a:ext cx="9715500" cy="3154827"/>
          </a:xfrm>
        </p:spPr>
        <p:txBody>
          <a:bodyPr>
            <a:normAutofit/>
          </a:bodyPr>
          <a:lstStyle/>
          <a:p>
            <a:r>
              <a:rPr lang="en-US" dirty="0"/>
              <a:t>Wage decomposition: within-occupation (75%), across occupation (25%)</a:t>
            </a:r>
          </a:p>
          <a:p>
            <a:r>
              <a:rPr lang="en-US" dirty="0"/>
              <a:t>The paper fins that, if a Social Planner could reallocate home production time efficiently…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Welfare would increase by 8.4% (in consumption-equivalent terms)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Output per hour worked would rise by 3.4%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7A67CE-EFFD-E354-0A8E-A253982CA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237018"/>
              </p:ext>
            </p:extLst>
          </p:nvPr>
        </p:nvGraphicFramePr>
        <p:xfrm>
          <a:off x="1190942" y="1617345"/>
          <a:ext cx="9042400" cy="15011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16846">
                  <a:extLst>
                    <a:ext uri="{9D8B030D-6E8A-4147-A177-3AD203B41FA5}">
                      <a16:colId xmlns:a16="http://schemas.microsoft.com/office/drawing/2014/main" val="2362897994"/>
                    </a:ext>
                  </a:extLst>
                </a:gridCol>
                <a:gridCol w="1856723">
                  <a:extLst>
                    <a:ext uri="{9D8B030D-6E8A-4147-A177-3AD203B41FA5}">
                      <a16:colId xmlns:a16="http://schemas.microsoft.com/office/drawing/2014/main" val="1795773503"/>
                    </a:ext>
                  </a:extLst>
                </a:gridCol>
                <a:gridCol w="2018591">
                  <a:extLst>
                    <a:ext uri="{9D8B030D-6E8A-4147-A177-3AD203B41FA5}">
                      <a16:colId xmlns:a16="http://schemas.microsoft.com/office/drawing/2014/main" val="750705724"/>
                    </a:ext>
                  </a:extLst>
                </a:gridCol>
                <a:gridCol w="2450240">
                  <a:extLst>
                    <a:ext uri="{9D8B030D-6E8A-4147-A177-3AD203B41FA5}">
                      <a16:colId xmlns:a16="http://schemas.microsoft.com/office/drawing/2014/main" val="1975670696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Outcome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>
                          <a:effectLst/>
                        </a:rPr>
                        <a:t>Observed Gender Gap in Data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>
                          <a:effectLst/>
                        </a:rPr>
                        <a:t>Model-Predicted Gap (Baseline)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>
                          <a:effectLst/>
                        </a:rPr>
                        <a:t>% of Observed Gap Explained by Model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460233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Wage Gap (log wages)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42%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1796147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Hours Gap (log hours)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27%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107%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6694639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Occupation Gap (% in high-hour occupation)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23 pp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 pp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2918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875989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304E3-10A1-40CB-D91A-79DE713B3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662" y="257293"/>
            <a:ext cx="9715500" cy="97848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Going global: closing gaps in entrepreneurship, self-employment, and labor force participation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5984-4383-C6E0-549B-F8994A28CB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3662" y="1673773"/>
            <a:ext cx="639587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  <a:latin typeface="Arial Black" charset="0"/>
              </a:rPr>
              <a:t>Potential Market Gains due from Closing Gaps in Economic Participation </a:t>
            </a:r>
            <a:r>
              <a:rPr lang="en-US" sz="1600" dirty="0">
                <a:solidFill>
                  <a:schemeClr val="tx2"/>
                </a:solidFill>
                <a:latin typeface="Arial Black" charset="0"/>
              </a:rPr>
              <a:t>(Percent of GDP)</a:t>
            </a:r>
            <a:endParaRPr lang="en-US" sz="1800" dirty="0">
              <a:solidFill>
                <a:schemeClr val="tx2"/>
              </a:solidFill>
              <a:latin typeface="Arial Black" charset="0"/>
            </a:endParaRP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5C06ED-3482-99D3-AC1E-76E9B37B7132}"/>
              </a:ext>
            </a:extLst>
          </p:cNvPr>
          <p:cNvSpPr/>
          <p:nvPr/>
        </p:nvSpPr>
        <p:spPr>
          <a:xfrm>
            <a:off x="8078771" y="1270362"/>
            <a:ext cx="3926771" cy="524451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SzPct val="100000"/>
            </a:pPr>
            <a:r>
              <a:rPr lang="en-US" sz="1600" dirty="0" err="1"/>
              <a:t>Cuberes</a:t>
            </a:r>
            <a:r>
              <a:rPr lang="en-US" sz="1600" dirty="0"/>
              <a:t> and </a:t>
            </a:r>
            <a:r>
              <a:rPr lang="en-US" sz="1600" dirty="0" err="1"/>
              <a:t>Teignier</a:t>
            </a:r>
            <a:r>
              <a:rPr lang="en-US" sz="1600" dirty="0"/>
              <a:t> (2014) simulates an occupational choice model with heterogeneous agents in entrepreneurial ability, where </a:t>
            </a:r>
            <a:r>
              <a:rPr lang="en-US" sz="1600" b="1" dirty="0"/>
              <a:t>agents choose to be workers, self-employed or employers</a:t>
            </a:r>
            <a:r>
              <a:rPr lang="en-US" sz="1600" dirty="0"/>
              <a:t>. </a:t>
            </a:r>
          </a:p>
          <a:p>
            <a:pPr marL="0" lvl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SzPct val="100000"/>
            </a:pPr>
            <a:r>
              <a:rPr lang="en-US" sz="1600" b="1" dirty="0"/>
              <a:t>Basic assumptions:</a:t>
            </a:r>
          </a:p>
          <a:p>
            <a:pPr marL="233363" lvl="1" indent="-233363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en-US" sz="1600" b="1" dirty="0"/>
              <a:t>Equal distribution of talents for men and women (both smart men and women, and less smart men and women…)</a:t>
            </a:r>
          </a:p>
          <a:p>
            <a:pPr marL="233363" lvl="1" indent="-233363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en-US" sz="1600" dirty="0"/>
              <a:t>Restrictions on what women can do:</a:t>
            </a:r>
          </a:p>
          <a:p>
            <a:pPr marL="690520" lvl="2" indent="-233363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en-US" sz="1600" dirty="0"/>
              <a:t>Only a share of all women can join the labor market.</a:t>
            </a:r>
          </a:p>
          <a:p>
            <a:pPr marL="690520" lvl="2" indent="-233363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en-US" sz="1600" dirty="0"/>
              <a:t>Only some of those can be self-employed.</a:t>
            </a:r>
          </a:p>
          <a:p>
            <a:pPr marL="690520" lvl="2" indent="-233363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en-US" sz="1600" dirty="0"/>
              <a:t>And even less can hire employees themselves.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763BD8-B05B-2706-2967-E4AB5A6062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063"/>
          <a:stretch/>
        </p:blipFill>
        <p:spPr>
          <a:xfrm>
            <a:off x="379473" y="2478996"/>
            <a:ext cx="7699298" cy="310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56508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193F7-D31B-930C-09D8-C1277BC79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7" y="182381"/>
            <a:ext cx="11430000" cy="978486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Arial Black" panose="020B0A04020102020204" pitchFamily="34" charset="0"/>
              </a:rPr>
              <a:t>Gender equality can amplify the impact of structural reforms:</a:t>
            </a:r>
            <a:endParaRPr lang="en-US">
              <a:highlight>
                <a:srgbClr val="FFFF00"/>
              </a:highlight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9D4B4-FC94-0AE0-99F5-FA41FFFFBA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30004" y="6015268"/>
            <a:ext cx="4241591" cy="560883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B40125-114A-F5AF-FF07-ACAF304069D2}"/>
              </a:ext>
            </a:extLst>
          </p:cNvPr>
          <p:cNvSpPr txBox="1"/>
          <p:nvPr/>
        </p:nvSpPr>
        <p:spPr>
          <a:xfrm>
            <a:off x="2231904" y="2192391"/>
            <a:ext cx="5004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2400" b="0" i="0" u="none" strike="noStrike" kern="1200" spc="0" baseline="0">
                <a:solidFill>
                  <a:prstClr val="black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gains from Major Historical Reforms</a:t>
            </a:r>
          </a:p>
          <a:p>
            <a:pPr rtl="0">
              <a:defRPr sz="2400" b="0" i="0" u="none" strike="noStrike" kern="1200" spc="0" baseline="0">
                <a:solidFill>
                  <a:prstClr val="black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(% of output)</a:t>
            </a:r>
            <a:endParaRPr lang="en-US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38988E-A1E3-4045-048B-B667955340E1}"/>
              </a:ext>
            </a:extLst>
          </p:cNvPr>
          <p:cNvSpPr txBox="1"/>
          <p:nvPr/>
        </p:nvSpPr>
        <p:spPr>
          <a:xfrm>
            <a:off x="623379" y="5656239"/>
            <a:ext cx="44534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Source: </a:t>
            </a:r>
            <a:r>
              <a:rPr lang="en-US" sz="12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first four columns are from WEO (IMF, Oct. 2019, Ch. 3), model simulated, based on actual reforms. The fifth column is based on </a:t>
            </a:r>
            <a:r>
              <a:rPr lang="en-US" sz="120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Ostry</a:t>
            </a:r>
            <a:r>
              <a:rPr lang="en-US" sz="12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and others (2018), updated by staff assuming all countries reduce gender gaps in line with what the top 5% best performing countries achieved during 2014-19.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2C1CBB-81AD-FD69-AECE-CE79D569E192}"/>
              </a:ext>
            </a:extLst>
          </p:cNvPr>
          <p:cNvSpPr txBox="1"/>
          <p:nvPr/>
        </p:nvSpPr>
        <p:spPr>
          <a:xfrm>
            <a:off x="5771464" y="5656239"/>
            <a:ext cx="49294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Source: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>
                <a:latin typeface="Arial" panose="020B0604020202020204" pitchFamily="34" charset="0"/>
                <a:cs typeface="Arial" panose="020B0604020202020204" pitchFamily="34" charset="0"/>
              </a:rPr>
              <a:t>Ostry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and others (2018). Based on 128 countries. For gains be realized, various frictions such as financial barriers and informality would need to be addressed, requiring both broad macro-structural reforms and reforms to specifically tackle the frictions that hinder the closing of the gender gaps.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B7B5A-DE8B-261D-BCDF-7F4B8C87116F}"/>
              </a:ext>
            </a:extLst>
          </p:cNvPr>
          <p:cNvSpPr txBox="1"/>
          <p:nvPr/>
        </p:nvSpPr>
        <p:spPr>
          <a:xfrm>
            <a:off x="10159158" y="3429000"/>
            <a:ext cx="1814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Average for EMDEs:</a:t>
            </a:r>
          </a:p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23 percent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964B622-F4B2-4821-9A0C-D510A3307128}"/>
              </a:ext>
            </a:extLst>
          </p:cNvPr>
          <p:cNvGraphicFramePr>
            <a:graphicFrameLocks/>
          </p:cNvGraphicFramePr>
          <p:nvPr/>
        </p:nvGraphicFramePr>
        <p:xfrm>
          <a:off x="623379" y="1460907"/>
          <a:ext cx="4895557" cy="41853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8E40343-0B33-4126-AA3D-E69079DE82FF}"/>
              </a:ext>
            </a:extLst>
          </p:cNvPr>
          <p:cNvGraphicFramePr>
            <a:graphicFrameLocks/>
          </p:cNvGraphicFramePr>
          <p:nvPr/>
        </p:nvGraphicFramePr>
        <p:xfrm>
          <a:off x="5705692" y="1460907"/>
          <a:ext cx="4453466" cy="4027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3355835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9AEDB7-8C42-1049-8D4C-110CB2584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67" y="821923"/>
            <a:ext cx="4612040" cy="400110"/>
          </a:xfrm>
        </p:spPr>
        <p:txBody>
          <a:bodyPr>
            <a:normAutofit fontScale="90000"/>
          </a:bodyPr>
          <a:lstStyle/>
          <a:p>
            <a:r>
              <a:rPr lang="en-US"/>
              <a:t>A higher share of women in bank boards in associated with higher financial stability: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7BC3B5-3324-1C55-E04D-1C1350C6A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00" y="2329332"/>
            <a:ext cx="3259747" cy="36018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50D9EF-6DC2-57DA-233C-5CE2718CC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528" y="0"/>
            <a:ext cx="76285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559934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128D-DDA5-8D75-6CEA-FB57E2F0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577" y="2078136"/>
            <a:ext cx="8707120" cy="1918793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Is there room for governments to implement policies and reduce barriers to female economic participation? </a:t>
            </a:r>
          </a:p>
        </p:txBody>
      </p:sp>
    </p:spTree>
    <p:extLst>
      <p:ext uri="{BB962C8B-B14F-4D97-AF65-F5344CB8AC3E}">
        <p14:creationId xmlns:p14="http://schemas.microsoft.com/office/powerpoint/2010/main" val="285217825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8FE8-9ADE-11E2-F092-4A3D7CDCC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14842"/>
            <a:ext cx="11183112" cy="978486"/>
          </a:xfrm>
        </p:spPr>
        <p:txBody>
          <a:bodyPr/>
          <a:lstStyle/>
          <a:p>
            <a:pPr algn="ctr"/>
            <a:r>
              <a:rPr lang="en-US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Yes! </a:t>
            </a:r>
            <a:b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Indeed, policies should alleviate time and resource constraints</a:t>
            </a:r>
            <a:endParaRPr lang="en-US" sz="2800" dirty="0"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83A6F85-1270-84B9-75F1-2762C366E2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8" t="317" r="2712"/>
          <a:stretch/>
        </p:blipFill>
        <p:spPr>
          <a:xfrm>
            <a:off x="2957679" y="1268383"/>
            <a:ext cx="8305259" cy="5326665"/>
          </a:xfrm>
          <a:prstGeom prst="rect">
            <a:avLst/>
          </a:prstGeom>
        </p:spPr>
      </p:pic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E4C42E0E-228E-15CF-B879-A8F6214D1E6F}"/>
              </a:ext>
            </a:extLst>
          </p:cNvPr>
          <p:cNvSpPr txBox="1">
            <a:spLocks/>
          </p:cNvSpPr>
          <p:nvPr/>
        </p:nvSpPr>
        <p:spPr>
          <a:xfrm>
            <a:off x="6724962" y="1416493"/>
            <a:ext cx="5052510" cy="579723"/>
          </a:xfrm>
          <a:prstGeom prst="rect">
            <a:avLst/>
          </a:prstGeom>
        </p:spPr>
        <p:txBody>
          <a:bodyPr vert="horz" lIns="0" tIns="137160" rIns="0" bIns="0" rtlCol="0">
            <a:noAutofit/>
          </a:bodyPr>
          <a:lstStyle>
            <a:lvl1pPr marL="0" indent="0" algn="l" defTabSz="914314" rtl="0" eaLnBrk="1" latinLnBrk="0" hangingPunct="1">
              <a:spcBef>
                <a:spcPts val="2400"/>
              </a:spcBef>
              <a:buClr>
                <a:schemeClr val="accent1"/>
              </a:buClr>
              <a:buSzPct val="110000"/>
              <a:buFont typeface="Wingdings" charset="2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3363" indent="-233363" algn="l" defTabSz="914314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2150" indent="-233363" algn="l" defTabSz="914314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LucidaGrande" charset="0"/>
              <a:buChar char="◆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7575" indent="-225425" algn="l" defTabSz="914314" rtl="0" eaLnBrk="1" latinLnBrk="0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.HelveticaNeueDeskInterface-Regular"/>
              <a:buChar char="●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64" indent="-228578" algn="l" defTabSz="91431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22" indent="-228578" algn="l" defTabSz="91431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79" indent="-228578" algn="l" defTabSz="91431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35" indent="-228578" algn="l" defTabSz="91431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B5E2B-7C11-70E0-271D-879E861B7B9C}"/>
              </a:ext>
            </a:extLst>
          </p:cNvPr>
          <p:cNvSpPr txBox="1"/>
          <p:nvPr/>
        </p:nvSpPr>
        <p:spPr>
          <a:xfrm>
            <a:off x="272975" y="5974287"/>
            <a:ext cx="2697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Families’ Decisions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BBA6E-6A10-CC7B-1260-F15D2B36A3AB}"/>
              </a:ext>
            </a:extLst>
          </p:cNvPr>
          <p:cNvSpPr txBox="1"/>
          <p:nvPr/>
        </p:nvSpPr>
        <p:spPr>
          <a:xfrm>
            <a:off x="272975" y="4427339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</a:rPr>
              <a:t>Constraints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D14534-8A1E-9D12-8F54-0407AB11B6F4}"/>
              </a:ext>
            </a:extLst>
          </p:cNvPr>
          <p:cNvSpPr txBox="1"/>
          <p:nvPr/>
        </p:nvSpPr>
        <p:spPr>
          <a:xfrm>
            <a:off x="272975" y="1996216"/>
            <a:ext cx="13843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</a:rPr>
              <a:t>Possible</a:t>
            </a:r>
            <a:br>
              <a:rPr lang="en-US" sz="1800" b="1" dirty="0">
                <a:solidFill>
                  <a:schemeClr val="tx2"/>
                </a:solidFill>
              </a:rPr>
            </a:br>
            <a:r>
              <a:rPr lang="en-US" sz="1800" b="1" dirty="0">
                <a:solidFill>
                  <a:schemeClr val="tx2"/>
                </a:solidFill>
              </a:rPr>
              <a:t>Policies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65A46AA-2777-B376-66B2-27FAB92CC40B}"/>
              </a:ext>
            </a:extLst>
          </p:cNvPr>
          <p:cNvSpPr/>
          <p:nvPr/>
        </p:nvSpPr>
        <p:spPr>
          <a:xfrm>
            <a:off x="1614654" y="2194813"/>
            <a:ext cx="537210" cy="28575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40F3D24-32CF-0B52-8C29-932F64048429}"/>
              </a:ext>
            </a:extLst>
          </p:cNvPr>
          <p:cNvSpPr/>
          <p:nvPr/>
        </p:nvSpPr>
        <p:spPr>
          <a:xfrm>
            <a:off x="1925955" y="4469130"/>
            <a:ext cx="537210" cy="28575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606DBFB-26C5-9D9F-8B6D-F00E8F730343}"/>
              </a:ext>
            </a:extLst>
          </p:cNvPr>
          <p:cNvSpPr/>
          <p:nvPr/>
        </p:nvSpPr>
        <p:spPr>
          <a:xfrm>
            <a:off x="2986814" y="6046737"/>
            <a:ext cx="537210" cy="28575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28041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B72D1A-3B16-4101-B8A1-7FB432F9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49" y="120433"/>
            <a:ext cx="9715500" cy="978486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Sources of Legal Impediments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FEF9C0E-1FBD-46A9-B3A3-E13C62B887BD}"/>
              </a:ext>
            </a:extLst>
          </p:cNvPr>
          <p:cNvGraphicFramePr/>
          <p:nvPr/>
        </p:nvGraphicFramePr>
        <p:xfrm>
          <a:off x="609599" y="1460624"/>
          <a:ext cx="10901680" cy="5132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0EAA5D2-C3D4-4328-82DE-73AB19755E9E}"/>
              </a:ext>
            </a:extLst>
          </p:cNvPr>
          <p:cNvSpPr txBox="1">
            <a:spLocks/>
          </p:cNvSpPr>
          <p:nvPr/>
        </p:nvSpPr>
        <p:spPr>
          <a:xfrm>
            <a:off x="574039" y="264391"/>
            <a:ext cx="10972800" cy="1118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31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i="0" kern="12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algn="ctr"/>
            <a:r>
              <a:rPr lang="en-US" dirty="0">
                <a:latin typeface="Arial Black" panose="020B0A04020102020204" pitchFamily="34" charset="0"/>
                <a:cs typeface="Calibri" panose="020F0502020204030204" pitchFamily="34" charset="0"/>
              </a:rPr>
              <a:t>Selected Policies for Women’s Economic Empowerment </a:t>
            </a:r>
          </a:p>
        </p:txBody>
      </p:sp>
    </p:spTree>
    <p:extLst>
      <p:ext uri="{BB962C8B-B14F-4D97-AF65-F5344CB8AC3E}">
        <p14:creationId xmlns:p14="http://schemas.microsoft.com/office/powerpoint/2010/main" val="3876163989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9AEDB7-8C42-1049-8D4C-110CB2584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204" y="2276643"/>
            <a:ext cx="9931919" cy="1981848"/>
          </a:xfrm>
        </p:spPr>
        <p:txBody>
          <a:bodyPr>
            <a:normAutofit/>
          </a:bodyPr>
          <a:lstStyle/>
          <a:p>
            <a:pPr algn="ctr"/>
            <a:r>
              <a:rPr lang="en-US" sz="4900"/>
              <a:t>Thank you!</a:t>
            </a:r>
            <a:br>
              <a:rPr lang="en-US"/>
            </a:br>
            <a:br>
              <a:rPr lang="en-US"/>
            </a:br>
            <a:r>
              <a:rPr lang="en-US"/>
              <a:t>Get in touch: </a:t>
            </a:r>
            <a:r>
              <a:rPr lang="en-US">
                <a:solidFill>
                  <a:srgbClr val="FFC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vmalta@imf.org</a:t>
            </a:r>
            <a:r>
              <a:rPr lang="en-US">
                <a:solidFill>
                  <a:srgbClr val="FFC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6201253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RENTXMLFILE" val="\\data3\users1\abarajas\My Documents\ICD\Courses\Courses 2023\Gender Inequality and Macroeconomics\Other Presentations\Presentations for Translation\L1 - Gender Inequality_ Dimensions &amp; Trends.xml"/>
  <p:tag name="XMLFILE" val="\\data3\users1\abarajas\My Documents\ICD\Courses\Courses 2023\Gender Inequality and Macroeconomics\Other Presentations\Presentations for Translation\L1 - Gender Inequality_ Dimensions &amp; Trends.xml"/>
  <p:tag name="CUMFILE" val="\\data3\users1\abarajas\My Documents\ICD\Courses\Courses 2023\Gender Inequality and Macroeconomics\Other Presentations\Presentations for Translation\L1 - Gender Inequality_ Dimensions &amp; Trends.cul"/>
  <p:tag name="PPTXFILE" val="\\data3\users1\abarajas\My Documents\ICD\Courses\Courses 2023\Gender Inequality and Macroeconomics\Other Presentations\Presentations for Translation\L1 - Gender Inequality_ Dimensions &amp; Trends.pptx"/>
</p:tagLst>
</file>

<file path=ppt/theme/theme1.xml><?xml version="1.0" encoding="utf-8"?>
<a:theme xmlns:a="http://schemas.openxmlformats.org/drawingml/2006/main" name="Custom Design">
  <a:themeElements>
    <a:clrScheme name="IMF Colors V2">
      <a:dk1>
        <a:srgbClr val="000000"/>
      </a:dk1>
      <a:lt1>
        <a:srgbClr val="FEFEFE"/>
      </a:lt1>
      <a:dk2>
        <a:srgbClr val="004C97"/>
      </a:dk2>
      <a:lt2>
        <a:srgbClr val="CAEDFE"/>
      </a:lt2>
      <a:accent1>
        <a:srgbClr val="009CDE"/>
      </a:accent1>
      <a:accent2>
        <a:srgbClr val="F2A900"/>
      </a:accent2>
      <a:accent3>
        <a:srgbClr val="8030A7"/>
      </a:accent3>
      <a:accent4>
        <a:srgbClr val="DA281C"/>
      </a:accent4>
      <a:accent5>
        <a:srgbClr val="78BE20"/>
      </a:accent5>
      <a:accent6>
        <a:srgbClr val="00B0B9"/>
      </a:accent6>
      <a:hlink>
        <a:srgbClr val="0065B3"/>
      </a:hlink>
      <a:folHlink>
        <a:srgbClr val="FFBD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MF-LEG_PresentationTemplate-General" id="{13F5556C-5BC5-9542-AB57-73990FD9E90C}" vid="{2B303AC9-B9EA-B048-9D5C-6C975EA17091}"/>
    </a:ext>
  </a:extLst>
</a:theme>
</file>

<file path=ppt/theme/theme2.xml><?xml version="1.0" encoding="utf-8"?>
<a:theme xmlns:a="http://schemas.openxmlformats.org/drawingml/2006/main" name="1_Custom Design">
  <a:themeElements>
    <a:clrScheme name="Fund Standard Colors">
      <a:dk1>
        <a:sysClr val="windowText" lastClr="000000"/>
      </a:dk1>
      <a:lt1>
        <a:sysClr val="window" lastClr="FFFFFF"/>
      </a:lt1>
      <a:dk2>
        <a:srgbClr val="004C97"/>
      </a:dk2>
      <a:lt2>
        <a:srgbClr val="CAEDFE"/>
      </a:lt2>
      <a:accent1>
        <a:srgbClr val="009CDE"/>
      </a:accent1>
      <a:accent2>
        <a:srgbClr val="F2A900"/>
      </a:accent2>
      <a:accent3>
        <a:srgbClr val="8031A7"/>
      </a:accent3>
      <a:accent4>
        <a:srgbClr val="DA291C"/>
      </a:accent4>
      <a:accent5>
        <a:srgbClr val="78BE20"/>
      </a:accent5>
      <a:accent6>
        <a:srgbClr val="FF8200"/>
      </a:accent6>
      <a:hlink>
        <a:srgbClr val="009CDE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RTTAC-PPT-Template-Wide-15-Dec-2021.potx" id="{F628AFBA-17EB-49E5-BC69-C6AE953424D6}" vid="{F72D32AC-F563-4E54-A5C2-D8F0BC37EE7E}"/>
    </a:ext>
  </a:extLst>
</a:theme>
</file>

<file path=ppt/theme/theme3.xml><?xml version="1.0" encoding="utf-8"?>
<a:theme xmlns:a="http://schemas.openxmlformats.org/drawingml/2006/main" name="Office Theme">
  <a:themeElements>
    <a:clrScheme name="Fund Standard Colors">
      <a:dk1>
        <a:sysClr val="windowText" lastClr="000000"/>
      </a:dk1>
      <a:lt1>
        <a:sysClr val="window" lastClr="FFFFFF"/>
      </a:lt1>
      <a:dk2>
        <a:srgbClr val="004C97"/>
      </a:dk2>
      <a:lt2>
        <a:srgbClr val="CAEDFE"/>
      </a:lt2>
      <a:accent1>
        <a:srgbClr val="009CDE"/>
      </a:accent1>
      <a:accent2>
        <a:srgbClr val="F2A900"/>
      </a:accent2>
      <a:accent3>
        <a:srgbClr val="8031A7"/>
      </a:accent3>
      <a:accent4>
        <a:srgbClr val="DA291C"/>
      </a:accent4>
      <a:accent5>
        <a:srgbClr val="78BE20"/>
      </a:accent5>
      <a:accent6>
        <a:srgbClr val="FF8200"/>
      </a:accent6>
      <a:hlink>
        <a:srgbClr val="009CDE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RTTAC-PPT-Template-Wide-15-Dec-2021.potx" id="{F628AFBA-17EB-49E5-BC69-C6AE953424D6}" vid="{6BC5DA02-7E34-41B8-ADA6-35A3853989A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08F46CC7369E44A38836926FD52CA4" ma:contentTypeVersion="17" ma:contentTypeDescription="Create a new document." ma:contentTypeScope="" ma:versionID="34d57240de38c5ca99423c2d81288a91">
  <xsd:schema xmlns:xsd="http://www.w3.org/2001/XMLSchema" xmlns:xs="http://www.w3.org/2001/XMLSchema" xmlns:p="http://schemas.microsoft.com/office/2006/metadata/properties" xmlns:ns2="3b9dc015-dd13-448b-b628-7af3b634cca4" xmlns:ns3="0c6f1c3b-ea25-4e6f-91c5-aeb92d62b0fb" targetNamespace="http://schemas.microsoft.com/office/2006/metadata/properties" ma:root="true" ma:fieldsID="e270c38f22e04ee44ccb8e6601e8d1f8" ns2:_="" ns3:_="">
    <xsd:import namespace="3b9dc015-dd13-448b-b628-7af3b634cca4"/>
    <xsd:import namespace="0c6f1c3b-ea25-4e6f-91c5-aeb92d62b0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9dc015-dd13-448b-b628-7af3b634cc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81b0229-19ef-4425-8520-9f00e8db62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6f1c3b-ea25-4e6f-91c5-aeb92d62b0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4a2595-35b6-44ef-becd-33de771bf95a}" ma:internalName="TaxCatchAll" ma:showField="CatchAllData" ma:web="0c6f1c3b-ea25-4e6f-91c5-aeb92d62b0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c6f1c3b-ea25-4e6f-91c5-aeb92d62b0fb" xsi:nil="true"/>
    <lcf76f155ced4ddcb4097134ff3c332f xmlns="3b9dc015-dd13-448b-b628-7af3b634cca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BC96193-877C-46EA-BD01-2ACB11A8A0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1BD30C-9D10-4FCD-9766-1A64EC7B02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9dc015-dd13-448b-b628-7af3b634cca4"/>
    <ds:schemaRef ds:uri="0c6f1c3b-ea25-4e6f-91c5-aeb92d62b0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0AC045-0708-4EF3-BE6A-CA4E594A0743}">
  <ds:schemaRefs>
    <ds:schemaRef ds:uri="0c6f1c3b-ea25-4e6f-91c5-aeb92d62b0fb"/>
    <ds:schemaRef ds:uri="3b9dc015-dd13-448b-b628-7af3b634cca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2236</TotalTime>
  <Words>2280</Words>
  <Application>Microsoft Office PowerPoint</Application>
  <PresentationFormat>Widescreen</PresentationFormat>
  <Paragraphs>223</Paragraphs>
  <Slides>28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43" baseType="lpstr">
      <vt:lpstr>.HelveticaNeueDeskInterface-Regular</vt:lpstr>
      <vt:lpstr>Arial</vt:lpstr>
      <vt:lpstr>Arial Black</vt:lpstr>
      <vt:lpstr>ArialMT</vt:lpstr>
      <vt:lpstr>Calibri</vt:lpstr>
      <vt:lpstr>CMBX10</vt:lpstr>
      <vt:lpstr>CMR10</vt:lpstr>
      <vt:lpstr>CMTI10</vt:lpstr>
      <vt:lpstr>Lucida Grande</vt:lpstr>
      <vt:lpstr>LucidaGrande</vt:lpstr>
      <vt:lpstr>Times New Roman</vt:lpstr>
      <vt:lpstr>Wingdings</vt:lpstr>
      <vt:lpstr>Custom Design</vt:lpstr>
      <vt:lpstr>1_Custom Design</vt:lpstr>
      <vt:lpstr>Office Theme</vt:lpstr>
      <vt:lpstr>Show me the Evidence: Linking Distributional and Macroeconomic Outcomes</vt:lpstr>
      <vt:lpstr>PowerPoint Presentation</vt:lpstr>
      <vt:lpstr>In this presentation we will explore the economic gains from better allocation of talents</vt:lpstr>
      <vt:lpstr>Why does female economic empowerment boosts GDP?</vt:lpstr>
      <vt:lpstr>Let’s look at GDP</vt:lpstr>
      <vt:lpstr>Let’s look at GDP</vt:lpstr>
      <vt:lpstr>Let’s look at GDP</vt:lpstr>
      <vt:lpstr>Women’s Participation and Economic Activity: Correlations </vt:lpstr>
      <vt:lpstr>On growth, eyeballing the evidence gives a striking picture: </vt:lpstr>
      <vt:lpstr>PowerPoint Presentation</vt:lpstr>
      <vt:lpstr>PowerPoint Presentation</vt:lpstr>
      <vt:lpstr>PowerPoint Presentation</vt:lpstr>
      <vt:lpstr>Correlation: more unpaid care work and lower GDP per capita</vt:lpstr>
      <vt:lpstr>Women’s Participation and Economic Activity:  Empirical Evidence </vt:lpstr>
      <vt:lpstr>Female LFP and Development</vt:lpstr>
      <vt:lpstr>Cross-Country Data Showed Differences in Female Labor Across Different Development Stages</vt:lpstr>
      <vt:lpstr>Seminal papers from the 90s found feedback loops from economic growth and demographic transitions </vt:lpstr>
      <vt:lpstr>Cross-Country Data Reinforced Differences in Female Labor Across Different Development Stages</vt:lpstr>
      <vt:lpstr>US Economic Growth from 1960 to 2010 largely due to reduction of barriers to women in the labor market</vt:lpstr>
      <vt:lpstr>Home production responsibilities in the US in the 80s and 90s affecting female economic outcomes</vt:lpstr>
      <vt:lpstr>Home production responsibilities changes occupational choices, wages, and hours</vt:lpstr>
      <vt:lpstr>Going global: closing gaps in entrepreneurship, self-employment, and labor force participation </vt:lpstr>
      <vt:lpstr>Gender equality can amplify the impact of structural reforms:</vt:lpstr>
      <vt:lpstr>A higher share of women in bank boards in associated with higher financial stability:</vt:lpstr>
      <vt:lpstr>Is there room for governments to implement policies and reduce barriers to female economic participation? </vt:lpstr>
      <vt:lpstr>Yes!  Indeed, policies should alleviate time and resource constraints</vt:lpstr>
      <vt:lpstr>Sources of Legal Impediments</vt:lpstr>
      <vt:lpstr>Thank you!  Get in touch: vmalta@imf.org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Template and Instructions</dc:title>
  <dc:creator>Spatafora, Nikola</dc:creator>
  <cp:lastModifiedBy>Malta, Vivian</cp:lastModifiedBy>
  <cp:revision>20</cp:revision>
  <cp:lastPrinted>2018-06-28T11:42:50Z</cp:lastPrinted>
  <dcterms:created xsi:type="dcterms:W3CDTF">2019-01-15T17:35:17Z</dcterms:created>
  <dcterms:modified xsi:type="dcterms:W3CDTF">2026-05-28T04:05:49Z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0x0101003808F46CC7369E44A38836926FD52CA4</vt:lpwstr>
  </property>
  <property fmtid="{D5CDD505-2E9C-101B-9397-08002B2CF9AE}" pid="4" name="MMSClassification">
    <vt:lpwstr>1</vt:lpwstr>
  </property>
  <property fmtid="{D5CDD505-2E9C-101B-9397-08002B2CF9AE}" pid="5" name="Order">
    <vt:r8>2200</vt:r8>
  </property>
  <property fmtid="{D5CDD505-2E9C-101B-9397-08002B2CF9AE}" pid="6" name="MMSTopics">
    <vt:lpwstr/>
  </property>
  <property fmtid="{D5CDD505-2E9C-101B-9397-08002B2CF9AE}" pid="7" name="MMSCountries">
    <vt:lpwstr/>
  </property>
  <property fmtid="{D5CDD505-2E9C-101B-9397-08002B2CF9AE}" pid="8" name="MMSDepartments">
    <vt:lpwstr>33</vt:lpwstr>
  </property>
  <property fmtid="{D5CDD505-2E9C-101B-9397-08002B2CF9AE}" pid="9" name="eDOCS AutoSave">
    <vt:lpwstr/>
  </property>
  <property fmtid="{D5CDD505-2E9C-101B-9397-08002B2CF9AE}" pid="10" name="MSIP_Label_0c07ed86-5dc5-4593-ad03-a8684b843815_Enabled">
    <vt:lpwstr>true</vt:lpwstr>
  </property>
  <property fmtid="{D5CDD505-2E9C-101B-9397-08002B2CF9AE}" pid="11" name="MSIP_Label_0c07ed86-5dc5-4593-ad03-a8684b843815_SetDate">
    <vt:lpwstr>2023-08-10T16:29:55Z</vt:lpwstr>
  </property>
  <property fmtid="{D5CDD505-2E9C-101B-9397-08002B2CF9AE}" pid="12" name="MSIP_Label_0c07ed86-5dc5-4593-ad03-a8684b843815_Method">
    <vt:lpwstr>Standard</vt:lpwstr>
  </property>
  <property fmtid="{D5CDD505-2E9C-101B-9397-08002B2CF9AE}" pid="13" name="MSIP_Label_0c07ed86-5dc5-4593-ad03-a8684b843815_Name">
    <vt:lpwstr>0c07ed86-5dc5-4593-ad03-a8684b843815</vt:lpwstr>
  </property>
  <property fmtid="{D5CDD505-2E9C-101B-9397-08002B2CF9AE}" pid="14" name="MSIP_Label_0c07ed86-5dc5-4593-ad03-a8684b843815_SiteId">
    <vt:lpwstr>8085fa43-302e-45bd-b171-a6648c3b6be7</vt:lpwstr>
  </property>
  <property fmtid="{D5CDD505-2E9C-101B-9397-08002B2CF9AE}" pid="15" name="MSIP_Label_0c07ed86-5dc5-4593-ad03-a8684b843815_ActionId">
    <vt:lpwstr>bdaf899b-2077-417e-aab4-0d763181fea1</vt:lpwstr>
  </property>
  <property fmtid="{D5CDD505-2E9C-101B-9397-08002B2CF9AE}" pid="16" name="MSIP_Label_0c07ed86-5dc5-4593-ad03-a8684b843815_ContentBits">
    <vt:lpwstr>0</vt:lpwstr>
  </property>
  <property fmtid="{D5CDD505-2E9C-101B-9397-08002B2CF9AE}" pid="17" name="MediaServiceImageTags">
    <vt:lpwstr/>
  </property>
</Properties>
</file>