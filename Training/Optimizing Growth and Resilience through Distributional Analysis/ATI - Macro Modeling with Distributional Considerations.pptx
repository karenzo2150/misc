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62" r:id="rId5"/>
    <p:sldMasterId id="2147483776" r:id="rId6"/>
  </p:sldMasterIdLst>
  <p:notesMasterIdLst>
    <p:notesMasterId r:id="rId35"/>
  </p:notesMasterIdLst>
  <p:handoutMasterIdLst>
    <p:handoutMasterId r:id="rId36"/>
  </p:handoutMasterIdLst>
  <p:sldIdLst>
    <p:sldId id="4368" r:id="rId7"/>
    <p:sldId id="4406" r:id="rId8"/>
    <p:sldId id="4554" r:id="rId9"/>
    <p:sldId id="4540" r:id="rId10"/>
    <p:sldId id="4541" r:id="rId11"/>
    <p:sldId id="4542" r:id="rId12"/>
    <p:sldId id="4553" r:id="rId13"/>
    <p:sldId id="4546" r:id="rId14"/>
    <p:sldId id="4547" r:id="rId15"/>
    <p:sldId id="4549" r:id="rId16"/>
    <p:sldId id="4545" r:id="rId17"/>
    <p:sldId id="258" r:id="rId18"/>
    <p:sldId id="4544" r:id="rId19"/>
    <p:sldId id="271" r:id="rId20"/>
    <p:sldId id="4552" r:id="rId21"/>
    <p:sldId id="4548" r:id="rId22"/>
    <p:sldId id="4557" r:id="rId23"/>
    <p:sldId id="4555" r:id="rId24"/>
    <p:sldId id="4564" r:id="rId25"/>
    <p:sldId id="4556" r:id="rId26"/>
    <p:sldId id="4558" r:id="rId27"/>
    <p:sldId id="4562" r:id="rId28"/>
    <p:sldId id="4563" r:id="rId29"/>
    <p:sldId id="4560" r:id="rId30"/>
    <p:sldId id="4566" r:id="rId31"/>
    <p:sldId id="4559" r:id="rId32"/>
    <p:sldId id="4565" r:id="rId33"/>
    <p:sldId id="1155" r:id="rId34"/>
  </p:sldIdLst>
  <p:sldSz cx="12192000" cy="6858000"/>
  <p:notesSz cx="7023100" cy="9309100"/>
  <p:custDataLst>
    <p:tags r:id="rId37"/>
  </p:custDataLst>
  <p:defaultText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754463-30FA-824E-9681-17E0926DDDD5}">
          <p14:sldIdLst>
            <p14:sldId id="4368"/>
            <p14:sldId id="4406"/>
            <p14:sldId id="4554"/>
            <p14:sldId id="4540"/>
            <p14:sldId id="4541"/>
            <p14:sldId id="4542"/>
            <p14:sldId id="4553"/>
            <p14:sldId id="4546"/>
            <p14:sldId id="4547"/>
            <p14:sldId id="4549"/>
            <p14:sldId id="4545"/>
            <p14:sldId id="258"/>
            <p14:sldId id="4544"/>
            <p14:sldId id="271"/>
            <p14:sldId id="4552"/>
            <p14:sldId id="4548"/>
            <p14:sldId id="4557"/>
            <p14:sldId id="4555"/>
            <p14:sldId id="4564"/>
            <p14:sldId id="4556"/>
            <p14:sldId id="4558"/>
            <p14:sldId id="4562"/>
            <p14:sldId id="4563"/>
            <p14:sldId id="4560"/>
            <p14:sldId id="4566"/>
            <p14:sldId id="4559"/>
            <p14:sldId id="4565"/>
            <p14:sldId id="115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44" userDrawn="1">
          <p15:clr>
            <a:srgbClr val="A4A3A4"/>
          </p15:clr>
        </p15:guide>
        <p15:guide id="2" pos="2124" userDrawn="1">
          <p15:clr>
            <a:srgbClr val="A4A3A4"/>
          </p15:clr>
        </p15:guide>
        <p15:guide id="3" orient="horz" pos="2932" userDrawn="1">
          <p15:clr>
            <a:srgbClr val="A4A3A4"/>
          </p15:clr>
        </p15:guide>
        <p15:guide id="4" pos="221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7D391E-2885-F281-82AF-3ED8FDE00E88}" name="Guscina, Anastasia" initials="AG" userId="S::AGuscina@imf.org::b4589f2c-5ed4-42da-9f72-dd68371710c7" providerId="AD"/>
  <p188:author id="{F9268FA7-36FA-7F93-E320-2B2AE8F0B00B}" name="Spatafora, Nikola" initials="NLS" userId="Spatafora, Nikola" providerId="None"/>
  <p188:author id="{0D8F83E4-EF17-15AA-7DA0-1A43993D769E}" name="Malta, Vivian" initials="VM" userId="S::VMalta@imf.org::c9130ee9-f22b-44aa-bb73-83a935e86cf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pofford, Laura" initials="SL" lastIdx="2" clrIdx="6">
    <p:extLst>
      <p:ext uri="{19B8F6BF-5375-455C-9EA6-DF929625EA0E}">
        <p15:presenceInfo xmlns:p15="http://schemas.microsoft.com/office/powerpoint/2012/main" userId="S::lspofford@imf.org::729f3023-7458-4886-8b15-5f4e1b9d797d" providerId="AD"/>
      </p:ext>
    </p:extLst>
  </p:cmAuthor>
  <p:cmAuthor id="1" name="Nandwa, Boaz" initials="NB" lastIdx="10" clrIdx="0"/>
  <p:cmAuthor id="8" name="Newiak, Monique" initials="NM" lastIdx="0" clrIdx="7">
    <p:extLst>
      <p:ext uri="{19B8F6BF-5375-455C-9EA6-DF929625EA0E}">
        <p15:presenceInfo xmlns:p15="http://schemas.microsoft.com/office/powerpoint/2012/main" userId="S::MNewiak@IMF.ORG::d81357e1-9dfe-4194-af64-4cbd758c7fe5" providerId="AD"/>
      </p:ext>
    </p:extLst>
  </p:cmAuthor>
  <p:cmAuthor id="2" name="Kamil Dybczak" initials="KD" lastIdx="10" clrIdx="1"/>
  <p:cmAuthor id="9" name="Kazandjian, Romina" initials="KR" lastIdx="4" clrIdx="8">
    <p:extLst>
      <p:ext uri="{19B8F6BF-5375-455C-9EA6-DF929625EA0E}">
        <p15:presenceInfo xmlns:p15="http://schemas.microsoft.com/office/powerpoint/2012/main" userId="S::RKazandjian@imf.org::981dfeef-ec4e-4cfc-812b-25e2594e53c9" providerId="AD"/>
      </p:ext>
    </p:extLst>
  </p:cmAuthor>
  <p:cmAuthor id="3" name="Tamirisa, Natalia" initials="TN" lastIdx="12" clrIdx="2"/>
  <p:cmAuthor id="10" name="Spatafora, Nikola" initials="NLS" lastIdx="53" clrIdx="9">
    <p:extLst>
      <p:ext uri="{19B8F6BF-5375-455C-9EA6-DF929625EA0E}">
        <p15:presenceInfo xmlns:p15="http://schemas.microsoft.com/office/powerpoint/2012/main" userId="Spatafora, Nikola" providerId="None"/>
      </p:ext>
    </p:extLst>
  </p:cmAuthor>
  <p:cmAuthor id="4" name="Almalik, Mansour" initials="AM" lastIdx="6" clrIdx="3"/>
  <p:cmAuthor id="5" name="Pierre, Gaelle" initials="PG" lastIdx="3" clrIdx="4"/>
  <p:cmAuthor id="6" name="Basile, Gregory" initials="BG" lastIdx="9"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CDE"/>
    <a:srgbClr val="D9D9D9"/>
    <a:srgbClr val="25D129"/>
    <a:srgbClr val="5E8AB4"/>
    <a:srgbClr val="E46C0A"/>
    <a:srgbClr val="DC4234"/>
    <a:srgbClr val="00AEB3"/>
    <a:srgbClr val="FFCC00"/>
    <a:srgbClr val="ED7D31"/>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99540-0C50-4D57-9CC7-824A1E2E6C9E}" v="1" dt="2026-05-28T04:13:40.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96" autoAdjust="0"/>
    <p:restoredTop sz="91606" autoAdjust="0"/>
  </p:normalViewPr>
  <p:slideViewPr>
    <p:cSldViewPr snapToGrid="0">
      <p:cViewPr varScale="1">
        <p:scale>
          <a:sx n="65" d="100"/>
          <a:sy n="65" d="100"/>
        </p:scale>
        <p:origin x="384" y="32"/>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44"/>
        <p:guide pos="2124"/>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gs" Target="tags/tag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notesMaster" Target="notesMasters/notesMaster1.xml"/><Relationship Id="rId43"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ta, Vivian" userId="c9130ee9-f22b-44aa-bb73-83a935e86cf9" providerId="ADAL" clId="{9140235C-6F4B-4C4C-96E9-70B35F501552}"/>
    <pc:docChg chg="undo custSel addSld delSld modSld sldOrd modSection">
      <pc:chgData name="Malta, Vivian" userId="c9130ee9-f22b-44aa-bb73-83a935e86cf9" providerId="ADAL" clId="{9140235C-6F4B-4C4C-96E9-70B35F501552}" dt="2026-05-28T04:19:45.995" v="2034" actId="313"/>
      <pc:docMkLst>
        <pc:docMk/>
      </pc:docMkLst>
      <pc:sldChg chg="modSp add del mod">
        <pc:chgData name="Malta, Vivian" userId="c9130ee9-f22b-44aa-bb73-83a935e86cf9" providerId="ADAL" clId="{9140235C-6F4B-4C4C-96E9-70B35F501552}" dt="2026-05-28T04:10:43.183" v="2013" actId="47"/>
        <pc:sldMkLst>
          <pc:docMk/>
          <pc:sldMk cId="3401349885" sldId="1233"/>
        </pc:sldMkLst>
      </pc:sldChg>
      <pc:sldChg chg="modSp mod modShow">
        <pc:chgData name="Malta, Vivian" userId="c9130ee9-f22b-44aa-bb73-83a935e86cf9" providerId="ADAL" clId="{9140235C-6F4B-4C4C-96E9-70B35F501552}" dt="2026-05-28T04:10:49.241" v="2024" actId="20577"/>
        <pc:sldMkLst>
          <pc:docMk/>
          <pc:sldMk cId="1555710734" sldId="4406"/>
        </pc:sldMkLst>
        <pc:spChg chg="mod">
          <ac:chgData name="Malta, Vivian" userId="c9130ee9-f22b-44aa-bb73-83a935e86cf9" providerId="ADAL" clId="{9140235C-6F4B-4C4C-96E9-70B35F501552}" dt="2026-05-28T04:10:49.241" v="2024" actId="20577"/>
          <ac:spMkLst>
            <pc:docMk/>
            <pc:sldMk cId="1555710734" sldId="4406"/>
            <ac:spMk id="6" creationId="{6D68A0A9-7E8B-2460-525E-98E3E8FED33A}"/>
          </ac:spMkLst>
        </pc:spChg>
      </pc:sldChg>
      <pc:sldChg chg="modSp add del mod">
        <pc:chgData name="Malta, Vivian" userId="c9130ee9-f22b-44aa-bb73-83a935e86cf9" providerId="ADAL" clId="{9140235C-6F4B-4C4C-96E9-70B35F501552}" dt="2026-05-28T04:10:42.232" v="2012" actId="47"/>
        <pc:sldMkLst>
          <pc:docMk/>
          <pc:sldMk cId="1497171189" sldId="4516"/>
        </pc:sldMkLst>
      </pc:sldChg>
      <pc:sldChg chg="addSp modSp add del mod">
        <pc:chgData name="Malta, Vivian" userId="c9130ee9-f22b-44aa-bb73-83a935e86cf9" providerId="ADAL" clId="{9140235C-6F4B-4C4C-96E9-70B35F501552}" dt="2026-05-28T04:10:41.322" v="2011" actId="47"/>
        <pc:sldMkLst>
          <pc:docMk/>
          <pc:sldMk cId="188374253" sldId="4517"/>
        </pc:sldMkLst>
      </pc:sldChg>
      <pc:sldChg chg="del">
        <pc:chgData name="Malta, Vivian" userId="c9130ee9-f22b-44aa-bb73-83a935e86cf9" providerId="ADAL" clId="{9140235C-6F4B-4C4C-96E9-70B35F501552}" dt="2026-05-28T04:10:51.569" v="2025" actId="47"/>
        <pc:sldMkLst>
          <pc:docMk/>
          <pc:sldMk cId="2250378218" sldId="4523"/>
        </pc:sldMkLst>
      </pc:sldChg>
      <pc:sldChg chg="del">
        <pc:chgData name="Malta, Vivian" userId="c9130ee9-f22b-44aa-bb73-83a935e86cf9" providerId="ADAL" clId="{9140235C-6F4B-4C4C-96E9-70B35F501552}" dt="2026-05-28T04:13:35.882" v="2026" actId="2696"/>
        <pc:sldMkLst>
          <pc:docMk/>
          <pc:sldMk cId="653258668" sldId="4540"/>
        </pc:sldMkLst>
      </pc:sldChg>
      <pc:sldChg chg="add">
        <pc:chgData name="Malta, Vivian" userId="c9130ee9-f22b-44aa-bb73-83a935e86cf9" providerId="ADAL" clId="{9140235C-6F4B-4C4C-96E9-70B35F501552}" dt="2026-05-28T04:13:40.733" v="2027"/>
        <pc:sldMkLst>
          <pc:docMk/>
          <pc:sldMk cId="2628329710" sldId="4540"/>
        </pc:sldMkLst>
      </pc:sldChg>
      <pc:sldChg chg="del">
        <pc:chgData name="Malta, Vivian" userId="c9130ee9-f22b-44aa-bb73-83a935e86cf9" providerId="ADAL" clId="{9140235C-6F4B-4C4C-96E9-70B35F501552}" dt="2026-05-28T04:13:35.882" v="2026" actId="2696"/>
        <pc:sldMkLst>
          <pc:docMk/>
          <pc:sldMk cId="3682882621" sldId="4541"/>
        </pc:sldMkLst>
      </pc:sldChg>
      <pc:sldChg chg="add">
        <pc:chgData name="Malta, Vivian" userId="c9130ee9-f22b-44aa-bb73-83a935e86cf9" providerId="ADAL" clId="{9140235C-6F4B-4C4C-96E9-70B35F501552}" dt="2026-05-28T04:13:40.733" v="2027"/>
        <pc:sldMkLst>
          <pc:docMk/>
          <pc:sldMk cId="3796490059" sldId="4541"/>
        </pc:sldMkLst>
      </pc:sldChg>
      <pc:sldChg chg="del">
        <pc:chgData name="Malta, Vivian" userId="c9130ee9-f22b-44aa-bb73-83a935e86cf9" providerId="ADAL" clId="{9140235C-6F4B-4C4C-96E9-70B35F501552}" dt="2026-05-28T04:13:35.882" v="2026" actId="2696"/>
        <pc:sldMkLst>
          <pc:docMk/>
          <pc:sldMk cId="1409245899" sldId="4542"/>
        </pc:sldMkLst>
      </pc:sldChg>
      <pc:sldChg chg="add">
        <pc:chgData name="Malta, Vivian" userId="c9130ee9-f22b-44aa-bb73-83a935e86cf9" providerId="ADAL" clId="{9140235C-6F4B-4C4C-96E9-70B35F501552}" dt="2026-05-28T04:13:40.733" v="2027"/>
        <pc:sldMkLst>
          <pc:docMk/>
          <pc:sldMk cId="2472667985" sldId="4542"/>
        </pc:sldMkLst>
      </pc:sldChg>
      <pc:sldChg chg="add">
        <pc:chgData name="Malta, Vivian" userId="c9130ee9-f22b-44aa-bb73-83a935e86cf9" providerId="ADAL" clId="{9140235C-6F4B-4C4C-96E9-70B35F501552}" dt="2026-05-28T04:13:40.733" v="2027"/>
        <pc:sldMkLst>
          <pc:docMk/>
          <pc:sldMk cId="92172423" sldId="4546"/>
        </pc:sldMkLst>
      </pc:sldChg>
      <pc:sldChg chg="del">
        <pc:chgData name="Malta, Vivian" userId="c9130ee9-f22b-44aa-bb73-83a935e86cf9" providerId="ADAL" clId="{9140235C-6F4B-4C4C-96E9-70B35F501552}" dt="2026-05-28T04:13:35.882" v="2026" actId="2696"/>
        <pc:sldMkLst>
          <pc:docMk/>
          <pc:sldMk cId="1688620907" sldId="4546"/>
        </pc:sldMkLst>
      </pc:sldChg>
      <pc:sldChg chg="del">
        <pc:chgData name="Malta, Vivian" userId="c9130ee9-f22b-44aa-bb73-83a935e86cf9" providerId="ADAL" clId="{9140235C-6F4B-4C4C-96E9-70B35F501552}" dt="2026-05-28T04:13:35.882" v="2026" actId="2696"/>
        <pc:sldMkLst>
          <pc:docMk/>
          <pc:sldMk cId="1717452559" sldId="4547"/>
        </pc:sldMkLst>
      </pc:sldChg>
      <pc:sldChg chg="add">
        <pc:chgData name="Malta, Vivian" userId="c9130ee9-f22b-44aa-bb73-83a935e86cf9" providerId="ADAL" clId="{9140235C-6F4B-4C4C-96E9-70B35F501552}" dt="2026-05-28T04:13:40.733" v="2027"/>
        <pc:sldMkLst>
          <pc:docMk/>
          <pc:sldMk cId="3089863893" sldId="4547"/>
        </pc:sldMkLst>
      </pc:sldChg>
      <pc:sldChg chg="modSp mod">
        <pc:chgData name="Malta, Vivian" userId="c9130ee9-f22b-44aa-bb73-83a935e86cf9" providerId="ADAL" clId="{9140235C-6F4B-4C4C-96E9-70B35F501552}" dt="2026-05-28T04:19:45.995" v="2034" actId="313"/>
        <pc:sldMkLst>
          <pc:docMk/>
          <pc:sldMk cId="837040982" sldId="4549"/>
        </pc:sldMkLst>
        <pc:spChg chg="mod">
          <ac:chgData name="Malta, Vivian" userId="c9130ee9-f22b-44aa-bb73-83a935e86cf9" providerId="ADAL" clId="{9140235C-6F4B-4C4C-96E9-70B35F501552}" dt="2026-05-28T04:19:45.995" v="2034" actId="313"/>
          <ac:spMkLst>
            <pc:docMk/>
            <pc:sldMk cId="837040982" sldId="4549"/>
            <ac:spMk id="4" creationId="{0E3A02B8-4ADA-FA17-4BB0-306AB7B77892}"/>
          </ac:spMkLst>
        </pc:spChg>
      </pc:sldChg>
      <pc:sldChg chg="add">
        <pc:chgData name="Malta, Vivian" userId="c9130ee9-f22b-44aa-bb73-83a935e86cf9" providerId="ADAL" clId="{9140235C-6F4B-4C4C-96E9-70B35F501552}" dt="2026-05-28T04:13:40.733" v="2027"/>
        <pc:sldMkLst>
          <pc:docMk/>
          <pc:sldMk cId="1328414643" sldId="4553"/>
        </pc:sldMkLst>
      </pc:sldChg>
      <pc:sldChg chg="del">
        <pc:chgData name="Malta, Vivian" userId="c9130ee9-f22b-44aa-bb73-83a935e86cf9" providerId="ADAL" clId="{9140235C-6F4B-4C4C-96E9-70B35F501552}" dt="2026-05-28T04:13:35.882" v="2026" actId="2696"/>
        <pc:sldMkLst>
          <pc:docMk/>
          <pc:sldMk cId="2360878994" sldId="4553"/>
        </pc:sldMkLst>
      </pc:sldChg>
      <pc:sldChg chg="modSp add mod modTransition setBg modClrScheme chgLayout">
        <pc:chgData name="Malta, Vivian" userId="c9130ee9-f22b-44aa-bb73-83a935e86cf9" providerId="ADAL" clId="{9140235C-6F4B-4C4C-96E9-70B35F501552}" dt="2026-05-28T04:13:53.522" v="2028" actId="700"/>
        <pc:sldMkLst>
          <pc:docMk/>
          <pc:sldMk cId="1189322825" sldId="4554"/>
        </pc:sldMkLst>
        <pc:spChg chg="mod ord">
          <ac:chgData name="Malta, Vivian" userId="c9130ee9-f22b-44aa-bb73-83a935e86cf9" providerId="ADAL" clId="{9140235C-6F4B-4C4C-96E9-70B35F501552}" dt="2026-05-28T04:13:53.522" v="2028" actId="700"/>
          <ac:spMkLst>
            <pc:docMk/>
            <pc:sldMk cId="1189322825" sldId="4554"/>
            <ac:spMk id="4" creationId="{357A8A69-77CF-9E4A-6EE4-0EBB2F872750}"/>
          </ac:spMkLst>
        </pc:spChg>
      </pc:sldChg>
      <pc:sldChg chg="del">
        <pc:chgData name="Malta, Vivian" userId="c9130ee9-f22b-44aa-bb73-83a935e86cf9" providerId="ADAL" clId="{9140235C-6F4B-4C4C-96E9-70B35F501552}" dt="2026-05-28T04:13:35.882" v="2026" actId="2696"/>
        <pc:sldMkLst>
          <pc:docMk/>
          <pc:sldMk cId="3391326653" sldId="4554"/>
        </pc:sldMkLst>
      </pc:sldChg>
      <pc:sldChg chg="addSp delSp modSp new add del mod ord modTransition setBg">
        <pc:chgData name="Malta, Vivian" userId="c9130ee9-f22b-44aa-bb73-83a935e86cf9" providerId="ADAL" clId="{9140235C-6F4B-4C4C-96E9-70B35F501552}" dt="2026-05-13T18:41:04.115" v="2010" actId="21"/>
        <pc:sldMkLst>
          <pc:docMk/>
          <pc:sldMk cId="695224085" sldId="4557"/>
        </pc:sldMkLst>
        <pc:picChg chg="add del mod">
          <ac:chgData name="Malta, Vivian" userId="c9130ee9-f22b-44aa-bb73-83a935e86cf9" providerId="ADAL" clId="{9140235C-6F4B-4C4C-96E9-70B35F501552}" dt="2026-05-13T18:41:04.115" v="2010" actId="21"/>
          <ac:picMkLst>
            <pc:docMk/>
            <pc:sldMk cId="695224085" sldId="4557"/>
            <ac:picMk id="4" creationId="{DE7C8308-DE86-18B2-519C-E4D512FF54C2}"/>
          </ac:picMkLst>
        </pc:picChg>
      </pc:sldChg>
      <pc:sldChg chg="ord">
        <pc:chgData name="Malta, Vivian" userId="c9130ee9-f22b-44aa-bb73-83a935e86cf9" providerId="ADAL" clId="{9140235C-6F4B-4C4C-96E9-70B35F501552}" dt="2026-05-28T04:18:06.422" v="2032"/>
        <pc:sldMkLst>
          <pc:docMk/>
          <pc:sldMk cId="3425587157" sldId="4562"/>
        </pc:sldMkLst>
      </pc:sldChg>
      <pc:sldChg chg="ord">
        <pc:chgData name="Malta, Vivian" userId="c9130ee9-f22b-44aa-bb73-83a935e86cf9" providerId="ADAL" clId="{9140235C-6F4B-4C4C-96E9-70B35F501552}" dt="2026-05-28T04:18:06.422" v="2032"/>
        <pc:sldMkLst>
          <pc:docMk/>
          <pc:sldMk cId="2484453400" sldId="4563"/>
        </pc:sldMkLst>
      </pc:sldChg>
      <pc:sldChg chg="ord">
        <pc:chgData name="Malta, Vivian" userId="c9130ee9-f22b-44aa-bb73-83a935e86cf9" providerId="ADAL" clId="{9140235C-6F4B-4C4C-96E9-70B35F501552}" dt="2026-05-28T04:16:32.757" v="2030"/>
        <pc:sldMkLst>
          <pc:docMk/>
          <pc:sldMk cId="521838026" sldId="4564"/>
        </pc:sldMkLst>
      </pc:sldChg>
      <pc:sldMasterChg chg="delSldLayout">
        <pc:chgData name="Malta, Vivian" userId="c9130ee9-f22b-44aa-bb73-83a935e86cf9" providerId="ADAL" clId="{9140235C-6F4B-4C4C-96E9-70B35F501552}" dt="2026-05-28T04:10:51.569" v="2025" actId="47"/>
        <pc:sldMasterMkLst>
          <pc:docMk/>
          <pc:sldMasterMk cId="2582906804" sldId="2147483762"/>
        </pc:sldMasterMkLst>
        <pc:sldLayoutChg chg="del">
          <pc:chgData name="Malta, Vivian" userId="c9130ee9-f22b-44aa-bb73-83a935e86cf9" providerId="ADAL" clId="{9140235C-6F4B-4C4C-96E9-70B35F501552}" dt="2026-05-28T04:10:51.569" v="2025" actId="47"/>
          <pc:sldLayoutMkLst>
            <pc:docMk/>
            <pc:sldMasterMk cId="2582906804" sldId="2147483762"/>
            <pc:sldLayoutMk cId="107467711" sldId="214748380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2" y="12"/>
            <a:ext cx="3043447" cy="464977"/>
          </a:xfrm>
          <a:prstGeom prst="rect">
            <a:avLst/>
          </a:prstGeom>
        </p:spPr>
        <p:txBody>
          <a:bodyPr vert="horz" lIns="91239" tIns="45618" rIns="91239" bIns="45618" rtlCol="0"/>
          <a:lstStyle>
            <a:lvl1pPr algn="l">
              <a:defRPr sz="1200"/>
            </a:lvl1pPr>
          </a:lstStyle>
          <a:p>
            <a:endParaRPr lang="en-US"/>
          </a:p>
        </p:txBody>
      </p:sp>
      <p:sp>
        <p:nvSpPr>
          <p:cNvPr id="4" name="Footer Placeholder 3"/>
          <p:cNvSpPr>
            <a:spLocks noGrp="1"/>
          </p:cNvSpPr>
          <p:nvPr>
            <p:ph type="ftr" sz="quarter" idx="2"/>
          </p:nvPr>
        </p:nvSpPr>
        <p:spPr>
          <a:xfrm>
            <a:off x="12" y="8842547"/>
            <a:ext cx="3043447" cy="464977"/>
          </a:xfrm>
          <a:prstGeom prst="rect">
            <a:avLst/>
          </a:prstGeom>
        </p:spPr>
        <p:txBody>
          <a:bodyPr vert="horz" lIns="91239" tIns="45618" rIns="91239" bIns="45618" rtlCol="0" anchor="b"/>
          <a:lstStyle>
            <a:lvl1pPr algn="l">
              <a:defRPr sz="1200"/>
            </a:lvl1pPr>
          </a:lstStyle>
          <a:p>
            <a:endParaRPr lang="en-US"/>
          </a:p>
        </p:txBody>
      </p:sp>
      <p:sp>
        <p:nvSpPr>
          <p:cNvPr id="5" name="Slide Number Placeholder 4"/>
          <p:cNvSpPr>
            <a:spLocks noGrp="1"/>
          </p:cNvSpPr>
          <p:nvPr>
            <p:ph type="sldNum" sz="quarter" idx="3"/>
          </p:nvPr>
        </p:nvSpPr>
        <p:spPr>
          <a:xfrm>
            <a:off x="3978075" y="8842547"/>
            <a:ext cx="3043447" cy="464977"/>
          </a:xfrm>
          <a:prstGeom prst="rect">
            <a:avLst/>
          </a:prstGeom>
        </p:spPr>
        <p:txBody>
          <a:bodyPr vert="horz" lIns="91239" tIns="45618" rIns="91239" bIns="45618" rtlCol="0" anchor="b"/>
          <a:lstStyle>
            <a:lvl1pPr algn="r">
              <a:defRPr sz="1200"/>
            </a:lvl1pPr>
          </a:lstStyle>
          <a:p>
            <a:fld id="{70787CFD-D5C7-455D-B121-683BFE13FBD4}" type="slidenum">
              <a:rPr lang="en-US" smtClean="0"/>
              <a:pPr/>
              <a:t>‹#›</a:t>
            </a:fld>
            <a:endParaRPr lang="en-US"/>
          </a:p>
        </p:txBody>
      </p:sp>
    </p:spTree>
    <p:extLst>
      <p:ext uri="{BB962C8B-B14F-4D97-AF65-F5344CB8AC3E}">
        <p14:creationId xmlns:p14="http://schemas.microsoft.com/office/powerpoint/2010/main" val="339198984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6"/>
            <a:ext cx="3043343" cy="465455"/>
          </a:xfrm>
          <a:prstGeom prst="rect">
            <a:avLst/>
          </a:prstGeom>
        </p:spPr>
        <p:txBody>
          <a:bodyPr vert="horz" lIns="93134" tIns="46567" rIns="93134" bIns="46567" rtlCol="0"/>
          <a:lstStyle>
            <a:lvl1pPr algn="l">
              <a:defRPr sz="1200"/>
            </a:lvl1pPr>
          </a:lstStyle>
          <a:p>
            <a:endParaRPr lang="en-US"/>
          </a:p>
        </p:txBody>
      </p:sp>
      <p:sp>
        <p:nvSpPr>
          <p:cNvPr id="3" name="Date Placeholder 2"/>
          <p:cNvSpPr>
            <a:spLocks noGrp="1"/>
          </p:cNvSpPr>
          <p:nvPr>
            <p:ph type="dt" idx="1"/>
          </p:nvPr>
        </p:nvSpPr>
        <p:spPr>
          <a:xfrm>
            <a:off x="3978139" y="6"/>
            <a:ext cx="3043343" cy="465455"/>
          </a:xfrm>
          <a:prstGeom prst="rect">
            <a:avLst/>
          </a:prstGeom>
        </p:spPr>
        <p:txBody>
          <a:bodyPr vert="horz" lIns="93134" tIns="46567" rIns="93134" bIns="46567" rtlCol="0"/>
          <a:lstStyle>
            <a:lvl1pPr algn="r">
              <a:defRPr sz="1200"/>
            </a:lvl1pPr>
          </a:lstStyle>
          <a:p>
            <a:fld id="{F2FB1009-8102-467C-88A3-A8200E3708E5}" type="datetime1">
              <a:rPr lang="en-US" smtClean="0"/>
              <a:t>5/28/2026</a:t>
            </a:fld>
            <a:endParaRPr 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134" tIns="46567" rIns="93134" bIns="46567" rtlCol="0" anchor="ctr"/>
          <a:lstStyle/>
          <a:p>
            <a:endParaRPr lang="en-US"/>
          </a:p>
        </p:txBody>
      </p:sp>
      <p:sp>
        <p:nvSpPr>
          <p:cNvPr id="5" name="Notes Placeholder 4"/>
          <p:cNvSpPr>
            <a:spLocks noGrp="1"/>
          </p:cNvSpPr>
          <p:nvPr>
            <p:ph type="body" sz="quarter" idx="3"/>
          </p:nvPr>
        </p:nvSpPr>
        <p:spPr>
          <a:xfrm>
            <a:off x="702313" y="4421825"/>
            <a:ext cx="5618480" cy="4189095"/>
          </a:xfrm>
          <a:prstGeom prst="rect">
            <a:avLst/>
          </a:prstGeom>
        </p:spPr>
        <p:txBody>
          <a:bodyPr vert="horz" lIns="93134" tIns="46567" rIns="93134" bIns="4656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6"/>
            <a:ext cx="3043343" cy="465455"/>
          </a:xfrm>
          <a:prstGeom prst="rect">
            <a:avLst/>
          </a:prstGeom>
        </p:spPr>
        <p:txBody>
          <a:bodyPr vert="horz" lIns="93134" tIns="46567" rIns="93134" bIns="46567" rtlCol="0" anchor="b"/>
          <a:lstStyle>
            <a:lvl1pPr algn="l">
              <a:defRPr sz="1200"/>
            </a:lvl1pPr>
          </a:lstStyle>
          <a:p>
            <a:endParaRPr lang="en-US"/>
          </a:p>
        </p:txBody>
      </p:sp>
      <p:sp>
        <p:nvSpPr>
          <p:cNvPr id="7" name="Slide Number Placeholder 6"/>
          <p:cNvSpPr>
            <a:spLocks noGrp="1"/>
          </p:cNvSpPr>
          <p:nvPr>
            <p:ph type="sldNum" sz="quarter" idx="5"/>
          </p:nvPr>
        </p:nvSpPr>
        <p:spPr>
          <a:xfrm>
            <a:off x="3978139" y="8842036"/>
            <a:ext cx="3043343" cy="465455"/>
          </a:xfrm>
          <a:prstGeom prst="rect">
            <a:avLst/>
          </a:prstGeom>
        </p:spPr>
        <p:txBody>
          <a:bodyPr vert="horz" lIns="93134" tIns="46567" rIns="93134" bIns="46567" rtlCol="0" anchor="b"/>
          <a:lstStyle>
            <a:lvl1pPr algn="r">
              <a:defRPr sz="1200"/>
            </a:lvl1pPr>
          </a:lstStyle>
          <a:p>
            <a:fld id="{BA49F774-CCF9-492C-9AEB-F2814D4A6625}" type="slidenum">
              <a:rPr lang="en-US" smtClean="0"/>
              <a:pPr/>
              <a:t>‹#›</a:t>
            </a:fld>
            <a:endParaRPr lang="en-US"/>
          </a:p>
        </p:txBody>
      </p:sp>
    </p:spTree>
    <p:extLst>
      <p:ext uri="{BB962C8B-B14F-4D97-AF65-F5344CB8AC3E}">
        <p14:creationId xmlns:p14="http://schemas.microsoft.com/office/powerpoint/2010/main" val="1913010238"/>
      </p:ext>
    </p:extLst>
  </p:cSld>
  <p:clrMap bg1="lt1" tx1="dk1" bg2="lt2" tx2="dk2" accent1="accent1" accent2="accent2" accent3="accent3" accent4="accent4" accent5="accent5" accent6="accent6" hlink="hlink" folHlink="folHlink"/>
  <p:hf hdr="0" ftr="0"/>
  <p:notesStyle>
    <a:lvl1pPr marL="0" algn="l" defTabSz="914314" rtl="0" eaLnBrk="1" latinLnBrk="0" hangingPunct="1">
      <a:defRPr sz="1200" kern="1200">
        <a:solidFill>
          <a:schemeClr val="tx1"/>
        </a:solidFill>
        <a:latin typeface="+mn-lt"/>
        <a:ea typeface="+mn-ea"/>
        <a:cs typeface="+mn-cs"/>
      </a:defRPr>
    </a:lvl1pPr>
    <a:lvl2pPr marL="457157" algn="l" defTabSz="914314" rtl="0" eaLnBrk="1" latinLnBrk="0" hangingPunct="1">
      <a:defRPr sz="1200" kern="1200">
        <a:solidFill>
          <a:schemeClr val="tx1"/>
        </a:solidFill>
        <a:latin typeface="+mn-lt"/>
        <a:ea typeface="+mn-ea"/>
        <a:cs typeface="+mn-cs"/>
      </a:defRPr>
    </a:lvl2pPr>
    <a:lvl3pPr marL="914314" algn="l" defTabSz="914314" rtl="0" eaLnBrk="1" latinLnBrk="0" hangingPunct="1">
      <a:defRPr sz="1200" kern="1200">
        <a:solidFill>
          <a:schemeClr val="tx1"/>
        </a:solidFill>
        <a:latin typeface="+mn-lt"/>
        <a:ea typeface="+mn-ea"/>
        <a:cs typeface="+mn-cs"/>
      </a:defRPr>
    </a:lvl3pPr>
    <a:lvl4pPr marL="1371472" algn="l" defTabSz="914314" rtl="0" eaLnBrk="1" latinLnBrk="0" hangingPunct="1">
      <a:defRPr sz="1200" kern="1200">
        <a:solidFill>
          <a:schemeClr val="tx1"/>
        </a:solidFill>
        <a:latin typeface="+mn-lt"/>
        <a:ea typeface="+mn-ea"/>
        <a:cs typeface="+mn-cs"/>
      </a:defRPr>
    </a:lvl4pPr>
    <a:lvl5pPr marL="1828628" algn="l" defTabSz="914314" rtl="0" eaLnBrk="1" latinLnBrk="0" hangingPunct="1">
      <a:defRPr sz="1200" kern="1200">
        <a:solidFill>
          <a:schemeClr val="tx1"/>
        </a:solidFill>
        <a:latin typeface="+mn-lt"/>
        <a:ea typeface="+mn-ea"/>
        <a:cs typeface="+mn-cs"/>
      </a:defRPr>
    </a:lvl5pPr>
    <a:lvl6pPr marL="2285785" algn="l" defTabSz="914314" rtl="0" eaLnBrk="1" latinLnBrk="0" hangingPunct="1">
      <a:defRPr sz="1200" kern="1200">
        <a:solidFill>
          <a:schemeClr val="tx1"/>
        </a:solidFill>
        <a:latin typeface="+mn-lt"/>
        <a:ea typeface="+mn-ea"/>
        <a:cs typeface="+mn-cs"/>
      </a:defRPr>
    </a:lvl6pPr>
    <a:lvl7pPr marL="2742942" algn="l" defTabSz="914314" rtl="0" eaLnBrk="1" latinLnBrk="0" hangingPunct="1">
      <a:defRPr sz="1200" kern="1200">
        <a:solidFill>
          <a:schemeClr val="tx1"/>
        </a:solidFill>
        <a:latin typeface="+mn-lt"/>
        <a:ea typeface="+mn-ea"/>
        <a:cs typeface="+mn-cs"/>
      </a:defRPr>
    </a:lvl7pPr>
    <a:lvl8pPr marL="3200100" algn="l" defTabSz="914314" rtl="0" eaLnBrk="1" latinLnBrk="0" hangingPunct="1">
      <a:defRPr sz="1200" kern="1200">
        <a:solidFill>
          <a:schemeClr val="tx1"/>
        </a:solidFill>
        <a:latin typeface="+mn-lt"/>
        <a:ea typeface="+mn-ea"/>
        <a:cs typeface="+mn-cs"/>
      </a:defRPr>
    </a:lvl8pPr>
    <a:lvl9pPr marL="3657257" algn="l" defTabSz="91431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361B9B78-73FE-4DA1-81AD-EEA68D15F9C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2128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Labour force surveys are one of the primary national household surveys conducted by countries. They are designed with the objective to produce official national statistics on the </a:t>
            </a:r>
            <a:r>
              <a:rPr lang="en-US" err="1"/>
              <a:t>labour</a:t>
            </a:r>
            <a:r>
              <a:rPr lang="en-US"/>
              <a:t> force, employment and unemployment for monitoring and planning purposes. LFS are the main source behind headline indicators of the </a:t>
            </a:r>
            <a:r>
              <a:rPr lang="en-US" err="1"/>
              <a:t>labour</a:t>
            </a:r>
            <a:r>
              <a:rPr lang="en-US"/>
              <a:t> market for short-term monitoring as well as more structural information on the number and characteristics of the employed, their jobs and working conditions, the job search activities of those without work, etc. They are a unique source of data on informal employment, and increasingly designed to produce statistics on unpaid forms of work and other related topics through add-on modules.</a:t>
            </a:r>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a:t>
            </a:fld>
            <a:endParaRPr lang="en-US"/>
          </a:p>
        </p:txBody>
      </p:sp>
    </p:spTree>
    <p:extLst>
      <p:ext uri="{BB962C8B-B14F-4D97-AF65-F5344CB8AC3E}">
        <p14:creationId xmlns:p14="http://schemas.microsoft.com/office/powerpoint/2010/main" val="2581631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7</a:t>
            </a:fld>
            <a:endParaRPr lang="en-US"/>
          </a:p>
        </p:txBody>
      </p:sp>
    </p:spTree>
    <p:extLst>
      <p:ext uri="{BB962C8B-B14F-4D97-AF65-F5344CB8AC3E}">
        <p14:creationId xmlns:p14="http://schemas.microsoft.com/office/powerpoint/2010/main" val="250082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8</a:t>
            </a:fld>
            <a:endParaRPr lang="en-US"/>
          </a:p>
        </p:txBody>
      </p:sp>
    </p:spTree>
    <p:extLst>
      <p:ext uri="{BB962C8B-B14F-4D97-AF65-F5344CB8AC3E}">
        <p14:creationId xmlns:p14="http://schemas.microsoft.com/office/powerpoint/2010/main" val="862896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9</a:t>
            </a:fld>
            <a:endParaRPr lang="en-US"/>
          </a:p>
        </p:txBody>
      </p:sp>
    </p:spTree>
    <p:extLst>
      <p:ext uri="{BB962C8B-B14F-4D97-AF65-F5344CB8AC3E}">
        <p14:creationId xmlns:p14="http://schemas.microsoft.com/office/powerpoint/2010/main" val="2439271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15</a:t>
            </a:fld>
            <a:endParaRPr lang="en-US"/>
          </a:p>
        </p:txBody>
      </p:sp>
    </p:spTree>
    <p:extLst>
      <p:ext uri="{BB962C8B-B14F-4D97-AF65-F5344CB8AC3E}">
        <p14:creationId xmlns:p14="http://schemas.microsoft.com/office/powerpoint/2010/main" val="3801921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Fraser Institute; International </a:t>
            </a:r>
            <a:r>
              <a:rPr lang="en-US" dirty="0" err="1"/>
              <a:t>Labour</a:t>
            </a:r>
            <a:r>
              <a:rPr lang="en-US" dirty="0"/>
              <a:t> Organization; International Telecommunication Union; United Nations; Universal Postal Union; World Bank; World Economic Forum; and IMF staff calculations. Note: The plot comprises 125 countries: 32 AEs, 56 EMs, and 37 LICs. The red reference lines are derived from the median values of the AI Preparedness Index and high-exposure employment. Exes denote the average values for each corresponding country group. Circles represent the average values for each respective country group. AEs = advanced economies; EMs = emerging market economies; LICs = low-income countries. Country labels use International Organization for Standardization (ISO) country codes</a:t>
            </a:r>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23</a:t>
            </a:fld>
            <a:endParaRPr lang="en-US"/>
          </a:p>
        </p:txBody>
      </p:sp>
    </p:spTree>
    <p:extLst>
      <p:ext uri="{BB962C8B-B14F-4D97-AF65-F5344CB8AC3E}">
        <p14:creationId xmlns:p14="http://schemas.microsoft.com/office/powerpoint/2010/main" val="2344261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24</a:t>
            </a:fld>
            <a:endParaRPr lang="en-US"/>
          </a:p>
        </p:txBody>
      </p:sp>
    </p:spTree>
    <p:extLst>
      <p:ext uri="{BB962C8B-B14F-4D97-AF65-F5344CB8AC3E}">
        <p14:creationId xmlns:p14="http://schemas.microsoft.com/office/powerpoint/2010/main" val="1609653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8136-28A5-E166-F571-2D5140406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76562-AC5E-B5F4-64AD-6BBB49830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AA120-37E7-2719-1AB6-7D3A936F21D0}"/>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F5B52223-DB66-DE4F-CF7F-2CFC24FD01D4}"/>
              </a:ext>
            </a:extLst>
          </p:cNvPr>
          <p:cNvSpPr>
            <a:spLocks noGrp="1"/>
          </p:cNvSpPr>
          <p:nvPr>
            <p:ph type="dt" idx="1"/>
          </p:nvPr>
        </p:nvSpPr>
        <p:spPr/>
        <p:txBody>
          <a:bodyPr/>
          <a:lstStyle/>
          <a:p>
            <a:fld id="{F2FB1009-8102-467C-88A3-A8200E3708E5}" type="datetime1">
              <a:rPr lang="en-US" smtClean="0"/>
              <a:t>5/28/2026</a:t>
            </a:fld>
            <a:endParaRPr lang="en-US"/>
          </a:p>
        </p:txBody>
      </p:sp>
      <p:sp>
        <p:nvSpPr>
          <p:cNvPr id="5" name="Slide Number Placeholder 4">
            <a:extLst>
              <a:ext uri="{FF2B5EF4-FFF2-40B4-BE49-F238E27FC236}">
                <a16:creationId xmlns:a16="http://schemas.microsoft.com/office/drawing/2014/main" id="{252FA284-7BAA-8F6F-ADCF-558EC25CDCD2}"/>
              </a:ext>
            </a:extLst>
          </p:cNvPr>
          <p:cNvSpPr>
            <a:spLocks noGrp="1"/>
          </p:cNvSpPr>
          <p:nvPr>
            <p:ph type="sldNum" sz="quarter" idx="5"/>
          </p:nvPr>
        </p:nvSpPr>
        <p:spPr/>
        <p:txBody>
          <a:bodyPr/>
          <a:lstStyle/>
          <a:p>
            <a:fld id="{BA49F774-CCF9-492C-9AEB-F2814D4A6625}" type="slidenum">
              <a:rPr lang="en-US" smtClean="0"/>
              <a:pPr/>
              <a:t>25</a:t>
            </a:fld>
            <a:endParaRPr lang="en-US"/>
          </a:p>
        </p:txBody>
      </p:sp>
    </p:spTree>
    <p:extLst>
      <p:ext uri="{BB962C8B-B14F-4D97-AF65-F5344CB8AC3E}">
        <p14:creationId xmlns:p14="http://schemas.microsoft.com/office/powerpoint/2010/main" val="1149889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49E4E862-E263-8B4A-AFB5-DFAAA754BCA9}" type="datetime1">
              <a:rPr lang="en-US" smtClean="0"/>
              <a:t>5/28/2026</a:t>
            </a:fld>
            <a:endParaRPr lang="en-US"/>
          </a:p>
        </p:txBody>
      </p:sp>
      <p:sp>
        <p:nvSpPr>
          <p:cNvPr id="5" name="Slide Number Placeholder 4"/>
          <p:cNvSpPr>
            <a:spLocks noGrp="1"/>
          </p:cNvSpPr>
          <p:nvPr>
            <p:ph type="sldNum" sz="quarter" idx="11"/>
          </p:nvPr>
        </p:nvSpPr>
        <p:spPr/>
        <p:txBody>
          <a:bodyPr/>
          <a:lstStyle/>
          <a:p>
            <a:fld id="{BA49F774-CCF9-492C-9AEB-F2814D4A6625}" type="slidenum">
              <a:rPr lang="en-US" smtClean="0"/>
              <a:pPr/>
              <a:t>28</a:t>
            </a:fld>
            <a:endParaRPr lang="en-US"/>
          </a:p>
        </p:txBody>
      </p:sp>
    </p:spTree>
    <p:extLst>
      <p:ext uri="{BB962C8B-B14F-4D97-AF65-F5344CB8AC3E}">
        <p14:creationId xmlns:p14="http://schemas.microsoft.com/office/powerpoint/2010/main" val="23754307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7098733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0159108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579912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68339043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9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9914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808027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19820882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5367013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0165849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6085019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6879988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11519002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40168843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8792685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1589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11576932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945261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40971704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ARTTAC 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13E802-0087-4A88-B9F3-B27074E51DA2}"/>
              </a:ext>
            </a:extLst>
          </p:cNvPr>
          <p:cNvSpPr>
            <a:spLocks noGrp="1"/>
          </p:cNvSpPr>
          <p:nvPr>
            <p:ph type="sldNum" sz="quarter" idx="12"/>
          </p:nvPr>
        </p:nvSpPr>
        <p:spPr>
          <a:xfrm>
            <a:off x="9132569"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0EF9D1-8FE4-4A6C-8373-E5034EFA4A90}" type="slidenum">
              <a:rPr lang="en-US" smtClean="0"/>
              <a:pPr/>
              <a:t>‹#›</a:t>
            </a:fld>
            <a:endParaRPr lang="en-US"/>
          </a:p>
        </p:txBody>
      </p:sp>
      <p:pic>
        <p:nvPicPr>
          <p:cNvPr id="17" name="Picture 16">
            <a:extLst>
              <a:ext uri="{FF2B5EF4-FFF2-40B4-BE49-F238E27FC236}">
                <a16:creationId xmlns:a16="http://schemas.microsoft.com/office/drawing/2014/main" id="{264E6205-D9A5-4D27-BFB4-F7BCEB65A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808059" y="3079268"/>
            <a:ext cx="6567856" cy="349678"/>
          </a:xfrm>
          <a:prstGeom prst="rect">
            <a:avLst/>
          </a:prstGeom>
        </p:spPr>
      </p:pic>
      <p:sp>
        <p:nvSpPr>
          <p:cNvPr id="28" name="Rectangle 27">
            <a:extLst>
              <a:ext uri="{FF2B5EF4-FFF2-40B4-BE49-F238E27FC236}">
                <a16:creationId xmlns:a16="http://schemas.microsoft.com/office/drawing/2014/main" id="{13B1E383-8E3E-4961-9E67-7569E541E23B}"/>
              </a:ext>
            </a:extLst>
          </p:cNvPr>
          <p:cNvSpPr/>
          <p:nvPr/>
        </p:nvSpPr>
        <p:spPr>
          <a:xfrm>
            <a:off x="-7068" y="6538035"/>
            <a:ext cx="12273893" cy="365125"/>
          </a:xfrm>
          <a:prstGeom prst="rect">
            <a:avLst/>
          </a:prstGeom>
          <a:solidFill>
            <a:srgbClr val="F2A900"/>
          </a:solidFill>
          <a:ln>
            <a:solidFill>
              <a:srgbClr val="F2A90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a:p>
        </p:txBody>
      </p:sp>
      <p:sp>
        <p:nvSpPr>
          <p:cNvPr id="18" name="Text Box 2">
            <a:extLst>
              <a:ext uri="{FF2B5EF4-FFF2-40B4-BE49-F238E27FC236}">
                <a16:creationId xmlns:a16="http://schemas.microsoft.com/office/drawing/2014/main" id="{9327A731-E579-490F-A267-6AACC1A09895}"/>
              </a:ext>
            </a:extLst>
          </p:cNvPr>
          <p:cNvSpPr txBox="1"/>
          <p:nvPr/>
        </p:nvSpPr>
        <p:spPr>
          <a:xfrm>
            <a:off x="106544" y="4244701"/>
            <a:ext cx="198755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member countries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4DD74BBD-1874-42BC-AB24-65343EF71610}"/>
              </a:ext>
            </a:extLst>
          </p:cNvPr>
          <p:cNvCxnSpPr>
            <a:cxnSpLocks/>
          </p:cNvCxnSpPr>
          <p:nvPr/>
        </p:nvCxnSpPr>
        <p:spPr>
          <a:xfrm flipV="1">
            <a:off x="186553" y="4584288"/>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 Box 2">
            <a:extLst>
              <a:ext uri="{FF2B5EF4-FFF2-40B4-BE49-F238E27FC236}">
                <a16:creationId xmlns:a16="http://schemas.microsoft.com/office/drawing/2014/main" id="{B6760F4B-0E53-4873-811E-91CFF0C3FA44}"/>
              </a:ext>
            </a:extLst>
          </p:cNvPr>
          <p:cNvSpPr txBox="1"/>
          <p:nvPr/>
        </p:nvSpPr>
        <p:spPr>
          <a:xfrm>
            <a:off x="80042" y="5422821"/>
            <a:ext cx="2531412"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development partners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37" name="Straight Connector 36">
            <a:extLst>
              <a:ext uri="{FF2B5EF4-FFF2-40B4-BE49-F238E27FC236}">
                <a16:creationId xmlns:a16="http://schemas.microsoft.com/office/drawing/2014/main" id="{3AE5E040-1BD7-4446-A6F1-1EBE8A0590EA}"/>
              </a:ext>
            </a:extLst>
          </p:cNvPr>
          <p:cNvCxnSpPr>
            <a:cxnSpLocks/>
          </p:cNvCxnSpPr>
          <p:nvPr/>
        </p:nvCxnSpPr>
        <p:spPr>
          <a:xfrm flipV="1">
            <a:off x="160051" y="5760417"/>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9" name="Picture 78" descr="A picture containing text&#10;&#10;Description automatically generated">
            <a:extLst>
              <a:ext uri="{FF2B5EF4-FFF2-40B4-BE49-F238E27FC236}">
                <a16:creationId xmlns:a16="http://schemas.microsoft.com/office/drawing/2014/main" id="{6B05876D-8396-4524-AB44-3AC466521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992" y="5820054"/>
            <a:ext cx="1522744" cy="369598"/>
          </a:xfrm>
          <a:prstGeom prst="rect">
            <a:avLst/>
          </a:prstGeom>
        </p:spPr>
      </p:pic>
      <p:sp>
        <p:nvSpPr>
          <p:cNvPr id="103" name="Text Box 2">
            <a:extLst>
              <a:ext uri="{FF2B5EF4-FFF2-40B4-BE49-F238E27FC236}">
                <a16:creationId xmlns:a16="http://schemas.microsoft.com/office/drawing/2014/main" id="{055F566B-93E6-4A71-B2B1-18231CC3E9FB}"/>
              </a:ext>
            </a:extLst>
          </p:cNvPr>
          <p:cNvSpPr txBox="1"/>
          <p:nvPr/>
        </p:nvSpPr>
        <p:spPr>
          <a:xfrm>
            <a:off x="164128" y="5093348"/>
            <a:ext cx="750318"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Bangladesh</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4" name="Text Box 2">
            <a:extLst>
              <a:ext uri="{FF2B5EF4-FFF2-40B4-BE49-F238E27FC236}">
                <a16:creationId xmlns:a16="http://schemas.microsoft.com/office/drawing/2014/main" id="{6A4F2024-16FB-41A6-91E1-ECDDF91FA78C}"/>
              </a:ext>
            </a:extLst>
          </p:cNvPr>
          <p:cNvSpPr txBox="1"/>
          <p:nvPr/>
        </p:nvSpPr>
        <p:spPr>
          <a:xfrm>
            <a:off x="1056253" y="5106079"/>
            <a:ext cx="530423"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Bhutan</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6" name="Text Box 2">
            <a:extLst>
              <a:ext uri="{FF2B5EF4-FFF2-40B4-BE49-F238E27FC236}">
                <a16:creationId xmlns:a16="http://schemas.microsoft.com/office/drawing/2014/main" id="{8FB12644-5B3A-45F7-8851-A9F07291388E}"/>
              </a:ext>
            </a:extLst>
          </p:cNvPr>
          <p:cNvSpPr txBox="1"/>
          <p:nvPr/>
        </p:nvSpPr>
        <p:spPr>
          <a:xfrm>
            <a:off x="1931593" y="5089364"/>
            <a:ext cx="49643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9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India</a:t>
            </a:r>
            <a:endParaRPr lang="en-US" sz="9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7" name="Text Box 2">
            <a:extLst>
              <a:ext uri="{FF2B5EF4-FFF2-40B4-BE49-F238E27FC236}">
                <a16:creationId xmlns:a16="http://schemas.microsoft.com/office/drawing/2014/main" id="{343B0394-3A95-499F-9024-683962B64689}"/>
              </a:ext>
            </a:extLst>
          </p:cNvPr>
          <p:cNvSpPr txBox="1"/>
          <p:nvPr/>
        </p:nvSpPr>
        <p:spPr>
          <a:xfrm>
            <a:off x="2673999" y="5108639"/>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Maldives</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8" name="Text Box 2">
            <a:extLst>
              <a:ext uri="{FF2B5EF4-FFF2-40B4-BE49-F238E27FC236}">
                <a16:creationId xmlns:a16="http://schemas.microsoft.com/office/drawing/2014/main" id="{23D860F5-B5E6-4F02-B526-922F1D3D46FA}"/>
              </a:ext>
            </a:extLst>
          </p:cNvPr>
          <p:cNvSpPr txBox="1"/>
          <p:nvPr/>
        </p:nvSpPr>
        <p:spPr>
          <a:xfrm>
            <a:off x="3411254" y="5108639"/>
            <a:ext cx="491920"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Nepal</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9" name="Text Box 2">
            <a:extLst>
              <a:ext uri="{FF2B5EF4-FFF2-40B4-BE49-F238E27FC236}">
                <a16:creationId xmlns:a16="http://schemas.microsoft.com/office/drawing/2014/main" id="{BA7AD0F8-FCBA-4156-AFB1-F623DB42E273}"/>
              </a:ext>
            </a:extLst>
          </p:cNvPr>
          <p:cNvSpPr txBox="1"/>
          <p:nvPr/>
        </p:nvSpPr>
        <p:spPr>
          <a:xfrm>
            <a:off x="4117024" y="5121700"/>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Sri Lanka</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8181419"/>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1_Divider (Cyan)">
    <p:bg>
      <p:bgPr>
        <a:solidFill>
          <a:srgbClr val="9015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63509806"/>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Divider Agenda">
    <p:bg>
      <p:bgPr>
        <a:solidFill>
          <a:srgbClr val="90152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p:nvSpPr>
        <p:spPr>
          <a:xfrm>
            <a:off x="-1" y="6638778"/>
            <a:ext cx="12192001" cy="219221"/>
          </a:xfrm>
          <a:prstGeom prst="rect">
            <a:avLst/>
          </a:prstGeom>
          <a:solidFill>
            <a:srgbClr val="90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South Asia Regional Training and Technical Assistance Center— SARTTAC</a:t>
            </a: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353398900"/>
      </p:ext>
    </p:extLst>
  </p:cSld>
  <p:clrMapOvr>
    <a:masterClrMapping/>
  </p:clrMapOvr>
  <p:transition>
    <p:fade/>
  </p:transition>
  <p:extLst>
    <p:ext uri="{DCECCB84-F9BA-43D5-87BE-67443E8EF086}">
      <p15:sldGuideLst xmlns:p15="http://schemas.microsoft.com/office/powerpoint/2012/main">
        <p15:guide id="4" orient="horz" pos="2160" userDrawn="1">
          <p15:clr>
            <a:srgbClr val="FBAE40"/>
          </p15:clr>
        </p15:guide>
        <p15:guide id="5" pos="3840" userDrawn="1">
          <p15:clr>
            <a:srgbClr val="FBAE40"/>
          </p15:clr>
        </p15:guide>
        <p15:guide id="6" orient="horz" pos="39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4018520089"/>
      </p:ext>
    </p:extLst>
  </p:cSld>
  <p:clrMapOvr>
    <a:masterClrMapping/>
  </p:clrMapOvr>
  <p:transition>
    <p:fade/>
  </p:transition>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guide id="7" pos="781" userDrawn="1">
          <p15:clr>
            <a:srgbClr val="FBAE40"/>
          </p15:clr>
        </p15:guide>
        <p15:guide id="8" pos="690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2207676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997778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2758679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484380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0745999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21213206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73662313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2075662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4949819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1A4695-1328-4625-82E7-8C4D53E75391}"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3D5D34-FDB0-4835-9348-7100FEFCD586}" type="slidenum">
              <a:rPr lang="en-US" smtClean="0"/>
              <a:t>‹#›</a:t>
            </a:fld>
            <a:endParaRPr lang="en-US"/>
          </a:p>
        </p:txBody>
      </p:sp>
    </p:spTree>
    <p:extLst>
      <p:ext uri="{BB962C8B-B14F-4D97-AF65-F5344CB8AC3E}">
        <p14:creationId xmlns:p14="http://schemas.microsoft.com/office/powerpoint/2010/main" val="25123033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90742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6313" y="136523"/>
            <a:ext cx="10666675" cy="706094"/>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8249D-73BB-4688-B427-EB89B5DAF030}"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2776896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B8249D-73BB-4688-B427-EB89B5DAF030}"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589396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004C97"/>
                </a:solidFill>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B8249D-73BB-4688-B427-EB89B5DAF030}"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3376961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B5B8249D-73BB-4688-B427-EB89B5DAF030}"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8523059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8249D-73BB-4688-B427-EB89B5DAF030}"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2988723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825642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091808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1855442"/>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6593952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5037468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67162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Divider Agenda">
    <p:bg>
      <p:bgPr>
        <a:solidFill>
          <a:srgbClr val="90152D"/>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1840890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387919636"/>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5/28/2026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802132700"/>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2.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media/image5.png"/><Relationship Id="rId2" Type="http://schemas.openxmlformats.org/officeDocument/2006/relationships/slideLayout" Target="../slideLayouts/slideLayout39.xml"/><Relationship Id="rId16" Type="http://schemas.openxmlformats.org/officeDocument/2006/relationships/image" Target="../media/image3.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theme" Target="../theme/theme3.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661" r:id="rId3"/>
    <p:sldLayoutId id="2147483760" r:id="rId4"/>
    <p:sldLayoutId id="2147483754" r:id="rId5"/>
    <p:sldLayoutId id="2147483755" r:id="rId6"/>
    <p:sldLayoutId id="2147483756" r:id="rId7"/>
    <p:sldLayoutId id="2147483758" r:id="rId8"/>
    <p:sldLayoutId id="2147483757" r:id="rId9"/>
    <p:sldLayoutId id="2147483707" r:id="rId10"/>
    <p:sldLayoutId id="2147483759" r:id="rId11"/>
    <p:sldLayoutId id="2147483748" r:id="rId12"/>
    <p:sldLayoutId id="2147483744" r:id="rId13"/>
    <p:sldLayoutId id="2147483750" r:id="rId14"/>
    <p:sldLayoutId id="2147483747" r:id="rId15"/>
    <p:sldLayoutId id="2147483752" r:id="rId16"/>
    <p:sldLayoutId id="2147483751" r:id="rId17"/>
    <p:sldLayoutId id="2147483745" r:id="rId18"/>
    <p:sldLayoutId id="2147483746" r:id="rId19"/>
    <p:sldLayoutId id="2147483749" r:id="rId20"/>
    <p:sldLayoutId id="2147483753" r:id="rId21"/>
    <p:sldLayoutId id="2147483743" r:id="rId22"/>
    <p:sldLayoutId id="2147483792" r:id="rId23"/>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5" name="TextBox 4">
            <a:extLst>
              <a:ext uri="{FF2B5EF4-FFF2-40B4-BE49-F238E27FC236}">
                <a16:creationId xmlns:a16="http://schemas.microsoft.com/office/drawing/2014/main" id="{00B5D478-FD4A-2240-B032-46F4E3BAB6E8}"/>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
        <p:nvSpPr>
          <p:cNvPr id="6" name="TextBox 5">
            <a:extLst>
              <a:ext uri="{FF2B5EF4-FFF2-40B4-BE49-F238E27FC236}">
                <a16:creationId xmlns:a16="http://schemas.microsoft.com/office/drawing/2014/main" id="{9E8C54C7-734D-43A7-BEFB-A9BE6BF97DF4}"/>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258290680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91" r:id="rId12"/>
    <p:sldLayoutId id="2147483799" r:id="rId13"/>
    <p:sldLayoutId id="2147483800" r:id="rId14"/>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A2D1FFAD-683D-4DF5-8667-FE7C943F094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6549163"/>
            <a:ext cx="12316389" cy="305954"/>
          </a:xfrm>
          <a:prstGeom prst="rect">
            <a:avLst/>
          </a:prstGeom>
        </p:spPr>
      </p:pic>
      <p:pic>
        <p:nvPicPr>
          <p:cNvPr id="49" name="Picture 48">
            <a:extLst>
              <a:ext uri="{FF2B5EF4-FFF2-40B4-BE49-F238E27FC236}">
                <a16:creationId xmlns:a16="http://schemas.microsoft.com/office/drawing/2014/main" id="{D539B6A2-25B6-414C-8964-4BB73BDD4DA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1105"/>
            <a:ext cx="12274927" cy="998531"/>
          </a:xfrm>
          <a:prstGeom prst="rect">
            <a:avLst/>
          </a:prstGeom>
        </p:spPr>
      </p:pic>
      <p:sp>
        <p:nvSpPr>
          <p:cNvPr id="2" name="Title Placeholder 1"/>
          <p:cNvSpPr>
            <a:spLocks noGrp="1"/>
          </p:cNvSpPr>
          <p:nvPr>
            <p:ph type="title"/>
          </p:nvPr>
        </p:nvSpPr>
        <p:spPr>
          <a:xfrm>
            <a:off x="1541488" y="133440"/>
            <a:ext cx="9049421" cy="73385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08398" y="167653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8249D-73BB-4688-B427-EB89B5DAF030}" type="datetimeFigureOut">
              <a:rPr lang="en-US" smtClean="0"/>
              <a:t>5/28/2026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29" name="Picture 28">
            <a:extLst>
              <a:ext uri="{FF2B5EF4-FFF2-40B4-BE49-F238E27FC236}">
                <a16:creationId xmlns:a16="http://schemas.microsoft.com/office/drawing/2014/main" id="{5E4E6BEC-FFD1-403D-AE66-D9C4578DCD2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04959" y="72826"/>
            <a:ext cx="868467" cy="852107"/>
          </a:xfrm>
          <a:prstGeom prst="rect">
            <a:avLst/>
          </a:prstGeom>
        </p:spPr>
      </p:pic>
      <p:sp>
        <p:nvSpPr>
          <p:cNvPr id="53" name="TextBox 52">
            <a:extLst>
              <a:ext uri="{FF2B5EF4-FFF2-40B4-BE49-F238E27FC236}">
                <a16:creationId xmlns:a16="http://schemas.microsoft.com/office/drawing/2014/main" id="{4A752841-1F14-472B-8136-14C2A87C7CD3}"/>
              </a:ext>
            </a:extLst>
          </p:cNvPr>
          <p:cNvSpPr txBox="1"/>
          <p:nvPr/>
        </p:nvSpPr>
        <p:spPr>
          <a:xfrm>
            <a:off x="117984" y="6594418"/>
            <a:ext cx="12192000" cy="230832"/>
          </a:xfrm>
          <a:prstGeom prst="rect">
            <a:avLst/>
          </a:prstGeom>
          <a:noFill/>
        </p:spPr>
        <p:txBody>
          <a:bodyPr wrap="square" rtlCol="0">
            <a:spAutoFit/>
          </a:bodyPr>
          <a:lstStyle/>
          <a:p>
            <a:r>
              <a:rPr lang="en-US" sz="900" b="1">
                <a:solidFill>
                  <a:schemeClr val="bg1"/>
                </a:solidFill>
                <a:latin typeface="Arial" panose="020B0604020202020204" pitchFamily="34" charset="0"/>
                <a:cs typeface="Arial" panose="020B0604020202020204" pitchFamily="34" charset="0"/>
              </a:rPr>
              <a:t>IMF</a:t>
            </a:r>
            <a:endParaRPr lang="en-US" sz="900" b="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53EC36D0-8578-4449-B610-88EB05D95480}"/>
              </a:ext>
            </a:extLst>
          </p:cNvPr>
          <p:cNvSpPr txBox="1"/>
          <p:nvPr/>
        </p:nvSpPr>
        <p:spPr>
          <a:xfrm>
            <a:off x="10372855" y="6579030"/>
            <a:ext cx="1613877"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5761373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txStyles>
    <p:titleStyle>
      <a:lvl1pPr algn="ctr" defTabSz="914400" rtl="0" eaLnBrk="1" latinLnBrk="0" hangingPunct="1">
        <a:lnSpc>
          <a:spcPct val="90000"/>
        </a:lnSpc>
        <a:spcBef>
          <a:spcPct val="0"/>
        </a:spcBef>
        <a:buNone/>
        <a:defRPr sz="36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knbs.or.ke/wp-content/uploads/2025/01/2024-25-Kenya-Integrated-Household-Budget-Survey-Pilot-Report.pdf" TargetMode="Externa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hyperlink" Target="https://www.elibrary.imf.org/view/journals/001/2019/241/article-A001-en.xml" TargetMode="Externa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5.xml"/><Relationship Id="rId1" Type="http://schemas.openxmlformats.org/officeDocument/2006/relationships/themeOverride" Target="../theme/themeOverride1.xml"/><Relationship Id="rId4" Type="http://schemas.openxmlformats.org/officeDocument/2006/relationships/hyperlink" Target="https://www.imf.org/-/media/files/publications/sdn/2024/english/sdnea2024001.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7221FD5-C0B3-DA62-3AA2-E8B9CA5E6389}"/>
              </a:ext>
            </a:extLst>
          </p:cNvPr>
          <p:cNvSpPr>
            <a:spLocks noGrp="1"/>
          </p:cNvSpPr>
          <p:nvPr>
            <p:ph type="body" sz="quarter" idx="10"/>
          </p:nvPr>
        </p:nvSpPr>
        <p:spPr>
          <a:xfrm>
            <a:off x="5154804" y="5265336"/>
            <a:ext cx="6782638" cy="1462244"/>
          </a:xfrm>
        </p:spPr>
        <p:txBody>
          <a:bodyPr/>
          <a:lstStyle/>
          <a:p>
            <a:r>
              <a:rPr lang="en-US"/>
              <a:t>Vivian Malta, IMF</a:t>
            </a:r>
          </a:p>
          <a:p>
            <a:endParaRPr lang="en-US" dirty="0"/>
          </a:p>
        </p:txBody>
      </p:sp>
      <p:sp>
        <p:nvSpPr>
          <p:cNvPr id="16" name="Text Placeholder 15">
            <a:extLst>
              <a:ext uri="{FF2B5EF4-FFF2-40B4-BE49-F238E27FC236}">
                <a16:creationId xmlns:a16="http://schemas.microsoft.com/office/drawing/2014/main" id="{B4958751-400C-0F44-BB35-6CE0FEAC0E77}"/>
              </a:ext>
            </a:extLst>
          </p:cNvPr>
          <p:cNvSpPr>
            <a:spLocks noGrp="1"/>
          </p:cNvSpPr>
          <p:nvPr>
            <p:ph type="body" sz="quarter" idx="12"/>
          </p:nvPr>
        </p:nvSpPr>
        <p:spPr/>
        <p:txBody>
          <a:bodyPr/>
          <a:lstStyle/>
          <a:p>
            <a:r>
              <a:rPr lang="en-US"/>
              <a:t>IMF Flickr</a:t>
            </a:r>
          </a:p>
        </p:txBody>
      </p:sp>
      <p:sp>
        <p:nvSpPr>
          <p:cNvPr id="2" name="Title 1">
            <a:extLst>
              <a:ext uri="{FF2B5EF4-FFF2-40B4-BE49-F238E27FC236}">
                <a16:creationId xmlns:a16="http://schemas.microsoft.com/office/drawing/2014/main" id="{A9354EC1-60D1-CD48-8690-FF0B6D8AC540}"/>
              </a:ext>
            </a:extLst>
          </p:cNvPr>
          <p:cNvSpPr>
            <a:spLocks noGrp="1"/>
          </p:cNvSpPr>
          <p:nvPr>
            <p:ph type="ctrTitle" idx="4294967295"/>
          </p:nvPr>
        </p:nvSpPr>
        <p:spPr>
          <a:xfrm>
            <a:off x="5084466" y="2022568"/>
            <a:ext cx="6640809" cy="3242767"/>
          </a:xfrm>
          <a:noFill/>
        </p:spPr>
        <p:txBody>
          <a:bodyPr>
            <a:noAutofit/>
          </a:bodyPr>
          <a:lstStyle/>
          <a:p>
            <a:r>
              <a:rPr lang="it-IT" sz="3200" dirty="0">
                <a:latin typeface="Arial Black"/>
              </a:rPr>
              <a:t>Macroeconomic Modeling with Distributional Considerations:</a:t>
            </a:r>
            <a:br>
              <a:rPr lang="it-IT" sz="3200" dirty="0">
                <a:latin typeface="Arial Black"/>
              </a:rPr>
            </a:br>
            <a:r>
              <a:rPr lang="it-IT" sz="3200" dirty="0">
                <a:latin typeface="Arial Black"/>
              </a:rPr>
              <a:t>An Introduction</a:t>
            </a:r>
            <a:endParaRPr lang="en-US" sz="3200" dirty="0"/>
          </a:p>
        </p:txBody>
      </p:sp>
      <p:sp>
        <p:nvSpPr>
          <p:cNvPr id="4" name="Picture Placeholder 3">
            <a:extLst>
              <a:ext uri="{FF2B5EF4-FFF2-40B4-BE49-F238E27FC236}">
                <a16:creationId xmlns:a16="http://schemas.microsoft.com/office/drawing/2014/main" id="{BD7DBFCA-BF0B-3D44-334A-846D65E38C97}"/>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33076290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68A0A9-7E8B-2460-525E-98E3E8FED33A}"/>
              </a:ext>
            </a:extLst>
          </p:cNvPr>
          <p:cNvSpPr>
            <a:spLocks noGrp="1"/>
          </p:cNvSpPr>
          <p:nvPr>
            <p:ph type="title"/>
          </p:nvPr>
        </p:nvSpPr>
        <p:spPr/>
        <p:txBody>
          <a:bodyPr/>
          <a:lstStyle/>
          <a:p>
            <a:r>
              <a:rPr lang="en-US" dirty="0">
                <a:latin typeface="Arial Black"/>
              </a:rPr>
              <a:t>Revisiting Microdata</a:t>
            </a:r>
            <a:endParaRPr lang="en-US" dirty="0"/>
          </a:p>
        </p:txBody>
      </p:sp>
      <p:sp>
        <p:nvSpPr>
          <p:cNvPr id="3" name="Text Placeholder 2">
            <a:extLst>
              <a:ext uri="{FF2B5EF4-FFF2-40B4-BE49-F238E27FC236}">
                <a16:creationId xmlns:a16="http://schemas.microsoft.com/office/drawing/2014/main" id="{2BDBF525-6EFF-007C-02B6-2C006B708377}"/>
              </a:ext>
            </a:extLst>
          </p:cNvPr>
          <p:cNvSpPr>
            <a:spLocks noGrp="1"/>
          </p:cNvSpPr>
          <p:nvPr>
            <p:ph type="body" sz="quarter" idx="10"/>
          </p:nvPr>
        </p:nvSpPr>
        <p:spPr/>
        <p:txBody>
          <a:bodyPr vert="horz" lIns="0" tIns="137160" rIns="0" bIns="0" rtlCol="0" anchor="t">
            <a:normAutofit/>
          </a:bodyPr>
          <a:lstStyle/>
          <a:p>
            <a:pPr marL="342900" indent="-342900">
              <a:buFont typeface="Arial" charset="2"/>
              <a:buChar char="•"/>
            </a:pPr>
            <a:r>
              <a:rPr lang="en-US" dirty="0">
                <a:cs typeface="Arial" panose="020B0604020202020204"/>
              </a:rPr>
              <a:t>Detailed info about individual people or entities such as households, business enterprises, farms, geographical areas, etc.</a:t>
            </a:r>
            <a:endParaRPr lang="en-US" dirty="0"/>
          </a:p>
          <a:p>
            <a:pPr marL="342900" indent="-342900">
              <a:buFont typeface="Arial" charset="2"/>
              <a:buChar char="•"/>
            </a:pPr>
            <a:r>
              <a:rPr lang="en-US" dirty="0">
                <a:cs typeface="Arial" panose="020B0604020202020204"/>
              </a:rPr>
              <a:t>Granularity enables in-depth analysis and customized insights.</a:t>
            </a:r>
          </a:p>
          <a:p>
            <a:pPr marL="575945" lvl="1" indent="-233045">
              <a:buFont typeface="Courier New" charset="2"/>
              <a:buChar char="o"/>
            </a:pPr>
            <a:r>
              <a:rPr lang="en-US" dirty="0">
                <a:cs typeface="Arial" panose="020B0604020202020204"/>
              </a:rPr>
              <a:t>Each household income vs. average income in a country</a:t>
            </a:r>
          </a:p>
          <a:p>
            <a:pPr marL="342900" indent="-342900">
              <a:buFont typeface="Arial" charset="2"/>
              <a:buChar char="•"/>
            </a:pPr>
            <a:r>
              <a:rPr lang="en-US" dirty="0">
                <a:cs typeface="Arial" panose="020B0604020202020204"/>
              </a:rPr>
              <a:t>Supports the creation of data-driven policies based on observed patterns.</a:t>
            </a:r>
          </a:p>
          <a:p>
            <a:pPr marL="342900" indent="-342900">
              <a:buFont typeface="Arial" charset="2"/>
              <a:buChar char="•"/>
            </a:pPr>
            <a:r>
              <a:rPr lang="en-US" dirty="0">
                <a:cs typeface="Arial" panose="020B0604020202020204"/>
              </a:rPr>
              <a:t>Unit-level data obtained from surveys, censuses, and administrative systems.</a:t>
            </a:r>
          </a:p>
          <a:p>
            <a:pPr marL="575945" lvl="1" indent="-233045">
              <a:buFont typeface="Courier New" charset="2"/>
              <a:buChar char="o"/>
            </a:pPr>
            <a:r>
              <a:rPr lang="en-US" dirty="0">
                <a:cs typeface="Arial" panose="020B0604020202020204"/>
              </a:rPr>
              <a:t>Household Income and Expenditure Surveys (HIES)</a:t>
            </a:r>
          </a:p>
          <a:p>
            <a:pPr marL="575945" lvl="1" indent="-233045">
              <a:buFont typeface="Courier New" charset="2"/>
              <a:buChar char="o"/>
            </a:pPr>
            <a:r>
              <a:rPr lang="en-US" dirty="0">
                <a:cs typeface="Arial" panose="020B0604020202020204"/>
              </a:rPr>
              <a:t>Labor Force Surveys (LFS)</a:t>
            </a:r>
          </a:p>
          <a:p>
            <a:pPr marL="575945" lvl="1" indent="-233045">
              <a:buFont typeface="Courier New" charset="2"/>
              <a:buChar char="o"/>
            </a:pPr>
            <a:r>
              <a:rPr lang="en-US" dirty="0">
                <a:cs typeface="Arial" panose="020B0604020202020204"/>
              </a:rPr>
              <a:t>Demographic and Health Surveys (DHS)</a:t>
            </a:r>
          </a:p>
          <a:p>
            <a:pPr marL="575945" lvl="1" indent="-233045">
              <a:buFont typeface="Courier New" charset="2"/>
              <a:buChar char="o"/>
            </a:pPr>
            <a:r>
              <a:rPr lang="en-US" dirty="0">
                <a:cs typeface="Arial" panose="020B0604020202020204"/>
              </a:rPr>
              <a:t>Enterprise or Business Surveys</a:t>
            </a:r>
          </a:p>
          <a:p>
            <a:pPr marL="342900" indent="-342900">
              <a:buFont typeface="Arial" charset="2"/>
              <a:buChar char="•"/>
            </a:pPr>
            <a:endParaRPr lang="en-US" dirty="0">
              <a:cs typeface="Arial" panose="020B0604020202020204"/>
            </a:endParaRPr>
          </a:p>
        </p:txBody>
      </p:sp>
    </p:spTree>
    <p:extLst>
      <p:ext uri="{BB962C8B-B14F-4D97-AF65-F5344CB8AC3E}">
        <p14:creationId xmlns:p14="http://schemas.microsoft.com/office/powerpoint/2010/main" val="15557107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D8876-1714-F28D-2E07-D3D5A202A5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7A8A69-77CF-9E4A-6EE4-0EBB2F872750}"/>
              </a:ext>
            </a:extLst>
          </p:cNvPr>
          <p:cNvSpPr>
            <a:spLocks noGrp="1"/>
          </p:cNvSpPr>
          <p:nvPr>
            <p:ph type="title"/>
          </p:nvPr>
        </p:nvSpPr>
        <p:spPr/>
        <p:txBody>
          <a:bodyPr/>
          <a:lstStyle/>
          <a:p>
            <a:r>
              <a:rPr lang="en-US" dirty="0">
                <a:latin typeface="Arial Black"/>
              </a:rPr>
              <a:t>Wage Gap Decompositions</a:t>
            </a:r>
          </a:p>
        </p:txBody>
      </p:sp>
    </p:spTree>
    <p:extLst>
      <p:ext uri="{BB962C8B-B14F-4D97-AF65-F5344CB8AC3E}">
        <p14:creationId xmlns:p14="http://schemas.microsoft.com/office/powerpoint/2010/main" val="118932282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E144-EA41-0EAE-F18A-B50343D5E56C}"/>
              </a:ext>
            </a:extLst>
          </p:cNvPr>
          <p:cNvSpPr>
            <a:spLocks noGrp="1"/>
          </p:cNvSpPr>
          <p:nvPr>
            <p:ph type="title"/>
          </p:nvPr>
        </p:nvSpPr>
        <p:spPr/>
        <p:txBody>
          <a:bodyPr/>
          <a:lstStyle/>
          <a:p>
            <a:r>
              <a:rPr lang="en-US" dirty="0"/>
              <a:t>Wage Gap Decompositions</a:t>
            </a:r>
          </a:p>
        </p:txBody>
      </p:sp>
      <p:sp>
        <p:nvSpPr>
          <p:cNvPr id="3" name="Text Placeholder 2">
            <a:extLst>
              <a:ext uri="{FF2B5EF4-FFF2-40B4-BE49-F238E27FC236}">
                <a16:creationId xmlns:a16="http://schemas.microsoft.com/office/drawing/2014/main" id="{7991D07C-4ED4-135B-E3BA-0072A8B81014}"/>
              </a:ext>
            </a:extLst>
          </p:cNvPr>
          <p:cNvSpPr>
            <a:spLocks noGrp="1"/>
          </p:cNvSpPr>
          <p:nvPr>
            <p:ph type="body" sz="quarter" idx="10"/>
          </p:nvPr>
        </p:nvSpPr>
        <p:spPr/>
        <p:txBody>
          <a:bodyPr vert="horz" lIns="0" tIns="137160" rIns="0" bIns="0" rtlCol="0" anchor="t">
            <a:normAutofit fontScale="85000" lnSpcReduction="10000"/>
          </a:bodyPr>
          <a:lstStyle/>
          <a:p>
            <a:pPr marL="342900" indent="-342900">
              <a:buFont typeface="Arial" panose="020B0604020202020204" pitchFamily="34" charset="0"/>
              <a:buChar char="•"/>
            </a:pPr>
            <a:r>
              <a:rPr lang="en-US" dirty="0"/>
              <a:t>Wages often differ by groups: young vs old, men vs women, etc. </a:t>
            </a:r>
          </a:p>
          <a:p>
            <a:pPr marL="342900" indent="-342900">
              <a:buFont typeface="Arial" panose="020B0604020202020204" pitchFamily="34" charset="0"/>
              <a:buChar char="•"/>
            </a:pPr>
            <a:r>
              <a:rPr lang="en-US" dirty="0"/>
              <a:t>Here we will apply the wage gap decomposition for male vs female. </a:t>
            </a:r>
          </a:p>
          <a:p>
            <a:pPr marL="342900" indent="-342900">
              <a:buFont typeface="Arial" panose="020B0604020202020204" pitchFamily="34" charset="0"/>
              <a:buChar char="•"/>
            </a:pPr>
            <a:r>
              <a:rPr lang="en-US" dirty="0"/>
              <a:t>The overall </a:t>
            </a:r>
            <a:r>
              <a:rPr lang="en-US" i="1" dirty="0"/>
              <a:t>gender wage gap</a:t>
            </a:r>
            <a:r>
              <a:rPr lang="en-US" dirty="0"/>
              <a:t> is the difference between average female and male total earnings from labor</a:t>
            </a:r>
          </a:p>
          <a:p>
            <a:pPr marL="342900" indent="-342900">
              <a:buFont typeface="Arial" panose="020B0604020202020204" pitchFamily="34" charset="0"/>
              <a:buChar char="•"/>
            </a:pPr>
            <a:r>
              <a:rPr lang="en-US" dirty="0"/>
              <a:t>This gap can reflect different work conditions and job characteristics between men and women, related for example to the number of hours worked or the skills required for the job.</a:t>
            </a:r>
            <a:endParaRPr lang="en-US" dirty="0">
              <a:cs typeface="Arial"/>
            </a:endParaRPr>
          </a:p>
          <a:p>
            <a:pPr marL="342900" indent="-342900">
              <a:buFont typeface="Arial" panose="020B0604020202020204" pitchFamily="34" charset="0"/>
              <a:buChar char="•"/>
            </a:pPr>
            <a:r>
              <a:rPr lang="en-US" dirty="0"/>
              <a:t>However, it can also reflect discrimination—a wage premium for one group of workers that cannot be explained by controlling for observable individual and job characteristics.</a:t>
            </a:r>
          </a:p>
          <a:p>
            <a:pPr marL="342900" indent="-342900">
              <a:buFont typeface="Arial" panose="020B0604020202020204" pitchFamily="34" charset="0"/>
              <a:buChar char="•"/>
            </a:pPr>
            <a:r>
              <a:rPr lang="en-US" dirty="0"/>
              <a:t>We can estimate both explained and unexplained using the Blinder-Oaxaca decomposition.</a:t>
            </a:r>
          </a:p>
          <a:p>
            <a:pPr marL="575945" lvl="1" indent="-342900">
              <a:buFont typeface="Arial" panose="020B0604020202020204" pitchFamily="34" charset="0"/>
              <a:buChar char="•"/>
            </a:pPr>
            <a:r>
              <a:rPr lang="en-US" dirty="0"/>
              <a:t>We control for observable characteristics: workers’ age, education, sector of activity, location, occupation, etc.</a:t>
            </a:r>
            <a:endParaRPr lang="en-US" dirty="0">
              <a:cs typeface="Arial" panose="020B0604020202020204"/>
            </a:endParaRPr>
          </a:p>
          <a:p>
            <a:pPr marL="342900" indent="-342900">
              <a:buFont typeface="Arial" panose="020B0604020202020204" pitchFamily="34" charset="0"/>
              <a:buChar char="•"/>
            </a:pPr>
            <a:r>
              <a:rPr lang="en-US" dirty="0"/>
              <a:t>We use household survey data (micro data) for this analysis</a:t>
            </a:r>
          </a:p>
        </p:txBody>
      </p:sp>
    </p:spTree>
    <p:extLst>
      <p:ext uri="{BB962C8B-B14F-4D97-AF65-F5344CB8AC3E}">
        <p14:creationId xmlns:p14="http://schemas.microsoft.com/office/powerpoint/2010/main" val="262832971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FF65-944B-D672-45C1-9E08FE71FEB4}"/>
              </a:ext>
            </a:extLst>
          </p:cNvPr>
          <p:cNvSpPr>
            <a:spLocks noGrp="1"/>
          </p:cNvSpPr>
          <p:nvPr>
            <p:ph type="title"/>
          </p:nvPr>
        </p:nvSpPr>
        <p:spPr/>
        <p:txBody>
          <a:bodyPr/>
          <a:lstStyle/>
          <a:p>
            <a:r>
              <a:rPr lang="en-US"/>
              <a:t>Oaxaca-Blinder Decomposition</a:t>
            </a:r>
          </a:p>
        </p:txBody>
      </p:sp>
      <p:sp>
        <p:nvSpPr>
          <p:cNvPr id="3" name="Text Placeholder 2">
            <a:extLst>
              <a:ext uri="{FF2B5EF4-FFF2-40B4-BE49-F238E27FC236}">
                <a16:creationId xmlns:a16="http://schemas.microsoft.com/office/drawing/2014/main" id="{86C4FE6C-087B-B532-5ECF-3EC6252C4383}"/>
              </a:ext>
            </a:extLst>
          </p:cNvPr>
          <p:cNvSpPr>
            <a:spLocks noGrp="1"/>
          </p:cNvSpPr>
          <p:nvPr>
            <p:ph type="body" sz="quarter" idx="10"/>
          </p:nvPr>
        </p:nvSpPr>
        <p:spPr/>
        <p:txBody>
          <a:bodyPr/>
          <a:lstStyle/>
          <a:p>
            <a:pPr marL="285750" indent="-285750" algn="l">
              <a:buFont typeface="Arial" panose="020B0604020202020204" pitchFamily="34" charset="0"/>
              <a:buChar char="•"/>
            </a:pPr>
            <a:r>
              <a:rPr lang="en-US" sz="1800" b="0" i="0" u="none" strike="noStrike" baseline="0">
                <a:latin typeface="Arial" panose="020B0604020202020204" pitchFamily="34" charset="0"/>
              </a:rPr>
              <a:t>Objective: to decompose the average wage difference between two groups, here: men (M) and women (F) into:</a:t>
            </a:r>
          </a:p>
          <a:p>
            <a:pPr marL="519113" lvl="1" indent="-285750">
              <a:buFont typeface="Arial" panose="020B0604020202020204" pitchFamily="34" charset="0"/>
              <a:buChar char="•"/>
            </a:pPr>
            <a:r>
              <a:rPr lang="en-US" sz="1800" b="0" i="0" u="none" strike="noStrike" baseline="0">
                <a:latin typeface="Arial" panose="020B0604020202020204" pitchFamily="34" charset="0"/>
              </a:rPr>
              <a:t>An explained component: due to differences in characteristics (like education, experience).</a:t>
            </a:r>
          </a:p>
          <a:p>
            <a:pPr marL="519113" lvl="1" indent="-285750">
              <a:buFont typeface="Arial" panose="020B0604020202020204" pitchFamily="34" charset="0"/>
              <a:buChar char="•"/>
            </a:pPr>
            <a:r>
              <a:rPr lang="en-US" sz="1800" b="0" i="0" u="none" strike="noStrike" baseline="0">
                <a:latin typeface="Arial" panose="020B0604020202020204" pitchFamily="34" charset="0"/>
              </a:rPr>
              <a:t>An unexplained component: due to differences in returns to those characteristics (often interpreted as discrimination or structural factors).</a:t>
            </a:r>
          </a:p>
          <a:p>
            <a:pPr marL="285750" indent="-285750" algn="l">
              <a:buFont typeface="Arial" panose="020B0604020202020204" pitchFamily="34" charset="0"/>
              <a:buChar char="•"/>
            </a:pPr>
            <a:r>
              <a:rPr lang="en-US" sz="1800">
                <a:latin typeface="Arial" panose="020B0604020202020204" pitchFamily="34" charset="0"/>
              </a:rPr>
              <a:t>Model: assume a standard log-linear wage regression for each group:</a:t>
            </a:r>
          </a:p>
          <a:p>
            <a:pPr marL="285750" indent="-285750" algn="l">
              <a:buFont typeface="Arial" panose="020B0604020202020204" pitchFamily="34" charset="0"/>
              <a:buChar char="•"/>
            </a:pPr>
            <a:endParaRPr lang="en-US" sz="1800">
              <a:latin typeface="Arial" panose="020B0604020202020204" pitchFamily="34" charset="0"/>
            </a:endParaRPr>
          </a:p>
          <a:p>
            <a:pPr marL="285750" indent="-285750" algn="l">
              <a:buFont typeface="Arial" panose="020B0604020202020204" pitchFamily="34" charset="0"/>
              <a:buChar char="•"/>
            </a:pPr>
            <a:endParaRPr lang="en-US"/>
          </a:p>
        </p:txBody>
      </p:sp>
      <p:pic>
        <p:nvPicPr>
          <p:cNvPr id="5" name="Picture 4">
            <a:extLst>
              <a:ext uri="{FF2B5EF4-FFF2-40B4-BE49-F238E27FC236}">
                <a16:creationId xmlns:a16="http://schemas.microsoft.com/office/drawing/2014/main" id="{200824C1-45E6-16E3-60BD-88D0196CA9F5}"/>
              </a:ext>
            </a:extLst>
          </p:cNvPr>
          <p:cNvPicPr>
            <a:picLocks noChangeAspect="1"/>
          </p:cNvPicPr>
          <p:nvPr/>
        </p:nvPicPr>
        <p:blipFill>
          <a:blip r:embed="rId2"/>
          <a:stretch>
            <a:fillRect/>
          </a:stretch>
        </p:blipFill>
        <p:spPr>
          <a:xfrm>
            <a:off x="1533918" y="4182171"/>
            <a:ext cx="3286584" cy="676369"/>
          </a:xfrm>
          <a:prstGeom prst="rect">
            <a:avLst/>
          </a:prstGeom>
        </p:spPr>
      </p:pic>
      <p:pic>
        <p:nvPicPr>
          <p:cNvPr id="7" name="Picture 6">
            <a:extLst>
              <a:ext uri="{FF2B5EF4-FFF2-40B4-BE49-F238E27FC236}">
                <a16:creationId xmlns:a16="http://schemas.microsoft.com/office/drawing/2014/main" id="{EDC9A5BC-0CF7-8641-6F68-65B47900B7B0}"/>
              </a:ext>
            </a:extLst>
          </p:cNvPr>
          <p:cNvPicPr>
            <a:picLocks noChangeAspect="1"/>
          </p:cNvPicPr>
          <p:nvPr/>
        </p:nvPicPr>
        <p:blipFill>
          <a:blip r:embed="rId3"/>
          <a:stretch>
            <a:fillRect/>
          </a:stretch>
        </p:blipFill>
        <p:spPr>
          <a:xfrm>
            <a:off x="5348852" y="4182171"/>
            <a:ext cx="6574035" cy="1735545"/>
          </a:xfrm>
          <a:prstGeom prst="rect">
            <a:avLst/>
          </a:prstGeom>
        </p:spPr>
      </p:pic>
    </p:spTree>
    <p:extLst>
      <p:ext uri="{BB962C8B-B14F-4D97-AF65-F5344CB8AC3E}">
        <p14:creationId xmlns:p14="http://schemas.microsoft.com/office/powerpoint/2010/main" val="37964900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FF65-944B-D672-45C1-9E08FE71FEB4}"/>
              </a:ext>
            </a:extLst>
          </p:cNvPr>
          <p:cNvSpPr>
            <a:spLocks noGrp="1"/>
          </p:cNvSpPr>
          <p:nvPr>
            <p:ph type="title"/>
          </p:nvPr>
        </p:nvSpPr>
        <p:spPr/>
        <p:txBody>
          <a:bodyPr/>
          <a:lstStyle/>
          <a:p>
            <a:r>
              <a:rPr lang="en-US"/>
              <a:t>Oaxaca-Blinder Decomposition</a:t>
            </a:r>
          </a:p>
        </p:txBody>
      </p:sp>
      <p:sp>
        <p:nvSpPr>
          <p:cNvPr id="3" name="Text Placeholder 2">
            <a:extLst>
              <a:ext uri="{FF2B5EF4-FFF2-40B4-BE49-F238E27FC236}">
                <a16:creationId xmlns:a16="http://schemas.microsoft.com/office/drawing/2014/main" id="{86C4FE6C-087B-B532-5ECF-3EC6252C4383}"/>
              </a:ext>
            </a:extLst>
          </p:cNvPr>
          <p:cNvSpPr>
            <a:spLocks noGrp="1"/>
          </p:cNvSpPr>
          <p:nvPr>
            <p:ph type="body" sz="quarter" idx="10"/>
          </p:nvPr>
        </p:nvSpPr>
        <p:spPr/>
        <p:txBody>
          <a:bodyPr vert="horz" lIns="0" tIns="137160" rIns="0" bIns="0" rtlCol="0" anchor="t">
            <a:normAutofit/>
          </a:bodyPr>
          <a:lstStyle/>
          <a:p>
            <a:pPr algn="l"/>
            <a:endParaRPr lang="en-US" dirty="0"/>
          </a:p>
          <a:p>
            <a:pPr marL="285750" indent="-285750" algn="l">
              <a:buFont typeface="Arial" panose="020B0604020202020204" pitchFamily="34" charset="0"/>
              <a:buChar char="•"/>
            </a:pPr>
            <a:endParaRPr lang="en-US" dirty="0"/>
          </a:p>
          <a:p>
            <a:pPr marL="342900" indent="-342900">
              <a:buFont typeface="Arial" panose="020B0604020202020204" pitchFamily="34" charset="0"/>
              <a:buChar char="•"/>
            </a:pPr>
            <a:r>
              <a:rPr lang="en-US" dirty="0"/>
              <a:t>Explained part: Wage gap due to differences in characteristics (e.g. if men have more education or experience).</a:t>
            </a:r>
            <a:endParaRPr lang="en-US" dirty="0">
              <a:cs typeface="Arial"/>
            </a:endParaRPr>
          </a:p>
          <a:p>
            <a:pPr marL="342900" indent="-342900">
              <a:buFont typeface="Arial" panose="020B0604020202020204" pitchFamily="34" charset="0"/>
              <a:buChar char="•"/>
            </a:pPr>
            <a:r>
              <a:rPr lang="en-US" dirty="0"/>
              <a:t>Unexplained part: Wage gap due to differences in returns to characteristics (e.g. same level of education for both men and women, but men earning higher wages), often interpreted as discrimination.</a:t>
            </a:r>
            <a:endParaRPr lang="en-US" dirty="0">
              <a:cs typeface="Arial"/>
            </a:endParaRPr>
          </a:p>
          <a:p>
            <a:pPr marL="342900" indent="-342900">
              <a:buFont typeface="Arial" panose="020B0604020202020204" pitchFamily="34" charset="0"/>
              <a:buChar char="•"/>
            </a:pPr>
            <a:r>
              <a:rPr lang="en-US" dirty="0"/>
              <a:t>Software packages calculate this directly.</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59BC8623-09AA-D6DB-CE2B-735BDF0EE742}"/>
              </a:ext>
            </a:extLst>
          </p:cNvPr>
          <p:cNvPicPr>
            <a:picLocks noChangeAspect="1"/>
          </p:cNvPicPr>
          <p:nvPr/>
        </p:nvPicPr>
        <p:blipFill>
          <a:blip r:embed="rId2"/>
          <a:stretch>
            <a:fillRect/>
          </a:stretch>
        </p:blipFill>
        <p:spPr>
          <a:xfrm>
            <a:off x="2589195" y="1882969"/>
            <a:ext cx="6315745" cy="939842"/>
          </a:xfrm>
          <a:prstGeom prst="rect">
            <a:avLst/>
          </a:prstGeom>
        </p:spPr>
      </p:pic>
      <p:pic>
        <p:nvPicPr>
          <p:cNvPr id="5" name="Picture 4">
            <a:extLst>
              <a:ext uri="{FF2B5EF4-FFF2-40B4-BE49-F238E27FC236}">
                <a16:creationId xmlns:a16="http://schemas.microsoft.com/office/drawing/2014/main" id="{B8327079-20CC-05BF-42EF-D927DC476836}"/>
              </a:ext>
            </a:extLst>
          </p:cNvPr>
          <p:cNvPicPr>
            <a:picLocks noChangeAspect="1"/>
          </p:cNvPicPr>
          <p:nvPr/>
        </p:nvPicPr>
        <p:blipFill>
          <a:blip r:embed="rId3"/>
          <a:stretch>
            <a:fillRect/>
          </a:stretch>
        </p:blipFill>
        <p:spPr>
          <a:xfrm>
            <a:off x="2820201" y="1265709"/>
            <a:ext cx="5555345" cy="617260"/>
          </a:xfrm>
          <a:prstGeom prst="rect">
            <a:avLst/>
          </a:prstGeom>
        </p:spPr>
      </p:pic>
    </p:spTree>
    <p:extLst>
      <p:ext uri="{BB962C8B-B14F-4D97-AF65-F5344CB8AC3E}">
        <p14:creationId xmlns:p14="http://schemas.microsoft.com/office/powerpoint/2010/main" val="247266798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B9A9A-8C01-C250-9974-7C6D6FC50E62}"/>
              </a:ext>
            </a:extLst>
          </p:cNvPr>
          <p:cNvSpPr>
            <a:spLocks noGrp="1"/>
          </p:cNvSpPr>
          <p:nvPr>
            <p:ph type="title"/>
          </p:nvPr>
        </p:nvSpPr>
        <p:spPr/>
        <p:txBody>
          <a:bodyPr/>
          <a:lstStyle/>
          <a:p>
            <a:r>
              <a:rPr lang="en-US"/>
              <a:t>Example: Senegal (2018 IMF Article IV)</a:t>
            </a:r>
          </a:p>
        </p:txBody>
      </p:sp>
      <p:sp>
        <p:nvSpPr>
          <p:cNvPr id="3" name="Text Placeholder 2">
            <a:extLst>
              <a:ext uri="{FF2B5EF4-FFF2-40B4-BE49-F238E27FC236}">
                <a16:creationId xmlns:a16="http://schemas.microsoft.com/office/drawing/2014/main" id="{5A373086-9D14-AD17-0F59-F23B064E9F9B}"/>
              </a:ext>
            </a:extLst>
          </p:cNvPr>
          <p:cNvSpPr>
            <a:spLocks noGrp="1"/>
          </p:cNvSpPr>
          <p:nvPr>
            <p:ph type="body" sz="quarter" idx="10"/>
          </p:nvPr>
        </p:nvSpPr>
        <p:spPr/>
        <p:txBody>
          <a:bodyPr>
            <a:normAutofit/>
          </a:bodyPr>
          <a:lstStyle/>
          <a:p>
            <a:r>
              <a:rPr lang="en-US" sz="2400" b="1" dirty="0"/>
              <a:t>Total wage gap of 47%</a:t>
            </a:r>
          </a:p>
          <a:p>
            <a:pPr marL="342900" indent="-342900">
              <a:buFont typeface="Arial" panose="020B0604020202020204" pitchFamily="34" charset="0"/>
              <a:buChar char="•"/>
            </a:pPr>
            <a:r>
              <a:rPr lang="en-US" dirty="0"/>
              <a:t>Observables (“X”): education, experience, sector, type of activity, sector, type of contract, localization, gender, ethnicity, age.</a:t>
            </a:r>
          </a:p>
          <a:p>
            <a:pPr marL="342900" indent="-342900">
              <a:buFont typeface="Arial" panose="020B0604020202020204" pitchFamily="34" charset="0"/>
              <a:buChar char="•"/>
            </a:pPr>
            <a:r>
              <a:rPr lang="en-US" dirty="0"/>
              <a:t>1/3 of the gender wage gap is explained: e.g. by less education, less formal jobs</a:t>
            </a:r>
          </a:p>
          <a:p>
            <a:pPr marL="342900" indent="-342900">
              <a:buFont typeface="Arial" panose="020B0604020202020204" pitchFamily="34" charset="0"/>
              <a:buChar char="•"/>
            </a:pPr>
            <a:r>
              <a:rPr lang="en-US" dirty="0"/>
              <a:t>2/3 is unexplained (differences in the estimated parameters): women have lower returns from experience than men; women start from a lower pay level (much inferior and statistically significant regression intercept on women’s wage equation)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32841464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B9A9A-8C01-C250-9974-7C6D6FC50E62}"/>
              </a:ext>
            </a:extLst>
          </p:cNvPr>
          <p:cNvSpPr>
            <a:spLocks noGrp="1"/>
          </p:cNvSpPr>
          <p:nvPr>
            <p:ph type="title"/>
          </p:nvPr>
        </p:nvSpPr>
        <p:spPr/>
        <p:txBody>
          <a:bodyPr/>
          <a:lstStyle/>
          <a:p>
            <a:r>
              <a:rPr lang="en-US"/>
              <a:t>Example: Malawi</a:t>
            </a:r>
          </a:p>
        </p:txBody>
      </p:sp>
      <p:sp>
        <p:nvSpPr>
          <p:cNvPr id="3" name="Text Placeholder 2">
            <a:extLst>
              <a:ext uri="{FF2B5EF4-FFF2-40B4-BE49-F238E27FC236}">
                <a16:creationId xmlns:a16="http://schemas.microsoft.com/office/drawing/2014/main" id="{5A373086-9D14-AD17-0F59-F23B064E9F9B}"/>
              </a:ext>
            </a:extLst>
          </p:cNvPr>
          <p:cNvSpPr>
            <a:spLocks noGrp="1"/>
          </p:cNvSpPr>
          <p:nvPr>
            <p:ph type="body" sz="quarter" idx="10"/>
          </p:nvPr>
        </p:nvSpPr>
        <p:spPr/>
        <p:txBody>
          <a:bodyPr vert="horz" lIns="0" tIns="137160" rIns="0" bIns="0" rtlCol="0" anchor="t">
            <a:normAutofit/>
          </a:bodyPr>
          <a:lstStyle/>
          <a:p>
            <a:r>
              <a:rPr lang="en-US" dirty="0"/>
              <a:t>Paper from Van den Broeck et al. 2023 explores gender pay gap in non-farm employment</a:t>
            </a:r>
          </a:p>
          <a:p>
            <a:r>
              <a:rPr lang="en-US" dirty="0"/>
              <a:t>Sectors are manufacturing, construction, commerce, </a:t>
            </a:r>
            <a:r>
              <a:rPr lang="en-US" dirty="0" err="1"/>
              <a:t>etc</a:t>
            </a:r>
            <a:endParaRPr lang="en-US" dirty="0"/>
          </a:p>
          <a:p>
            <a:r>
              <a:rPr lang="en-US" b="1" dirty="0"/>
              <a:t>Rural Malawi: </a:t>
            </a:r>
            <a:r>
              <a:rPr lang="en-US" dirty="0"/>
              <a:t>Gender Pay Gap: 36% (statistically significant)</a:t>
            </a:r>
            <a:endParaRPr lang="en-US" dirty="0">
              <a:cs typeface="Arial"/>
            </a:endParaRPr>
          </a:p>
          <a:p>
            <a:pPr marL="517525" lvl="1" indent="-231775">
              <a:buFont typeface="Courier New" panose="020B0604020202020204" pitchFamily="34" charset="0"/>
              <a:buChar char="o"/>
            </a:pPr>
            <a:r>
              <a:rPr lang="en-US" dirty="0"/>
              <a:t>Explained (Endowment) Component: 81% (education, sector, and occupation) </a:t>
            </a:r>
          </a:p>
          <a:p>
            <a:pPr marL="517525" lvl="1" indent="-231775">
              <a:buFont typeface="Courier New" panose="020B0604020202020204" pitchFamily="34" charset="0"/>
              <a:buChar char="o"/>
            </a:pPr>
            <a:r>
              <a:rPr lang="en-US" dirty="0"/>
              <a:t>Unexplained (Structural) Component: 19%</a:t>
            </a:r>
            <a:endParaRPr lang="en-US" dirty="0">
              <a:cs typeface="Arial" panose="020B0604020202020204"/>
            </a:endParaRPr>
          </a:p>
          <a:p>
            <a:r>
              <a:rPr lang="en-US" b="1" dirty="0"/>
              <a:t>Urban Malawi: </a:t>
            </a:r>
            <a:r>
              <a:rPr lang="en-US" dirty="0"/>
              <a:t>Gender Pay Gap: 38% (statistically significant)</a:t>
            </a:r>
            <a:endParaRPr lang="en-US" dirty="0">
              <a:cs typeface="Arial" panose="020B0604020202020204"/>
            </a:endParaRPr>
          </a:p>
          <a:p>
            <a:pPr marL="461963" lvl="1" indent="-231775">
              <a:buFont typeface="Courier New" panose="020B0604020202020204" pitchFamily="34" charset="0"/>
              <a:buChar char="o"/>
            </a:pPr>
            <a:r>
              <a:rPr lang="en-US" dirty="0"/>
              <a:t>Explained Component: 49%</a:t>
            </a:r>
            <a:endParaRPr lang="en-US" dirty="0">
              <a:cs typeface="Arial" panose="020B0604020202020204"/>
            </a:endParaRPr>
          </a:p>
          <a:p>
            <a:pPr marL="461963" lvl="1" indent="-231775">
              <a:buFont typeface="Courier New" panose="020B0604020202020204" pitchFamily="34" charset="0"/>
              <a:buChar char="o"/>
            </a:pPr>
            <a:r>
              <a:rPr lang="en-US" dirty="0"/>
              <a:t>Unexplained Component: 51% -- potentially reflects discrimination</a:t>
            </a:r>
            <a:endParaRPr lang="en-US" dirty="0">
              <a:cs typeface="Arial" panose="020B0604020202020204"/>
            </a:endParaRPr>
          </a:p>
          <a:p>
            <a:pPr>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921724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B9A9A-8C01-C250-9974-7C6D6FC50E62}"/>
              </a:ext>
            </a:extLst>
          </p:cNvPr>
          <p:cNvSpPr>
            <a:spLocks noGrp="1"/>
          </p:cNvSpPr>
          <p:nvPr>
            <p:ph type="title"/>
          </p:nvPr>
        </p:nvSpPr>
        <p:spPr/>
        <p:txBody>
          <a:bodyPr/>
          <a:lstStyle/>
          <a:p>
            <a:r>
              <a:rPr lang="en-US"/>
              <a:t>Example: Malawi</a:t>
            </a:r>
          </a:p>
        </p:txBody>
      </p:sp>
      <p:sp>
        <p:nvSpPr>
          <p:cNvPr id="3" name="Text Placeholder 2">
            <a:extLst>
              <a:ext uri="{FF2B5EF4-FFF2-40B4-BE49-F238E27FC236}">
                <a16:creationId xmlns:a16="http://schemas.microsoft.com/office/drawing/2014/main" id="{5A373086-9D14-AD17-0F59-F23B064E9F9B}"/>
              </a:ext>
            </a:extLst>
          </p:cNvPr>
          <p:cNvSpPr>
            <a:spLocks noGrp="1"/>
          </p:cNvSpPr>
          <p:nvPr>
            <p:ph type="body" sz="quarter" idx="10"/>
          </p:nvPr>
        </p:nvSpPr>
        <p:spPr/>
        <p:txBody>
          <a:bodyPr>
            <a:normAutofit/>
          </a:bodyPr>
          <a:lstStyle/>
          <a:p>
            <a:pPr marL="342900" indent="-342900">
              <a:buFont typeface="Arial" panose="020B0604020202020204" pitchFamily="34" charset="0"/>
              <a:buChar char="•"/>
            </a:pPr>
            <a:r>
              <a:rPr lang="en-US" b="1" dirty="0"/>
              <a:t>Sectoral segregation </a:t>
            </a:r>
            <a:r>
              <a:rPr lang="en-US" dirty="0"/>
              <a:t>contributes substantially to the gender wage gap, especially in urban areas.</a:t>
            </a:r>
          </a:p>
          <a:p>
            <a:pPr marL="342900" indent="-342900">
              <a:buFont typeface="Arial" panose="020B0604020202020204" pitchFamily="34" charset="0"/>
              <a:buChar char="•"/>
            </a:pPr>
            <a:r>
              <a:rPr lang="en-US" dirty="0"/>
              <a:t>In rural Malawi, </a:t>
            </a:r>
            <a:r>
              <a:rPr lang="en-US" b="1" dirty="0"/>
              <a:t>occupational segregation </a:t>
            </a:r>
            <a:r>
              <a:rPr lang="en-US" dirty="0"/>
              <a:t>(i.e., men in better-paying wage jobs, women in lower-paying self-employment) is the largest driver of the explained component.</a:t>
            </a:r>
          </a:p>
          <a:p>
            <a:pPr marL="342900" indent="-342900">
              <a:buFont typeface="Arial" panose="020B0604020202020204" pitchFamily="34" charset="0"/>
              <a:buChar char="•"/>
            </a:pPr>
            <a:r>
              <a:rPr lang="en-US" dirty="0"/>
              <a:t>Addressing gaps in education and giving women access to better-paying occupations/sectors can help narrow the wage gap.</a:t>
            </a:r>
          </a:p>
        </p:txBody>
      </p:sp>
    </p:spTree>
    <p:extLst>
      <p:ext uri="{BB962C8B-B14F-4D97-AF65-F5344CB8AC3E}">
        <p14:creationId xmlns:p14="http://schemas.microsoft.com/office/powerpoint/2010/main" val="30898638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3A02B8-4ADA-FA17-4BB0-306AB7B77892}"/>
              </a:ext>
            </a:extLst>
          </p:cNvPr>
          <p:cNvSpPr>
            <a:spLocks noGrp="1"/>
          </p:cNvSpPr>
          <p:nvPr>
            <p:ph type="title"/>
          </p:nvPr>
        </p:nvSpPr>
        <p:spPr/>
        <p:txBody>
          <a:bodyPr/>
          <a:lstStyle/>
          <a:p>
            <a:r>
              <a:rPr lang="en-US" dirty="0"/>
              <a:t>Macroeconomics heterogeneous agents’ model with gender considerations</a:t>
            </a:r>
          </a:p>
        </p:txBody>
      </p:sp>
    </p:spTree>
    <p:extLst>
      <p:ext uri="{BB962C8B-B14F-4D97-AF65-F5344CB8AC3E}">
        <p14:creationId xmlns:p14="http://schemas.microsoft.com/office/powerpoint/2010/main" val="83704098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F9F8014-8E78-0FB0-1A86-1E50571D4017}"/>
              </a:ext>
            </a:extLst>
          </p:cNvPr>
          <p:cNvSpPr>
            <a:spLocks noGrp="1"/>
          </p:cNvSpPr>
          <p:nvPr>
            <p:ph type="body" sz="quarter" idx="10"/>
          </p:nvPr>
        </p:nvSpPr>
        <p:spPr>
          <a:xfrm>
            <a:off x="7100343" y="1507756"/>
            <a:ext cx="4140574" cy="4934237"/>
          </a:xfrm>
        </p:spPr>
        <p:txBody>
          <a:bodyPr>
            <a:normAutofit/>
          </a:bodyPr>
          <a:lstStyle/>
          <a:p>
            <a:pPr marL="342900" indent="-342900">
              <a:spcBef>
                <a:spcPts val="600"/>
              </a:spcBef>
              <a:buFont typeface="Arial" panose="020B0604020202020204" pitchFamily="34" charset="0"/>
              <a:buChar char="•"/>
            </a:pPr>
            <a:r>
              <a:rPr lang="en-US" sz="1800" dirty="0"/>
              <a:t>General equilibrium model using Kenya’s 2015-16 Household Survey, as well as macro data</a:t>
            </a:r>
          </a:p>
          <a:p>
            <a:pPr marL="342900" indent="-342900">
              <a:spcBef>
                <a:spcPts val="600"/>
              </a:spcBef>
              <a:buFont typeface="Arial" panose="020B0604020202020204" pitchFamily="34" charset="0"/>
              <a:buChar char="•"/>
            </a:pPr>
            <a:r>
              <a:rPr lang="en-US" sz="1800" dirty="0"/>
              <a:t>(new data </a:t>
            </a:r>
            <a:r>
              <a:rPr lang="en-US" sz="1600" dirty="0">
                <a:hlinkClick r:id="rId2"/>
              </a:rPr>
              <a:t>2024-25-Kenya-Integrated-Household-Budget-Survey-Pilot-Report.pdf</a:t>
            </a:r>
            <a:r>
              <a:rPr lang="en-US" sz="1800" dirty="0"/>
              <a:t>)</a:t>
            </a:r>
          </a:p>
          <a:p>
            <a:pPr>
              <a:buFont typeface="Arial" panose="020B0604020202020204" pitchFamily="34" charset="0"/>
              <a:buChar char="•"/>
            </a:pPr>
            <a:r>
              <a:rPr lang="en-US" b="1" dirty="0"/>
              <a:t> </a:t>
            </a:r>
            <a:r>
              <a:rPr lang="en-US" sz="1800" dirty="0"/>
              <a:t>The model can be used to quantify the impacts of policies on:</a:t>
            </a:r>
          </a:p>
          <a:p>
            <a:pPr marL="806958" lvl="1" indent="-514350">
              <a:buFont typeface="+mj-lt"/>
              <a:buAutoNum type="romanUcPeriod"/>
            </a:pPr>
            <a:r>
              <a:rPr lang="en-US" sz="1800" dirty="0"/>
              <a:t>Economic growth  and aggregates</a:t>
            </a:r>
          </a:p>
          <a:p>
            <a:pPr marL="806958" lvl="1" indent="-514350">
              <a:buFont typeface="+mj-lt"/>
              <a:buAutoNum type="romanUcPeriod"/>
            </a:pPr>
            <a:r>
              <a:rPr lang="en-US" sz="1800" dirty="0"/>
              <a:t>Distributional levels of income </a:t>
            </a:r>
          </a:p>
          <a:p>
            <a:pPr marL="806958" lvl="1" indent="-514350">
              <a:buFont typeface="+mj-lt"/>
              <a:buAutoNum type="romanUcPeriod"/>
            </a:pPr>
            <a:r>
              <a:rPr lang="en-US" sz="1800" dirty="0"/>
              <a:t>Gaps and FLFP</a:t>
            </a:r>
          </a:p>
          <a:p>
            <a:pPr marL="806958" lvl="1" indent="-514350">
              <a:buFont typeface="+mj-lt"/>
              <a:buAutoNum type="romanUcPeriod"/>
            </a:pPr>
            <a:r>
              <a:rPr lang="en-US" sz="1800" dirty="0"/>
              <a:t>Across Generations</a:t>
            </a:r>
          </a:p>
        </p:txBody>
      </p:sp>
      <p:pic>
        <p:nvPicPr>
          <p:cNvPr id="5" name="Picture 4">
            <a:extLst>
              <a:ext uri="{FF2B5EF4-FFF2-40B4-BE49-F238E27FC236}">
                <a16:creationId xmlns:a16="http://schemas.microsoft.com/office/drawing/2014/main" id="{374ECD08-D4D1-E9BD-69EA-F7E0A5DACFB7}"/>
              </a:ext>
            </a:extLst>
          </p:cNvPr>
          <p:cNvPicPr>
            <a:picLocks noChangeAspect="1"/>
          </p:cNvPicPr>
          <p:nvPr/>
        </p:nvPicPr>
        <p:blipFill>
          <a:blip r:embed="rId3"/>
          <a:stretch>
            <a:fillRect/>
          </a:stretch>
        </p:blipFill>
        <p:spPr>
          <a:xfrm>
            <a:off x="161366" y="124126"/>
            <a:ext cx="6535283" cy="2767260"/>
          </a:xfrm>
          <a:prstGeom prst="rect">
            <a:avLst/>
          </a:prstGeom>
        </p:spPr>
      </p:pic>
    </p:spTree>
    <p:extLst>
      <p:ext uri="{BB962C8B-B14F-4D97-AF65-F5344CB8AC3E}">
        <p14:creationId xmlns:p14="http://schemas.microsoft.com/office/powerpoint/2010/main" val="12487450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8018-8B05-427B-B789-3D5242C8C3F6}"/>
              </a:ext>
            </a:extLst>
          </p:cNvPr>
          <p:cNvSpPr>
            <a:spLocks noGrp="1"/>
          </p:cNvSpPr>
          <p:nvPr>
            <p:ph type="title"/>
          </p:nvPr>
        </p:nvSpPr>
        <p:spPr/>
        <p:txBody>
          <a:bodyPr/>
          <a:lstStyle/>
          <a:p>
            <a:r>
              <a:rPr lang="en-US"/>
              <a:t>The model</a:t>
            </a:r>
          </a:p>
        </p:txBody>
      </p:sp>
      <p:sp>
        <p:nvSpPr>
          <p:cNvPr id="3" name="Content Placeholder 2">
            <a:extLst>
              <a:ext uri="{FF2B5EF4-FFF2-40B4-BE49-F238E27FC236}">
                <a16:creationId xmlns:a16="http://schemas.microsoft.com/office/drawing/2014/main" id="{2033AE06-C35A-475B-BB4E-C70E56B4BE0E}"/>
              </a:ext>
            </a:extLst>
          </p:cNvPr>
          <p:cNvSpPr>
            <a:spLocks noGrp="1"/>
          </p:cNvSpPr>
          <p:nvPr>
            <p:ph idx="1"/>
          </p:nvPr>
        </p:nvSpPr>
        <p:spPr/>
        <p:txBody>
          <a:bodyPr>
            <a:normAutofit/>
          </a:bodyPr>
          <a:lstStyle/>
          <a:p>
            <a:pPr>
              <a:buFont typeface="Arial" panose="020B0604020202020204" pitchFamily="34" charset="0"/>
              <a:buChar char="•"/>
            </a:pPr>
            <a:r>
              <a:rPr lang="en-US" dirty="0"/>
              <a:t>A micro-founded overlapping generations model featuring:</a:t>
            </a:r>
          </a:p>
          <a:p>
            <a:pPr lvl="2">
              <a:buFont typeface="Arial" panose="020B0604020202020204" pitchFamily="34" charset="0"/>
              <a:buChar char="•"/>
            </a:pPr>
            <a:r>
              <a:rPr lang="en-US" dirty="0"/>
              <a:t>Heterogeneous households (age; formal and informal; men and women; income shocks)</a:t>
            </a:r>
          </a:p>
          <a:p>
            <a:pPr lvl="2">
              <a:buFont typeface="Arial" panose="020B0604020202020204" pitchFamily="34" charset="0"/>
              <a:buChar char="•"/>
            </a:pPr>
            <a:r>
              <a:rPr lang="en-US" dirty="0"/>
              <a:t>Productive sectors (formal vs informal)</a:t>
            </a:r>
          </a:p>
          <a:p>
            <a:pPr>
              <a:buFont typeface="Arial" panose="020B0604020202020204" pitchFamily="34" charset="0"/>
              <a:buChar char="•"/>
            </a:pPr>
            <a:r>
              <a:rPr lang="en-US" dirty="0"/>
              <a:t>In this framework, women face different barriers to human capital development, economic participation over the life-cycle:</a:t>
            </a:r>
          </a:p>
          <a:p>
            <a:pPr marL="806958" lvl="1" indent="-514350">
              <a:buFont typeface="+mj-lt"/>
              <a:buAutoNum type="romanUcPeriod"/>
            </a:pPr>
            <a:r>
              <a:rPr lang="en-US" dirty="0"/>
              <a:t>Early education </a:t>
            </a:r>
          </a:p>
          <a:p>
            <a:pPr marL="806958" lvl="1" indent="-514350">
              <a:buFont typeface="+mj-lt"/>
              <a:buAutoNum type="romanUcPeriod"/>
            </a:pPr>
            <a:r>
              <a:rPr lang="en-US" dirty="0"/>
              <a:t>Disutility cost from women working (including unpaid work)</a:t>
            </a:r>
          </a:p>
          <a:p>
            <a:pPr marL="806958" lvl="1" indent="-514350">
              <a:buFont typeface="+mj-lt"/>
              <a:buAutoNum type="romanUcPeriod"/>
            </a:pPr>
            <a:r>
              <a:rPr lang="en-US" dirty="0"/>
              <a:t>Discrimination in the labor market (formal and informal)</a:t>
            </a:r>
          </a:p>
          <a:p>
            <a:pPr marL="0" indent="0">
              <a:buNone/>
            </a:pPr>
            <a:endParaRPr lang="en-US" b="1" dirty="0"/>
          </a:p>
          <a:p>
            <a:pPr marL="342900" indent="-342900">
              <a:buFont typeface="Wingdings" panose="05000000000000000000" pitchFamily="2" charset="2"/>
              <a:buChar char="Ø"/>
            </a:pPr>
            <a:r>
              <a:rPr lang="en-US" dirty="0"/>
              <a:t>Go to </a:t>
            </a:r>
            <a:r>
              <a:rPr lang="en-US" dirty="0">
                <a:hlinkClick r:id="rId2"/>
              </a:rPr>
              <a:t>Working Paper</a:t>
            </a:r>
            <a:endParaRPr lang="en-US" dirty="0"/>
          </a:p>
          <a:p>
            <a:endParaRPr lang="en-US" dirty="0"/>
          </a:p>
        </p:txBody>
      </p:sp>
    </p:spTree>
    <p:extLst>
      <p:ext uri="{BB962C8B-B14F-4D97-AF65-F5344CB8AC3E}">
        <p14:creationId xmlns:p14="http://schemas.microsoft.com/office/powerpoint/2010/main" val="402999029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5624B-ADB2-A754-3F0F-B0AC8A53C5C1}"/>
              </a:ext>
            </a:extLst>
          </p:cNvPr>
          <p:cNvSpPr>
            <a:spLocks noGrp="1"/>
          </p:cNvSpPr>
          <p:nvPr>
            <p:ph type="title"/>
          </p:nvPr>
        </p:nvSpPr>
        <p:spPr/>
        <p:txBody>
          <a:bodyPr/>
          <a:lstStyle/>
          <a:p>
            <a:r>
              <a:rPr lang="en-US"/>
              <a:t>Kenya example: parametrization</a:t>
            </a:r>
          </a:p>
        </p:txBody>
      </p:sp>
      <p:sp>
        <p:nvSpPr>
          <p:cNvPr id="10" name="Text Placeholder 9">
            <a:extLst>
              <a:ext uri="{FF2B5EF4-FFF2-40B4-BE49-F238E27FC236}">
                <a16:creationId xmlns:a16="http://schemas.microsoft.com/office/drawing/2014/main" id="{6AA7D006-ED64-22A8-4D07-42B36170527E}"/>
              </a:ext>
            </a:extLst>
          </p:cNvPr>
          <p:cNvSpPr>
            <a:spLocks noGrp="1"/>
          </p:cNvSpPr>
          <p:nvPr>
            <p:ph type="body" sz="quarter" idx="10"/>
          </p:nvPr>
        </p:nvSpPr>
        <p:spPr>
          <a:xfrm>
            <a:off x="1239838" y="1469871"/>
            <a:ext cx="9715500" cy="4860591"/>
          </a:xfrm>
        </p:spPr>
        <p:txBody>
          <a:bodyPr/>
          <a:lstStyle/>
          <a:p>
            <a:r>
              <a:rPr lang="en-US" dirty="0"/>
              <a:t>Years of education by gender and income level:</a:t>
            </a:r>
          </a:p>
          <a:p>
            <a:endParaRPr lang="en-US" dirty="0"/>
          </a:p>
          <a:p>
            <a:endParaRPr lang="en-US" dirty="0"/>
          </a:p>
          <a:p>
            <a:endParaRPr lang="en-US" dirty="0"/>
          </a:p>
          <a:p>
            <a:endParaRPr lang="en-US" dirty="0"/>
          </a:p>
          <a:p>
            <a:endParaRPr lang="en-US" dirty="0"/>
          </a:p>
          <a:p>
            <a:r>
              <a:rPr lang="en-US" dirty="0"/>
              <a:t>Other parameters: returns from education and from experience (in different age groups), average income tax rate paid by each percentile of income distribution</a:t>
            </a:r>
          </a:p>
        </p:txBody>
      </p:sp>
      <p:pic>
        <p:nvPicPr>
          <p:cNvPr id="4" name="Graphic 3">
            <a:extLst>
              <a:ext uri="{FF2B5EF4-FFF2-40B4-BE49-F238E27FC236}">
                <a16:creationId xmlns:a16="http://schemas.microsoft.com/office/drawing/2014/main" id="{D53299F6-AA79-0567-43D4-159D494E9F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1002" y="2005012"/>
            <a:ext cx="4581525" cy="2847975"/>
          </a:xfrm>
          <a:prstGeom prst="rect">
            <a:avLst/>
          </a:prstGeom>
        </p:spPr>
      </p:pic>
      <p:pic>
        <p:nvPicPr>
          <p:cNvPr id="9" name="Graphic 8">
            <a:extLst>
              <a:ext uri="{FF2B5EF4-FFF2-40B4-BE49-F238E27FC236}">
                <a16:creationId xmlns:a16="http://schemas.microsoft.com/office/drawing/2014/main" id="{E2EDF876-F667-E4CE-8FF1-84EE408484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39475" y="2005011"/>
            <a:ext cx="4581525" cy="2847975"/>
          </a:xfrm>
          <a:prstGeom prst="rect">
            <a:avLst/>
          </a:prstGeom>
        </p:spPr>
      </p:pic>
    </p:spTree>
    <p:extLst>
      <p:ext uri="{BB962C8B-B14F-4D97-AF65-F5344CB8AC3E}">
        <p14:creationId xmlns:p14="http://schemas.microsoft.com/office/powerpoint/2010/main" val="310762918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E6CD-47A8-4803-8382-9575C77BC770}"/>
              </a:ext>
            </a:extLst>
          </p:cNvPr>
          <p:cNvSpPr>
            <a:spLocks noGrp="1"/>
          </p:cNvSpPr>
          <p:nvPr>
            <p:ph type="title"/>
          </p:nvPr>
        </p:nvSpPr>
        <p:spPr/>
        <p:txBody>
          <a:bodyPr>
            <a:normAutofit/>
          </a:bodyPr>
          <a:lstStyle/>
          <a:p>
            <a:r>
              <a:rPr lang="en-US" sz="2800"/>
              <a:t>Kenya example: </a:t>
            </a:r>
            <a:br>
              <a:rPr lang="en-US" sz="2800"/>
            </a:br>
            <a:r>
              <a:rPr lang="en-US" sz="2800"/>
              <a:t>parametrization examples using micro data</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8FF36996-FDA7-4236-B1C0-5B976FB19AA8}"/>
                  </a:ext>
                </a:extLst>
              </p:cNvPr>
              <p:cNvGraphicFramePr>
                <a:graphicFrameLocks noGrp="1"/>
              </p:cNvGraphicFramePr>
              <p:nvPr>
                <p:ph idx="1"/>
                <p:extLst>
                  <p:ext uri="{D42A27DB-BD31-4B8C-83A1-F6EECF244321}">
                    <p14:modId xmlns:p14="http://schemas.microsoft.com/office/powerpoint/2010/main" val="2881935125"/>
                  </p:ext>
                </p:extLst>
              </p:nvPr>
            </p:nvGraphicFramePr>
            <p:xfrm>
              <a:off x="1166960" y="1861782"/>
              <a:ext cx="9310079" cy="3889024"/>
            </p:xfrm>
            <a:graphic>
              <a:graphicData uri="http://schemas.openxmlformats.org/drawingml/2006/table">
                <a:tbl>
                  <a:tblPr firstRow="1" firstCol="1" bandRow="1">
                    <a:tableStyleId>{5C22544A-7EE6-4342-B048-85BDC9FD1C3A}</a:tableStyleId>
                  </a:tblPr>
                  <a:tblGrid>
                    <a:gridCol w="2311468">
                      <a:extLst>
                        <a:ext uri="{9D8B030D-6E8A-4147-A177-3AD203B41FA5}">
                          <a16:colId xmlns:a16="http://schemas.microsoft.com/office/drawing/2014/main" val="4283100167"/>
                        </a:ext>
                      </a:extLst>
                    </a:gridCol>
                    <a:gridCol w="3757052">
                      <a:extLst>
                        <a:ext uri="{9D8B030D-6E8A-4147-A177-3AD203B41FA5}">
                          <a16:colId xmlns:a16="http://schemas.microsoft.com/office/drawing/2014/main" val="1560408846"/>
                        </a:ext>
                      </a:extLst>
                    </a:gridCol>
                    <a:gridCol w="1695075">
                      <a:extLst>
                        <a:ext uri="{9D8B030D-6E8A-4147-A177-3AD203B41FA5}">
                          <a16:colId xmlns:a16="http://schemas.microsoft.com/office/drawing/2014/main" val="4144166453"/>
                        </a:ext>
                      </a:extLst>
                    </a:gridCol>
                    <a:gridCol w="1546484">
                      <a:extLst>
                        <a:ext uri="{9D8B030D-6E8A-4147-A177-3AD203B41FA5}">
                          <a16:colId xmlns:a16="http://schemas.microsoft.com/office/drawing/2014/main" val="4153337821"/>
                        </a:ext>
                      </a:extLst>
                    </a:gridCol>
                  </a:tblGrid>
                  <a:tr h="329578">
                    <a:tc>
                      <a:txBody>
                        <a:bodyPr/>
                        <a:lstStyle/>
                        <a:p>
                          <a:pPr marL="0" marR="0" algn="ctr">
                            <a:spcBef>
                              <a:spcPts val="0"/>
                            </a:spcBef>
                            <a:spcAft>
                              <a:spcPts val="0"/>
                            </a:spcAft>
                          </a:pPr>
                          <a:r>
                            <a:rPr lang="en-US" sz="1800" dirty="0">
                              <a:effectLst/>
                            </a:rPr>
                            <a:t>Parameter</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Targeted statistic</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Model</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Data</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4028908612"/>
                      </a:ext>
                    </a:extLst>
                  </a:tr>
                  <a:tr h="85251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𝜉</m:t>
                                    </m:r>
                                  </m:e>
                                  <m:sub>
                                    <m:r>
                                      <a:rPr lang="en-US" sz="2400">
                                        <a:effectLst/>
                                        <a:latin typeface="Cambria Math" panose="02040503050406030204" pitchFamily="18" charset="0"/>
                                      </a:rPr>
                                      <m:t>𝑙</m:t>
                                    </m:r>
                                  </m:sub>
                                </m:sSub>
                                <m:r>
                                  <a:rPr lang="en-US" sz="2400">
                                    <a:effectLst/>
                                    <a:latin typeface="Cambria Math" panose="02040503050406030204" pitchFamily="18" charset="0"/>
                                  </a:rPr>
                                  <m:t>(</m:t>
                                </m:r>
                                <m:r>
                                  <a:rPr lang="en-US" sz="1800">
                                    <a:effectLst/>
                                    <a:latin typeface="Cambria Math" panose="02040503050406030204" pitchFamily="18" charset="0"/>
                                  </a:rPr>
                                  <m:t>𝜺</m:t>
                                </m:r>
                                <m:r>
                                  <a:rPr lang="en-US" sz="1800">
                                    <a:effectLst/>
                                    <a:latin typeface="Cambria Math" panose="02040503050406030204" pitchFamily="18" charset="0"/>
                                  </a:rPr>
                                  <m:t>)</m:t>
                                </m:r>
                              </m:oMath>
                            </m:oMathPara>
                          </a14:m>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spcBef>
                              <a:spcPts val="0"/>
                            </a:spcBef>
                            <a:spcAft>
                              <a:spcPts val="0"/>
                            </a:spcAft>
                          </a:pPr>
                          <a:r>
                            <a:rPr lang="en-US" sz="1800" dirty="0">
                              <a:effectLst/>
                            </a:rPr>
                            <a:t>Female-to-male labor force participation ratio</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0.60</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0.60</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428592527"/>
                      </a:ext>
                    </a:extLst>
                  </a:tr>
                  <a:tr h="562480">
                    <a:tc>
                      <a:txBody>
                        <a:bodyPr/>
                        <a:lstStyle/>
                        <a:p>
                          <a:pPr marL="0" marR="0" algn="ctr">
                            <a:spcBef>
                              <a:spcPts val="0"/>
                            </a:spcBef>
                            <a:spcAft>
                              <a:spcPts val="0"/>
                            </a:spcAft>
                          </a:pPr>
                          <a:r>
                            <a:rPr lang="en-US" sz="1800">
                              <a:effectLst/>
                            </a:rPr>
                            <a:t>σ</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spcBef>
                              <a:spcPts val="0"/>
                            </a:spcBef>
                            <a:spcAft>
                              <a:spcPts val="0"/>
                            </a:spcAft>
                          </a:pPr>
                          <a:r>
                            <a:rPr lang="en-US" sz="1800">
                              <a:effectLst/>
                            </a:rPr>
                            <a:t>Gini coefficient (income)</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0.63</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0.63</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2964964087"/>
                      </a:ext>
                    </a:extLst>
                  </a:tr>
                  <a:tr h="56248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𝛼</m:t>
                                    </m:r>
                                  </m:e>
                                  <m:sup>
                                    <m:r>
                                      <a:rPr lang="en-US" sz="2400">
                                        <a:effectLst/>
                                        <a:latin typeface="Cambria Math" panose="02040503050406030204" pitchFamily="18" charset="0"/>
                                      </a:rPr>
                                      <m:t>𝑖𝑛𝑓</m:t>
                                    </m:r>
                                  </m:sup>
                                </m:sSup>
                              </m:oMath>
                            </m:oMathPara>
                          </a14:m>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spcBef>
                              <a:spcPts val="0"/>
                            </a:spcBef>
                            <a:spcAft>
                              <a:spcPts val="0"/>
                            </a:spcAft>
                          </a:pPr>
                          <a:r>
                            <a:rPr lang="en-US" sz="1800">
                              <a:effectLst/>
                            </a:rPr>
                            <a:t>Share of formal labor force </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0.22</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0.19</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1536912607"/>
                      </a:ext>
                    </a:extLst>
                  </a:tr>
                  <a:tr h="79098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𝜙</m:t>
                                    </m:r>
                                  </m:e>
                                  <m:sub>
                                    <m:r>
                                      <a:rPr lang="en-US" sz="2400">
                                        <a:effectLst/>
                                        <a:latin typeface="Cambria Math" panose="02040503050406030204" pitchFamily="18" charset="0"/>
                                      </a:rPr>
                                      <m:t>𝑓𝑜</m:t>
                                    </m:r>
                                  </m:sub>
                                </m:sSub>
                              </m:oMath>
                            </m:oMathPara>
                          </a14:m>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spcBef>
                              <a:spcPts val="0"/>
                            </a:spcBef>
                            <a:spcAft>
                              <a:spcPts val="0"/>
                            </a:spcAft>
                          </a:pPr>
                          <a:r>
                            <a:rPr lang="en-US" sz="1800" dirty="0">
                              <a:effectLst/>
                            </a:rPr>
                            <a:t>Female-to-male per hour wage in the formal sector</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0.74</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0.74</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1268264355"/>
                      </a:ext>
                    </a:extLst>
                  </a:tr>
                  <a:tr h="79098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𝜙</m:t>
                                    </m:r>
                                  </m:e>
                                  <m:sub>
                                    <m:r>
                                      <a:rPr lang="en-US" sz="2400">
                                        <a:effectLst/>
                                        <a:latin typeface="Cambria Math" panose="02040503050406030204" pitchFamily="18" charset="0"/>
                                      </a:rPr>
                                      <m:t>𝑖𝑛𝑓</m:t>
                                    </m:r>
                                  </m:sub>
                                </m:sSub>
                              </m:oMath>
                            </m:oMathPara>
                          </a14:m>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spcBef>
                              <a:spcPts val="0"/>
                            </a:spcBef>
                            <a:spcAft>
                              <a:spcPts val="0"/>
                            </a:spcAft>
                          </a:pPr>
                          <a:r>
                            <a:rPr lang="en-US" sz="1800">
                              <a:effectLst/>
                            </a:rPr>
                            <a:t>Female-to-male per hour wage in the informal sector</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dirty="0">
                              <a:effectLst/>
                            </a:rPr>
                            <a:t>0.64</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dirty="0">
                              <a:effectLst/>
                            </a:rPr>
                            <a:t>0.64</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494073975"/>
                      </a:ext>
                    </a:extLst>
                  </a:tr>
                </a:tbl>
              </a:graphicData>
            </a:graphic>
          </p:graphicFrame>
        </mc:Choice>
        <mc:Fallback xmlns="">
          <p:graphicFrame>
            <p:nvGraphicFramePr>
              <p:cNvPr id="5" name="Content Placeholder 4">
                <a:extLst>
                  <a:ext uri="{FF2B5EF4-FFF2-40B4-BE49-F238E27FC236}">
                    <a16:creationId xmlns:a16="http://schemas.microsoft.com/office/drawing/2014/main" id="{8FF36996-FDA7-4236-B1C0-5B976FB19AA8}"/>
                  </a:ext>
                </a:extLst>
              </p:cNvPr>
              <p:cNvGraphicFramePr>
                <a:graphicFrameLocks noGrp="1"/>
              </p:cNvGraphicFramePr>
              <p:nvPr>
                <p:ph idx="1"/>
                <p:extLst>
                  <p:ext uri="{D42A27DB-BD31-4B8C-83A1-F6EECF244321}">
                    <p14:modId xmlns:p14="http://schemas.microsoft.com/office/powerpoint/2010/main" val="2881935125"/>
                  </p:ext>
                </p:extLst>
              </p:nvPr>
            </p:nvGraphicFramePr>
            <p:xfrm>
              <a:off x="1166960" y="1861782"/>
              <a:ext cx="9310079" cy="3889024"/>
            </p:xfrm>
            <a:graphic>
              <a:graphicData uri="http://schemas.openxmlformats.org/drawingml/2006/table">
                <a:tbl>
                  <a:tblPr firstRow="1" firstCol="1" bandRow="1">
                    <a:tableStyleId>{5C22544A-7EE6-4342-B048-85BDC9FD1C3A}</a:tableStyleId>
                  </a:tblPr>
                  <a:tblGrid>
                    <a:gridCol w="2311468">
                      <a:extLst>
                        <a:ext uri="{9D8B030D-6E8A-4147-A177-3AD203B41FA5}">
                          <a16:colId xmlns:a16="http://schemas.microsoft.com/office/drawing/2014/main" val="4283100167"/>
                        </a:ext>
                      </a:extLst>
                    </a:gridCol>
                    <a:gridCol w="3757052">
                      <a:extLst>
                        <a:ext uri="{9D8B030D-6E8A-4147-A177-3AD203B41FA5}">
                          <a16:colId xmlns:a16="http://schemas.microsoft.com/office/drawing/2014/main" val="1560408846"/>
                        </a:ext>
                      </a:extLst>
                    </a:gridCol>
                    <a:gridCol w="1695075">
                      <a:extLst>
                        <a:ext uri="{9D8B030D-6E8A-4147-A177-3AD203B41FA5}">
                          <a16:colId xmlns:a16="http://schemas.microsoft.com/office/drawing/2014/main" val="4144166453"/>
                        </a:ext>
                      </a:extLst>
                    </a:gridCol>
                    <a:gridCol w="1546484">
                      <a:extLst>
                        <a:ext uri="{9D8B030D-6E8A-4147-A177-3AD203B41FA5}">
                          <a16:colId xmlns:a16="http://schemas.microsoft.com/office/drawing/2014/main" val="4153337821"/>
                        </a:ext>
                      </a:extLst>
                    </a:gridCol>
                  </a:tblGrid>
                  <a:tr h="329578">
                    <a:tc>
                      <a:txBody>
                        <a:bodyPr/>
                        <a:lstStyle/>
                        <a:p>
                          <a:pPr marL="0" marR="0" algn="ctr">
                            <a:spcBef>
                              <a:spcPts val="0"/>
                            </a:spcBef>
                            <a:spcAft>
                              <a:spcPts val="0"/>
                            </a:spcAft>
                          </a:pPr>
                          <a:r>
                            <a:rPr lang="en-US" sz="1800" dirty="0">
                              <a:effectLst/>
                            </a:rPr>
                            <a:t>Parameter</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Targeted statistic</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Model</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Data</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4028908612"/>
                      </a:ext>
                    </a:extLst>
                  </a:tr>
                  <a:tr h="852510">
                    <a:tc>
                      <a:txBody>
                        <a:bodyPr/>
                        <a:lstStyle/>
                        <a:p>
                          <a:endParaRPr lang="en-US"/>
                        </a:p>
                      </a:txBody>
                      <a:tcPr marL="67672" marR="67672" marT="0" marB="0" anchor="ctr">
                        <a:blipFill>
                          <a:blip r:embed="rId2"/>
                          <a:stretch>
                            <a:fillRect l="-264" t="-44286" r="-304222" b="-320000"/>
                          </a:stretch>
                        </a:blipFill>
                      </a:tcPr>
                    </a:tc>
                    <a:tc>
                      <a:txBody>
                        <a:bodyPr/>
                        <a:lstStyle/>
                        <a:p>
                          <a:pPr marL="0" marR="0">
                            <a:spcBef>
                              <a:spcPts val="0"/>
                            </a:spcBef>
                            <a:spcAft>
                              <a:spcPts val="0"/>
                            </a:spcAft>
                          </a:pPr>
                          <a:r>
                            <a:rPr lang="en-US" sz="1800" dirty="0">
                              <a:effectLst/>
                            </a:rPr>
                            <a:t>Female-to-male labor force participation ratio</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0.60</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0.60</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428592527"/>
                      </a:ext>
                    </a:extLst>
                  </a:tr>
                  <a:tr h="562480">
                    <a:tc>
                      <a:txBody>
                        <a:bodyPr/>
                        <a:lstStyle/>
                        <a:p>
                          <a:pPr marL="0" marR="0" algn="ctr">
                            <a:spcBef>
                              <a:spcPts val="0"/>
                            </a:spcBef>
                            <a:spcAft>
                              <a:spcPts val="0"/>
                            </a:spcAft>
                          </a:pPr>
                          <a:r>
                            <a:rPr lang="en-US" sz="1800">
                              <a:effectLst/>
                            </a:rPr>
                            <a:t>σ</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spcBef>
                              <a:spcPts val="0"/>
                            </a:spcBef>
                            <a:spcAft>
                              <a:spcPts val="0"/>
                            </a:spcAft>
                          </a:pPr>
                          <a:r>
                            <a:rPr lang="en-US" sz="1800">
                              <a:effectLst/>
                            </a:rPr>
                            <a:t>Gini coefficient (income)</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0.63</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0.63</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2964964087"/>
                      </a:ext>
                    </a:extLst>
                  </a:tr>
                  <a:tr h="562480">
                    <a:tc>
                      <a:txBody>
                        <a:bodyPr/>
                        <a:lstStyle/>
                        <a:p>
                          <a:endParaRPr lang="en-US"/>
                        </a:p>
                      </a:txBody>
                      <a:tcPr marL="67672" marR="67672" marT="0" marB="0" anchor="ctr">
                        <a:blipFill>
                          <a:blip r:embed="rId2"/>
                          <a:stretch>
                            <a:fillRect l="-264" t="-320652" r="-304222" b="-285870"/>
                          </a:stretch>
                        </a:blipFill>
                      </a:tcPr>
                    </a:tc>
                    <a:tc>
                      <a:txBody>
                        <a:bodyPr/>
                        <a:lstStyle/>
                        <a:p>
                          <a:pPr marL="0" marR="0">
                            <a:spcBef>
                              <a:spcPts val="0"/>
                            </a:spcBef>
                            <a:spcAft>
                              <a:spcPts val="0"/>
                            </a:spcAft>
                          </a:pPr>
                          <a:r>
                            <a:rPr lang="en-US" sz="1800">
                              <a:effectLst/>
                            </a:rPr>
                            <a:t>Share of formal labor force </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0.22</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0.19</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1536912607"/>
                      </a:ext>
                    </a:extLst>
                  </a:tr>
                  <a:tr h="790988">
                    <a:tc>
                      <a:txBody>
                        <a:bodyPr/>
                        <a:lstStyle/>
                        <a:p>
                          <a:endParaRPr lang="en-US"/>
                        </a:p>
                      </a:txBody>
                      <a:tcPr marL="67672" marR="67672" marT="0" marB="0" anchor="ctr">
                        <a:blipFill>
                          <a:blip r:embed="rId2"/>
                          <a:stretch>
                            <a:fillRect l="-264" t="-297692" r="-304222" b="-102308"/>
                          </a:stretch>
                        </a:blipFill>
                      </a:tcPr>
                    </a:tc>
                    <a:tc>
                      <a:txBody>
                        <a:bodyPr/>
                        <a:lstStyle/>
                        <a:p>
                          <a:pPr marL="0" marR="0">
                            <a:spcBef>
                              <a:spcPts val="0"/>
                            </a:spcBef>
                            <a:spcAft>
                              <a:spcPts val="0"/>
                            </a:spcAft>
                          </a:pPr>
                          <a:r>
                            <a:rPr lang="en-US" sz="1800" dirty="0">
                              <a:effectLst/>
                            </a:rPr>
                            <a:t>Female-to-male per hour wage in the formal sector</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0.74</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a:effectLst/>
                            </a:rPr>
                            <a:t>0.74</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1268264355"/>
                      </a:ext>
                    </a:extLst>
                  </a:tr>
                  <a:tr h="790988">
                    <a:tc>
                      <a:txBody>
                        <a:bodyPr/>
                        <a:lstStyle/>
                        <a:p>
                          <a:endParaRPr lang="en-US"/>
                        </a:p>
                      </a:txBody>
                      <a:tcPr marL="67672" marR="67672" marT="0" marB="0" anchor="ctr">
                        <a:blipFill>
                          <a:blip r:embed="rId2"/>
                          <a:stretch>
                            <a:fillRect l="-264" t="-397692" r="-304222" b="-2308"/>
                          </a:stretch>
                        </a:blipFill>
                      </a:tcPr>
                    </a:tc>
                    <a:tc>
                      <a:txBody>
                        <a:bodyPr/>
                        <a:lstStyle/>
                        <a:p>
                          <a:pPr marL="0" marR="0">
                            <a:spcBef>
                              <a:spcPts val="0"/>
                            </a:spcBef>
                            <a:spcAft>
                              <a:spcPts val="0"/>
                            </a:spcAft>
                          </a:pPr>
                          <a:r>
                            <a:rPr lang="en-US" sz="1800">
                              <a:effectLst/>
                            </a:rPr>
                            <a:t>Female-to-male per hour wage in the informal sector</a:t>
                          </a:r>
                          <a:endParaRPr lang="en-US" sz="280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dirty="0">
                              <a:effectLst/>
                            </a:rPr>
                            <a:t>0.64</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tc>
                      <a:txBody>
                        <a:bodyPr/>
                        <a:lstStyle/>
                        <a:p>
                          <a:pPr marL="0" marR="0" algn="ctr">
                            <a:spcBef>
                              <a:spcPts val="0"/>
                            </a:spcBef>
                            <a:spcAft>
                              <a:spcPts val="0"/>
                            </a:spcAft>
                          </a:pPr>
                          <a:r>
                            <a:rPr lang="en-US" sz="1800" dirty="0">
                              <a:effectLst/>
                            </a:rPr>
                            <a:t>0.64</a:t>
                          </a:r>
                          <a:endParaRPr lang="en-US" sz="2800" dirty="0">
                            <a:effectLst/>
                            <a:latin typeface="Times New Roman" panose="02020603050405020304" pitchFamily="18" charset="0"/>
                            <a:ea typeface="Times New Roman" panose="02020603050405020304" pitchFamily="18" charset="0"/>
                          </a:endParaRPr>
                        </a:p>
                      </a:txBody>
                      <a:tcPr marL="67672" marR="67672" marT="0" marB="0" anchor="ctr"/>
                    </a:tc>
                    <a:extLst>
                      <a:ext uri="{0D108BD9-81ED-4DB2-BD59-A6C34878D82A}">
                        <a16:rowId xmlns:a16="http://schemas.microsoft.com/office/drawing/2014/main" val="494073975"/>
                      </a:ext>
                    </a:extLst>
                  </a:tr>
                </a:tbl>
              </a:graphicData>
            </a:graphic>
          </p:graphicFrame>
        </mc:Fallback>
      </mc:AlternateContent>
    </p:spTree>
    <p:extLst>
      <p:ext uri="{BB962C8B-B14F-4D97-AF65-F5344CB8AC3E}">
        <p14:creationId xmlns:p14="http://schemas.microsoft.com/office/powerpoint/2010/main" val="917071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3F1A3-DB1F-628E-763D-F2762CB4038F}"/>
              </a:ext>
            </a:extLst>
          </p:cNvPr>
          <p:cNvSpPr>
            <a:spLocks noGrp="1"/>
          </p:cNvSpPr>
          <p:nvPr>
            <p:ph type="title"/>
          </p:nvPr>
        </p:nvSpPr>
        <p:spPr/>
        <p:txBody>
          <a:bodyPr/>
          <a:lstStyle/>
          <a:p>
            <a:r>
              <a:rPr lang="en-US" dirty="0"/>
              <a:t>Gains from reducing gender gaps and providing safe piped water</a:t>
            </a:r>
          </a:p>
        </p:txBody>
      </p:sp>
      <p:pic>
        <p:nvPicPr>
          <p:cNvPr id="5" name="Picture 4">
            <a:extLst>
              <a:ext uri="{FF2B5EF4-FFF2-40B4-BE49-F238E27FC236}">
                <a16:creationId xmlns:a16="http://schemas.microsoft.com/office/drawing/2014/main" id="{75236C27-BEC6-CE2E-62F3-F93F5DB2966D}"/>
              </a:ext>
            </a:extLst>
          </p:cNvPr>
          <p:cNvPicPr>
            <a:picLocks noChangeAspect="1"/>
          </p:cNvPicPr>
          <p:nvPr/>
        </p:nvPicPr>
        <p:blipFill>
          <a:blip r:embed="rId3"/>
          <a:stretch>
            <a:fillRect/>
          </a:stretch>
        </p:blipFill>
        <p:spPr>
          <a:xfrm>
            <a:off x="304800" y="1435021"/>
            <a:ext cx="5729011" cy="3987957"/>
          </a:xfrm>
          <a:prstGeom prst="rect">
            <a:avLst/>
          </a:prstGeom>
        </p:spPr>
      </p:pic>
      <p:pic>
        <p:nvPicPr>
          <p:cNvPr id="7" name="Picture 6">
            <a:extLst>
              <a:ext uri="{FF2B5EF4-FFF2-40B4-BE49-F238E27FC236}">
                <a16:creationId xmlns:a16="http://schemas.microsoft.com/office/drawing/2014/main" id="{7F428CE1-FCE6-87B1-4A3E-FADE75D9864D}"/>
              </a:ext>
            </a:extLst>
          </p:cNvPr>
          <p:cNvPicPr>
            <a:picLocks noChangeAspect="1"/>
          </p:cNvPicPr>
          <p:nvPr/>
        </p:nvPicPr>
        <p:blipFill>
          <a:blip r:embed="rId4"/>
          <a:stretch>
            <a:fillRect/>
          </a:stretch>
        </p:blipFill>
        <p:spPr>
          <a:xfrm>
            <a:off x="6096000" y="1551465"/>
            <a:ext cx="5791200" cy="3852672"/>
          </a:xfrm>
          <a:prstGeom prst="rect">
            <a:avLst/>
          </a:prstGeom>
        </p:spPr>
      </p:pic>
      <p:sp>
        <p:nvSpPr>
          <p:cNvPr id="3" name="Arrow: Down 2">
            <a:extLst>
              <a:ext uri="{FF2B5EF4-FFF2-40B4-BE49-F238E27FC236}">
                <a16:creationId xmlns:a16="http://schemas.microsoft.com/office/drawing/2014/main" id="{710F2449-A9CA-75AF-731C-134B8C4C64F5}"/>
              </a:ext>
            </a:extLst>
          </p:cNvPr>
          <p:cNvSpPr/>
          <p:nvPr/>
        </p:nvSpPr>
        <p:spPr>
          <a:xfrm>
            <a:off x="2616200" y="5537200"/>
            <a:ext cx="584200" cy="644748"/>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E21EB8-C86C-C7B1-BB3D-F33D000837B9}"/>
              </a:ext>
            </a:extLst>
          </p:cNvPr>
          <p:cNvSpPr txBox="1"/>
          <p:nvPr/>
        </p:nvSpPr>
        <p:spPr>
          <a:xfrm>
            <a:off x="1238250" y="6181948"/>
            <a:ext cx="6223000" cy="369332"/>
          </a:xfrm>
          <a:prstGeom prst="rect">
            <a:avLst/>
          </a:prstGeom>
          <a:noFill/>
        </p:spPr>
        <p:txBody>
          <a:bodyPr wrap="square" rtlCol="0">
            <a:spAutoFit/>
          </a:bodyPr>
          <a:lstStyle/>
          <a:p>
            <a:r>
              <a:rPr lang="en-US" b="1" dirty="0"/>
              <a:t>Recalibrating production functions! </a:t>
            </a:r>
          </a:p>
        </p:txBody>
      </p:sp>
    </p:spTree>
    <p:extLst>
      <p:ext uri="{BB962C8B-B14F-4D97-AF65-F5344CB8AC3E}">
        <p14:creationId xmlns:p14="http://schemas.microsoft.com/office/powerpoint/2010/main" val="5497379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3A02B8-4ADA-FA17-4BB0-306AB7B77892}"/>
              </a:ext>
            </a:extLst>
          </p:cNvPr>
          <p:cNvSpPr>
            <a:spLocks noGrp="1"/>
          </p:cNvSpPr>
          <p:nvPr>
            <p:ph type="title"/>
          </p:nvPr>
        </p:nvSpPr>
        <p:spPr/>
        <p:txBody>
          <a:bodyPr/>
          <a:lstStyle/>
          <a:p>
            <a:r>
              <a:rPr lang="en-US" dirty="0">
                <a:latin typeface="Arial Black"/>
              </a:rPr>
              <a:t>Analyzing macroeconomic and distributional effects of Artificial Intelligence</a:t>
            </a:r>
          </a:p>
        </p:txBody>
      </p:sp>
    </p:spTree>
    <p:extLst>
      <p:ext uri="{BB962C8B-B14F-4D97-AF65-F5344CB8AC3E}">
        <p14:creationId xmlns:p14="http://schemas.microsoft.com/office/powerpoint/2010/main" val="180842535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7C8308-DE86-18B2-519C-E4D512FF54C2}"/>
              </a:ext>
            </a:extLst>
          </p:cNvPr>
          <p:cNvPicPr>
            <a:picLocks noChangeAspect="1"/>
          </p:cNvPicPr>
          <p:nvPr/>
        </p:nvPicPr>
        <p:blipFill>
          <a:blip r:embed="rId3"/>
          <a:stretch>
            <a:fillRect/>
          </a:stretch>
        </p:blipFill>
        <p:spPr>
          <a:xfrm>
            <a:off x="606307" y="682490"/>
            <a:ext cx="4578585" cy="5239019"/>
          </a:xfrm>
          <a:prstGeom prst="rect">
            <a:avLst/>
          </a:prstGeom>
        </p:spPr>
      </p:pic>
      <p:sp>
        <p:nvSpPr>
          <p:cNvPr id="9" name="TextBox 8">
            <a:extLst>
              <a:ext uri="{FF2B5EF4-FFF2-40B4-BE49-F238E27FC236}">
                <a16:creationId xmlns:a16="http://schemas.microsoft.com/office/drawing/2014/main" id="{5088B82C-4670-AFDA-1271-16C70E493541}"/>
              </a:ext>
            </a:extLst>
          </p:cNvPr>
          <p:cNvSpPr txBox="1"/>
          <p:nvPr/>
        </p:nvSpPr>
        <p:spPr>
          <a:xfrm>
            <a:off x="6477000" y="1625600"/>
            <a:ext cx="4254500" cy="1815882"/>
          </a:xfrm>
          <a:prstGeom prst="rect">
            <a:avLst/>
          </a:prstGeom>
          <a:noFill/>
        </p:spPr>
        <p:txBody>
          <a:bodyPr wrap="square" rtlCol="0">
            <a:spAutoFit/>
          </a:bodyPr>
          <a:lstStyle/>
          <a:p>
            <a:r>
              <a:rPr lang="en-US" sz="2800" dirty="0"/>
              <a:t>This </a:t>
            </a:r>
            <a:r>
              <a:rPr lang="en-US" sz="2800" dirty="0">
                <a:hlinkClick r:id="rId4"/>
              </a:rPr>
              <a:t>IMF Staff Discussion Note </a:t>
            </a:r>
            <a:r>
              <a:rPr lang="en-US" sz="2800" dirty="0"/>
              <a:t>used micro-level labor data to understand the impact of Gen-AI </a:t>
            </a:r>
          </a:p>
        </p:txBody>
      </p:sp>
    </p:spTree>
    <p:extLst>
      <p:ext uri="{BB962C8B-B14F-4D97-AF65-F5344CB8AC3E}">
        <p14:creationId xmlns:p14="http://schemas.microsoft.com/office/powerpoint/2010/main" val="695224085"/>
      </p:ext>
    </p:extLst>
  </p:cSld>
  <p:clrMapOvr>
    <a:overrideClrMapping bg1="lt1" tx1="dk1" bg2="lt2" tx2="dk2" accent1="accent1" accent2="accent2" accent3="accent3" accent4="accent4" accent5="accent5" accent6="accent6" hlink="hlink" folHlink="folHlink"/>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AD110-7CEF-2F76-C227-0D0ECD72290C}"/>
              </a:ext>
            </a:extLst>
          </p:cNvPr>
          <p:cNvSpPr>
            <a:spLocks noGrp="1"/>
          </p:cNvSpPr>
          <p:nvPr>
            <p:ph type="title"/>
          </p:nvPr>
        </p:nvSpPr>
        <p:spPr/>
        <p:txBody>
          <a:bodyPr/>
          <a:lstStyle/>
          <a:p>
            <a:r>
              <a:rPr lang="en-US" dirty="0"/>
              <a:t>Using micro-data</a:t>
            </a:r>
          </a:p>
        </p:txBody>
      </p:sp>
      <p:sp>
        <p:nvSpPr>
          <p:cNvPr id="3" name="Text Placeholder 2">
            <a:extLst>
              <a:ext uri="{FF2B5EF4-FFF2-40B4-BE49-F238E27FC236}">
                <a16:creationId xmlns:a16="http://schemas.microsoft.com/office/drawing/2014/main" id="{2427118D-09C3-844D-64C2-3CD552853610}"/>
              </a:ext>
            </a:extLst>
          </p:cNvPr>
          <p:cNvSpPr>
            <a:spLocks noGrp="1"/>
          </p:cNvSpPr>
          <p:nvPr>
            <p:ph type="body" sz="quarter" idx="10"/>
          </p:nvPr>
        </p:nvSpPr>
        <p:spPr/>
        <p:txBody>
          <a:bodyPr>
            <a:normAutofit/>
          </a:bodyPr>
          <a:lstStyle/>
          <a:p>
            <a:pPr marL="342900" indent="-342900">
              <a:buFont typeface="Arial" panose="020B0604020202020204" pitchFamily="34" charset="0"/>
              <a:buChar char="•"/>
            </a:pPr>
            <a:r>
              <a:rPr lang="en-US" dirty="0"/>
              <a:t>IMF staff looked at </a:t>
            </a:r>
            <a:r>
              <a:rPr lang="en-US" b="1" dirty="0"/>
              <a:t>hundreds of individual tasks </a:t>
            </a:r>
            <a:r>
              <a:rPr lang="en-US" dirty="0"/>
              <a:t>to predict the future of the whole economy: Task-level information for about 1,000 occupations from the Occupational Information Network. </a:t>
            </a:r>
          </a:p>
          <a:p>
            <a:pPr marL="342900" lvl="0" indent="-342900">
              <a:buFont typeface="Arial" panose="020B0604020202020204" pitchFamily="34" charset="0"/>
              <a:buChar char="•"/>
            </a:pPr>
            <a:r>
              <a:rPr lang="en-US" b="1" dirty="0"/>
              <a:t>The Micro-Data Advantage:</a:t>
            </a:r>
            <a:r>
              <a:rPr lang="en-US" dirty="0"/>
              <a:t> By using detailed job surveys and labor data, they could see exactly which parts of a job a computer can do and which parts still need a human touch.</a:t>
            </a:r>
          </a:p>
          <a:p>
            <a:pPr marL="342900" lvl="0" indent="-342900">
              <a:buFont typeface="Arial" panose="020B0604020202020204" pitchFamily="34" charset="0"/>
              <a:buChar char="•"/>
            </a:pPr>
            <a:r>
              <a:rPr lang="en-US" b="1" dirty="0"/>
              <a:t>Why this matters for Macroeconomics:</a:t>
            </a:r>
            <a:r>
              <a:rPr lang="en-US" dirty="0"/>
              <a:t> This "bottom-up" data allows the IMF to predict big trends—like national growth and total employment—with much higher accuracy than just looking at past structural changes.</a:t>
            </a:r>
          </a:p>
          <a:p>
            <a:endParaRPr lang="en-US" dirty="0"/>
          </a:p>
        </p:txBody>
      </p:sp>
    </p:spTree>
    <p:extLst>
      <p:ext uri="{BB962C8B-B14F-4D97-AF65-F5344CB8AC3E}">
        <p14:creationId xmlns:p14="http://schemas.microsoft.com/office/powerpoint/2010/main" val="301174882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75D87-40EE-5180-113A-3D6616240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4F2A0-9ADA-5F18-2326-7843D089C93A}"/>
              </a:ext>
            </a:extLst>
          </p:cNvPr>
          <p:cNvSpPr>
            <a:spLocks noGrp="1"/>
          </p:cNvSpPr>
          <p:nvPr>
            <p:ph type="title"/>
          </p:nvPr>
        </p:nvSpPr>
        <p:spPr/>
        <p:txBody>
          <a:bodyPr/>
          <a:lstStyle/>
          <a:p>
            <a:r>
              <a:rPr lang="en-US" dirty="0"/>
              <a:t>More on the micro-data</a:t>
            </a:r>
          </a:p>
        </p:txBody>
      </p:sp>
      <p:sp>
        <p:nvSpPr>
          <p:cNvPr id="3" name="Text Placeholder 2">
            <a:extLst>
              <a:ext uri="{FF2B5EF4-FFF2-40B4-BE49-F238E27FC236}">
                <a16:creationId xmlns:a16="http://schemas.microsoft.com/office/drawing/2014/main" id="{1CC52724-75E4-5C2D-0AD2-35A5EA29B38A}"/>
              </a:ext>
            </a:extLst>
          </p:cNvPr>
          <p:cNvSpPr>
            <a:spLocks noGrp="1"/>
          </p:cNvSpPr>
          <p:nvPr>
            <p:ph type="body" sz="quarter" idx="10"/>
          </p:nvPr>
        </p:nvSpPr>
        <p:spPr/>
        <p:txBody>
          <a:bodyPr>
            <a:normAutofit fontScale="92500" lnSpcReduction="10000"/>
          </a:bodyPr>
          <a:lstStyle/>
          <a:p>
            <a:pPr lvl="0"/>
            <a:r>
              <a:rPr lang="en-US" b="1" dirty="0"/>
              <a:t>O*NET </a:t>
            </a:r>
            <a:r>
              <a:rPr lang="en-US" dirty="0"/>
              <a:t>doesn't just collect job titles; it maps things like:</a:t>
            </a:r>
          </a:p>
          <a:p>
            <a:pPr lvl="1"/>
            <a:r>
              <a:rPr lang="en-US" b="1" dirty="0"/>
              <a:t>Work Activities:</a:t>
            </a:r>
            <a:r>
              <a:rPr lang="en-US" dirty="0"/>
              <a:t> General types of job behaviors (e.g., analyzing data, interacting with computers).</a:t>
            </a:r>
          </a:p>
          <a:p>
            <a:pPr lvl="1"/>
            <a:r>
              <a:rPr lang="en-US" b="1" dirty="0"/>
              <a:t>Abilities/Skills:</a:t>
            </a:r>
            <a:r>
              <a:rPr lang="en-US" dirty="0"/>
              <a:t> Permanent or acquired attributes (e.g., Inductive Reasoning, Active Listening).</a:t>
            </a:r>
          </a:p>
          <a:p>
            <a:pPr lvl="0"/>
            <a:r>
              <a:rPr lang="en-US" b="1" dirty="0"/>
              <a:t>Measurement Metrics: </a:t>
            </a:r>
            <a:r>
              <a:rPr lang="en-US" dirty="0"/>
              <a:t>Every task/descriptor is measured on two standardized Likert scales (Surveyed from incumbents and analysts):</a:t>
            </a:r>
          </a:p>
          <a:p>
            <a:pPr lvl="1"/>
            <a:r>
              <a:rPr lang="en-US" b="1" dirty="0"/>
              <a:t>Importance:</a:t>
            </a:r>
            <a:r>
              <a:rPr lang="en-US" dirty="0"/>
              <a:t> How critical is this task? (Scale 1–5).</a:t>
            </a:r>
          </a:p>
          <a:p>
            <a:pPr lvl="1"/>
            <a:r>
              <a:rPr lang="en-US" b="1" dirty="0"/>
              <a:t>Level:</a:t>
            </a:r>
            <a:r>
              <a:rPr lang="en-US" dirty="0"/>
              <a:t> What degree of this skill is needed? (Scale 1–7).</a:t>
            </a:r>
          </a:p>
          <a:p>
            <a:pPr lvl="1"/>
            <a:endParaRPr lang="en-US" dirty="0"/>
          </a:p>
          <a:p>
            <a:pPr lvl="1"/>
            <a:r>
              <a:rPr lang="en-US" b="1" dirty="0"/>
              <a:t>How the IMF uses this:</a:t>
            </a:r>
            <a:r>
              <a:rPr lang="en-US" dirty="0"/>
              <a:t> These granular scores are the inputs in the task-based general equilibrium model. When the paper says an occupation has high complementarity, it means it scored high on O*NET categories like "Critical Thinking" and "Judgment" where Gen-AI cannot yet reach the highest levels.</a:t>
            </a:r>
          </a:p>
          <a:p>
            <a:pPr lvl="1"/>
            <a:endParaRPr lang="en-US" dirty="0"/>
          </a:p>
          <a:p>
            <a:endParaRPr lang="en-US" dirty="0"/>
          </a:p>
        </p:txBody>
      </p:sp>
    </p:spTree>
    <p:extLst>
      <p:ext uri="{BB962C8B-B14F-4D97-AF65-F5344CB8AC3E}">
        <p14:creationId xmlns:p14="http://schemas.microsoft.com/office/powerpoint/2010/main" val="52183802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1ADF-5B5A-38FF-8C88-B15DCB816A68}"/>
              </a:ext>
            </a:extLst>
          </p:cNvPr>
          <p:cNvSpPr>
            <a:spLocks noGrp="1"/>
          </p:cNvSpPr>
          <p:nvPr>
            <p:ph type="title"/>
          </p:nvPr>
        </p:nvSpPr>
        <p:spPr/>
        <p:txBody>
          <a:bodyPr>
            <a:normAutofit fontScale="90000"/>
          </a:bodyPr>
          <a:lstStyle/>
          <a:p>
            <a:r>
              <a:rPr lang="en-US" sz="3600" dirty="0"/>
              <a:t>The paper’s idea: Not every job is affected by AI in the same way.</a:t>
            </a:r>
            <a:br>
              <a:rPr lang="en-US" dirty="0"/>
            </a:br>
            <a:endParaRPr lang="en-US" dirty="0"/>
          </a:p>
        </p:txBody>
      </p:sp>
      <p:sp>
        <p:nvSpPr>
          <p:cNvPr id="3" name="Text Placeholder 2">
            <a:extLst>
              <a:ext uri="{FF2B5EF4-FFF2-40B4-BE49-F238E27FC236}">
                <a16:creationId xmlns:a16="http://schemas.microsoft.com/office/drawing/2014/main" id="{78F7D75B-E5F4-3538-EA79-E0B6F1211FA7}"/>
              </a:ext>
            </a:extLst>
          </p:cNvPr>
          <p:cNvSpPr>
            <a:spLocks noGrp="1"/>
          </p:cNvSpPr>
          <p:nvPr>
            <p:ph type="body" sz="quarter" idx="10"/>
          </p:nvPr>
        </p:nvSpPr>
        <p:spPr>
          <a:xfrm>
            <a:off x="1239838" y="2070100"/>
            <a:ext cx="9715500" cy="4260362"/>
          </a:xfrm>
        </p:spPr>
        <p:txBody>
          <a:bodyPr/>
          <a:lstStyle/>
          <a:p>
            <a:pPr lvl="0"/>
            <a:r>
              <a:rPr lang="en-US" b="1" dirty="0"/>
              <a:t>🟢 Green Light:</a:t>
            </a:r>
            <a:r>
              <a:rPr lang="en-US" dirty="0"/>
              <a:t> These are jobs where AI makes the person </a:t>
            </a:r>
            <a:r>
              <a:rPr lang="en-US" i="1" dirty="0"/>
              <a:t>better</a:t>
            </a:r>
            <a:r>
              <a:rPr lang="en-US" dirty="0"/>
              <a:t> at what they do (think doctors or engineers). These workers see their productivity—and their pay—go up.</a:t>
            </a:r>
          </a:p>
          <a:p>
            <a:pPr lvl="0"/>
            <a:r>
              <a:rPr lang="en-US" b="1" dirty="0"/>
              <a:t>🟡 Yellow Light:</a:t>
            </a:r>
            <a:r>
              <a:rPr lang="en-US" dirty="0"/>
              <a:t> Jobs that are physical or manual (like construction or cleaning). AI doesn't have much of an impact here yet, so these jobs stay stable.</a:t>
            </a:r>
          </a:p>
          <a:p>
            <a:pPr lvl="0"/>
            <a:r>
              <a:rPr lang="en-US" b="1" dirty="0"/>
              <a:t>🔴 Red Light (The "Replacement" Risk):</a:t>
            </a:r>
            <a:r>
              <a:rPr lang="en-US" dirty="0"/>
              <a:t> Jobs involving routine office work or data entry. Here, AI might actually take over the tasks, putting these workers' income at risk.</a:t>
            </a:r>
          </a:p>
          <a:p>
            <a:endParaRPr lang="en-US" dirty="0"/>
          </a:p>
        </p:txBody>
      </p:sp>
    </p:spTree>
    <p:extLst>
      <p:ext uri="{BB962C8B-B14F-4D97-AF65-F5344CB8AC3E}">
        <p14:creationId xmlns:p14="http://schemas.microsoft.com/office/powerpoint/2010/main" val="35344773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C91B3-2AB7-07AC-2421-B8C4CEDC73D5}"/>
              </a:ext>
            </a:extLst>
          </p:cNvPr>
          <p:cNvSpPr>
            <a:spLocks noGrp="1"/>
          </p:cNvSpPr>
          <p:nvPr>
            <p:ph type="title"/>
          </p:nvPr>
        </p:nvSpPr>
        <p:spPr/>
        <p:txBody>
          <a:bodyPr/>
          <a:lstStyle/>
          <a:p>
            <a:r>
              <a:rPr lang="en-US" dirty="0"/>
              <a:t>Implications for wealth distribution</a:t>
            </a:r>
          </a:p>
        </p:txBody>
      </p:sp>
      <p:sp>
        <p:nvSpPr>
          <p:cNvPr id="3" name="Text Placeholder 2">
            <a:extLst>
              <a:ext uri="{FF2B5EF4-FFF2-40B4-BE49-F238E27FC236}">
                <a16:creationId xmlns:a16="http://schemas.microsoft.com/office/drawing/2014/main" id="{A40C0D4E-4A06-2B6A-ABFF-8DD98F3540EE}"/>
              </a:ext>
            </a:extLst>
          </p:cNvPr>
          <p:cNvSpPr>
            <a:spLocks noGrp="1"/>
          </p:cNvSpPr>
          <p:nvPr>
            <p:ph type="body" sz="quarter" idx="10"/>
          </p:nvPr>
        </p:nvSpPr>
        <p:spPr/>
        <p:txBody>
          <a:bodyPr/>
          <a:lstStyle/>
          <a:p>
            <a:pPr marL="342900" lvl="0" indent="-342900">
              <a:buFont typeface="Arial" panose="020B0604020202020204" pitchFamily="34" charset="0"/>
              <a:buChar char="•"/>
            </a:pPr>
            <a:r>
              <a:rPr lang="en-US" dirty="0"/>
              <a:t>AI tends to help people who are already high earners. Because high-paying jobs often involve "Green Light" tasks, the rich may get richer, while the middle class faces more competition.</a:t>
            </a:r>
          </a:p>
          <a:p>
            <a:pPr marL="342900" lvl="0" indent="-342900">
              <a:buFont typeface="Arial" panose="020B0604020202020204" pitchFamily="34" charset="0"/>
              <a:buChar char="•"/>
            </a:pPr>
            <a:r>
              <a:rPr lang="en-US" dirty="0"/>
              <a:t>Owners vs. Workers: A major macroeconomic concern is that more of a country’s income will go to the people who </a:t>
            </a:r>
            <a:r>
              <a:rPr lang="en-US" b="1" dirty="0"/>
              <a:t>own</a:t>
            </a:r>
            <a:r>
              <a:rPr lang="en-US" dirty="0"/>
              <a:t> the AI software (capital) rather than the people </a:t>
            </a:r>
            <a:r>
              <a:rPr lang="en-US" b="1" dirty="0"/>
              <a:t>working</a:t>
            </a:r>
            <a:r>
              <a:rPr lang="en-US" dirty="0"/>
              <a:t> the jobs (labor).</a:t>
            </a:r>
          </a:p>
          <a:p>
            <a:pPr marL="342900" lvl="0" indent="-342900">
              <a:buFont typeface="Arial" panose="020B0604020202020204" pitchFamily="34" charset="0"/>
              <a:buChar char="•"/>
            </a:pPr>
            <a:r>
              <a:rPr lang="en-US" b="1" dirty="0"/>
              <a:t>The Gender &amp; Age Gap:</a:t>
            </a:r>
            <a:r>
              <a:rPr lang="en-US" dirty="0"/>
              <a:t> Because women and younger workers are often in roles with high AI exposure, they may feel the "shake-up" in the labor market more intensely and more quickly.</a:t>
            </a:r>
          </a:p>
          <a:p>
            <a:endParaRPr lang="en-US" dirty="0"/>
          </a:p>
        </p:txBody>
      </p:sp>
    </p:spTree>
    <p:extLst>
      <p:ext uri="{BB962C8B-B14F-4D97-AF65-F5344CB8AC3E}">
        <p14:creationId xmlns:p14="http://schemas.microsoft.com/office/powerpoint/2010/main" val="255651283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61435-382D-53DA-6814-0FCB0E258A4E}"/>
              </a:ext>
            </a:extLst>
          </p:cNvPr>
          <p:cNvSpPr>
            <a:spLocks noGrp="1"/>
          </p:cNvSpPr>
          <p:nvPr>
            <p:ph type="title"/>
          </p:nvPr>
        </p:nvSpPr>
        <p:spPr/>
        <p:txBody>
          <a:bodyPr/>
          <a:lstStyle/>
          <a:p>
            <a:r>
              <a:rPr lang="en-US" dirty="0"/>
              <a:t>AI Preparedness Index</a:t>
            </a:r>
          </a:p>
        </p:txBody>
      </p:sp>
      <p:sp>
        <p:nvSpPr>
          <p:cNvPr id="3" name="Text Placeholder 2">
            <a:extLst>
              <a:ext uri="{FF2B5EF4-FFF2-40B4-BE49-F238E27FC236}">
                <a16:creationId xmlns:a16="http://schemas.microsoft.com/office/drawing/2014/main" id="{EE53F1BB-2303-4DDC-456D-52072A01A132}"/>
              </a:ext>
            </a:extLst>
          </p:cNvPr>
          <p:cNvSpPr>
            <a:spLocks noGrp="1"/>
          </p:cNvSpPr>
          <p:nvPr>
            <p:ph type="body" sz="quarter" idx="10"/>
          </p:nvPr>
        </p:nvSpPr>
        <p:spPr/>
        <p:txBody>
          <a:bodyPr>
            <a:normAutofit fontScale="92500" lnSpcReduction="10000"/>
          </a:bodyPr>
          <a:lstStyle/>
          <a:p>
            <a:r>
              <a:rPr lang="en-US" dirty="0"/>
              <a:t>The IMF used the model's results to create the </a:t>
            </a:r>
            <a:r>
              <a:rPr lang="en-US" b="1" dirty="0"/>
              <a:t>AI Preparedness Index (AIPI)</a:t>
            </a:r>
            <a:r>
              <a:rPr lang="en-US" dirty="0"/>
              <a:t>, which measures how ready a country is for this shift. The answers change based on four pillars:</a:t>
            </a:r>
          </a:p>
          <a:p>
            <a:pPr lvl="0"/>
            <a:r>
              <a:rPr lang="en-US" b="1" dirty="0"/>
              <a:t>Digital Infrastructure:</a:t>
            </a:r>
            <a:r>
              <a:rPr lang="en-US" dirty="0"/>
              <a:t> Do people have the internet and electricity to even use AI?</a:t>
            </a:r>
          </a:p>
          <a:p>
            <a:pPr lvl="0"/>
            <a:r>
              <a:rPr lang="en-US" b="1" dirty="0"/>
              <a:t>Human Capital:</a:t>
            </a:r>
            <a:r>
              <a:rPr lang="en-US" dirty="0"/>
              <a:t> Does the workforce have the education to transition into "Green Light" (complementary) jobs?</a:t>
            </a:r>
          </a:p>
          <a:p>
            <a:pPr lvl="0"/>
            <a:r>
              <a:rPr lang="en-US" b="1" dirty="0"/>
              <a:t>Innovation &amp; Regulation:</a:t>
            </a:r>
            <a:r>
              <a:rPr lang="en-US" dirty="0"/>
              <a:t> Are there laws to protect workers and encourage new businesses?</a:t>
            </a:r>
          </a:p>
          <a:p>
            <a:pPr lvl="0"/>
            <a:r>
              <a:rPr lang="en-US" b="1" dirty="0"/>
              <a:t>Social Safety Nets:</a:t>
            </a:r>
            <a:r>
              <a:rPr lang="en-US" dirty="0"/>
              <a:t> Is the country’s fiscal policy strong enough to support workers during the "shake-up"?</a:t>
            </a:r>
          </a:p>
          <a:p>
            <a:r>
              <a:rPr lang="en-US" b="1" dirty="0"/>
              <a:t>The Takeaway:</a:t>
            </a:r>
            <a:r>
              <a:rPr lang="en-US" dirty="0"/>
              <a:t> For advanced economies, the risk is immediate labor disruption. For developing economies, the risk is being "left behind" because they lack the infrastructure to capture the productivity gains.</a:t>
            </a:r>
          </a:p>
          <a:p>
            <a:endParaRPr lang="en-US" dirty="0"/>
          </a:p>
        </p:txBody>
      </p:sp>
    </p:spTree>
    <p:extLst>
      <p:ext uri="{BB962C8B-B14F-4D97-AF65-F5344CB8AC3E}">
        <p14:creationId xmlns:p14="http://schemas.microsoft.com/office/powerpoint/2010/main" val="342558715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03969-B5B5-0822-178C-8FD6FED9E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40A33-48F0-F623-AF6C-A528E5C4A8D4}"/>
              </a:ext>
            </a:extLst>
          </p:cNvPr>
          <p:cNvSpPr>
            <a:spLocks noGrp="1"/>
          </p:cNvSpPr>
          <p:nvPr>
            <p:ph type="title"/>
          </p:nvPr>
        </p:nvSpPr>
        <p:spPr>
          <a:xfrm>
            <a:off x="706438" y="669184"/>
            <a:ext cx="3421062" cy="4677515"/>
          </a:xfrm>
        </p:spPr>
        <p:txBody>
          <a:bodyPr>
            <a:normAutofit/>
          </a:bodyPr>
          <a:lstStyle/>
          <a:p>
            <a:r>
              <a:rPr lang="en-US" dirty="0"/>
              <a:t>AI Preparedness Index</a:t>
            </a:r>
          </a:p>
        </p:txBody>
      </p:sp>
      <p:pic>
        <p:nvPicPr>
          <p:cNvPr id="9" name="Picture 8">
            <a:extLst>
              <a:ext uri="{FF2B5EF4-FFF2-40B4-BE49-F238E27FC236}">
                <a16:creationId xmlns:a16="http://schemas.microsoft.com/office/drawing/2014/main" id="{82C86117-0EDE-0551-C69C-4F43E1A40113}"/>
              </a:ext>
            </a:extLst>
          </p:cNvPr>
          <p:cNvPicPr>
            <a:picLocks noChangeAspect="1"/>
          </p:cNvPicPr>
          <p:nvPr/>
        </p:nvPicPr>
        <p:blipFill>
          <a:blip r:embed="rId3"/>
          <a:stretch>
            <a:fillRect/>
          </a:stretch>
        </p:blipFill>
        <p:spPr>
          <a:xfrm>
            <a:off x="5975296" y="314102"/>
            <a:ext cx="5607104" cy="6046713"/>
          </a:xfrm>
          <a:prstGeom prst="rect">
            <a:avLst/>
          </a:prstGeom>
        </p:spPr>
      </p:pic>
    </p:spTree>
    <p:extLst>
      <p:ext uri="{BB962C8B-B14F-4D97-AF65-F5344CB8AC3E}">
        <p14:creationId xmlns:p14="http://schemas.microsoft.com/office/powerpoint/2010/main" val="248445340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27B1-44A3-F4CB-BCD0-CB387B539062}"/>
              </a:ext>
            </a:extLst>
          </p:cNvPr>
          <p:cNvSpPr>
            <a:spLocks noGrp="1"/>
          </p:cNvSpPr>
          <p:nvPr>
            <p:ph type="title"/>
          </p:nvPr>
        </p:nvSpPr>
        <p:spPr/>
        <p:txBody>
          <a:bodyPr/>
          <a:lstStyle/>
          <a:p>
            <a:r>
              <a:rPr lang="en-US" dirty="0"/>
              <a:t>Using Heterogeneous Agents Models</a:t>
            </a:r>
          </a:p>
        </p:txBody>
      </p:sp>
      <p:sp>
        <p:nvSpPr>
          <p:cNvPr id="3" name="Text Placeholder 2">
            <a:extLst>
              <a:ext uri="{FF2B5EF4-FFF2-40B4-BE49-F238E27FC236}">
                <a16:creationId xmlns:a16="http://schemas.microsoft.com/office/drawing/2014/main" id="{3CCE6D7C-E5C0-A2D8-01E3-9B2545CF078C}"/>
              </a:ext>
            </a:extLst>
          </p:cNvPr>
          <p:cNvSpPr>
            <a:spLocks noGrp="1"/>
          </p:cNvSpPr>
          <p:nvPr>
            <p:ph type="body" sz="quarter" idx="10"/>
          </p:nvPr>
        </p:nvSpPr>
        <p:spPr>
          <a:xfrm>
            <a:off x="647700" y="1469871"/>
            <a:ext cx="10998200" cy="4860591"/>
          </a:xfrm>
        </p:spPr>
        <p:txBody>
          <a:bodyPr>
            <a:normAutofit fontScale="25000" lnSpcReduction="20000"/>
          </a:bodyPr>
          <a:lstStyle/>
          <a:p>
            <a:pPr lvl="0">
              <a:lnSpc>
                <a:spcPct val="120000"/>
              </a:lnSpc>
              <a:spcBef>
                <a:spcPts val="1200"/>
              </a:spcBef>
            </a:pPr>
            <a:r>
              <a:rPr lang="en-US" sz="7200" dirty="0"/>
              <a:t>The model tracks individuals based on their wealth, skills, and how easily they can switch jobs if AI takes their current role.</a:t>
            </a:r>
          </a:p>
          <a:p>
            <a:pPr marL="0" lvl="1" indent="0">
              <a:lnSpc>
                <a:spcPct val="120000"/>
              </a:lnSpc>
              <a:spcBef>
                <a:spcPts val="1200"/>
              </a:spcBef>
              <a:buNone/>
            </a:pPr>
            <a:r>
              <a:rPr lang="en-US" sz="7200" b="1" dirty="0"/>
              <a:t>The Micro-to-Macro Bridge:</a:t>
            </a:r>
            <a:r>
              <a:rPr lang="en-US" sz="7200" dirty="0"/>
              <a:t> By mapping these hundreds of tasks onto millions of real-world households, the model can predict how a change in a small task (micro) alters the entire nation's GDP (macro). The model answers questions like:</a:t>
            </a:r>
          </a:p>
          <a:p>
            <a:pPr marL="342900" lvl="0" indent="-342900">
              <a:lnSpc>
                <a:spcPct val="120000"/>
              </a:lnSpc>
              <a:spcBef>
                <a:spcPts val="1200"/>
              </a:spcBef>
              <a:buFont typeface="Arial" panose="020B0604020202020204" pitchFamily="34" charset="0"/>
              <a:buChar char="•"/>
            </a:pPr>
            <a:r>
              <a:rPr lang="en-US" sz="7200" dirty="0"/>
              <a:t>If we give every worker an "AI Co-pilot," how much faster will the economy grow? </a:t>
            </a:r>
          </a:p>
          <a:p>
            <a:pPr marL="342900" lvl="0" indent="-342900">
              <a:lnSpc>
                <a:spcPct val="120000"/>
              </a:lnSpc>
              <a:spcBef>
                <a:spcPts val="1200"/>
              </a:spcBef>
              <a:buFont typeface="Arial" panose="020B0604020202020204" pitchFamily="34" charset="0"/>
              <a:buChar char="•"/>
            </a:pPr>
            <a:r>
              <a:rPr lang="en-US" sz="7200" dirty="0"/>
              <a:t>If AI mainly helps people who already have high-paying cognitive jobs, how much wider will the gap between the rich and the poor grow?</a:t>
            </a:r>
          </a:p>
          <a:p>
            <a:pPr marL="342900" lvl="0" indent="-342900">
              <a:lnSpc>
                <a:spcPct val="120000"/>
              </a:lnSpc>
              <a:spcBef>
                <a:spcPts val="1200"/>
              </a:spcBef>
              <a:buFont typeface="Arial" panose="020B0604020202020204" pitchFamily="34" charset="0"/>
              <a:buChar char="•"/>
            </a:pPr>
            <a:r>
              <a:rPr lang="en-US" sz="7200" dirty="0"/>
              <a:t>Will income shift away from workers' paychecks (Labor Share) and toward the people who own the AI companies (Capital Share)?</a:t>
            </a:r>
          </a:p>
          <a:p>
            <a:pPr marL="342900" lvl="0" indent="-342900">
              <a:lnSpc>
                <a:spcPct val="120000"/>
              </a:lnSpc>
              <a:spcBef>
                <a:spcPts val="1200"/>
              </a:spcBef>
              <a:buFont typeface="Arial" panose="020B0604020202020204" pitchFamily="34" charset="0"/>
              <a:buChar char="•"/>
            </a:pPr>
            <a:r>
              <a:rPr lang="en-US" sz="7200" dirty="0"/>
              <a:t>What happens if the government uses taxes from AI gains to fund retraining programs? Can we "offset" the negative impacts?</a:t>
            </a:r>
          </a:p>
          <a:p>
            <a:pPr lvl="1"/>
            <a:endParaRPr lang="en-US" dirty="0"/>
          </a:p>
          <a:p>
            <a:pPr lvl="1"/>
            <a:endParaRPr lang="en-US" dirty="0"/>
          </a:p>
          <a:p>
            <a:pPr lvl="1"/>
            <a:endParaRPr lang="en-US" dirty="0"/>
          </a:p>
          <a:p>
            <a:pPr marL="0" lvl="1" indent="0">
              <a:buNone/>
            </a:pPr>
            <a:endParaRPr lang="en-US" dirty="0"/>
          </a:p>
          <a:p>
            <a:pPr marL="0" lvl="1" indent="0">
              <a:buNone/>
            </a:pPr>
            <a:endParaRPr lang="en-US" dirty="0"/>
          </a:p>
          <a:p>
            <a:endParaRPr lang="en-US" dirty="0"/>
          </a:p>
        </p:txBody>
      </p:sp>
    </p:spTree>
    <p:extLst>
      <p:ext uri="{BB962C8B-B14F-4D97-AF65-F5344CB8AC3E}">
        <p14:creationId xmlns:p14="http://schemas.microsoft.com/office/powerpoint/2010/main" val="74837229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98C50-2B43-222C-84F7-855B9F195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A880C-A5A3-6875-D120-529852831AE4}"/>
              </a:ext>
            </a:extLst>
          </p:cNvPr>
          <p:cNvSpPr>
            <a:spLocks noGrp="1"/>
          </p:cNvSpPr>
          <p:nvPr>
            <p:ph type="title"/>
          </p:nvPr>
        </p:nvSpPr>
        <p:spPr/>
        <p:txBody>
          <a:bodyPr/>
          <a:lstStyle/>
          <a:p>
            <a:r>
              <a:rPr lang="en-US" dirty="0"/>
              <a:t>Using Heterogeneous Agents Models</a:t>
            </a:r>
          </a:p>
        </p:txBody>
      </p:sp>
      <p:sp>
        <p:nvSpPr>
          <p:cNvPr id="5" name="Text Placeholder 4">
            <a:extLst>
              <a:ext uri="{FF2B5EF4-FFF2-40B4-BE49-F238E27FC236}">
                <a16:creationId xmlns:a16="http://schemas.microsoft.com/office/drawing/2014/main" id="{E8391546-3299-0196-5DEC-FF925EC4B1C5}"/>
              </a:ext>
            </a:extLst>
          </p:cNvPr>
          <p:cNvSpPr>
            <a:spLocks noGrp="1"/>
          </p:cNvSpPr>
          <p:nvPr>
            <p:ph type="body" sz="quarter" idx="10"/>
          </p:nvPr>
        </p:nvSpPr>
        <p:spPr/>
        <p:txBody>
          <a:bodyPr/>
          <a:lstStyle/>
          <a:p>
            <a:endParaRPr lang="en-US"/>
          </a:p>
        </p:txBody>
      </p:sp>
      <p:pic>
        <p:nvPicPr>
          <p:cNvPr id="7" name="Picture 6">
            <a:extLst>
              <a:ext uri="{FF2B5EF4-FFF2-40B4-BE49-F238E27FC236}">
                <a16:creationId xmlns:a16="http://schemas.microsoft.com/office/drawing/2014/main" id="{C1D4DE27-657D-112E-E110-F574F2CBC8A5}"/>
              </a:ext>
            </a:extLst>
          </p:cNvPr>
          <p:cNvPicPr>
            <a:picLocks noChangeAspect="1"/>
          </p:cNvPicPr>
          <p:nvPr/>
        </p:nvPicPr>
        <p:blipFill>
          <a:blip r:embed="rId3"/>
          <a:stretch>
            <a:fillRect/>
          </a:stretch>
        </p:blipFill>
        <p:spPr>
          <a:xfrm>
            <a:off x="1169285" y="1318033"/>
            <a:ext cx="9550891" cy="4934204"/>
          </a:xfrm>
          <a:prstGeom prst="rect">
            <a:avLst/>
          </a:prstGeom>
        </p:spPr>
      </p:pic>
    </p:spTree>
    <p:extLst>
      <p:ext uri="{BB962C8B-B14F-4D97-AF65-F5344CB8AC3E}">
        <p14:creationId xmlns:p14="http://schemas.microsoft.com/office/powerpoint/2010/main" val="25388322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8E5E2-8F0A-EBAE-1D8D-13AC11706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B9B0E-CC02-CE33-A0A4-1D907FC06894}"/>
              </a:ext>
            </a:extLst>
          </p:cNvPr>
          <p:cNvSpPr>
            <a:spLocks noGrp="1"/>
          </p:cNvSpPr>
          <p:nvPr>
            <p:ph type="title"/>
          </p:nvPr>
        </p:nvSpPr>
        <p:spPr/>
        <p:txBody>
          <a:bodyPr/>
          <a:lstStyle/>
          <a:p>
            <a:r>
              <a:rPr lang="en-US" dirty="0"/>
              <a:t>How governments can use this data to inform policies: </a:t>
            </a:r>
          </a:p>
        </p:txBody>
      </p:sp>
      <p:sp>
        <p:nvSpPr>
          <p:cNvPr id="3" name="Text Placeholder 2">
            <a:extLst>
              <a:ext uri="{FF2B5EF4-FFF2-40B4-BE49-F238E27FC236}">
                <a16:creationId xmlns:a16="http://schemas.microsoft.com/office/drawing/2014/main" id="{897E9D58-3E5D-2DDC-CB82-4DF14A4CBCB0}"/>
              </a:ext>
            </a:extLst>
          </p:cNvPr>
          <p:cNvSpPr>
            <a:spLocks noGrp="1"/>
          </p:cNvSpPr>
          <p:nvPr>
            <p:ph type="body" sz="quarter" idx="10"/>
          </p:nvPr>
        </p:nvSpPr>
        <p:spPr/>
        <p:txBody>
          <a:bodyPr/>
          <a:lstStyle/>
          <a:p>
            <a:r>
              <a:rPr lang="en-US" dirty="0"/>
              <a:t>Since we can see the "Red Light" areas coming, the IMF suggests three main policy "shock absorbers":</a:t>
            </a:r>
          </a:p>
          <a:p>
            <a:pPr marL="342900" lvl="0" indent="-342900">
              <a:buFont typeface="Arial" panose="020B0604020202020204" pitchFamily="34" charset="0"/>
              <a:buChar char="•"/>
            </a:pPr>
            <a:r>
              <a:rPr lang="en-US" b="1" dirty="0"/>
              <a:t>Smart Safety Nets:</a:t>
            </a:r>
            <a:r>
              <a:rPr lang="en-US" dirty="0"/>
              <a:t> Modernizing unemployment insurance so it’s easier for people to get help while they switch careers.</a:t>
            </a:r>
          </a:p>
          <a:p>
            <a:pPr marL="342900" lvl="0" indent="-342900">
              <a:buFont typeface="Arial" panose="020B0604020202020204" pitchFamily="34" charset="0"/>
              <a:buChar char="•"/>
            </a:pPr>
            <a:r>
              <a:rPr lang="en-US" b="1" dirty="0"/>
              <a:t>Lifelong Learning:</a:t>
            </a:r>
            <a:r>
              <a:rPr lang="en-US" dirty="0"/>
              <a:t> Moving away from "one-and-done" education. Governments need to help workers retrain specifically for "Green Light" (AI-complementary) roles.</a:t>
            </a:r>
          </a:p>
          <a:p>
            <a:pPr marL="342900" lvl="0" indent="-342900">
              <a:buFont typeface="Arial" panose="020B0604020202020204" pitchFamily="34" charset="0"/>
              <a:buChar char="•"/>
            </a:pPr>
            <a:r>
              <a:rPr lang="en-US" b="1" dirty="0"/>
              <a:t>Closing the Global Divide:</a:t>
            </a:r>
            <a:r>
              <a:rPr lang="en-US" dirty="0"/>
              <a:t> Making sure developing nations have the digital infrastructure to use AI. Without it, the gap between wealthy and developing countries could grow even wider.</a:t>
            </a:r>
          </a:p>
          <a:p>
            <a:endParaRPr lang="en-US" dirty="0"/>
          </a:p>
        </p:txBody>
      </p:sp>
    </p:spTree>
    <p:extLst>
      <p:ext uri="{BB962C8B-B14F-4D97-AF65-F5344CB8AC3E}">
        <p14:creationId xmlns:p14="http://schemas.microsoft.com/office/powerpoint/2010/main" val="106551873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DEF6-5A79-18D1-EEB2-AC93FC44D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BBC72-F95E-5815-AC18-6A90F8DF0AD9}"/>
              </a:ext>
            </a:extLst>
          </p:cNvPr>
          <p:cNvSpPr>
            <a:spLocks noGrp="1"/>
          </p:cNvSpPr>
          <p:nvPr>
            <p:ph type="title"/>
          </p:nvPr>
        </p:nvSpPr>
        <p:spPr/>
        <p:txBody>
          <a:bodyPr/>
          <a:lstStyle/>
          <a:p>
            <a:r>
              <a:rPr lang="en-US" dirty="0"/>
              <a:t>Policy for LICs</a:t>
            </a:r>
          </a:p>
        </p:txBody>
      </p:sp>
      <p:sp>
        <p:nvSpPr>
          <p:cNvPr id="3" name="Text Placeholder 2">
            <a:extLst>
              <a:ext uri="{FF2B5EF4-FFF2-40B4-BE49-F238E27FC236}">
                <a16:creationId xmlns:a16="http://schemas.microsoft.com/office/drawing/2014/main" id="{641D3B22-451C-B45A-2B30-76A773E7B0C4}"/>
              </a:ext>
            </a:extLst>
          </p:cNvPr>
          <p:cNvSpPr>
            <a:spLocks noGrp="1"/>
          </p:cNvSpPr>
          <p:nvPr>
            <p:ph type="body" sz="quarter" idx="10"/>
          </p:nvPr>
        </p:nvSpPr>
        <p:spPr/>
        <p:txBody>
          <a:bodyPr>
            <a:normAutofit/>
          </a:bodyPr>
          <a:lstStyle/>
          <a:p>
            <a:pPr lvl="0"/>
            <a:r>
              <a:rPr lang="en-US" b="1" dirty="0"/>
              <a:t>Closing the Digital Infrastructure Gap:</a:t>
            </a:r>
            <a:r>
              <a:rPr lang="en-US" dirty="0"/>
              <a:t> The model shows that AI productivity gains are zero if the "complementarity" threshold isn't met. </a:t>
            </a:r>
          </a:p>
          <a:p>
            <a:pPr marL="342900" lvl="0" indent="-342900">
              <a:buFont typeface="Arial" panose="020B0604020202020204" pitchFamily="34" charset="0"/>
              <a:buChar char="•"/>
            </a:pPr>
            <a:r>
              <a:rPr lang="en-US" dirty="0"/>
              <a:t>Stable electricity and affordable high-speed broadband (prevent rural areas from being left behind)</a:t>
            </a:r>
          </a:p>
          <a:p>
            <a:pPr marL="342900" lvl="0" indent="-342900">
              <a:buFont typeface="Arial" panose="020B0604020202020204" pitchFamily="34" charset="0"/>
              <a:buChar char="•"/>
            </a:pPr>
            <a:r>
              <a:rPr lang="en-US" dirty="0"/>
              <a:t>Integrate digital literacy into basic education while subsidizing lifelong learning programs for workers who face the highest displacement risk (e.g. clerical workers).</a:t>
            </a:r>
          </a:p>
          <a:p>
            <a:pPr marL="342900" lvl="0" indent="-342900">
              <a:buFont typeface="Arial" panose="020B0604020202020204" pitchFamily="34" charset="0"/>
              <a:buChar char="•"/>
            </a:pPr>
            <a:r>
              <a:rPr lang="en-US" dirty="0"/>
              <a:t>Leveraging AI for Development: Use AI as a tool to bypass traditional bottlenecks (e.g., AI-driven microcredit scoring for the informal sector or ag-tech for smallholder farmers).</a:t>
            </a:r>
          </a:p>
          <a:p>
            <a:endParaRPr lang="en-US" dirty="0"/>
          </a:p>
        </p:txBody>
      </p:sp>
    </p:spTree>
    <p:extLst>
      <p:ext uri="{BB962C8B-B14F-4D97-AF65-F5344CB8AC3E}">
        <p14:creationId xmlns:p14="http://schemas.microsoft.com/office/powerpoint/2010/main" val="257141395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900204" y="2276643"/>
            <a:ext cx="9931919" cy="1981848"/>
          </a:xfrm>
        </p:spPr>
        <p:txBody>
          <a:bodyPr>
            <a:normAutofit/>
          </a:bodyPr>
          <a:lstStyle/>
          <a:p>
            <a:pPr algn="ctr"/>
            <a:r>
              <a:rPr lang="en-US" sz="4900"/>
              <a:t>Thank you!</a:t>
            </a:r>
            <a:br>
              <a:rPr lang="en-US"/>
            </a:br>
            <a:br>
              <a:rPr lang="en-US"/>
            </a:br>
            <a:r>
              <a:rPr lang="en-US"/>
              <a:t>Get in touch: </a:t>
            </a:r>
            <a:r>
              <a:rPr lang="en-US">
                <a:solidFill>
                  <a:srgbClr val="FFC000"/>
                </a:solidFill>
              </a:rPr>
              <a:t>vmalta@imf.org</a:t>
            </a:r>
          </a:p>
        </p:txBody>
      </p:sp>
    </p:spTree>
    <p:extLst>
      <p:ext uri="{BB962C8B-B14F-4D97-AF65-F5344CB8AC3E}">
        <p14:creationId xmlns:p14="http://schemas.microsoft.com/office/powerpoint/2010/main" val="325620125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CUMFILE" val="\\data3\users1\abarajas\My Documents\ICD\Courses\Courses 2023\Gender Inequality and Macroeconomics\Other Presentations\Presentations for Translation\L1 - Gender Inequality_ Dimensions &amp; Trends.cul"/>
  <p:tag name="CURRENTXMLFILE" val="\\data3\users1\abarajas\My Documents\ICD\Courses\Courses 2023\Gender Inequality and Macroeconomics\Other Presentations\Presentations for Translation\L1 - Gender Inequality_ Dimensions &amp; Trends.xml"/>
  <p:tag name="PPTXFILE" val="\\data3\users1\abarajas\My Documents\ICD\Courses\Courses 2023\Gender Inequality and Macroeconomics\Other Presentations\Presentations for Translation\L1 - Gender Inequality_ Dimensions &amp; Trends.pptx"/>
  <p:tag name="XMLFILE" val="\\data3\users1\abarajas\My Documents\ICD\Courses\Courses 2023\Gender Inequality and Macroeconomics\Other Presentations\Presentations for Translation\L1 - Gender Inequality_ Dimensions &amp; Trends.xml"/>
</p:tagLst>
</file>

<file path=ppt/theme/theme1.xml><?xml version="1.0" encoding="utf-8"?>
<a:theme xmlns:a="http://schemas.openxmlformats.org/drawingml/2006/main" name="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LEG_PresentationTemplate-General" id="{13F5556C-5BC5-9542-AB57-73990FD9E90C}" vid="{2B303AC9-B9EA-B048-9D5C-6C975EA17091}"/>
    </a:ext>
  </a:extLst>
</a:theme>
</file>

<file path=ppt/theme/theme2.xml><?xml version="1.0" encoding="utf-8"?>
<a:theme xmlns:a="http://schemas.openxmlformats.org/drawingml/2006/main" name="1_Custom Design">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F72D32AC-F563-4E54-A5C2-D8F0BC37EE7E}"/>
    </a:ext>
  </a:extLst>
</a:theme>
</file>

<file path=ppt/theme/theme3.xml><?xml version="1.0" encoding="utf-8"?>
<a:theme xmlns:a="http://schemas.openxmlformats.org/drawingml/2006/main" name="Office Theme">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6BC5DA02-7E34-41B8-ADA6-35A3853989A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08F46CC7369E44A38836926FD52CA4" ma:contentTypeVersion="17" ma:contentTypeDescription="Create a new document." ma:contentTypeScope="" ma:versionID="34d57240de38c5ca99423c2d81288a91">
  <xsd:schema xmlns:xsd="http://www.w3.org/2001/XMLSchema" xmlns:xs="http://www.w3.org/2001/XMLSchema" xmlns:p="http://schemas.microsoft.com/office/2006/metadata/properties" xmlns:ns2="3b9dc015-dd13-448b-b628-7af3b634cca4" xmlns:ns3="0c6f1c3b-ea25-4e6f-91c5-aeb92d62b0fb" targetNamespace="http://schemas.microsoft.com/office/2006/metadata/properties" ma:root="true" ma:fieldsID="e270c38f22e04ee44ccb8e6601e8d1f8" ns2:_="" ns3:_="">
    <xsd:import namespace="3b9dc015-dd13-448b-b628-7af3b634cca4"/>
    <xsd:import namespace="0c6f1c3b-ea25-4e6f-91c5-aeb92d62b0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9dc015-dd13-448b-b628-7af3b634cc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1b0229-19ef-4425-8520-9f00e8db62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6f1c3b-ea25-4e6f-91c5-aeb92d62b0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4a2595-35b6-44ef-becd-33de771bf95a}" ma:internalName="TaxCatchAll" ma:showField="CatchAllData" ma:web="0c6f1c3b-ea25-4e6f-91c5-aeb92d62b0f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c6f1c3b-ea25-4e6f-91c5-aeb92d62b0fb" xsi:nil="true"/>
    <lcf76f155ced4ddcb4097134ff3c332f xmlns="3b9dc015-dd13-448b-b628-7af3b634cca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BC96193-877C-46EA-BD01-2ACB11A8A0AB}">
  <ds:schemaRefs>
    <ds:schemaRef ds:uri="http://schemas.microsoft.com/sharepoint/v3/contenttype/forms"/>
  </ds:schemaRefs>
</ds:datastoreItem>
</file>

<file path=customXml/itemProps2.xml><?xml version="1.0" encoding="utf-8"?>
<ds:datastoreItem xmlns:ds="http://schemas.openxmlformats.org/officeDocument/2006/customXml" ds:itemID="{104079B9-FC65-415D-ACC2-3486A3B03CB8}">
  <ds:schemaRefs>
    <ds:schemaRef ds:uri="0c6f1c3b-ea25-4e6f-91c5-aeb92d62b0fb"/>
    <ds:schemaRef ds:uri="3b9dc015-dd13-448b-b628-7af3b634cc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D0AC045-0708-4EF3-BE6A-CA4E594A0743}">
  <ds:schemaRefs>
    <ds:schemaRef ds:uri="3b9dc015-dd13-448b-b628-7af3b634cca4"/>
    <ds:schemaRef ds:uri="http://www.w3.org/XML/1998/namespace"/>
    <ds:schemaRef ds:uri="http://purl.org/dc/elements/1.1/"/>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0c6f1c3b-ea25-4e6f-91c5-aeb92d62b0fb"/>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271</TotalTime>
  <Words>2244</Words>
  <Application>Microsoft Office PowerPoint</Application>
  <PresentationFormat>Widescreen</PresentationFormat>
  <Paragraphs>181</Paragraphs>
  <Slides>28</Slides>
  <Notes>10</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28</vt:i4>
      </vt:variant>
    </vt:vector>
  </HeadingPairs>
  <TitlesOfParts>
    <vt:vector size="42" baseType="lpstr">
      <vt:lpstr>.HelveticaNeueDeskInterface-Regular</vt:lpstr>
      <vt:lpstr>Arial</vt:lpstr>
      <vt:lpstr>Arial Black</vt:lpstr>
      <vt:lpstr>ArialMT</vt:lpstr>
      <vt:lpstr>Calibri</vt:lpstr>
      <vt:lpstr>Cambria Math</vt:lpstr>
      <vt:lpstr>Courier New</vt:lpstr>
      <vt:lpstr>Lucida Grande</vt:lpstr>
      <vt:lpstr>LucidaGrande</vt:lpstr>
      <vt:lpstr>Times New Roman</vt:lpstr>
      <vt:lpstr>Wingdings</vt:lpstr>
      <vt:lpstr>Custom Design</vt:lpstr>
      <vt:lpstr>1_Custom Design</vt:lpstr>
      <vt:lpstr>Office Theme</vt:lpstr>
      <vt:lpstr>Macroeconomic Modeling with Distributional Considerations: An Introduction</vt:lpstr>
      <vt:lpstr>Revisiting Microdata</vt:lpstr>
      <vt:lpstr>Wage Gap Decompositions</vt:lpstr>
      <vt:lpstr>Wage Gap Decompositions</vt:lpstr>
      <vt:lpstr>Oaxaca-Blinder Decomposition</vt:lpstr>
      <vt:lpstr>Oaxaca-Blinder Decomposition</vt:lpstr>
      <vt:lpstr>Example: Senegal (2018 IMF Article IV)</vt:lpstr>
      <vt:lpstr>Example: Malawi</vt:lpstr>
      <vt:lpstr>Example: Malawi</vt:lpstr>
      <vt:lpstr>Macroeconomics heterogeneous agents’ model with gender considerations</vt:lpstr>
      <vt:lpstr>PowerPoint Presentation</vt:lpstr>
      <vt:lpstr>The model</vt:lpstr>
      <vt:lpstr>Kenya example: parametrization</vt:lpstr>
      <vt:lpstr>Kenya example:  parametrization examples using micro data</vt:lpstr>
      <vt:lpstr>Gains from reducing gender gaps and providing safe piped water</vt:lpstr>
      <vt:lpstr>Analyzing macroeconomic and distributional effects of Artificial Intelligence</vt:lpstr>
      <vt:lpstr>PowerPoint Presentation</vt:lpstr>
      <vt:lpstr>Using micro-data</vt:lpstr>
      <vt:lpstr>More on the micro-data</vt:lpstr>
      <vt:lpstr>The paper’s idea: Not every job is affected by AI in the same way. </vt:lpstr>
      <vt:lpstr>Implications for wealth distribution</vt:lpstr>
      <vt:lpstr>AI Preparedness Index</vt:lpstr>
      <vt:lpstr>AI Preparedness Index</vt:lpstr>
      <vt:lpstr>Using Heterogeneous Agents Models</vt:lpstr>
      <vt:lpstr>Using Heterogeneous Agents Models</vt:lpstr>
      <vt:lpstr>How governments can use this data to inform policies: </vt:lpstr>
      <vt:lpstr>Policy for LICs</vt:lpstr>
      <vt:lpstr>Thank you!  Get in touch: vmalta@imf.org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 and Instructions</dc:title>
  <dc:creator>Spatafora, Nikola</dc:creator>
  <cp:lastModifiedBy>Malta, Vivian</cp:lastModifiedBy>
  <cp:revision>1</cp:revision>
  <cp:lastPrinted>2018-06-28T11:42:50Z</cp:lastPrinted>
  <dcterms:created xsi:type="dcterms:W3CDTF">2019-01-15T17:35:17Z</dcterms:created>
  <dcterms:modified xsi:type="dcterms:W3CDTF">2026-05-28T04:19:51Z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0x0101003808F46CC7369E44A38836926FD52CA4</vt:lpwstr>
  </property>
  <property fmtid="{D5CDD505-2E9C-101B-9397-08002B2CF9AE}" pid="4" name="MMSClassification">
    <vt:lpwstr>1</vt:lpwstr>
  </property>
  <property fmtid="{D5CDD505-2E9C-101B-9397-08002B2CF9AE}" pid="5" name="Order">
    <vt:r8>2200</vt:r8>
  </property>
  <property fmtid="{D5CDD505-2E9C-101B-9397-08002B2CF9AE}" pid="6" name="MMSTopics">
    <vt:lpwstr/>
  </property>
  <property fmtid="{D5CDD505-2E9C-101B-9397-08002B2CF9AE}" pid="7" name="MMSCountries">
    <vt:lpwstr/>
  </property>
  <property fmtid="{D5CDD505-2E9C-101B-9397-08002B2CF9AE}" pid="8" name="MMSDepartments">
    <vt:lpwstr>33</vt:lpwstr>
  </property>
  <property fmtid="{D5CDD505-2E9C-101B-9397-08002B2CF9AE}" pid="9" name="eDOCS AutoSave">
    <vt:lpwstr/>
  </property>
  <property fmtid="{D5CDD505-2E9C-101B-9397-08002B2CF9AE}" pid="10" name="MSIP_Label_0c07ed86-5dc5-4593-ad03-a8684b843815_Enabled">
    <vt:lpwstr>true</vt:lpwstr>
  </property>
  <property fmtid="{D5CDD505-2E9C-101B-9397-08002B2CF9AE}" pid="11" name="MSIP_Label_0c07ed86-5dc5-4593-ad03-a8684b843815_SetDate">
    <vt:lpwstr>2023-08-10T16:29:55Z</vt:lpwstr>
  </property>
  <property fmtid="{D5CDD505-2E9C-101B-9397-08002B2CF9AE}" pid="12" name="MSIP_Label_0c07ed86-5dc5-4593-ad03-a8684b843815_Method">
    <vt:lpwstr>Standard</vt:lpwstr>
  </property>
  <property fmtid="{D5CDD505-2E9C-101B-9397-08002B2CF9AE}" pid="13" name="MSIP_Label_0c07ed86-5dc5-4593-ad03-a8684b843815_Name">
    <vt:lpwstr>0c07ed86-5dc5-4593-ad03-a8684b843815</vt:lpwstr>
  </property>
  <property fmtid="{D5CDD505-2E9C-101B-9397-08002B2CF9AE}" pid="14" name="MSIP_Label_0c07ed86-5dc5-4593-ad03-a8684b843815_SiteId">
    <vt:lpwstr>8085fa43-302e-45bd-b171-a6648c3b6be7</vt:lpwstr>
  </property>
  <property fmtid="{D5CDD505-2E9C-101B-9397-08002B2CF9AE}" pid="15" name="MSIP_Label_0c07ed86-5dc5-4593-ad03-a8684b843815_ActionId">
    <vt:lpwstr>bdaf899b-2077-417e-aab4-0d763181fea1</vt:lpwstr>
  </property>
  <property fmtid="{D5CDD505-2E9C-101B-9397-08002B2CF9AE}" pid="16" name="MSIP_Label_0c07ed86-5dc5-4593-ad03-a8684b843815_ContentBits">
    <vt:lpwstr>0</vt:lpwstr>
  </property>
  <property fmtid="{D5CDD505-2E9C-101B-9397-08002B2CF9AE}" pid="17" name="MediaServiceImageTags">
    <vt:lpwstr/>
  </property>
</Properties>
</file>