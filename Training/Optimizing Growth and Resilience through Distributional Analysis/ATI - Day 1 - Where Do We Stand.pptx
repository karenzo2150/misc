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C0_934ADA6F.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omments/modernComment_11B4_AC83269A.xml" ContentType="application/vnd.ms-powerpoint.comments+xml"/>
  <Override PartName="/ppt/comments/modernComment_11B3_138B3AE3.xml" ContentType="application/vnd.ms-powerpoint.comments+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1C1_5E0090EC.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62" r:id="rId5"/>
    <p:sldMasterId id="2147483776" r:id="rId6"/>
  </p:sldMasterIdLst>
  <p:notesMasterIdLst>
    <p:notesMasterId r:id="rId37"/>
  </p:notesMasterIdLst>
  <p:handoutMasterIdLst>
    <p:handoutMasterId r:id="rId38"/>
  </p:handoutMasterIdLst>
  <p:sldIdLst>
    <p:sldId id="1153" r:id="rId7"/>
    <p:sldId id="4544" r:id="rId8"/>
    <p:sldId id="4532" r:id="rId9"/>
    <p:sldId id="4530" r:id="rId10"/>
    <p:sldId id="4526" r:id="rId11"/>
    <p:sldId id="4527" r:id="rId12"/>
    <p:sldId id="4531" r:id="rId13"/>
    <p:sldId id="4345" r:id="rId14"/>
    <p:sldId id="4533" r:id="rId15"/>
    <p:sldId id="4545" r:id="rId16"/>
    <p:sldId id="4551" r:id="rId17"/>
    <p:sldId id="4346" r:id="rId18"/>
    <p:sldId id="4315" r:id="rId19"/>
    <p:sldId id="4541" r:id="rId20"/>
    <p:sldId id="4361" r:id="rId21"/>
    <p:sldId id="4546" r:id="rId22"/>
    <p:sldId id="4550" r:id="rId23"/>
    <p:sldId id="4359" r:id="rId24"/>
    <p:sldId id="4542" r:id="rId25"/>
    <p:sldId id="4536" r:id="rId26"/>
    <p:sldId id="4547" r:id="rId27"/>
    <p:sldId id="4552" r:id="rId28"/>
    <p:sldId id="4353" r:id="rId29"/>
    <p:sldId id="4539" r:id="rId30"/>
    <p:sldId id="4548" r:id="rId31"/>
    <p:sldId id="4355" r:id="rId32"/>
    <p:sldId id="4549" r:id="rId33"/>
    <p:sldId id="4356" r:id="rId34"/>
    <p:sldId id="4363" r:id="rId35"/>
    <p:sldId id="4360" r:id="rId36"/>
  </p:sldIdLst>
  <p:sldSz cx="12192000" cy="6858000"/>
  <p:notesSz cx="7023100" cy="9309100"/>
  <p:custDataLst>
    <p:tags r:id="rId39"/>
  </p:custDataLst>
  <p:defaultText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754463-30FA-824E-9681-17E0926DDDD5}">
          <p14:sldIdLst>
            <p14:sldId id="1153"/>
            <p14:sldId id="4544"/>
            <p14:sldId id="4532"/>
            <p14:sldId id="4530"/>
            <p14:sldId id="4526"/>
            <p14:sldId id="4527"/>
            <p14:sldId id="4531"/>
            <p14:sldId id="4345"/>
            <p14:sldId id="4533"/>
            <p14:sldId id="4545"/>
            <p14:sldId id="4551"/>
            <p14:sldId id="4346"/>
            <p14:sldId id="4315"/>
            <p14:sldId id="4541"/>
            <p14:sldId id="4361"/>
            <p14:sldId id="4546"/>
            <p14:sldId id="4550"/>
            <p14:sldId id="4359"/>
            <p14:sldId id="4542"/>
            <p14:sldId id="4536"/>
            <p14:sldId id="4547"/>
            <p14:sldId id="4552"/>
            <p14:sldId id="4353"/>
            <p14:sldId id="4539"/>
            <p14:sldId id="4548"/>
            <p14:sldId id="4355"/>
            <p14:sldId id="4549"/>
            <p14:sldId id="4356"/>
            <p14:sldId id="4363"/>
            <p14:sldId id="4360"/>
          </p14:sldIdLst>
        </p14:section>
      </p14:sectionLst>
    </p:ext>
    <p:ext uri="{2D200454-40CA-4A62-9FC3-DE9A4176ACB9}">
      <p15:notesGuideLst xmlns:p15="http://schemas.microsoft.com/office/powerpoint/2012/main">
        <p15:guide id="1" orient="horz" pos="2844" userDrawn="1">
          <p15:clr>
            <a:srgbClr val="A4A3A4"/>
          </p15:clr>
        </p15:guide>
        <p15:guide id="2" pos="2124" userDrawn="1">
          <p15:clr>
            <a:srgbClr val="A4A3A4"/>
          </p15:clr>
        </p15:guide>
        <p15:guide id="3" orient="horz" pos="2932" userDrawn="1">
          <p15:clr>
            <a:srgbClr val="A4A3A4"/>
          </p15:clr>
        </p15:guide>
        <p15:guide id="4" pos="221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9A2F19-CB1E-740C-50CD-B91678F8B4AE}" name="Newiak, Monique" initials="MN" userId="S::MNewiak@imf.org::d81357e1-9dfe-4194-af64-4cbd758c7fe5" providerId="AD"/>
  <p188:author id="{5854C73E-3583-11C1-CE13-22776D3A641A}" name="Kolovich, Lisa" initials="" userId="S::LKolovich@IMF.ORG::705d1648-fc44-4335-a909-7bcc0ef9bfc0" providerId="AD"/>
  <p188:author id="{8F3D4AA5-6CAE-C03C-D0E6-295E01968A3B}" name="Raissi, Mehdi" initials="RM" userId="S::mraissi@imf.org::f6393861-7977-47b1-91ff-d9b70d36a3c2" providerId="AD"/>
  <p188:author id="{F9268FA7-36FA-7F93-E320-2B2AE8F0B00B}" name="Spatafora, Nikola" initials="NLS" userId="Spatafora, Nikola" providerId="None"/>
  <p188:author id="{3BF418A9-978B-1A9F-2A89-B71B282588FE}" name="Kolovich, Lisa" initials="KL" userId="S::lkolovich@imf.org::705d1648-fc44-4335-a909-7bcc0ef9bfc0" providerId="AD"/>
  <p188:author id="{2708D3D2-1E49-BB83-2378-9650164C949B}" name="Kolovich, Lisa" initials="LK" userId="S::LKolovich@imf.org::705d1648-fc44-4335-a909-7bcc0ef9bfc0" providerId="AD"/>
  <p188:author id="{228F27D4-DC16-A0DC-CE4F-F9D21D2716E7}" name="Zafar, Usama" initials="UZ" userId="S::uzafar@imf.org::aa999f82-f7e1-41bb-a8a0-9006fcec8cde" providerId="AD"/>
  <p188:author id="{0D8F83E4-EF17-15AA-7DA0-1A43993D769E}" name="Malta, Vivian" initials="" userId="S::VMalta@imf.org::c9130ee9-f22b-44aa-bb73-83a935e86cf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pofford, Laura" initials="SL" lastIdx="2" clrIdx="6">
    <p:extLst>
      <p:ext uri="{19B8F6BF-5375-455C-9EA6-DF929625EA0E}">
        <p15:presenceInfo xmlns:p15="http://schemas.microsoft.com/office/powerpoint/2012/main" userId="S::lspofford@imf.org::729f3023-7458-4886-8b15-5f4e1b9d797d" providerId="AD"/>
      </p:ext>
    </p:extLst>
  </p:cmAuthor>
  <p:cmAuthor id="1" name="Nandwa, Boaz" initials="NB" lastIdx="10" clrIdx="0"/>
  <p:cmAuthor id="8" name="Newiak, Monique" initials="NM" lastIdx="0" clrIdx="7">
    <p:extLst>
      <p:ext uri="{19B8F6BF-5375-455C-9EA6-DF929625EA0E}">
        <p15:presenceInfo xmlns:p15="http://schemas.microsoft.com/office/powerpoint/2012/main" userId="S::MNewiak@IMF.ORG::d81357e1-9dfe-4194-af64-4cbd758c7fe5" providerId="AD"/>
      </p:ext>
    </p:extLst>
  </p:cmAuthor>
  <p:cmAuthor id="2" name="Kamil Dybczak" initials="KD" lastIdx="10" clrIdx="1"/>
  <p:cmAuthor id="9" name="Kazandjian, Romina" initials="KR" lastIdx="4" clrIdx="8">
    <p:extLst>
      <p:ext uri="{19B8F6BF-5375-455C-9EA6-DF929625EA0E}">
        <p15:presenceInfo xmlns:p15="http://schemas.microsoft.com/office/powerpoint/2012/main" userId="S::RKazandjian@imf.org::981dfeef-ec4e-4cfc-812b-25e2594e53c9" providerId="AD"/>
      </p:ext>
    </p:extLst>
  </p:cmAuthor>
  <p:cmAuthor id="3" name="Tamirisa, Natalia" initials="TN" lastIdx="12" clrIdx="2"/>
  <p:cmAuthor id="10" name="Spatafora, Nikola" initials="NLS" lastIdx="53" clrIdx="9">
    <p:extLst>
      <p:ext uri="{19B8F6BF-5375-455C-9EA6-DF929625EA0E}">
        <p15:presenceInfo xmlns:p15="http://schemas.microsoft.com/office/powerpoint/2012/main" userId="Spatafora, Nikola" providerId="None"/>
      </p:ext>
    </p:extLst>
  </p:cmAuthor>
  <p:cmAuthor id="4" name="Almalik, Mansour" initials="AM" lastIdx="6" clrIdx="3"/>
  <p:cmAuthor id="5" name="Pierre, Gaelle" initials="PG" lastIdx="3" clrIdx="4"/>
  <p:cmAuthor id="6" name="Basile, Gregory" initials="BG" lastIdx="9"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200"/>
    <a:srgbClr val="D9D9D9"/>
    <a:srgbClr val="25D129"/>
    <a:srgbClr val="5E8AB4"/>
    <a:srgbClr val="E46C0A"/>
    <a:srgbClr val="DC4234"/>
    <a:srgbClr val="00AEB3"/>
    <a:srgbClr val="FFCC00"/>
    <a:srgbClr val="ED7D31"/>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F1F8DD-A708-440A-ADFD-E4A5B1ED4488}" v="6" dt="2026-05-21T13:38:35.043"/>
    <p1510:client id="{313B7C07-5D49-2FB9-17A4-C3D7E02925A7}" v="22" dt="2026-05-21T12:26:45.858"/>
    <p1510:client id="{4F1D6C5F-9133-E3B2-FC12-EA613FB9017C}" v="201" dt="2026-05-21T13:24:25.2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08" y="3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44"/>
        <p:guide pos="2124"/>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gs" Target="tags/tag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 Id="rId46"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ovich, Lisa" userId="705d1648-fc44-4335-a909-7bcc0ef9bfc0" providerId="ADAL" clId="{92F763A2-9C83-4598-AD83-C43573D893A8}"/>
    <pc:docChg chg="custSel delSld modSld modSection">
      <pc:chgData name="Kolovich, Lisa" userId="705d1648-fc44-4335-a909-7bcc0ef9bfc0" providerId="ADAL" clId="{92F763A2-9C83-4598-AD83-C43573D893A8}" dt="2026-05-21T13:39:13.310" v="680" actId="20577"/>
      <pc:docMkLst>
        <pc:docMk/>
      </pc:docMkLst>
      <pc:sldChg chg="addSp delSp modSp mod">
        <pc:chgData name="Kolovich, Lisa" userId="705d1648-fc44-4335-a909-7bcc0ef9bfc0" providerId="ADAL" clId="{92F763A2-9C83-4598-AD83-C43573D893A8}" dt="2026-05-21T13:32:58.317" v="184" actId="20577"/>
        <pc:sldMkLst>
          <pc:docMk/>
          <pc:sldMk cId="447460654" sldId="4355"/>
        </pc:sldMkLst>
        <pc:spChg chg="mod">
          <ac:chgData name="Kolovich, Lisa" userId="705d1648-fc44-4335-a909-7bcc0ef9bfc0" providerId="ADAL" clId="{92F763A2-9C83-4598-AD83-C43573D893A8}" dt="2026-05-21T13:32:58.317" v="184" actId="20577"/>
          <ac:spMkLst>
            <pc:docMk/>
            <pc:sldMk cId="447460654" sldId="4355"/>
            <ac:spMk id="4" creationId="{409AEDB7-8C42-1049-8D4C-110CB2584AD0}"/>
          </ac:spMkLst>
        </pc:spChg>
        <pc:graphicFrameChg chg="add mod">
          <ac:chgData name="Kolovich, Lisa" userId="705d1648-fc44-4335-a909-7bcc0ef9bfc0" providerId="ADAL" clId="{92F763A2-9C83-4598-AD83-C43573D893A8}" dt="2026-05-21T13:31:35.394" v="137"/>
          <ac:graphicFrameMkLst>
            <pc:docMk/>
            <pc:sldMk cId="447460654" sldId="4355"/>
            <ac:graphicFrameMk id="5" creationId="{6A088EBD-AAD2-4746-9AB9-706CADF5207E}"/>
          </ac:graphicFrameMkLst>
        </pc:graphicFrameChg>
        <pc:picChg chg="del">
          <ac:chgData name="Kolovich, Lisa" userId="705d1648-fc44-4335-a909-7bcc0ef9bfc0" providerId="ADAL" clId="{92F763A2-9C83-4598-AD83-C43573D893A8}" dt="2026-05-21T13:31:31.274" v="134" actId="478"/>
          <ac:picMkLst>
            <pc:docMk/>
            <pc:sldMk cId="447460654" sldId="4355"/>
            <ac:picMk id="2" creationId="{8390B624-D174-9AC2-086B-52B4582E0881}"/>
          </ac:picMkLst>
        </pc:picChg>
        <pc:picChg chg="del">
          <ac:chgData name="Kolovich, Lisa" userId="705d1648-fc44-4335-a909-7bcc0ef9bfc0" providerId="ADAL" clId="{92F763A2-9C83-4598-AD83-C43573D893A8}" dt="2026-05-21T13:32:12.626" v="142" actId="478"/>
          <ac:picMkLst>
            <pc:docMk/>
            <pc:sldMk cId="447460654" sldId="4355"/>
            <ac:picMk id="3" creationId="{6630F366-1450-D897-64C0-0C144F3FFC1D}"/>
          </ac:picMkLst>
        </pc:picChg>
        <pc:picChg chg="mod">
          <ac:chgData name="Kolovich, Lisa" userId="705d1648-fc44-4335-a909-7bcc0ef9bfc0" providerId="ADAL" clId="{92F763A2-9C83-4598-AD83-C43573D893A8}" dt="2026-05-21T13:31:49.653" v="141" actId="1076"/>
          <ac:picMkLst>
            <pc:docMk/>
            <pc:sldMk cId="447460654" sldId="4355"/>
            <ac:picMk id="7" creationId="{14C910C9-CC02-F09D-DD1C-1F6A933A2F6F}"/>
          </ac:picMkLst>
        </pc:picChg>
        <pc:picChg chg="mod">
          <ac:chgData name="Kolovich, Lisa" userId="705d1648-fc44-4335-a909-7bcc0ef9bfc0" providerId="ADAL" clId="{92F763A2-9C83-4598-AD83-C43573D893A8}" dt="2026-05-21T13:32:30.713" v="148" actId="1076"/>
          <ac:picMkLst>
            <pc:docMk/>
            <pc:sldMk cId="447460654" sldId="4355"/>
            <ac:picMk id="8" creationId="{4BF30C81-672F-258A-738B-355346428C80}"/>
          </ac:picMkLst>
        </pc:picChg>
      </pc:sldChg>
      <pc:sldChg chg="modSp mod">
        <pc:chgData name="Kolovich, Lisa" userId="705d1648-fc44-4335-a909-7bcc0ef9bfc0" providerId="ADAL" clId="{92F763A2-9C83-4598-AD83-C43573D893A8}" dt="2026-05-21T13:33:08.843" v="186" actId="1076"/>
        <pc:sldMkLst>
          <pc:docMk/>
          <pc:sldMk cId="3747679027" sldId="4356"/>
        </pc:sldMkLst>
        <pc:spChg chg="mod">
          <ac:chgData name="Kolovich, Lisa" userId="705d1648-fc44-4335-a909-7bcc0ef9bfc0" providerId="ADAL" clId="{92F763A2-9C83-4598-AD83-C43573D893A8}" dt="2026-05-21T13:33:08.843" v="186" actId="1076"/>
          <ac:spMkLst>
            <pc:docMk/>
            <pc:sldMk cId="3747679027" sldId="4356"/>
            <ac:spMk id="8" creationId="{1360DF1B-0397-4248-9A55-08D783BE96E7}"/>
          </ac:spMkLst>
        </pc:spChg>
        <pc:picChg chg="mod">
          <ac:chgData name="Kolovich, Lisa" userId="705d1648-fc44-4335-a909-7bcc0ef9bfc0" providerId="ADAL" clId="{92F763A2-9C83-4598-AD83-C43573D893A8}" dt="2026-05-21T13:33:05.855" v="185" actId="1076"/>
          <ac:picMkLst>
            <pc:docMk/>
            <pc:sldMk cId="3747679027" sldId="4356"/>
            <ac:picMk id="5" creationId="{B6579CD8-F3F3-24D5-3B0B-AD9F68D5710F}"/>
          </ac:picMkLst>
        </pc:picChg>
      </pc:sldChg>
      <pc:sldChg chg="del">
        <pc:chgData name="Kolovich, Lisa" userId="705d1648-fc44-4335-a909-7bcc0ef9bfc0" providerId="ADAL" clId="{92F763A2-9C83-4598-AD83-C43573D893A8}" dt="2026-05-21T13:30:49.350" v="133" actId="47"/>
        <pc:sldMkLst>
          <pc:docMk/>
          <pc:sldMk cId="682067168" sldId="4534"/>
        </pc:sldMkLst>
      </pc:sldChg>
      <pc:sldChg chg="modSp mod">
        <pc:chgData name="Kolovich, Lisa" userId="705d1648-fc44-4335-a909-7bcc0ef9bfc0" providerId="ADAL" clId="{92F763A2-9C83-4598-AD83-C43573D893A8}" dt="2026-05-21T13:39:13.310" v="680" actId="20577"/>
        <pc:sldMkLst>
          <pc:docMk/>
          <pc:sldMk cId="3569039601" sldId="4536"/>
        </pc:sldMkLst>
        <pc:spChg chg="mod">
          <ac:chgData name="Kolovich, Lisa" userId="705d1648-fc44-4335-a909-7bcc0ef9bfc0" providerId="ADAL" clId="{92F763A2-9C83-4598-AD83-C43573D893A8}" dt="2026-05-21T13:28:40.307" v="113" actId="20577"/>
          <ac:spMkLst>
            <pc:docMk/>
            <pc:sldMk cId="3569039601" sldId="4536"/>
            <ac:spMk id="2" creationId="{517E5BD3-F0F8-7680-5CF3-54D0C982A6F9}"/>
          </ac:spMkLst>
        </pc:spChg>
        <pc:spChg chg="mod">
          <ac:chgData name="Kolovich, Lisa" userId="705d1648-fc44-4335-a909-7bcc0ef9bfc0" providerId="ADAL" clId="{92F763A2-9C83-4598-AD83-C43573D893A8}" dt="2026-05-21T13:39:13.310" v="680" actId="20577"/>
          <ac:spMkLst>
            <pc:docMk/>
            <pc:sldMk cId="3569039601" sldId="4536"/>
            <ac:spMk id="4" creationId="{F3A5326B-287C-A95A-864E-62C4E2B0B878}"/>
          </ac:spMkLst>
        </pc:spChg>
        <pc:graphicFrameChg chg="mod modGraphic">
          <ac:chgData name="Kolovich, Lisa" userId="705d1648-fc44-4335-a909-7bcc0ef9bfc0" providerId="ADAL" clId="{92F763A2-9C83-4598-AD83-C43573D893A8}" dt="2026-05-21T13:35:06.984" v="195" actId="1076"/>
          <ac:graphicFrameMkLst>
            <pc:docMk/>
            <pc:sldMk cId="3569039601" sldId="4536"/>
            <ac:graphicFrameMk id="7" creationId="{71DF30F1-4514-D987-EAD0-25B631299B77}"/>
          </ac:graphicFrameMkLst>
        </pc:graphicFrameChg>
      </pc:sldChg>
      <pc:sldChg chg="del">
        <pc:chgData name="Kolovich, Lisa" userId="705d1648-fc44-4335-a909-7bcc0ef9bfc0" providerId="ADAL" clId="{92F763A2-9C83-4598-AD83-C43573D893A8}" dt="2026-05-21T13:33:17.895" v="187" actId="47"/>
        <pc:sldMkLst>
          <pc:docMk/>
          <pc:sldMk cId="1573149834" sldId="4540"/>
        </pc:sldMkLst>
      </pc:sldChg>
      <pc:sldChg chg="modSp mod">
        <pc:chgData name="Kolovich, Lisa" userId="705d1648-fc44-4335-a909-7bcc0ef9bfc0" providerId="ADAL" clId="{92F763A2-9C83-4598-AD83-C43573D893A8}" dt="2026-05-21T13:37:48.054" v="490" actId="1076"/>
        <pc:sldMkLst>
          <pc:docMk/>
          <pc:sldMk cId="3018013843" sldId="4542"/>
        </pc:sldMkLst>
        <pc:spChg chg="mod">
          <ac:chgData name="Kolovich, Lisa" userId="705d1648-fc44-4335-a909-7bcc0ef9bfc0" providerId="ADAL" clId="{92F763A2-9C83-4598-AD83-C43573D893A8}" dt="2026-05-21T13:37:48.054" v="490" actId="1076"/>
          <ac:spMkLst>
            <pc:docMk/>
            <pc:sldMk cId="3018013843" sldId="4542"/>
            <ac:spMk id="6" creationId="{0FA57C56-5AB6-90F5-0DA3-C6054473D09D}"/>
          </ac:spMkLst>
        </pc:spChg>
      </pc:sldChg>
    </pc:docChg>
  </pc:docChgLst>
  <pc:docChgLst>
    <pc:chgData name="Kolovich, Lisa" userId="S::lkolovich@imf.org::705d1648-fc44-4335-a909-7bcc0ef9bfc0" providerId="AD" clId="Web-{4F1D6C5F-9133-E3B2-FC12-EA613FB9017C}"/>
    <pc:docChg chg="delSld modSld modSection">
      <pc:chgData name="Kolovich, Lisa" userId="S::lkolovich@imf.org::705d1648-fc44-4335-a909-7bcc0ef9bfc0" providerId="AD" clId="Web-{4F1D6C5F-9133-E3B2-FC12-EA613FB9017C}" dt="2026-05-21T13:24:25.295" v="177" actId="20577"/>
      <pc:docMkLst>
        <pc:docMk/>
      </pc:docMkLst>
      <pc:sldChg chg="modSp">
        <pc:chgData name="Kolovich, Lisa" userId="S::lkolovich@imf.org::705d1648-fc44-4335-a909-7bcc0ef9bfc0" providerId="AD" clId="Web-{4F1D6C5F-9133-E3B2-FC12-EA613FB9017C}" dt="2026-05-21T12:27:55.490" v="10" actId="1076"/>
        <pc:sldMkLst>
          <pc:docMk/>
          <pc:sldMk cId="3124747574" sldId="4315"/>
        </pc:sldMkLst>
        <pc:spChg chg="mod">
          <ac:chgData name="Kolovich, Lisa" userId="S::lkolovich@imf.org::705d1648-fc44-4335-a909-7bcc0ef9bfc0" providerId="AD" clId="Web-{4F1D6C5F-9133-E3B2-FC12-EA613FB9017C}" dt="2026-05-21T12:27:53.255" v="9" actId="1076"/>
          <ac:spMkLst>
            <pc:docMk/>
            <pc:sldMk cId="3124747574" sldId="4315"/>
            <ac:spMk id="11" creationId="{D34C4DD7-CB6E-FD2C-4093-9DA6C7A2EA7E}"/>
          </ac:spMkLst>
        </pc:spChg>
        <pc:picChg chg="mod">
          <ac:chgData name="Kolovich, Lisa" userId="S::lkolovich@imf.org::705d1648-fc44-4335-a909-7bcc0ef9bfc0" providerId="AD" clId="Web-{4F1D6C5F-9133-E3B2-FC12-EA613FB9017C}" dt="2026-05-21T12:27:55.490" v="10" actId="1076"/>
          <ac:picMkLst>
            <pc:docMk/>
            <pc:sldMk cId="3124747574" sldId="4315"/>
            <ac:picMk id="5" creationId="{D6B531FD-E174-F47E-83E6-0F6E787D67EA}"/>
          </ac:picMkLst>
        </pc:picChg>
      </pc:sldChg>
      <pc:sldChg chg="del">
        <pc:chgData name="Kolovich, Lisa" userId="S::lkolovich@imf.org::705d1648-fc44-4335-a909-7bcc0ef9bfc0" providerId="AD" clId="Web-{4F1D6C5F-9133-E3B2-FC12-EA613FB9017C}" dt="2026-05-21T12:38:50.298" v="84"/>
        <pc:sldMkLst>
          <pc:docMk/>
          <pc:sldMk cId="3625245898" sldId="4535"/>
        </pc:sldMkLst>
      </pc:sldChg>
      <pc:sldChg chg="addSp delSp modSp">
        <pc:chgData name="Kolovich, Lisa" userId="S::lkolovich@imf.org::705d1648-fc44-4335-a909-7bcc0ef9bfc0" providerId="AD" clId="Web-{4F1D6C5F-9133-E3B2-FC12-EA613FB9017C}" dt="2026-05-21T13:24:25.295" v="177" actId="20577"/>
        <pc:sldMkLst>
          <pc:docMk/>
          <pc:sldMk cId="3569039601" sldId="4536"/>
        </pc:sldMkLst>
        <pc:spChg chg="mod">
          <ac:chgData name="Kolovich, Lisa" userId="S::lkolovich@imf.org::705d1648-fc44-4335-a909-7bcc0ef9bfc0" providerId="AD" clId="Web-{4F1D6C5F-9133-E3B2-FC12-EA613FB9017C}" dt="2026-05-21T13:24:25.295" v="177" actId="20577"/>
          <ac:spMkLst>
            <pc:docMk/>
            <pc:sldMk cId="3569039601" sldId="4536"/>
            <ac:spMk id="2" creationId="{517E5BD3-F0F8-7680-5CF3-54D0C982A6F9}"/>
          </ac:spMkLst>
        </pc:spChg>
        <pc:graphicFrameChg chg="add mod modGraphic">
          <ac:chgData name="Kolovich, Lisa" userId="S::lkolovich@imf.org::705d1648-fc44-4335-a909-7bcc0ef9bfc0" providerId="AD" clId="Web-{4F1D6C5F-9133-E3B2-FC12-EA613FB9017C}" dt="2026-05-21T12:42:04.975" v="142"/>
          <ac:graphicFrameMkLst>
            <pc:docMk/>
            <pc:sldMk cId="3569039601" sldId="4536"/>
            <ac:graphicFrameMk id="7" creationId="{71DF30F1-4514-D987-EAD0-25B631299B77}"/>
          </ac:graphicFrameMkLst>
        </pc:graphicFrameChg>
        <pc:picChg chg="del">
          <ac:chgData name="Kolovich, Lisa" userId="S::lkolovich@imf.org::705d1648-fc44-4335-a909-7bcc0ef9bfc0" providerId="AD" clId="Web-{4F1D6C5F-9133-E3B2-FC12-EA613FB9017C}" dt="2026-05-21T12:41:21.630" v="95"/>
          <ac:picMkLst>
            <pc:docMk/>
            <pc:sldMk cId="3569039601" sldId="4536"/>
            <ac:picMk id="3" creationId="{0EA53A64-70D8-040A-7E60-1859407BE418}"/>
          </ac:picMkLst>
        </pc:picChg>
      </pc:sldChg>
      <pc:sldChg chg="addSp delSp modSp">
        <pc:chgData name="Kolovich, Lisa" userId="S::lkolovich@imf.org::705d1648-fc44-4335-a909-7bcc0ef9bfc0" providerId="AD" clId="Web-{4F1D6C5F-9133-E3B2-FC12-EA613FB9017C}" dt="2026-05-21T12:37:57.702" v="83" actId="1076"/>
        <pc:sldMkLst>
          <pc:docMk/>
          <pc:sldMk cId="3546555940" sldId="4541"/>
        </pc:sldMkLst>
        <pc:spChg chg="mod">
          <ac:chgData name="Kolovich, Lisa" userId="S::lkolovich@imf.org::705d1648-fc44-4335-a909-7bcc0ef9bfc0" providerId="AD" clId="Web-{4F1D6C5F-9133-E3B2-FC12-EA613FB9017C}" dt="2026-05-21T12:37:01.169" v="62" actId="20577"/>
          <ac:spMkLst>
            <pc:docMk/>
            <pc:sldMk cId="3546555940" sldId="4541"/>
            <ac:spMk id="2" creationId="{D7398C8F-CC31-3365-D3A8-F2EEA1B038A7}"/>
          </ac:spMkLst>
        </pc:spChg>
        <pc:spChg chg="mod">
          <ac:chgData name="Kolovich, Lisa" userId="S::lkolovich@imf.org::705d1648-fc44-4335-a909-7bcc0ef9bfc0" providerId="AD" clId="Web-{4F1D6C5F-9133-E3B2-FC12-EA613FB9017C}" dt="2026-05-21T12:37:53.233" v="82" actId="20577"/>
          <ac:spMkLst>
            <pc:docMk/>
            <pc:sldMk cId="3546555940" sldId="4541"/>
            <ac:spMk id="8" creationId="{E9625EFA-D1F1-5815-6471-14D05BB18639}"/>
          </ac:spMkLst>
        </pc:spChg>
        <pc:graphicFrameChg chg="add del mod modGraphic">
          <ac:chgData name="Kolovich, Lisa" userId="S::lkolovich@imf.org::705d1648-fc44-4335-a909-7bcc0ef9bfc0" providerId="AD" clId="Web-{4F1D6C5F-9133-E3B2-FC12-EA613FB9017C}" dt="2026-05-21T12:35:44.620" v="41"/>
          <ac:graphicFrameMkLst>
            <pc:docMk/>
            <pc:sldMk cId="3546555940" sldId="4541"/>
            <ac:graphicFrameMk id="5" creationId="{B9FDF283-0E78-D8A6-9444-50AFE9E03EE6}"/>
          </ac:graphicFrameMkLst>
        </pc:graphicFrameChg>
        <pc:graphicFrameChg chg="add mod modGraphic">
          <ac:chgData name="Kolovich, Lisa" userId="S::lkolovich@imf.org::705d1648-fc44-4335-a909-7bcc0ef9bfc0" providerId="AD" clId="Web-{4F1D6C5F-9133-E3B2-FC12-EA613FB9017C}" dt="2026-05-21T12:37:57.702" v="83" actId="1076"/>
          <ac:graphicFrameMkLst>
            <pc:docMk/>
            <pc:sldMk cId="3546555940" sldId="4541"/>
            <ac:graphicFrameMk id="7" creationId="{C2D4DC78-279C-12E8-D609-01CE3905E19A}"/>
          </ac:graphicFrameMkLst>
        </pc:graphicFrameChg>
        <pc:picChg chg="del">
          <ac:chgData name="Kolovich, Lisa" userId="S::lkolovich@imf.org::705d1648-fc44-4335-a909-7bcc0ef9bfc0" providerId="AD" clId="Web-{4F1D6C5F-9133-E3B2-FC12-EA613FB9017C}" dt="2026-05-21T12:35:08.400" v="36"/>
          <ac:picMkLst>
            <pc:docMk/>
            <pc:sldMk cId="3546555940" sldId="4541"/>
            <ac:picMk id="4" creationId="{168CD125-93EB-82F3-38EA-126789DD281C}"/>
          </ac:picMkLst>
        </pc:picChg>
      </pc:sldChg>
      <pc:sldChg chg="addSp delSp modSp">
        <pc:chgData name="Kolovich, Lisa" userId="S::lkolovich@imf.org::705d1648-fc44-4335-a909-7bcc0ef9bfc0" providerId="AD" clId="Web-{4F1D6C5F-9133-E3B2-FC12-EA613FB9017C}" dt="2026-05-21T12:40:45.879" v="94" actId="20577"/>
        <pc:sldMkLst>
          <pc:docMk/>
          <pc:sldMk cId="3018013843" sldId="4542"/>
        </pc:sldMkLst>
        <pc:spChg chg="mod">
          <ac:chgData name="Kolovich, Lisa" userId="S::lkolovich@imf.org::705d1648-fc44-4335-a909-7bcc0ef9bfc0" providerId="AD" clId="Web-{4F1D6C5F-9133-E3B2-FC12-EA613FB9017C}" dt="2026-05-21T12:40:26.613" v="91" actId="20577"/>
          <ac:spMkLst>
            <pc:docMk/>
            <pc:sldMk cId="3018013843" sldId="4542"/>
            <ac:spMk id="2" creationId="{06ED9E7E-CA45-94FC-4EBD-AA0A49D8CF53}"/>
          </ac:spMkLst>
        </pc:spChg>
        <pc:spChg chg="mod">
          <ac:chgData name="Kolovich, Lisa" userId="S::lkolovich@imf.org::705d1648-fc44-4335-a909-7bcc0ef9bfc0" providerId="AD" clId="Web-{4F1D6C5F-9133-E3B2-FC12-EA613FB9017C}" dt="2026-05-21T12:40:45.879" v="94" actId="20577"/>
          <ac:spMkLst>
            <pc:docMk/>
            <pc:sldMk cId="3018013843" sldId="4542"/>
            <ac:spMk id="8" creationId="{E2692886-1978-DCD9-6106-B3408FB706F0}"/>
          </ac:spMkLst>
        </pc:spChg>
        <pc:graphicFrameChg chg="mod">
          <ac:chgData name="Kolovich, Lisa" userId="S::lkolovich@imf.org::705d1648-fc44-4335-a909-7bcc0ef9bfc0" providerId="AD" clId="Web-{4F1D6C5F-9133-E3B2-FC12-EA613FB9017C}" dt="2026-05-21T12:40:12.987" v="90" actId="1076"/>
          <ac:graphicFrameMkLst>
            <pc:docMk/>
            <pc:sldMk cId="3018013843" sldId="4542"/>
            <ac:graphicFrameMk id="7" creationId="{5CA3BEF4-9940-7C69-11FF-683322A38A14}"/>
          </ac:graphicFrameMkLst>
        </pc:graphicFrameChg>
        <pc:picChg chg="add mod">
          <ac:chgData name="Kolovich, Lisa" userId="S::lkolovich@imf.org::705d1648-fc44-4335-a909-7bcc0ef9bfc0" providerId="AD" clId="Web-{4F1D6C5F-9133-E3B2-FC12-EA613FB9017C}" dt="2026-05-21T12:40:08.550" v="89" actId="1076"/>
          <ac:picMkLst>
            <pc:docMk/>
            <pc:sldMk cId="3018013843" sldId="4542"/>
            <ac:picMk id="3" creationId="{D2102143-7E0C-F066-15E8-4A9C6986F82B}"/>
          </ac:picMkLst>
        </pc:picChg>
        <pc:picChg chg="del">
          <ac:chgData name="Kolovich, Lisa" userId="S::lkolovich@imf.org::705d1648-fc44-4335-a909-7bcc0ef9bfc0" providerId="AD" clId="Web-{4F1D6C5F-9133-E3B2-FC12-EA613FB9017C}" dt="2026-05-21T12:39:54.752" v="86"/>
          <ac:picMkLst>
            <pc:docMk/>
            <pc:sldMk cId="3018013843" sldId="4542"/>
            <ac:picMk id="4" creationId="{28ACF6B3-465F-B359-789F-C8AF581C5B03}"/>
          </ac:picMkLst>
        </pc:picChg>
      </pc:sldChg>
      <pc:sldChg chg="del">
        <pc:chgData name="Kolovich, Lisa" userId="S::lkolovich@imf.org::705d1648-fc44-4335-a909-7bcc0ef9bfc0" providerId="AD" clId="Web-{4F1D6C5F-9133-E3B2-FC12-EA613FB9017C}" dt="2026-05-21T12:39:12.298" v="85"/>
        <pc:sldMkLst>
          <pc:docMk/>
          <pc:sldMk cId="634737885" sldId="455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intlmonetaryfund.sharepoint.com/teams/SPRAIIG/Shared%20Documents/General/Workshops/METAC/METAC%202026/HDR25_Composite_indices_complete_time_seri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586701862067519E-2"/>
          <c:y val="3.574057822924806E-2"/>
          <c:w val="0.94343453345247474"/>
          <c:h val="0.66744966039550402"/>
        </c:manualLayout>
      </c:layout>
      <c:lineChart>
        <c:grouping val="standard"/>
        <c:varyColors val="0"/>
        <c:ser>
          <c:idx val="0"/>
          <c:order val="0"/>
          <c:tx>
            <c:strRef>
              <c:f>Sheet1!$A$2</c:f>
              <c:strCache>
                <c:ptCount val="1"/>
                <c:pt idx="0">
                  <c:v>Arab States</c:v>
                </c:pt>
              </c:strCache>
            </c:strRef>
          </c:tx>
          <c:spPr>
            <a:ln w="19050" cap="rnd">
              <a:solidFill>
                <a:srgbClr val="C00000"/>
              </a:solidFill>
              <a:prstDash val="solid"/>
              <a:round/>
            </a:ln>
            <a:effectLst/>
          </c:spPr>
          <c:marker>
            <c:symbol val="none"/>
          </c:marker>
          <c:cat>
            <c:numRef>
              <c:f>Sheet1!$B$1:$Y$1</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Sheet1!$B$2:$Y$2</c:f>
              <c:numCache>
                <c:formatCode>General</c:formatCode>
                <c:ptCount val="24"/>
                <c:pt idx="0">
                  <c:v>0.66100000000000003</c:v>
                </c:pt>
                <c:pt idx="1">
                  <c:v>0.65500000000000003</c:v>
                </c:pt>
                <c:pt idx="2">
                  <c:v>0.64300000000000002</c:v>
                </c:pt>
                <c:pt idx="3">
                  <c:v>0.63900000000000001</c:v>
                </c:pt>
                <c:pt idx="4">
                  <c:v>0.63</c:v>
                </c:pt>
                <c:pt idx="5">
                  <c:v>0.626</c:v>
                </c:pt>
                <c:pt idx="6">
                  <c:v>0.61599999999999999</c:v>
                </c:pt>
                <c:pt idx="7">
                  <c:v>0.60499999999999998</c:v>
                </c:pt>
                <c:pt idx="8">
                  <c:v>0.60399999999999998</c:v>
                </c:pt>
                <c:pt idx="9">
                  <c:v>0.59899999999999998</c:v>
                </c:pt>
                <c:pt idx="10">
                  <c:v>0.58799999999999997</c:v>
                </c:pt>
                <c:pt idx="11">
                  <c:v>0.58199999999999996</c:v>
                </c:pt>
                <c:pt idx="12">
                  <c:v>0.56399999999999995</c:v>
                </c:pt>
                <c:pt idx="13">
                  <c:v>0.55900000000000005</c:v>
                </c:pt>
                <c:pt idx="14">
                  <c:v>0.55600000000000005</c:v>
                </c:pt>
                <c:pt idx="15">
                  <c:v>0.54800000000000004</c:v>
                </c:pt>
                <c:pt idx="16">
                  <c:v>0.53700000000000003</c:v>
                </c:pt>
                <c:pt idx="17">
                  <c:v>0.53700000000000003</c:v>
                </c:pt>
                <c:pt idx="18">
                  <c:v>0.53900000000000003</c:v>
                </c:pt>
                <c:pt idx="19">
                  <c:v>0.54100000000000004</c:v>
                </c:pt>
                <c:pt idx="20">
                  <c:v>0.53700000000000003</c:v>
                </c:pt>
                <c:pt idx="21">
                  <c:v>0.53700000000000003</c:v>
                </c:pt>
                <c:pt idx="22">
                  <c:v>0.53700000000000003</c:v>
                </c:pt>
                <c:pt idx="23">
                  <c:v>0.53900000000000003</c:v>
                </c:pt>
              </c:numCache>
            </c:numRef>
          </c:val>
          <c:smooth val="0"/>
          <c:extLst>
            <c:ext xmlns:c16="http://schemas.microsoft.com/office/drawing/2014/chart" uri="{C3380CC4-5D6E-409C-BE32-E72D297353CC}">
              <c16:uniqueId val="{00000000-9F22-47DF-8739-F0B9E3B31FD7}"/>
            </c:ext>
          </c:extLst>
        </c:ser>
        <c:ser>
          <c:idx val="1"/>
          <c:order val="1"/>
          <c:tx>
            <c:strRef>
              <c:f>Sheet1!$A$3</c:f>
              <c:strCache>
                <c:ptCount val="1"/>
                <c:pt idx="0">
                  <c:v>East Asia and the Pacific</c:v>
                </c:pt>
              </c:strCache>
            </c:strRef>
          </c:tx>
          <c:spPr>
            <a:ln w="19050" cap="rnd">
              <a:solidFill>
                <a:schemeClr val="accent2"/>
              </a:solidFill>
              <a:round/>
            </a:ln>
            <a:effectLst/>
          </c:spPr>
          <c:marker>
            <c:symbol val="none"/>
          </c:marker>
          <c:cat>
            <c:numRef>
              <c:f>Sheet1!$B$1:$Y$1</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Sheet1!$B$3:$Y$3</c:f>
              <c:numCache>
                <c:formatCode>General</c:formatCode>
                <c:ptCount val="24"/>
                <c:pt idx="0">
                  <c:v>0.38700000000000001</c:v>
                </c:pt>
                <c:pt idx="1">
                  <c:v>0.38100000000000001</c:v>
                </c:pt>
                <c:pt idx="2">
                  <c:v>0.375</c:v>
                </c:pt>
                <c:pt idx="3">
                  <c:v>0.36899999999999999</c:v>
                </c:pt>
                <c:pt idx="4">
                  <c:v>0.36799999999999999</c:v>
                </c:pt>
                <c:pt idx="5">
                  <c:v>0.36599999999999999</c:v>
                </c:pt>
                <c:pt idx="6">
                  <c:v>0.36599999999999999</c:v>
                </c:pt>
                <c:pt idx="7">
                  <c:v>0.36499999999999999</c:v>
                </c:pt>
                <c:pt idx="8">
                  <c:v>0.36699999999999999</c:v>
                </c:pt>
                <c:pt idx="9">
                  <c:v>0.36399999999999999</c:v>
                </c:pt>
                <c:pt idx="10">
                  <c:v>0.36599999999999999</c:v>
                </c:pt>
                <c:pt idx="11">
                  <c:v>0.377</c:v>
                </c:pt>
                <c:pt idx="12">
                  <c:v>0.37</c:v>
                </c:pt>
                <c:pt idx="13">
                  <c:v>0.36099999999999999</c:v>
                </c:pt>
                <c:pt idx="14">
                  <c:v>0.35699999999999998</c:v>
                </c:pt>
                <c:pt idx="15">
                  <c:v>0.34899999999999998</c:v>
                </c:pt>
                <c:pt idx="16">
                  <c:v>0.34300000000000003</c:v>
                </c:pt>
                <c:pt idx="17">
                  <c:v>0.33500000000000002</c:v>
                </c:pt>
                <c:pt idx="18">
                  <c:v>0.32400000000000001</c:v>
                </c:pt>
                <c:pt idx="19">
                  <c:v>0.318</c:v>
                </c:pt>
                <c:pt idx="20">
                  <c:v>0.316</c:v>
                </c:pt>
                <c:pt idx="21">
                  <c:v>0.316</c:v>
                </c:pt>
                <c:pt idx="22">
                  <c:v>0.316</c:v>
                </c:pt>
                <c:pt idx="23">
                  <c:v>0.315</c:v>
                </c:pt>
              </c:numCache>
            </c:numRef>
          </c:val>
          <c:smooth val="0"/>
          <c:extLst>
            <c:ext xmlns:c16="http://schemas.microsoft.com/office/drawing/2014/chart" uri="{C3380CC4-5D6E-409C-BE32-E72D297353CC}">
              <c16:uniqueId val="{00000001-9F22-47DF-8739-F0B9E3B31FD7}"/>
            </c:ext>
          </c:extLst>
        </c:ser>
        <c:ser>
          <c:idx val="2"/>
          <c:order val="2"/>
          <c:tx>
            <c:strRef>
              <c:f>Sheet1!$A$4</c:f>
              <c:strCache>
                <c:ptCount val="1"/>
                <c:pt idx="0">
                  <c:v>Europe and Central Asia</c:v>
                </c:pt>
              </c:strCache>
            </c:strRef>
          </c:tx>
          <c:spPr>
            <a:ln w="19050" cap="rnd">
              <a:solidFill>
                <a:schemeClr val="accent3"/>
              </a:solidFill>
              <a:round/>
            </a:ln>
            <a:effectLst/>
          </c:spPr>
          <c:marker>
            <c:symbol val="none"/>
          </c:marker>
          <c:cat>
            <c:numRef>
              <c:f>Sheet1!$B$1:$Y$1</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Sheet1!$B$4:$Y$4</c:f>
              <c:numCache>
                <c:formatCode>General</c:formatCode>
                <c:ptCount val="24"/>
                <c:pt idx="0">
                  <c:v>0.40500000000000003</c:v>
                </c:pt>
                <c:pt idx="1">
                  <c:v>0.38700000000000001</c:v>
                </c:pt>
                <c:pt idx="2">
                  <c:v>0.372</c:v>
                </c:pt>
                <c:pt idx="3">
                  <c:v>0.36799999999999999</c:v>
                </c:pt>
                <c:pt idx="4">
                  <c:v>0.35099999999999998</c:v>
                </c:pt>
                <c:pt idx="5">
                  <c:v>0.34799999999999998</c:v>
                </c:pt>
                <c:pt idx="6">
                  <c:v>0.33900000000000002</c:v>
                </c:pt>
                <c:pt idx="7">
                  <c:v>0.32100000000000001</c:v>
                </c:pt>
                <c:pt idx="8">
                  <c:v>0.315</c:v>
                </c:pt>
                <c:pt idx="9">
                  <c:v>0.309</c:v>
                </c:pt>
                <c:pt idx="10">
                  <c:v>0.307</c:v>
                </c:pt>
                <c:pt idx="11">
                  <c:v>0.30099999999999999</c:v>
                </c:pt>
                <c:pt idx="12">
                  <c:v>0.28999999999999998</c:v>
                </c:pt>
                <c:pt idx="13">
                  <c:v>0.28399999999999997</c:v>
                </c:pt>
                <c:pt idx="14">
                  <c:v>0.27600000000000002</c:v>
                </c:pt>
                <c:pt idx="15">
                  <c:v>0.27</c:v>
                </c:pt>
                <c:pt idx="16">
                  <c:v>0.26</c:v>
                </c:pt>
                <c:pt idx="17">
                  <c:v>0.246</c:v>
                </c:pt>
                <c:pt idx="18">
                  <c:v>0.24199999999999999</c:v>
                </c:pt>
                <c:pt idx="19">
                  <c:v>0.23200000000000001</c:v>
                </c:pt>
                <c:pt idx="20">
                  <c:v>0.23400000000000001</c:v>
                </c:pt>
                <c:pt idx="21">
                  <c:v>0.23</c:v>
                </c:pt>
                <c:pt idx="22">
                  <c:v>0.22600000000000001</c:v>
                </c:pt>
                <c:pt idx="23">
                  <c:v>0.22600000000000001</c:v>
                </c:pt>
              </c:numCache>
            </c:numRef>
          </c:val>
          <c:smooth val="0"/>
          <c:extLst>
            <c:ext xmlns:c16="http://schemas.microsoft.com/office/drawing/2014/chart" uri="{C3380CC4-5D6E-409C-BE32-E72D297353CC}">
              <c16:uniqueId val="{00000002-9F22-47DF-8739-F0B9E3B31FD7}"/>
            </c:ext>
          </c:extLst>
        </c:ser>
        <c:ser>
          <c:idx val="3"/>
          <c:order val="3"/>
          <c:tx>
            <c:strRef>
              <c:f>Sheet1!$A$5</c:f>
              <c:strCache>
                <c:ptCount val="1"/>
                <c:pt idx="0">
                  <c:v>Latin America and the Caribbean</c:v>
                </c:pt>
              </c:strCache>
            </c:strRef>
          </c:tx>
          <c:spPr>
            <a:ln w="19050" cap="rnd">
              <a:solidFill>
                <a:schemeClr val="accent4"/>
              </a:solidFill>
              <a:round/>
            </a:ln>
            <a:effectLst/>
          </c:spPr>
          <c:marker>
            <c:symbol val="none"/>
          </c:marker>
          <c:cat>
            <c:numRef>
              <c:f>Sheet1!$B$1:$Y$1</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Sheet1!$B$5:$Y$5</c:f>
              <c:numCache>
                <c:formatCode>General</c:formatCode>
                <c:ptCount val="24"/>
                <c:pt idx="0">
                  <c:v>0.48099999999999998</c:v>
                </c:pt>
                <c:pt idx="1">
                  <c:v>0.47799999999999998</c:v>
                </c:pt>
                <c:pt idx="2">
                  <c:v>0.47</c:v>
                </c:pt>
                <c:pt idx="3">
                  <c:v>0.45800000000000002</c:v>
                </c:pt>
                <c:pt idx="4">
                  <c:v>0.45500000000000002</c:v>
                </c:pt>
                <c:pt idx="5">
                  <c:v>0.44800000000000001</c:v>
                </c:pt>
                <c:pt idx="6">
                  <c:v>0.44600000000000001</c:v>
                </c:pt>
                <c:pt idx="7">
                  <c:v>0.44400000000000001</c:v>
                </c:pt>
                <c:pt idx="8">
                  <c:v>0.44</c:v>
                </c:pt>
                <c:pt idx="9">
                  <c:v>0.434</c:v>
                </c:pt>
                <c:pt idx="10">
                  <c:v>0.43099999999999999</c:v>
                </c:pt>
                <c:pt idx="11">
                  <c:v>0.42899999999999999</c:v>
                </c:pt>
                <c:pt idx="12">
                  <c:v>0.42199999999999999</c:v>
                </c:pt>
                <c:pt idx="13">
                  <c:v>0.41899999999999998</c:v>
                </c:pt>
                <c:pt idx="14">
                  <c:v>0.41299999999999998</c:v>
                </c:pt>
                <c:pt idx="15">
                  <c:v>0.40799999999999997</c:v>
                </c:pt>
                <c:pt idx="16">
                  <c:v>0.40400000000000003</c:v>
                </c:pt>
                <c:pt idx="17">
                  <c:v>0.4</c:v>
                </c:pt>
                <c:pt idx="18">
                  <c:v>0.39300000000000002</c:v>
                </c:pt>
                <c:pt idx="19">
                  <c:v>0.39</c:v>
                </c:pt>
                <c:pt idx="20">
                  <c:v>0.39500000000000002</c:v>
                </c:pt>
                <c:pt idx="21">
                  <c:v>0.39</c:v>
                </c:pt>
                <c:pt idx="22">
                  <c:v>0.38500000000000001</c:v>
                </c:pt>
                <c:pt idx="23">
                  <c:v>0.38400000000000001</c:v>
                </c:pt>
              </c:numCache>
            </c:numRef>
          </c:val>
          <c:smooth val="0"/>
          <c:extLst>
            <c:ext xmlns:c16="http://schemas.microsoft.com/office/drawing/2014/chart" uri="{C3380CC4-5D6E-409C-BE32-E72D297353CC}">
              <c16:uniqueId val="{00000003-9F22-47DF-8739-F0B9E3B31FD7}"/>
            </c:ext>
          </c:extLst>
        </c:ser>
        <c:ser>
          <c:idx val="4"/>
          <c:order val="4"/>
          <c:tx>
            <c:strRef>
              <c:f>Sheet1!$A$6</c:f>
              <c:strCache>
                <c:ptCount val="1"/>
                <c:pt idx="0">
                  <c:v>South Asia</c:v>
                </c:pt>
              </c:strCache>
            </c:strRef>
          </c:tx>
          <c:spPr>
            <a:ln w="19050" cap="rnd">
              <a:solidFill>
                <a:schemeClr val="accent5"/>
              </a:solidFill>
              <a:round/>
            </a:ln>
            <a:effectLst/>
          </c:spPr>
          <c:marker>
            <c:symbol val="none"/>
          </c:marker>
          <c:cat>
            <c:numRef>
              <c:f>Sheet1!$B$1:$Y$1</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Sheet1!$B$6:$Y$6</c:f>
              <c:numCache>
                <c:formatCode>General</c:formatCode>
                <c:ptCount val="24"/>
                <c:pt idx="0">
                  <c:v>0.67800000000000005</c:v>
                </c:pt>
                <c:pt idx="1">
                  <c:v>0.66300000000000003</c:v>
                </c:pt>
                <c:pt idx="2">
                  <c:v>0.66500000000000004</c:v>
                </c:pt>
                <c:pt idx="3">
                  <c:v>0.64400000000000002</c:v>
                </c:pt>
                <c:pt idx="4">
                  <c:v>0.63800000000000001</c:v>
                </c:pt>
                <c:pt idx="5">
                  <c:v>0.61</c:v>
                </c:pt>
                <c:pt idx="6">
                  <c:v>0.59899999999999998</c:v>
                </c:pt>
                <c:pt idx="7">
                  <c:v>0.59199999999999997</c:v>
                </c:pt>
                <c:pt idx="8">
                  <c:v>0.57999999999999996</c:v>
                </c:pt>
                <c:pt idx="9">
                  <c:v>0.56899999999999995</c:v>
                </c:pt>
                <c:pt idx="10">
                  <c:v>0.55900000000000005</c:v>
                </c:pt>
                <c:pt idx="11">
                  <c:v>0.55500000000000005</c:v>
                </c:pt>
                <c:pt idx="12">
                  <c:v>0.55000000000000004</c:v>
                </c:pt>
                <c:pt idx="13">
                  <c:v>0.54600000000000004</c:v>
                </c:pt>
                <c:pt idx="14">
                  <c:v>0.53600000000000003</c:v>
                </c:pt>
                <c:pt idx="15">
                  <c:v>0.52100000000000002</c:v>
                </c:pt>
                <c:pt idx="16">
                  <c:v>0.51400000000000001</c:v>
                </c:pt>
                <c:pt idx="17">
                  <c:v>0.51200000000000001</c:v>
                </c:pt>
                <c:pt idx="18">
                  <c:v>0.51300000000000001</c:v>
                </c:pt>
                <c:pt idx="19">
                  <c:v>0.5</c:v>
                </c:pt>
                <c:pt idx="20">
                  <c:v>0.48299999999999998</c:v>
                </c:pt>
                <c:pt idx="21">
                  <c:v>0.47899999999999998</c:v>
                </c:pt>
                <c:pt idx="22">
                  <c:v>0.47399999999999998</c:v>
                </c:pt>
                <c:pt idx="23">
                  <c:v>0.45800000000000002</c:v>
                </c:pt>
              </c:numCache>
            </c:numRef>
          </c:val>
          <c:smooth val="0"/>
          <c:extLst>
            <c:ext xmlns:c16="http://schemas.microsoft.com/office/drawing/2014/chart" uri="{C3380CC4-5D6E-409C-BE32-E72D297353CC}">
              <c16:uniqueId val="{00000004-9F22-47DF-8739-F0B9E3B31FD7}"/>
            </c:ext>
          </c:extLst>
        </c:ser>
        <c:ser>
          <c:idx val="5"/>
          <c:order val="5"/>
          <c:tx>
            <c:strRef>
              <c:f>Sheet1!$A$7</c:f>
              <c:strCache>
                <c:ptCount val="1"/>
                <c:pt idx="0">
                  <c:v>Sub-Saharan Africa</c:v>
                </c:pt>
              </c:strCache>
            </c:strRef>
          </c:tx>
          <c:spPr>
            <a:ln w="38100" cap="rnd">
              <a:solidFill>
                <a:srgbClr val="4EA72E"/>
              </a:solidFill>
              <a:prstDash val="solid"/>
              <a:round/>
            </a:ln>
            <a:effectLst/>
          </c:spPr>
          <c:marker>
            <c:symbol val="square"/>
            <c:size val="5"/>
            <c:spPr>
              <a:solidFill>
                <a:schemeClr val="accent6"/>
              </a:solidFill>
              <a:ln w="9525">
                <a:solidFill>
                  <a:schemeClr val="accent6"/>
                </a:solidFill>
              </a:ln>
              <a:effectLst/>
            </c:spPr>
          </c:marker>
          <c:cat>
            <c:numRef>
              <c:f>Sheet1!$B$1:$Y$1</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Sheet1!$B$7:$Y$7</c:f>
              <c:numCache>
                <c:formatCode>General</c:formatCode>
                <c:ptCount val="24"/>
                <c:pt idx="0">
                  <c:v>0.64800000000000002</c:v>
                </c:pt>
                <c:pt idx="1">
                  <c:v>0.64500000000000002</c:v>
                </c:pt>
                <c:pt idx="2">
                  <c:v>0.64100000000000001</c:v>
                </c:pt>
                <c:pt idx="3">
                  <c:v>0.63300000000000001</c:v>
                </c:pt>
                <c:pt idx="4">
                  <c:v>0.627</c:v>
                </c:pt>
                <c:pt idx="5">
                  <c:v>0.61899999999999999</c:v>
                </c:pt>
                <c:pt idx="6">
                  <c:v>0.61499999999999999</c:v>
                </c:pt>
                <c:pt idx="7">
                  <c:v>0.61</c:v>
                </c:pt>
                <c:pt idx="8">
                  <c:v>0.60799999999999998</c:v>
                </c:pt>
                <c:pt idx="9">
                  <c:v>0.60499999999999998</c:v>
                </c:pt>
                <c:pt idx="10">
                  <c:v>0.60299999999999998</c:v>
                </c:pt>
                <c:pt idx="11">
                  <c:v>0.59899999999999998</c:v>
                </c:pt>
                <c:pt idx="12">
                  <c:v>0.59699999999999998</c:v>
                </c:pt>
                <c:pt idx="13">
                  <c:v>0.59399999999999997</c:v>
                </c:pt>
                <c:pt idx="14">
                  <c:v>0.59099999999999997</c:v>
                </c:pt>
                <c:pt idx="15">
                  <c:v>0.58499999999999996</c:v>
                </c:pt>
                <c:pt idx="16">
                  <c:v>0.58299999999999996</c:v>
                </c:pt>
                <c:pt idx="17">
                  <c:v>0.57899999999999996</c:v>
                </c:pt>
                <c:pt idx="18">
                  <c:v>0.57699999999999996</c:v>
                </c:pt>
                <c:pt idx="19">
                  <c:v>0.57499999999999996</c:v>
                </c:pt>
                <c:pt idx="20">
                  <c:v>0.56799999999999995</c:v>
                </c:pt>
                <c:pt idx="21">
                  <c:v>0.56299999999999994</c:v>
                </c:pt>
                <c:pt idx="22">
                  <c:v>0.56100000000000005</c:v>
                </c:pt>
                <c:pt idx="23">
                  <c:v>0.55800000000000005</c:v>
                </c:pt>
              </c:numCache>
            </c:numRef>
          </c:val>
          <c:smooth val="0"/>
          <c:extLst>
            <c:ext xmlns:c16="http://schemas.microsoft.com/office/drawing/2014/chart" uri="{C3380CC4-5D6E-409C-BE32-E72D297353CC}">
              <c16:uniqueId val="{00000005-9F22-47DF-8739-F0B9E3B31FD7}"/>
            </c:ext>
          </c:extLst>
        </c:ser>
        <c:dLbls>
          <c:showLegendKey val="0"/>
          <c:showVal val="0"/>
          <c:showCatName val="0"/>
          <c:showSerName val="0"/>
          <c:showPercent val="0"/>
          <c:showBubbleSize val="0"/>
        </c:dLbls>
        <c:smooth val="0"/>
        <c:axId val="1466715951"/>
        <c:axId val="1466709231"/>
      </c:lineChart>
      <c:catAx>
        <c:axId val="1466715951"/>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466709231"/>
        <c:crosses val="autoZero"/>
        <c:auto val="1"/>
        <c:lblAlgn val="ctr"/>
        <c:lblOffset val="100"/>
        <c:tickLblSkip val="2"/>
        <c:noMultiLvlLbl val="0"/>
      </c:catAx>
      <c:valAx>
        <c:axId val="1466709231"/>
        <c:scaling>
          <c:orientation val="minMax"/>
          <c:max val="0.70000000000000007"/>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466715951"/>
        <c:crosses val="autoZero"/>
        <c:crossBetween val="between"/>
      </c:valAx>
      <c:spPr>
        <a:noFill/>
        <a:ln>
          <a:noFill/>
        </a:ln>
        <a:effectLst/>
      </c:spPr>
    </c:plotArea>
    <c:legend>
      <c:legendPos val="b"/>
      <c:layout>
        <c:manualLayout>
          <c:xMode val="edge"/>
          <c:yMode val="edge"/>
          <c:x val="3.5467957809621621E-2"/>
          <c:y val="0.80695269579852136"/>
          <c:w val="0.96453204219037836"/>
          <c:h val="0.1526431447977399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1B3_138B3AE3.xml><?xml version="1.0" encoding="utf-8"?>
<p188:cmLst xmlns:a="http://schemas.openxmlformats.org/drawingml/2006/main" xmlns:r="http://schemas.openxmlformats.org/officeDocument/2006/relationships" xmlns:p188="http://schemas.microsoft.com/office/powerpoint/2018/8/main">
  <p188:cm id="{C5F34525-03BD-46DE-B2CD-31E08616BEE4}" authorId="{0D8F83E4-EF17-15AA-7DA0-1A43993D769E}" created="2026-04-16T14:34:43.802" startDate="2026-04-16T14:34:43.802" dueDate="2026-04-16T14:34:43.802" assignedTo="{5854C73E-3583-11C1-CE13-22776D3A641A}" title="@Kolovich, Lisa there should be here other styled facts and trends beyond gender">
    <pc:sldMkLst xmlns:pc="http://schemas.microsoft.com/office/powerpoint/2013/main/command">
      <pc:docMk/>
      <pc:sldMk cId="327891683" sldId="4531"/>
    </pc:sldMkLst>
    <p188:txBody>
      <a:bodyPr/>
      <a:lstStyle/>
      <a:p>
        <a:r>
          <a:rPr lang="en-US"/>
          <a:t>[@Kolovich, Lisa] in the introduction of this section there should be other stylized facts and trends beyond gender</a:t>
        </a:r>
      </a:p>
    </p188:txBody>
    <p188:extLst>
      <p:ext xmlns:p="http://schemas.openxmlformats.org/presentationml/2006/main" uri="{5BB2D875-25FF-4072-B9AC-8F64D62656EB}">
        <p228:taskDetails xmlns:p228="http://schemas.microsoft.com/office/powerpoint/2022/08/main">
          <p228:history>
            <p228:event time="2026-04-16T14:34:43.802" id="{3D0D7FEC-4A3C-43A1-AE82-AFDE59B7563E}">
              <p228:atrbtn authorId="{0D8F83E4-EF17-15AA-7DA0-1A43993D769E}"/>
              <p228:anchr>
                <p228:comment id="{C5F34525-03BD-46DE-B2CD-31E08616BEE4}"/>
              </p228:anchr>
              <p228:add/>
            </p228:event>
            <p228:event time="2026-04-16T14:34:43.802" id="{7B2D800A-1633-40BA-A952-A0A27B2025AC}">
              <p228:atrbtn authorId="{0D8F83E4-EF17-15AA-7DA0-1A43993D769E}"/>
              <p228:anchr>
                <p228:comment id="{C5F34525-03BD-46DE-B2CD-31E08616BEE4}"/>
              </p228:anchr>
              <p228:asgn authorId="{5854C73E-3583-11C1-CE13-22776D3A641A}"/>
            </p228:event>
            <p228:event time="2026-04-16T14:34:43.802" id="{E2C1F5D0-F820-4B5F-A407-13A82A626230}">
              <p228:atrbtn authorId="{0D8F83E4-EF17-15AA-7DA0-1A43993D769E}"/>
              <p228:anchr>
                <p228:comment id="{C5F34525-03BD-46DE-B2CD-31E08616BEE4}"/>
              </p228:anchr>
              <p228:title val="@Kolovich, Lisa there should be here other styled facts and trends beyond gender"/>
            </p228:event>
            <p228:event time="2026-04-16T14:34:43.802" id="{7D362047-F092-4976-A767-24C516C9FD22}">
              <p228:atrbtn authorId="{0D8F83E4-EF17-15AA-7DA0-1A43993D769E}"/>
              <p228:anchr>
                <p228:comment id="{C5F34525-03BD-46DE-B2CD-31E08616BEE4}"/>
              </p228:anchr>
              <p228:date stDt="2026-04-16T14:34:43.802" endDt="2026-04-16T14:34:43.802"/>
            </p228:event>
          </p228:history>
        </p228:taskDetails>
      </p:ext>
    </p188:extLst>
  </p188:cm>
</p188:cmLst>
</file>

<file path=ppt/comments/modernComment_11B4_AC83269A.xml><?xml version="1.0" encoding="utf-8"?>
<p188:cmLst xmlns:a="http://schemas.openxmlformats.org/drawingml/2006/main" xmlns:r="http://schemas.openxmlformats.org/officeDocument/2006/relationships" xmlns:p188="http://schemas.microsoft.com/office/powerpoint/2018/8/main">
  <p188:cm id="{A672CC4E-2076-4995-8414-A581F41EA2EC}" authorId="{0D8F83E4-EF17-15AA-7DA0-1A43993D769E}" status="resolved" created="2026-04-16T14:33:08.674" startDate="2026-04-16T14:35:39.608" dueDate="2026-04-16T14:35:39.608" assignedTo="{5854C73E-3583-11C1-CE13-22776D3A641A}" complete="100000" title="It is incomplete if we think of inequality in a broader term. @Kolovich, Lisa ">
    <pc:sldMkLst xmlns:pc="http://schemas.microsoft.com/office/powerpoint/2013/main/command">
      <pc:docMk/>
      <pc:sldMk cId="2894276250" sldId="4532"/>
    </pc:sldMkLst>
    <p188:replyLst>
      <p188:reply id="{B65C124A-20F3-4BAE-A312-E9030C64E534}" authorId="{0D8F83E4-EF17-15AA-7DA0-1A43993D769E}" created="2026-04-16T14:35:39.608">
        <p188:txBody>
          <a:bodyPr/>
          <a:lstStyle/>
          <a:p>
            <a:r>
              <a:rPr lang="en-US"/>
              <a:t>It is incomplete if we think of inequality in a broader term. And it now looks a bit confusing. [@Kolovich, Lisa] </a:t>
            </a:r>
          </a:p>
        </p188:txBody>
      </p188:reply>
      <p188:reply id="{628AD29A-4444-450F-BC58-CC763099DE05}" authorId="{0D8F83E4-EF17-15AA-7DA0-1A43993D769E}" created="2026-04-16T14:41:36.441">
        <p188:txBody>
          <a:bodyPr/>
          <a:lstStyle/>
          <a:p>
            <a:r>
              <a:rPr lang="en-US"/>
              <a:t>Also, we should be careful with the  “structural gaps” expression. It does not carry the strong  “distributional“ meaning we want to imprint.</a:t>
            </a:r>
          </a:p>
        </p188:txBody>
      </p188:reply>
      <p188:reply id="{97B56BF2-F5D6-41EA-8F05-126248842D91}" authorId="{2708D3D2-1E49-BB83-2378-9650164C949B}" created="2026-04-16T15:02:52.768">
        <p188:txBody>
          <a:bodyPr/>
          <a:lstStyle/>
          <a:p>
            <a:r>
              <a:rPr lang="en-US"/>
              <a:t>I’ll put it back as the gender focus 
</a:t>
            </a:r>
          </a:p>
        </p188:txBody>
      </p188:reply>
    </p188:replyLst>
    <p188:txBody>
      <a:bodyPr/>
      <a:lstStyle/>
      <a:p>
        <a:r>
          <a:rPr lang="en-US"/>
          <a:t>I think this slide should be deleted. </a:t>
        </a:r>
      </a:p>
    </p188:txBody>
    <p188:extLst>
      <p:ext xmlns:p="http://schemas.openxmlformats.org/presentationml/2006/main" uri="{5BB2D875-25FF-4072-B9AC-8F64D62656EB}">
        <p228:taskDetails xmlns:p228="http://schemas.microsoft.com/office/powerpoint/2022/08/main">
          <p228:history>
            <p228:event time="2026-04-16T14:35:39.609" id="{14F077DA-9F75-496C-A837-831514202BCE}">
              <p228:atrbtn authorId="{0D8F83E4-EF17-15AA-7DA0-1A43993D769E}"/>
              <p228:anchr>
                <p228:comment id="{B65C124A-20F3-4BAE-A312-E9030C64E534}"/>
              </p228:anchr>
              <p228:add/>
            </p228:event>
            <p228:event time="2026-04-16T14:35:39.609" id="{DF8B532D-12A9-48B3-8D2B-E7C82E7681C1}">
              <p228:atrbtn authorId="{0D8F83E4-EF17-15AA-7DA0-1A43993D769E}"/>
              <p228:anchr>
                <p228:comment id="{B65C124A-20F3-4BAE-A312-E9030C64E534}"/>
              </p228:anchr>
              <p228:asgn authorId="{5854C73E-3583-11C1-CE13-22776D3A641A}"/>
            </p228:event>
            <p228:event time="2026-04-16T14:35:39.609" id="{82A3CEDF-08DB-43DB-9FCE-9E7DCA7B9F57}">
              <p228:atrbtn authorId="{0D8F83E4-EF17-15AA-7DA0-1A43993D769E}"/>
              <p228:anchr>
                <p228:comment id="{B65C124A-20F3-4BAE-A312-E9030C64E534}"/>
              </p228:anchr>
              <p228:date stDt="2026-04-16T14:35:39.608" endDt="2026-04-16T14:35:39.608"/>
            </p228:event>
            <p228:event time="2026-04-16T14:35:39.609" id="{10BAD8BC-A1F0-4051-954D-0B6CD97C87F1}">
              <p228:atrbtn authorId="{0D8F83E4-EF17-15AA-7DA0-1A43993D769E}"/>
              <p228:anchr>
                <p228:comment id="{B65C124A-20F3-4BAE-A312-E9030C64E534}"/>
              </p228:anchr>
              <p228:title val="It is incomplete if we think of inequality in a broader term. @Kolovich, Lisa "/>
            </p228:event>
            <p228:event time="2026-04-16T16:06:47.646" id="{687EA632-30F0-4D29-AAF6-AACF6CE67CE6}">
              <p228:atrbtn authorId="{2708D3D2-1E49-BB83-2378-9650164C949B}"/>
              <p228:anchr>
                <p228:comment id="{00000000-0000-0000-0000-000000000000}"/>
              </p228:anchr>
              <p228:pcntCmplt val="100000"/>
            </p228:event>
          </p228:history>
        </p228:taskDetails>
      </p:ext>
    </p188:extLst>
  </p188:cm>
</p188:cmLst>
</file>

<file path=ppt/comments/modernComment_11C0_934ADA6F.xml><?xml version="1.0" encoding="utf-8"?>
<p188:cmLst xmlns:a="http://schemas.openxmlformats.org/drawingml/2006/main" xmlns:r="http://schemas.openxmlformats.org/officeDocument/2006/relationships" xmlns:p188="http://schemas.microsoft.com/office/powerpoint/2018/8/main">
  <p188:cm id="{DE0B7D0B-B4AA-4BFB-B89C-432B1B2956F7}" authorId="{0D8F83E4-EF17-15AA-7DA0-1A43993D769E}" created="2026-04-16T14:22:15.689" startDate="2026-04-16T14:22:15.690" dueDate="2026-04-16T14:22:15.690" assignedTo="{5854C73E-3583-11C1-CE13-22776D3A641A}" title="@Kolovich, Lisa changed this to align better with the title of the course">
    <ac:deMkLst xmlns:ac="http://schemas.microsoft.com/office/drawing/2013/main/command">
      <pc:docMk xmlns:pc="http://schemas.microsoft.com/office/powerpoint/2013/main/command"/>
      <pc:sldMk xmlns:pc="http://schemas.microsoft.com/office/powerpoint/2013/main/command" cId="2471156335" sldId="4544"/>
      <ac:spMk id="3" creationId="{74AF3C60-F032-B367-DA1C-E10B502F77C8}"/>
    </ac:deMkLst>
    <p188:txBody>
      <a:bodyPr/>
      <a:lstStyle/>
      <a:p>
        <a:r>
          <a:rPr lang="en-US"/>
          <a:t>[@Kolovich, Lisa]  changed the “focus” sentence to align better with the title of the course</a:t>
        </a:r>
      </a:p>
    </p188:txBody>
    <p188:extLst>
      <p:ext xmlns:p="http://schemas.openxmlformats.org/presentationml/2006/main" uri="{5BB2D875-25FF-4072-B9AC-8F64D62656EB}">
        <p228:taskDetails xmlns:p228="http://schemas.microsoft.com/office/powerpoint/2022/08/main">
          <p228:history>
            <p228:event time="2026-04-16T14:22:15.689" id="{0E62B6E3-0F67-440C-9261-CBAF55F31632}">
              <p228:atrbtn authorId="{0D8F83E4-EF17-15AA-7DA0-1A43993D769E}"/>
              <p228:anchr>
                <p228:comment id="{DE0B7D0B-B4AA-4BFB-B89C-432B1B2956F7}"/>
              </p228:anchr>
              <p228:add/>
            </p228:event>
            <p228:event time="2026-04-16T14:22:15.689" id="{A345BBA4-D8FE-4F7A-8AAD-3448163F2C29}">
              <p228:atrbtn authorId="{0D8F83E4-EF17-15AA-7DA0-1A43993D769E}"/>
              <p228:anchr>
                <p228:comment id="{DE0B7D0B-B4AA-4BFB-B89C-432B1B2956F7}"/>
              </p228:anchr>
              <p228:asgn authorId="{5854C73E-3583-11C1-CE13-22776D3A641A}"/>
            </p228:event>
            <p228:event time="2026-04-16T14:22:15.689" id="{8397C5FF-CB8F-46D6-8FFF-4DCE81DF4B4B}">
              <p228:atrbtn authorId="{0D8F83E4-EF17-15AA-7DA0-1A43993D769E}"/>
              <p228:anchr>
                <p228:comment id="{DE0B7D0B-B4AA-4BFB-B89C-432B1B2956F7}"/>
              </p228:anchr>
              <p228:title val="@Kolovich, Lisa changed this to align better with the title of the course"/>
            </p228:event>
            <p228:event time="2026-04-16T14:22:15.689" id="{13D0179E-15A0-4E5C-BD5F-FD8EEC77D02E}">
              <p228:atrbtn authorId="{0D8F83E4-EF17-15AA-7DA0-1A43993D769E}"/>
              <p228:anchr>
                <p228:comment id="{DE0B7D0B-B4AA-4BFB-B89C-432B1B2956F7}"/>
              </p228:anchr>
              <p228:date stDt="2026-04-16T14:22:15.690" endDt="2026-04-16T14:22:15.690"/>
            </p228:event>
          </p228:history>
        </p228:taskDetails>
      </p:ext>
      <p:ext xmlns:p="http://schemas.openxmlformats.org/presentationml/2006/main" uri="{57CB4572-C831-44C2-8A1C-0ADB6CCDFE69}">
        <p223:reactions xmlns:p223="http://schemas.microsoft.com/office/powerpoint/2022/03/main">
          <p223:rxn type="👍">
            <p223:instance time="2026-04-16T14:25:40.033" authorId="{2708D3D2-1E49-BB83-2378-9650164C949B}"/>
          </p223:rxn>
        </p223:reactions>
      </p:ext>
    </p188:extLst>
  </p188:cm>
</p188:cmLst>
</file>

<file path=ppt/comments/modernComment_11C1_5E0090EC.xml><?xml version="1.0" encoding="utf-8"?>
<p188:cmLst xmlns:a="http://schemas.openxmlformats.org/drawingml/2006/main" xmlns:r="http://schemas.openxmlformats.org/officeDocument/2006/relationships" xmlns:p188="http://schemas.microsoft.com/office/powerpoint/2018/8/main">
  <p188:cm id="{AC5DECCD-05FC-4A39-BE23-DAB72A8F15A2}" authorId="{0D8F83E4-EF17-15AA-7DA0-1A43993D769E}" created="2026-04-16T14:38:49.719" startDate="2026-04-16T14:38:49.719" dueDate="2026-04-16T14:38:49.719" assignedTo="{5854C73E-3583-11C1-CE13-22776D3A641A}" title="@Kolovich, Lisa there should be a slide dedicated to youth unemployment; a slide dedicated to informality; etc Mening: this section should be less based on gender gaps only. ">
    <pc:sldMkLst xmlns:pc="http://schemas.microsoft.com/office/powerpoint/2013/main/command">
      <pc:docMk/>
      <pc:sldMk cId="1577095404" sldId="4545"/>
    </pc:sldMkLst>
    <p188:txBody>
      <a:bodyPr/>
      <a:lstStyle/>
      <a:p>
        <a:r>
          <a:rPr lang="en-US"/>
          <a:t>[@Kolovich, Lisa] there should be a slide dedicated to youth unemployment; a slide dedicated to informality; etc
Mening: this section should be less based on gender gaps only. </a:t>
        </a:r>
      </a:p>
    </p188:txBody>
    <p188:extLst>
      <p:ext xmlns:p="http://schemas.openxmlformats.org/presentationml/2006/main" uri="{5BB2D875-25FF-4072-B9AC-8F64D62656EB}">
        <p228:taskDetails xmlns:p228="http://schemas.microsoft.com/office/powerpoint/2022/08/main">
          <p228:history>
            <p228:event time="2026-04-16T14:38:49.719" id="{114926D0-7E79-4A4B-B348-2154F7F940CE}">
              <p228:atrbtn authorId="{0D8F83E4-EF17-15AA-7DA0-1A43993D769E}"/>
              <p228:anchr>
                <p228:comment id="{AC5DECCD-05FC-4A39-BE23-DAB72A8F15A2}"/>
              </p228:anchr>
              <p228:add/>
            </p228:event>
            <p228:event time="2026-04-16T14:38:49.719" id="{9541B134-E3AE-4F0D-9C96-430DC3B73C9B}">
              <p228:atrbtn authorId="{0D8F83E4-EF17-15AA-7DA0-1A43993D769E}"/>
              <p228:anchr>
                <p228:comment id="{AC5DECCD-05FC-4A39-BE23-DAB72A8F15A2}"/>
              </p228:anchr>
              <p228:asgn authorId="{5854C73E-3583-11C1-CE13-22776D3A641A}"/>
            </p228:event>
            <p228:event time="2026-04-16T14:38:49.719" id="{A416AF6B-90CF-4EFE-8476-D8744A10F129}">
              <p228:atrbtn authorId="{0D8F83E4-EF17-15AA-7DA0-1A43993D769E}"/>
              <p228:anchr>
                <p228:comment id="{AC5DECCD-05FC-4A39-BE23-DAB72A8F15A2}"/>
              </p228:anchr>
              <p228:title val="@Kolovich, Lisa there should be a slide dedicated to youth unemployment; a slide dedicated to informality; etc Mening: this section should be less based on gender gaps only. "/>
            </p228:event>
            <p228:event time="2026-04-16T14:38:49.719" id="{03162098-2B86-4BCF-91F1-5B471C4ADE0D}">
              <p228:atrbtn authorId="{0D8F83E4-EF17-15AA-7DA0-1A43993D769E}"/>
              <p228:anchr>
                <p228:comment id="{AC5DECCD-05FC-4A39-BE23-DAB72A8F15A2}"/>
              </p228:anchr>
              <p228:date stDt="2026-04-16T14:38:49.719" endDt="2026-04-16T14:38:49.719"/>
            </p228:event>
          </p228:history>
        </p228:taskDetails>
      </p:ext>
    </p188:extLst>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CD026B-EED9-40CA-96F8-F3CB62246EBA}" type="doc">
      <dgm:prSet loTypeId="urn:microsoft.com/office/officeart/2005/8/layout/process3" loCatId="process" qsTypeId="urn:microsoft.com/office/officeart/2005/8/quickstyle/simple4" qsCatId="simple" csTypeId="urn:microsoft.com/office/officeart/2005/8/colors/accent1_2" csCatId="accent1" phldr="1"/>
      <dgm:spPr/>
      <dgm:t>
        <a:bodyPr/>
        <a:lstStyle/>
        <a:p>
          <a:endParaRPr lang="en-US"/>
        </a:p>
      </dgm:t>
    </dgm:pt>
    <dgm:pt modelId="{4D33C570-F2A6-482D-9B42-D560CE2CCBEC}">
      <dgm:prSet custT="1"/>
      <dgm:spPr/>
      <dgm:t>
        <a:bodyPr/>
        <a:lstStyle/>
        <a:p>
          <a:r>
            <a:rPr lang="en-US" sz="2400" b="1"/>
            <a:t>Impacts:</a:t>
          </a:r>
          <a:endParaRPr lang="en-US" sz="2400"/>
        </a:p>
      </dgm:t>
    </dgm:pt>
    <dgm:pt modelId="{BC408993-DF53-4A3A-B39A-6E33A7ECFCB7}" type="parTrans" cxnId="{569FAB86-ADFE-47DB-A2A6-1043CFEFEA1A}">
      <dgm:prSet/>
      <dgm:spPr/>
      <dgm:t>
        <a:bodyPr/>
        <a:lstStyle/>
        <a:p>
          <a:endParaRPr lang="en-US"/>
        </a:p>
      </dgm:t>
    </dgm:pt>
    <dgm:pt modelId="{82E3CE9D-3C6D-4E36-AB93-0152456AA8E4}" type="sibTrans" cxnId="{569FAB86-ADFE-47DB-A2A6-1043CFEFEA1A}">
      <dgm:prSet/>
      <dgm:spPr/>
      <dgm:t>
        <a:bodyPr/>
        <a:lstStyle/>
        <a:p>
          <a:endParaRPr lang="en-US"/>
        </a:p>
      </dgm:t>
    </dgm:pt>
    <dgm:pt modelId="{6174193C-8584-4C9D-AC2B-4E49C61EA187}">
      <dgm:prSet custT="1"/>
      <dgm:spPr/>
      <dgm:t>
        <a:bodyPr/>
        <a:lstStyle/>
        <a:p>
          <a:r>
            <a:rPr lang="en-US" sz="1600"/>
            <a:t>Macroeconomic: Growth, productivity, and resilience</a:t>
          </a:r>
        </a:p>
      </dgm:t>
    </dgm:pt>
    <dgm:pt modelId="{E07742EA-6D85-44B2-9C28-2641BF5C2DA8}" type="parTrans" cxnId="{EF25AD77-10FD-4BF3-874E-5C654E77E03B}">
      <dgm:prSet/>
      <dgm:spPr/>
      <dgm:t>
        <a:bodyPr/>
        <a:lstStyle/>
        <a:p>
          <a:endParaRPr lang="en-US"/>
        </a:p>
      </dgm:t>
    </dgm:pt>
    <dgm:pt modelId="{F8D7D4B9-3B73-469F-B66B-093A5057D45B}" type="sibTrans" cxnId="{EF25AD77-10FD-4BF3-874E-5C654E77E03B}">
      <dgm:prSet/>
      <dgm:spPr/>
      <dgm:t>
        <a:bodyPr/>
        <a:lstStyle/>
        <a:p>
          <a:endParaRPr lang="en-US"/>
        </a:p>
      </dgm:t>
    </dgm:pt>
    <dgm:pt modelId="{6EBE20A1-BC4C-438C-98D4-92D24A78C4D3}">
      <dgm:prSet custT="1"/>
      <dgm:spPr/>
      <dgm:t>
        <a:bodyPr/>
        <a:lstStyle/>
        <a:p>
          <a:r>
            <a:rPr lang="en-US" sz="1600"/>
            <a:t>Distributional: Uneven across countries, sectors, workers, and households.</a:t>
          </a:r>
        </a:p>
      </dgm:t>
    </dgm:pt>
    <dgm:pt modelId="{69770A0B-2A1C-4CA0-95A5-6363E7743B7F}" type="parTrans" cxnId="{83B90B00-7283-4F03-80D2-DC5ECE193845}">
      <dgm:prSet/>
      <dgm:spPr/>
      <dgm:t>
        <a:bodyPr/>
        <a:lstStyle/>
        <a:p>
          <a:endParaRPr lang="en-US"/>
        </a:p>
      </dgm:t>
    </dgm:pt>
    <dgm:pt modelId="{691EEACF-5473-4ECD-B1DC-9534D386CAA4}" type="sibTrans" cxnId="{83B90B00-7283-4F03-80D2-DC5ECE193845}">
      <dgm:prSet/>
      <dgm:spPr/>
      <dgm:t>
        <a:bodyPr/>
        <a:lstStyle/>
        <a:p>
          <a:endParaRPr lang="en-US"/>
        </a:p>
      </dgm:t>
    </dgm:pt>
    <dgm:pt modelId="{12357294-5896-4FF9-ABD6-0D8195400BB6}">
      <dgm:prSet custT="1"/>
      <dgm:spPr/>
      <dgm:t>
        <a:bodyPr/>
        <a:lstStyle/>
        <a:p>
          <a:r>
            <a:rPr lang="en-US" sz="2400" b="1"/>
            <a:t>Policy Design:</a:t>
          </a:r>
          <a:endParaRPr lang="en-US" sz="2400"/>
        </a:p>
      </dgm:t>
    </dgm:pt>
    <dgm:pt modelId="{3084B7A9-524D-42AD-AD9C-72B40E63B157}" type="parTrans" cxnId="{039782F9-7B08-48CB-BD2B-46B4BEF1E54B}">
      <dgm:prSet/>
      <dgm:spPr/>
      <dgm:t>
        <a:bodyPr/>
        <a:lstStyle/>
        <a:p>
          <a:endParaRPr lang="en-US"/>
        </a:p>
      </dgm:t>
    </dgm:pt>
    <dgm:pt modelId="{EC1A7FFD-7F38-45AB-8827-CBB89D1310B0}" type="sibTrans" cxnId="{039782F9-7B08-48CB-BD2B-46B4BEF1E54B}">
      <dgm:prSet/>
      <dgm:spPr/>
      <dgm:t>
        <a:bodyPr/>
        <a:lstStyle/>
        <a:p>
          <a:endParaRPr lang="en-US"/>
        </a:p>
      </dgm:t>
    </dgm:pt>
    <dgm:pt modelId="{A6CD3A90-DA41-440A-99AE-7D4E7A5413DB}">
      <dgm:prSet custT="1"/>
      <dgm:spPr/>
      <dgm:t>
        <a:bodyPr/>
        <a:lstStyle/>
        <a:p>
          <a:r>
            <a:rPr lang="en-US" sz="1600"/>
            <a:t>Vulnerable groups often bear disproportionate share of adjustment costs. </a:t>
          </a:r>
        </a:p>
      </dgm:t>
    </dgm:pt>
    <dgm:pt modelId="{7793D30A-2B43-44E0-931A-BBB5493FB529}" type="parTrans" cxnId="{91E503E4-658A-4CEA-BC62-2DF4078FEAD4}">
      <dgm:prSet/>
      <dgm:spPr/>
      <dgm:t>
        <a:bodyPr/>
        <a:lstStyle/>
        <a:p>
          <a:endParaRPr lang="en-US"/>
        </a:p>
      </dgm:t>
    </dgm:pt>
    <dgm:pt modelId="{F8BDA18C-127F-432D-8A42-549599D81B71}" type="sibTrans" cxnId="{91E503E4-658A-4CEA-BC62-2DF4078FEAD4}">
      <dgm:prSet/>
      <dgm:spPr/>
      <dgm:t>
        <a:bodyPr/>
        <a:lstStyle/>
        <a:p>
          <a:endParaRPr lang="en-US"/>
        </a:p>
      </dgm:t>
    </dgm:pt>
    <dgm:pt modelId="{73537CC2-7BD6-4C0F-B546-15B79909973E}">
      <dgm:prSet custT="1"/>
      <dgm:spPr/>
      <dgm:t>
        <a:bodyPr/>
        <a:lstStyle/>
        <a:p>
          <a:r>
            <a:rPr lang="en-US" sz="1600"/>
            <a:t>Sound macroeconomic frameworks are essential—but policy effectiveness also depends on understanding who is affected, how, and through which channels. </a:t>
          </a:r>
        </a:p>
      </dgm:t>
    </dgm:pt>
    <dgm:pt modelId="{5005A26E-0C60-4E0A-B8FC-70FE8C23773E}" type="parTrans" cxnId="{E298595F-0FEC-4DB1-9371-3B359E69CB5D}">
      <dgm:prSet/>
      <dgm:spPr/>
      <dgm:t>
        <a:bodyPr/>
        <a:lstStyle/>
        <a:p>
          <a:endParaRPr lang="en-US"/>
        </a:p>
      </dgm:t>
    </dgm:pt>
    <dgm:pt modelId="{CC07DD1B-2FD0-4282-9D4F-4BCB16750A76}" type="sibTrans" cxnId="{E298595F-0FEC-4DB1-9371-3B359E69CB5D}">
      <dgm:prSet/>
      <dgm:spPr/>
      <dgm:t>
        <a:bodyPr/>
        <a:lstStyle/>
        <a:p>
          <a:endParaRPr lang="en-US"/>
        </a:p>
      </dgm:t>
    </dgm:pt>
    <dgm:pt modelId="{87619619-CFC5-48B5-AA18-56FAD523FFF4}">
      <dgm:prSet phldrT="[Text]" custT="1"/>
      <dgm:spPr/>
      <dgm:t>
        <a:bodyPr/>
        <a:lstStyle/>
        <a:p>
          <a:r>
            <a:rPr lang="en-US" sz="2400" b="1"/>
            <a:t>Context:</a:t>
          </a:r>
          <a:endParaRPr lang="en-US" sz="2400"/>
        </a:p>
      </dgm:t>
    </dgm:pt>
    <dgm:pt modelId="{255C17D4-9288-4631-A6BE-2F9ED7985C56}" type="sibTrans" cxnId="{0C083EFF-4B2F-4BDA-93DF-F4AFC907DF07}">
      <dgm:prSet/>
      <dgm:spPr/>
      <dgm:t>
        <a:bodyPr/>
        <a:lstStyle/>
        <a:p>
          <a:endParaRPr lang="en-US"/>
        </a:p>
      </dgm:t>
    </dgm:pt>
    <dgm:pt modelId="{63F69376-2ADE-43F1-91C8-B4DB3B4B0131}" type="parTrans" cxnId="{0C083EFF-4B2F-4BDA-93DF-F4AFC907DF07}">
      <dgm:prSet/>
      <dgm:spPr/>
      <dgm:t>
        <a:bodyPr/>
        <a:lstStyle/>
        <a:p>
          <a:endParaRPr lang="en-US"/>
        </a:p>
      </dgm:t>
    </dgm:pt>
    <dgm:pt modelId="{4CB3166B-3EE3-42E4-926A-4B89BA0E0BF0}">
      <dgm:prSet phldrT="[Text]" custT="1"/>
      <dgm:spPr/>
      <dgm:t>
        <a:bodyPr/>
        <a:lstStyle/>
        <a:p>
          <a:r>
            <a:rPr lang="en-US" sz="1600"/>
            <a:t>Global economy is increasingly shock‑prone</a:t>
          </a:r>
        </a:p>
      </dgm:t>
    </dgm:pt>
    <dgm:pt modelId="{67679645-F08B-459C-86A1-C7DB2BC683CB}" type="sibTrans" cxnId="{76519C99-3D93-4994-B11C-668351BFB539}">
      <dgm:prSet/>
      <dgm:spPr/>
      <dgm:t>
        <a:bodyPr/>
        <a:lstStyle/>
        <a:p>
          <a:endParaRPr lang="en-US"/>
        </a:p>
      </dgm:t>
    </dgm:pt>
    <dgm:pt modelId="{98C30C0E-BB7B-4144-9085-18EC234CD02F}" type="parTrans" cxnId="{76519C99-3D93-4994-B11C-668351BFB539}">
      <dgm:prSet/>
      <dgm:spPr/>
      <dgm:t>
        <a:bodyPr/>
        <a:lstStyle/>
        <a:p>
          <a:endParaRPr lang="en-US"/>
        </a:p>
      </dgm:t>
    </dgm:pt>
    <dgm:pt modelId="{36BD5C6F-DA64-409A-AF73-13FD0F5F751C}">
      <dgm:prSet phldrT="[Text]" custT="1"/>
      <dgm:spPr/>
      <dgm:t>
        <a:bodyPr/>
        <a:lstStyle/>
        <a:p>
          <a:r>
            <a:rPr lang="en-US" sz="1600"/>
            <a:t>Demographic changes</a:t>
          </a:r>
        </a:p>
      </dgm:t>
    </dgm:pt>
    <dgm:pt modelId="{20A18C84-A0F1-44E1-ACF6-4CAEB735C6BC}" type="sibTrans" cxnId="{3D0956A8-DBDA-4580-902B-1BD06D030F7A}">
      <dgm:prSet/>
      <dgm:spPr/>
      <dgm:t>
        <a:bodyPr/>
        <a:lstStyle/>
        <a:p>
          <a:endParaRPr lang="en-US"/>
        </a:p>
      </dgm:t>
    </dgm:pt>
    <dgm:pt modelId="{D55A4CE4-6C79-406E-B7ED-BA54CFF4E8F9}" type="parTrans" cxnId="{3D0956A8-DBDA-4580-902B-1BD06D030F7A}">
      <dgm:prSet/>
      <dgm:spPr/>
      <dgm:t>
        <a:bodyPr/>
        <a:lstStyle/>
        <a:p>
          <a:endParaRPr lang="en-US"/>
        </a:p>
      </dgm:t>
    </dgm:pt>
    <dgm:pt modelId="{11DEA881-5F7F-479B-9BB1-EF40A9F35A7A}">
      <dgm:prSet phldrT="[Text]" custT="1"/>
      <dgm:spPr/>
      <dgm:t>
        <a:bodyPr/>
        <a:lstStyle/>
        <a:p>
          <a:endParaRPr lang="en-US" sz="1600"/>
        </a:p>
      </dgm:t>
    </dgm:pt>
    <dgm:pt modelId="{3CD26A53-B683-47E6-85BA-115C5DDABF61}" type="sibTrans" cxnId="{AC949E87-944E-4388-9055-296D74CDA130}">
      <dgm:prSet/>
      <dgm:spPr/>
      <dgm:t>
        <a:bodyPr/>
        <a:lstStyle/>
        <a:p>
          <a:endParaRPr lang="en-US"/>
        </a:p>
      </dgm:t>
    </dgm:pt>
    <dgm:pt modelId="{C19157C7-B4F1-45C6-9BBD-3CA66D34924E}" type="parTrans" cxnId="{AC949E87-944E-4388-9055-296D74CDA130}">
      <dgm:prSet/>
      <dgm:spPr/>
      <dgm:t>
        <a:bodyPr/>
        <a:lstStyle/>
        <a:p>
          <a:endParaRPr lang="en-US"/>
        </a:p>
      </dgm:t>
    </dgm:pt>
    <dgm:pt modelId="{01713B96-3446-4B7A-8B15-87E6959688DF}">
      <dgm:prSet phldrT="[Text]" custT="1"/>
      <dgm:spPr/>
      <dgm:t>
        <a:bodyPr/>
        <a:lstStyle/>
        <a:p>
          <a:endParaRPr lang="en-US" sz="1600"/>
        </a:p>
      </dgm:t>
    </dgm:pt>
    <dgm:pt modelId="{945A92AC-A243-44F9-BB90-CEA5C94D6AAF}" type="sibTrans" cxnId="{9E13475F-F3C4-4D86-BD38-3AD1BD489FD1}">
      <dgm:prSet/>
      <dgm:spPr/>
      <dgm:t>
        <a:bodyPr/>
        <a:lstStyle/>
        <a:p>
          <a:endParaRPr lang="en-US"/>
        </a:p>
      </dgm:t>
    </dgm:pt>
    <dgm:pt modelId="{DEEA300B-24CB-4E5F-AA87-F3308234E075}" type="parTrans" cxnId="{9E13475F-F3C4-4D86-BD38-3AD1BD489FD1}">
      <dgm:prSet/>
      <dgm:spPr/>
      <dgm:t>
        <a:bodyPr/>
        <a:lstStyle/>
        <a:p>
          <a:endParaRPr lang="en-US"/>
        </a:p>
      </dgm:t>
    </dgm:pt>
    <dgm:pt modelId="{961628E7-7403-4F62-905F-EAF3B2F2CC53}">
      <dgm:prSet custT="1"/>
      <dgm:spPr/>
      <dgm:t>
        <a:bodyPr/>
        <a:lstStyle/>
        <a:p>
          <a:endParaRPr lang="en-US" sz="1600"/>
        </a:p>
      </dgm:t>
    </dgm:pt>
    <dgm:pt modelId="{82615823-A98A-49B6-9F9F-27804ABE9C08}" type="parTrans" cxnId="{5451AB6B-354E-41FF-BCAA-2773F386E19C}">
      <dgm:prSet/>
      <dgm:spPr/>
      <dgm:t>
        <a:bodyPr/>
        <a:lstStyle/>
        <a:p>
          <a:endParaRPr lang="en-US"/>
        </a:p>
      </dgm:t>
    </dgm:pt>
    <dgm:pt modelId="{4EE9ACAC-F235-48FE-8A6C-028409EA5949}" type="sibTrans" cxnId="{5451AB6B-354E-41FF-BCAA-2773F386E19C}">
      <dgm:prSet/>
      <dgm:spPr/>
      <dgm:t>
        <a:bodyPr/>
        <a:lstStyle/>
        <a:p>
          <a:endParaRPr lang="en-US"/>
        </a:p>
      </dgm:t>
    </dgm:pt>
    <dgm:pt modelId="{0EB1CF03-AD86-4AE5-BC2E-E8922754B1C1}">
      <dgm:prSet phldrT="[Text]" custT="1"/>
      <dgm:spPr/>
      <dgm:t>
        <a:bodyPr/>
        <a:lstStyle/>
        <a:p>
          <a:endParaRPr lang="en-US" sz="1600"/>
        </a:p>
      </dgm:t>
    </dgm:pt>
    <dgm:pt modelId="{E3665280-F56B-4DFB-82FD-CE722518280D}" type="parTrans" cxnId="{1D0A5C7F-B9CD-44F6-91C9-404DF5A9393D}">
      <dgm:prSet/>
      <dgm:spPr/>
      <dgm:t>
        <a:bodyPr/>
        <a:lstStyle/>
        <a:p>
          <a:endParaRPr lang="en-US"/>
        </a:p>
      </dgm:t>
    </dgm:pt>
    <dgm:pt modelId="{15115A82-5E27-40F0-9395-5FFA47E24E07}" type="sibTrans" cxnId="{1D0A5C7F-B9CD-44F6-91C9-404DF5A9393D}">
      <dgm:prSet/>
      <dgm:spPr/>
      <dgm:t>
        <a:bodyPr/>
        <a:lstStyle/>
        <a:p>
          <a:endParaRPr lang="en-US"/>
        </a:p>
      </dgm:t>
    </dgm:pt>
    <dgm:pt modelId="{3C628FF1-CB98-414B-85BE-244FE0F3AD38}">
      <dgm:prSet phldrT="[Text]" custT="1"/>
      <dgm:spPr/>
      <dgm:t>
        <a:bodyPr/>
        <a:lstStyle/>
        <a:p>
          <a:r>
            <a:rPr lang="en-US" sz="1600"/>
            <a:t>Digitalization</a:t>
          </a:r>
        </a:p>
      </dgm:t>
    </dgm:pt>
    <dgm:pt modelId="{68E4B152-E1D3-4981-9668-148675224A6C}" type="parTrans" cxnId="{33B1E718-3C58-45D6-B1A4-1FE665CC928E}">
      <dgm:prSet/>
      <dgm:spPr/>
      <dgm:t>
        <a:bodyPr/>
        <a:lstStyle/>
        <a:p>
          <a:endParaRPr lang="en-US"/>
        </a:p>
      </dgm:t>
    </dgm:pt>
    <dgm:pt modelId="{5D56B9E0-C975-4658-9F41-C21F089B09D3}" type="sibTrans" cxnId="{33B1E718-3C58-45D6-B1A4-1FE665CC928E}">
      <dgm:prSet/>
      <dgm:spPr/>
      <dgm:t>
        <a:bodyPr/>
        <a:lstStyle/>
        <a:p>
          <a:endParaRPr lang="en-US"/>
        </a:p>
      </dgm:t>
    </dgm:pt>
    <dgm:pt modelId="{7E340D94-67B8-4408-9F9C-9F91F52642CA}">
      <dgm:prSet phldrT="[Text]" custT="1"/>
      <dgm:spPr/>
      <dgm:t>
        <a:bodyPr/>
        <a:lstStyle/>
        <a:p>
          <a:r>
            <a:rPr lang="en-US" sz="1600"/>
            <a:t>Rise of artificial intelligence</a:t>
          </a:r>
        </a:p>
      </dgm:t>
    </dgm:pt>
    <dgm:pt modelId="{AFC6ABAA-8795-4AF9-A6E1-F11ED4C64735}" type="parTrans" cxnId="{9C10D60E-0ED3-4BDD-B847-CB8680F523C7}">
      <dgm:prSet/>
      <dgm:spPr/>
      <dgm:t>
        <a:bodyPr/>
        <a:lstStyle/>
        <a:p>
          <a:endParaRPr lang="en-US"/>
        </a:p>
      </dgm:t>
    </dgm:pt>
    <dgm:pt modelId="{E9BE76AE-0462-4B6A-931D-54F90A8D919A}" type="sibTrans" cxnId="{9C10D60E-0ED3-4BDD-B847-CB8680F523C7}">
      <dgm:prSet/>
      <dgm:spPr/>
      <dgm:t>
        <a:bodyPr/>
        <a:lstStyle/>
        <a:p>
          <a:endParaRPr lang="en-US"/>
        </a:p>
      </dgm:t>
    </dgm:pt>
    <dgm:pt modelId="{162EEE30-D03B-4B3A-BA0E-E84FE072A834}">
      <dgm:prSet custT="1"/>
      <dgm:spPr/>
      <dgm:t>
        <a:bodyPr/>
        <a:lstStyle/>
        <a:p>
          <a:endParaRPr lang="en-US" sz="1600"/>
        </a:p>
      </dgm:t>
    </dgm:pt>
    <dgm:pt modelId="{2272ABFE-B266-4BE0-91B2-3CFE6E02C125}" type="parTrans" cxnId="{76D61C47-D238-4CA1-B552-DBB4FF1D5D86}">
      <dgm:prSet/>
      <dgm:spPr/>
      <dgm:t>
        <a:bodyPr/>
        <a:lstStyle/>
        <a:p>
          <a:endParaRPr lang="en-US"/>
        </a:p>
      </dgm:t>
    </dgm:pt>
    <dgm:pt modelId="{EB51F268-2414-4E4B-93A4-772AC75E7876}" type="sibTrans" cxnId="{76D61C47-D238-4CA1-B552-DBB4FF1D5D86}">
      <dgm:prSet/>
      <dgm:spPr/>
      <dgm:t>
        <a:bodyPr/>
        <a:lstStyle/>
        <a:p>
          <a:endParaRPr lang="en-US"/>
        </a:p>
      </dgm:t>
    </dgm:pt>
    <dgm:pt modelId="{F696B590-C520-47A5-B6ED-9E6662407BF4}" type="pres">
      <dgm:prSet presAssocID="{88CD026B-EED9-40CA-96F8-F3CB62246EBA}" presName="linearFlow" presStyleCnt="0">
        <dgm:presLayoutVars>
          <dgm:dir/>
          <dgm:animLvl val="lvl"/>
          <dgm:resizeHandles val="exact"/>
        </dgm:presLayoutVars>
      </dgm:prSet>
      <dgm:spPr/>
    </dgm:pt>
    <dgm:pt modelId="{38752FCA-8943-445C-A3B9-44E692529030}" type="pres">
      <dgm:prSet presAssocID="{87619619-CFC5-48B5-AA18-56FAD523FFF4}" presName="composite" presStyleCnt="0"/>
      <dgm:spPr/>
    </dgm:pt>
    <dgm:pt modelId="{06C17DE9-29F4-45BE-8544-6CA34BFA667D}" type="pres">
      <dgm:prSet presAssocID="{87619619-CFC5-48B5-AA18-56FAD523FFF4}" presName="parTx" presStyleLbl="node1" presStyleIdx="0" presStyleCnt="3">
        <dgm:presLayoutVars>
          <dgm:chMax val="0"/>
          <dgm:chPref val="0"/>
          <dgm:bulletEnabled val="1"/>
        </dgm:presLayoutVars>
      </dgm:prSet>
      <dgm:spPr/>
    </dgm:pt>
    <dgm:pt modelId="{E02DFB68-2253-44D0-9079-09B1982B9F2D}" type="pres">
      <dgm:prSet presAssocID="{87619619-CFC5-48B5-AA18-56FAD523FFF4}" presName="parSh" presStyleLbl="node1" presStyleIdx="0" presStyleCnt="3"/>
      <dgm:spPr/>
    </dgm:pt>
    <dgm:pt modelId="{C7CE808A-A084-42D4-807E-CA8451B64333}" type="pres">
      <dgm:prSet presAssocID="{87619619-CFC5-48B5-AA18-56FAD523FFF4}" presName="desTx" presStyleLbl="fgAcc1" presStyleIdx="0" presStyleCnt="3">
        <dgm:presLayoutVars>
          <dgm:bulletEnabled val="1"/>
        </dgm:presLayoutVars>
      </dgm:prSet>
      <dgm:spPr/>
    </dgm:pt>
    <dgm:pt modelId="{0A204761-6920-4E7A-9731-004C01090C6D}" type="pres">
      <dgm:prSet presAssocID="{255C17D4-9288-4631-A6BE-2F9ED7985C56}" presName="sibTrans" presStyleLbl="sibTrans2D1" presStyleIdx="0" presStyleCnt="2"/>
      <dgm:spPr/>
    </dgm:pt>
    <dgm:pt modelId="{2C66E0E4-8836-4224-ADE6-5C58ADADE99C}" type="pres">
      <dgm:prSet presAssocID="{255C17D4-9288-4631-A6BE-2F9ED7985C56}" presName="connTx" presStyleLbl="sibTrans2D1" presStyleIdx="0" presStyleCnt="2"/>
      <dgm:spPr/>
    </dgm:pt>
    <dgm:pt modelId="{189469FD-5912-4E82-845A-5A4A24336BB5}" type="pres">
      <dgm:prSet presAssocID="{4D33C570-F2A6-482D-9B42-D560CE2CCBEC}" presName="composite" presStyleCnt="0"/>
      <dgm:spPr/>
    </dgm:pt>
    <dgm:pt modelId="{8610AA97-F01E-4657-B009-0C33668B0FF6}" type="pres">
      <dgm:prSet presAssocID="{4D33C570-F2A6-482D-9B42-D560CE2CCBEC}" presName="parTx" presStyleLbl="node1" presStyleIdx="0" presStyleCnt="3">
        <dgm:presLayoutVars>
          <dgm:chMax val="0"/>
          <dgm:chPref val="0"/>
          <dgm:bulletEnabled val="1"/>
        </dgm:presLayoutVars>
      </dgm:prSet>
      <dgm:spPr/>
    </dgm:pt>
    <dgm:pt modelId="{DE4DBAE1-77C4-4BCA-A4FD-1331B34A277F}" type="pres">
      <dgm:prSet presAssocID="{4D33C570-F2A6-482D-9B42-D560CE2CCBEC}" presName="parSh" presStyleLbl="node1" presStyleIdx="1" presStyleCnt="3"/>
      <dgm:spPr/>
    </dgm:pt>
    <dgm:pt modelId="{8CF5992F-6A4C-46A8-AF0A-4AD0891EC561}" type="pres">
      <dgm:prSet presAssocID="{4D33C570-F2A6-482D-9B42-D560CE2CCBEC}" presName="desTx" presStyleLbl="fgAcc1" presStyleIdx="1" presStyleCnt="3">
        <dgm:presLayoutVars>
          <dgm:bulletEnabled val="1"/>
        </dgm:presLayoutVars>
      </dgm:prSet>
      <dgm:spPr/>
    </dgm:pt>
    <dgm:pt modelId="{35014587-E233-44CE-A8C5-788678F0BE76}" type="pres">
      <dgm:prSet presAssocID="{82E3CE9D-3C6D-4E36-AB93-0152456AA8E4}" presName="sibTrans" presStyleLbl="sibTrans2D1" presStyleIdx="1" presStyleCnt="2"/>
      <dgm:spPr/>
    </dgm:pt>
    <dgm:pt modelId="{7F2411E7-0E6D-4194-BF05-6A467C381067}" type="pres">
      <dgm:prSet presAssocID="{82E3CE9D-3C6D-4E36-AB93-0152456AA8E4}" presName="connTx" presStyleLbl="sibTrans2D1" presStyleIdx="1" presStyleCnt="2"/>
      <dgm:spPr/>
    </dgm:pt>
    <dgm:pt modelId="{1340BC45-5494-4079-8DF8-538CE2CD3793}" type="pres">
      <dgm:prSet presAssocID="{12357294-5896-4FF9-ABD6-0D8195400BB6}" presName="composite" presStyleCnt="0"/>
      <dgm:spPr/>
    </dgm:pt>
    <dgm:pt modelId="{F1224BD7-24B9-4145-8DF6-A49D4F3526D7}" type="pres">
      <dgm:prSet presAssocID="{12357294-5896-4FF9-ABD6-0D8195400BB6}" presName="parTx" presStyleLbl="node1" presStyleIdx="1" presStyleCnt="3">
        <dgm:presLayoutVars>
          <dgm:chMax val="0"/>
          <dgm:chPref val="0"/>
          <dgm:bulletEnabled val="1"/>
        </dgm:presLayoutVars>
      </dgm:prSet>
      <dgm:spPr/>
    </dgm:pt>
    <dgm:pt modelId="{9FA38E72-4FEA-4AE5-9F98-28632EAF6AB5}" type="pres">
      <dgm:prSet presAssocID="{12357294-5896-4FF9-ABD6-0D8195400BB6}" presName="parSh" presStyleLbl="node1" presStyleIdx="2" presStyleCnt="3"/>
      <dgm:spPr/>
    </dgm:pt>
    <dgm:pt modelId="{E9E59741-F2A1-41CC-95CF-D05DA709D171}" type="pres">
      <dgm:prSet presAssocID="{12357294-5896-4FF9-ABD6-0D8195400BB6}" presName="desTx" presStyleLbl="fgAcc1" presStyleIdx="2" presStyleCnt="3">
        <dgm:presLayoutVars>
          <dgm:bulletEnabled val="1"/>
        </dgm:presLayoutVars>
      </dgm:prSet>
      <dgm:spPr/>
    </dgm:pt>
  </dgm:ptLst>
  <dgm:cxnLst>
    <dgm:cxn modelId="{83B90B00-7283-4F03-80D2-DC5ECE193845}" srcId="{4D33C570-F2A6-482D-9B42-D560CE2CCBEC}" destId="{6EBE20A1-BC4C-438C-98D4-92D24A78C4D3}" srcOrd="2" destOrd="0" parTransId="{69770A0B-2A1C-4CA0-95A5-6363E7743B7F}" sibTransId="{691EEACF-5473-4ECD-B1DC-9534D386CAA4}"/>
    <dgm:cxn modelId="{DCA7CE00-1417-4A49-B2C6-D3ED9B1EE335}" type="presOf" srcId="{6EBE20A1-BC4C-438C-98D4-92D24A78C4D3}" destId="{8CF5992F-6A4C-46A8-AF0A-4AD0891EC561}" srcOrd="0" destOrd="2" presId="urn:microsoft.com/office/officeart/2005/8/layout/process3"/>
    <dgm:cxn modelId="{B3CF8105-CC0A-4E59-9636-322B63198FD0}" type="presOf" srcId="{12357294-5896-4FF9-ABD6-0D8195400BB6}" destId="{F1224BD7-24B9-4145-8DF6-A49D4F3526D7}" srcOrd="0" destOrd="0" presId="urn:microsoft.com/office/officeart/2005/8/layout/process3"/>
    <dgm:cxn modelId="{7930DF0C-ACF0-41D1-AFEE-B03B54DB4923}" type="presOf" srcId="{6174193C-8584-4C9D-AC2B-4E49C61EA187}" destId="{8CF5992F-6A4C-46A8-AF0A-4AD0891EC561}" srcOrd="0" destOrd="0" presId="urn:microsoft.com/office/officeart/2005/8/layout/process3"/>
    <dgm:cxn modelId="{D5D2160D-ADED-44EA-9FDC-180D83D2D3B1}" type="presOf" srcId="{88CD026B-EED9-40CA-96F8-F3CB62246EBA}" destId="{F696B590-C520-47A5-B6ED-9E6662407BF4}" srcOrd="0" destOrd="0" presId="urn:microsoft.com/office/officeart/2005/8/layout/process3"/>
    <dgm:cxn modelId="{9C10D60E-0ED3-4BDD-B847-CB8680F523C7}" srcId="{87619619-CFC5-48B5-AA18-56FAD523FFF4}" destId="{7E340D94-67B8-4408-9F9C-9F91F52642CA}" srcOrd="6" destOrd="0" parTransId="{AFC6ABAA-8795-4AF9-A6E1-F11ED4C64735}" sibTransId="{E9BE76AE-0462-4B6A-931D-54F90A8D919A}"/>
    <dgm:cxn modelId="{5CB06316-4CF6-4BD3-8702-23C9FF252275}" type="presOf" srcId="{162EEE30-D03B-4B3A-BA0E-E84FE072A834}" destId="{E9E59741-F2A1-41CC-95CF-D05DA709D171}" srcOrd="0" destOrd="1" presId="urn:microsoft.com/office/officeart/2005/8/layout/process3"/>
    <dgm:cxn modelId="{33B1E718-3C58-45D6-B1A4-1FE665CC928E}" srcId="{87619619-CFC5-48B5-AA18-56FAD523FFF4}" destId="{3C628FF1-CB98-414B-85BE-244FE0F3AD38}" srcOrd="4" destOrd="0" parTransId="{68E4B152-E1D3-4981-9668-148675224A6C}" sibTransId="{5D56B9E0-C975-4658-9F41-C21F089B09D3}"/>
    <dgm:cxn modelId="{B7556A23-7B76-4CF2-B812-858737832677}" type="presOf" srcId="{36BD5C6F-DA64-409A-AF73-13FD0F5F751C}" destId="{C7CE808A-A084-42D4-807E-CA8451B64333}" srcOrd="0" destOrd="2" presId="urn:microsoft.com/office/officeart/2005/8/layout/process3"/>
    <dgm:cxn modelId="{9E13475F-F3C4-4D86-BD38-3AD1BD489FD1}" srcId="{87619619-CFC5-48B5-AA18-56FAD523FFF4}" destId="{01713B96-3446-4B7A-8B15-87E6959688DF}" srcOrd="5" destOrd="0" parTransId="{DEEA300B-24CB-4E5F-AA87-F3308234E075}" sibTransId="{945A92AC-A243-44F9-BB90-CEA5C94D6AAF}"/>
    <dgm:cxn modelId="{E298595F-0FEC-4DB1-9371-3B359E69CB5D}" srcId="{12357294-5896-4FF9-ABD6-0D8195400BB6}" destId="{73537CC2-7BD6-4C0F-B546-15B79909973E}" srcOrd="2" destOrd="0" parTransId="{5005A26E-0C60-4E0A-B8FC-70FE8C23773E}" sibTransId="{CC07DD1B-2FD0-4282-9D4F-4BCB16750A76}"/>
    <dgm:cxn modelId="{D2E41167-21F5-4045-ACAF-6DF9D67559AF}" type="presOf" srcId="{01713B96-3446-4B7A-8B15-87E6959688DF}" destId="{C7CE808A-A084-42D4-807E-CA8451B64333}" srcOrd="0" destOrd="5" presId="urn:microsoft.com/office/officeart/2005/8/layout/process3"/>
    <dgm:cxn modelId="{76D61C47-D238-4CA1-B552-DBB4FF1D5D86}" srcId="{12357294-5896-4FF9-ABD6-0D8195400BB6}" destId="{162EEE30-D03B-4B3A-BA0E-E84FE072A834}" srcOrd="1" destOrd="0" parTransId="{2272ABFE-B266-4BE0-91B2-3CFE6E02C125}" sibTransId="{EB51F268-2414-4E4B-93A4-772AC75E7876}"/>
    <dgm:cxn modelId="{BADA314A-B6E0-4184-87DE-8BE307BF59FE}" type="presOf" srcId="{961628E7-7403-4F62-905F-EAF3B2F2CC53}" destId="{8CF5992F-6A4C-46A8-AF0A-4AD0891EC561}" srcOrd="0" destOrd="1" presId="urn:microsoft.com/office/officeart/2005/8/layout/process3"/>
    <dgm:cxn modelId="{3BA5174B-AFFF-4A78-83C2-925EFB73DE0E}" type="presOf" srcId="{0EB1CF03-AD86-4AE5-BC2E-E8922754B1C1}" destId="{C7CE808A-A084-42D4-807E-CA8451B64333}" srcOrd="0" destOrd="1" presId="urn:microsoft.com/office/officeart/2005/8/layout/process3"/>
    <dgm:cxn modelId="{5451AB6B-354E-41FF-BCAA-2773F386E19C}" srcId="{4D33C570-F2A6-482D-9B42-D560CE2CCBEC}" destId="{961628E7-7403-4F62-905F-EAF3B2F2CC53}" srcOrd="1" destOrd="0" parTransId="{82615823-A98A-49B6-9F9F-27804ABE9C08}" sibTransId="{4EE9ACAC-F235-48FE-8A6C-028409EA5949}"/>
    <dgm:cxn modelId="{87CEDC4F-749C-4F70-9413-BAB89B37FAF3}" type="presOf" srcId="{11DEA881-5F7F-479B-9BB1-EF40A9F35A7A}" destId="{C7CE808A-A084-42D4-807E-CA8451B64333}" srcOrd="0" destOrd="3" presId="urn:microsoft.com/office/officeart/2005/8/layout/process3"/>
    <dgm:cxn modelId="{D4E59874-DAA7-40B5-B39F-AED16052ECED}" type="presOf" srcId="{3C628FF1-CB98-414B-85BE-244FE0F3AD38}" destId="{C7CE808A-A084-42D4-807E-CA8451B64333}" srcOrd="0" destOrd="4" presId="urn:microsoft.com/office/officeart/2005/8/layout/process3"/>
    <dgm:cxn modelId="{EFB1DC75-15EA-4B58-B586-A0BCDCCC21EF}" type="presOf" srcId="{255C17D4-9288-4631-A6BE-2F9ED7985C56}" destId="{0A204761-6920-4E7A-9731-004C01090C6D}" srcOrd="0" destOrd="0" presId="urn:microsoft.com/office/officeart/2005/8/layout/process3"/>
    <dgm:cxn modelId="{EF25AD77-10FD-4BF3-874E-5C654E77E03B}" srcId="{4D33C570-F2A6-482D-9B42-D560CE2CCBEC}" destId="{6174193C-8584-4C9D-AC2B-4E49C61EA187}" srcOrd="0" destOrd="0" parTransId="{E07742EA-6D85-44B2-9C28-2641BF5C2DA8}" sibTransId="{F8D7D4B9-3B73-469F-B66B-093A5057D45B}"/>
    <dgm:cxn modelId="{1D0A5C7F-B9CD-44F6-91C9-404DF5A9393D}" srcId="{87619619-CFC5-48B5-AA18-56FAD523FFF4}" destId="{0EB1CF03-AD86-4AE5-BC2E-E8922754B1C1}" srcOrd="1" destOrd="0" parTransId="{E3665280-F56B-4DFB-82FD-CE722518280D}" sibTransId="{15115A82-5E27-40F0-9395-5FFA47E24E07}"/>
    <dgm:cxn modelId="{F6B56480-B40B-4CE0-BB9C-F2D2D6FB2765}" type="presOf" srcId="{255C17D4-9288-4631-A6BE-2F9ED7985C56}" destId="{2C66E0E4-8836-4224-ADE6-5C58ADADE99C}" srcOrd="1" destOrd="0" presId="urn:microsoft.com/office/officeart/2005/8/layout/process3"/>
    <dgm:cxn modelId="{CAED2285-6863-4F4C-B20A-C32E4B18252F}" type="presOf" srcId="{A6CD3A90-DA41-440A-99AE-7D4E7A5413DB}" destId="{E9E59741-F2A1-41CC-95CF-D05DA709D171}" srcOrd="0" destOrd="0" presId="urn:microsoft.com/office/officeart/2005/8/layout/process3"/>
    <dgm:cxn modelId="{569FAB86-ADFE-47DB-A2A6-1043CFEFEA1A}" srcId="{88CD026B-EED9-40CA-96F8-F3CB62246EBA}" destId="{4D33C570-F2A6-482D-9B42-D560CE2CCBEC}" srcOrd="1" destOrd="0" parTransId="{BC408993-DF53-4A3A-B39A-6E33A7ECFCB7}" sibTransId="{82E3CE9D-3C6D-4E36-AB93-0152456AA8E4}"/>
    <dgm:cxn modelId="{AC949E87-944E-4388-9055-296D74CDA130}" srcId="{87619619-CFC5-48B5-AA18-56FAD523FFF4}" destId="{11DEA881-5F7F-479B-9BB1-EF40A9F35A7A}" srcOrd="3" destOrd="0" parTransId="{C19157C7-B4F1-45C6-9BBD-3CA66D34924E}" sibTransId="{3CD26A53-B683-47E6-85BA-115C5DDABF61}"/>
    <dgm:cxn modelId="{76519C99-3D93-4994-B11C-668351BFB539}" srcId="{87619619-CFC5-48B5-AA18-56FAD523FFF4}" destId="{4CB3166B-3EE3-42E4-926A-4B89BA0E0BF0}" srcOrd="0" destOrd="0" parTransId="{98C30C0E-BB7B-4144-9085-18EC234CD02F}" sibTransId="{67679645-F08B-459C-86A1-C7DB2BC683CB}"/>
    <dgm:cxn modelId="{6515F2A2-10BD-4A3D-9E31-01F45C8F3ADF}" type="presOf" srcId="{87619619-CFC5-48B5-AA18-56FAD523FFF4}" destId="{E02DFB68-2253-44D0-9079-09B1982B9F2D}" srcOrd="1" destOrd="0" presId="urn:microsoft.com/office/officeart/2005/8/layout/process3"/>
    <dgm:cxn modelId="{A93723A5-4CCB-41BD-9E02-5BAD7026A2C2}" type="presOf" srcId="{82E3CE9D-3C6D-4E36-AB93-0152456AA8E4}" destId="{7F2411E7-0E6D-4194-BF05-6A467C381067}" srcOrd="1" destOrd="0" presId="urn:microsoft.com/office/officeart/2005/8/layout/process3"/>
    <dgm:cxn modelId="{3D0956A8-DBDA-4580-902B-1BD06D030F7A}" srcId="{87619619-CFC5-48B5-AA18-56FAD523FFF4}" destId="{36BD5C6F-DA64-409A-AF73-13FD0F5F751C}" srcOrd="2" destOrd="0" parTransId="{D55A4CE4-6C79-406E-B7ED-BA54CFF4E8F9}" sibTransId="{20A18C84-A0F1-44E1-ACF6-4CAEB735C6BC}"/>
    <dgm:cxn modelId="{8D9659AA-71C1-4D59-B474-A6E3C6088CAF}" type="presOf" srcId="{4CB3166B-3EE3-42E4-926A-4B89BA0E0BF0}" destId="{C7CE808A-A084-42D4-807E-CA8451B64333}" srcOrd="0" destOrd="0" presId="urn:microsoft.com/office/officeart/2005/8/layout/process3"/>
    <dgm:cxn modelId="{FCE061AD-DEEB-4A02-A924-B10E2190B97E}" type="presOf" srcId="{7E340D94-67B8-4408-9F9C-9F91F52642CA}" destId="{C7CE808A-A084-42D4-807E-CA8451B64333}" srcOrd="0" destOrd="6" presId="urn:microsoft.com/office/officeart/2005/8/layout/process3"/>
    <dgm:cxn modelId="{F01389BC-D548-4B19-8CBB-F58259467AE9}" type="presOf" srcId="{12357294-5896-4FF9-ABD6-0D8195400BB6}" destId="{9FA38E72-4FEA-4AE5-9F98-28632EAF6AB5}" srcOrd="1" destOrd="0" presId="urn:microsoft.com/office/officeart/2005/8/layout/process3"/>
    <dgm:cxn modelId="{8FE0B7C7-D68B-4D24-AA6B-571FB436B57C}" type="presOf" srcId="{4D33C570-F2A6-482D-9B42-D560CE2CCBEC}" destId="{8610AA97-F01E-4657-B009-0C33668B0FF6}" srcOrd="0" destOrd="0" presId="urn:microsoft.com/office/officeart/2005/8/layout/process3"/>
    <dgm:cxn modelId="{D9774AD5-A6BC-45FF-A135-D387735600ED}" type="presOf" srcId="{4D33C570-F2A6-482D-9B42-D560CE2CCBEC}" destId="{DE4DBAE1-77C4-4BCA-A4FD-1331B34A277F}" srcOrd="1" destOrd="0" presId="urn:microsoft.com/office/officeart/2005/8/layout/process3"/>
    <dgm:cxn modelId="{3FFF34D7-BA0A-48E4-A0AD-763207C52979}" type="presOf" srcId="{73537CC2-7BD6-4C0F-B546-15B79909973E}" destId="{E9E59741-F2A1-41CC-95CF-D05DA709D171}" srcOrd="0" destOrd="2" presId="urn:microsoft.com/office/officeart/2005/8/layout/process3"/>
    <dgm:cxn modelId="{91E503E4-658A-4CEA-BC62-2DF4078FEAD4}" srcId="{12357294-5896-4FF9-ABD6-0D8195400BB6}" destId="{A6CD3A90-DA41-440A-99AE-7D4E7A5413DB}" srcOrd="0" destOrd="0" parTransId="{7793D30A-2B43-44E0-931A-BBB5493FB529}" sibTransId="{F8BDA18C-127F-432D-8A42-549599D81B71}"/>
    <dgm:cxn modelId="{4F4830E7-93BA-4311-BD8A-F740B7F4F853}" type="presOf" srcId="{82E3CE9D-3C6D-4E36-AB93-0152456AA8E4}" destId="{35014587-E233-44CE-A8C5-788678F0BE76}" srcOrd="0" destOrd="0" presId="urn:microsoft.com/office/officeart/2005/8/layout/process3"/>
    <dgm:cxn modelId="{B54F50F8-3772-4B37-A94A-60F6D5695C5A}" type="presOf" srcId="{87619619-CFC5-48B5-AA18-56FAD523FFF4}" destId="{06C17DE9-29F4-45BE-8544-6CA34BFA667D}" srcOrd="0" destOrd="0" presId="urn:microsoft.com/office/officeart/2005/8/layout/process3"/>
    <dgm:cxn modelId="{039782F9-7B08-48CB-BD2B-46B4BEF1E54B}" srcId="{88CD026B-EED9-40CA-96F8-F3CB62246EBA}" destId="{12357294-5896-4FF9-ABD6-0D8195400BB6}" srcOrd="2" destOrd="0" parTransId="{3084B7A9-524D-42AD-AD9C-72B40E63B157}" sibTransId="{EC1A7FFD-7F38-45AB-8827-CBB89D1310B0}"/>
    <dgm:cxn modelId="{0C083EFF-4B2F-4BDA-93DF-F4AFC907DF07}" srcId="{88CD026B-EED9-40CA-96F8-F3CB62246EBA}" destId="{87619619-CFC5-48B5-AA18-56FAD523FFF4}" srcOrd="0" destOrd="0" parTransId="{63F69376-2ADE-43F1-91C8-B4DB3B4B0131}" sibTransId="{255C17D4-9288-4631-A6BE-2F9ED7985C56}"/>
    <dgm:cxn modelId="{F895A04C-651C-4075-B4B9-5120EC82DB36}" type="presParOf" srcId="{F696B590-C520-47A5-B6ED-9E6662407BF4}" destId="{38752FCA-8943-445C-A3B9-44E692529030}" srcOrd="0" destOrd="0" presId="urn:microsoft.com/office/officeart/2005/8/layout/process3"/>
    <dgm:cxn modelId="{51958277-5221-4E40-BF1A-33F5F8EDAD09}" type="presParOf" srcId="{38752FCA-8943-445C-A3B9-44E692529030}" destId="{06C17DE9-29F4-45BE-8544-6CA34BFA667D}" srcOrd="0" destOrd="0" presId="urn:microsoft.com/office/officeart/2005/8/layout/process3"/>
    <dgm:cxn modelId="{E978E22B-6BC5-411A-A209-3F69E0F03738}" type="presParOf" srcId="{38752FCA-8943-445C-A3B9-44E692529030}" destId="{E02DFB68-2253-44D0-9079-09B1982B9F2D}" srcOrd="1" destOrd="0" presId="urn:microsoft.com/office/officeart/2005/8/layout/process3"/>
    <dgm:cxn modelId="{FD46F368-CBB7-43F1-B24B-100376FF586D}" type="presParOf" srcId="{38752FCA-8943-445C-A3B9-44E692529030}" destId="{C7CE808A-A084-42D4-807E-CA8451B64333}" srcOrd="2" destOrd="0" presId="urn:microsoft.com/office/officeart/2005/8/layout/process3"/>
    <dgm:cxn modelId="{912DA85B-3E62-47E8-9C55-D41DCBFC5247}" type="presParOf" srcId="{F696B590-C520-47A5-B6ED-9E6662407BF4}" destId="{0A204761-6920-4E7A-9731-004C01090C6D}" srcOrd="1" destOrd="0" presId="urn:microsoft.com/office/officeart/2005/8/layout/process3"/>
    <dgm:cxn modelId="{81D41626-E283-4954-90AF-E3EA22881376}" type="presParOf" srcId="{0A204761-6920-4E7A-9731-004C01090C6D}" destId="{2C66E0E4-8836-4224-ADE6-5C58ADADE99C}" srcOrd="0" destOrd="0" presId="urn:microsoft.com/office/officeart/2005/8/layout/process3"/>
    <dgm:cxn modelId="{0D745064-D538-4B81-AA0A-D763DE9D8669}" type="presParOf" srcId="{F696B590-C520-47A5-B6ED-9E6662407BF4}" destId="{189469FD-5912-4E82-845A-5A4A24336BB5}" srcOrd="2" destOrd="0" presId="urn:microsoft.com/office/officeart/2005/8/layout/process3"/>
    <dgm:cxn modelId="{7BE2ED8C-FF65-4C7F-8C98-5310F7BC133C}" type="presParOf" srcId="{189469FD-5912-4E82-845A-5A4A24336BB5}" destId="{8610AA97-F01E-4657-B009-0C33668B0FF6}" srcOrd="0" destOrd="0" presId="urn:microsoft.com/office/officeart/2005/8/layout/process3"/>
    <dgm:cxn modelId="{CF7009E6-AD3B-41A9-93E4-08F0AA8B499F}" type="presParOf" srcId="{189469FD-5912-4E82-845A-5A4A24336BB5}" destId="{DE4DBAE1-77C4-4BCA-A4FD-1331B34A277F}" srcOrd="1" destOrd="0" presId="urn:microsoft.com/office/officeart/2005/8/layout/process3"/>
    <dgm:cxn modelId="{EB86670A-06E1-4E56-A29D-437ECA74AAF8}" type="presParOf" srcId="{189469FD-5912-4E82-845A-5A4A24336BB5}" destId="{8CF5992F-6A4C-46A8-AF0A-4AD0891EC561}" srcOrd="2" destOrd="0" presId="urn:microsoft.com/office/officeart/2005/8/layout/process3"/>
    <dgm:cxn modelId="{ED6D7624-3616-4ACC-BB17-F52188E6B26B}" type="presParOf" srcId="{F696B590-C520-47A5-B6ED-9E6662407BF4}" destId="{35014587-E233-44CE-A8C5-788678F0BE76}" srcOrd="3" destOrd="0" presId="urn:microsoft.com/office/officeart/2005/8/layout/process3"/>
    <dgm:cxn modelId="{AD7E623B-7B30-4115-99D6-22F9F00B6D25}" type="presParOf" srcId="{35014587-E233-44CE-A8C5-788678F0BE76}" destId="{7F2411E7-0E6D-4194-BF05-6A467C381067}" srcOrd="0" destOrd="0" presId="urn:microsoft.com/office/officeart/2005/8/layout/process3"/>
    <dgm:cxn modelId="{542547B8-F34E-403F-AD2A-ACF652FBD1FF}" type="presParOf" srcId="{F696B590-C520-47A5-B6ED-9E6662407BF4}" destId="{1340BC45-5494-4079-8DF8-538CE2CD3793}" srcOrd="4" destOrd="0" presId="urn:microsoft.com/office/officeart/2005/8/layout/process3"/>
    <dgm:cxn modelId="{5718AEBC-F4EA-45B5-A3C7-026ACD9C3252}" type="presParOf" srcId="{1340BC45-5494-4079-8DF8-538CE2CD3793}" destId="{F1224BD7-24B9-4145-8DF6-A49D4F3526D7}" srcOrd="0" destOrd="0" presId="urn:microsoft.com/office/officeart/2005/8/layout/process3"/>
    <dgm:cxn modelId="{A55A51B9-7F53-4BBD-A937-124138612586}" type="presParOf" srcId="{1340BC45-5494-4079-8DF8-538CE2CD3793}" destId="{9FA38E72-4FEA-4AE5-9F98-28632EAF6AB5}" srcOrd="1" destOrd="0" presId="urn:microsoft.com/office/officeart/2005/8/layout/process3"/>
    <dgm:cxn modelId="{5D1BC1E5-C385-4C0F-9C9F-4D709C467149}" type="presParOf" srcId="{1340BC45-5494-4079-8DF8-538CE2CD3793}" destId="{E9E59741-F2A1-41CC-95CF-D05DA709D171}"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DFB68-2253-44D0-9079-09B1982B9F2D}">
      <dsp:nvSpPr>
        <dsp:cNvPr id="0" name=""/>
        <dsp:cNvSpPr/>
      </dsp:nvSpPr>
      <dsp:spPr>
        <a:xfrm>
          <a:off x="5454" y="5021"/>
          <a:ext cx="2479963" cy="116640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91440" numCol="1" spcCol="1270" anchor="t" anchorCtr="0">
          <a:noAutofit/>
        </a:bodyPr>
        <a:lstStyle/>
        <a:p>
          <a:pPr marL="0" lvl="0" indent="0" algn="l" defTabSz="1066800">
            <a:lnSpc>
              <a:spcPct val="90000"/>
            </a:lnSpc>
            <a:spcBef>
              <a:spcPct val="0"/>
            </a:spcBef>
            <a:spcAft>
              <a:spcPct val="35000"/>
            </a:spcAft>
            <a:buNone/>
          </a:pPr>
          <a:r>
            <a:rPr lang="en-US" sz="2400" b="1" kern="1200"/>
            <a:t>Context:</a:t>
          </a:r>
          <a:endParaRPr lang="en-US" sz="2400" kern="1200"/>
        </a:p>
      </dsp:txBody>
      <dsp:txXfrm>
        <a:off x="5454" y="5021"/>
        <a:ext cx="2479963" cy="777600"/>
      </dsp:txXfrm>
    </dsp:sp>
    <dsp:sp modelId="{C7CE808A-A084-42D4-807E-CA8451B64333}">
      <dsp:nvSpPr>
        <dsp:cNvPr id="0" name=""/>
        <dsp:cNvSpPr/>
      </dsp:nvSpPr>
      <dsp:spPr>
        <a:xfrm>
          <a:off x="513398" y="782621"/>
          <a:ext cx="2479963" cy="38272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Global economy is increasingly shock‑prone</a:t>
          </a:r>
        </a:p>
        <a:p>
          <a:pPr marL="171450" lvl="1" indent="-171450" algn="l" defTabSz="711200">
            <a:lnSpc>
              <a:spcPct val="90000"/>
            </a:lnSpc>
            <a:spcBef>
              <a:spcPct val="0"/>
            </a:spcBef>
            <a:spcAft>
              <a:spcPct val="15000"/>
            </a:spcAft>
            <a:buChar char="•"/>
          </a:pPr>
          <a:endParaRPr lang="en-US" sz="1600" kern="1200"/>
        </a:p>
        <a:p>
          <a:pPr marL="171450" lvl="1" indent="-171450" algn="l" defTabSz="711200">
            <a:lnSpc>
              <a:spcPct val="90000"/>
            </a:lnSpc>
            <a:spcBef>
              <a:spcPct val="0"/>
            </a:spcBef>
            <a:spcAft>
              <a:spcPct val="15000"/>
            </a:spcAft>
            <a:buChar char="•"/>
          </a:pPr>
          <a:r>
            <a:rPr lang="en-US" sz="1600" kern="1200"/>
            <a:t>Demographic changes</a:t>
          </a:r>
        </a:p>
        <a:p>
          <a:pPr marL="171450" lvl="1" indent="-171450" algn="l" defTabSz="711200">
            <a:lnSpc>
              <a:spcPct val="90000"/>
            </a:lnSpc>
            <a:spcBef>
              <a:spcPct val="0"/>
            </a:spcBef>
            <a:spcAft>
              <a:spcPct val="15000"/>
            </a:spcAft>
            <a:buChar char="•"/>
          </a:pPr>
          <a:endParaRPr lang="en-US" sz="1600" kern="1200"/>
        </a:p>
        <a:p>
          <a:pPr marL="171450" lvl="1" indent="-171450" algn="l" defTabSz="711200">
            <a:lnSpc>
              <a:spcPct val="90000"/>
            </a:lnSpc>
            <a:spcBef>
              <a:spcPct val="0"/>
            </a:spcBef>
            <a:spcAft>
              <a:spcPct val="15000"/>
            </a:spcAft>
            <a:buChar char="•"/>
          </a:pPr>
          <a:r>
            <a:rPr lang="en-US" sz="1600" kern="1200"/>
            <a:t>Digitalization</a:t>
          </a:r>
        </a:p>
        <a:p>
          <a:pPr marL="171450" lvl="1" indent="-171450" algn="l" defTabSz="711200">
            <a:lnSpc>
              <a:spcPct val="90000"/>
            </a:lnSpc>
            <a:spcBef>
              <a:spcPct val="0"/>
            </a:spcBef>
            <a:spcAft>
              <a:spcPct val="15000"/>
            </a:spcAft>
            <a:buChar char="•"/>
          </a:pPr>
          <a:endParaRPr lang="en-US" sz="1600" kern="1200"/>
        </a:p>
        <a:p>
          <a:pPr marL="171450" lvl="1" indent="-171450" algn="l" defTabSz="711200">
            <a:lnSpc>
              <a:spcPct val="90000"/>
            </a:lnSpc>
            <a:spcBef>
              <a:spcPct val="0"/>
            </a:spcBef>
            <a:spcAft>
              <a:spcPct val="15000"/>
            </a:spcAft>
            <a:buChar char="•"/>
          </a:pPr>
          <a:r>
            <a:rPr lang="en-US" sz="1600" kern="1200"/>
            <a:t>Rise of artificial intelligence</a:t>
          </a:r>
        </a:p>
      </dsp:txBody>
      <dsp:txXfrm>
        <a:off x="586034" y="855257"/>
        <a:ext cx="2334691" cy="3681978"/>
      </dsp:txXfrm>
    </dsp:sp>
    <dsp:sp modelId="{0A204761-6920-4E7A-9731-004C01090C6D}">
      <dsp:nvSpPr>
        <dsp:cNvPr id="0" name=""/>
        <dsp:cNvSpPr/>
      </dsp:nvSpPr>
      <dsp:spPr>
        <a:xfrm>
          <a:off x="2861370" y="85101"/>
          <a:ext cx="797021" cy="617439"/>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861370" y="208589"/>
        <a:ext cx="611789" cy="370463"/>
      </dsp:txXfrm>
    </dsp:sp>
    <dsp:sp modelId="{DE4DBAE1-77C4-4BCA-A4FD-1331B34A277F}">
      <dsp:nvSpPr>
        <dsp:cNvPr id="0" name=""/>
        <dsp:cNvSpPr/>
      </dsp:nvSpPr>
      <dsp:spPr>
        <a:xfrm>
          <a:off x="3989231" y="5021"/>
          <a:ext cx="2479963" cy="116640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91440" numCol="1" spcCol="1270" anchor="t" anchorCtr="0">
          <a:noAutofit/>
        </a:bodyPr>
        <a:lstStyle/>
        <a:p>
          <a:pPr marL="0" lvl="0" indent="0" algn="l" defTabSz="1066800">
            <a:lnSpc>
              <a:spcPct val="90000"/>
            </a:lnSpc>
            <a:spcBef>
              <a:spcPct val="0"/>
            </a:spcBef>
            <a:spcAft>
              <a:spcPct val="35000"/>
            </a:spcAft>
            <a:buNone/>
          </a:pPr>
          <a:r>
            <a:rPr lang="en-US" sz="2400" b="1" kern="1200"/>
            <a:t>Impacts:</a:t>
          </a:r>
          <a:endParaRPr lang="en-US" sz="2400" kern="1200"/>
        </a:p>
      </dsp:txBody>
      <dsp:txXfrm>
        <a:off x="3989231" y="5021"/>
        <a:ext cx="2479963" cy="777600"/>
      </dsp:txXfrm>
    </dsp:sp>
    <dsp:sp modelId="{8CF5992F-6A4C-46A8-AF0A-4AD0891EC561}">
      <dsp:nvSpPr>
        <dsp:cNvPr id="0" name=""/>
        <dsp:cNvSpPr/>
      </dsp:nvSpPr>
      <dsp:spPr>
        <a:xfrm>
          <a:off x="4497175" y="782621"/>
          <a:ext cx="2479963" cy="38272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Macroeconomic: Growth, productivity, and resilience</a:t>
          </a:r>
        </a:p>
        <a:p>
          <a:pPr marL="171450" lvl="1" indent="-171450" algn="l" defTabSz="711200">
            <a:lnSpc>
              <a:spcPct val="90000"/>
            </a:lnSpc>
            <a:spcBef>
              <a:spcPct val="0"/>
            </a:spcBef>
            <a:spcAft>
              <a:spcPct val="15000"/>
            </a:spcAft>
            <a:buChar char="•"/>
          </a:pPr>
          <a:endParaRPr lang="en-US" sz="1600" kern="1200"/>
        </a:p>
        <a:p>
          <a:pPr marL="171450" lvl="1" indent="-171450" algn="l" defTabSz="711200">
            <a:lnSpc>
              <a:spcPct val="90000"/>
            </a:lnSpc>
            <a:spcBef>
              <a:spcPct val="0"/>
            </a:spcBef>
            <a:spcAft>
              <a:spcPct val="15000"/>
            </a:spcAft>
            <a:buChar char="•"/>
          </a:pPr>
          <a:r>
            <a:rPr lang="en-US" sz="1600" kern="1200"/>
            <a:t>Distributional: Uneven across countries, sectors, workers, and households.</a:t>
          </a:r>
        </a:p>
      </dsp:txBody>
      <dsp:txXfrm>
        <a:off x="4569811" y="855257"/>
        <a:ext cx="2334691" cy="3681978"/>
      </dsp:txXfrm>
    </dsp:sp>
    <dsp:sp modelId="{35014587-E233-44CE-A8C5-788678F0BE76}">
      <dsp:nvSpPr>
        <dsp:cNvPr id="0" name=""/>
        <dsp:cNvSpPr/>
      </dsp:nvSpPr>
      <dsp:spPr>
        <a:xfrm>
          <a:off x="6845147" y="85101"/>
          <a:ext cx="797021" cy="617439"/>
        </a:xfrm>
        <a:prstGeom prs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845147" y="208589"/>
        <a:ext cx="611789" cy="370463"/>
      </dsp:txXfrm>
    </dsp:sp>
    <dsp:sp modelId="{9FA38E72-4FEA-4AE5-9F98-28632EAF6AB5}">
      <dsp:nvSpPr>
        <dsp:cNvPr id="0" name=""/>
        <dsp:cNvSpPr/>
      </dsp:nvSpPr>
      <dsp:spPr>
        <a:xfrm>
          <a:off x="7973008" y="5021"/>
          <a:ext cx="2479963" cy="116640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91440" numCol="1" spcCol="1270" anchor="t" anchorCtr="0">
          <a:noAutofit/>
        </a:bodyPr>
        <a:lstStyle/>
        <a:p>
          <a:pPr marL="0" lvl="0" indent="0" algn="l" defTabSz="1066800">
            <a:lnSpc>
              <a:spcPct val="90000"/>
            </a:lnSpc>
            <a:spcBef>
              <a:spcPct val="0"/>
            </a:spcBef>
            <a:spcAft>
              <a:spcPct val="35000"/>
            </a:spcAft>
            <a:buNone/>
          </a:pPr>
          <a:r>
            <a:rPr lang="en-US" sz="2400" b="1" kern="1200"/>
            <a:t>Policy Design:</a:t>
          </a:r>
          <a:endParaRPr lang="en-US" sz="2400" kern="1200"/>
        </a:p>
      </dsp:txBody>
      <dsp:txXfrm>
        <a:off x="7973008" y="5021"/>
        <a:ext cx="2479963" cy="777600"/>
      </dsp:txXfrm>
    </dsp:sp>
    <dsp:sp modelId="{E9E59741-F2A1-41CC-95CF-D05DA709D171}">
      <dsp:nvSpPr>
        <dsp:cNvPr id="0" name=""/>
        <dsp:cNvSpPr/>
      </dsp:nvSpPr>
      <dsp:spPr>
        <a:xfrm>
          <a:off x="8480952" y="782621"/>
          <a:ext cx="2479963" cy="38272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Vulnerable groups often bear disproportionate share of adjustment costs. </a:t>
          </a:r>
        </a:p>
        <a:p>
          <a:pPr marL="171450" lvl="1" indent="-171450" algn="l" defTabSz="711200">
            <a:lnSpc>
              <a:spcPct val="90000"/>
            </a:lnSpc>
            <a:spcBef>
              <a:spcPct val="0"/>
            </a:spcBef>
            <a:spcAft>
              <a:spcPct val="15000"/>
            </a:spcAft>
            <a:buChar char="•"/>
          </a:pPr>
          <a:endParaRPr lang="en-US" sz="1600" kern="1200"/>
        </a:p>
        <a:p>
          <a:pPr marL="171450" lvl="1" indent="-171450" algn="l" defTabSz="711200">
            <a:lnSpc>
              <a:spcPct val="90000"/>
            </a:lnSpc>
            <a:spcBef>
              <a:spcPct val="0"/>
            </a:spcBef>
            <a:spcAft>
              <a:spcPct val="15000"/>
            </a:spcAft>
            <a:buChar char="•"/>
          </a:pPr>
          <a:r>
            <a:rPr lang="en-US" sz="1600" kern="1200"/>
            <a:t>Sound macroeconomic frameworks are essential—but policy effectiveness also depends on understanding who is affected, how, and through which channels. </a:t>
          </a:r>
        </a:p>
      </dsp:txBody>
      <dsp:txXfrm>
        <a:off x="8553588" y="855257"/>
        <a:ext cx="2334691" cy="3681978"/>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2" y="12"/>
            <a:ext cx="3043447" cy="464977"/>
          </a:xfrm>
          <a:prstGeom prst="rect">
            <a:avLst/>
          </a:prstGeom>
        </p:spPr>
        <p:txBody>
          <a:bodyPr vert="horz" lIns="91239" tIns="45618" rIns="91239" bIns="45618" rtlCol="0"/>
          <a:lstStyle>
            <a:lvl1pPr algn="l">
              <a:defRPr sz="1200"/>
            </a:lvl1pPr>
          </a:lstStyle>
          <a:p>
            <a:endParaRPr lang="en-US"/>
          </a:p>
        </p:txBody>
      </p:sp>
      <p:sp>
        <p:nvSpPr>
          <p:cNvPr id="4" name="Footer Placeholder 3"/>
          <p:cNvSpPr>
            <a:spLocks noGrp="1"/>
          </p:cNvSpPr>
          <p:nvPr>
            <p:ph type="ftr" sz="quarter" idx="2"/>
          </p:nvPr>
        </p:nvSpPr>
        <p:spPr>
          <a:xfrm>
            <a:off x="12" y="8842547"/>
            <a:ext cx="3043447" cy="464977"/>
          </a:xfrm>
          <a:prstGeom prst="rect">
            <a:avLst/>
          </a:prstGeom>
        </p:spPr>
        <p:txBody>
          <a:bodyPr vert="horz" lIns="91239" tIns="45618" rIns="91239" bIns="45618" rtlCol="0" anchor="b"/>
          <a:lstStyle>
            <a:lvl1pPr algn="l">
              <a:defRPr sz="1200"/>
            </a:lvl1pPr>
          </a:lstStyle>
          <a:p>
            <a:endParaRPr lang="en-US"/>
          </a:p>
        </p:txBody>
      </p:sp>
      <p:sp>
        <p:nvSpPr>
          <p:cNvPr id="5" name="Slide Number Placeholder 4"/>
          <p:cNvSpPr>
            <a:spLocks noGrp="1"/>
          </p:cNvSpPr>
          <p:nvPr>
            <p:ph type="sldNum" sz="quarter" idx="3"/>
          </p:nvPr>
        </p:nvSpPr>
        <p:spPr>
          <a:xfrm>
            <a:off x="3978075" y="8842547"/>
            <a:ext cx="3043447" cy="464977"/>
          </a:xfrm>
          <a:prstGeom prst="rect">
            <a:avLst/>
          </a:prstGeom>
        </p:spPr>
        <p:txBody>
          <a:bodyPr vert="horz" lIns="91239" tIns="45618" rIns="91239" bIns="45618" rtlCol="0" anchor="b"/>
          <a:lstStyle>
            <a:lvl1pPr algn="r">
              <a:defRPr sz="1200"/>
            </a:lvl1pPr>
          </a:lstStyle>
          <a:p>
            <a:fld id="{70787CFD-D5C7-455D-B121-683BFE13FBD4}" type="slidenum">
              <a:rPr lang="en-US" smtClean="0"/>
              <a:pPr/>
              <a:t>‹#›</a:t>
            </a:fld>
            <a:endParaRPr lang="en-US"/>
          </a:p>
        </p:txBody>
      </p:sp>
    </p:spTree>
    <p:extLst>
      <p:ext uri="{BB962C8B-B14F-4D97-AF65-F5344CB8AC3E}">
        <p14:creationId xmlns:p14="http://schemas.microsoft.com/office/powerpoint/2010/main" val="339198984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6"/>
            <a:ext cx="3043343" cy="465455"/>
          </a:xfrm>
          <a:prstGeom prst="rect">
            <a:avLst/>
          </a:prstGeom>
        </p:spPr>
        <p:txBody>
          <a:bodyPr vert="horz" lIns="93134" tIns="46567" rIns="93134" bIns="46567" rtlCol="0"/>
          <a:lstStyle>
            <a:lvl1pPr algn="l">
              <a:defRPr sz="1200"/>
            </a:lvl1pPr>
          </a:lstStyle>
          <a:p>
            <a:endParaRPr lang="en-US"/>
          </a:p>
        </p:txBody>
      </p:sp>
      <p:sp>
        <p:nvSpPr>
          <p:cNvPr id="3" name="Date Placeholder 2"/>
          <p:cNvSpPr>
            <a:spLocks noGrp="1"/>
          </p:cNvSpPr>
          <p:nvPr>
            <p:ph type="dt" idx="1"/>
          </p:nvPr>
        </p:nvSpPr>
        <p:spPr>
          <a:xfrm>
            <a:off x="3978139" y="6"/>
            <a:ext cx="3043343" cy="465455"/>
          </a:xfrm>
          <a:prstGeom prst="rect">
            <a:avLst/>
          </a:prstGeom>
        </p:spPr>
        <p:txBody>
          <a:bodyPr vert="horz" lIns="93134" tIns="46567" rIns="93134" bIns="46567" rtlCol="0"/>
          <a:lstStyle>
            <a:lvl1pPr algn="r">
              <a:defRPr sz="1200"/>
            </a:lvl1pPr>
          </a:lstStyle>
          <a:p>
            <a:fld id="{F2FB1009-8102-467C-88A3-A8200E3708E5}" type="datetime1">
              <a:rPr lang="en-US" smtClean="0"/>
              <a:t>5/21/2026</a:t>
            </a:fld>
            <a:endParaRPr lang="en-US"/>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134" tIns="46567" rIns="93134" bIns="46567" rtlCol="0" anchor="ctr"/>
          <a:lstStyle/>
          <a:p>
            <a:endParaRPr lang="en-US"/>
          </a:p>
        </p:txBody>
      </p:sp>
      <p:sp>
        <p:nvSpPr>
          <p:cNvPr id="5" name="Notes Placeholder 4"/>
          <p:cNvSpPr>
            <a:spLocks noGrp="1"/>
          </p:cNvSpPr>
          <p:nvPr>
            <p:ph type="body" sz="quarter" idx="3"/>
          </p:nvPr>
        </p:nvSpPr>
        <p:spPr>
          <a:xfrm>
            <a:off x="702313" y="4421825"/>
            <a:ext cx="5618480" cy="4189095"/>
          </a:xfrm>
          <a:prstGeom prst="rect">
            <a:avLst/>
          </a:prstGeom>
        </p:spPr>
        <p:txBody>
          <a:bodyPr vert="horz" lIns="93134" tIns="46567" rIns="93134" bIns="4656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6"/>
            <a:ext cx="3043343" cy="465455"/>
          </a:xfrm>
          <a:prstGeom prst="rect">
            <a:avLst/>
          </a:prstGeom>
        </p:spPr>
        <p:txBody>
          <a:bodyPr vert="horz" lIns="93134" tIns="46567" rIns="93134" bIns="46567" rtlCol="0" anchor="b"/>
          <a:lstStyle>
            <a:lvl1pPr algn="l">
              <a:defRPr sz="1200"/>
            </a:lvl1pPr>
          </a:lstStyle>
          <a:p>
            <a:endParaRPr lang="en-US"/>
          </a:p>
        </p:txBody>
      </p:sp>
      <p:sp>
        <p:nvSpPr>
          <p:cNvPr id="7" name="Slide Number Placeholder 6"/>
          <p:cNvSpPr>
            <a:spLocks noGrp="1"/>
          </p:cNvSpPr>
          <p:nvPr>
            <p:ph type="sldNum" sz="quarter" idx="5"/>
          </p:nvPr>
        </p:nvSpPr>
        <p:spPr>
          <a:xfrm>
            <a:off x="3978139" y="8842036"/>
            <a:ext cx="3043343" cy="465455"/>
          </a:xfrm>
          <a:prstGeom prst="rect">
            <a:avLst/>
          </a:prstGeom>
        </p:spPr>
        <p:txBody>
          <a:bodyPr vert="horz" lIns="93134" tIns="46567" rIns="93134" bIns="46567" rtlCol="0" anchor="b"/>
          <a:lstStyle>
            <a:lvl1pPr algn="r">
              <a:defRPr sz="1200"/>
            </a:lvl1pPr>
          </a:lstStyle>
          <a:p>
            <a:fld id="{BA49F774-CCF9-492C-9AEB-F2814D4A6625}" type="slidenum">
              <a:rPr lang="en-US" smtClean="0"/>
              <a:pPr/>
              <a:t>‹#›</a:t>
            </a:fld>
            <a:endParaRPr lang="en-US"/>
          </a:p>
        </p:txBody>
      </p:sp>
    </p:spTree>
    <p:extLst>
      <p:ext uri="{BB962C8B-B14F-4D97-AF65-F5344CB8AC3E}">
        <p14:creationId xmlns:p14="http://schemas.microsoft.com/office/powerpoint/2010/main" val="1913010238"/>
      </p:ext>
    </p:extLst>
  </p:cSld>
  <p:clrMap bg1="lt1" tx1="dk1" bg2="lt2" tx2="dk2" accent1="accent1" accent2="accent2" accent3="accent3" accent4="accent4" accent5="accent5" accent6="accent6" hlink="hlink" folHlink="folHlink"/>
  <p:hf hdr="0" ftr="0"/>
  <p:notesStyle>
    <a:lvl1pPr marL="0" algn="l" defTabSz="914314" rtl="0" eaLnBrk="1" latinLnBrk="0" hangingPunct="1">
      <a:defRPr sz="1200" kern="1200">
        <a:solidFill>
          <a:schemeClr val="tx1"/>
        </a:solidFill>
        <a:latin typeface="+mn-lt"/>
        <a:ea typeface="+mn-ea"/>
        <a:cs typeface="+mn-cs"/>
      </a:defRPr>
    </a:lvl1pPr>
    <a:lvl2pPr marL="457157" algn="l" defTabSz="914314" rtl="0" eaLnBrk="1" latinLnBrk="0" hangingPunct="1">
      <a:defRPr sz="1200" kern="1200">
        <a:solidFill>
          <a:schemeClr val="tx1"/>
        </a:solidFill>
        <a:latin typeface="+mn-lt"/>
        <a:ea typeface="+mn-ea"/>
        <a:cs typeface="+mn-cs"/>
      </a:defRPr>
    </a:lvl2pPr>
    <a:lvl3pPr marL="914314" algn="l" defTabSz="914314" rtl="0" eaLnBrk="1" latinLnBrk="0" hangingPunct="1">
      <a:defRPr sz="1200" kern="1200">
        <a:solidFill>
          <a:schemeClr val="tx1"/>
        </a:solidFill>
        <a:latin typeface="+mn-lt"/>
        <a:ea typeface="+mn-ea"/>
        <a:cs typeface="+mn-cs"/>
      </a:defRPr>
    </a:lvl3pPr>
    <a:lvl4pPr marL="1371472" algn="l" defTabSz="914314" rtl="0" eaLnBrk="1" latinLnBrk="0" hangingPunct="1">
      <a:defRPr sz="1200" kern="1200">
        <a:solidFill>
          <a:schemeClr val="tx1"/>
        </a:solidFill>
        <a:latin typeface="+mn-lt"/>
        <a:ea typeface="+mn-ea"/>
        <a:cs typeface="+mn-cs"/>
      </a:defRPr>
    </a:lvl4pPr>
    <a:lvl5pPr marL="1828628" algn="l" defTabSz="914314" rtl="0" eaLnBrk="1" latinLnBrk="0" hangingPunct="1">
      <a:defRPr sz="1200" kern="1200">
        <a:solidFill>
          <a:schemeClr val="tx1"/>
        </a:solidFill>
        <a:latin typeface="+mn-lt"/>
        <a:ea typeface="+mn-ea"/>
        <a:cs typeface="+mn-cs"/>
      </a:defRPr>
    </a:lvl5pPr>
    <a:lvl6pPr marL="2285785" algn="l" defTabSz="914314" rtl="0" eaLnBrk="1" latinLnBrk="0" hangingPunct="1">
      <a:defRPr sz="1200" kern="1200">
        <a:solidFill>
          <a:schemeClr val="tx1"/>
        </a:solidFill>
        <a:latin typeface="+mn-lt"/>
        <a:ea typeface="+mn-ea"/>
        <a:cs typeface="+mn-cs"/>
      </a:defRPr>
    </a:lvl6pPr>
    <a:lvl7pPr marL="2742942" algn="l" defTabSz="914314" rtl="0" eaLnBrk="1" latinLnBrk="0" hangingPunct="1">
      <a:defRPr sz="1200" kern="1200">
        <a:solidFill>
          <a:schemeClr val="tx1"/>
        </a:solidFill>
        <a:latin typeface="+mn-lt"/>
        <a:ea typeface="+mn-ea"/>
        <a:cs typeface="+mn-cs"/>
      </a:defRPr>
    </a:lvl7pPr>
    <a:lvl8pPr marL="3200100" algn="l" defTabSz="914314" rtl="0" eaLnBrk="1" latinLnBrk="0" hangingPunct="1">
      <a:defRPr sz="1200" kern="1200">
        <a:solidFill>
          <a:schemeClr val="tx1"/>
        </a:solidFill>
        <a:latin typeface="+mn-lt"/>
        <a:ea typeface="+mn-ea"/>
        <a:cs typeface="+mn-cs"/>
      </a:defRPr>
    </a:lvl8pPr>
    <a:lvl9pPr marL="3657257" algn="l" defTabSz="91431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1B9B78-73FE-4DA1-81AD-EEA68D15F9CA}" type="slidenum">
              <a:rPr lang="en-US" smtClean="0"/>
              <a:t>1</a:t>
            </a:fld>
            <a:endParaRPr lang="en-US"/>
          </a:p>
        </p:txBody>
      </p:sp>
    </p:spTree>
    <p:extLst>
      <p:ext uri="{BB962C8B-B14F-4D97-AF65-F5344CB8AC3E}">
        <p14:creationId xmlns:p14="http://schemas.microsoft.com/office/powerpoint/2010/main" val="3992128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a:t>
            </a:fld>
            <a:endParaRPr lang="en-US"/>
          </a:p>
        </p:txBody>
      </p:sp>
    </p:spTree>
    <p:extLst>
      <p:ext uri="{BB962C8B-B14F-4D97-AF65-F5344CB8AC3E}">
        <p14:creationId xmlns:p14="http://schemas.microsoft.com/office/powerpoint/2010/main" val="2705191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a:t>
            </a:fld>
            <a:endParaRPr lang="en-US"/>
          </a:p>
        </p:txBody>
      </p:sp>
    </p:spTree>
    <p:extLst>
      <p:ext uri="{BB962C8B-B14F-4D97-AF65-F5344CB8AC3E}">
        <p14:creationId xmlns:p14="http://schemas.microsoft.com/office/powerpoint/2010/main" val="1924808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0" y="4421825"/>
            <a:ext cx="7023100" cy="4740104"/>
          </a:xfrm>
        </p:spPr>
        <p:txBody>
          <a:bodyPr>
            <a:normAutofit/>
          </a:bodyPr>
          <a:lstStyle/>
          <a:p>
            <a:pPr marL="0" marR="0" algn="just">
              <a:lnSpc>
                <a:spcPct val="107000"/>
              </a:lnSpc>
              <a:spcBef>
                <a:spcPts val="0"/>
              </a:spcBef>
              <a:spcAft>
                <a:spcPts val="800"/>
              </a:spcAft>
            </a:pPr>
            <a:endParaRPr lang="en-US" sz="1800">
              <a:effectLst/>
              <a:latin typeface="Times New Roman" panose="02020603050405020304" pitchFamily="18" charset="0"/>
              <a:ea typeface="PMingLiU" panose="02020500000000000000" pitchFamily="18" charset="-120"/>
            </a:endParaRPr>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8</a:t>
            </a:fld>
            <a:endParaRPr lang="en-US"/>
          </a:p>
        </p:txBody>
      </p:sp>
    </p:spTree>
    <p:extLst>
      <p:ext uri="{BB962C8B-B14F-4D97-AF65-F5344CB8AC3E}">
        <p14:creationId xmlns:p14="http://schemas.microsoft.com/office/powerpoint/2010/main" val="2711898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0" y="4421825"/>
            <a:ext cx="7021482" cy="4885666"/>
          </a:xfrm>
        </p:spPr>
        <p:txBody>
          <a:bodyPr>
            <a:noAutofit/>
          </a:bodyPr>
          <a:lstStyle/>
          <a:p>
            <a:pPr marL="0" marR="0" algn="just">
              <a:lnSpc>
                <a:spcPct val="107000"/>
              </a:lnSpc>
              <a:spcBef>
                <a:spcPts val="0"/>
              </a:spcBef>
              <a:spcAft>
                <a:spcPts val="800"/>
              </a:spcAft>
            </a:pPr>
            <a:endParaRPr lang="en-US" sz="1800" i="0">
              <a:effectLst/>
              <a:latin typeface="Times New Roman" panose="02020603050405020304" pitchFamily="18" charset="0"/>
              <a:ea typeface="PMingLiU" panose="02020500000000000000" pitchFamily="18" charset="-120"/>
            </a:endParaRPr>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12</a:t>
            </a:fld>
            <a:endParaRPr lang="en-US"/>
          </a:p>
        </p:txBody>
      </p:sp>
    </p:spTree>
    <p:extLst>
      <p:ext uri="{BB962C8B-B14F-4D97-AF65-F5344CB8AC3E}">
        <p14:creationId xmlns:p14="http://schemas.microsoft.com/office/powerpoint/2010/main" val="2642248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13</a:t>
            </a:fld>
            <a:endParaRPr lang="en-US"/>
          </a:p>
        </p:txBody>
      </p:sp>
      <p:sp>
        <p:nvSpPr>
          <p:cNvPr id="9" name="Notes Placeholder 8">
            <a:extLst>
              <a:ext uri="{FF2B5EF4-FFF2-40B4-BE49-F238E27FC236}">
                <a16:creationId xmlns:a16="http://schemas.microsoft.com/office/drawing/2014/main" id="{F62E2B3E-CC63-4BC1-C178-3ECD183474DC}"/>
              </a:ext>
            </a:extLst>
          </p:cNvPr>
          <p:cNvSpPr>
            <a:spLocks noGrp="1"/>
          </p:cNvSpPr>
          <p:nvPr>
            <p:ph type="body" sz="quarter" idx="3"/>
          </p:nvPr>
        </p:nvSpPr>
        <p:spPr/>
        <p:txBody>
          <a:bodyPr/>
          <a:lstStyle/>
          <a:p>
            <a:endParaRPr lang="en-US"/>
          </a:p>
        </p:txBody>
      </p:sp>
    </p:spTree>
    <p:extLst>
      <p:ext uri="{BB962C8B-B14F-4D97-AF65-F5344CB8AC3E}">
        <p14:creationId xmlns:p14="http://schemas.microsoft.com/office/powerpoint/2010/main" val="4200389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15</a:t>
            </a:fld>
            <a:endParaRPr lang="en-US"/>
          </a:p>
        </p:txBody>
      </p:sp>
    </p:spTree>
    <p:extLst>
      <p:ext uri="{BB962C8B-B14F-4D97-AF65-F5344CB8AC3E}">
        <p14:creationId xmlns:p14="http://schemas.microsoft.com/office/powerpoint/2010/main" val="1360239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9575" y="4421825"/>
            <a:ext cx="5911218" cy="4189095"/>
          </a:xfrm>
        </p:spPr>
        <p:txBody>
          <a:bodyPr/>
          <a:lstStyle/>
          <a:p>
            <a:pPr marL="0" marR="0" lvl="0" indent="0" algn="l" defTabSz="914314" rtl="0" eaLnBrk="1" fontAlgn="auto" latinLnBrk="0" hangingPunct="1">
              <a:lnSpc>
                <a:spcPct val="110000"/>
              </a:lnSpc>
              <a:spcBef>
                <a:spcPts val="0"/>
              </a:spcBef>
              <a:spcAft>
                <a:spcPts val="1200"/>
              </a:spcAft>
              <a:buClrTx/>
              <a:buSzTx/>
              <a:buFontTx/>
              <a:buNone/>
              <a:tabLst/>
              <a:defRPr/>
            </a:pPr>
            <a:r>
              <a:rPr lang="en-GB" sz="1800">
                <a:latin typeface="Times New Roman" panose="02020603050405020304" pitchFamily="18" charset="0"/>
                <a:cs typeface="Times New Roman" panose="02020603050405020304" pitchFamily="18" charset="0"/>
              </a:rPr>
              <a:t>Source: World Economic Forum (2023).</a:t>
            </a:r>
          </a:p>
          <a:p>
            <a:pPr marL="0" marR="0" lvl="0" indent="0" algn="l" defTabSz="914314" rtl="0" eaLnBrk="1" fontAlgn="auto" latinLnBrk="0" hangingPunct="1">
              <a:lnSpc>
                <a:spcPct val="110000"/>
              </a:lnSpc>
              <a:spcBef>
                <a:spcPts val="0"/>
              </a:spcBef>
              <a:spcAft>
                <a:spcPts val="1200"/>
              </a:spcAft>
              <a:buClrTx/>
              <a:buSzTx/>
              <a:buFontTx/>
              <a:buNone/>
              <a:tabLst/>
              <a:defRPr/>
            </a:pPr>
            <a:r>
              <a:rPr lang="en-GB" sz="1800">
                <a:latin typeface="Times New Roman" panose="02020603050405020304" pitchFamily="18" charset="0"/>
                <a:cs typeface="Times New Roman" panose="02020603050405020304" pitchFamily="18" charset="0"/>
              </a:rPr>
              <a:t>Terms of Use: https://www.weforum.org/about/licence-terms-on-the-use-of-forum-publications-and-materials-licence-terms.</a:t>
            </a:r>
          </a:p>
          <a:p>
            <a:pPr marL="0" marR="0" lvl="0" indent="0" algn="l" defTabSz="914314" rtl="0" eaLnBrk="1" fontAlgn="auto" latinLnBrk="0" hangingPunct="1">
              <a:lnSpc>
                <a:spcPct val="110000"/>
              </a:lnSpc>
              <a:spcBef>
                <a:spcPts val="0"/>
              </a:spcBef>
              <a:spcAft>
                <a:spcPts val="1200"/>
              </a:spcAft>
              <a:buClrTx/>
              <a:buSzTx/>
              <a:buFontTx/>
              <a:buNone/>
              <a:tabLst/>
              <a:defRPr/>
            </a:pPr>
            <a:r>
              <a:rPr lang="en-GB" sz="1800">
                <a:latin typeface="Times New Roman" panose="02020603050405020304" pitchFamily="18" charset="0"/>
                <a:cs typeface="Times New Roman" panose="02020603050405020304" pitchFamily="18" charset="0"/>
              </a:rPr>
              <a:t>Gaps in economic participation persist; low gender gaps in education &amp; health.</a:t>
            </a:r>
            <a:br>
              <a:rPr lang="en-GB" sz="1800">
                <a:latin typeface="Times New Roman" panose="02020603050405020304" pitchFamily="18" charset="0"/>
                <a:cs typeface="Times New Roman" panose="02020603050405020304" pitchFamily="18" charset="0"/>
              </a:rPr>
            </a:br>
            <a:r>
              <a:rPr lang="en-GB" sz="1800">
                <a:latin typeface="Times New Roman" panose="02020603050405020304" pitchFamily="18" charset="0"/>
                <a:cs typeface="Times New Roman" panose="02020603050405020304" pitchFamily="18" charset="0"/>
              </a:rPr>
              <a:t>SSA has the highest gaps in education attainment, but economic participation and opportunity is similar to that in Western Europe.  However, these statistics do not capture the quality of jobs.</a:t>
            </a:r>
          </a:p>
        </p:txBody>
      </p:sp>
      <p:sp>
        <p:nvSpPr>
          <p:cNvPr id="5" name="Slide Number Placeholder 4"/>
          <p:cNvSpPr>
            <a:spLocks noGrp="1"/>
          </p:cNvSpPr>
          <p:nvPr>
            <p:ph type="sldNum" sz="quarter" idx="5"/>
          </p:nvPr>
        </p:nvSpPr>
        <p:spPr/>
        <p:txBody>
          <a:bodyPr/>
          <a:lstStyle/>
          <a:p>
            <a:fld id="{BA49F774-CCF9-492C-9AEB-F2814D4A6625}" type="slidenum">
              <a:rPr lang="en-US" smtClean="0"/>
              <a:pPr/>
              <a:t>18</a:t>
            </a:fld>
            <a:endParaRPr lang="en-US"/>
          </a:p>
        </p:txBody>
      </p:sp>
    </p:spTree>
    <p:extLst>
      <p:ext uri="{BB962C8B-B14F-4D97-AF65-F5344CB8AC3E}">
        <p14:creationId xmlns:p14="http://schemas.microsoft.com/office/powerpoint/2010/main" val="1915609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314" rtl="0" eaLnBrk="1" fontAlgn="auto" latinLnBrk="0" hangingPunct="1">
              <a:lnSpc>
                <a:spcPct val="107000"/>
              </a:lnSpc>
              <a:spcBef>
                <a:spcPts val="0"/>
              </a:spcBef>
              <a:spcAft>
                <a:spcPts val="800"/>
              </a:spcAft>
              <a:buClrTx/>
              <a:buSzTx/>
              <a:buFontTx/>
              <a:buNone/>
              <a:tabLst/>
              <a:defRPr/>
            </a:pPr>
            <a:endParaRPr lang="en-GB" sz="18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idx="1"/>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F2FB1009-8102-467C-88A3-A8200E3708E5}"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5/21/2026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1895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0" y="4421825"/>
            <a:ext cx="7021482" cy="4189095"/>
          </a:xfrm>
        </p:spPr>
        <p:txBody>
          <a:bodyPr>
            <a:normAutofit/>
          </a:bodyPr>
          <a:lstStyle/>
          <a:p>
            <a:pPr>
              <a:lnSpc>
                <a:spcPct val="110000"/>
              </a:lnSpc>
              <a:spcAft>
                <a:spcPts val="1200"/>
              </a:spcAft>
              <a:defRPr/>
            </a:pPr>
            <a:endParaRPr lang="en-US" sz="1800">
              <a:latin typeface="Times New Roman"/>
              <a:ea typeface="PMingLiU"/>
              <a:cs typeface="Times New Roman"/>
            </a:endParaRPr>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26</a:t>
            </a:fld>
            <a:endParaRPr lang="en-US"/>
          </a:p>
        </p:txBody>
      </p:sp>
    </p:spTree>
    <p:extLst>
      <p:ext uri="{BB962C8B-B14F-4D97-AF65-F5344CB8AC3E}">
        <p14:creationId xmlns:p14="http://schemas.microsoft.com/office/powerpoint/2010/main" val="4240719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0" y="4421825"/>
            <a:ext cx="7023100" cy="4885666"/>
          </a:xfrm>
        </p:spPr>
        <p:txBody>
          <a:bodyPr>
            <a:normAutofit fontScale="92500" lnSpcReduction="20000"/>
          </a:bodyPr>
          <a:lstStyle/>
          <a:p>
            <a:pPr marL="0" marR="0" algn="just">
              <a:lnSpc>
                <a:spcPct val="110000"/>
              </a:lnSpc>
              <a:spcAft>
                <a:spcPts val="1200"/>
              </a:spcAft>
            </a:pPr>
            <a:r>
              <a:rPr lang="en-US" sz="1600">
                <a:effectLst/>
                <a:latin typeface="Times New Roman" panose="02020603050405020304" pitchFamily="18" charset="0"/>
                <a:ea typeface="PMingLiU" panose="02020500000000000000" pitchFamily="18" charset="-120"/>
              </a:rPr>
              <a:t>Legal restrictions on women have become less significant over time.  However, even today, there are few countries where legal rights for men and women are completely equal.  This figure shows an overall index of legal equality, which captures important dimensions including:</a:t>
            </a:r>
          </a:p>
          <a:p>
            <a:pPr marL="285750" marR="0" indent="-285750" algn="just">
              <a:lnSpc>
                <a:spcPct val="110000"/>
              </a:lnSpc>
              <a:spcAft>
                <a:spcPts val="1200"/>
              </a:spcAft>
              <a:buFont typeface="Arial" panose="020B0604020202020204" pitchFamily="34" charset="0"/>
              <a:buChar char="•"/>
            </a:pPr>
            <a:r>
              <a:rPr lang="en-US" sz="1600">
                <a:effectLst/>
                <a:latin typeface="Times New Roman" panose="02020603050405020304" pitchFamily="18" charset="0"/>
                <a:ea typeface="PMingLiU" panose="02020500000000000000" pitchFamily="18" charset="-120"/>
              </a:rPr>
              <a:t>The right to own property.</a:t>
            </a:r>
          </a:p>
          <a:p>
            <a:pPr marL="285750" marR="0" indent="-285750" algn="just">
              <a:lnSpc>
                <a:spcPct val="110000"/>
              </a:lnSpc>
              <a:spcAft>
                <a:spcPts val="1200"/>
              </a:spcAft>
              <a:buFont typeface="Arial" panose="020B0604020202020204" pitchFamily="34" charset="0"/>
              <a:buChar char="•"/>
            </a:pPr>
            <a:r>
              <a:rPr lang="en-US" sz="1600">
                <a:effectLst/>
                <a:latin typeface="Times New Roman" panose="02020603050405020304" pitchFamily="18" charset="0"/>
                <a:ea typeface="PMingLiU" panose="02020500000000000000" pitchFamily="18" charset="-120"/>
              </a:rPr>
              <a:t>The right to inherit property.</a:t>
            </a:r>
          </a:p>
          <a:p>
            <a:pPr marL="285750" marR="0" indent="-285750" algn="just">
              <a:lnSpc>
                <a:spcPct val="110000"/>
              </a:lnSpc>
              <a:spcAft>
                <a:spcPts val="1200"/>
              </a:spcAft>
              <a:buFont typeface="Arial" panose="020B0604020202020204" pitchFamily="34" charset="0"/>
              <a:buChar char="•"/>
            </a:pPr>
            <a:r>
              <a:rPr lang="en-US" sz="1600">
                <a:effectLst/>
                <a:latin typeface="Times New Roman" panose="02020603050405020304" pitchFamily="18" charset="0"/>
                <a:ea typeface="PMingLiU" panose="02020500000000000000" pitchFamily="18" charset="-120"/>
              </a:rPr>
              <a:t>The right to open financial accounts.</a:t>
            </a:r>
          </a:p>
          <a:p>
            <a:pPr marL="285750" marR="0" indent="-285750" algn="just">
              <a:lnSpc>
                <a:spcPct val="110000"/>
              </a:lnSpc>
              <a:spcAft>
                <a:spcPts val="1200"/>
              </a:spcAft>
              <a:buFont typeface="Arial" panose="020B0604020202020204" pitchFamily="34" charset="0"/>
              <a:buChar char="•"/>
            </a:pPr>
            <a:r>
              <a:rPr lang="en-US" sz="1600" i="0">
                <a:effectLst/>
                <a:latin typeface="Times New Roman" panose="02020603050405020304" pitchFamily="18" charset="0"/>
                <a:ea typeface="PMingLiU" panose="02020500000000000000" pitchFamily="18" charset="-120"/>
              </a:rPr>
              <a:t>Effective laws against sexual harassment.</a:t>
            </a:r>
          </a:p>
          <a:p>
            <a:pPr marL="0" marR="0" lvl="0" indent="0" algn="l" defTabSz="914400" rtl="0" eaLnBrk="1" fontAlgn="auto" latinLnBrk="0" hangingPunct="1">
              <a:lnSpc>
                <a:spcPct val="110000"/>
              </a:lnSpc>
              <a:spcBef>
                <a:spcPts val="0"/>
              </a:spcBef>
              <a:spcAft>
                <a:spcPts val="1200"/>
              </a:spcAft>
              <a:buClrTx/>
              <a:buSzTx/>
              <a:buFontTx/>
              <a:buNone/>
              <a:tabLst/>
              <a:defRPr/>
            </a:pPr>
            <a:r>
              <a:rPr lang="en-US" sz="1600" b="0" i="0" u="none" strike="noStrike" baseline="0">
                <a:solidFill>
                  <a:schemeClr val="tx1"/>
                </a:solidFill>
                <a:latin typeface="Times New Roman" panose="02020603050405020304" pitchFamily="18" charset="0"/>
                <a:cs typeface="Times New Roman" panose="02020603050405020304" pitchFamily="18" charset="0"/>
              </a:rPr>
              <a:t>In general, legal inequality is particularly high in the Middle East, and to a lesser degree in Africa.</a:t>
            </a:r>
          </a:p>
          <a:p>
            <a:pPr marL="0" marR="0" lvl="0" indent="0" algn="l" defTabSz="914400" rtl="0" eaLnBrk="1" fontAlgn="auto" latinLnBrk="0" hangingPunct="1">
              <a:lnSpc>
                <a:spcPct val="110000"/>
              </a:lnSpc>
              <a:spcBef>
                <a:spcPts val="0"/>
              </a:spcBef>
              <a:spcAft>
                <a:spcPts val="1200"/>
              </a:spcAft>
              <a:buClrTx/>
              <a:buSzTx/>
              <a:buFontTx/>
              <a:buNone/>
              <a:tabLst/>
              <a:defRPr/>
            </a:pPr>
            <a:r>
              <a:rPr lang="en-US" sz="1600" b="0" i="0" u="none" strike="noStrike" baseline="0">
                <a:solidFill>
                  <a:schemeClr val="tx1"/>
                </a:solidFill>
                <a:latin typeface="Times New Roman" panose="02020603050405020304" pitchFamily="18" charset="0"/>
                <a:cs typeface="Times New Roman" panose="02020603050405020304" pitchFamily="18" charset="0"/>
              </a:rPr>
              <a:t>In many developing countries, divorce or widowhood can cause women to become landless and lose their assets.</a:t>
            </a:r>
            <a:br>
              <a:rPr lang="en-US" sz="1600" b="0" i="0" u="none" strike="noStrike" baseline="0">
                <a:solidFill>
                  <a:schemeClr val="tx1"/>
                </a:solidFill>
                <a:latin typeface="Times New Roman" panose="02020603050405020304" pitchFamily="18" charset="0"/>
                <a:cs typeface="Times New Roman" panose="02020603050405020304" pitchFamily="18" charset="0"/>
              </a:rPr>
            </a:br>
            <a:r>
              <a:rPr lang="en-US" sz="1600" b="0" i="0" u="none" strike="noStrike" baseline="0">
                <a:solidFill>
                  <a:schemeClr val="tx1"/>
                </a:solidFill>
                <a:latin typeface="Times New Roman" panose="02020603050405020304" pitchFamily="18" charset="0"/>
                <a:cs typeface="Times New Roman" panose="02020603050405020304" pitchFamily="18" charset="0"/>
              </a:rPr>
              <a:t>Again, w</a:t>
            </a:r>
            <a:r>
              <a:rPr lang="en-US" sz="1600">
                <a:effectLst/>
                <a:latin typeface="Times New Roman" panose="02020603050405020304" pitchFamily="18" charset="0"/>
                <a:ea typeface="PMingLiU" panose="02020500000000000000" pitchFamily="18" charset="-120"/>
              </a:rPr>
              <a:t>e discuss these issues in greater depth later in the course.</a:t>
            </a:r>
          </a:p>
          <a:p>
            <a:pPr marL="0" marR="0" lvl="0" indent="0" algn="l" defTabSz="914400" rtl="0" eaLnBrk="1" fontAlgn="auto" latinLnBrk="0" hangingPunct="1">
              <a:lnSpc>
                <a:spcPct val="110000"/>
              </a:lnSpc>
              <a:spcBef>
                <a:spcPts val="0"/>
              </a:spcBef>
              <a:spcAft>
                <a:spcPts val="1200"/>
              </a:spcAft>
              <a:buClrTx/>
              <a:buSzTx/>
              <a:buFontTx/>
              <a:buNone/>
              <a:tabLst/>
              <a:defRPr/>
            </a:pPr>
            <a:endParaRPr lang="en-US" sz="1600">
              <a:effectLst/>
              <a:latin typeface="Times New Roman" panose="02020603050405020304" pitchFamily="18" charset="0"/>
              <a:ea typeface="PMingLiU" panose="02020500000000000000" pitchFamily="18" charset="-120"/>
            </a:endParaRPr>
          </a:p>
          <a:p>
            <a:pPr marL="0" marR="0" lvl="0" indent="0" algn="l" defTabSz="914400" rtl="0" eaLnBrk="1" fontAlgn="auto" latinLnBrk="0" hangingPunct="1">
              <a:lnSpc>
                <a:spcPct val="110000"/>
              </a:lnSpc>
              <a:spcBef>
                <a:spcPts val="0"/>
              </a:spcBef>
              <a:spcAft>
                <a:spcPts val="1200"/>
              </a:spcAft>
              <a:buClrTx/>
              <a:buSzTx/>
              <a:buFontTx/>
              <a:buNone/>
              <a:tabLst/>
              <a:defRPr/>
            </a:pPr>
            <a:r>
              <a:rPr lang="en-US" sz="1600" b="1" i="1">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Workshop activity (later!):</a:t>
            </a:r>
            <a:r>
              <a:rPr lang="en-US" sz="1600" b="0" i="0">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 l</a:t>
            </a:r>
            <a:r>
              <a:rPr lang="en-US" sz="1600">
                <a:solidFill>
                  <a:schemeClr val="tx1"/>
                </a:solidFill>
                <a:effectLst/>
                <a:latin typeface="Times New Roman" panose="02020603050405020304" pitchFamily="18" charset="0"/>
                <a:ea typeface="PMingLiU" panose="02020500000000000000" pitchFamily="18" charset="-120"/>
                <a:cs typeface="Times New Roman" panose="02020603050405020304" pitchFamily="18" charset="0"/>
              </a:rPr>
              <a:t>ook into the World Bank database on lega</a:t>
            </a:r>
            <a:r>
              <a:rPr lang="en-US" sz="1600">
                <a:effectLst/>
                <a:latin typeface="Times New Roman" panose="02020603050405020304" pitchFamily="18" charset="0"/>
                <a:ea typeface="PMingLiU" panose="02020500000000000000" pitchFamily="18" charset="-120"/>
                <a:cs typeface="Times New Roman" panose="02020603050405020304" pitchFamily="18" charset="0"/>
              </a:rPr>
              <a:t>l restrictions, focusing </a:t>
            </a:r>
            <a:r>
              <a:rPr lang="en-US" sz="1600">
                <a:effectLst/>
                <a:latin typeface="Times New Roman" panose="02020603050405020304" pitchFamily="18" charset="0"/>
                <a:ea typeface="PMingLiU" panose="02020500000000000000" pitchFamily="18" charset="-120"/>
              </a:rPr>
              <a:t>on your own country.</a:t>
            </a:r>
          </a:p>
          <a:p>
            <a:pPr marL="0" marR="0" lvl="0" indent="0" algn="l" defTabSz="914400" rtl="0" eaLnBrk="1" fontAlgn="auto" latinLnBrk="0" hangingPunct="1">
              <a:lnSpc>
                <a:spcPct val="110000"/>
              </a:lnSpc>
              <a:spcBef>
                <a:spcPts val="0"/>
              </a:spcBef>
              <a:spcAft>
                <a:spcPts val="1200"/>
              </a:spcAft>
              <a:buClrTx/>
              <a:buSzTx/>
              <a:buFontTx/>
              <a:buNone/>
              <a:tabLst/>
              <a:defRPr/>
            </a:pPr>
            <a:endParaRPr lang="en-US" sz="1600">
              <a:effectLst/>
              <a:latin typeface="Times New Roman" panose="02020603050405020304" pitchFamily="18" charset="0"/>
              <a:ea typeface="PMingLiU" panose="02020500000000000000" pitchFamily="18" charset="-120"/>
            </a:endParaRPr>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28</a:t>
            </a:fld>
            <a:endParaRPr lang="en-US"/>
          </a:p>
        </p:txBody>
      </p:sp>
    </p:spTree>
    <p:extLst>
      <p:ext uri="{BB962C8B-B14F-4D97-AF65-F5344CB8AC3E}">
        <p14:creationId xmlns:p14="http://schemas.microsoft.com/office/powerpoint/2010/main" val="3392520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0" y="4421825"/>
            <a:ext cx="7023100" cy="4885666"/>
          </a:xfrm>
        </p:spPr>
        <p:txBody>
          <a:bodyPr>
            <a:normAutofit/>
          </a:bodyPr>
          <a:lstStyle/>
          <a:p>
            <a:pPr marL="0" marR="0" algn="just">
              <a:lnSpc>
                <a:spcPct val="120000"/>
              </a:lnSpc>
              <a:spcBef>
                <a:spcPts val="0"/>
              </a:spcBef>
              <a:spcAft>
                <a:spcPts val="600"/>
              </a:spcAft>
            </a:pPr>
            <a:endParaRPr lang="en-US" sz="1600">
              <a:effectLst/>
              <a:latin typeface="Times New Roman" panose="02020603050405020304" pitchFamily="18" charset="0"/>
              <a:ea typeface="PMingLiU" panose="02020500000000000000" pitchFamily="18" charset="-120"/>
            </a:endParaRPr>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29</a:t>
            </a:fld>
            <a:endParaRPr lang="en-US"/>
          </a:p>
        </p:txBody>
      </p:sp>
    </p:spTree>
    <p:extLst>
      <p:ext uri="{BB962C8B-B14F-4D97-AF65-F5344CB8AC3E}">
        <p14:creationId xmlns:p14="http://schemas.microsoft.com/office/powerpoint/2010/main" val="4257198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30</a:t>
            </a:fld>
            <a:endParaRPr lang="en-US"/>
          </a:p>
        </p:txBody>
      </p:sp>
    </p:spTree>
    <p:extLst>
      <p:ext uri="{BB962C8B-B14F-4D97-AF65-F5344CB8AC3E}">
        <p14:creationId xmlns:p14="http://schemas.microsoft.com/office/powerpoint/2010/main" val="17668138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Cya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7098733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0159108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579912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168339043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9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9914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80802756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81" userDrawn="1">
          <p15:clr>
            <a:srgbClr val="FBAE40"/>
          </p15:clr>
        </p15:guide>
        <p15:guide id="4" pos="690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19820882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5367013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0165849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6085019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6879988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11519002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40168843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8792685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wo-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1589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Text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11576932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hoto+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1" name="TextBox 10">
            <a:extLst>
              <a:ext uri="{FF2B5EF4-FFF2-40B4-BE49-F238E27FC236}">
                <a16:creationId xmlns:a16="http://schemas.microsoft.com/office/drawing/2014/main" id="{DF7CAC3A-914C-D94C-9254-C253E5803F2C}"/>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945261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Large-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40971704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40971704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421767360"/>
      </p:ext>
    </p:extLst>
  </p:cSld>
  <p:clrMapOvr>
    <a:masterClrMapping/>
  </p:clrMapOvr>
  <p:hf sldNum="0"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ngle-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Slide Title for Single-Column,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4280663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81" userDrawn="1">
          <p15:clr>
            <a:srgbClr val="FBAE40"/>
          </p15:clr>
        </p15:guide>
        <p15:guide id="4" pos="690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35659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ARTTAC 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13E802-0087-4A88-B9F3-B27074E51DA2}"/>
              </a:ext>
            </a:extLst>
          </p:cNvPr>
          <p:cNvSpPr>
            <a:spLocks noGrp="1"/>
          </p:cNvSpPr>
          <p:nvPr>
            <p:ph type="sldNum" sz="quarter" idx="12"/>
          </p:nvPr>
        </p:nvSpPr>
        <p:spPr>
          <a:xfrm>
            <a:off x="9132569"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0EF9D1-8FE4-4A6C-8373-E5034EFA4A90}" type="slidenum">
              <a:rPr lang="en-US" smtClean="0"/>
              <a:pPr/>
              <a:t>‹#›</a:t>
            </a:fld>
            <a:endParaRPr lang="en-US"/>
          </a:p>
        </p:txBody>
      </p:sp>
      <p:pic>
        <p:nvPicPr>
          <p:cNvPr id="17" name="Picture 16">
            <a:extLst>
              <a:ext uri="{FF2B5EF4-FFF2-40B4-BE49-F238E27FC236}">
                <a16:creationId xmlns:a16="http://schemas.microsoft.com/office/drawing/2014/main" id="{264E6205-D9A5-4D27-BFB4-F7BCEB65A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808059" y="3079268"/>
            <a:ext cx="6567856" cy="349678"/>
          </a:xfrm>
          <a:prstGeom prst="rect">
            <a:avLst/>
          </a:prstGeom>
        </p:spPr>
      </p:pic>
      <p:sp>
        <p:nvSpPr>
          <p:cNvPr id="28" name="Rectangle 27">
            <a:extLst>
              <a:ext uri="{FF2B5EF4-FFF2-40B4-BE49-F238E27FC236}">
                <a16:creationId xmlns:a16="http://schemas.microsoft.com/office/drawing/2014/main" id="{13B1E383-8E3E-4961-9E67-7569E541E23B}"/>
              </a:ext>
            </a:extLst>
          </p:cNvPr>
          <p:cNvSpPr/>
          <p:nvPr/>
        </p:nvSpPr>
        <p:spPr>
          <a:xfrm>
            <a:off x="-7068" y="6538035"/>
            <a:ext cx="12273893" cy="365125"/>
          </a:xfrm>
          <a:prstGeom prst="rect">
            <a:avLst/>
          </a:prstGeom>
          <a:solidFill>
            <a:srgbClr val="F2A900"/>
          </a:solidFill>
          <a:ln>
            <a:solidFill>
              <a:srgbClr val="F2A90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a:p>
        </p:txBody>
      </p:sp>
      <p:sp>
        <p:nvSpPr>
          <p:cNvPr id="18" name="Text Box 2">
            <a:extLst>
              <a:ext uri="{FF2B5EF4-FFF2-40B4-BE49-F238E27FC236}">
                <a16:creationId xmlns:a16="http://schemas.microsoft.com/office/drawing/2014/main" id="{9327A731-E579-490F-A267-6AACC1A09895}"/>
              </a:ext>
            </a:extLst>
          </p:cNvPr>
          <p:cNvSpPr txBox="1"/>
          <p:nvPr/>
        </p:nvSpPr>
        <p:spPr>
          <a:xfrm>
            <a:off x="106544" y="4244701"/>
            <a:ext cx="198755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member countries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4DD74BBD-1874-42BC-AB24-65343EF71610}"/>
              </a:ext>
            </a:extLst>
          </p:cNvPr>
          <p:cNvCxnSpPr>
            <a:cxnSpLocks/>
          </p:cNvCxnSpPr>
          <p:nvPr/>
        </p:nvCxnSpPr>
        <p:spPr>
          <a:xfrm flipV="1">
            <a:off x="186553" y="4584288"/>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 Box 2">
            <a:extLst>
              <a:ext uri="{FF2B5EF4-FFF2-40B4-BE49-F238E27FC236}">
                <a16:creationId xmlns:a16="http://schemas.microsoft.com/office/drawing/2014/main" id="{B6760F4B-0E53-4873-811E-91CFF0C3FA44}"/>
              </a:ext>
            </a:extLst>
          </p:cNvPr>
          <p:cNvSpPr txBox="1"/>
          <p:nvPr/>
        </p:nvSpPr>
        <p:spPr>
          <a:xfrm>
            <a:off x="80042" y="5422821"/>
            <a:ext cx="2531412"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development partners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37" name="Straight Connector 36">
            <a:extLst>
              <a:ext uri="{FF2B5EF4-FFF2-40B4-BE49-F238E27FC236}">
                <a16:creationId xmlns:a16="http://schemas.microsoft.com/office/drawing/2014/main" id="{3AE5E040-1BD7-4446-A6F1-1EBE8A0590EA}"/>
              </a:ext>
            </a:extLst>
          </p:cNvPr>
          <p:cNvCxnSpPr>
            <a:cxnSpLocks/>
          </p:cNvCxnSpPr>
          <p:nvPr/>
        </p:nvCxnSpPr>
        <p:spPr>
          <a:xfrm flipV="1">
            <a:off x="160051" y="5760417"/>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9" name="Picture 78" descr="A picture containing text&#10;&#10;Description automatically generated">
            <a:extLst>
              <a:ext uri="{FF2B5EF4-FFF2-40B4-BE49-F238E27FC236}">
                <a16:creationId xmlns:a16="http://schemas.microsoft.com/office/drawing/2014/main" id="{6B05876D-8396-4524-AB44-3AC466521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992" y="5820054"/>
            <a:ext cx="1522744" cy="369598"/>
          </a:xfrm>
          <a:prstGeom prst="rect">
            <a:avLst/>
          </a:prstGeom>
        </p:spPr>
      </p:pic>
      <p:sp>
        <p:nvSpPr>
          <p:cNvPr id="103" name="Text Box 2">
            <a:extLst>
              <a:ext uri="{FF2B5EF4-FFF2-40B4-BE49-F238E27FC236}">
                <a16:creationId xmlns:a16="http://schemas.microsoft.com/office/drawing/2014/main" id="{055F566B-93E6-4A71-B2B1-18231CC3E9FB}"/>
              </a:ext>
            </a:extLst>
          </p:cNvPr>
          <p:cNvSpPr txBox="1"/>
          <p:nvPr/>
        </p:nvSpPr>
        <p:spPr>
          <a:xfrm>
            <a:off x="164128" y="5093348"/>
            <a:ext cx="750318"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Bangladesh</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4" name="Text Box 2">
            <a:extLst>
              <a:ext uri="{FF2B5EF4-FFF2-40B4-BE49-F238E27FC236}">
                <a16:creationId xmlns:a16="http://schemas.microsoft.com/office/drawing/2014/main" id="{6A4F2024-16FB-41A6-91E1-ECDDF91FA78C}"/>
              </a:ext>
            </a:extLst>
          </p:cNvPr>
          <p:cNvSpPr txBox="1"/>
          <p:nvPr/>
        </p:nvSpPr>
        <p:spPr>
          <a:xfrm>
            <a:off x="1056253" y="5106079"/>
            <a:ext cx="530423"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Bhutan</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6" name="Text Box 2">
            <a:extLst>
              <a:ext uri="{FF2B5EF4-FFF2-40B4-BE49-F238E27FC236}">
                <a16:creationId xmlns:a16="http://schemas.microsoft.com/office/drawing/2014/main" id="{8FB12644-5B3A-45F7-8851-A9F07291388E}"/>
              </a:ext>
            </a:extLst>
          </p:cNvPr>
          <p:cNvSpPr txBox="1"/>
          <p:nvPr/>
        </p:nvSpPr>
        <p:spPr>
          <a:xfrm>
            <a:off x="1931593" y="5089364"/>
            <a:ext cx="49643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9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India</a:t>
            </a:r>
            <a:endParaRPr lang="en-US" sz="9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7" name="Text Box 2">
            <a:extLst>
              <a:ext uri="{FF2B5EF4-FFF2-40B4-BE49-F238E27FC236}">
                <a16:creationId xmlns:a16="http://schemas.microsoft.com/office/drawing/2014/main" id="{343B0394-3A95-499F-9024-683962B64689}"/>
              </a:ext>
            </a:extLst>
          </p:cNvPr>
          <p:cNvSpPr txBox="1"/>
          <p:nvPr/>
        </p:nvSpPr>
        <p:spPr>
          <a:xfrm>
            <a:off x="2673999" y="5108639"/>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Maldives</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8" name="Text Box 2">
            <a:extLst>
              <a:ext uri="{FF2B5EF4-FFF2-40B4-BE49-F238E27FC236}">
                <a16:creationId xmlns:a16="http://schemas.microsoft.com/office/drawing/2014/main" id="{23D860F5-B5E6-4F02-B526-922F1D3D46FA}"/>
              </a:ext>
            </a:extLst>
          </p:cNvPr>
          <p:cNvSpPr txBox="1"/>
          <p:nvPr/>
        </p:nvSpPr>
        <p:spPr>
          <a:xfrm>
            <a:off x="3411254" y="5108639"/>
            <a:ext cx="491920"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Nepal</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9" name="Text Box 2">
            <a:extLst>
              <a:ext uri="{FF2B5EF4-FFF2-40B4-BE49-F238E27FC236}">
                <a16:creationId xmlns:a16="http://schemas.microsoft.com/office/drawing/2014/main" id="{BA7AD0F8-FCBA-4156-AFB1-F623DB42E273}"/>
              </a:ext>
            </a:extLst>
          </p:cNvPr>
          <p:cNvSpPr txBox="1"/>
          <p:nvPr/>
        </p:nvSpPr>
        <p:spPr>
          <a:xfrm>
            <a:off x="4117024" y="5121700"/>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Sri Lanka</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8181419"/>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1_Divider (Cyan)">
    <p:bg>
      <p:bgPr>
        <a:solidFill>
          <a:srgbClr val="9015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a:t>
            </a: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63509806"/>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Divider Agenda">
    <p:bg>
      <p:bgPr>
        <a:solidFill>
          <a:srgbClr val="90152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p:nvSpPr>
        <p:spPr>
          <a:xfrm>
            <a:off x="-1" y="6638778"/>
            <a:ext cx="12192001" cy="219221"/>
          </a:xfrm>
          <a:prstGeom prst="rect">
            <a:avLst/>
          </a:prstGeom>
          <a:solidFill>
            <a:srgbClr val="90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South Asia Regional Training and Technical Assistance Center— SARTTAC</a:t>
            </a: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353398900"/>
      </p:ext>
    </p:extLst>
  </p:cSld>
  <p:clrMapOvr>
    <a:masterClrMapping/>
  </p:clrMapOvr>
  <p:transition>
    <p:fade/>
  </p:transition>
  <p:extLst>
    <p:ext uri="{DCECCB84-F9BA-43D5-87BE-67443E8EF086}">
      <p15:sldGuideLst xmlns:p15="http://schemas.microsoft.com/office/powerpoint/2012/main">
        <p15:guide id="4" orient="horz" pos="2160" userDrawn="1">
          <p15:clr>
            <a:srgbClr val="FBAE40"/>
          </p15:clr>
        </p15:guide>
        <p15:guide id="5" pos="3840" userDrawn="1">
          <p15:clr>
            <a:srgbClr val="FBAE40"/>
          </p15:clr>
        </p15:guide>
        <p15:guide id="6" orient="horz" pos="399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4018520089"/>
      </p:ext>
    </p:extLst>
  </p:cSld>
  <p:clrMapOvr>
    <a:masterClrMapping/>
  </p:clrMapOvr>
  <p:transition>
    <p:fade/>
  </p:transition>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guide id="7" pos="781" userDrawn="1">
          <p15:clr>
            <a:srgbClr val="FBAE40"/>
          </p15:clr>
        </p15:guide>
        <p15:guide id="8" pos="6901"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2207676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997778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2758679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484380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0745999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21213206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73662313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6789072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1578680897"/>
      </p:ext>
    </p:extLst>
  </p:cSld>
  <p:clrMapOvr>
    <a:masterClrMapping/>
  </p:clrMapOvr>
  <p:hf sldNum="0"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20756627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90742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6313" y="136523"/>
            <a:ext cx="10666675" cy="706094"/>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2776896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589396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004C97"/>
                </a:solidFill>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B8249D-73BB-4688-B427-EB89B5DAF030}"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3376961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B5B8249D-73BB-4688-B427-EB89B5DAF030}"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8523059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8249D-73BB-4688-B427-EB89B5DAF030}"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2988723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825642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091808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38200" y="1855442"/>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6593952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5037468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367162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Divider Agenda">
    <p:bg>
      <p:bgPr>
        <a:solidFill>
          <a:srgbClr val="90152D"/>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1840890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38791963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802132700"/>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5.png"/><Relationship Id="rId2" Type="http://schemas.openxmlformats.org/officeDocument/2006/relationships/slideLayout" Target="../slideLayouts/slideLayout43.xml"/><Relationship Id="rId16" Type="http://schemas.openxmlformats.org/officeDocument/2006/relationships/image" Target="../media/image3.png"/><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theme" Target="../theme/theme3.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661" r:id="rId3"/>
    <p:sldLayoutId id="2147483760" r:id="rId4"/>
    <p:sldLayoutId id="2147483754" r:id="rId5"/>
    <p:sldLayoutId id="2147483755" r:id="rId6"/>
    <p:sldLayoutId id="2147483756" r:id="rId7"/>
    <p:sldLayoutId id="2147483758" r:id="rId8"/>
    <p:sldLayoutId id="2147483757" r:id="rId9"/>
    <p:sldLayoutId id="2147483707" r:id="rId10"/>
    <p:sldLayoutId id="2147483759" r:id="rId11"/>
    <p:sldLayoutId id="2147483748" r:id="rId12"/>
    <p:sldLayoutId id="2147483744" r:id="rId13"/>
    <p:sldLayoutId id="2147483750" r:id="rId14"/>
    <p:sldLayoutId id="2147483747" r:id="rId15"/>
    <p:sldLayoutId id="2147483752" r:id="rId16"/>
    <p:sldLayoutId id="2147483751" r:id="rId17"/>
    <p:sldLayoutId id="2147483745" r:id="rId18"/>
    <p:sldLayoutId id="2147483746" r:id="rId19"/>
    <p:sldLayoutId id="2147483749" r:id="rId20"/>
    <p:sldLayoutId id="2147483753" r:id="rId21"/>
    <p:sldLayoutId id="2147483743" r:id="rId22"/>
    <p:sldLayoutId id="2147483799" r:id="rId23"/>
    <p:sldLayoutId id="2147483792" r:id="rId24"/>
    <p:sldLayoutId id="2147483800" r:id="rId25"/>
    <p:sldLayoutId id="2147483801" r:id="rId26"/>
    <p:sldLayoutId id="2147483802" r:id="rId27"/>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a:t>
            </a:r>
            <a:endParaRPr lang="en-US" sz="900" b="0">
              <a:solidFill>
                <a:schemeClr val="bg1">
                  <a:lumMod val="75000"/>
                </a:schemeClr>
              </a:solidFill>
              <a:latin typeface="+mn-lt"/>
              <a:cs typeface="Arial Black" charset="0"/>
            </a:endParaRPr>
          </a:p>
        </p:txBody>
      </p:sp>
      <p:sp>
        <p:nvSpPr>
          <p:cNvPr id="5" name="TextBox 4">
            <a:extLst>
              <a:ext uri="{FF2B5EF4-FFF2-40B4-BE49-F238E27FC236}">
                <a16:creationId xmlns:a16="http://schemas.microsoft.com/office/drawing/2014/main" id="{00B5D478-FD4A-2240-B032-46F4E3BAB6E8}"/>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
        <p:nvSpPr>
          <p:cNvPr id="6" name="TextBox 5">
            <a:extLst>
              <a:ext uri="{FF2B5EF4-FFF2-40B4-BE49-F238E27FC236}">
                <a16:creationId xmlns:a16="http://schemas.microsoft.com/office/drawing/2014/main" id="{9E8C54C7-734D-43A7-BEFB-A9BE6BF97DF4}"/>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258290680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91" r:id="rId14"/>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A2D1FFAD-683D-4DF5-8667-FE7C943F094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6549163"/>
            <a:ext cx="12316389" cy="305954"/>
          </a:xfrm>
          <a:prstGeom prst="rect">
            <a:avLst/>
          </a:prstGeom>
        </p:spPr>
      </p:pic>
      <p:pic>
        <p:nvPicPr>
          <p:cNvPr id="49" name="Picture 48">
            <a:extLst>
              <a:ext uri="{FF2B5EF4-FFF2-40B4-BE49-F238E27FC236}">
                <a16:creationId xmlns:a16="http://schemas.microsoft.com/office/drawing/2014/main" id="{D539B6A2-25B6-414C-8964-4BB73BDD4DA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1105"/>
            <a:ext cx="12274927" cy="998531"/>
          </a:xfrm>
          <a:prstGeom prst="rect">
            <a:avLst/>
          </a:prstGeom>
        </p:spPr>
      </p:pic>
      <p:sp>
        <p:nvSpPr>
          <p:cNvPr id="2" name="Title Placeholder 1"/>
          <p:cNvSpPr>
            <a:spLocks noGrp="1"/>
          </p:cNvSpPr>
          <p:nvPr>
            <p:ph type="title"/>
          </p:nvPr>
        </p:nvSpPr>
        <p:spPr>
          <a:xfrm>
            <a:off x="1541488" y="133440"/>
            <a:ext cx="9049421" cy="73385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08398" y="167653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8249D-73BB-4688-B427-EB89B5DAF030}" type="datetimeFigureOut">
              <a:rPr lang="en-US" smtClean="0"/>
              <a:t>5/21/2026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29" name="Picture 28">
            <a:extLst>
              <a:ext uri="{FF2B5EF4-FFF2-40B4-BE49-F238E27FC236}">
                <a16:creationId xmlns:a16="http://schemas.microsoft.com/office/drawing/2014/main" id="{5E4E6BEC-FFD1-403D-AE66-D9C4578DCD25}"/>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04959" y="72826"/>
            <a:ext cx="868467" cy="852107"/>
          </a:xfrm>
          <a:prstGeom prst="rect">
            <a:avLst/>
          </a:prstGeom>
        </p:spPr>
      </p:pic>
      <p:sp>
        <p:nvSpPr>
          <p:cNvPr id="53" name="TextBox 52">
            <a:extLst>
              <a:ext uri="{FF2B5EF4-FFF2-40B4-BE49-F238E27FC236}">
                <a16:creationId xmlns:a16="http://schemas.microsoft.com/office/drawing/2014/main" id="{4A752841-1F14-472B-8136-14C2A87C7CD3}"/>
              </a:ext>
            </a:extLst>
          </p:cNvPr>
          <p:cNvSpPr txBox="1"/>
          <p:nvPr/>
        </p:nvSpPr>
        <p:spPr>
          <a:xfrm>
            <a:off x="117984" y="6594418"/>
            <a:ext cx="12192000" cy="230832"/>
          </a:xfrm>
          <a:prstGeom prst="rect">
            <a:avLst/>
          </a:prstGeom>
          <a:noFill/>
        </p:spPr>
        <p:txBody>
          <a:bodyPr wrap="square" rtlCol="0">
            <a:spAutoFit/>
          </a:bodyPr>
          <a:lstStyle/>
          <a:p>
            <a:r>
              <a:rPr lang="en-US" sz="900" b="1">
                <a:solidFill>
                  <a:schemeClr val="bg1"/>
                </a:solidFill>
                <a:latin typeface="Arial" panose="020B0604020202020204" pitchFamily="34" charset="0"/>
                <a:cs typeface="Arial" panose="020B0604020202020204" pitchFamily="34" charset="0"/>
              </a:rPr>
              <a:t>IMF</a:t>
            </a:r>
            <a:endParaRPr lang="en-US" sz="900" b="0">
              <a:solidFill>
                <a:schemeClr val="bg1"/>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53EC36D0-8578-4449-B610-88EB05D95480}"/>
              </a:ext>
            </a:extLst>
          </p:cNvPr>
          <p:cNvSpPr txBox="1"/>
          <p:nvPr/>
        </p:nvSpPr>
        <p:spPr>
          <a:xfrm>
            <a:off x="10372855" y="6579030"/>
            <a:ext cx="1613877"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85761373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txStyles>
    <p:titleStyle>
      <a:lvl1pPr algn="ctr" defTabSz="914400" rtl="0" eaLnBrk="1" latinLnBrk="0" hangingPunct="1">
        <a:lnSpc>
          <a:spcPct val="90000"/>
        </a:lnSpc>
        <a:spcBef>
          <a:spcPct val="0"/>
        </a:spcBef>
        <a:buNone/>
        <a:defRPr sz="36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18/10/relationships/comments" Target="../comments/modernComment_11C0_934ADA6F.xml"/><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hyperlink" Target="https://www.imf.org/en/Publications/Staff-Discussion-Notes/Issues/2018/09/17/women-in-finance-a-case-for-closing-gaps-45136" TargetMode="External"/><Relationship Id="rId3" Type="http://schemas.microsoft.com/office/2018/10/relationships/comments" Target="../comments/modernComment_11B4_AC83269A.xml"/><Relationship Id="rId7" Type="http://schemas.openxmlformats.org/officeDocument/2006/relationships/hyperlink" Target="http://klenow.com/HHJK.pdf" TargetMode="Externa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hyperlink" Target="https://www.imf.org/en/Publications/Staff-Discussion-Notes/Issues/2018/10/09/Economic-Gains-From-Gender-Inclusion-New-Mechanisms-New-Evidence-45543" TargetMode="External"/><Relationship Id="rId5" Type="http://schemas.openxmlformats.org/officeDocument/2006/relationships/hyperlink" Target="https://www.cgdev.org/sites/default/files/integrating-gender-macroeconomic-policies-imf.pdf" TargetMode="External"/><Relationship Id="rId4" Type="http://schemas.openxmlformats.org/officeDocument/2006/relationships/hyperlink" Target="https://www.imf.org/en/publications/policy-papers/issues/2022/07/28/imf-strategy-toward-mainstreaming-gender-521344" TargetMode="External"/><Relationship Id="rId9" Type="http://schemas.openxmlformats.org/officeDocument/2006/relationships/hyperlink" Target="https://www.imf.org/-/media/websites/imf/imported-full-text-pdf/external/pubs/ft/wp/2016/_wp16140.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1B3_138B3AE3.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hyperlink" Target="https://hdr.undp.org/data-center/thematic-composite-indices/gender-inequality-index#/indicies/GII"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hyperlink" Target="https://hdr.undp.org/data-center/thematic-composite-indices/gender-inequality-index#/indicies/GII" TargetMode="External"/><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1C1_5E0090EC.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hyperlink" Target="https://genderdata.worldbank.org/en/indicator/sl-tlf-cact-fm-zs#data-table-section"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hyperlink" Target="https://genderdata.worldbank.org/en/indicator/sl-tlf-acti-zs?view=bar&amp;gender=female&amp;geos=KEN_UGA_RWA_ETH_MUS_MWI_BWA_SWZ_GMB_GHA_LSO_LBR_NAM_NGA_SYC_SLE_SSD_ZMB#data-table-section" TargetMode="Externa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hyperlink" Target="https://genderdata.worldbank.org/en/indicator/sl-uem-1524-fm-zs"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www.weforum.org/publications/global-gender-gap-report-2025/in-full/benchmarking-gender-gaps-2025/?_gl=1*w0y3u2*_up*MQ..*_gs*MQ..&amp;gclid=Cj0KCQiAyvHLBhDlARIsAHxl6xp_88uuHZETQ8Yu6WaT3tuJazqjvXPXnhNDlxht8iGDdcYAh8gzZ7gaAsZyEALw_wcB#performance-by-subindex" TargetMode="External"/><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hyperlink" Target="https://genderdata.worldbank.org/indicators/sl-uem-neet-zs/"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2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hyperlink" Target="https://genderdata.worldbank.org/en/indicator/sg-law-indx"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hyperlink" Target="https://wbl.worldbank.org/en/wbl-data"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hyperlink" Target="https://wbl.worldbank.org/en/all-topics"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7221FD5-C0B3-DA62-3AA2-E8B9CA5E6389}"/>
              </a:ext>
            </a:extLst>
          </p:cNvPr>
          <p:cNvSpPr>
            <a:spLocks noGrp="1"/>
          </p:cNvSpPr>
          <p:nvPr>
            <p:ph type="body" sz="quarter" idx="10"/>
          </p:nvPr>
        </p:nvSpPr>
        <p:spPr/>
        <p:txBody>
          <a:bodyPr/>
          <a:lstStyle/>
          <a:p>
            <a:r>
              <a:rPr lang="en-US">
                <a:cs typeface="Arial"/>
              </a:rPr>
              <a:t>Lisa Kolovich, IMF</a:t>
            </a:r>
            <a:endParaRPr lang="en-US"/>
          </a:p>
        </p:txBody>
      </p:sp>
      <p:sp>
        <p:nvSpPr>
          <p:cNvPr id="16" name="Text Placeholder 15">
            <a:extLst>
              <a:ext uri="{FF2B5EF4-FFF2-40B4-BE49-F238E27FC236}">
                <a16:creationId xmlns:a16="http://schemas.microsoft.com/office/drawing/2014/main" id="{B4958751-400C-0F44-BB35-6CE0FEAC0E77}"/>
              </a:ext>
            </a:extLst>
          </p:cNvPr>
          <p:cNvSpPr>
            <a:spLocks noGrp="1"/>
          </p:cNvSpPr>
          <p:nvPr>
            <p:ph type="body" sz="quarter" idx="12"/>
          </p:nvPr>
        </p:nvSpPr>
        <p:spPr/>
        <p:txBody>
          <a:bodyPr/>
          <a:lstStyle/>
          <a:p>
            <a:r>
              <a:rPr lang="en-US"/>
              <a:t>IMF Flickr</a:t>
            </a:r>
          </a:p>
        </p:txBody>
      </p:sp>
      <p:sp>
        <p:nvSpPr>
          <p:cNvPr id="2" name="Title 1">
            <a:extLst>
              <a:ext uri="{FF2B5EF4-FFF2-40B4-BE49-F238E27FC236}">
                <a16:creationId xmlns:a16="http://schemas.microsoft.com/office/drawing/2014/main" id="{A9354EC1-60D1-CD48-8690-FF0B6D8AC540}"/>
              </a:ext>
            </a:extLst>
          </p:cNvPr>
          <p:cNvSpPr>
            <a:spLocks noGrp="1"/>
          </p:cNvSpPr>
          <p:nvPr>
            <p:ph type="ctrTitle" idx="4294967295"/>
          </p:nvPr>
        </p:nvSpPr>
        <p:spPr>
          <a:xfrm>
            <a:off x="5429250" y="1914525"/>
            <a:ext cx="6762750" cy="2928938"/>
          </a:xfrm>
          <a:noFill/>
        </p:spPr>
        <p:txBody>
          <a:bodyPr>
            <a:normAutofit/>
          </a:bodyPr>
          <a:lstStyle/>
          <a:p>
            <a:r>
              <a:rPr lang="en-US">
                <a:highlight>
                  <a:srgbClr val="FFFFFF"/>
                </a:highlight>
                <a:latin typeface="Arial Black" panose="020B0A04020102020204" pitchFamily="34" charset="0"/>
                <a:cs typeface="Arial"/>
              </a:rPr>
              <a:t>Where Do We Stand? A Regional Overview of Inequality </a:t>
            </a:r>
            <a:endParaRPr lang="en-US" b="0">
              <a:highlight>
                <a:srgbClr val="FFFFFF"/>
              </a:highlight>
              <a:latin typeface="Arial Black" panose="020B0A04020102020204" pitchFamily="34" charset="0"/>
              <a:cs typeface="Arial"/>
            </a:endParaRPr>
          </a:p>
        </p:txBody>
      </p:sp>
      <p:sp>
        <p:nvSpPr>
          <p:cNvPr id="4" name="Picture Placeholder 3">
            <a:extLst>
              <a:ext uri="{FF2B5EF4-FFF2-40B4-BE49-F238E27FC236}">
                <a16:creationId xmlns:a16="http://schemas.microsoft.com/office/drawing/2014/main" id="{85422B3F-EE12-2073-4194-197337CF7156}"/>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328971448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D61A-A607-56D6-79C0-DC97AD375ADE}"/>
              </a:ext>
            </a:extLst>
          </p:cNvPr>
          <p:cNvSpPr>
            <a:spLocks noGrp="1"/>
          </p:cNvSpPr>
          <p:nvPr>
            <p:ph type="title"/>
          </p:nvPr>
        </p:nvSpPr>
        <p:spPr>
          <a:xfrm>
            <a:off x="347241" y="491385"/>
            <a:ext cx="10608097" cy="978486"/>
          </a:xfrm>
        </p:spPr>
        <p:txBody>
          <a:bodyPr>
            <a:normAutofit/>
          </a:bodyPr>
          <a:lstStyle/>
          <a:p>
            <a:r>
              <a:rPr lang="en-US"/>
              <a:t>Setting the Scene</a:t>
            </a:r>
            <a:br>
              <a:rPr lang="en-US"/>
            </a:br>
            <a:endParaRPr lang="en-US"/>
          </a:p>
        </p:txBody>
      </p:sp>
      <p:sp>
        <p:nvSpPr>
          <p:cNvPr id="3" name="Text Placeholder 2">
            <a:extLst>
              <a:ext uri="{FF2B5EF4-FFF2-40B4-BE49-F238E27FC236}">
                <a16:creationId xmlns:a16="http://schemas.microsoft.com/office/drawing/2014/main" id="{74AF3C60-F032-B367-DA1C-E10B502F77C8}"/>
              </a:ext>
            </a:extLst>
          </p:cNvPr>
          <p:cNvSpPr>
            <a:spLocks noGrp="1"/>
          </p:cNvSpPr>
          <p:nvPr>
            <p:ph type="body" sz="quarter" idx="10"/>
          </p:nvPr>
        </p:nvSpPr>
        <p:spPr>
          <a:xfrm>
            <a:off x="298671" y="980628"/>
            <a:ext cx="10705235" cy="5265591"/>
          </a:xfrm>
        </p:spPr>
        <p:txBody>
          <a:bodyPr>
            <a:normAutofit/>
          </a:bodyPr>
          <a:lstStyle/>
          <a:p>
            <a:r>
              <a:rPr lang="en-US" b="1" i="1">
                <a:solidFill>
                  <a:schemeClr val="tx2"/>
                </a:solidFill>
                <a:cs typeface="Aldhabi" panose="01000000000000000000" pitchFamily="2" charset="-78"/>
              </a:rPr>
              <a:t>Focus of the course: </a:t>
            </a:r>
            <a:r>
              <a:rPr lang="en-US" i="1">
                <a:solidFill>
                  <a:schemeClr val="tx2"/>
                </a:solidFill>
                <a:cs typeface="Aldhabi" panose="01000000000000000000" pitchFamily="2" charset="-78"/>
              </a:rPr>
              <a:t>discuss how distributional considerations can be essential in the formulation of macroeconomic policies.</a:t>
            </a:r>
          </a:p>
        </p:txBody>
      </p:sp>
      <p:graphicFrame>
        <p:nvGraphicFramePr>
          <p:cNvPr id="5" name="Diagram 4">
            <a:extLst>
              <a:ext uri="{FF2B5EF4-FFF2-40B4-BE49-F238E27FC236}">
                <a16:creationId xmlns:a16="http://schemas.microsoft.com/office/drawing/2014/main" id="{39CDC4D1-51BF-8C6B-E7E9-2178E8625DB9}"/>
              </a:ext>
            </a:extLst>
          </p:cNvPr>
          <p:cNvGraphicFramePr/>
          <p:nvPr>
            <p:extLst>
              <p:ext uri="{D42A27DB-BD31-4B8C-83A1-F6EECF244321}">
                <p14:modId xmlns:p14="http://schemas.microsoft.com/office/powerpoint/2010/main" val="4272703374"/>
              </p:ext>
            </p:extLst>
          </p:nvPr>
        </p:nvGraphicFramePr>
        <p:xfrm>
          <a:off x="612815" y="1994251"/>
          <a:ext cx="10966370" cy="46148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71156335"/>
      </p:ext>
    </p:extLst>
  </p:cSld>
  <p:clrMapOvr>
    <a:masterClrMapping/>
  </p:clrMapOvr>
  <p:transition>
    <p:fade/>
  </p:transition>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D6C90-BDEF-96F5-7831-4FF05DADF45C}"/>
              </a:ext>
            </a:extLst>
          </p:cNvPr>
          <p:cNvSpPr txBox="1">
            <a:spLocks/>
          </p:cNvSpPr>
          <p:nvPr/>
        </p:nvSpPr>
        <p:spPr>
          <a:xfrm>
            <a:off x="281230" y="298310"/>
            <a:ext cx="11844555" cy="983152"/>
          </a:xfrm>
          <a:prstGeom prst="rect">
            <a:avLst/>
          </a:prstGeom>
        </p:spPr>
        <p:txBody>
          <a:bodyPr/>
          <a:lstStyle>
            <a:lvl1pPr algn="l" defTabSz="914314" rtl="0" eaLnBrk="1" latinLnBrk="0" hangingPunct="1">
              <a:lnSpc>
                <a:spcPct val="90000"/>
              </a:lnSpc>
              <a:spcBef>
                <a:spcPct val="0"/>
              </a:spcBef>
              <a:buNone/>
              <a:defRPr sz="3600" b="1" i="0" kern="1200">
                <a:solidFill>
                  <a:schemeClr val="tx2"/>
                </a:solidFill>
                <a:latin typeface="Calibri" panose="020F0502020204030204" pitchFamily="34" charset="0"/>
                <a:ea typeface="+mj-ea"/>
                <a:cs typeface="Calibri" panose="020F0502020204030204" pitchFamily="34" charset="0"/>
              </a:defRPr>
            </a:lvl1pPr>
          </a:lstStyle>
          <a:p>
            <a:r>
              <a:rPr lang="en-US" sz="2800">
                <a:latin typeface="Arial Black" panose="020B0A04020102020204" pitchFamily="34" charset="0"/>
              </a:rPr>
              <a:t>Distributional Channels and Macroeconomic Outcomes</a:t>
            </a:r>
          </a:p>
        </p:txBody>
      </p:sp>
      <p:sp>
        <p:nvSpPr>
          <p:cNvPr id="4" name="Oval 3">
            <a:extLst>
              <a:ext uri="{FF2B5EF4-FFF2-40B4-BE49-F238E27FC236}">
                <a16:creationId xmlns:a16="http://schemas.microsoft.com/office/drawing/2014/main" id="{645713F0-ABAA-17D4-BF43-867F9945BD72}"/>
              </a:ext>
            </a:extLst>
          </p:cNvPr>
          <p:cNvSpPr/>
          <p:nvPr/>
        </p:nvSpPr>
        <p:spPr>
          <a:xfrm>
            <a:off x="3861228" y="3602849"/>
            <a:ext cx="2743200" cy="2743200"/>
          </a:xfrm>
          <a:prstGeom prst="ellipse">
            <a:avLst/>
          </a:prstGeom>
          <a:solidFill>
            <a:srgbClr val="004C9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Policies </a:t>
            </a:r>
          </a:p>
          <a:p>
            <a:pPr algn="ctr"/>
            <a:br>
              <a:rPr lang="en-US" b="1">
                <a:solidFill>
                  <a:schemeClr val="bg1"/>
                </a:solidFill>
              </a:rPr>
            </a:br>
            <a:r>
              <a:rPr lang="en-US" sz="1600">
                <a:solidFill>
                  <a:schemeClr val="bg1"/>
                </a:solidFill>
              </a:rPr>
              <a:t>fiscal, monetary, structural, financial</a:t>
            </a:r>
          </a:p>
          <a:p>
            <a:pPr algn="ctr"/>
            <a:endParaRPr lang="en-US" sz="1600">
              <a:solidFill>
                <a:schemeClr val="bg1"/>
              </a:solidFill>
            </a:endParaRPr>
          </a:p>
        </p:txBody>
      </p:sp>
      <p:sp>
        <p:nvSpPr>
          <p:cNvPr id="5" name="Oval 4">
            <a:extLst>
              <a:ext uri="{FF2B5EF4-FFF2-40B4-BE49-F238E27FC236}">
                <a16:creationId xmlns:a16="http://schemas.microsoft.com/office/drawing/2014/main" id="{9F92E198-2C5A-2628-2C17-A66CE410CB87}"/>
              </a:ext>
            </a:extLst>
          </p:cNvPr>
          <p:cNvSpPr/>
          <p:nvPr/>
        </p:nvSpPr>
        <p:spPr>
          <a:xfrm>
            <a:off x="1518948" y="1083496"/>
            <a:ext cx="2743200" cy="2743200"/>
          </a:xfrm>
          <a:prstGeom prst="ellipse">
            <a:avLst/>
          </a:prstGeom>
          <a:solidFill>
            <a:srgbClr val="C00000"/>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Inequality </a:t>
            </a:r>
          </a:p>
          <a:p>
            <a:pPr algn="ctr"/>
            <a:endParaRPr lang="en-US" sz="1600" b="1">
              <a:solidFill>
                <a:schemeClr val="bg1"/>
              </a:solidFill>
            </a:endParaRPr>
          </a:p>
          <a:p>
            <a:pPr algn="ctr"/>
            <a:r>
              <a:rPr lang="en-US" sz="1600">
                <a:solidFill>
                  <a:schemeClr val="bg1"/>
                </a:solidFill>
              </a:rPr>
              <a:t>Legal rights, education, health, financial inclusion</a:t>
            </a:r>
          </a:p>
          <a:p>
            <a:pPr algn="ctr"/>
            <a:r>
              <a:rPr lang="en-US" sz="1600">
                <a:solidFill>
                  <a:schemeClr val="bg1"/>
                </a:solidFill>
              </a:rPr>
              <a:t>LFP, wages,</a:t>
            </a:r>
          </a:p>
          <a:p>
            <a:pPr algn="ctr"/>
            <a:r>
              <a:rPr lang="en-US" sz="1600">
                <a:solidFill>
                  <a:schemeClr val="bg1"/>
                </a:solidFill>
              </a:rPr>
              <a:t>representation/</a:t>
            </a:r>
          </a:p>
          <a:p>
            <a:pPr algn="ctr"/>
            <a:r>
              <a:rPr lang="en-US" sz="1600">
                <a:solidFill>
                  <a:schemeClr val="bg1"/>
                </a:solidFill>
              </a:rPr>
              <a:t>leadership</a:t>
            </a:r>
          </a:p>
          <a:p>
            <a:pPr algn="l"/>
            <a:endParaRPr lang="en-US" sz="1800" b="1">
              <a:solidFill>
                <a:schemeClr val="bg1"/>
              </a:solidFill>
            </a:endParaRPr>
          </a:p>
        </p:txBody>
      </p:sp>
      <p:sp>
        <p:nvSpPr>
          <p:cNvPr id="6" name="Oval 5">
            <a:extLst>
              <a:ext uri="{FF2B5EF4-FFF2-40B4-BE49-F238E27FC236}">
                <a16:creationId xmlns:a16="http://schemas.microsoft.com/office/drawing/2014/main" id="{26147098-72CE-B838-A1E8-D0DCA0B0925D}"/>
              </a:ext>
            </a:extLst>
          </p:cNvPr>
          <p:cNvSpPr/>
          <p:nvPr/>
        </p:nvSpPr>
        <p:spPr>
          <a:xfrm>
            <a:off x="6203508" y="1083496"/>
            <a:ext cx="2743200" cy="2743200"/>
          </a:xfrm>
          <a:prstGeom prst="ellipse">
            <a:avLst/>
          </a:prstGeom>
          <a:solidFill>
            <a:srgbClr val="004C9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Macro Outcomes</a:t>
            </a:r>
          </a:p>
          <a:p>
            <a:pPr algn="ctr"/>
            <a:endParaRPr lang="en-US" b="1">
              <a:solidFill>
                <a:schemeClr val="bg1"/>
              </a:solidFill>
            </a:endParaRPr>
          </a:p>
          <a:p>
            <a:pPr marL="0" lvl="1" algn="ctr" defTabSz="914400"/>
            <a:r>
              <a:rPr lang="en-US" sz="1600">
                <a:solidFill>
                  <a:schemeClr val="bg1"/>
                </a:solidFill>
              </a:rPr>
              <a:t>Economic growth and resilience,</a:t>
            </a:r>
          </a:p>
          <a:p>
            <a:pPr marL="0" lvl="1" algn="ctr" defTabSz="914400"/>
            <a:r>
              <a:rPr lang="en-US" sz="1600">
                <a:solidFill>
                  <a:schemeClr val="bg1"/>
                </a:solidFill>
              </a:rPr>
              <a:t>macro-financial stability</a:t>
            </a:r>
          </a:p>
          <a:p>
            <a:pPr marL="0" lvl="1" algn="ctr" defTabSz="914400"/>
            <a:endParaRPr lang="en-US" sz="1600">
              <a:solidFill>
                <a:schemeClr val="bg1"/>
              </a:solidFill>
            </a:endParaRPr>
          </a:p>
        </p:txBody>
      </p:sp>
      <p:sp>
        <p:nvSpPr>
          <p:cNvPr id="9" name="Arrow: Down 8">
            <a:extLst>
              <a:ext uri="{FF2B5EF4-FFF2-40B4-BE49-F238E27FC236}">
                <a16:creationId xmlns:a16="http://schemas.microsoft.com/office/drawing/2014/main" id="{08441641-EBD4-8E3B-A0A7-3D79D0446D70}"/>
              </a:ext>
            </a:extLst>
          </p:cNvPr>
          <p:cNvSpPr/>
          <p:nvPr/>
        </p:nvSpPr>
        <p:spPr>
          <a:xfrm rot="12954239">
            <a:off x="6461920" y="3180761"/>
            <a:ext cx="914400" cy="18288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83253EFE-D3A3-B341-9FA3-A54C13E8D7A4}"/>
              </a:ext>
            </a:extLst>
          </p:cNvPr>
          <p:cNvSpPr/>
          <p:nvPr/>
        </p:nvSpPr>
        <p:spPr>
          <a:xfrm rot="8404864">
            <a:off x="3065954" y="3180761"/>
            <a:ext cx="914400" cy="1828800"/>
          </a:xfrm>
          <a:prstGeom prst="downArrow">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Left-Right 10">
            <a:extLst>
              <a:ext uri="{FF2B5EF4-FFF2-40B4-BE49-F238E27FC236}">
                <a16:creationId xmlns:a16="http://schemas.microsoft.com/office/drawing/2014/main" id="{29BF8D97-B68B-9B88-5C33-545DD5D00931}"/>
              </a:ext>
            </a:extLst>
          </p:cNvPr>
          <p:cNvSpPr/>
          <p:nvPr/>
        </p:nvSpPr>
        <p:spPr>
          <a:xfrm>
            <a:off x="3912598" y="1411950"/>
            <a:ext cx="2640459" cy="983152"/>
          </a:xfrm>
          <a:prstGeom prst="leftRightArrow">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TextBox 2">
            <a:extLst>
              <a:ext uri="{FF2B5EF4-FFF2-40B4-BE49-F238E27FC236}">
                <a16:creationId xmlns:a16="http://schemas.microsoft.com/office/drawing/2014/main" id="{A8F53B74-F7ED-179C-98CE-2A1A569CD729}"/>
              </a:ext>
            </a:extLst>
          </p:cNvPr>
          <p:cNvSpPr txBox="1"/>
          <p:nvPr/>
        </p:nvSpPr>
        <p:spPr>
          <a:xfrm>
            <a:off x="10019509" y="825579"/>
            <a:ext cx="2112122" cy="6032421"/>
          </a:xfrm>
          <a:prstGeom prst="rect">
            <a:avLst/>
          </a:prstGeom>
          <a:noFill/>
        </p:spPr>
        <p:txBody>
          <a:bodyPr wrap="square" lIns="91440" tIns="45720" rIns="91440" bIns="45720" rtlCol="0" anchor="t">
            <a:spAutoFit/>
          </a:bodyPr>
          <a:lstStyle/>
          <a:p>
            <a:pPr>
              <a:lnSpc>
                <a:spcPts val="2000"/>
              </a:lnSpc>
            </a:pPr>
            <a:r>
              <a:rPr lang="en-US" b="1">
                <a:solidFill>
                  <a:schemeClr val="tx2"/>
                </a:solidFill>
              </a:rPr>
              <a:t>Helpful Resources:</a:t>
            </a:r>
          </a:p>
          <a:p>
            <a:pPr>
              <a:lnSpc>
                <a:spcPts val="2000"/>
              </a:lnSpc>
            </a:pPr>
            <a:endParaRPr lang="en-US"/>
          </a:p>
          <a:p>
            <a:pPr>
              <a:lnSpc>
                <a:spcPts val="2000"/>
              </a:lnSpc>
            </a:pPr>
            <a:r>
              <a:rPr lang="en-US">
                <a:hlinkClick r:id="rId4"/>
              </a:rPr>
              <a:t>IMF Strategy Toward Mainstreaming Gender</a:t>
            </a:r>
            <a:endParaRPr lang="en-US"/>
          </a:p>
          <a:p>
            <a:pPr>
              <a:lnSpc>
                <a:spcPts val="2000"/>
              </a:lnSpc>
            </a:pPr>
            <a:endParaRPr lang="en-US"/>
          </a:p>
          <a:p>
            <a:pPr>
              <a:lnSpc>
                <a:spcPts val="2000"/>
              </a:lnSpc>
            </a:pPr>
            <a:r>
              <a:rPr lang="en-US">
                <a:hlinkClick r:id="rId5"/>
              </a:rPr>
              <a:t>Integrating Gender into Macroeconomic Policies at the IMF</a:t>
            </a:r>
            <a:endParaRPr lang="en-US"/>
          </a:p>
          <a:p>
            <a:pPr>
              <a:lnSpc>
                <a:spcPts val="2000"/>
              </a:lnSpc>
            </a:pPr>
            <a:endParaRPr lang="en-US">
              <a:cs typeface="Arial"/>
            </a:endParaRPr>
          </a:p>
          <a:p>
            <a:pPr>
              <a:lnSpc>
                <a:spcPts val="2000"/>
              </a:lnSpc>
            </a:pPr>
            <a:r>
              <a:rPr lang="en-US">
                <a:solidFill>
                  <a:srgbClr val="004C97"/>
                </a:solidFill>
                <a:cs typeface="Arial" panose="020B0604020202020204"/>
                <a:hlinkClick r:id="rId6">
                  <a:extLst>
                    <a:ext uri="{A12FA001-AC4F-418D-AE19-62706E023703}">
                      <ahyp:hlinkClr xmlns:ahyp="http://schemas.microsoft.com/office/drawing/2018/hyperlinkcolor" val="tx"/>
                    </a:ext>
                  </a:extLst>
                </a:hlinkClick>
              </a:rPr>
              <a:t>GDP gains </a:t>
            </a:r>
            <a:r>
              <a:rPr lang="en-US">
                <a:solidFill>
                  <a:schemeClr val="tx2"/>
                </a:solidFill>
                <a:cs typeface="Arial" panose="020B0604020202020204"/>
              </a:rPr>
              <a:t>and </a:t>
            </a:r>
            <a:r>
              <a:rPr lang="en-US">
                <a:solidFill>
                  <a:schemeClr val="tx2"/>
                </a:solidFill>
                <a:cs typeface="Arial" panose="020B0604020202020204"/>
                <a:hlinkClick r:id="rId7">
                  <a:extLst>
                    <a:ext uri="{A12FA001-AC4F-418D-AE19-62706E023703}">
                      <ahyp:hlinkClr xmlns:ahyp="http://schemas.microsoft.com/office/drawing/2018/hyperlinkcolor" val="tx"/>
                    </a:ext>
                  </a:extLst>
                </a:hlinkClick>
              </a:rPr>
              <a:t>Productivity</a:t>
            </a:r>
            <a:r>
              <a:rPr lang="en-US">
                <a:solidFill>
                  <a:schemeClr val="tx2"/>
                </a:solidFill>
                <a:cs typeface="Arial" panose="020B0604020202020204"/>
              </a:rPr>
              <a:t> </a:t>
            </a:r>
            <a:endParaRPr lang="en-US">
              <a:solidFill>
                <a:schemeClr val="tx2"/>
              </a:solidFill>
            </a:endParaRPr>
          </a:p>
          <a:p>
            <a:pPr>
              <a:lnSpc>
                <a:spcPts val="2000"/>
              </a:lnSpc>
            </a:pPr>
            <a:endParaRPr lang="en-US">
              <a:solidFill>
                <a:schemeClr val="tx2"/>
              </a:solidFill>
              <a:cs typeface="Arial" panose="020B0604020202020204"/>
            </a:endParaRPr>
          </a:p>
          <a:p>
            <a:pPr>
              <a:lnSpc>
                <a:spcPts val="2000"/>
              </a:lnSpc>
            </a:pPr>
            <a:r>
              <a:rPr lang="en-US">
                <a:solidFill>
                  <a:schemeClr val="tx2"/>
                </a:solidFill>
                <a:cs typeface="Arial" panose="020B0604020202020204"/>
                <a:hlinkClick r:id="rId8">
                  <a:extLst>
                    <a:ext uri="{A12FA001-AC4F-418D-AE19-62706E023703}">
                      <ahyp:hlinkClr xmlns:ahyp="http://schemas.microsoft.com/office/drawing/2018/hyperlinkcolor" val="tx"/>
                    </a:ext>
                  </a:extLst>
                </a:hlinkClick>
              </a:rPr>
              <a:t>Greater financial stability</a:t>
            </a:r>
            <a:endParaRPr lang="en-US">
              <a:solidFill>
                <a:schemeClr val="tx2"/>
              </a:solidFill>
            </a:endParaRPr>
          </a:p>
          <a:p>
            <a:pPr>
              <a:lnSpc>
                <a:spcPts val="2000"/>
              </a:lnSpc>
            </a:pPr>
            <a:endParaRPr lang="en-US">
              <a:solidFill>
                <a:schemeClr val="tx2"/>
              </a:solidFill>
              <a:cs typeface="Arial" panose="020B0604020202020204"/>
            </a:endParaRPr>
          </a:p>
          <a:p>
            <a:pPr>
              <a:lnSpc>
                <a:spcPts val="2000"/>
              </a:lnSpc>
            </a:pPr>
            <a:r>
              <a:rPr lang="en-US">
                <a:solidFill>
                  <a:schemeClr val="tx2"/>
                </a:solidFill>
                <a:cs typeface="Arial" panose="020B0604020202020204"/>
                <a:hlinkClick r:id="rId9">
                  <a:extLst>
                    <a:ext uri="{A12FA001-AC4F-418D-AE19-62706E023703}">
                      <ahyp:hlinkClr xmlns:ahyp="http://schemas.microsoft.com/office/drawing/2018/hyperlinkcolor" val="tx"/>
                    </a:ext>
                  </a:extLst>
                </a:hlinkClick>
              </a:rPr>
              <a:t>Economic diversification</a:t>
            </a:r>
            <a:endParaRPr lang="en-US">
              <a:solidFill>
                <a:schemeClr val="tx2"/>
              </a:solidFill>
              <a:cs typeface="Arial" panose="020B0604020202020204"/>
            </a:endParaRPr>
          </a:p>
          <a:p>
            <a:endParaRPr lang="en-US">
              <a:solidFill>
                <a:schemeClr val="tx2"/>
              </a:solidFill>
              <a:cs typeface="Arial" panose="020B0604020202020204"/>
            </a:endParaRPr>
          </a:p>
          <a:p>
            <a:endParaRPr lang="en-US">
              <a:cs typeface="Arial" panose="020B0604020202020204"/>
            </a:endParaRPr>
          </a:p>
        </p:txBody>
      </p:sp>
    </p:spTree>
    <p:extLst>
      <p:ext uri="{BB962C8B-B14F-4D97-AF65-F5344CB8AC3E}">
        <p14:creationId xmlns:p14="http://schemas.microsoft.com/office/powerpoint/2010/main" val="28942762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6F37-506E-2CB7-96A6-59EC91BFFF2C}"/>
              </a:ext>
            </a:extLst>
          </p:cNvPr>
          <p:cNvSpPr>
            <a:spLocks noGrp="1"/>
          </p:cNvSpPr>
          <p:nvPr>
            <p:ph type="title"/>
          </p:nvPr>
        </p:nvSpPr>
        <p:spPr>
          <a:xfrm>
            <a:off x="3994055" y="2826960"/>
            <a:ext cx="9715500" cy="978486"/>
          </a:xfrm>
        </p:spPr>
        <p:txBody>
          <a:bodyPr/>
          <a:lstStyle/>
          <a:p>
            <a:r>
              <a:rPr lang="en-US"/>
              <a:t>Helpful Definitions </a:t>
            </a:r>
          </a:p>
        </p:txBody>
      </p:sp>
    </p:spTree>
    <p:extLst>
      <p:ext uri="{BB962C8B-B14F-4D97-AF65-F5344CB8AC3E}">
        <p14:creationId xmlns:p14="http://schemas.microsoft.com/office/powerpoint/2010/main" val="14405297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7B24-8A5F-E4B9-6F0C-3F57982B642D}"/>
              </a:ext>
            </a:extLst>
          </p:cNvPr>
          <p:cNvSpPr>
            <a:spLocks noGrp="1"/>
          </p:cNvSpPr>
          <p:nvPr>
            <p:ph type="title"/>
          </p:nvPr>
        </p:nvSpPr>
        <p:spPr>
          <a:xfrm>
            <a:off x="677978" y="237997"/>
            <a:ext cx="9715500" cy="978486"/>
          </a:xfrm>
        </p:spPr>
        <p:txBody>
          <a:bodyPr/>
          <a:lstStyle/>
          <a:p>
            <a:r>
              <a:rPr lang="en-US"/>
              <a:t>Labor force participation rate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858E502-5356-7A4A-6EFF-3C18EA7B03A6}"/>
                  </a:ext>
                </a:extLst>
              </p:cNvPr>
              <p:cNvSpPr>
                <a:spLocks noGrp="1"/>
              </p:cNvSpPr>
              <p:nvPr>
                <p:ph type="body" sz="quarter" idx="10"/>
              </p:nvPr>
            </p:nvSpPr>
            <p:spPr/>
            <p:txBody>
              <a:bodyPr>
                <a:normAutofit/>
              </a:bodyPr>
              <a:lstStyle/>
              <a:p>
                <a:pPr marL="0" marR="0" algn="ctr">
                  <a:lnSpc>
                    <a:spcPct val="125000"/>
                  </a:lnSpc>
                  <a:spcBef>
                    <a:spcPts val="800"/>
                  </a:spcBef>
                  <a:spcAft>
                    <a:spcPts val="0"/>
                  </a:spcAft>
                </a:pPr>
                <a:r>
                  <a:rPr lang="en-US" sz="2400" b="1">
                    <a:effectLst/>
                    <a:ea typeface="SimSun" panose="02010600030101010101" pitchFamily="2" charset="-122"/>
                    <a:cs typeface="Arial" panose="020B0604020202020204" pitchFamily="34" charset="0"/>
                  </a:rPr>
                  <a:t>Labor force participation rate</a:t>
                </a:r>
                <a:r>
                  <a:rPr lang="en-US" sz="2400">
                    <a:effectLst/>
                    <a:ea typeface="SimSun" panose="02010600030101010101" pitchFamily="2" charset="-122"/>
                    <a:cs typeface="Arial" panose="020B0604020202020204" pitchFamily="34" charset="0"/>
                  </a:rPr>
                  <a:t> = </a:t>
                </a:r>
                <a14:m>
                  <m:oMath xmlns:m="http://schemas.openxmlformats.org/officeDocument/2006/math">
                    <m:f>
                      <m:fPr>
                        <m:ctrlPr>
                          <a:rPr lang="en-US" sz="2800" i="1">
                            <a:effectLst/>
                            <a:latin typeface="Cambria Math" panose="02040503050406030204" pitchFamily="18" charset="0"/>
                            <a:ea typeface="SimSun" panose="02010600030101010101" pitchFamily="2" charset="-122"/>
                            <a:cs typeface="Arial" panose="020B0604020202020204" pitchFamily="34" charset="0"/>
                          </a:rPr>
                        </m:ctrlPr>
                      </m:fPr>
                      <m:num>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Employed</m:t>
                        </m:r>
                        <m:r>
                          <a:rPr lang="en-US" sz="2800">
                            <a:effectLst/>
                            <a:latin typeface="Cambria Math" panose="02040503050406030204" pitchFamily="18" charset="0"/>
                            <a:ea typeface="SimSun" panose="02010600030101010101" pitchFamily="2" charset="-122"/>
                            <a:cs typeface="Arial" panose="020B0604020202020204" pitchFamily="34" charset="0"/>
                          </a:rPr>
                          <m:t> </m:t>
                        </m:r>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workers</m:t>
                        </m:r>
                        <m:r>
                          <a:rPr lang="en-US" sz="2800" i="1">
                            <a:effectLst/>
                            <a:latin typeface="Cambria Math" panose="02040503050406030204" pitchFamily="18" charset="0"/>
                            <a:ea typeface="SimSun" panose="02010600030101010101" pitchFamily="2" charset="-122"/>
                            <a:cs typeface="Arial" panose="020B0604020202020204" pitchFamily="34" charset="0"/>
                          </a:rPr>
                          <m:t>+ </m:t>
                        </m:r>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Unemployed</m:t>
                        </m:r>
                        <m:r>
                          <a:rPr lang="en-US" sz="2800">
                            <a:effectLst/>
                            <a:latin typeface="Cambria Math" panose="02040503050406030204" pitchFamily="18" charset="0"/>
                            <a:ea typeface="SimSun" panose="02010600030101010101" pitchFamily="2" charset="-122"/>
                            <a:cs typeface="Arial" panose="020B0604020202020204" pitchFamily="34" charset="0"/>
                          </a:rPr>
                          <m:t> </m:t>
                        </m:r>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individuals</m:t>
                        </m:r>
                        <m:r>
                          <a:rPr lang="en-US" sz="2800">
                            <a:effectLst/>
                            <a:latin typeface="Cambria Math" panose="02040503050406030204" pitchFamily="18" charset="0"/>
                            <a:ea typeface="SimSun" panose="02010600030101010101" pitchFamily="2" charset="-122"/>
                            <a:cs typeface="Arial" panose="020B0604020202020204" pitchFamily="34" charset="0"/>
                          </a:rPr>
                          <m:t> </m:t>
                        </m:r>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actively</m:t>
                        </m:r>
                        <m:r>
                          <a:rPr lang="en-US" sz="2800">
                            <a:effectLst/>
                            <a:latin typeface="Cambria Math" panose="02040503050406030204" pitchFamily="18" charset="0"/>
                            <a:ea typeface="SimSun" panose="02010600030101010101" pitchFamily="2" charset="-122"/>
                            <a:cs typeface="Arial" panose="020B0604020202020204" pitchFamily="34" charset="0"/>
                          </a:rPr>
                          <m:t> </m:t>
                        </m:r>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looking</m:t>
                        </m:r>
                        <m:r>
                          <a:rPr lang="en-US" sz="2800">
                            <a:effectLst/>
                            <a:latin typeface="Cambria Math" panose="02040503050406030204" pitchFamily="18" charset="0"/>
                            <a:ea typeface="SimSun" panose="02010600030101010101" pitchFamily="2" charset="-122"/>
                            <a:cs typeface="Arial" panose="020B0604020202020204" pitchFamily="34" charset="0"/>
                          </a:rPr>
                          <m:t> </m:t>
                        </m:r>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for</m:t>
                        </m:r>
                        <m:r>
                          <a:rPr lang="en-US" sz="2800">
                            <a:effectLst/>
                            <a:latin typeface="Cambria Math" panose="02040503050406030204" pitchFamily="18" charset="0"/>
                            <a:ea typeface="SimSun" panose="02010600030101010101" pitchFamily="2" charset="-122"/>
                            <a:cs typeface="Arial" panose="020B0604020202020204" pitchFamily="34" charset="0"/>
                          </a:rPr>
                          <m:t> </m:t>
                        </m:r>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jobs</m:t>
                        </m:r>
                        <m:r>
                          <a:rPr lang="en-US" sz="2800">
                            <a:effectLst/>
                            <a:latin typeface="Cambria Math" panose="02040503050406030204" pitchFamily="18" charset="0"/>
                            <a:ea typeface="SimSun" panose="02010600030101010101" pitchFamily="2" charset="-122"/>
                            <a:cs typeface="Arial" panose="020B0604020202020204" pitchFamily="34" charset="0"/>
                          </a:rPr>
                          <m:t> </m:t>
                        </m:r>
                      </m:num>
                      <m:den>
                        <m:r>
                          <m:rPr>
                            <m:sty m:val="p"/>
                          </m:rPr>
                          <a:rPr lang="en-US" sz="2800">
                            <a:effectLst/>
                            <a:latin typeface="Cambria Math" panose="02040503050406030204" pitchFamily="18" charset="0"/>
                            <a:ea typeface="SimSun" panose="02010600030101010101" pitchFamily="2" charset="-122"/>
                            <a:cs typeface="Arial" panose="020B0604020202020204" pitchFamily="34" charset="0"/>
                          </a:rPr>
                          <m:t>Population</m:t>
                        </m:r>
                      </m:den>
                    </m:f>
                  </m:oMath>
                </a14:m>
                <a:endParaRPr lang="en-US" sz="2400">
                  <a:effectLst/>
                  <a:ea typeface="SimSun" panose="02010600030101010101" pitchFamily="2" charset="-122"/>
                  <a:cs typeface="Times New Roman" panose="02020603050405020304" pitchFamily="18" charset="0"/>
                </a:endParaRPr>
              </a:p>
              <a:p>
                <a:pPr marL="342900" marR="0" lvl="0" indent="-342900">
                  <a:lnSpc>
                    <a:spcPct val="125000"/>
                  </a:lnSpc>
                  <a:spcBef>
                    <a:spcPts val="800"/>
                  </a:spcBef>
                  <a:spcAft>
                    <a:spcPts val="0"/>
                  </a:spcAft>
                  <a:buFont typeface="Symbol" panose="05050102010706020507" pitchFamily="18" charset="2"/>
                  <a:buChar char=""/>
                </a:pPr>
                <a:endParaRPr lang="en-US" sz="2400">
                  <a:effectLst/>
                  <a:ea typeface="SimSun" panose="02010600030101010101" pitchFamily="2" charset="-122"/>
                  <a:cs typeface="Arial" panose="020B0604020202020204" pitchFamily="34" charset="0"/>
                </a:endParaRPr>
              </a:p>
              <a:p>
                <a:pPr marL="342900" marR="0" lvl="0" indent="-342900">
                  <a:lnSpc>
                    <a:spcPct val="125000"/>
                  </a:lnSpc>
                  <a:spcBef>
                    <a:spcPts val="800"/>
                  </a:spcBef>
                  <a:spcAft>
                    <a:spcPts val="0"/>
                  </a:spcAft>
                  <a:buFont typeface="Symbol" panose="05050102010706020507" pitchFamily="18" charset="2"/>
                  <a:buChar char=""/>
                </a:pPr>
                <a:r>
                  <a:rPr lang="en-US" sz="2400">
                    <a:effectLst/>
                    <a:ea typeface="SimSun" panose="02010600030101010101" pitchFamily="2" charset="-122"/>
                    <a:cs typeface="Arial" panose="020B0604020202020204" pitchFamily="34" charset="0"/>
                  </a:rPr>
                  <a:t>This tells us what </a:t>
                </a:r>
                <a:r>
                  <a:rPr lang="en-US" sz="2400" b="1">
                    <a:effectLst/>
                    <a:ea typeface="SimSun" panose="02010600030101010101" pitchFamily="2" charset="-122"/>
                    <a:cs typeface="Arial" panose="020B0604020202020204" pitchFamily="34" charset="0"/>
                  </a:rPr>
                  <a:t>percentage of people</a:t>
                </a:r>
                <a:r>
                  <a:rPr lang="en-US" sz="2400">
                    <a:effectLst/>
                    <a:ea typeface="SimSun" panose="02010600030101010101" pitchFamily="2" charset="-122"/>
                    <a:cs typeface="Arial" panose="020B0604020202020204" pitchFamily="34" charset="0"/>
                  </a:rPr>
                  <a:t> in that age group are either working or looking for work.</a:t>
                </a:r>
                <a:endParaRPr lang="en-US" sz="2400">
                  <a:effectLst/>
                  <a:ea typeface="SimSun" panose="02010600030101010101" pitchFamily="2" charset="-122"/>
                  <a:cs typeface="Times New Roman" panose="02020603050405020304" pitchFamily="18" charset="0"/>
                </a:endParaRPr>
              </a:p>
              <a:p>
                <a:pPr marL="342900" marR="0" lvl="0" indent="-342900">
                  <a:lnSpc>
                    <a:spcPct val="125000"/>
                  </a:lnSpc>
                  <a:spcBef>
                    <a:spcPts val="800"/>
                  </a:spcBef>
                  <a:spcAft>
                    <a:spcPts val="0"/>
                  </a:spcAft>
                  <a:buFont typeface="Symbol" panose="05050102010706020507" pitchFamily="18" charset="2"/>
                  <a:buChar char=""/>
                </a:pPr>
                <a:r>
                  <a:rPr lang="en-US" sz="2400">
                    <a:effectLst/>
                    <a:ea typeface="Times New Roman" panose="02020603050405020304" pitchFamily="18" charset="0"/>
                    <a:cs typeface="Arial" panose="020B0604020202020204" pitchFamily="34" charset="0"/>
                  </a:rPr>
                  <a:t> Example: If there are </a:t>
                </a:r>
                <a:r>
                  <a:rPr lang="en-US" sz="2400" b="1">
                    <a:effectLst/>
                    <a:ea typeface="Times New Roman" panose="02020603050405020304" pitchFamily="18" charset="0"/>
                    <a:cs typeface="Arial" panose="020B0604020202020204" pitchFamily="34" charset="0"/>
                  </a:rPr>
                  <a:t>100 people</a:t>
                </a:r>
                <a:r>
                  <a:rPr lang="en-US" sz="2400">
                    <a:effectLst/>
                    <a:ea typeface="Times New Roman" panose="02020603050405020304" pitchFamily="18" charset="0"/>
                    <a:cs typeface="Arial" panose="020B0604020202020204" pitchFamily="34" charset="0"/>
                  </a:rPr>
                  <a:t>, and </a:t>
                </a:r>
                <a:r>
                  <a:rPr lang="en-US" sz="2400" b="1">
                    <a:effectLst/>
                    <a:ea typeface="Times New Roman" panose="02020603050405020304" pitchFamily="18" charset="0"/>
                    <a:cs typeface="Arial" panose="020B0604020202020204" pitchFamily="34" charset="0"/>
                  </a:rPr>
                  <a:t>70 are either working or looking for jobs</a:t>
                </a:r>
                <a:r>
                  <a:rPr lang="en-US" sz="2400">
                    <a:effectLst/>
                    <a:ea typeface="Times New Roman" panose="02020603050405020304" pitchFamily="18" charset="0"/>
                    <a:cs typeface="Arial" panose="020B0604020202020204" pitchFamily="34" charset="0"/>
                  </a:rPr>
                  <a:t>, the labor force participation rate is </a:t>
                </a:r>
                <a:r>
                  <a:rPr lang="en-US" sz="2400" b="1">
                    <a:effectLst/>
                    <a:ea typeface="Times New Roman" panose="02020603050405020304" pitchFamily="18" charset="0"/>
                    <a:cs typeface="Arial" panose="020B0604020202020204" pitchFamily="34" charset="0"/>
                  </a:rPr>
                  <a:t>70%</a:t>
                </a:r>
                <a:r>
                  <a:rPr lang="en-US" sz="2400">
                    <a:effectLst/>
                    <a:ea typeface="Times New Roman" panose="02020603050405020304" pitchFamily="18" charset="0"/>
                    <a:cs typeface="Arial" panose="020B0604020202020204" pitchFamily="34" charset="0"/>
                  </a:rPr>
                  <a:t>.</a:t>
                </a:r>
                <a:endParaRPr lang="en-US" sz="2400">
                  <a:effectLst/>
                  <a:ea typeface="SimSun" panose="02010600030101010101" pitchFamily="2" charset="-122"/>
                  <a:cs typeface="Times New Roman" panose="02020603050405020304" pitchFamily="18" charset="0"/>
                </a:endParaRPr>
              </a:p>
              <a:p>
                <a:endParaRPr lang="en-US"/>
              </a:p>
            </p:txBody>
          </p:sp>
        </mc:Choice>
        <mc:Fallback xmlns="">
          <p:sp>
            <p:nvSpPr>
              <p:cNvPr id="3" name="Text Placeholder 2">
                <a:extLst>
                  <a:ext uri="{FF2B5EF4-FFF2-40B4-BE49-F238E27FC236}">
                    <a16:creationId xmlns:a16="http://schemas.microsoft.com/office/drawing/2014/main" id="{3858E502-5356-7A4A-6EFF-3C18EA7B03A6}"/>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2133" r="-1317"/>
                </a:stretch>
              </a:blipFill>
            </p:spPr>
            <p:txBody>
              <a:bodyPr/>
              <a:lstStyle/>
              <a:p>
                <a:r>
                  <a:rPr lang="en-US">
                    <a:noFill/>
                  </a:rPr>
                  <a:t> </a:t>
                </a:r>
              </a:p>
            </p:txBody>
          </p:sp>
        </mc:Fallback>
      </mc:AlternateContent>
    </p:spTree>
    <p:extLst>
      <p:ext uri="{BB962C8B-B14F-4D97-AF65-F5344CB8AC3E}">
        <p14:creationId xmlns:p14="http://schemas.microsoft.com/office/powerpoint/2010/main" val="7811109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3B84E-6427-5D9F-A11B-3A31EA649A14}"/>
              </a:ext>
            </a:extLst>
          </p:cNvPr>
          <p:cNvSpPr>
            <a:spLocks noGrp="1"/>
          </p:cNvSpPr>
          <p:nvPr>
            <p:ph type="title"/>
          </p:nvPr>
        </p:nvSpPr>
        <p:spPr>
          <a:xfrm>
            <a:off x="633910" y="304098"/>
            <a:ext cx="9715500" cy="978486"/>
          </a:xfrm>
        </p:spPr>
        <p:txBody>
          <a:bodyPr/>
          <a:lstStyle/>
          <a:p>
            <a:r>
              <a:rPr lang="en-US"/>
              <a:t>Unemployment rate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B6EF896-BB65-2497-BF8B-9355CD0F3FE1}"/>
                  </a:ext>
                </a:extLst>
              </p:cNvPr>
              <p:cNvSpPr>
                <a:spLocks noGrp="1"/>
              </p:cNvSpPr>
              <p:nvPr>
                <p:ph type="body" sz="quarter" idx="10"/>
              </p:nvPr>
            </p:nvSpPr>
            <p:spPr/>
            <p:txBody>
              <a:bodyPr/>
              <a:lstStyle/>
              <a:p>
                <a:pPr marL="0" marR="0" algn="ctr">
                  <a:lnSpc>
                    <a:spcPct val="125000"/>
                  </a:lnSpc>
                  <a:spcBef>
                    <a:spcPts val="800"/>
                  </a:spcBef>
                  <a:spcAft>
                    <a:spcPts val="0"/>
                  </a:spcAft>
                </a:pPr>
                <a:r>
                  <a:rPr lang="en-US" sz="2400" b="1">
                    <a:effectLst/>
                    <a:ea typeface="SimSun" panose="02010600030101010101" pitchFamily="2" charset="-122"/>
                    <a:cs typeface="Times New Roman" panose="02020603050405020304" pitchFamily="18" charset="0"/>
                  </a:rPr>
                  <a:t>Unemployment rate</a:t>
                </a:r>
                <a:r>
                  <a:rPr lang="en-US" sz="2400">
                    <a:effectLst/>
                    <a:ea typeface="SimSun" panose="02010600030101010101" pitchFamily="2" charset="-122"/>
                    <a:cs typeface="Times New Roman" panose="02020603050405020304" pitchFamily="18" charset="0"/>
                  </a:rPr>
                  <a:t> = </a:t>
                </a:r>
                <a14:m>
                  <m:oMath xmlns:m="http://schemas.openxmlformats.org/officeDocument/2006/math">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r>
                          <m:rPr>
                            <m:sty m:val="p"/>
                          </m:rPr>
                          <a:rPr lang="en-US" sz="2800">
                            <a:effectLst/>
                            <a:latin typeface="Cambria Math" panose="02040503050406030204" pitchFamily="18" charset="0"/>
                            <a:ea typeface="SimSun" panose="02010600030101010101" pitchFamily="2" charset="-122"/>
                            <a:cs typeface="Times New Roman" panose="02020603050405020304" pitchFamily="18" charset="0"/>
                          </a:rPr>
                          <m:t>Unemployed</m:t>
                        </m:r>
                        <m:r>
                          <a:rPr lang="en-US" sz="2800">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SimSun" panose="02010600030101010101" pitchFamily="2" charset="-122"/>
                            <a:cs typeface="Times New Roman" panose="02020603050405020304" pitchFamily="18" charset="0"/>
                          </a:rPr>
                          <m:t>individuals</m:t>
                        </m:r>
                        <m:r>
                          <a:rPr lang="en-US" sz="2800">
                            <a:effectLst/>
                            <a:latin typeface="Cambria Math" panose="02040503050406030204" pitchFamily="18" charset="0"/>
                            <a:ea typeface="SimSun" panose="02010600030101010101" pitchFamily="2" charset="-122"/>
                            <a:cs typeface="Times New Roman" panose="02020603050405020304" pitchFamily="18" charset="0"/>
                          </a:rPr>
                          <m:t> </m:t>
                        </m:r>
                      </m:num>
                      <m:den>
                        <m:r>
                          <m:rPr>
                            <m:sty m:val="p"/>
                          </m:rPr>
                          <a:rPr lang="en-US" sz="2800">
                            <a:effectLst/>
                            <a:latin typeface="Cambria Math" panose="02040503050406030204" pitchFamily="18" charset="0"/>
                            <a:ea typeface="SimSun" panose="02010600030101010101" pitchFamily="2" charset="-122"/>
                            <a:cs typeface="Times New Roman" panose="02020603050405020304" pitchFamily="18" charset="0"/>
                          </a:rPr>
                          <m:t>Employed</m:t>
                        </m:r>
                        <m:r>
                          <a:rPr lang="en-US" sz="2800">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SimSun" panose="02010600030101010101" pitchFamily="2" charset="-122"/>
                            <a:cs typeface="Times New Roman" panose="02020603050405020304" pitchFamily="18" charset="0"/>
                          </a:rPr>
                          <m:t>Workers</m:t>
                        </m:r>
                        <m:r>
                          <a:rPr lang="en-US" sz="2800" b="0" i="0" smtClean="0">
                            <a:effectLst/>
                            <a:latin typeface="Cambria Math" panose="02040503050406030204" pitchFamily="18" charset="0"/>
                            <a:ea typeface="SimSun" panose="02010600030101010101" pitchFamily="2" charset="-122"/>
                            <a:cs typeface="Times New Roman" panose="02020603050405020304" pitchFamily="18" charset="0"/>
                          </a:rPr>
                          <m:t> </m:t>
                        </m:r>
                        <m:r>
                          <a:rPr lang="en-US" sz="28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SimSun" panose="02010600030101010101" pitchFamily="2" charset="-122"/>
                            <a:cs typeface="Times New Roman" panose="02020603050405020304" pitchFamily="18" charset="0"/>
                          </a:rPr>
                          <m:t>Unemployed</m:t>
                        </m:r>
                        <m:r>
                          <a:rPr lang="en-US" sz="2800">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SimSun" panose="02010600030101010101" pitchFamily="2" charset="-122"/>
                            <a:cs typeface="Times New Roman" panose="02020603050405020304" pitchFamily="18" charset="0"/>
                          </a:rPr>
                          <m:t>individuals</m:t>
                        </m:r>
                        <m:r>
                          <a:rPr lang="en-US" sz="2800" b="0" i="0" smtClean="0">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b="0" i="0" smtClean="0">
                            <a:effectLst/>
                            <a:latin typeface="Cambria Math" panose="02040503050406030204" pitchFamily="18" charset="0"/>
                            <a:ea typeface="SimSun" panose="02010600030101010101" pitchFamily="2" charset="-122"/>
                            <a:cs typeface="Times New Roman" panose="02020603050405020304" pitchFamily="18" charset="0"/>
                          </a:rPr>
                          <m:t>actively</m:t>
                        </m:r>
                        <m:r>
                          <a:rPr lang="en-US" sz="2800" smtClean="0">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smtClean="0">
                            <a:effectLst/>
                            <a:latin typeface="Cambria Math" panose="02040503050406030204" pitchFamily="18" charset="0"/>
                            <a:ea typeface="SimSun" panose="02010600030101010101" pitchFamily="2" charset="-122"/>
                            <a:cs typeface="Times New Roman" panose="02020603050405020304" pitchFamily="18" charset="0"/>
                          </a:rPr>
                          <m:t>looking</m:t>
                        </m:r>
                        <m:r>
                          <a:rPr lang="en-US" sz="2800" smtClean="0">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smtClean="0">
                            <a:effectLst/>
                            <a:latin typeface="Cambria Math" panose="02040503050406030204" pitchFamily="18" charset="0"/>
                            <a:ea typeface="SimSun" panose="02010600030101010101" pitchFamily="2" charset="-122"/>
                            <a:cs typeface="Times New Roman" panose="02020603050405020304" pitchFamily="18" charset="0"/>
                          </a:rPr>
                          <m:t>for</m:t>
                        </m:r>
                        <m:r>
                          <a:rPr lang="en-US" sz="2800" smtClean="0">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smtClean="0">
                            <a:effectLst/>
                            <a:latin typeface="Cambria Math" panose="02040503050406030204" pitchFamily="18" charset="0"/>
                            <a:ea typeface="SimSun" panose="02010600030101010101" pitchFamily="2" charset="-122"/>
                            <a:cs typeface="Times New Roman" panose="02020603050405020304" pitchFamily="18" charset="0"/>
                          </a:rPr>
                          <m:t>jobs</m:t>
                        </m:r>
                      </m:den>
                    </m:f>
                  </m:oMath>
                </a14:m>
                <a:endParaRPr lang="en-US" sz="2400">
                  <a:effectLst/>
                  <a:ea typeface="SimSun" panose="02010600030101010101" pitchFamily="2" charset="-122"/>
                  <a:cs typeface="Times New Roman" panose="02020603050405020304" pitchFamily="18" charset="0"/>
                </a:endParaRPr>
              </a:p>
              <a:p>
                <a:pPr marL="342900" marR="0" lvl="0" indent="-342900" algn="ctr">
                  <a:lnSpc>
                    <a:spcPct val="125000"/>
                  </a:lnSpc>
                  <a:spcBef>
                    <a:spcPts val="800"/>
                  </a:spcBef>
                  <a:spcAft>
                    <a:spcPts val="0"/>
                  </a:spcAft>
                  <a:buFont typeface="Symbol" panose="05050102010706020507" pitchFamily="18" charset="2"/>
                  <a:buChar char=""/>
                </a:pPr>
                <a:endParaRPr lang="en-US" sz="2400">
                  <a:effectLst/>
                  <a:ea typeface="SimSun" panose="02010600030101010101" pitchFamily="2" charset="-122"/>
                  <a:cs typeface="Times New Roman" panose="02020603050405020304" pitchFamily="18" charset="0"/>
                </a:endParaRPr>
              </a:p>
              <a:p>
                <a:pPr marL="342900" marR="0" lvl="0" indent="-342900">
                  <a:lnSpc>
                    <a:spcPct val="125000"/>
                  </a:lnSpc>
                  <a:spcBef>
                    <a:spcPts val="800"/>
                  </a:spcBef>
                  <a:spcAft>
                    <a:spcPts val="0"/>
                  </a:spcAft>
                  <a:buFont typeface="Symbol" panose="05050102010706020507" pitchFamily="18" charset="2"/>
                  <a:buChar char=""/>
                </a:pPr>
                <a:r>
                  <a:rPr lang="en-US">
                    <a:effectLst/>
                    <a:ea typeface="SimSun" panose="02010600030101010101" pitchFamily="2" charset="-122"/>
                    <a:cs typeface="Times New Roman" panose="02020603050405020304" pitchFamily="18" charset="0"/>
                  </a:rPr>
                  <a:t>This tells us </a:t>
                </a:r>
                <a:r>
                  <a:rPr lang="en-US" b="1">
                    <a:effectLst/>
                    <a:ea typeface="SimSun" panose="02010600030101010101" pitchFamily="2" charset="-122"/>
                    <a:cs typeface="Times New Roman" panose="02020603050405020304" pitchFamily="18" charset="0"/>
                  </a:rPr>
                  <a:t>what percentage of the people who are in the labor force are unemployed and looking for work.</a:t>
                </a:r>
                <a:endParaRPr lang="en-US">
                  <a:effectLst/>
                  <a:ea typeface="SimSun" panose="02010600030101010101" pitchFamily="2" charset="-122"/>
                  <a:cs typeface="Times New Roman" panose="02020603050405020304" pitchFamily="18" charset="0"/>
                </a:endParaRPr>
              </a:p>
              <a:p>
                <a:pPr marL="342900" marR="0" lvl="0" indent="-342900">
                  <a:lnSpc>
                    <a:spcPct val="125000"/>
                  </a:lnSpc>
                  <a:spcBef>
                    <a:spcPts val="800"/>
                  </a:spcBef>
                  <a:spcAft>
                    <a:spcPts val="0"/>
                  </a:spcAft>
                  <a:buFont typeface="Symbol" panose="05050102010706020507" pitchFamily="18" charset="2"/>
                  <a:buChar char=""/>
                </a:pPr>
                <a:r>
                  <a:rPr lang="en-US">
                    <a:effectLst/>
                    <a:ea typeface="SimSun" panose="02010600030101010101" pitchFamily="2" charset="-122"/>
                    <a:cs typeface="Times New Roman" panose="02020603050405020304" pitchFamily="18" charset="0"/>
                  </a:rPr>
                  <a:t>Example: If </a:t>
                </a:r>
                <a:r>
                  <a:rPr lang="en-US" b="1">
                    <a:effectLst/>
                    <a:ea typeface="SimSun" panose="02010600030101010101" pitchFamily="2" charset="-122"/>
                    <a:cs typeface="Times New Roman" panose="02020603050405020304" pitchFamily="18" charset="0"/>
                  </a:rPr>
                  <a:t>70 people are in the labor force</a:t>
                </a:r>
                <a:r>
                  <a:rPr lang="en-US">
                    <a:effectLst/>
                    <a:ea typeface="SimSun" panose="02010600030101010101" pitchFamily="2" charset="-122"/>
                    <a:cs typeface="Times New Roman" panose="02020603050405020304" pitchFamily="18" charset="0"/>
                  </a:rPr>
                  <a:t> and </a:t>
                </a:r>
                <a:r>
                  <a:rPr lang="en-US" b="1">
                    <a:effectLst/>
                    <a:ea typeface="SimSun" panose="02010600030101010101" pitchFamily="2" charset="-122"/>
                    <a:cs typeface="Times New Roman" panose="02020603050405020304" pitchFamily="18" charset="0"/>
                  </a:rPr>
                  <a:t>10 of them are looking for jobs</a:t>
                </a:r>
                <a:r>
                  <a:rPr lang="en-US">
                    <a:effectLst/>
                    <a:ea typeface="SimSun" panose="02010600030101010101" pitchFamily="2" charset="-122"/>
                    <a:cs typeface="Times New Roman" panose="02020603050405020304" pitchFamily="18" charset="0"/>
                  </a:rPr>
                  <a:t>, the unemployment rate is </a:t>
                </a:r>
                <a:r>
                  <a:rPr lang="en-US" b="1">
                    <a:effectLst/>
                    <a:ea typeface="SimSun" panose="02010600030101010101" pitchFamily="2" charset="-122"/>
                    <a:cs typeface="Times New Roman" panose="02020603050405020304" pitchFamily="18" charset="0"/>
                  </a:rPr>
                  <a:t>10 ÷ 70 = 14.3%</a:t>
                </a:r>
                <a:r>
                  <a:rPr lang="en-US">
                    <a:effectLst/>
                    <a:ea typeface="SimSun" panose="02010600030101010101" pitchFamily="2" charset="-122"/>
                    <a:cs typeface="Times New Roman" panose="02020603050405020304" pitchFamily="18" charset="0"/>
                  </a:rPr>
                  <a:t>.</a:t>
                </a:r>
              </a:p>
              <a:p>
                <a:endParaRPr lang="en-US"/>
              </a:p>
            </p:txBody>
          </p:sp>
        </mc:Choice>
        <mc:Fallback xmlns="">
          <p:sp>
            <p:nvSpPr>
              <p:cNvPr id="3" name="Text Placeholder 2">
                <a:extLst>
                  <a:ext uri="{FF2B5EF4-FFF2-40B4-BE49-F238E27FC236}">
                    <a16:creationId xmlns:a16="http://schemas.microsoft.com/office/drawing/2014/main" id="{5B6EF896-BB65-2497-BF8B-9355CD0F3FE1}"/>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1757"/>
                </a:stretch>
              </a:blipFill>
            </p:spPr>
            <p:txBody>
              <a:bodyPr/>
              <a:lstStyle/>
              <a:p>
                <a:r>
                  <a:rPr lang="en-US">
                    <a:noFill/>
                  </a:rPr>
                  <a:t> </a:t>
                </a:r>
              </a:p>
            </p:txBody>
          </p:sp>
        </mc:Fallback>
      </mc:AlternateContent>
    </p:spTree>
    <p:extLst>
      <p:ext uri="{BB962C8B-B14F-4D97-AF65-F5344CB8AC3E}">
        <p14:creationId xmlns:p14="http://schemas.microsoft.com/office/powerpoint/2010/main" val="184359088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4D9D1-69FA-A85D-6F32-D1E3BC093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1B836-6F46-8CB0-8756-431078540362}"/>
              </a:ext>
            </a:extLst>
          </p:cNvPr>
          <p:cNvSpPr>
            <a:spLocks noGrp="1"/>
          </p:cNvSpPr>
          <p:nvPr>
            <p:ph type="title"/>
          </p:nvPr>
        </p:nvSpPr>
        <p:spPr>
          <a:xfrm>
            <a:off x="3432195" y="2860011"/>
            <a:ext cx="9715500" cy="978486"/>
          </a:xfrm>
        </p:spPr>
        <p:txBody>
          <a:bodyPr/>
          <a:lstStyle/>
          <a:p>
            <a:r>
              <a:rPr lang="en-US"/>
              <a:t>Stylized Facts and Trends</a:t>
            </a:r>
          </a:p>
        </p:txBody>
      </p:sp>
    </p:spTree>
    <p:extLst>
      <p:ext uri="{BB962C8B-B14F-4D97-AF65-F5344CB8AC3E}">
        <p14:creationId xmlns:p14="http://schemas.microsoft.com/office/powerpoint/2010/main" val="327891683"/>
      </p:ext>
    </p:extLst>
  </p:cSld>
  <p:clrMapOvr>
    <a:masterClrMapping/>
  </p:clrMapOvr>
  <p:transition>
    <p:fade/>
  </p:transition>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416378" y="123141"/>
            <a:ext cx="11359243" cy="978486"/>
          </a:xfrm>
        </p:spPr>
        <p:txBody>
          <a:bodyPr>
            <a:noAutofit/>
          </a:bodyPr>
          <a:lstStyle/>
          <a:p>
            <a:r>
              <a:rPr lang="en-US">
                <a:latin typeface="Arial Black"/>
              </a:rPr>
              <a:t>Significant differences across regions, but trend towards lower inequality over last two decades.</a:t>
            </a:r>
          </a:p>
        </p:txBody>
      </p:sp>
      <p:sp>
        <p:nvSpPr>
          <p:cNvPr id="10" name="TextBox 9">
            <a:extLst>
              <a:ext uri="{FF2B5EF4-FFF2-40B4-BE49-F238E27FC236}">
                <a16:creationId xmlns:a16="http://schemas.microsoft.com/office/drawing/2014/main" id="{151312A6-69A9-4B30-846E-3A984F3D1FF4}"/>
              </a:ext>
            </a:extLst>
          </p:cNvPr>
          <p:cNvSpPr txBox="1"/>
          <p:nvPr/>
        </p:nvSpPr>
        <p:spPr>
          <a:xfrm>
            <a:off x="259686" y="5855971"/>
            <a:ext cx="11672625" cy="830997"/>
          </a:xfrm>
          <a:prstGeom prst="rect">
            <a:avLst/>
          </a:prstGeom>
          <a:noFill/>
        </p:spPr>
        <p:txBody>
          <a:bodyPr wrap="square" lIns="91440" tIns="45720" rIns="91440" bIns="45720" rtlCol="0" anchor="t">
            <a:spAutoFit/>
          </a:bodyPr>
          <a:lstStyle/>
          <a:p>
            <a:r>
              <a:rPr lang="en-US" sz="1600" b="1"/>
              <a:t>Source: </a:t>
            </a:r>
            <a:r>
              <a:rPr lang="en-US" sz="1600" b="1">
                <a:solidFill>
                  <a:schemeClr val="bg2">
                    <a:lumMod val="50000"/>
                  </a:schemeClr>
                </a:solidFill>
                <a:ea typeface="+mn-lt"/>
                <a:cs typeface="+mn-lt"/>
                <a:hlinkClick r:id="rId3">
                  <a:extLst>
                    <a:ext uri="{A12FA001-AC4F-418D-AE19-62706E023703}">
                      <ahyp:hlinkClr xmlns:ahyp="http://schemas.microsoft.com/office/drawing/2018/hyperlinkcolor" val="tx"/>
                    </a:ext>
                  </a:extLst>
                </a:hlinkClick>
              </a:rPr>
              <a:t>Gender Inequality Index | Human Development Reports</a:t>
            </a:r>
            <a:r>
              <a:rPr lang="en-US" sz="1600" b="1">
                <a:solidFill>
                  <a:schemeClr val="bg2">
                    <a:lumMod val="50000"/>
                  </a:schemeClr>
                </a:solidFill>
                <a:ea typeface="+mn-lt"/>
                <a:cs typeface="+mn-lt"/>
              </a:rPr>
              <a:t>  </a:t>
            </a:r>
            <a:r>
              <a:rPr lang="en-US" sz="1600" b="1">
                <a:solidFill>
                  <a:srgbClr val="FF0000"/>
                </a:solidFill>
                <a:ea typeface="+mn-lt"/>
                <a:cs typeface="+mn-lt"/>
              </a:rPr>
              <a:t>(Data visualization tool)</a:t>
            </a:r>
            <a:endParaRPr lang="en-US" sz="1600" b="1">
              <a:solidFill>
                <a:srgbClr val="FF0000"/>
              </a:solidFill>
              <a:cs typeface="Arial"/>
            </a:endParaRPr>
          </a:p>
          <a:p>
            <a:r>
              <a:rPr lang="en-US" sz="1600"/>
              <a:t>Note: The UNDP Gender Inequality Index considers labor force participation, education, women’s health outcomes (maternal death &amp; adolescent fertility), and political representation.  Higher numbers indicate higher levels of inequality.  </a:t>
            </a:r>
            <a:endParaRPr lang="en-US" sz="1600">
              <a:cs typeface="Arial"/>
            </a:endParaRPr>
          </a:p>
        </p:txBody>
      </p:sp>
      <p:sp>
        <p:nvSpPr>
          <p:cNvPr id="5" name="TextBox 4">
            <a:extLst>
              <a:ext uri="{FF2B5EF4-FFF2-40B4-BE49-F238E27FC236}">
                <a16:creationId xmlns:a16="http://schemas.microsoft.com/office/drawing/2014/main" id="{EF298A64-4272-ACA3-AE98-9FF530311184}"/>
              </a:ext>
            </a:extLst>
          </p:cNvPr>
          <p:cNvSpPr txBox="1"/>
          <p:nvPr/>
        </p:nvSpPr>
        <p:spPr>
          <a:xfrm>
            <a:off x="3401992" y="1101627"/>
            <a:ext cx="5995978" cy="400110"/>
          </a:xfrm>
          <a:prstGeom prst="rect">
            <a:avLst/>
          </a:prstGeom>
          <a:noFill/>
        </p:spPr>
        <p:txBody>
          <a:bodyPr wrap="square" rtlCol="0">
            <a:spAutoFit/>
          </a:bodyPr>
          <a:lstStyle/>
          <a:p>
            <a:r>
              <a:rPr lang="en-US" sz="2000">
                <a:solidFill>
                  <a:schemeClr val="tx2"/>
                </a:solidFill>
                <a:latin typeface="Arial Black" panose="020B0A04020102020204" pitchFamily="34" charset="0"/>
              </a:rPr>
              <a:t>Gender Inequality Index, 2000 – 2023 </a:t>
            </a:r>
          </a:p>
        </p:txBody>
      </p:sp>
      <p:graphicFrame>
        <p:nvGraphicFramePr>
          <p:cNvPr id="2" name="Chart 1">
            <a:extLst>
              <a:ext uri="{FF2B5EF4-FFF2-40B4-BE49-F238E27FC236}">
                <a16:creationId xmlns:a16="http://schemas.microsoft.com/office/drawing/2014/main" id="{118B4381-E4FF-9089-DD5B-5DFD99C0E5DE}"/>
              </a:ext>
            </a:extLst>
          </p:cNvPr>
          <p:cNvGraphicFramePr>
            <a:graphicFrameLocks/>
          </p:cNvGraphicFramePr>
          <p:nvPr>
            <p:extLst>
              <p:ext uri="{D42A27DB-BD31-4B8C-83A1-F6EECF244321}">
                <p14:modId xmlns:p14="http://schemas.microsoft.com/office/powerpoint/2010/main" val="2639667276"/>
              </p:ext>
            </p:extLst>
          </p:nvPr>
        </p:nvGraphicFramePr>
        <p:xfrm>
          <a:off x="887081" y="1505910"/>
          <a:ext cx="9993730" cy="43076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897998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ECA9-B120-8D09-044E-CB8CE678425D}"/>
              </a:ext>
            </a:extLst>
          </p:cNvPr>
          <p:cNvSpPr>
            <a:spLocks noGrp="1"/>
          </p:cNvSpPr>
          <p:nvPr>
            <p:ph type="title"/>
          </p:nvPr>
        </p:nvSpPr>
        <p:spPr>
          <a:xfrm>
            <a:off x="556792" y="193930"/>
            <a:ext cx="9715500" cy="978486"/>
          </a:xfrm>
        </p:spPr>
        <p:txBody>
          <a:bodyPr/>
          <a:lstStyle/>
          <a:p>
            <a:r>
              <a:rPr lang="en-US">
                <a:latin typeface="Arial Black"/>
              </a:rPr>
              <a:t>Country-level data: GII for Sub-Saharan Africa</a:t>
            </a:r>
          </a:p>
        </p:txBody>
      </p:sp>
      <p:pic>
        <p:nvPicPr>
          <p:cNvPr id="10" name="Picture 9">
            <a:extLst>
              <a:ext uri="{FF2B5EF4-FFF2-40B4-BE49-F238E27FC236}">
                <a16:creationId xmlns:a16="http://schemas.microsoft.com/office/drawing/2014/main" id="{3AAAB44A-174F-886B-17B6-5D657E3E43F4}"/>
              </a:ext>
            </a:extLst>
          </p:cNvPr>
          <p:cNvPicPr>
            <a:picLocks noChangeAspect="1"/>
          </p:cNvPicPr>
          <p:nvPr/>
        </p:nvPicPr>
        <p:blipFill>
          <a:blip r:embed="rId2"/>
          <a:stretch>
            <a:fillRect/>
          </a:stretch>
        </p:blipFill>
        <p:spPr>
          <a:xfrm>
            <a:off x="117611" y="1172416"/>
            <a:ext cx="11956777" cy="4557632"/>
          </a:xfrm>
          <a:prstGeom prst="rect">
            <a:avLst/>
          </a:prstGeom>
        </p:spPr>
      </p:pic>
      <p:sp>
        <p:nvSpPr>
          <p:cNvPr id="11" name="TextBox 10">
            <a:extLst>
              <a:ext uri="{FF2B5EF4-FFF2-40B4-BE49-F238E27FC236}">
                <a16:creationId xmlns:a16="http://schemas.microsoft.com/office/drawing/2014/main" id="{565CDBE7-977D-92A1-3BC7-BA908273C886}"/>
              </a:ext>
            </a:extLst>
          </p:cNvPr>
          <p:cNvSpPr txBox="1"/>
          <p:nvPr/>
        </p:nvSpPr>
        <p:spPr>
          <a:xfrm>
            <a:off x="259686" y="5855971"/>
            <a:ext cx="11672625" cy="830997"/>
          </a:xfrm>
          <a:prstGeom prst="rect">
            <a:avLst/>
          </a:prstGeom>
          <a:noFill/>
        </p:spPr>
        <p:txBody>
          <a:bodyPr wrap="square" lIns="91440" tIns="45720" rIns="91440" bIns="45720" rtlCol="0" anchor="t">
            <a:spAutoFit/>
          </a:bodyPr>
          <a:lstStyle/>
          <a:p>
            <a:r>
              <a:rPr lang="en-US" sz="1600" b="1"/>
              <a:t>Source: </a:t>
            </a:r>
            <a:r>
              <a:rPr lang="en-US" sz="1600" b="1">
                <a:solidFill>
                  <a:schemeClr val="bg2">
                    <a:lumMod val="50000"/>
                  </a:schemeClr>
                </a:solidFill>
                <a:ea typeface="+mn-lt"/>
                <a:cs typeface="+mn-lt"/>
                <a:hlinkClick r:id="rId3">
                  <a:extLst>
                    <a:ext uri="{A12FA001-AC4F-418D-AE19-62706E023703}">
                      <ahyp:hlinkClr xmlns:ahyp="http://schemas.microsoft.com/office/drawing/2018/hyperlinkcolor" val="tx"/>
                    </a:ext>
                  </a:extLst>
                </a:hlinkClick>
              </a:rPr>
              <a:t>Gender Inequality Index | Human Development Reports</a:t>
            </a:r>
            <a:r>
              <a:rPr lang="en-US" sz="1600" b="1">
                <a:solidFill>
                  <a:schemeClr val="bg2">
                    <a:lumMod val="50000"/>
                  </a:schemeClr>
                </a:solidFill>
                <a:ea typeface="+mn-lt"/>
                <a:cs typeface="+mn-lt"/>
              </a:rPr>
              <a:t>  </a:t>
            </a:r>
            <a:r>
              <a:rPr lang="en-US" sz="1600" b="1">
                <a:solidFill>
                  <a:srgbClr val="FF0000"/>
                </a:solidFill>
                <a:ea typeface="+mn-lt"/>
                <a:cs typeface="+mn-lt"/>
              </a:rPr>
              <a:t>(Data visualization tool)</a:t>
            </a:r>
            <a:endParaRPr lang="en-US" sz="1600" b="1">
              <a:solidFill>
                <a:srgbClr val="FF0000"/>
              </a:solidFill>
              <a:cs typeface="Arial"/>
            </a:endParaRPr>
          </a:p>
          <a:p>
            <a:r>
              <a:rPr lang="en-US" sz="1600"/>
              <a:t>Note: The UNDP Gender Inequality Index considers labor force participation, education, women’s health outcomes (maternal death &amp; adolescent fertility), and political representation.  Higher numbers indicate higher levels of inequality.  </a:t>
            </a:r>
            <a:endParaRPr lang="en-US" sz="1600">
              <a:cs typeface="Arial"/>
            </a:endParaRPr>
          </a:p>
        </p:txBody>
      </p:sp>
    </p:spTree>
    <p:extLst>
      <p:ext uri="{BB962C8B-B14F-4D97-AF65-F5344CB8AC3E}">
        <p14:creationId xmlns:p14="http://schemas.microsoft.com/office/powerpoint/2010/main" val="245687228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C6B5-8239-A979-48D5-28BB230F0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719E0-FA4F-68E4-C9B9-4AB98007D7AB}"/>
              </a:ext>
            </a:extLst>
          </p:cNvPr>
          <p:cNvSpPr>
            <a:spLocks noGrp="1"/>
          </p:cNvSpPr>
          <p:nvPr>
            <p:ph type="title"/>
          </p:nvPr>
        </p:nvSpPr>
        <p:spPr>
          <a:xfrm>
            <a:off x="1348752" y="2939757"/>
            <a:ext cx="9715500" cy="978486"/>
          </a:xfrm>
        </p:spPr>
        <p:txBody>
          <a:bodyPr/>
          <a:lstStyle/>
          <a:p>
            <a:pPr algn="ctr"/>
            <a:r>
              <a:rPr lang="en-US"/>
              <a:t>Stylized Facts and Trends</a:t>
            </a:r>
            <a:br>
              <a:rPr lang="en-US"/>
            </a:br>
            <a:r>
              <a:rPr lang="en-US"/>
              <a:t>Labor Markets</a:t>
            </a:r>
          </a:p>
        </p:txBody>
      </p:sp>
    </p:spTree>
    <p:extLst>
      <p:ext uri="{BB962C8B-B14F-4D97-AF65-F5344CB8AC3E}">
        <p14:creationId xmlns:p14="http://schemas.microsoft.com/office/powerpoint/2010/main" val="1577095404"/>
      </p:ext>
    </p:extLst>
  </p:cSld>
  <p:clrMapOvr>
    <a:masterClrMapping/>
  </p:clrMapOvr>
  <p:transition>
    <p:fade/>
  </p:transition>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473A4-0C5B-B3D3-49F2-A18244C51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CCA8B-4EBF-9FF7-3363-238956F02C50}"/>
              </a:ext>
            </a:extLst>
          </p:cNvPr>
          <p:cNvSpPr>
            <a:spLocks noGrp="1"/>
          </p:cNvSpPr>
          <p:nvPr>
            <p:ph type="title"/>
          </p:nvPr>
        </p:nvSpPr>
        <p:spPr>
          <a:xfrm>
            <a:off x="522206" y="364063"/>
            <a:ext cx="10890431" cy="978486"/>
          </a:xfrm>
        </p:spPr>
        <p:txBody>
          <a:bodyPr>
            <a:normAutofit fontScale="90000"/>
          </a:bodyPr>
          <a:lstStyle/>
          <a:p>
            <a:r>
              <a:rPr lang="en-US"/>
              <a:t>Labor markets are a key channel through which structural gaps affect employment, productivity, and inclusive growth.</a:t>
            </a:r>
            <a:br>
              <a:rPr lang="en-US"/>
            </a:br>
            <a:endParaRPr lang="en-US"/>
          </a:p>
        </p:txBody>
      </p:sp>
      <p:sp>
        <p:nvSpPr>
          <p:cNvPr id="6" name="Text Placeholder 5">
            <a:extLst>
              <a:ext uri="{FF2B5EF4-FFF2-40B4-BE49-F238E27FC236}">
                <a16:creationId xmlns:a16="http://schemas.microsoft.com/office/drawing/2014/main" id="{075A3703-CDDE-3C2D-6260-CA679081BEB0}"/>
              </a:ext>
            </a:extLst>
          </p:cNvPr>
          <p:cNvSpPr txBox="1">
            <a:spLocks noGrp="1"/>
          </p:cNvSpPr>
          <p:nvPr>
            <p:ph type="body" sz="quarter" idx="10"/>
          </p:nvPr>
        </p:nvSpPr>
        <p:spPr>
          <a:xfrm>
            <a:off x="1239838" y="1470025"/>
            <a:ext cx="9715500" cy="4755148"/>
          </a:xfrm>
          <a:prstGeom prst="rect">
            <a:avLst/>
          </a:prstGeom>
          <a:noFill/>
        </p:spPr>
        <p:txBody>
          <a:bodyPr wrap="square" rtlCol="0">
            <a:spAutoFit/>
          </a:bodyPr>
          <a:lstStyle/>
          <a:p>
            <a:pPr marL="342900" indent="-342900">
              <a:buFont typeface="Arial" panose="020B0604020202020204" pitchFamily="34" charset="0"/>
              <a:buChar char="•"/>
            </a:pPr>
            <a:r>
              <a:rPr lang="en-US" sz="2400"/>
              <a:t>Gaps in participation, employment, and job quality limit the effective supply of labor, weakening potential output.</a:t>
            </a:r>
          </a:p>
          <a:p>
            <a:pPr marL="342900" indent="-342900">
              <a:buFont typeface="Arial" panose="020B0604020202020204" pitchFamily="34" charset="0"/>
              <a:buChar char="•"/>
            </a:pPr>
            <a:r>
              <a:rPr lang="en-US" sz="2400"/>
              <a:t>Labor market frictions—especially for youth and women—reduce the economy’s ability to reallocate workers across sectors as shocks and structural changes occur.</a:t>
            </a:r>
          </a:p>
          <a:p>
            <a:pPr marL="342900" indent="-342900">
              <a:buFont typeface="Arial" panose="020B0604020202020204" pitchFamily="34" charset="0"/>
              <a:buChar char="•"/>
            </a:pPr>
            <a:r>
              <a:rPr lang="en-US" sz="2400"/>
              <a:t>Persistent labor market exclusion can lead to scarring, informality, and weaker attachment to the labor force, with long‑lasting macroeconomic effects.</a:t>
            </a:r>
          </a:p>
          <a:p>
            <a:pPr marL="342900" indent="-342900">
              <a:buFont typeface="Arial" panose="020B0604020202020204" pitchFamily="34" charset="0"/>
              <a:buChar char="•"/>
            </a:pPr>
            <a:r>
              <a:rPr lang="en-US" sz="2400"/>
              <a:t>From a macro perspective, segmented or underperforming labor markets weigh on growth, fiscal revenues, and economic resilience.</a:t>
            </a:r>
          </a:p>
        </p:txBody>
      </p:sp>
    </p:spTree>
    <p:extLst>
      <p:ext uri="{BB962C8B-B14F-4D97-AF65-F5344CB8AC3E}">
        <p14:creationId xmlns:p14="http://schemas.microsoft.com/office/powerpoint/2010/main" val="41741490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400721" y="107425"/>
            <a:ext cx="11493884" cy="978486"/>
          </a:xfrm>
        </p:spPr>
        <p:txBody>
          <a:bodyPr>
            <a:noAutofit/>
          </a:bodyPr>
          <a:lstStyle/>
          <a:p>
            <a:r>
              <a:rPr lang="en-US">
                <a:latin typeface="Arial Black"/>
              </a:rPr>
              <a:t>Structural gaps in labor force participation</a:t>
            </a:r>
          </a:p>
        </p:txBody>
      </p:sp>
      <p:sp>
        <p:nvSpPr>
          <p:cNvPr id="7" name="Rectangle 6">
            <a:extLst>
              <a:ext uri="{FF2B5EF4-FFF2-40B4-BE49-F238E27FC236}">
                <a16:creationId xmlns:a16="http://schemas.microsoft.com/office/drawing/2014/main" id="{437BA683-F465-454D-A5E4-287D46769104}"/>
              </a:ext>
            </a:extLst>
          </p:cNvPr>
          <p:cNvSpPr/>
          <p:nvPr/>
        </p:nvSpPr>
        <p:spPr>
          <a:xfrm>
            <a:off x="0" y="996922"/>
            <a:ext cx="12192000" cy="369332"/>
          </a:xfrm>
          <a:prstGeom prst="rect">
            <a:avLst/>
          </a:prstGeom>
        </p:spPr>
        <p:txBody>
          <a:bodyPr wrap="square" lIns="91440" tIns="45720" rIns="91440" bIns="45720" anchor="t">
            <a:spAutoFit/>
          </a:bodyPr>
          <a:lstStyle/>
          <a:p>
            <a:pPr algn="ctr">
              <a:lnSpc>
                <a:spcPct val="90000"/>
              </a:lnSpc>
              <a:spcBef>
                <a:spcPct val="0"/>
              </a:spcBef>
            </a:pPr>
            <a:r>
              <a:rPr lang="en-US" sz="2000" b="1">
                <a:solidFill>
                  <a:schemeClr val="tx2"/>
                </a:solidFill>
                <a:latin typeface="Arial Black"/>
              </a:rPr>
              <a:t>Ratio of Female to Male Labor Force Participation (2024 or latest year)</a:t>
            </a:r>
            <a:endParaRPr lang="en-US" sz="2000">
              <a:solidFill>
                <a:schemeClr val="tx2"/>
              </a:solidFill>
              <a:latin typeface="Arial Black"/>
            </a:endParaRPr>
          </a:p>
        </p:txBody>
      </p:sp>
      <p:sp>
        <p:nvSpPr>
          <p:cNvPr id="10" name="TextBox 9">
            <a:extLst>
              <a:ext uri="{FF2B5EF4-FFF2-40B4-BE49-F238E27FC236}">
                <a16:creationId xmlns:a16="http://schemas.microsoft.com/office/drawing/2014/main" id="{151312A6-69A9-4B30-846E-3A984F3D1FF4}"/>
              </a:ext>
            </a:extLst>
          </p:cNvPr>
          <p:cNvSpPr txBox="1"/>
          <p:nvPr/>
        </p:nvSpPr>
        <p:spPr>
          <a:xfrm>
            <a:off x="297395" y="5871606"/>
            <a:ext cx="10979359" cy="954107"/>
          </a:xfrm>
          <a:prstGeom prst="rect">
            <a:avLst/>
          </a:prstGeom>
          <a:solidFill>
            <a:schemeClr val="bg1"/>
          </a:solidFill>
        </p:spPr>
        <p:txBody>
          <a:bodyPr wrap="square" lIns="91440" tIns="45720" rIns="91440" bIns="45720" rtlCol="0" anchor="t">
            <a:spAutoFit/>
          </a:bodyPr>
          <a:lstStyle/>
          <a:p>
            <a:r>
              <a:rPr lang="en-US" sz="1400">
                <a:ea typeface="+mn-lt"/>
                <a:cs typeface="+mn-lt"/>
                <a:hlinkClick r:id="rId3"/>
              </a:rPr>
              <a:t>Source: LFP rate (%)</a:t>
            </a:r>
          </a:p>
          <a:p>
            <a:r>
              <a:rPr lang="en-US" sz="1400">
                <a:ea typeface="+mn-lt"/>
                <a:cs typeface="+mn-lt"/>
                <a:hlinkClick r:id="rId3"/>
              </a:rPr>
              <a:t>World Bank Gender Data Portal</a:t>
            </a:r>
            <a:endParaRPr lang="en-US" sz="1400">
              <a:ea typeface="+mn-lt"/>
              <a:cs typeface="+mn-lt"/>
            </a:endParaRPr>
          </a:p>
          <a:p>
            <a:endParaRPr lang="en-US" sz="1400">
              <a:cs typeface="Arial"/>
            </a:endParaRPr>
          </a:p>
          <a:p>
            <a:r>
              <a:rPr lang="en-US" sz="1400"/>
              <a:t>Note: For deeper dive, look at your country’s labor force surveys.</a:t>
            </a:r>
            <a:endParaRPr lang="en-US" sz="1600">
              <a:cs typeface="Arial"/>
            </a:endParaRPr>
          </a:p>
        </p:txBody>
      </p:sp>
      <p:pic>
        <p:nvPicPr>
          <p:cNvPr id="5" name="Picture 4">
            <a:extLst>
              <a:ext uri="{FF2B5EF4-FFF2-40B4-BE49-F238E27FC236}">
                <a16:creationId xmlns:a16="http://schemas.microsoft.com/office/drawing/2014/main" id="{EC242811-C08A-2D7A-B955-D1B177A21CF5}"/>
              </a:ext>
            </a:extLst>
          </p:cNvPr>
          <p:cNvPicPr>
            <a:picLocks noChangeAspect="1"/>
          </p:cNvPicPr>
          <p:nvPr/>
        </p:nvPicPr>
        <p:blipFill>
          <a:blip r:embed="rId4"/>
          <a:stretch>
            <a:fillRect/>
          </a:stretch>
        </p:blipFill>
        <p:spPr>
          <a:xfrm>
            <a:off x="5409436" y="6320462"/>
            <a:ext cx="3939881" cy="266723"/>
          </a:xfrm>
          <a:prstGeom prst="rect">
            <a:avLst/>
          </a:prstGeom>
        </p:spPr>
      </p:pic>
      <p:pic>
        <p:nvPicPr>
          <p:cNvPr id="3" name="Picture 2" descr="A map of the world&#10;&#10;AI-generated content may be incorrect.">
            <a:extLst>
              <a:ext uri="{FF2B5EF4-FFF2-40B4-BE49-F238E27FC236}">
                <a16:creationId xmlns:a16="http://schemas.microsoft.com/office/drawing/2014/main" id="{4EE955AF-9A81-0574-843B-859236C9530E}"/>
              </a:ext>
            </a:extLst>
          </p:cNvPr>
          <p:cNvPicPr>
            <a:picLocks noChangeAspect="1"/>
          </p:cNvPicPr>
          <p:nvPr/>
        </p:nvPicPr>
        <p:blipFill>
          <a:blip r:embed="rId5"/>
          <a:stretch>
            <a:fillRect/>
          </a:stretch>
        </p:blipFill>
        <p:spPr>
          <a:xfrm>
            <a:off x="3310700" y="1366254"/>
            <a:ext cx="7618472" cy="4874683"/>
          </a:xfrm>
          <a:prstGeom prst="rect">
            <a:avLst/>
          </a:prstGeom>
          <a:ln>
            <a:solidFill>
              <a:schemeClr val="bg1"/>
            </a:solidFill>
          </a:ln>
        </p:spPr>
      </p:pic>
      <p:sp>
        <p:nvSpPr>
          <p:cNvPr id="6" name="TextBox 5">
            <a:extLst>
              <a:ext uri="{FF2B5EF4-FFF2-40B4-BE49-F238E27FC236}">
                <a16:creationId xmlns:a16="http://schemas.microsoft.com/office/drawing/2014/main" id="{99A75514-FE2F-B972-A97D-C5855827B4A0}"/>
              </a:ext>
            </a:extLst>
          </p:cNvPr>
          <p:cNvSpPr txBox="1"/>
          <p:nvPr/>
        </p:nvSpPr>
        <p:spPr>
          <a:xfrm>
            <a:off x="374489" y="2341656"/>
            <a:ext cx="2434402" cy="3139321"/>
          </a:xfrm>
          <a:prstGeom prst="rect">
            <a:avLst/>
          </a:prstGeom>
          <a:noFill/>
        </p:spPr>
        <p:txBody>
          <a:bodyPr wrap="square" rtlCol="0">
            <a:spAutoFit/>
          </a:bodyPr>
          <a:lstStyle/>
          <a:p>
            <a:r>
              <a:rPr lang="en-US">
                <a:solidFill>
                  <a:srgbClr val="FF0000"/>
                </a:solidFill>
              </a:rPr>
              <a:t>FLFP has increased in many countries, but gaps remain.</a:t>
            </a:r>
          </a:p>
          <a:p>
            <a:endParaRPr lang="en-US">
              <a:solidFill>
                <a:srgbClr val="FF0000"/>
              </a:solidFill>
            </a:endParaRPr>
          </a:p>
          <a:p>
            <a:r>
              <a:rPr lang="en-US">
                <a:solidFill>
                  <a:srgbClr val="FF0000"/>
                </a:solidFill>
              </a:rPr>
              <a:t>What are possible drivers in your country? </a:t>
            </a:r>
          </a:p>
          <a:p>
            <a:endParaRPr lang="en-US">
              <a:solidFill>
                <a:srgbClr val="FF0000"/>
              </a:solidFill>
            </a:endParaRPr>
          </a:p>
          <a:p>
            <a:r>
              <a:rPr lang="en-US">
                <a:solidFill>
                  <a:srgbClr val="FF0000"/>
                </a:solidFill>
              </a:rPr>
              <a:t>What are the macroeconomic impacts? </a:t>
            </a:r>
          </a:p>
        </p:txBody>
      </p:sp>
    </p:spTree>
    <p:extLst>
      <p:ext uri="{BB962C8B-B14F-4D97-AF65-F5344CB8AC3E}">
        <p14:creationId xmlns:p14="http://schemas.microsoft.com/office/powerpoint/2010/main" val="278880687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5755-0A92-8EB7-20F1-FBCE867F8E38}"/>
              </a:ext>
            </a:extLst>
          </p:cNvPr>
          <p:cNvSpPr>
            <a:spLocks noGrp="1"/>
          </p:cNvSpPr>
          <p:nvPr>
            <p:ph type="title"/>
          </p:nvPr>
        </p:nvSpPr>
        <p:spPr>
          <a:xfrm>
            <a:off x="427227" y="310501"/>
            <a:ext cx="11414098" cy="978486"/>
          </a:xfrm>
        </p:spPr>
        <p:txBody>
          <a:bodyPr>
            <a:noAutofit/>
          </a:bodyPr>
          <a:lstStyle/>
          <a:p>
            <a:r>
              <a:rPr lang="en-US" dirty="0">
                <a:latin typeface="Arial Black"/>
                <a:ea typeface="Calibri"/>
                <a:cs typeface="Calibri"/>
              </a:rPr>
              <a:t>Evolution of Labor Force </a:t>
            </a:r>
            <a:r>
              <a:rPr lang="en-US">
                <a:latin typeface="Arial Black"/>
                <a:ea typeface="Calibri"/>
                <a:cs typeface="Calibri"/>
              </a:rPr>
              <a:t>Participation</a:t>
            </a:r>
            <a:endParaRPr lang="en-US" dirty="0">
              <a:latin typeface="Arial Black"/>
              <a:ea typeface="Calibri"/>
              <a:cs typeface="Calibri"/>
            </a:endParaRPr>
          </a:p>
        </p:txBody>
      </p:sp>
      <p:sp>
        <p:nvSpPr>
          <p:cNvPr id="11" name="Text Box 4">
            <a:extLst>
              <a:ext uri="{FF2B5EF4-FFF2-40B4-BE49-F238E27FC236}">
                <a16:creationId xmlns:a16="http://schemas.microsoft.com/office/drawing/2014/main" id="{D34C4DD7-CB6E-FD2C-4093-9DA6C7A2EA7E}"/>
              </a:ext>
            </a:extLst>
          </p:cNvPr>
          <p:cNvSpPr txBox="1">
            <a:spLocks noChangeArrowheads="1"/>
          </p:cNvSpPr>
          <p:nvPr/>
        </p:nvSpPr>
        <p:spPr bwMode="auto">
          <a:xfrm>
            <a:off x="427227" y="6416370"/>
            <a:ext cx="3242298" cy="283154"/>
          </a:xfrm>
          <a:prstGeom prst="rect">
            <a:avLst/>
          </a:prstGeom>
          <a:noFill/>
          <a:ln w="9525">
            <a:noFill/>
            <a:miter lim="800000"/>
            <a:headEnd/>
            <a:tailEnd/>
          </a:ln>
        </p:spPr>
        <p:txBody>
          <a:bodyPr wrap="none" lIns="45720" tIns="36576" rIns="0" bIns="0" anchor="t" upright="1">
            <a:spAutoFit/>
          </a:bodyPr>
          <a:lstStyle>
            <a:lvl1pPr marL="0" indent="0">
              <a:defRPr sz="1100">
                <a:latin typeface="Calibri"/>
                <a:ea typeface="+mn-ea"/>
                <a:cs typeface="+mn-cs"/>
              </a:defRPr>
            </a:lvl1pPr>
            <a:lvl2pPr marL="457200" indent="0">
              <a:defRPr sz="1100">
                <a:latin typeface="Calibri"/>
                <a:ea typeface="+mn-ea"/>
                <a:cs typeface="+mn-cs"/>
              </a:defRPr>
            </a:lvl2pPr>
            <a:lvl3pPr marL="914400" indent="0">
              <a:defRPr sz="1100">
                <a:latin typeface="Calibri"/>
                <a:ea typeface="+mn-ea"/>
                <a:cs typeface="+mn-cs"/>
              </a:defRPr>
            </a:lvl3pPr>
            <a:lvl4pPr marL="1371600" indent="0">
              <a:defRPr sz="1100">
                <a:latin typeface="Calibri"/>
                <a:ea typeface="+mn-ea"/>
                <a:cs typeface="+mn-cs"/>
              </a:defRPr>
            </a:lvl4pPr>
            <a:lvl5pPr marL="1828800" indent="0">
              <a:defRPr sz="1100">
                <a:latin typeface="Calibri"/>
                <a:ea typeface="+mn-ea"/>
                <a:cs typeface="+mn-cs"/>
              </a:defRPr>
            </a:lvl5pPr>
            <a:lvl6pPr marL="2286000" indent="0">
              <a:defRPr sz="1100">
                <a:latin typeface="Calibri"/>
                <a:ea typeface="+mn-ea"/>
                <a:cs typeface="+mn-cs"/>
              </a:defRPr>
            </a:lvl6pPr>
            <a:lvl7pPr marL="2743200" indent="0">
              <a:defRPr sz="1100">
                <a:latin typeface="Calibri"/>
                <a:ea typeface="+mn-ea"/>
                <a:cs typeface="+mn-cs"/>
              </a:defRPr>
            </a:lvl7pPr>
            <a:lvl8pPr marL="3200400" indent="0">
              <a:defRPr sz="1100">
                <a:latin typeface="Calibri"/>
                <a:ea typeface="+mn-ea"/>
                <a:cs typeface="+mn-cs"/>
              </a:defRPr>
            </a:lvl8pPr>
            <a:lvl9pPr marL="3657600" indent="0">
              <a:defRPr sz="1100">
                <a:latin typeface="Calibri"/>
                <a:ea typeface="+mn-ea"/>
                <a:cs typeface="+mn-cs"/>
              </a:defRPr>
            </a:lvl9pPr>
          </a:lstStyle>
          <a:p>
            <a:pPr algn="l" rtl="0">
              <a:defRPr sz="1000"/>
            </a:pPr>
            <a:r>
              <a:rPr lang="en-US" sz="1600">
                <a:latin typeface="+mn-lt"/>
              </a:rPr>
              <a:t>Note</a:t>
            </a:r>
            <a:r>
              <a:rPr lang="en-US" sz="1600" dirty="0">
                <a:latin typeface="+mn-lt"/>
              </a:rPr>
              <a:t>: AFR (IMF Africa Department)</a:t>
            </a:r>
            <a:endParaRPr lang="en-US" dirty="0"/>
          </a:p>
        </p:txBody>
      </p:sp>
      <p:pic>
        <p:nvPicPr>
          <p:cNvPr id="5" name="Picture 4">
            <a:extLst>
              <a:ext uri="{FF2B5EF4-FFF2-40B4-BE49-F238E27FC236}">
                <a16:creationId xmlns:a16="http://schemas.microsoft.com/office/drawing/2014/main" id="{D6B531FD-E174-F47E-83E6-0F6E787D67EA}"/>
              </a:ext>
            </a:extLst>
          </p:cNvPr>
          <p:cNvPicPr>
            <a:picLocks noChangeAspect="1"/>
          </p:cNvPicPr>
          <p:nvPr/>
        </p:nvPicPr>
        <p:blipFill>
          <a:blip r:embed="rId3"/>
          <a:stretch>
            <a:fillRect/>
          </a:stretch>
        </p:blipFill>
        <p:spPr>
          <a:xfrm>
            <a:off x="2204601" y="1157175"/>
            <a:ext cx="7351248" cy="5027015"/>
          </a:xfrm>
          <a:prstGeom prst="rect">
            <a:avLst/>
          </a:prstGeom>
        </p:spPr>
      </p:pic>
    </p:spTree>
    <p:extLst>
      <p:ext uri="{BB962C8B-B14F-4D97-AF65-F5344CB8AC3E}">
        <p14:creationId xmlns:p14="http://schemas.microsoft.com/office/powerpoint/2010/main" val="312474757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8C8F-CC31-3365-D3A8-F2EEA1B038A7}"/>
              </a:ext>
            </a:extLst>
          </p:cNvPr>
          <p:cNvSpPr>
            <a:spLocks noGrp="1"/>
          </p:cNvSpPr>
          <p:nvPr>
            <p:ph type="title"/>
          </p:nvPr>
        </p:nvSpPr>
        <p:spPr>
          <a:xfrm>
            <a:off x="402557" y="193929"/>
            <a:ext cx="11264306" cy="978486"/>
          </a:xfrm>
        </p:spPr>
        <p:txBody>
          <a:bodyPr>
            <a:normAutofit/>
          </a:bodyPr>
          <a:lstStyle/>
          <a:p>
            <a:r>
              <a:rPr lang="en-US">
                <a:latin typeface="Arial Black"/>
                <a:ea typeface="Calibri"/>
                <a:cs typeface="Calibri"/>
              </a:rPr>
              <a:t>Female Labor Force Participation Rate by Country</a:t>
            </a:r>
            <a:endParaRPr lang="en-US">
              <a:latin typeface="Arial Black" panose="020B0A04020102020204" pitchFamily="34" charset="0"/>
            </a:endParaRPr>
          </a:p>
        </p:txBody>
      </p:sp>
      <p:sp>
        <p:nvSpPr>
          <p:cNvPr id="8" name="TextBox 7">
            <a:extLst>
              <a:ext uri="{FF2B5EF4-FFF2-40B4-BE49-F238E27FC236}">
                <a16:creationId xmlns:a16="http://schemas.microsoft.com/office/drawing/2014/main" id="{E9625EFA-D1F1-5815-6471-14D05BB18639}"/>
              </a:ext>
            </a:extLst>
          </p:cNvPr>
          <p:cNvSpPr txBox="1"/>
          <p:nvPr/>
        </p:nvSpPr>
        <p:spPr>
          <a:xfrm>
            <a:off x="191858" y="6211669"/>
            <a:ext cx="7938589" cy="584775"/>
          </a:xfrm>
          <a:prstGeom prst="rect">
            <a:avLst/>
          </a:prstGeom>
          <a:noFill/>
        </p:spPr>
        <p:txBody>
          <a:bodyPr wrap="square" lIns="91440" tIns="45720" rIns="91440" bIns="45720" rtlCol="0" anchor="t">
            <a:spAutoFit/>
          </a:bodyPr>
          <a:lstStyle/>
          <a:p>
            <a:r>
              <a:rPr lang="en-US" sz="1600"/>
              <a:t>Notes: Ages 15+, Modeled ILO Estimate 1990 – 2025 </a:t>
            </a:r>
            <a:endParaRPr lang="en-US" sz="1600" dirty="0"/>
          </a:p>
          <a:p>
            <a:r>
              <a:rPr lang="en-US" sz="1600"/>
              <a:t>Source: </a:t>
            </a:r>
            <a:r>
              <a:rPr lang="en-US" sz="1600" dirty="0">
                <a:hlinkClick r:id="rId2"/>
              </a:rPr>
              <a:t>WDI Indicators</a:t>
            </a:r>
            <a:endParaRPr lang="en-US" sz="1600">
              <a:cs typeface="Arial"/>
              <a:hlinkClick r:id="" action="ppaction://noaction"/>
            </a:endParaRPr>
          </a:p>
        </p:txBody>
      </p:sp>
      <p:graphicFrame>
        <p:nvGraphicFramePr>
          <p:cNvPr id="7" name="Table 6">
            <a:extLst>
              <a:ext uri="{FF2B5EF4-FFF2-40B4-BE49-F238E27FC236}">
                <a16:creationId xmlns:a16="http://schemas.microsoft.com/office/drawing/2014/main" id="{C2D4DC78-279C-12E8-D609-01CE3905E19A}"/>
              </a:ext>
            </a:extLst>
          </p:cNvPr>
          <p:cNvGraphicFramePr>
            <a:graphicFrameLocks noGrp="1"/>
          </p:cNvGraphicFramePr>
          <p:nvPr>
            <p:extLst>
              <p:ext uri="{D42A27DB-BD31-4B8C-83A1-F6EECF244321}">
                <p14:modId xmlns:p14="http://schemas.microsoft.com/office/powerpoint/2010/main" val="1361584152"/>
              </p:ext>
            </p:extLst>
          </p:nvPr>
        </p:nvGraphicFramePr>
        <p:xfrm>
          <a:off x="3362325" y="1038225"/>
          <a:ext cx="5981910" cy="4937760"/>
        </p:xfrm>
        <a:graphic>
          <a:graphicData uri="http://schemas.openxmlformats.org/drawingml/2006/table">
            <a:tbl>
              <a:tblPr bandRow="1">
                <a:tableStyleId>{5C22544A-7EE6-4342-B048-85BDC9FD1C3A}</a:tableStyleId>
              </a:tblPr>
              <a:tblGrid>
                <a:gridCol w="2420162">
                  <a:extLst>
                    <a:ext uri="{9D8B030D-6E8A-4147-A177-3AD203B41FA5}">
                      <a16:colId xmlns:a16="http://schemas.microsoft.com/office/drawing/2014/main" val="979219896"/>
                    </a:ext>
                  </a:extLst>
                </a:gridCol>
                <a:gridCol w="1118754">
                  <a:extLst>
                    <a:ext uri="{9D8B030D-6E8A-4147-A177-3AD203B41FA5}">
                      <a16:colId xmlns:a16="http://schemas.microsoft.com/office/drawing/2014/main" val="629273217"/>
                    </a:ext>
                  </a:extLst>
                </a:gridCol>
                <a:gridCol w="2442994">
                  <a:extLst>
                    <a:ext uri="{9D8B030D-6E8A-4147-A177-3AD203B41FA5}">
                      <a16:colId xmlns:a16="http://schemas.microsoft.com/office/drawing/2014/main" val="1848762844"/>
                    </a:ext>
                  </a:extLst>
                </a:gridCol>
              </a:tblGrid>
              <a:tr h="158750">
                <a:tc>
                  <a:txBody>
                    <a:bodyPr/>
                    <a:lstStyle/>
                    <a:p>
                      <a:pPr>
                        <a:buNone/>
                      </a:pPr>
                      <a:r>
                        <a:rPr lang="en-US" dirty="0">
                          <a:effectLst/>
                        </a:rPr>
                        <a:t>Botswana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64%</a:t>
                      </a:r>
                    </a:p>
                  </a:txBody>
                  <a:tcPr marL="0" marR="0" marT="0" marB="0" anchor="ctr">
                    <a:lnL>
                      <a:noFill/>
                    </a:lnL>
                    <a:lnR>
                      <a:noFill/>
                    </a:lnR>
                    <a:lnT>
                      <a:noFill/>
                    </a:lnT>
                    <a:lnB>
                      <a:noFill/>
                    </a:lnB>
                    <a:noFill/>
                  </a:tcPr>
                </a:tc>
                <a:extLst>
                  <a:ext uri="{0D108BD9-81ED-4DB2-BD59-A6C34878D82A}">
                    <a16:rowId xmlns:a16="http://schemas.microsoft.com/office/drawing/2014/main" val="3734893789"/>
                  </a:ext>
                </a:extLst>
              </a:tr>
              <a:tr h="158750">
                <a:tc>
                  <a:txBody>
                    <a:bodyPr/>
                    <a:lstStyle/>
                    <a:p>
                      <a:pPr>
                        <a:buNone/>
                      </a:pPr>
                      <a:r>
                        <a:rPr lang="en-US">
                          <a:effectLst/>
                        </a:rPr>
                        <a:t>Eswatini</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49%</a:t>
                      </a:r>
                    </a:p>
                  </a:txBody>
                  <a:tcPr marL="0" marR="0" marT="0" marB="0" anchor="ctr">
                    <a:lnL>
                      <a:noFill/>
                    </a:lnL>
                    <a:lnR>
                      <a:noFill/>
                    </a:lnR>
                    <a:lnT>
                      <a:noFill/>
                    </a:lnT>
                    <a:lnB>
                      <a:noFill/>
                    </a:lnB>
                    <a:noFill/>
                  </a:tcPr>
                </a:tc>
                <a:extLst>
                  <a:ext uri="{0D108BD9-81ED-4DB2-BD59-A6C34878D82A}">
                    <a16:rowId xmlns:a16="http://schemas.microsoft.com/office/drawing/2014/main" val="3281317013"/>
                  </a:ext>
                </a:extLst>
              </a:tr>
              <a:tr h="158750">
                <a:tc>
                  <a:txBody>
                    <a:bodyPr/>
                    <a:lstStyle/>
                    <a:p>
                      <a:pPr>
                        <a:buNone/>
                      </a:pPr>
                      <a:r>
                        <a:rPr lang="en-US">
                          <a:effectLst/>
                        </a:rPr>
                        <a:t>Ethiopia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59%</a:t>
                      </a:r>
                    </a:p>
                  </a:txBody>
                  <a:tcPr marL="0" marR="0" marT="0" marB="0" anchor="ctr">
                    <a:lnL>
                      <a:noFill/>
                    </a:lnL>
                    <a:lnR>
                      <a:noFill/>
                    </a:lnR>
                    <a:lnT>
                      <a:noFill/>
                    </a:lnT>
                    <a:lnB>
                      <a:noFill/>
                    </a:lnB>
                    <a:noFill/>
                  </a:tcPr>
                </a:tc>
                <a:extLst>
                  <a:ext uri="{0D108BD9-81ED-4DB2-BD59-A6C34878D82A}">
                    <a16:rowId xmlns:a16="http://schemas.microsoft.com/office/drawing/2014/main" val="3271686970"/>
                  </a:ext>
                </a:extLst>
              </a:tr>
              <a:tr h="158750">
                <a:tc>
                  <a:txBody>
                    <a:bodyPr/>
                    <a:lstStyle/>
                    <a:p>
                      <a:pPr>
                        <a:buNone/>
                      </a:pPr>
                      <a:r>
                        <a:rPr lang="en-US">
                          <a:effectLst/>
                        </a:rPr>
                        <a:t>Gambia, The</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46%</a:t>
                      </a:r>
                    </a:p>
                  </a:txBody>
                  <a:tcPr marL="0" marR="0" marT="0" marB="0" anchor="ctr">
                    <a:lnL>
                      <a:noFill/>
                    </a:lnL>
                    <a:lnR>
                      <a:noFill/>
                    </a:lnR>
                    <a:lnT>
                      <a:noFill/>
                    </a:lnT>
                    <a:lnB>
                      <a:noFill/>
                    </a:lnB>
                    <a:noFill/>
                  </a:tcPr>
                </a:tc>
                <a:extLst>
                  <a:ext uri="{0D108BD9-81ED-4DB2-BD59-A6C34878D82A}">
                    <a16:rowId xmlns:a16="http://schemas.microsoft.com/office/drawing/2014/main" val="280349611"/>
                  </a:ext>
                </a:extLst>
              </a:tr>
              <a:tr h="158750">
                <a:tc>
                  <a:txBody>
                    <a:bodyPr/>
                    <a:lstStyle/>
                    <a:p>
                      <a:pPr>
                        <a:buNone/>
                      </a:pPr>
                      <a:r>
                        <a:rPr lang="en-US">
                          <a:effectLst/>
                        </a:rPr>
                        <a:t>Ghana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55%</a:t>
                      </a:r>
                    </a:p>
                  </a:txBody>
                  <a:tcPr marL="0" marR="0" marT="0" marB="0" anchor="ctr">
                    <a:lnL>
                      <a:noFill/>
                    </a:lnL>
                    <a:lnR>
                      <a:noFill/>
                    </a:lnR>
                    <a:lnT>
                      <a:noFill/>
                    </a:lnT>
                    <a:lnB>
                      <a:noFill/>
                    </a:lnB>
                    <a:noFill/>
                  </a:tcPr>
                </a:tc>
                <a:extLst>
                  <a:ext uri="{0D108BD9-81ED-4DB2-BD59-A6C34878D82A}">
                    <a16:rowId xmlns:a16="http://schemas.microsoft.com/office/drawing/2014/main" val="4066134842"/>
                  </a:ext>
                </a:extLst>
              </a:tr>
              <a:tr h="158750">
                <a:tc>
                  <a:txBody>
                    <a:bodyPr/>
                    <a:lstStyle/>
                    <a:p>
                      <a:pPr>
                        <a:buNone/>
                      </a:pPr>
                      <a:r>
                        <a:rPr lang="en-US">
                          <a:effectLst/>
                        </a:rPr>
                        <a:t>Kenya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63%</a:t>
                      </a:r>
                    </a:p>
                  </a:txBody>
                  <a:tcPr marL="0" marR="0" marT="0" marB="0" anchor="ctr">
                    <a:lnL>
                      <a:noFill/>
                    </a:lnL>
                    <a:lnR>
                      <a:noFill/>
                    </a:lnR>
                    <a:lnT>
                      <a:noFill/>
                    </a:lnT>
                    <a:lnB>
                      <a:noFill/>
                    </a:lnB>
                    <a:noFill/>
                  </a:tcPr>
                </a:tc>
                <a:extLst>
                  <a:ext uri="{0D108BD9-81ED-4DB2-BD59-A6C34878D82A}">
                    <a16:rowId xmlns:a16="http://schemas.microsoft.com/office/drawing/2014/main" val="921011337"/>
                  </a:ext>
                </a:extLst>
              </a:tr>
              <a:tr h="158750">
                <a:tc>
                  <a:txBody>
                    <a:bodyPr/>
                    <a:lstStyle/>
                    <a:p>
                      <a:pPr>
                        <a:buNone/>
                      </a:pPr>
                      <a:r>
                        <a:rPr lang="en-US">
                          <a:effectLst/>
                        </a:rPr>
                        <a:t>Lesotho</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48%</a:t>
                      </a:r>
                    </a:p>
                  </a:txBody>
                  <a:tcPr marL="0" marR="0" marT="0" marB="0" anchor="ctr">
                    <a:lnL>
                      <a:noFill/>
                    </a:lnL>
                    <a:lnR>
                      <a:noFill/>
                    </a:lnR>
                    <a:lnT>
                      <a:noFill/>
                    </a:lnT>
                    <a:lnB>
                      <a:noFill/>
                    </a:lnB>
                    <a:noFill/>
                  </a:tcPr>
                </a:tc>
                <a:extLst>
                  <a:ext uri="{0D108BD9-81ED-4DB2-BD59-A6C34878D82A}">
                    <a16:rowId xmlns:a16="http://schemas.microsoft.com/office/drawing/2014/main" val="1848681455"/>
                  </a:ext>
                </a:extLst>
              </a:tr>
              <a:tr h="158750">
                <a:tc>
                  <a:txBody>
                    <a:bodyPr/>
                    <a:lstStyle/>
                    <a:p>
                      <a:pPr>
                        <a:buNone/>
                      </a:pPr>
                      <a:r>
                        <a:rPr lang="en-US">
                          <a:effectLst/>
                        </a:rPr>
                        <a:t>Liberia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72%</a:t>
                      </a:r>
                    </a:p>
                  </a:txBody>
                  <a:tcPr marL="0" marR="0" marT="0" marB="0" anchor="ctr">
                    <a:lnL>
                      <a:noFill/>
                    </a:lnL>
                    <a:lnR>
                      <a:noFill/>
                    </a:lnR>
                    <a:lnT>
                      <a:noFill/>
                    </a:lnT>
                    <a:lnB>
                      <a:noFill/>
                    </a:lnB>
                    <a:noFill/>
                  </a:tcPr>
                </a:tc>
                <a:extLst>
                  <a:ext uri="{0D108BD9-81ED-4DB2-BD59-A6C34878D82A}">
                    <a16:rowId xmlns:a16="http://schemas.microsoft.com/office/drawing/2014/main" val="2838119198"/>
                  </a:ext>
                </a:extLst>
              </a:tr>
              <a:tr h="158750">
                <a:tc>
                  <a:txBody>
                    <a:bodyPr/>
                    <a:lstStyle/>
                    <a:p>
                      <a:pPr>
                        <a:buNone/>
                      </a:pPr>
                      <a:r>
                        <a:rPr lang="en-US">
                          <a:effectLst/>
                        </a:rPr>
                        <a:t>Malawi</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58%</a:t>
                      </a:r>
                    </a:p>
                  </a:txBody>
                  <a:tcPr marL="0" marR="0" marT="0" marB="0" anchor="ctr">
                    <a:lnL>
                      <a:noFill/>
                    </a:lnL>
                    <a:lnR>
                      <a:noFill/>
                    </a:lnR>
                    <a:lnT>
                      <a:noFill/>
                    </a:lnT>
                    <a:lnB>
                      <a:noFill/>
                    </a:lnB>
                    <a:noFill/>
                  </a:tcPr>
                </a:tc>
                <a:extLst>
                  <a:ext uri="{0D108BD9-81ED-4DB2-BD59-A6C34878D82A}">
                    <a16:rowId xmlns:a16="http://schemas.microsoft.com/office/drawing/2014/main" val="1529394058"/>
                  </a:ext>
                </a:extLst>
              </a:tr>
              <a:tr h="158750">
                <a:tc>
                  <a:txBody>
                    <a:bodyPr/>
                    <a:lstStyle/>
                    <a:p>
                      <a:pPr>
                        <a:buNone/>
                      </a:pPr>
                      <a:r>
                        <a:rPr lang="en-US">
                          <a:effectLst/>
                        </a:rPr>
                        <a:t>Mauritius</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48%</a:t>
                      </a:r>
                    </a:p>
                  </a:txBody>
                  <a:tcPr marL="0" marR="0" marT="0" marB="0" anchor="ctr">
                    <a:lnL>
                      <a:noFill/>
                    </a:lnL>
                    <a:lnR>
                      <a:noFill/>
                    </a:lnR>
                    <a:lnT>
                      <a:noFill/>
                    </a:lnT>
                    <a:lnB>
                      <a:noFill/>
                    </a:lnB>
                    <a:noFill/>
                  </a:tcPr>
                </a:tc>
                <a:extLst>
                  <a:ext uri="{0D108BD9-81ED-4DB2-BD59-A6C34878D82A}">
                    <a16:rowId xmlns:a16="http://schemas.microsoft.com/office/drawing/2014/main" val="3822118050"/>
                  </a:ext>
                </a:extLst>
              </a:tr>
              <a:tr h="158750">
                <a:tc>
                  <a:txBody>
                    <a:bodyPr/>
                    <a:lstStyle/>
                    <a:p>
                      <a:pPr>
                        <a:buNone/>
                      </a:pPr>
                      <a:r>
                        <a:rPr lang="en-US">
                          <a:effectLst/>
                        </a:rPr>
                        <a:t>Namibia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55%</a:t>
                      </a:r>
                    </a:p>
                  </a:txBody>
                  <a:tcPr marL="0" marR="0" marT="0" marB="0" anchor="ctr">
                    <a:lnL>
                      <a:noFill/>
                    </a:lnL>
                    <a:lnR>
                      <a:noFill/>
                    </a:lnR>
                    <a:lnT>
                      <a:noFill/>
                    </a:lnT>
                    <a:lnB>
                      <a:noFill/>
                    </a:lnB>
                    <a:noFill/>
                  </a:tcPr>
                </a:tc>
                <a:extLst>
                  <a:ext uri="{0D108BD9-81ED-4DB2-BD59-A6C34878D82A}">
                    <a16:rowId xmlns:a16="http://schemas.microsoft.com/office/drawing/2014/main" val="3295175974"/>
                  </a:ext>
                </a:extLst>
              </a:tr>
              <a:tr h="158750">
                <a:tc>
                  <a:txBody>
                    <a:bodyPr/>
                    <a:lstStyle/>
                    <a:p>
                      <a:pPr>
                        <a:buNone/>
                      </a:pPr>
                      <a:r>
                        <a:rPr lang="en-US">
                          <a:effectLst/>
                        </a:rPr>
                        <a:t>Nigeria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81%</a:t>
                      </a:r>
                    </a:p>
                  </a:txBody>
                  <a:tcPr marL="0" marR="0" marT="0" marB="0" anchor="ctr">
                    <a:lnL>
                      <a:noFill/>
                    </a:lnL>
                    <a:lnR>
                      <a:noFill/>
                    </a:lnR>
                    <a:lnT>
                      <a:noFill/>
                    </a:lnT>
                    <a:lnB>
                      <a:noFill/>
                    </a:lnB>
                    <a:noFill/>
                  </a:tcPr>
                </a:tc>
                <a:extLst>
                  <a:ext uri="{0D108BD9-81ED-4DB2-BD59-A6C34878D82A}">
                    <a16:rowId xmlns:a16="http://schemas.microsoft.com/office/drawing/2014/main" val="3420285962"/>
                  </a:ext>
                </a:extLst>
              </a:tr>
              <a:tr h="158750">
                <a:tc>
                  <a:txBody>
                    <a:bodyPr/>
                    <a:lstStyle/>
                    <a:p>
                      <a:pPr>
                        <a:buNone/>
                      </a:pPr>
                      <a:r>
                        <a:rPr lang="en-US">
                          <a:effectLst/>
                        </a:rPr>
                        <a:t>Rwanda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57%</a:t>
                      </a:r>
                    </a:p>
                  </a:txBody>
                  <a:tcPr marL="0" marR="0" marT="0" marB="0" anchor="ctr">
                    <a:lnL>
                      <a:noFill/>
                    </a:lnL>
                    <a:lnR>
                      <a:noFill/>
                    </a:lnR>
                    <a:lnT>
                      <a:noFill/>
                    </a:lnT>
                    <a:lnB>
                      <a:noFill/>
                    </a:lnB>
                    <a:noFill/>
                  </a:tcPr>
                </a:tc>
                <a:extLst>
                  <a:ext uri="{0D108BD9-81ED-4DB2-BD59-A6C34878D82A}">
                    <a16:rowId xmlns:a16="http://schemas.microsoft.com/office/drawing/2014/main" val="1713909723"/>
                  </a:ext>
                </a:extLst>
              </a:tr>
              <a:tr h="158750">
                <a:tc>
                  <a:txBody>
                    <a:bodyPr/>
                    <a:lstStyle/>
                    <a:p>
                      <a:pPr>
                        <a:buNone/>
                      </a:pPr>
                      <a:r>
                        <a:rPr lang="en-US">
                          <a:effectLst/>
                        </a:rPr>
                        <a:t>Seychelles</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N/A</a:t>
                      </a:r>
                    </a:p>
                  </a:txBody>
                  <a:tcPr marL="0" marR="0" marT="0" marB="0" anchor="ctr">
                    <a:lnL>
                      <a:noFill/>
                    </a:lnL>
                    <a:lnR>
                      <a:noFill/>
                    </a:lnR>
                    <a:lnT>
                      <a:noFill/>
                    </a:lnT>
                    <a:lnB>
                      <a:noFill/>
                    </a:lnB>
                    <a:noFill/>
                  </a:tcPr>
                </a:tc>
                <a:extLst>
                  <a:ext uri="{0D108BD9-81ED-4DB2-BD59-A6C34878D82A}">
                    <a16:rowId xmlns:a16="http://schemas.microsoft.com/office/drawing/2014/main" val="3252308739"/>
                  </a:ext>
                </a:extLst>
              </a:tr>
              <a:tr h="158750">
                <a:tc>
                  <a:txBody>
                    <a:bodyPr/>
                    <a:lstStyle/>
                    <a:p>
                      <a:pPr>
                        <a:buNone/>
                      </a:pPr>
                      <a:r>
                        <a:rPr lang="en-US">
                          <a:effectLst/>
                        </a:rPr>
                        <a:t>Sierra Leone</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52%</a:t>
                      </a:r>
                    </a:p>
                  </a:txBody>
                  <a:tcPr marL="0" marR="0" marT="0" marB="0" anchor="ctr">
                    <a:lnL>
                      <a:noFill/>
                    </a:lnL>
                    <a:lnR>
                      <a:noFill/>
                    </a:lnR>
                    <a:lnT>
                      <a:noFill/>
                    </a:lnT>
                    <a:lnB>
                      <a:noFill/>
                    </a:lnB>
                    <a:noFill/>
                  </a:tcPr>
                </a:tc>
                <a:extLst>
                  <a:ext uri="{0D108BD9-81ED-4DB2-BD59-A6C34878D82A}">
                    <a16:rowId xmlns:a16="http://schemas.microsoft.com/office/drawing/2014/main" val="2209949237"/>
                  </a:ext>
                </a:extLst>
              </a:tr>
              <a:tr h="158750">
                <a:tc>
                  <a:txBody>
                    <a:bodyPr/>
                    <a:lstStyle/>
                    <a:p>
                      <a:pPr>
                        <a:buNone/>
                      </a:pPr>
                      <a:r>
                        <a:rPr lang="en-US">
                          <a:effectLst/>
                        </a:rPr>
                        <a:t>South Sudan</a:t>
                      </a:r>
                    </a:p>
                  </a:txBody>
                  <a:tcPr marL="0" marR="0" marT="0" marB="0" anchor="ctr">
                    <a:lnL>
                      <a:noFill/>
                    </a:lnL>
                    <a:lnR>
                      <a:noFill/>
                    </a:lnR>
                    <a:lnT>
                      <a:noFill/>
                    </a:lnT>
                    <a:lnB>
                      <a:noFill/>
                    </a:lnB>
                    <a:noFill/>
                  </a:tcPr>
                </a:tc>
                <a:tc>
                  <a:txBody>
                    <a:bodyPr/>
                    <a:lstStyle/>
                    <a:p>
                      <a:pPr>
                        <a:buNone/>
                      </a:pPr>
                      <a:r>
                        <a:rPr lang="en-US">
                          <a:effectLst/>
                        </a:rPr>
                        <a:t>2023</a:t>
                      </a:r>
                    </a:p>
                  </a:txBody>
                  <a:tcPr marL="0" marR="0" marT="0" marB="0" anchor="ctr">
                    <a:lnL>
                      <a:noFill/>
                    </a:lnL>
                    <a:lnR>
                      <a:noFill/>
                    </a:lnR>
                    <a:lnT>
                      <a:noFill/>
                    </a:lnT>
                    <a:lnB>
                      <a:noFill/>
                    </a:lnB>
                    <a:noFill/>
                  </a:tcPr>
                </a:tc>
                <a:tc>
                  <a:txBody>
                    <a:bodyPr/>
                    <a:lstStyle/>
                    <a:p>
                      <a:pPr>
                        <a:buNone/>
                      </a:pPr>
                      <a:r>
                        <a:rPr lang="en-US">
                          <a:effectLst/>
                        </a:rPr>
                        <a:t>70%</a:t>
                      </a:r>
                    </a:p>
                  </a:txBody>
                  <a:tcPr marL="0" marR="0" marT="0" marB="0" anchor="ctr">
                    <a:lnL>
                      <a:noFill/>
                    </a:lnL>
                    <a:lnR>
                      <a:noFill/>
                    </a:lnR>
                    <a:lnT>
                      <a:noFill/>
                    </a:lnT>
                    <a:lnB>
                      <a:noFill/>
                    </a:lnB>
                    <a:noFill/>
                  </a:tcPr>
                </a:tc>
                <a:extLst>
                  <a:ext uri="{0D108BD9-81ED-4DB2-BD59-A6C34878D82A}">
                    <a16:rowId xmlns:a16="http://schemas.microsoft.com/office/drawing/2014/main" val="3715444578"/>
                  </a:ext>
                </a:extLst>
              </a:tr>
              <a:tr h="158750">
                <a:tc>
                  <a:txBody>
                    <a:bodyPr/>
                    <a:lstStyle/>
                    <a:p>
                      <a:pPr>
                        <a:buNone/>
                      </a:pPr>
                      <a:r>
                        <a:rPr lang="en-US">
                          <a:effectLst/>
                        </a:rPr>
                        <a:t>Uganda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a:effectLst/>
                        </a:rPr>
                        <a:t>76%</a:t>
                      </a:r>
                    </a:p>
                  </a:txBody>
                  <a:tcPr marL="0" marR="0" marT="0" marB="0" anchor="ctr">
                    <a:lnL>
                      <a:noFill/>
                    </a:lnL>
                    <a:lnR>
                      <a:noFill/>
                    </a:lnR>
                    <a:lnT>
                      <a:noFill/>
                    </a:lnT>
                    <a:lnB>
                      <a:noFill/>
                    </a:lnB>
                    <a:noFill/>
                  </a:tcPr>
                </a:tc>
                <a:extLst>
                  <a:ext uri="{0D108BD9-81ED-4DB2-BD59-A6C34878D82A}">
                    <a16:rowId xmlns:a16="http://schemas.microsoft.com/office/drawing/2014/main" val="1628349554"/>
                  </a:ext>
                </a:extLst>
              </a:tr>
              <a:tr h="158750">
                <a:tc>
                  <a:txBody>
                    <a:bodyPr/>
                    <a:lstStyle/>
                    <a:p>
                      <a:pPr>
                        <a:buNone/>
                      </a:pPr>
                      <a:r>
                        <a:rPr lang="en-US">
                          <a:effectLst/>
                        </a:rPr>
                        <a:t>Zambia</a:t>
                      </a:r>
                    </a:p>
                  </a:txBody>
                  <a:tcPr marL="0" marR="0" marT="0" marB="0" anchor="ctr">
                    <a:lnL>
                      <a:noFill/>
                    </a:lnL>
                    <a:lnR>
                      <a:noFill/>
                    </a:lnR>
                    <a:lnT>
                      <a:noFill/>
                    </a:lnT>
                    <a:lnB>
                      <a:noFill/>
                    </a:lnB>
                    <a:noFill/>
                  </a:tcPr>
                </a:tc>
                <a:tc>
                  <a:txBody>
                    <a:bodyPr/>
                    <a:lstStyle/>
                    <a:p>
                      <a:pPr>
                        <a:buNone/>
                      </a:pPr>
                      <a:r>
                        <a:rPr lang="en-US">
                          <a:effectLst/>
                        </a:rPr>
                        <a:t>2025</a:t>
                      </a:r>
                    </a:p>
                  </a:txBody>
                  <a:tcPr marL="0" marR="0" marT="0" marB="0" anchor="ctr">
                    <a:lnL>
                      <a:noFill/>
                    </a:lnL>
                    <a:lnR>
                      <a:noFill/>
                    </a:lnR>
                    <a:lnT>
                      <a:noFill/>
                    </a:lnT>
                    <a:lnB>
                      <a:noFill/>
                    </a:lnB>
                    <a:noFill/>
                  </a:tcPr>
                </a:tc>
                <a:tc>
                  <a:txBody>
                    <a:bodyPr/>
                    <a:lstStyle/>
                    <a:p>
                      <a:pPr>
                        <a:buNone/>
                      </a:pPr>
                      <a:r>
                        <a:rPr lang="en-US" dirty="0">
                          <a:effectLst/>
                        </a:rPr>
                        <a:t>56%</a:t>
                      </a:r>
                    </a:p>
                  </a:txBody>
                  <a:tcPr marL="0" marR="0" marT="0" marB="0" anchor="ctr">
                    <a:lnL>
                      <a:noFill/>
                    </a:lnL>
                    <a:lnR>
                      <a:noFill/>
                    </a:lnR>
                    <a:lnT>
                      <a:noFill/>
                    </a:lnT>
                    <a:lnB>
                      <a:noFill/>
                    </a:lnB>
                    <a:noFill/>
                  </a:tcPr>
                </a:tc>
                <a:extLst>
                  <a:ext uri="{0D108BD9-81ED-4DB2-BD59-A6C34878D82A}">
                    <a16:rowId xmlns:a16="http://schemas.microsoft.com/office/drawing/2014/main" val="2656807477"/>
                  </a:ext>
                </a:extLst>
              </a:tr>
            </a:tbl>
          </a:graphicData>
        </a:graphic>
      </p:graphicFrame>
    </p:spTree>
    <p:extLst>
      <p:ext uri="{BB962C8B-B14F-4D97-AF65-F5344CB8AC3E}">
        <p14:creationId xmlns:p14="http://schemas.microsoft.com/office/powerpoint/2010/main" val="354655594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A2EA-2893-A2CB-B7CA-648691AD5687}"/>
              </a:ext>
            </a:extLst>
          </p:cNvPr>
          <p:cNvSpPr>
            <a:spLocks noGrp="1"/>
          </p:cNvSpPr>
          <p:nvPr>
            <p:ph type="title"/>
          </p:nvPr>
        </p:nvSpPr>
        <p:spPr>
          <a:xfrm>
            <a:off x="179860" y="124017"/>
            <a:ext cx="11852563" cy="978486"/>
          </a:xfrm>
        </p:spPr>
        <p:txBody>
          <a:bodyPr>
            <a:noAutofit/>
          </a:bodyPr>
          <a:lstStyle/>
          <a:p>
            <a:r>
              <a:rPr lang="en-US" sz="2400">
                <a:latin typeface="Arial Black"/>
              </a:rPr>
              <a:t>Inequalities can limit labor market entry, skill utilization, and adjustment.</a:t>
            </a:r>
            <a:endParaRPr lang="en-US" sz="2400"/>
          </a:p>
        </p:txBody>
      </p:sp>
      <p:sp>
        <p:nvSpPr>
          <p:cNvPr id="6" name="TextBox 5">
            <a:extLst>
              <a:ext uri="{FF2B5EF4-FFF2-40B4-BE49-F238E27FC236}">
                <a16:creationId xmlns:a16="http://schemas.microsoft.com/office/drawing/2014/main" id="{AB9A0A1B-FC1A-5A8F-3794-C81B5B433039}"/>
              </a:ext>
            </a:extLst>
          </p:cNvPr>
          <p:cNvSpPr txBox="1"/>
          <p:nvPr/>
        </p:nvSpPr>
        <p:spPr>
          <a:xfrm>
            <a:off x="7511970" y="6059016"/>
            <a:ext cx="4112871" cy="830997"/>
          </a:xfrm>
          <a:prstGeom prst="rect">
            <a:avLst/>
          </a:prstGeom>
          <a:solidFill>
            <a:schemeClr val="bg1"/>
          </a:solidFill>
        </p:spPr>
        <p:txBody>
          <a:bodyPr wrap="square" lIns="91440" tIns="45720" rIns="91440" bIns="45720" rtlCol="0" anchor="t">
            <a:spAutoFit/>
          </a:bodyPr>
          <a:lstStyle/>
          <a:p>
            <a:r>
              <a:rPr lang="en-US" sz="1600">
                <a:hlinkClick r:id="rId3"/>
              </a:rPr>
              <a:t>Source: Unemployment rate (% ages 15-24) | World Bank Gender Data Portal</a:t>
            </a:r>
            <a:endParaRPr lang="en-US" sz="1600"/>
          </a:p>
          <a:p>
            <a:endParaRPr lang="en-US" sz="1600"/>
          </a:p>
        </p:txBody>
      </p:sp>
      <p:sp>
        <p:nvSpPr>
          <p:cNvPr id="9" name="Rectangle 8">
            <a:extLst>
              <a:ext uri="{FF2B5EF4-FFF2-40B4-BE49-F238E27FC236}">
                <a16:creationId xmlns:a16="http://schemas.microsoft.com/office/drawing/2014/main" id="{0CA52C63-D7AF-5832-498A-1AC738152682}"/>
              </a:ext>
            </a:extLst>
          </p:cNvPr>
          <p:cNvSpPr/>
          <p:nvPr/>
        </p:nvSpPr>
        <p:spPr>
          <a:xfrm>
            <a:off x="-159577" y="1369464"/>
            <a:ext cx="12192000" cy="369332"/>
          </a:xfrm>
          <a:prstGeom prst="rect">
            <a:avLst/>
          </a:prstGeom>
        </p:spPr>
        <p:txBody>
          <a:bodyPr wrap="square" lIns="91440" tIns="45720" rIns="91440" bIns="45720" anchor="t">
            <a:spAutoFit/>
          </a:bodyPr>
          <a:lstStyle/>
          <a:p>
            <a:pPr algn="ctr">
              <a:lnSpc>
                <a:spcPct val="90000"/>
              </a:lnSpc>
              <a:spcBef>
                <a:spcPct val="0"/>
              </a:spcBef>
            </a:pPr>
            <a:r>
              <a:rPr lang="en-US" sz="2000">
                <a:solidFill>
                  <a:schemeClr val="tx2"/>
                </a:solidFill>
                <a:latin typeface="Arial Black" panose="020B0A04020102020204" pitchFamily="34" charset="0"/>
              </a:rPr>
              <a:t>Ratio of Female to Male Unemployment Rates, Ages 15-24 (2024 or latest year)</a:t>
            </a:r>
          </a:p>
        </p:txBody>
      </p:sp>
      <p:pic>
        <p:nvPicPr>
          <p:cNvPr id="12" name="Picture 11">
            <a:extLst>
              <a:ext uri="{FF2B5EF4-FFF2-40B4-BE49-F238E27FC236}">
                <a16:creationId xmlns:a16="http://schemas.microsoft.com/office/drawing/2014/main" id="{18A31669-FE12-0683-61C5-8490D532AA23}"/>
              </a:ext>
            </a:extLst>
          </p:cNvPr>
          <p:cNvPicPr>
            <a:picLocks noChangeAspect="1"/>
          </p:cNvPicPr>
          <p:nvPr/>
        </p:nvPicPr>
        <p:blipFill>
          <a:blip r:embed="rId4"/>
          <a:stretch>
            <a:fillRect/>
          </a:stretch>
        </p:blipFill>
        <p:spPr>
          <a:xfrm>
            <a:off x="179860" y="1923462"/>
            <a:ext cx="6805410" cy="4381754"/>
          </a:xfrm>
          <a:prstGeom prst="rect">
            <a:avLst/>
          </a:prstGeom>
        </p:spPr>
      </p:pic>
      <p:pic>
        <p:nvPicPr>
          <p:cNvPr id="14" name="Picture 13">
            <a:extLst>
              <a:ext uri="{FF2B5EF4-FFF2-40B4-BE49-F238E27FC236}">
                <a16:creationId xmlns:a16="http://schemas.microsoft.com/office/drawing/2014/main" id="{90794FAB-07F5-BEB8-873B-D930C49548E2}"/>
              </a:ext>
            </a:extLst>
          </p:cNvPr>
          <p:cNvPicPr>
            <a:picLocks noChangeAspect="1"/>
          </p:cNvPicPr>
          <p:nvPr/>
        </p:nvPicPr>
        <p:blipFill>
          <a:blip r:embed="rId5"/>
          <a:stretch>
            <a:fillRect/>
          </a:stretch>
        </p:blipFill>
        <p:spPr>
          <a:xfrm>
            <a:off x="567159" y="6436527"/>
            <a:ext cx="6528194" cy="369332"/>
          </a:xfrm>
          <a:prstGeom prst="rect">
            <a:avLst/>
          </a:prstGeom>
        </p:spPr>
      </p:pic>
      <p:sp>
        <p:nvSpPr>
          <p:cNvPr id="15" name="TextBox 14">
            <a:extLst>
              <a:ext uri="{FF2B5EF4-FFF2-40B4-BE49-F238E27FC236}">
                <a16:creationId xmlns:a16="http://schemas.microsoft.com/office/drawing/2014/main" id="{FD5597AE-710D-0851-0DB7-77BE72614103}"/>
              </a:ext>
            </a:extLst>
          </p:cNvPr>
          <p:cNvSpPr txBox="1"/>
          <p:nvPr/>
        </p:nvSpPr>
        <p:spPr>
          <a:xfrm>
            <a:off x="2971431" y="6159528"/>
            <a:ext cx="1360170" cy="276999"/>
          </a:xfrm>
          <a:prstGeom prst="rect">
            <a:avLst/>
          </a:prstGeom>
          <a:noFill/>
        </p:spPr>
        <p:txBody>
          <a:bodyPr wrap="square" rtlCol="0">
            <a:spAutoFit/>
          </a:bodyPr>
          <a:lstStyle/>
          <a:p>
            <a:r>
              <a:rPr lang="en-US" sz="1200"/>
              <a:t>95-106%</a:t>
            </a:r>
          </a:p>
        </p:txBody>
      </p:sp>
      <p:sp>
        <p:nvSpPr>
          <p:cNvPr id="16" name="Arrow: Down 15">
            <a:extLst>
              <a:ext uri="{FF2B5EF4-FFF2-40B4-BE49-F238E27FC236}">
                <a16:creationId xmlns:a16="http://schemas.microsoft.com/office/drawing/2014/main" id="{E3144898-7AC2-0148-203D-82F7DE99FF7B}"/>
              </a:ext>
            </a:extLst>
          </p:cNvPr>
          <p:cNvSpPr/>
          <p:nvPr/>
        </p:nvSpPr>
        <p:spPr>
          <a:xfrm>
            <a:off x="2638286" y="6197516"/>
            <a:ext cx="272142" cy="276999"/>
          </a:xfrm>
          <a:prstGeom prst="down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F631AEF-14C5-2EA2-2501-98181C019E60}"/>
              </a:ext>
            </a:extLst>
          </p:cNvPr>
          <p:cNvSpPr txBox="1"/>
          <p:nvPr/>
        </p:nvSpPr>
        <p:spPr>
          <a:xfrm>
            <a:off x="7511970" y="2072216"/>
            <a:ext cx="4341776" cy="3647152"/>
          </a:xfrm>
          <a:prstGeom prst="rect">
            <a:avLst/>
          </a:prstGeom>
          <a:noFill/>
        </p:spPr>
        <p:txBody>
          <a:bodyPr wrap="square" rtlCol="0">
            <a:spAutoFit/>
          </a:bodyPr>
          <a:lstStyle/>
          <a:p>
            <a:r>
              <a:rPr lang="en-US" b="1" i="1">
                <a:solidFill>
                  <a:schemeClr val="tx2"/>
                </a:solidFill>
              </a:rPr>
              <a:t>Rates are high in many countries, but there are systematic differences across population groups.</a:t>
            </a:r>
          </a:p>
          <a:p>
            <a:endParaRPr lang="en-US">
              <a:solidFill>
                <a:schemeClr val="tx2"/>
              </a:solidFill>
            </a:endParaRPr>
          </a:p>
          <a:p>
            <a:pPr marL="285750" indent="-285750">
              <a:spcBef>
                <a:spcPts val="600"/>
              </a:spcBef>
              <a:buFont typeface="Arial" panose="020B0604020202020204" pitchFamily="34" charset="0"/>
              <a:buChar char="•"/>
            </a:pPr>
            <a:r>
              <a:rPr lang="en-US">
                <a:solidFill>
                  <a:schemeClr val="tx2"/>
                </a:solidFill>
              </a:rPr>
              <a:t>Persistent youth unemployment can lead to human capital scarring, lower lifetime earnings, and weaker productivity growth.</a:t>
            </a:r>
          </a:p>
          <a:p>
            <a:pPr marL="285750" indent="-285750">
              <a:spcBef>
                <a:spcPts val="600"/>
              </a:spcBef>
              <a:buFont typeface="Arial" panose="020B0604020202020204" pitchFamily="34" charset="0"/>
              <a:buChar char="•"/>
            </a:pPr>
            <a:r>
              <a:rPr lang="en-US">
                <a:solidFill>
                  <a:schemeClr val="tx2"/>
                </a:solidFill>
              </a:rPr>
              <a:t>Higher female youth unemployment may reflect structural constraints. </a:t>
            </a:r>
          </a:p>
          <a:p>
            <a:pPr marL="285750" indent="-285750">
              <a:spcBef>
                <a:spcPts val="600"/>
              </a:spcBef>
              <a:buFont typeface="Arial" panose="020B0604020202020204" pitchFamily="34" charset="0"/>
              <a:buChar char="•"/>
            </a:pPr>
            <a:r>
              <a:rPr lang="en-US" b="1">
                <a:solidFill>
                  <a:srgbClr val="FF0000"/>
                </a:solidFill>
              </a:rPr>
              <a:t>Question: What are key constraints in your country? </a:t>
            </a:r>
          </a:p>
        </p:txBody>
      </p:sp>
    </p:spTree>
    <p:extLst>
      <p:ext uri="{BB962C8B-B14F-4D97-AF65-F5344CB8AC3E}">
        <p14:creationId xmlns:p14="http://schemas.microsoft.com/office/powerpoint/2010/main" val="352367973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B67D8-842B-AA38-51AE-E93FFCE0B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08D64-4627-D041-D8CC-DEF5F3B01696}"/>
              </a:ext>
            </a:extLst>
          </p:cNvPr>
          <p:cNvSpPr>
            <a:spLocks noGrp="1"/>
          </p:cNvSpPr>
          <p:nvPr>
            <p:ph type="title"/>
          </p:nvPr>
        </p:nvSpPr>
        <p:spPr>
          <a:xfrm>
            <a:off x="1348752" y="2939757"/>
            <a:ext cx="9715500" cy="978486"/>
          </a:xfrm>
        </p:spPr>
        <p:txBody>
          <a:bodyPr/>
          <a:lstStyle/>
          <a:p>
            <a:pPr algn="ctr"/>
            <a:r>
              <a:rPr lang="en-US"/>
              <a:t>Stylized Facts and Trends</a:t>
            </a:r>
            <a:br>
              <a:rPr lang="en-US"/>
            </a:br>
            <a:r>
              <a:rPr lang="en-US"/>
              <a:t>Human Capital Development</a:t>
            </a:r>
          </a:p>
        </p:txBody>
      </p:sp>
    </p:spTree>
    <p:extLst>
      <p:ext uri="{BB962C8B-B14F-4D97-AF65-F5344CB8AC3E}">
        <p14:creationId xmlns:p14="http://schemas.microsoft.com/office/powerpoint/2010/main" val="83285147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12D7F-1055-F1DA-E62C-00691D2CD592}"/>
              </a:ext>
            </a:extLst>
          </p:cNvPr>
          <p:cNvSpPr>
            <a:spLocks noGrp="1"/>
          </p:cNvSpPr>
          <p:nvPr>
            <p:ph type="title"/>
          </p:nvPr>
        </p:nvSpPr>
        <p:spPr>
          <a:xfrm>
            <a:off x="522206" y="364063"/>
            <a:ext cx="10890431" cy="978486"/>
          </a:xfrm>
        </p:spPr>
        <p:txBody>
          <a:bodyPr>
            <a:normAutofit fontScale="90000"/>
          </a:bodyPr>
          <a:lstStyle/>
          <a:p>
            <a:r>
              <a:rPr lang="en-US"/>
              <a:t>Human capital is a core driver of long‑run growth, productivity, and income convergence.</a:t>
            </a:r>
            <a:br>
              <a:rPr lang="en-US"/>
            </a:br>
            <a:endParaRPr lang="en-US"/>
          </a:p>
        </p:txBody>
      </p:sp>
      <p:sp>
        <p:nvSpPr>
          <p:cNvPr id="6" name="Text Placeholder 5">
            <a:extLst>
              <a:ext uri="{FF2B5EF4-FFF2-40B4-BE49-F238E27FC236}">
                <a16:creationId xmlns:a16="http://schemas.microsoft.com/office/drawing/2014/main" id="{F58B73B9-DE75-BC4A-B637-622B667358AC}"/>
              </a:ext>
            </a:extLst>
          </p:cNvPr>
          <p:cNvSpPr txBox="1">
            <a:spLocks noGrp="1"/>
          </p:cNvSpPr>
          <p:nvPr>
            <p:ph type="body" sz="quarter" idx="10"/>
          </p:nvPr>
        </p:nvSpPr>
        <p:spPr>
          <a:xfrm>
            <a:off x="1239838" y="1470025"/>
            <a:ext cx="9715500" cy="4385816"/>
          </a:xfrm>
          <a:prstGeom prst="rect">
            <a:avLst/>
          </a:prstGeom>
          <a:noFill/>
        </p:spPr>
        <p:txBody>
          <a:bodyPr wrap="square" rtlCol="0">
            <a:spAutoFit/>
          </a:bodyPr>
          <a:lstStyle/>
          <a:p>
            <a:pPr marL="342900" indent="-342900">
              <a:buFont typeface="Arial" panose="020B0604020202020204" pitchFamily="34" charset="0"/>
              <a:buChar char="•"/>
            </a:pPr>
            <a:r>
              <a:rPr lang="en-US" sz="2400"/>
              <a:t>Gaps in education and literacy reduce the effective supply of skilled labor, constraining sectoral upgrading and diversification. </a:t>
            </a:r>
          </a:p>
          <a:p>
            <a:pPr marL="342900" indent="-342900">
              <a:buFont typeface="Arial" panose="020B0604020202020204" pitchFamily="34" charset="0"/>
              <a:buChar char="•"/>
            </a:pPr>
            <a:r>
              <a:rPr lang="en-US" sz="2400"/>
              <a:t>Lower human capital slows technology adoption, weakens complementarities with capital investment, and limits productivity gains from digitalization and AI.</a:t>
            </a:r>
          </a:p>
          <a:p>
            <a:pPr marL="342900" indent="-342900">
              <a:buFont typeface="Arial" panose="020B0604020202020204" pitchFamily="34" charset="0"/>
              <a:buChar char="•"/>
            </a:pPr>
            <a:r>
              <a:rPr lang="en-US" sz="2400"/>
              <a:t>Uneven skill formation can amplify the distributional impact of shocks and reforms, slowing adjustment and recovery.</a:t>
            </a:r>
          </a:p>
          <a:p>
            <a:pPr marL="342900" indent="-342900">
              <a:buFont typeface="Arial" panose="020B0604020202020204" pitchFamily="34" charset="0"/>
              <a:buChar char="•"/>
            </a:pPr>
            <a:r>
              <a:rPr lang="en-US" sz="2400"/>
              <a:t>From a macro perspective, persistent human capital gaps weigh on potential growth, fiscal revenues, and economic resilience.</a:t>
            </a:r>
          </a:p>
        </p:txBody>
      </p:sp>
    </p:spTree>
    <p:extLst>
      <p:ext uri="{BB962C8B-B14F-4D97-AF65-F5344CB8AC3E}">
        <p14:creationId xmlns:p14="http://schemas.microsoft.com/office/powerpoint/2010/main" val="915740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BAAFD-3890-4761-8359-FDB4193CE78E}"/>
              </a:ext>
            </a:extLst>
          </p:cNvPr>
          <p:cNvSpPr>
            <a:spLocks noGrp="1"/>
          </p:cNvSpPr>
          <p:nvPr>
            <p:ph type="title"/>
          </p:nvPr>
        </p:nvSpPr>
        <p:spPr>
          <a:xfrm>
            <a:off x="309806" y="250763"/>
            <a:ext cx="11566507" cy="854884"/>
          </a:xfrm>
          <a:noFill/>
        </p:spPr>
        <p:txBody>
          <a:bodyPr vert="horz" lIns="0" tIns="0" rIns="0" bIns="0" rtlCol="0" anchor="ctr">
            <a:noAutofit/>
          </a:bodyPr>
          <a:lstStyle/>
          <a:p>
            <a:r>
              <a:rPr lang="en-US" sz="2800">
                <a:solidFill>
                  <a:schemeClr val="tx2"/>
                </a:solidFill>
                <a:latin typeface="Arial Black"/>
              </a:rPr>
              <a:t>Education gaps constrain human capital and productivity</a:t>
            </a:r>
            <a:endParaRPr lang="en-GB" sz="2800">
              <a:solidFill>
                <a:schemeClr val="tx2"/>
              </a:solidFill>
              <a:latin typeface="Arial Black"/>
            </a:endParaRPr>
          </a:p>
        </p:txBody>
      </p:sp>
      <p:sp>
        <p:nvSpPr>
          <p:cNvPr id="5" name="TextBox 4">
            <a:extLst>
              <a:ext uri="{FF2B5EF4-FFF2-40B4-BE49-F238E27FC236}">
                <a16:creationId xmlns:a16="http://schemas.microsoft.com/office/drawing/2014/main" id="{38F9144E-C2AB-4CE3-B69B-364DF58D38F6}"/>
              </a:ext>
            </a:extLst>
          </p:cNvPr>
          <p:cNvSpPr txBox="1"/>
          <p:nvPr/>
        </p:nvSpPr>
        <p:spPr>
          <a:xfrm>
            <a:off x="309806" y="5792308"/>
            <a:ext cx="9490177" cy="1138773"/>
          </a:xfrm>
          <a:prstGeom prst="rect">
            <a:avLst/>
          </a:prstGeom>
          <a:noFill/>
        </p:spPr>
        <p:txBody>
          <a:bodyPr wrap="square" lIns="91440" tIns="45720" rIns="91440" bIns="45720" rtlCol="0" anchor="t">
            <a:spAutoFit/>
          </a:bodyPr>
          <a:lstStyle/>
          <a:p>
            <a:r>
              <a:rPr lang="en-GB" sz="1600"/>
              <a:t>Source:</a:t>
            </a:r>
            <a:r>
              <a:rPr lang="en-GB" sz="1600">
                <a:ea typeface="+mn-lt"/>
                <a:cs typeface="+mn-lt"/>
              </a:rPr>
              <a:t> </a:t>
            </a:r>
            <a:r>
              <a:rPr lang="en-US" sz="1600">
                <a:ea typeface="+mn-lt"/>
                <a:cs typeface="+mn-lt"/>
                <a:hlinkClick r:id="rId3"/>
              </a:rPr>
              <a:t>Benchmarking gender gaps, 2025 - Global Gender Gap Report 2025 | World Economic Forum</a:t>
            </a:r>
            <a:endParaRPr lang="en-US" sz="1600">
              <a:ea typeface="+mn-lt"/>
              <a:cs typeface="+mn-lt"/>
            </a:endParaRPr>
          </a:p>
          <a:p>
            <a:endParaRPr lang="en-US" sz="1600">
              <a:cs typeface="Arial"/>
            </a:endParaRPr>
          </a:p>
          <a:p>
            <a:r>
              <a:rPr lang="en-US" sz="1600">
                <a:cs typeface="Arial"/>
              </a:rPr>
              <a:t>Note: Population-weighted averages for 148 economies</a:t>
            </a:r>
            <a:r>
              <a:rPr lang="en-US" sz="1600" i="1">
                <a:cs typeface="Arial"/>
              </a:rPr>
              <a:t>.</a:t>
            </a:r>
            <a:endParaRPr lang="en-US" sz="1600">
              <a:cs typeface="Arial"/>
            </a:endParaRPr>
          </a:p>
          <a:p>
            <a:endParaRPr lang="en-US">
              <a:cs typeface="Arial"/>
            </a:endParaRPr>
          </a:p>
        </p:txBody>
      </p:sp>
      <p:pic>
        <p:nvPicPr>
          <p:cNvPr id="4" name="Picture 3">
            <a:extLst>
              <a:ext uri="{FF2B5EF4-FFF2-40B4-BE49-F238E27FC236}">
                <a16:creationId xmlns:a16="http://schemas.microsoft.com/office/drawing/2014/main" id="{C44345EC-DFB6-F4E6-41B3-0F496C1F97A9}"/>
              </a:ext>
            </a:extLst>
          </p:cNvPr>
          <p:cNvPicPr>
            <a:picLocks noChangeAspect="1"/>
          </p:cNvPicPr>
          <p:nvPr/>
        </p:nvPicPr>
        <p:blipFill>
          <a:blip r:embed="rId4"/>
          <a:stretch>
            <a:fillRect/>
          </a:stretch>
        </p:blipFill>
        <p:spPr>
          <a:xfrm>
            <a:off x="694063" y="1369569"/>
            <a:ext cx="10234670" cy="4422739"/>
          </a:xfrm>
          <a:prstGeom prst="rect">
            <a:avLst/>
          </a:prstGeom>
        </p:spPr>
      </p:pic>
    </p:spTree>
    <p:extLst>
      <p:ext uri="{BB962C8B-B14F-4D97-AF65-F5344CB8AC3E}">
        <p14:creationId xmlns:p14="http://schemas.microsoft.com/office/powerpoint/2010/main" val="187342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374CF-F737-D0A4-37A8-4C480253F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ED9E7E-CA45-94FC-4EBD-AA0A49D8CF53}"/>
              </a:ext>
            </a:extLst>
          </p:cNvPr>
          <p:cNvSpPr>
            <a:spLocks noGrp="1"/>
          </p:cNvSpPr>
          <p:nvPr>
            <p:ph type="title"/>
          </p:nvPr>
        </p:nvSpPr>
        <p:spPr>
          <a:xfrm>
            <a:off x="284064" y="151170"/>
            <a:ext cx="11623870" cy="978486"/>
          </a:xfrm>
        </p:spPr>
        <p:txBody>
          <a:bodyPr>
            <a:noAutofit/>
          </a:bodyPr>
          <a:lstStyle/>
          <a:p>
            <a:r>
              <a:rPr lang="en-US">
                <a:latin typeface="Arial Black"/>
              </a:rPr>
              <a:t>On average, school enrollment rates are near parity in the region.</a:t>
            </a:r>
          </a:p>
        </p:txBody>
      </p:sp>
      <p:graphicFrame>
        <p:nvGraphicFramePr>
          <p:cNvPr id="7" name="Table 6">
            <a:extLst>
              <a:ext uri="{FF2B5EF4-FFF2-40B4-BE49-F238E27FC236}">
                <a16:creationId xmlns:a16="http://schemas.microsoft.com/office/drawing/2014/main" id="{5CA3BEF4-9940-7C69-11FF-683322A38A14}"/>
              </a:ext>
            </a:extLst>
          </p:cNvPr>
          <p:cNvGraphicFramePr>
            <a:graphicFrameLocks noGrp="1"/>
          </p:cNvGraphicFramePr>
          <p:nvPr>
            <p:extLst>
              <p:ext uri="{D42A27DB-BD31-4B8C-83A1-F6EECF244321}">
                <p14:modId xmlns:p14="http://schemas.microsoft.com/office/powerpoint/2010/main" val="2213937967"/>
              </p:ext>
            </p:extLst>
          </p:nvPr>
        </p:nvGraphicFramePr>
        <p:xfrm>
          <a:off x="2098135" y="1254529"/>
          <a:ext cx="6617039" cy="677769"/>
        </p:xfrm>
        <a:graphic>
          <a:graphicData uri="http://schemas.openxmlformats.org/drawingml/2006/table">
            <a:tbl>
              <a:tblPr>
                <a:tableStyleId>{5C22544A-7EE6-4342-B048-85BDC9FD1C3A}</a:tableStyleId>
              </a:tblPr>
              <a:tblGrid>
                <a:gridCol w="6617039">
                  <a:extLst>
                    <a:ext uri="{9D8B030D-6E8A-4147-A177-3AD203B41FA5}">
                      <a16:colId xmlns:a16="http://schemas.microsoft.com/office/drawing/2014/main" val="2214785073"/>
                    </a:ext>
                  </a:extLst>
                </a:gridCol>
              </a:tblGrid>
              <a:tr h="677769">
                <a:tc>
                  <a:txBody>
                    <a:bodyPr/>
                    <a:lstStyle/>
                    <a:p>
                      <a:pPr algn="ctr" fontAlgn="b">
                        <a:buNone/>
                      </a:pPr>
                      <a:r>
                        <a:rPr lang="en-US" sz="1800" b="1" u="none" strike="noStrike">
                          <a:solidFill>
                            <a:schemeClr val="tx2"/>
                          </a:solidFill>
                          <a:effectLst/>
                          <a:latin typeface="+mn-lt"/>
                        </a:rPr>
                        <a:t>Female to Male School Enrollment Ratio, </a:t>
                      </a:r>
                    </a:p>
                    <a:p>
                      <a:pPr algn="ctr" fontAlgn="b">
                        <a:buNone/>
                      </a:pPr>
                      <a:r>
                        <a:rPr lang="en-US" sz="1800" b="1" u="none" strike="noStrike">
                          <a:solidFill>
                            <a:schemeClr val="tx2"/>
                          </a:solidFill>
                          <a:effectLst/>
                          <a:latin typeface="+mn-lt"/>
                        </a:rPr>
                        <a:t>2024 or latest year available, (percent)</a:t>
                      </a:r>
                      <a:endParaRPr lang="en-US" sz="1800" b="1" i="0" u="none" strike="noStrike">
                        <a:solidFill>
                          <a:schemeClr val="tx2"/>
                        </a:solidFill>
                        <a:effectLst/>
                        <a:latin typeface="+mn-lt"/>
                      </a:endParaRPr>
                    </a:p>
                  </a:txBody>
                  <a:tcPr marL="6350" marR="6350" marT="6350" marB="0" anchor="b">
                    <a:solidFill>
                      <a:schemeClr val="bg1"/>
                    </a:solidFill>
                  </a:tcPr>
                </a:tc>
                <a:extLst>
                  <a:ext uri="{0D108BD9-81ED-4DB2-BD59-A6C34878D82A}">
                    <a16:rowId xmlns:a16="http://schemas.microsoft.com/office/drawing/2014/main" val="1520893830"/>
                  </a:ext>
                </a:extLst>
              </a:tr>
            </a:tbl>
          </a:graphicData>
        </a:graphic>
      </p:graphicFrame>
      <p:sp>
        <p:nvSpPr>
          <p:cNvPr id="8" name="Text Box 4">
            <a:extLst>
              <a:ext uri="{FF2B5EF4-FFF2-40B4-BE49-F238E27FC236}">
                <a16:creationId xmlns:a16="http://schemas.microsoft.com/office/drawing/2014/main" id="{E2692886-1978-DCD9-6106-B3408FB706F0}"/>
              </a:ext>
            </a:extLst>
          </p:cNvPr>
          <p:cNvSpPr txBox="1">
            <a:spLocks noChangeArrowheads="1"/>
          </p:cNvSpPr>
          <p:nvPr/>
        </p:nvSpPr>
        <p:spPr bwMode="auto">
          <a:xfrm>
            <a:off x="98633" y="6068669"/>
            <a:ext cx="3487301" cy="529376"/>
          </a:xfrm>
          <a:prstGeom prst="rect">
            <a:avLst/>
          </a:prstGeom>
          <a:noFill/>
          <a:ln w="9525">
            <a:noFill/>
            <a:miter lim="800000"/>
            <a:headEnd/>
            <a:tailEnd/>
          </a:ln>
        </p:spPr>
        <p:txBody>
          <a:bodyPr wrap="none" lIns="45720" tIns="36576" rIns="0" bIns="0" anchor="t" upright="1">
            <a:spAutoFit/>
          </a:bodyPr>
          <a:lstStyle>
            <a:lvl1pPr marL="0" indent="0">
              <a:defRPr sz="1100">
                <a:latin typeface="Calibri"/>
                <a:ea typeface="+mn-ea"/>
                <a:cs typeface="+mn-cs"/>
              </a:defRPr>
            </a:lvl1pPr>
            <a:lvl2pPr marL="457200" indent="0">
              <a:defRPr sz="1100">
                <a:latin typeface="Calibri"/>
                <a:ea typeface="+mn-ea"/>
                <a:cs typeface="+mn-cs"/>
              </a:defRPr>
            </a:lvl2pPr>
            <a:lvl3pPr marL="914400" indent="0">
              <a:defRPr sz="1100">
                <a:latin typeface="Calibri"/>
                <a:ea typeface="+mn-ea"/>
                <a:cs typeface="+mn-cs"/>
              </a:defRPr>
            </a:lvl3pPr>
            <a:lvl4pPr marL="1371600" indent="0">
              <a:defRPr sz="1100">
                <a:latin typeface="Calibri"/>
                <a:ea typeface="+mn-ea"/>
                <a:cs typeface="+mn-cs"/>
              </a:defRPr>
            </a:lvl4pPr>
            <a:lvl5pPr marL="1828800" indent="0">
              <a:defRPr sz="1100">
                <a:latin typeface="Calibri"/>
                <a:ea typeface="+mn-ea"/>
                <a:cs typeface="+mn-cs"/>
              </a:defRPr>
            </a:lvl5pPr>
            <a:lvl6pPr marL="2286000" indent="0">
              <a:defRPr sz="1100">
                <a:latin typeface="Calibri"/>
                <a:ea typeface="+mn-ea"/>
                <a:cs typeface="+mn-cs"/>
              </a:defRPr>
            </a:lvl6pPr>
            <a:lvl7pPr marL="2743200" indent="0">
              <a:defRPr sz="1100">
                <a:latin typeface="Calibri"/>
                <a:ea typeface="+mn-ea"/>
                <a:cs typeface="+mn-cs"/>
              </a:defRPr>
            </a:lvl7pPr>
            <a:lvl8pPr marL="3200400" indent="0">
              <a:defRPr sz="1100">
                <a:latin typeface="Calibri"/>
                <a:ea typeface="+mn-ea"/>
                <a:cs typeface="+mn-cs"/>
              </a:defRPr>
            </a:lvl8pPr>
            <a:lvl9pPr marL="3657600" indent="0">
              <a:defRPr sz="1100">
                <a:latin typeface="Calibri"/>
                <a:ea typeface="+mn-ea"/>
                <a:cs typeface="+mn-cs"/>
              </a:defRPr>
            </a:lvl9pPr>
          </a:lstStyle>
          <a:p>
            <a:pPr>
              <a:defRPr sz="1000"/>
            </a:pPr>
            <a:r>
              <a:rPr lang="en-US" sz="1600">
                <a:latin typeface="+mn-lt"/>
                <a:cs typeface="Arial"/>
              </a:rPr>
              <a:t>Source: World Bank Gender Statistics</a:t>
            </a:r>
          </a:p>
          <a:p>
            <a:pPr>
              <a:defRPr sz="1000"/>
            </a:pPr>
            <a:endParaRPr lang="en-US" sz="1600" dirty="0">
              <a:latin typeface="+mn-lt"/>
              <a:cs typeface="Arial"/>
            </a:endParaRPr>
          </a:p>
        </p:txBody>
      </p:sp>
      <p:sp>
        <p:nvSpPr>
          <p:cNvPr id="6" name="TextBox 5">
            <a:extLst>
              <a:ext uri="{FF2B5EF4-FFF2-40B4-BE49-F238E27FC236}">
                <a16:creationId xmlns:a16="http://schemas.microsoft.com/office/drawing/2014/main" id="{0FA57C56-5AB6-90F5-0DA3-C6054473D09D}"/>
              </a:ext>
            </a:extLst>
          </p:cNvPr>
          <p:cNvSpPr txBox="1"/>
          <p:nvPr/>
        </p:nvSpPr>
        <p:spPr>
          <a:xfrm>
            <a:off x="9251808" y="2577039"/>
            <a:ext cx="2503415" cy="2862322"/>
          </a:xfrm>
          <a:prstGeom prst="rect">
            <a:avLst/>
          </a:prstGeom>
          <a:noFill/>
        </p:spPr>
        <p:txBody>
          <a:bodyPr wrap="square" rtlCol="0">
            <a:spAutoFit/>
          </a:bodyPr>
          <a:lstStyle/>
          <a:p>
            <a:r>
              <a:rPr lang="en-US" b="1" dirty="0">
                <a:solidFill>
                  <a:srgbClr val="FF0000"/>
                </a:solidFill>
              </a:rPr>
              <a:t>Let’s Discuss: </a:t>
            </a:r>
          </a:p>
          <a:p>
            <a:r>
              <a:rPr lang="en-US" dirty="0">
                <a:solidFill>
                  <a:srgbClr val="FF0000"/>
                </a:solidFill>
              </a:rPr>
              <a:t>Consider LFP, unemployment, and job quality. Does parity in enrollment rates translate into similar skills or labor market outcomes?  </a:t>
            </a:r>
          </a:p>
          <a:p>
            <a:endParaRPr lang="en-US" dirty="0">
              <a:solidFill>
                <a:srgbClr val="FF0000"/>
              </a:solidFill>
            </a:endParaRPr>
          </a:p>
          <a:p>
            <a:endParaRPr lang="en-US" dirty="0"/>
          </a:p>
        </p:txBody>
      </p:sp>
      <p:pic>
        <p:nvPicPr>
          <p:cNvPr id="3" name="Picture 2" descr="A blue and white bar chart&#10;&#10;AI-generated content may be incorrect.">
            <a:extLst>
              <a:ext uri="{FF2B5EF4-FFF2-40B4-BE49-F238E27FC236}">
                <a16:creationId xmlns:a16="http://schemas.microsoft.com/office/drawing/2014/main" id="{D2102143-7E0C-F066-15E8-4A9C6986F82B}"/>
              </a:ext>
            </a:extLst>
          </p:cNvPr>
          <p:cNvPicPr>
            <a:picLocks noChangeAspect="1"/>
          </p:cNvPicPr>
          <p:nvPr/>
        </p:nvPicPr>
        <p:blipFill>
          <a:blip r:embed="rId2"/>
          <a:stretch>
            <a:fillRect/>
          </a:stretch>
        </p:blipFill>
        <p:spPr>
          <a:xfrm>
            <a:off x="1999133" y="2048345"/>
            <a:ext cx="6603883" cy="4134791"/>
          </a:xfrm>
          <a:prstGeom prst="rect">
            <a:avLst/>
          </a:prstGeom>
        </p:spPr>
      </p:pic>
    </p:spTree>
    <p:extLst>
      <p:ext uri="{BB962C8B-B14F-4D97-AF65-F5344CB8AC3E}">
        <p14:creationId xmlns:p14="http://schemas.microsoft.com/office/powerpoint/2010/main" val="301801384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E5BD3-F0F8-7680-5CF3-54D0C982A6F9}"/>
              </a:ext>
            </a:extLst>
          </p:cNvPr>
          <p:cNvSpPr>
            <a:spLocks noGrp="1"/>
          </p:cNvSpPr>
          <p:nvPr>
            <p:ph type="title"/>
          </p:nvPr>
        </p:nvSpPr>
        <p:spPr>
          <a:xfrm>
            <a:off x="468657" y="122053"/>
            <a:ext cx="11638879" cy="978486"/>
          </a:xfrm>
        </p:spPr>
        <p:txBody>
          <a:bodyPr>
            <a:normAutofit/>
          </a:bodyPr>
          <a:lstStyle/>
          <a:p>
            <a:r>
              <a:rPr lang="en-US" dirty="0">
                <a:latin typeface="Arial Black"/>
              </a:rPr>
              <a:t>While rates may be near parity, the levels of secondary and tertiary education are much lower than primary rates. </a:t>
            </a:r>
          </a:p>
        </p:txBody>
      </p:sp>
      <p:sp>
        <p:nvSpPr>
          <p:cNvPr id="5" name="TextBox 4">
            <a:extLst>
              <a:ext uri="{FF2B5EF4-FFF2-40B4-BE49-F238E27FC236}">
                <a16:creationId xmlns:a16="http://schemas.microsoft.com/office/drawing/2014/main" id="{17835310-4CA2-E267-1C52-7771DD1AC5EA}"/>
              </a:ext>
            </a:extLst>
          </p:cNvPr>
          <p:cNvSpPr txBox="1"/>
          <p:nvPr/>
        </p:nvSpPr>
        <p:spPr>
          <a:xfrm>
            <a:off x="346129" y="6366615"/>
            <a:ext cx="5331115" cy="338554"/>
          </a:xfrm>
          <a:prstGeom prst="rect">
            <a:avLst/>
          </a:prstGeom>
          <a:noFill/>
        </p:spPr>
        <p:txBody>
          <a:bodyPr wrap="square" rtlCol="0">
            <a:spAutoFit/>
          </a:bodyPr>
          <a:lstStyle/>
          <a:p>
            <a:r>
              <a:rPr lang="en-US" sz="1600"/>
              <a:t>Source: World Bank Gender Data Portal</a:t>
            </a:r>
          </a:p>
        </p:txBody>
      </p:sp>
      <p:sp>
        <p:nvSpPr>
          <p:cNvPr id="4" name="TextBox 3">
            <a:extLst>
              <a:ext uri="{FF2B5EF4-FFF2-40B4-BE49-F238E27FC236}">
                <a16:creationId xmlns:a16="http://schemas.microsoft.com/office/drawing/2014/main" id="{F3A5326B-287C-A95A-864E-62C4E2B0B878}"/>
              </a:ext>
            </a:extLst>
          </p:cNvPr>
          <p:cNvSpPr txBox="1"/>
          <p:nvPr/>
        </p:nvSpPr>
        <p:spPr>
          <a:xfrm>
            <a:off x="527213" y="3743645"/>
            <a:ext cx="11337119" cy="2308324"/>
          </a:xfrm>
          <a:prstGeom prst="rect">
            <a:avLst/>
          </a:prstGeom>
          <a:noFill/>
        </p:spPr>
        <p:txBody>
          <a:bodyPr wrap="square" rtlCol="0">
            <a:spAutoFit/>
          </a:bodyPr>
          <a:lstStyle/>
          <a:p>
            <a:r>
              <a:rPr lang="en-US" b="1" i="1" dirty="0">
                <a:solidFill>
                  <a:srgbClr val="FF0000"/>
                </a:solidFill>
              </a:rPr>
              <a:t>Let’s Discuss: </a:t>
            </a:r>
          </a:p>
          <a:p>
            <a:r>
              <a:rPr lang="en-US" i="1" dirty="0">
                <a:solidFill>
                  <a:srgbClr val="FF0000"/>
                </a:solidFill>
              </a:rPr>
              <a:t>Regional averages may also mask substantial cross‑country differences in education gaps. What should we do to address this?</a:t>
            </a:r>
          </a:p>
          <a:p>
            <a:endParaRPr lang="en-US" i="1" dirty="0">
              <a:solidFill>
                <a:srgbClr val="FF0000"/>
              </a:solidFill>
            </a:endParaRPr>
          </a:p>
          <a:p>
            <a:r>
              <a:rPr lang="en-US" i="1" dirty="0">
                <a:solidFill>
                  <a:srgbClr val="FF0000"/>
                </a:solidFill>
              </a:rPr>
              <a:t>What other variables may be helpful when we are looking at human capital development and macroeconomic outcomes?</a:t>
            </a:r>
          </a:p>
          <a:p>
            <a:endParaRPr lang="en-US" i="1" dirty="0">
              <a:solidFill>
                <a:srgbClr val="FF0000"/>
              </a:solidFill>
            </a:endParaRPr>
          </a:p>
          <a:p>
            <a:r>
              <a:rPr lang="en-US" i="1" dirty="0">
                <a:solidFill>
                  <a:srgbClr val="FF0000"/>
                </a:solidFill>
              </a:rPr>
              <a:t>Why should we consider country‑specific analysis when aiming to design policies on human capital?</a:t>
            </a:r>
          </a:p>
        </p:txBody>
      </p:sp>
      <p:graphicFrame>
        <p:nvGraphicFramePr>
          <p:cNvPr id="7" name="Table 6">
            <a:extLst>
              <a:ext uri="{FF2B5EF4-FFF2-40B4-BE49-F238E27FC236}">
                <a16:creationId xmlns:a16="http://schemas.microsoft.com/office/drawing/2014/main" id="{71DF30F1-4514-D987-EAD0-25B631299B77}"/>
              </a:ext>
            </a:extLst>
          </p:cNvPr>
          <p:cNvGraphicFramePr>
            <a:graphicFrameLocks noGrp="1"/>
          </p:cNvGraphicFramePr>
          <p:nvPr>
            <p:extLst>
              <p:ext uri="{D42A27DB-BD31-4B8C-83A1-F6EECF244321}">
                <p14:modId xmlns:p14="http://schemas.microsoft.com/office/powerpoint/2010/main" val="3672055613"/>
              </p:ext>
            </p:extLst>
          </p:nvPr>
        </p:nvGraphicFramePr>
        <p:xfrm>
          <a:off x="284010" y="1654458"/>
          <a:ext cx="11823526" cy="1774542"/>
        </p:xfrm>
        <a:graphic>
          <a:graphicData uri="http://schemas.openxmlformats.org/drawingml/2006/table">
            <a:tbl>
              <a:tblPr bandRow="1">
                <a:tableStyleId>{5C22544A-7EE6-4342-B048-85BDC9FD1C3A}</a:tableStyleId>
              </a:tblPr>
              <a:tblGrid>
                <a:gridCol w="909502">
                  <a:extLst>
                    <a:ext uri="{9D8B030D-6E8A-4147-A177-3AD203B41FA5}">
                      <a16:colId xmlns:a16="http://schemas.microsoft.com/office/drawing/2014/main" val="648162940"/>
                    </a:ext>
                  </a:extLst>
                </a:gridCol>
                <a:gridCol w="909502">
                  <a:extLst>
                    <a:ext uri="{9D8B030D-6E8A-4147-A177-3AD203B41FA5}">
                      <a16:colId xmlns:a16="http://schemas.microsoft.com/office/drawing/2014/main" val="3179185995"/>
                    </a:ext>
                  </a:extLst>
                </a:gridCol>
                <a:gridCol w="909502">
                  <a:extLst>
                    <a:ext uri="{9D8B030D-6E8A-4147-A177-3AD203B41FA5}">
                      <a16:colId xmlns:a16="http://schemas.microsoft.com/office/drawing/2014/main" val="1572835783"/>
                    </a:ext>
                  </a:extLst>
                </a:gridCol>
                <a:gridCol w="909502">
                  <a:extLst>
                    <a:ext uri="{9D8B030D-6E8A-4147-A177-3AD203B41FA5}">
                      <a16:colId xmlns:a16="http://schemas.microsoft.com/office/drawing/2014/main" val="2455954446"/>
                    </a:ext>
                  </a:extLst>
                </a:gridCol>
                <a:gridCol w="909502">
                  <a:extLst>
                    <a:ext uri="{9D8B030D-6E8A-4147-A177-3AD203B41FA5}">
                      <a16:colId xmlns:a16="http://schemas.microsoft.com/office/drawing/2014/main" val="2739987481"/>
                    </a:ext>
                  </a:extLst>
                </a:gridCol>
                <a:gridCol w="909502">
                  <a:extLst>
                    <a:ext uri="{9D8B030D-6E8A-4147-A177-3AD203B41FA5}">
                      <a16:colId xmlns:a16="http://schemas.microsoft.com/office/drawing/2014/main" val="427709644"/>
                    </a:ext>
                  </a:extLst>
                </a:gridCol>
                <a:gridCol w="909502">
                  <a:extLst>
                    <a:ext uri="{9D8B030D-6E8A-4147-A177-3AD203B41FA5}">
                      <a16:colId xmlns:a16="http://schemas.microsoft.com/office/drawing/2014/main" val="1339935928"/>
                    </a:ext>
                  </a:extLst>
                </a:gridCol>
                <a:gridCol w="909502">
                  <a:extLst>
                    <a:ext uri="{9D8B030D-6E8A-4147-A177-3AD203B41FA5}">
                      <a16:colId xmlns:a16="http://schemas.microsoft.com/office/drawing/2014/main" val="1219533497"/>
                    </a:ext>
                  </a:extLst>
                </a:gridCol>
                <a:gridCol w="909502">
                  <a:extLst>
                    <a:ext uri="{9D8B030D-6E8A-4147-A177-3AD203B41FA5}">
                      <a16:colId xmlns:a16="http://schemas.microsoft.com/office/drawing/2014/main" val="3591446019"/>
                    </a:ext>
                  </a:extLst>
                </a:gridCol>
                <a:gridCol w="909502">
                  <a:extLst>
                    <a:ext uri="{9D8B030D-6E8A-4147-A177-3AD203B41FA5}">
                      <a16:colId xmlns:a16="http://schemas.microsoft.com/office/drawing/2014/main" val="2304547930"/>
                    </a:ext>
                  </a:extLst>
                </a:gridCol>
                <a:gridCol w="909502">
                  <a:extLst>
                    <a:ext uri="{9D8B030D-6E8A-4147-A177-3AD203B41FA5}">
                      <a16:colId xmlns:a16="http://schemas.microsoft.com/office/drawing/2014/main" val="2090880305"/>
                    </a:ext>
                  </a:extLst>
                </a:gridCol>
                <a:gridCol w="909502">
                  <a:extLst>
                    <a:ext uri="{9D8B030D-6E8A-4147-A177-3AD203B41FA5}">
                      <a16:colId xmlns:a16="http://schemas.microsoft.com/office/drawing/2014/main" val="1404347138"/>
                    </a:ext>
                  </a:extLst>
                </a:gridCol>
                <a:gridCol w="909502">
                  <a:extLst>
                    <a:ext uri="{9D8B030D-6E8A-4147-A177-3AD203B41FA5}">
                      <a16:colId xmlns:a16="http://schemas.microsoft.com/office/drawing/2014/main" val="3050575863"/>
                    </a:ext>
                  </a:extLst>
                </a:gridCol>
              </a:tblGrid>
              <a:tr h="441095">
                <a:tc>
                  <a:txBody>
                    <a:bodyPr/>
                    <a:lstStyle/>
                    <a:p>
                      <a:pPr>
                        <a:buNone/>
                      </a:pPr>
                      <a:endParaRPr lang="en-US" b="1" dirty="0">
                        <a:ln>
                          <a:solidFill>
                            <a:schemeClr val="tx1"/>
                          </a:solidFill>
                        </a:ln>
                        <a:solidFill>
                          <a:schemeClr val="tx1"/>
                        </a:solidFill>
                        <a:effectLst/>
                        <a:latin typeface="+mn-lt"/>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Pre-primary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gridSpan="3">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Primary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gridSpan="3">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Secondary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gridSpan="3">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Tertiary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04725549"/>
                  </a:ext>
                </a:extLst>
              </a:tr>
              <a:tr h="888965">
                <a:tc>
                  <a:txBody>
                    <a:bodyPr/>
                    <a:lstStyle/>
                    <a:p>
                      <a:pPr>
                        <a:buNone/>
                      </a:pPr>
                      <a:endParaRPr lang="en-US" dirty="0">
                        <a:ln>
                          <a:solidFill>
                            <a:schemeClr val="tx1"/>
                          </a:solidFill>
                        </a:ln>
                        <a:solidFill>
                          <a:schemeClr val="tx1"/>
                        </a:solidFill>
                        <a:effectLst/>
                        <a:latin typeface="+mn-lt"/>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Female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Ratio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Female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Ratio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Female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Ratio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Female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n>
                            <a:solidFill>
                              <a:schemeClr val="tx1"/>
                            </a:solidFill>
                          </a:ln>
                          <a:solidFill>
                            <a:schemeClr val="tx1"/>
                          </a:solidFill>
                          <a:effectLst/>
                          <a:latin typeface="+mn-lt"/>
                          <a:cs typeface="Times New Roman" panose="02020603050405020304" pitchFamily="18" charset="0"/>
                        </a:rPr>
                        <a:t>Ratio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661486"/>
                  </a:ext>
                </a:extLst>
              </a:tr>
              <a:tr h="444482">
                <a:tc>
                  <a:txBody>
                    <a:bodyPr/>
                    <a:lstStyle/>
                    <a:p>
                      <a:pPr>
                        <a:buNone/>
                      </a:pPr>
                      <a:r>
                        <a:rPr lang="en-US" dirty="0">
                          <a:ln>
                            <a:solidFill>
                              <a:schemeClr val="tx1"/>
                            </a:solidFill>
                          </a:ln>
                          <a:solidFill>
                            <a:schemeClr val="tx1"/>
                          </a:solidFill>
                          <a:effectLst/>
                          <a:latin typeface="+mn-lt"/>
                          <a:cs typeface="Times New Roman" panose="02020603050405020304" pitchFamily="18" charset="0"/>
                        </a:rPr>
                        <a:t>AFR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n>
                            <a:solidFill>
                              <a:schemeClr val="tx1"/>
                            </a:solidFill>
                          </a:ln>
                          <a:solidFill>
                            <a:schemeClr val="tx1"/>
                          </a:solidFill>
                          <a:effectLst/>
                          <a:latin typeface="+mn-lt"/>
                          <a:cs typeface="Times New Roman" panose="02020603050405020304" pitchFamily="18" charset="0"/>
                        </a:rPr>
                        <a:t>36.4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n>
                            <a:solidFill>
                              <a:schemeClr val="tx1"/>
                            </a:solidFill>
                          </a:ln>
                          <a:solidFill>
                            <a:schemeClr val="tx1"/>
                          </a:solidFill>
                          <a:effectLst/>
                          <a:latin typeface="+mn-lt"/>
                          <a:cs typeface="Times New Roman" panose="02020603050405020304" pitchFamily="18" charset="0"/>
                        </a:rPr>
                        <a:t>37.3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n>
                            <a:solidFill>
                              <a:schemeClr val="tx1"/>
                            </a:solidFill>
                          </a:ln>
                          <a:solidFill>
                            <a:schemeClr val="tx1"/>
                          </a:solidFill>
                          <a:effectLst/>
                          <a:latin typeface="+mn-lt"/>
                          <a:cs typeface="Times New Roman" panose="02020603050405020304" pitchFamily="18" charset="0"/>
                        </a:rPr>
                        <a:t>1.03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n>
                            <a:solidFill>
                              <a:schemeClr val="tx1"/>
                            </a:solidFill>
                          </a:ln>
                          <a:solidFill>
                            <a:schemeClr val="tx1"/>
                          </a:solidFill>
                          <a:effectLst/>
                          <a:latin typeface="+mn-lt"/>
                          <a:cs typeface="Times New Roman" panose="02020603050405020304" pitchFamily="18" charset="0"/>
                        </a:rPr>
                        <a:t>102.3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99.7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0.97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58.0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58.7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11.3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n>
                            <a:solidFill>
                              <a:schemeClr val="tx1"/>
                            </a:solidFill>
                          </a:ln>
                          <a:solidFill>
                            <a:schemeClr val="tx1"/>
                          </a:solidFill>
                          <a:effectLst/>
                          <a:latin typeface="+mn-lt"/>
                          <a:cs typeface="Times New Roman" panose="02020603050405020304" pitchFamily="18" charset="0"/>
                        </a:rPr>
                        <a:t>1.07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0516391"/>
                  </a:ext>
                </a:extLst>
              </a:tr>
            </a:tbl>
          </a:graphicData>
        </a:graphic>
      </p:graphicFrame>
    </p:spTree>
    <p:extLst>
      <p:ext uri="{BB962C8B-B14F-4D97-AF65-F5344CB8AC3E}">
        <p14:creationId xmlns:p14="http://schemas.microsoft.com/office/powerpoint/2010/main" val="356903960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D10A-E1C7-4235-700C-7FB642E27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D4942-AE8A-9D51-3FEB-197E6319767A}"/>
              </a:ext>
            </a:extLst>
          </p:cNvPr>
          <p:cNvSpPr>
            <a:spLocks noGrp="1"/>
          </p:cNvSpPr>
          <p:nvPr>
            <p:ph type="title"/>
          </p:nvPr>
        </p:nvSpPr>
        <p:spPr>
          <a:xfrm>
            <a:off x="1348752" y="2939757"/>
            <a:ext cx="9715500" cy="978486"/>
          </a:xfrm>
        </p:spPr>
        <p:txBody>
          <a:bodyPr/>
          <a:lstStyle/>
          <a:p>
            <a:pPr algn="ctr"/>
            <a:r>
              <a:rPr lang="en-US"/>
              <a:t>Stylized Facts and Trends</a:t>
            </a:r>
            <a:br>
              <a:rPr lang="en-US"/>
            </a:br>
            <a:r>
              <a:rPr lang="en-US"/>
              <a:t>Not in Employment, Education, or Training (NEET)</a:t>
            </a:r>
          </a:p>
        </p:txBody>
      </p:sp>
    </p:spTree>
    <p:extLst>
      <p:ext uri="{BB962C8B-B14F-4D97-AF65-F5344CB8AC3E}">
        <p14:creationId xmlns:p14="http://schemas.microsoft.com/office/powerpoint/2010/main" val="423919577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4B5A3-FA4B-A806-4ECC-BEFC5E31164E}"/>
              </a:ext>
            </a:extLst>
          </p:cNvPr>
          <p:cNvSpPr>
            <a:spLocks noGrp="1"/>
          </p:cNvSpPr>
          <p:nvPr>
            <p:ph type="title"/>
          </p:nvPr>
        </p:nvSpPr>
        <p:spPr>
          <a:xfrm>
            <a:off x="325438" y="398788"/>
            <a:ext cx="9715500" cy="978486"/>
          </a:xfrm>
        </p:spPr>
        <p:txBody>
          <a:bodyPr/>
          <a:lstStyle/>
          <a:p>
            <a:r>
              <a:rPr lang="en-US"/>
              <a:t>Disruptions in school‑to‑work transitions have macrocritical consequences</a:t>
            </a:r>
          </a:p>
        </p:txBody>
      </p:sp>
      <p:sp>
        <p:nvSpPr>
          <p:cNvPr id="6" name="TextBox 5">
            <a:extLst>
              <a:ext uri="{FF2B5EF4-FFF2-40B4-BE49-F238E27FC236}">
                <a16:creationId xmlns:a16="http://schemas.microsoft.com/office/drawing/2014/main" id="{1A7B4CD3-8F22-F7E3-4ED2-CC6B0B6B8761}"/>
              </a:ext>
            </a:extLst>
          </p:cNvPr>
          <p:cNvSpPr txBox="1"/>
          <p:nvPr/>
        </p:nvSpPr>
        <p:spPr>
          <a:xfrm>
            <a:off x="1087779" y="1649689"/>
            <a:ext cx="9715500" cy="4401205"/>
          </a:xfrm>
          <a:prstGeom prst="rect">
            <a:avLst/>
          </a:prstGeom>
          <a:noFill/>
        </p:spPr>
        <p:txBody>
          <a:bodyPr wrap="square">
            <a:spAutoFit/>
          </a:bodyPr>
          <a:lstStyle/>
          <a:p>
            <a:pPr marL="342900" indent="-342900">
              <a:buFont typeface="Arial" panose="020B0604020202020204" pitchFamily="34" charset="0"/>
              <a:buChar char="•"/>
            </a:pPr>
            <a:r>
              <a:rPr lang="en-US" sz="2000"/>
              <a:t>Smooth transitions from education to employment are critical for human capital utilization, productivity, and long‑run growth.</a:t>
            </a:r>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r>
              <a:rPr lang="en-US" sz="2000"/>
              <a:t>When young people struggle to enter work or training, skills depreciate, attachment to the labor force weakens, and scarring risks rise.</a:t>
            </a:r>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r>
              <a:rPr lang="en-US" sz="2000"/>
              <a:t>Weak school‑to‑work transitions reduce the economy’s ability to reallocate labor as structural change and shocks occur.</a:t>
            </a:r>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r>
              <a:rPr lang="en-US" sz="2000"/>
              <a:t>From a macro perspective, persistent youth disengagement weighs on potential output, fiscal revenues, and economic resilience. </a:t>
            </a:r>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r>
              <a:rPr lang="en-US" sz="2000"/>
              <a:t>NEET rates provide a summary indicator of these transition failures and their macroeconomic cost.</a:t>
            </a:r>
          </a:p>
        </p:txBody>
      </p:sp>
    </p:spTree>
    <p:extLst>
      <p:ext uri="{BB962C8B-B14F-4D97-AF65-F5344CB8AC3E}">
        <p14:creationId xmlns:p14="http://schemas.microsoft.com/office/powerpoint/2010/main" val="381523389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312689" y="113749"/>
            <a:ext cx="11795219" cy="978486"/>
          </a:xfrm>
        </p:spPr>
        <p:txBody>
          <a:bodyPr>
            <a:noAutofit/>
          </a:bodyPr>
          <a:lstStyle/>
          <a:p>
            <a:r>
              <a:rPr lang="en-US">
                <a:latin typeface="Arial Black"/>
              </a:rPr>
              <a:t>High NEET rates signal structural barriers to labor market entry. </a:t>
            </a:r>
            <a:endParaRPr lang="en-US" sz="3200">
              <a:latin typeface="Arial Black"/>
            </a:endParaRPr>
          </a:p>
        </p:txBody>
      </p:sp>
      <p:sp>
        <p:nvSpPr>
          <p:cNvPr id="9" name="TextBox 8">
            <a:extLst>
              <a:ext uri="{FF2B5EF4-FFF2-40B4-BE49-F238E27FC236}">
                <a16:creationId xmlns:a16="http://schemas.microsoft.com/office/drawing/2014/main" id="{533AC638-9241-4C7A-B640-8B6643808889}"/>
              </a:ext>
            </a:extLst>
          </p:cNvPr>
          <p:cNvSpPr txBox="1"/>
          <p:nvPr/>
        </p:nvSpPr>
        <p:spPr>
          <a:xfrm>
            <a:off x="-369044" y="1112118"/>
            <a:ext cx="12191999" cy="338554"/>
          </a:xfrm>
          <a:prstGeom prst="rect">
            <a:avLst/>
          </a:prstGeom>
          <a:noFill/>
        </p:spPr>
        <p:txBody>
          <a:bodyPr wrap="square" rtlCol="0">
            <a:spAutoFit/>
          </a:bodyP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tx2"/>
                </a:solidFill>
                <a:effectLst/>
                <a:uLnTx/>
                <a:uFillTx/>
                <a:latin typeface="Arial Black" panose="020B0A04020102020204" pitchFamily="34" charset="0"/>
              </a:rPr>
              <a:t>Gap Between Male and Female Rates of</a:t>
            </a:r>
            <a:r>
              <a:rPr lang="en-GB" sz="1600" b="1">
                <a:solidFill>
                  <a:schemeClr val="tx2"/>
                </a:solidFill>
                <a:latin typeface="Arial Black" panose="020B0A04020102020204" pitchFamily="34" charset="0"/>
              </a:rPr>
              <a:t> </a:t>
            </a:r>
            <a:r>
              <a:rPr kumimoji="0" lang="en-GB" sz="1600" b="1" i="0" u="none" strike="noStrike" kern="1200" cap="none" spc="0" normalizeH="0" baseline="0" noProof="0">
                <a:ln>
                  <a:noFill/>
                </a:ln>
                <a:solidFill>
                  <a:schemeClr val="tx2"/>
                </a:solidFill>
                <a:effectLst/>
                <a:uLnTx/>
                <a:uFillTx/>
                <a:latin typeface="Arial Black" panose="020B0A04020102020204" pitchFamily="34" charset="0"/>
              </a:rPr>
              <a:t>NEET (ages 15-24)</a:t>
            </a:r>
            <a:r>
              <a:rPr kumimoji="0" lang="en-GB" sz="1600" i="0" u="none" strike="noStrike" kern="1200" cap="none" spc="0" normalizeH="0" baseline="0" noProof="0">
                <a:ln>
                  <a:noFill/>
                </a:ln>
                <a:solidFill>
                  <a:schemeClr val="tx2"/>
                </a:solidFill>
                <a:effectLst/>
                <a:uLnTx/>
                <a:uFillTx/>
                <a:latin typeface="Arial Black" panose="020B0A04020102020204" pitchFamily="34" charset="0"/>
              </a:rPr>
              <a:t>, 2024 or latest year available </a:t>
            </a:r>
            <a:endParaRPr kumimoji="0" lang="en-US" sz="1600" i="0" u="none" strike="noStrike" kern="1200" cap="none" spc="0" normalizeH="0" baseline="0" noProof="0">
              <a:ln>
                <a:noFill/>
              </a:ln>
              <a:solidFill>
                <a:schemeClr val="tx2"/>
              </a:solidFill>
              <a:effectLst/>
              <a:uLnTx/>
              <a:uFillTx/>
              <a:latin typeface="Arial Black" panose="020B0A04020102020204" pitchFamily="34" charset="0"/>
            </a:endParaRPr>
          </a:p>
        </p:txBody>
      </p:sp>
      <p:sp>
        <p:nvSpPr>
          <p:cNvPr id="11" name="TextBox 10">
            <a:extLst>
              <a:ext uri="{FF2B5EF4-FFF2-40B4-BE49-F238E27FC236}">
                <a16:creationId xmlns:a16="http://schemas.microsoft.com/office/drawing/2014/main" id="{45EAB8AD-4BB6-448C-871A-3E1EA8163B91}"/>
              </a:ext>
            </a:extLst>
          </p:cNvPr>
          <p:cNvSpPr txBox="1"/>
          <p:nvPr/>
        </p:nvSpPr>
        <p:spPr>
          <a:xfrm>
            <a:off x="139214" y="5579589"/>
            <a:ext cx="1371601" cy="1077218"/>
          </a:xfrm>
          <a:prstGeom prst="rect">
            <a:avLst/>
          </a:prstGeom>
          <a:noFill/>
        </p:spPr>
        <p:txBody>
          <a:bodyPr wrap="square">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000000"/>
                </a:solidFill>
                <a:effectLst/>
                <a:uLnTx/>
                <a:uFillTx/>
                <a:ea typeface="+mn-ea"/>
                <a:cs typeface="+mn-cs"/>
              </a:rPr>
              <a:t>Source: </a:t>
            </a:r>
            <a:r>
              <a:rPr lang="en-US" sz="1600">
                <a:hlinkClick r:id="rId3"/>
              </a:rPr>
              <a:t>World Bank Gender Data Portal</a:t>
            </a:r>
            <a:endParaRPr kumimoji="0" lang="en-US" sz="1600" b="0" u="none" strike="noStrike" kern="1200" cap="none" spc="0" normalizeH="0" baseline="0" noProof="0">
              <a:ln>
                <a:noFill/>
              </a:ln>
              <a:solidFill>
                <a:srgbClr val="000000"/>
              </a:solidFill>
              <a:effectLst/>
              <a:uLnTx/>
              <a:uFillTx/>
              <a:ea typeface="+mn-ea"/>
              <a:cs typeface="+mn-cs"/>
            </a:endParaRPr>
          </a:p>
        </p:txBody>
      </p:sp>
      <p:pic>
        <p:nvPicPr>
          <p:cNvPr id="3" name="Picture 2">
            <a:extLst>
              <a:ext uri="{FF2B5EF4-FFF2-40B4-BE49-F238E27FC236}">
                <a16:creationId xmlns:a16="http://schemas.microsoft.com/office/drawing/2014/main" id="{7C5BD5DE-F9E4-80CB-0E6E-70A8E1CE8DB3}"/>
              </a:ext>
            </a:extLst>
          </p:cNvPr>
          <p:cNvPicPr>
            <a:picLocks noChangeAspect="1"/>
          </p:cNvPicPr>
          <p:nvPr/>
        </p:nvPicPr>
        <p:blipFill>
          <a:blip r:embed="rId4"/>
          <a:stretch>
            <a:fillRect/>
          </a:stretch>
        </p:blipFill>
        <p:spPr>
          <a:xfrm>
            <a:off x="1395328" y="1484867"/>
            <a:ext cx="7507094" cy="4733359"/>
          </a:xfrm>
          <a:prstGeom prst="rect">
            <a:avLst/>
          </a:prstGeom>
        </p:spPr>
      </p:pic>
      <p:pic>
        <p:nvPicPr>
          <p:cNvPr id="7" name="Picture 6">
            <a:extLst>
              <a:ext uri="{FF2B5EF4-FFF2-40B4-BE49-F238E27FC236}">
                <a16:creationId xmlns:a16="http://schemas.microsoft.com/office/drawing/2014/main" id="{34C5AE96-8D9E-41D6-1BA7-1433F18EE8C5}"/>
              </a:ext>
            </a:extLst>
          </p:cNvPr>
          <p:cNvPicPr>
            <a:picLocks noChangeAspect="1"/>
          </p:cNvPicPr>
          <p:nvPr/>
        </p:nvPicPr>
        <p:blipFill>
          <a:blip r:embed="rId5"/>
          <a:stretch>
            <a:fillRect/>
          </a:stretch>
        </p:blipFill>
        <p:spPr>
          <a:xfrm>
            <a:off x="1603121" y="6118198"/>
            <a:ext cx="9641100" cy="646330"/>
          </a:xfrm>
          <a:prstGeom prst="rect">
            <a:avLst/>
          </a:prstGeom>
        </p:spPr>
      </p:pic>
      <p:sp>
        <p:nvSpPr>
          <p:cNvPr id="8" name="TextBox 7">
            <a:extLst>
              <a:ext uri="{FF2B5EF4-FFF2-40B4-BE49-F238E27FC236}">
                <a16:creationId xmlns:a16="http://schemas.microsoft.com/office/drawing/2014/main" id="{70FD4555-09EB-AA5C-381B-D5BDA4EACFD6}"/>
              </a:ext>
            </a:extLst>
          </p:cNvPr>
          <p:cNvSpPr txBox="1"/>
          <p:nvPr/>
        </p:nvSpPr>
        <p:spPr>
          <a:xfrm>
            <a:off x="8657863" y="1484867"/>
            <a:ext cx="3303697" cy="4524315"/>
          </a:xfrm>
          <a:prstGeom prst="rect">
            <a:avLst/>
          </a:prstGeom>
          <a:noFill/>
        </p:spPr>
        <p:txBody>
          <a:bodyPr wrap="square">
            <a:spAutoFit/>
          </a:bodyPr>
          <a:lstStyle/>
          <a:p>
            <a:r>
              <a:rPr lang="en-US">
                <a:solidFill>
                  <a:schemeClr val="tx2"/>
                </a:solidFill>
              </a:rPr>
              <a:t>Elevated NEET rates imply underutilized labor and lost human capital, with adverse effects on productivity and long‑term growth.</a:t>
            </a:r>
          </a:p>
          <a:p>
            <a:endParaRPr lang="en-US">
              <a:solidFill>
                <a:schemeClr val="tx2"/>
              </a:solidFill>
            </a:endParaRPr>
          </a:p>
          <a:p>
            <a:r>
              <a:rPr lang="en-US">
                <a:solidFill>
                  <a:schemeClr val="tx2"/>
                </a:solidFill>
              </a:rPr>
              <a:t>Higher NEET rates among young women often reflect structural constraints.</a:t>
            </a:r>
          </a:p>
          <a:p>
            <a:endParaRPr lang="en-US">
              <a:solidFill>
                <a:schemeClr val="tx2"/>
              </a:solidFill>
            </a:endParaRPr>
          </a:p>
          <a:p>
            <a:r>
              <a:rPr lang="en-US">
                <a:solidFill>
                  <a:schemeClr val="tx2"/>
                </a:solidFill>
              </a:rPr>
              <a:t>Persistent disengagement during early working years can lead to scarring, weaker attachment to the labor market, and slower post‑shock recovery.</a:t>
            </a:r>
          </a:p>
        </p:txBody>
      </p:sp>
    </p:spTree>
    <p:extLst>
      <p:ext uri="{BB962C8B-B14F-4D97-AF65-F5344CB8AC3E}">
        <p14:creationId xmlns:p14="http://schemas.microsoft.com/office/powerpoint/2010/main" val="414224188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FD79A-C0FD-14F7-5DC3-A6FFA7768E79}"/>
              </a:ext>
            </a:extLst>
          </p:cNvPr>
          <p:cNvSpPr>
            <a:spLocks noGrp="1"/>
          </p:cNvSpPr>
          <p:nvPr>
            <p:ph type="title"/>
          </p:nvPr>
        </p:nvSpPr>
        <p:spPr>
          <a:xfrm>
            <a:off x="310586" y="233720"/>
            <a:ext cx="11576613" cy="978486"/>
          </a:xfrm>
        </p:spPr>
        <p:txBody>
          <a:bodyPr>
            <a:normAutofit fontScale="90000"/>
          </a:bodyPr>
          <a:lstStyle/>
          <a:p>
            <a:r>
              <a:rPr lang="en-US" sz="3100">
                <a:latin typeface="Arial Black" panose="020B0A04020102020204" pitchFamily="34" charset="0"/>
              </a:rPr>
              <a:t>NEET gaps point to the need for more granular diagnostics and tailored macro policies</a:t>
            </a:r>
            <a:r>
              <a:rPr lang="en-GB" sz="3100">
                <a:latin typeface="Arial Black" panose="020B0A04020102020204" pitchFamily="34" charset="0"/>
              </a:rPr>
              <a:t> </a:t>
            </a:r>
            <a:br>
              <a:rPr lang="en-US">
                <a:latin typeface="Arial Black" panose="020B0A04020102020204" pitchFamily="34" charset="0"/>
              </a:rPr>
            </a:br>
            <a:endParaRPr lang="en-US"/>
          </a:p>
        </p:txBody>
      </p:sp>
      <p:sp>
        <p:nvSpPr>
          <p:cNvPr id="5" name="TextBox 4">
            <a:extLst>
              <a:ext uri="{FF2B5EF4-FFF2-40B4-BE49-F238E27FC236}">
                <a16:creationId xmlns:a16="http://schemas.microsoft.com/office/drawing/2014/main" id="{BEA87008-DB25-2F6E-3196-3CD1F3C58DAC}"/>
              </a:ext>
            </a:extLst>
          </p:cNvPr>
          <p:cNvSpPr txBox="1"/>
          <p:nvPr/>
        </p:nvSpPr>
        <p:spPr>
          <a:xfrm>
            <a:off x="154236" y="6392403"/>
            <a:ext cx="5331115" cy="338554"/>
          </a:xfrm>
          <a:prstGeom prst="rect">
            <a:avLst/>
          </a:prstGeom>
          <a:noFill/>
        </p:spPr>
        <p:txBody>
          <a:bodyPr wrap="square" rtlCol="0">
            <a:spAutoFit/>
          </a:bodyPr>
          <a:lstStyle/>
          <a:p>
            <a:r>
              <a:rPr lang="en-US" sz="1600"/>
              <a:t>Source: World Bank Gender Data Portal</a:t>
            </a:r>
          </a:p>
        </p:txBody>
      </p:sp>
      <p:sp>
        <p:nvSpPr>
          <p:cNvPr id="9" name="TextBox 8">
            <a:extLst>
              <a:ext uri="{FF2B5EF4-FFF2-40B4-BE49-F238E27FC236}">
                <a16:creationId xmlns:a16="http://schemas.microsoft.com/office/drawing/2014/main" id="{4D88CB96-B5BD-D603-1516-E2877A278133}"/>
              </a:ext>
            </a:extLst>
          </p:cNvPr>
          <p:cNvSpPr txBox="1"/>
          <p:nvPr/>
        </p:nvSpPr>
        <p:spPr>
          <a:xfrm>
            <a:off x="154236" y="1009755"/>
            <a:ext cx="9027797" cy="369332"/>
          </a:xfrm>
          <a:prstGeom prst="rect">
            <a:avLst/>
          </a:prstGeom>
          <a:noFill/>
        </p:spPr>
        <p:txBody>
          <a:bodyPr wrap="square">
            <a:spAutoFit/>
          </a:bodyPr>
          <a:lstStyle/>
          <a:p>
            <a:pPr algn="ctr"/>
            <a:r>
              <a:rPr lang="en-GB" b="1">
                <a:solidFill>
                  <a:schemeClr val="tx2"/>
                </a:solidFill>
              </a:rPr>
              <a:t>NEET Rate, Ages 15-24, 2024 or latest year available, by sex (%) </a:t>
            </a:r>
            <a:endParaRPr lang="en-US" b="1">
              <a:solidFill>
                <a:schemeClr val="tx2"/>
              </a:solidFill>
            </a:endParaRPr>
          </a:p>
        </p:txBody>
      </p:sp>
      <p:pic>
        <p:nvPicPr>
          <p:cNvPr id="3" name="Picture 2">
            <a:extLst>
              <a:ext uri="{FF2B5EF4-FFF2-40B4-BE49-F238E27FC236}">
                <a16:creationId xmlns:a16="http://schemas.microsoft.com/office/drawing/2014/main" id="{8D046AFD-48F4-3CFE-D540-C7CD2F660719}"/>
              </a:ext>
            </a:extLst>
          </p:cNvPr>
          <p:cNvPicPr>
            <a:picLocks noChangeAspect="1"/>
          </p:cNvPicPr>
          <p:nvPr/>
        </p:nvPicPr>
        <p:blipFill>
          <a:blip r:embed="rId2"/>
          <a:stretch>
            <a:fillRect/>
          </a:stretch>
        </p:blipFill>
        <p:spPr>
          <a:xfrm>
            <a:off x="304801" y="1496923"/>
            <a:ext cx="8247599" cy="4829406"/>
          </a:xfrm>
          <a:prstGeom prst="rect">
            <a:avLst/>
          </a:prstGeom>
        </p:spPr>
      </p:pic>
      <p:sp>
        <p:nvSpPr>
          <p:cNvPr id="6" name="TextBox 5">
            <a:extLst>
              <a:ext uri="{FF2B5EF4-FFF2-40B4-BE49-F238E27FC236}">
                <a16:creationId xmlns:a16="http://schemas.microsoft.com/office/drawing/2014/main" id="{AA3A8A7F-7D22-1DB4-0A07-8BEB5392D793}"/>
              </a:ext>
            </a:extLst>
          </p:cNvPr>
          <p:cNvSpPr txBox="1"/>
          <p:nvPr/>
        </p:nvSpPr>
        <p:spPr>
          <a:xfrm>
            <a:off x="8900933" y="921583"/>
            <a:ext cx="2980481" cy="5632311"/>
          </a:xfrm>
          <a:prstGeom prst="rect">
            <a:avLst/>
          </a:prstGeom>
          <a:noFill/>
        </p:spPr>
        <p:txBody>
          <a:bodyPr wrap="square">
            <a:spAutoFit/>
          </a:bodyPr>
          <a:lstStyle/>
          <a:p>
            <a:r>
              <a:rPr lang="en-US">
                <a:solidFill>
                  <a:schemeClr val="tx2"/>
                </a:solidFill>
              </a:rPr>
              <a:t>NEET rates aggregate multiple constraints—education, labor markets, care responsibilities, informality, and demand conditions—into a single indicator of disengagement.</a:t>
            </a:r>
          </a:p>
          <a:p>
            <a:endParaRPr lang="en-US">
              <a:solidFill>
                <a:schemeClr val="tx2"/>
              </a:solidFill>
            </a:endParaRPr>
          </a:p>
          <a:p>
            <a:r>
              <a:rPr lang="en-US">
                <a:solidFill>
                  <a:schemeClr val="tx2"/>
                </a:solidFill>
              </a:rPr>
              <a:t>Large gender gaps highlight where macro policies may not be reaching all segments of the population equally.</a:t>
            </a:r>
          </a:p>
          <a:p>
            <a:endParaRPr lang="en-US">
              <a:solidFill>
                <a:schemeClr val="tx2"/>
              </a:solidFill>
            </a:endParaRPr>
          </a:p>
          <a:p>
            <a:r>
              <a:rPr lang="en-US">
                <a:solidFill>
                  <a:schemeClr val="tx2"/>
                </a:solidFill>
              </a:rPr>
              <a:t>Designing effective policy responses requires going beyond averages to identify which groups are disengaged and why.</a:t>
            </a:r>
          </a:p>
        </p:txBody>
      </p:sp>
    </p:spTree>
    <p:extLst>
      <p:ext uri="{BB962C8B-B14F-4D97-AF65-F5344CB8AC3E}">
        <p14:creationId xmlns:p14="http://schemas.microsoft.com/office/powerpoint/2010/main" val="183466655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1057A-C25F-2CB1-7E6C-C1129C76E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30712-300C-E54C-551F-B8A4BBAF97B9}"/>
              </a:ext>
            </a:extLst>
          </p:cNvPr>
          <p:cNvSpPr>
            <a:spLocks noGrp="1"/>
          </p:cNvSpPr>
          <p:nvPr>
            <p:ph type="title"/>
          </p:nvPr>
        </p:nvSpPr>
        <p:spPr>
          <a:xfrm>
            <a:off x="1348752" y="2939757"/>
            <a:ext cx="9715500" cy="978486"/>
          </a:xfrm>
        </p:spPr>
        <p:txBody>
          <a:bodyPr/>
          <a:lstStyle/>
          <a:p>
            <a:pPr algn="ctr"/>
            <a:r>
              <a:rPr lang="en-US"/>
              <a:t>Stylized Facts and Trends</a:t>
            </a:r>
            <a:br>
              <a:rPr lang="en-US"/>
            </a:br>
            <a:r>
              <a:rPr lang="en-US"/>
              <a:t>Financial Inclusion</a:t>
            </a:r>
          </a:p>
        </p:txBody>
      </p:sp>
    </p:spTree>
    <p:extLst>
      <p:ext uri="{BB962C8B-B14F-4D97-AF65-F5344CB8AC3E}">
        <p14:creationId xmlns:p14="http://schemas.microsoft.com/office/powerpoint/2010/main" val="250346928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374712" y="199503"/>
            <a:ext cx="11468421" cy="978486"/>
          </a:xfrm>
        </p:spPr>
        <p:txBody>
          <a:bodyPr>
            <a:noAutofit/>
          </a:bodyPr>
          <a:lstStyle/>
          <a:p>
            <a:r>
              <a:rPr lang="en-US" dirty="0">
                <a:latin typeface="Arial Black"/>
              </a:rPr>
              <a:t>The female rate of account ownership is about 9 percentage points lower than the male rate in SSA. </a:t>
            </a:r>
          </a:p>
        </p:txBody>
      </p:sp>
      <p:sp>
        <p:nvSpPr>
          <p:cNvPr id="6" name="TextBox 5">
            <a:extLst>
              <a:ext uri="{FF2B5EF4-FFF2-40B4-BE49-F238E27FC236}">
                <a16:creationId xmlns:a16="http://schemas.microsoft.com/office/drawing/2014/main" id="{D3A9F0D5-ADC4-384E-B156-31DA4D2CB1C9}"/>
              </a:ext>
            </a:extLst>
          </p:cNvPr>
          <p:cNvSpPr txBox="1"/>
          <p:nvPr/>
        </p:nvSpPr>
        <p:spPr>
          <a:xfrm>
            <a:off x="170619" y="6289165"/>
            <a:ext cx="11850761" cy="338554"/>
          </a:xfrm>
          <a:prstGeom prst="rect">
            <a:avLst/>
          </a:prstGeom>
          <a:noFill/>
        </p:spPr>
        <p:txBody>
          <a:bodyPr wrap="square">
            <a:spAutoFit/>
          </a:bodyPr>
          <a:lstStyle/>
          <a:p>
            <a:pPr algn="l" rtl="0">
              <a:defRPr sz="1000"/>
            </a:pPr>
            <a:r>
              <a:rPr lang="en-US" sz="1600"/>
              <a:t>Note: AFR (IMF Africa Department); EMs (Emerging Markets); AEs (Advanced Economies)</a:t>
            </a:r>
          </a:p>
        </p:txBody>
      </p:sp>
      <p:sp>
        <p:nvSpPr>
          <p:cNvPr id="16" name="TextBox 15">
            <a:extLst>
              <a:ext uri="{FF2B5EF4-FFF2-40B4-BE49-F238E27FC236}">
                <a16:creationId xmlns:a16="http://schemas.microsoft.com/office/drawing/2014/main" id="{D2D7FB4A-607B-0854-8C84-4DE3C8B122EF}"/>
              </a:ext>
            </a:extLst>
          </p:cNvPr>
          <p:cNvSpPr txBox="1"/>
          <p:nvPr/>
        </p:nvSpPr>
        <p:spPr>
          <a:xfrm>
            <a:off x="2560320" y="1241363"/>
            <a:ext cx="7669530" cy="369332"/>
          </a:xfrm>
          <a:prstGeom prst="rect">
            <a:avLst/>
          </a:prstGeom>
          <a:noFill/>
        </p:spPr>
        <p:txBody>
          <a:bodyPr wrap="square" rtlCol="0">
            <a:spAutoFit/>
          </a:bodyPr>
          <a:lstStyle/>
          <a:p>
            <a:r>
              <a:rPr lang="en-US" b="1">
                <a:solidFill>
                  <a:schemeClr val="tx2"/>
                </a:solidFill>
              </a:rPr>
              <a:t>Account Ownership by Gender, 2024 or Latest Year (percent)</a:t>
            </a:r>
          </a:p>
        </p:txBody>
      </p:sp>
      <p:sp>
        <p:nvSpPr>
          <p:cNvPr id="17" name="TextBox 16">
            <a:extLst>
              <a:ext uri="{FF2B5EF4-FFF2-40B4-BE49-F238E27FC236}">
                <a16:creationId xmlns:a16="http://schemas.microsoft.com/office/drawing/2014/main" id="{560E7E1B-4C33-A09C-EC42-65ADD3EB0150}"/>
              </a:ext>
            </a:extLst>
          </p:cNvPr>
          <p:cNvSpPr txBox="1"/>
          <p:nvPr/>
        </p:nvSpPr>
        <p:spPr>
          <a:xfrm>
            <a:off x="170619" y="5953995"/>
            <a:ext cx="5331115" cy="338554"/>
          </a:xfrm>
          <a:prstGeom prst="rect">
            <a:avLst/>
          </a:prstGeom>
          <a:noFill/>
        </p:spPr>
        <p:txBody>
          <a:bodyPr wrap="square" rtlCol="0">
            <a:spAutoFit/>
          </a:bodyPr>
          <a:lstStyle/>
          <a:p>
            <a:r>
              <a:rPr lang="en-US" sz="1600"/>
              <a:t>Source: World Bank Gender Data Portal</a:t>
            </a:r>
          </a:p>
        </p:txBody>
      </p:sp>
      <p:pic>
        <p:nvPicPr>
          <p:cNvPr id="7" name="Picture 6">
            <a:extLst>
              <a:ext uri="{FF2B5EF4-FFF2-40B4-BE49-F238E27FC236}">
                <a16:creationId xmlns:a16="http://schemas.microsoft.com/office/drawing/2014/main" id="{14C910C9-CC02-F09D-DD1C-1F6A933A2F6F}"/>
              </a:ext>
            </a:extLst>
          </p:cNvPr>
          <p:cNvPicPr>
            <a:picLocks noChangeAspect="1"/>
          </p:cNvPicPr>
          <p:nvPr/>
        </p:nvPicPr>
        <p:blipFill>
          <a:blip r:embed="rId3"/>
          <a:stretch>
            <a:fillRect/>
          </a:stretch>
        </p:blipFill>
        <p:spPr>
          <a:xfrm>
            <a:off x="6377323" y="1818794"/>
            <a:ext cx="5376087" cy="4037665"/>
          </a:xfrm>
          <a:prstGeom prst="rect">
            <a:avLst/>
          </a:prstGeom>
        </p:spPr>
      </p:pic>
      <p:pic>
        <p:nvPicPr>
          <p:cNvPr id="8" name="Picture 7">
            <a:extLst>
              <a:ext uri="{FF2B5EF4-FFF2-40B4-BE49-F238E27FC236}">
                <a16:creationId xmlns:a16="http://schemas.microsoft.com/office/drawing/2014/main" id="{4BF30C81-672F-258A-738B-355346428C80}"/>
              </a:ext>
            </a:extLst>
          </p:cNvPr>
          <p:cNvPicPr>
            <a:picLocks noChangeAspect="1"/>
          </p:cNvPicPr>
          <p:nvPr/>
        </p:nvPicPr>
        <p:blipFill>
          <a:blip r:embed="rId4"/>
          <a:stretch>
            <a:fillRect/>
          </a:stretch>
        </p:blipFill>
        <p:spPr>
          <a:xfrm>
            <a:off x="537130" y="1610695"/>
            <a:ext cx="5571792" cy="4159310"/>
          </a:xfrm>
          <a:prstGeom prst="rect">
            <a:avLst/>
          </a:prstGeom>
        </p:spPr>
      </p:pic>
    </p:spTree>
    <p:extLst>
      <p:ext uri="{BB962C8B-B14F-4D97-AF65-F5344CB8AC3E}">
        <p14:creationId xmlns:p14="http://schemas.microsoft.com/office/powerpoint/2010/main" val="44746065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2574-6CC3-308D-279C-A9BB2445E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31770-F4CA-BA48-6D1B-5BC8A56EAAE7}"/>
              </a:ext>
            </a:extLst>
          </p:cNvPr>
          <p:cNvSpPr>
            <a:spLocks noGrp="1"/>
          </p:cNvSpPr>
          <p:nvPr>
            <p:ph type="title"/>
          </p:nvPr>
        </p:nvSpPr>
        <p:spPr>
          <a:xfrm>
            <a:off x="1348752" y="2939757"/>
            <a:ext cx="9715500" cy="978486"/>
          </a:xfrm>
        </p:spPr>
        <p:txBody>
          <a:bodyPr/>
          <a:lstStyle/>
          <a:p>
            <a:pPr algn="ctr"/>
            <a:r>
              <a:rPr lang="en-US"/>
              <a:t>Stylized Facts and Trends</a:t>
            </a:r>
            <a:br>
              <a:rPr lang="en-US"/>
            </a:br>
            <a:r>
              <a:rPr lang="en-US"/>
              <a:t>Legal Barriers</a:t>
            </a:r>
          </a:p>
        </p:txBody>
      </p:sp>
    </p:spTree>
    <p:extLst>
      <p:ext uri="{BB962C8B-B14F-4D97-AF65-F5344CB8AC3E}">
        <p14:creationId xmlns:p14="http://schemas.microsoft.com/office/powerpoint/2010/main" val="82737286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326104" y="33817"/>
            <a:ext cx="11618245" cy="978486"/>
          </a:xfrm>
        </p:spPr>
        <p:txBody>
          <a:bodyPr>
            <a:noAutofit/>
          </a:bodyPr>
          <a:lstStyle/>
          <a:p>
            <a:r>
              <a:rPr lang="en-US">
                <a:latin typeface="Arial Black"/>
              </a:rPr>
              <a:t>Countries have made much progress on legal reforms, but barriers remain.</a:t>
            </a:r>
          </a:p>
        </p:txBody>
      </p:sp>
      <p:sp>
        <p:nvSpPr>
          <p:cNvPr id="8" name="Rectangle 7">
            <a:extLst>
              <a:ext uri="{FF2B5EF4-FFF2-40B4-BE49-F238E27FC236}">
                <a16:creationId xmlns:a16="http://schemas.microsoft.com/office/drawing/2014/main" id="{1360DF1B-0397-4248-9A55-08D783BE96E7}"/>
              </a:ext>
            </a:extLst>
          </p:cNvPr>
          <p:cNvSpPr/>
          <p:nvPr/>
        </p:nvSpPr>
        <p:spPr>
          <a:xfrm>
            <a:off x="2624805" y="1079798"/>
            <a:ext cx="6623335" cy="369332"/>
          </a:xfrm>
          <a:prstGeom prst="rect">
            <a:avLst/>
          </a:prstGeom>
        </p:spPr>
        <p:txBody>
          <a:bodyPr wrap="square">
            <a:spAutoFit/>
          </a:bodyPr>
          <a:lstStyle/>
          <a:p>
            <a:pPr>
              <a:lnSpc>
                <a:spcPct val="90000"/>
              </a:lnSpc>
              <a:spcBef>
                <a:spcPct val="0"/>
              </a:spcBef>
            </a:pPr>
            <a:r>
              <a:rPr lang="en-US" sz="2000" b="1" dirty="0">
                <a:solidFill>
                  <a:schemeClr val="tx2"/>
                </a:solidFill>
                <a:latin typeface="Arial Black" charset="0"/>
              </a:rPr>
              <a:t>Women, Business and the Law</a:t>
            </a:r>
            <a:r>
              <a:rPr lang="en-US" sz="2000" dirty="0">
                <a:solidFill>
                  <a:schemeClr val="tx2"/>
                </a:solidFill>
                <a:latin typeface="Arial Black" charset="0"/>
              </a:rPr>
              <a:t> Index, 2023 </a:t>
            </a:r>
          </a:p>
        </p:txBody>
      </p:sp>
      <p:sp>
        <p:nvSpPr>
          <p:cNvPr id="13" name="Rectangle 12">
            <a:extLst>
              <a:ext uri="{FF2B5EF4-FFF2-40B4-BE49-F238E27FC236}">
                <a16:creationId xmlns:a16="http://schemas.microsoft.com/office/drawing/2014/main" id="{F8BC4B6B-515E-4728-A228-0A7E99D0783D}"/>
              </a:ext>
            </a:extLst>
          </p:cNvPr>
          <p:cNvSpPr/>
          <p:nvPr/>
        </p:nvSpPr>
        <p:spPr>
          <a:xfrm>
            <a:off x="419186" y="6388349"/>
            <a:ext cx="12174258" cy="313932"/>
          </a:xfrm>
          <a:prstGeom prst="rect">
            <a:avLst/>
          </a:prstGeom>
        </p:spPr>
        <p:txBody>
          <a:bodyPr wrap="square" lIns="91440" tIns="45720" rIns="91440" bIns="45720" anchor="t">
            <a:spAutoFit/>
          </a:bodyPr>
          <a:lstStyle/>
          <a:p>
            <a:pPr>
              <a:lnSpc>
                <a:spcPct val="90000"/>
              </a:lnSpc>
              <a:spcBef>
                <a:spcPct val="0"/>
              </a:spcBef>
            </a:pPr>
            <a:r>
              <a:rPr lang="en-US" sz="1600"/>
              <a:t>Source: </a:t>
            </a:r>
            <a:r>
              <a:rPr lang="en-US" sz="1600">
                <a:hlinkClick r:id="rId3"/>
              </a:rPr>
              <a:t>Women Business and the Law Index Score (scale 1-100) | World Bank Gender Data Portal</a:t>
            </a:r>
            <a:endParaRPr lang="en-US" sz="1600"/>
          </a:p>
        </p:txBody>
      </p:sp>
      <p:pic>
        <p:nvPicPr>
          <p:cNvPr id="5" name="Picture 4">
            <a:extLst>
              <a:ext uri="{FF2B5EF4-FFF2-40B4-BE49-F238E27FC236}">
                <a16:creationId xmlns:a16="http://schemas.microsoft.com/office/drawing/2014/main" id="{B6579CD8-F3F3-24D5-3B0B-AD9F68D5710F}"/>
              </a:ext>
            </a:extLst>
          </p:cNvPr>
          <p:cNvPicPr>
            <a:picLocks noChangeAspect="1"/>
          </p:cNvPicPr>
          <p:nvPr/>
        </p:nvPicPr>
        <p:blipFill>
          <a:blip r:embed="rId4"/>
          <a:stretch>
            <a:fillRect/>
          </a:stretch>
        </p:blipFill>
        <p:spPr>
          <a:xfrm>
            <a:off x="2189786" y="1369002"/>
            <a:ext cx="6937548" cy="4515024"/>
          </a:xfrm>
          <a:prstGeom prst="rect">
            <a:avLst/>
          </a:prstGeom>
        </p:spPr>
      </p:pic>
      <p:pic>
        <p:nvPicPr>
          <p:cNvPr id="9" name="Picture 8">
            <a:extLst>
              <a:ext uri="{FF2B5EF4-FFF2-40B4-BE49-F238E27FC236}">
                <a16:creationId xmlns:a16="http://schemas.microsoft.com/office/drawing/2014/main" id="{219601AC-230E-BDF5-51D4-5CDE26E8E2DB}"/>
              </a:ext>
            </a:extLst>
          </p:cNvPr>
          <p:cNvPicPr>
            <a:picLocks noChangeAspect="1"/>
          </p:cNvPicPr>
          <p:nvPr/>
        </p:nvPicPr>
        <p:blipFill>
          <a:blip r:embed="rId5"/>
          <a:stretch>
            <a:fillRect/>
          </a:stretch>
        </p:blipFill>
        <p:spPr>
          <a:xfrm>
            <a:off x="924398" y="5884026"/>
            <a:ext cx="9077816" cy="504323"/>
          </a:xfrm>
          <a:prstGeom prst="rect">
            <a:avLst/>
          </a:prstGeom>
        </p:spPr>
      </p:pic>
    </p:spTree>
    <p:extLst>
      <p:ext uri="{BB962C8B-B14F-4D97-AF65-F5344CB8AC3E}">
        <p14:creationId xmlns:p14="http://schemas.microsoft.com/office/powerpoint/2010/main" val="374767902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326105" y="33817"/>
            <a:ext cx="11003280" cy="978486"/>
          </a:xfrm>
        </p:spPr>
        <p:txBody>
          <a:bodyPr>
            <a:noAutofit/>
          </a:bodyPr>
          <a:lstStyle/>
          <a:p>
            <a:r>
              <a:rPr lang="en-US">
                <a:latin typeface="Arial Black"/>
              </a:rPr>
              <a:t>Key areas for potential legal reforms include “</a:t>
            </a:r>
            <a:r>
              <a:rPr lang="en-US" i="1">
                <a:latin typeface="Arial Black"/>
              </a:rPr>
              <a:t>Marriage</a:t>
            </a:r>
            <a:r>
              <a:rPr lang="en-US">
                <a:latin typeface="Arial Black"/>
              </a:rPr>
              <a:t>,” “</a:t>
            </a:r>
            <a:r>
              <a:rPr lang="en-US" i="1">
                <a:latin typeface="Arial Black"/>
              </a:rPr>
              <a:t>Parenthood</a:t>
            </a:r>
            <a:r>
              <a:rPr lang="en-US">
                <a:latin typeface="Arial Black"/>
              </a:rPr>
              <a:t>,” and “</a:t>
            </a:r>
            <a:r>
              <a:rPr lang="en-US" i="1">
                <a:latin typeface="Arial Black"/>
              </a:rPr>
              <a:t>Assets</a:t>
            </a:r>
            <a:r>
              <a:rPr lang="en-US">
                <a:latin typeface="Arial Black"/>
              </a:rPr>
              <a:t>” laws. </a:t>
            </a:r>
          </a:p>
        </p:txBody>
      </p:sp>
      <p:sp>
        <p:nvSpPr>
          <p:cNvPr id="7" name="Rectangle 6">
            <a:extLst>
              <a:ext uri="{FF2B5EF4-FFF2-40B4-BE49-F238E27FC236}">
                <a16:creationId xmlns:a16="http://schemas.microsoft.com/office/drawing/2014/main" id="{EC9FF3D4-7EE8-40D7-9AE3-75A7CC799263}"/>
              </a:ext>
            </a:extLst>
          </p:cNvPr>
          <p:cNvSpPr/>
          <p:nvPr/>
        </p:nvSpPr>
        <p:spPr>
          <a:xfrm>
            <a:off x="10361909" y="1916663"/>
            <a:ext cx="1707485" cy="3447098"/>
          </a:xfrm>
          <a:prstGeom prst="rect">
            <a:avLst/>
          </a:prstGeom>
          <a:ln>
            <a:solidFill>
              <a:srgbClr val="C00000"/>
            </a:solidFill>
          </a:ln>
        </p:spPr>
        <p:txBody>
          <a:bodyPr wrap="square">
            <a:spAutoFit/>
          </a:bodyPr>
          <a:lstStyle/>
          <a:p>
            <a:pPr>
              <a:spcAft>
                <a:spcPts val="600"/>
              </a:spcAft>
            </a:pPr>
            <a:r>
              <a:rPr lang="en-US" sz="1600" b="1">
                <a:solidFill>
                  <a:srgbClr val="C00000"/>
                </a:solidFill>
              </a:rPr>
              <a:t>Let’s Discuss: </a:t>
            </a:r>
          </a:p>
          <a:p>
            <a:pPr marL="228600" indent="-228600">
              <a:spcAft>
                <a:spcPts val="600"/>
              </a:spcAft>
              <a:buFont typeface="Arial" panose="020B0604020202020204" pitchFamily="34" charset="0"/>
              <a:buChar char="•"/>
            </a:pPr>
            <a:r>
              <a:rPr lang="en-US" sz="1600"/>
              <a:t>What legal restrictions on women exist in your country?  Use </a:t>
            </a:r>
            <a:r>
              <a:rPr lang="en-US" sz="1600" i="1">
                <a:hlinkClick r:id="rId3"/>
              </a:rPr>
              <a:t>Women, Business and the Law </a:t>
            </a:r>
            <a:r>
              <a:rPr lang="en-US" sz="1600">
                <a:hlinkClick r:id="rId3"/>
              </a:rPr>
              <a:t>Data</a:t>
            </a:r>
            <a:br>
              <a:rPr lang="en-US" sz="1600"/>
            </a:br>
            <a:r>
              <a:rPr lang="en-US" sz="1600"/>
              <a:t> </a:t>
            </a:r>
          </a:p>
          <a:p>
            <a:pPr marL="228600" indent="-228600">
              <a:spcAft>
                <a:spcPts val="600"/>
              </a:spcAft>
              <a:buFont typeface="Arial" panose="020B0604020202020204" pitchFamily="34" charset="0"/>
              <a:buChar char="•"/>
            </a:pPr>
            <a:r>
              <a:rPr lang="en-US" sz="1600"/>
              <a:t>How do they limit opportunities?</a:t>
            </a:r>
          </a:p>
        </p:txBody>
      </p:sp>
      <p:sp>
        <p:nvSpPr>
          <p:cNvPr id="9" name="Rectangle 8">
            <a:extLst>
              <a:ext uri="{FF2B5EF4-FFF2-40B4-BE49-F238E27FC236}">
                <a16:creationId xmlns:a16="http://schemas.microsoft.com/office/drawing/2014/main" id="{196419F4-AA71-0489-F54D-AF7DA70C9D8E}"/>
              </a:ext>
            </a:extLst>
          </p:cNvPr>
          <p:cNvSpPr/>
          <p:nvPr/>
        </p:nvSpPr>
        <p:spPr>
          <a:xfrm>
            <a:off x="419186" y="6388349"/>
            <a:ext cx="12174258" cy="313932"/>
          </a:xfrm>
          <a:prstGeom prst="rect">
            <a:avLst/>
          </a:prstGeom>
          <a:effectLst>
            <a:outerShdw blurRad="63500" dist="38100" dir="2700000">
              <a:srgbClr val="000000">
                <a:alpha val="0"/>
              </a:srgbClr>
            </a:outerShdw>
            <a:reflection stA="40000" endPos="54000" dist="50800" dir="5400000" sy="-100000" algn="bl" rotWithShape="0"/>
          </a:effectLst>
        </p:spPr>
        <p:txBody>
          <a:bodyPr wrap="square">
            <a:spAutoFit/>
          </a:bodyPr>
          <a:lstStyle/>
          <a:p>
            <a:pPr>
              <a:lnSpc>
                <a:spcPct val="90000"/>
              </a:lnSpc>
              <a:spcBef>
                <a:spcPct val="0"/>
              </a:spcBef>
            </a:pPr>
            <a:r>
              <a:rPr lang="en-US" sz="1600"/>
              <a:t>Source: Women, Business, and the Law: </a:t>
            </a:r>
            <a:r>
              <a:rPr lang="en-US" sz="1600">
                <a:hlinkClick r:id="rId4"/>
              </a:rPr>
              <a:t>Data Visualization</a:t>
            </a:r>
            <a:endParaRPr lang="en-US" sz="1600"/>
          </a:p>
        </p:txBody>
      </p:sp>
      <p:sp>
        <p:nvSpPr>
          <p:cNvPr id="2" name="Rectangle 1">
            <a:extLst>
              <a:ext uri="{FF2B5EF4-FFF2-40B4-BE49-F238E27FC236}">
                <a16:creationId xmlns:a16="http://schemas.microsoft.com/office/drawing/2014/main" id="{B2D95E49-CB93-1D6F-68C2-2E1C51FED6DD}"/>
              </a:ext>
            </a:extLst>
          </p:cNvPr>
          <p:cNvSpPr/>
          <p:nvPr/>
        </p:nvSpPr>
        <p:spPr>
          <a:xfrm>
            <a:off x="6342101" y="1216482"/>
            <a:ext cx="1272926" cy="3862202"/>
          </a:xfrm>
          <a:prstGeom prst="rect">
            <a:avLst/>
          </a:prstGeom>
          <a:noFill/>
          <a:ln>
            <a:solidFill>
              <a:srgbClr val="FF8200"/>
            </a:solidFill>
          </a:ln>
          <a:effectLst>
            <a:outerShdw>
              <a:srgbClr val="FF82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EB2C318-DBF9-A0EE-AAEC-748D12E77EE1}"/>
              </a:ext>
            </a:extLst>
          </p:cNvPr>
          <p:cNvPicPr>
            <a:picLocks noChangeAspect="1"/>
          </p:cNvPicPr>
          <p:nvPr/>
        </p:nvPicPr>
        <p:blipFill>
          <a:blip r:embed="rId5"/>
          <a:stretch>
            <a:fillRect/>
          </a:stretch>
        </p:blipFill>
        <p:spPr>
          <a:xfrm>
            <a:off x="11723" y="1140151"/>
            <a:ext cx="10339754" cy="4999728"/>
          </a:xfrm>
          <a:prstGeom prst="rect">
            <a:avLst/>
          </a:prstGeom>
          <a:ln>
            <a:solidFill>
              <a:schemeClr val="bg1"/>
            </a:solidFill>
          </a:ln>
        </p:spPr>
      </p:pic>
    </p:spTree>
    <p:extLst>
      <p:ext uri="{BB962C8B-B14F-4D97-AF65-F5344CB8AC3E}">
        <p14:creationId xmlns:p14="http://schemas.microsoft.com/office/powerpoint/2010/main" val="220754439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727981" y="2636565"/>
            <a:ext cx="10736037" cy="978486"/>
          </a:xfrm>
        </p:spPr>
        <p:txBody>
          <a:bodyPr>
            <a:normAutofit fontScale="90000"/>
          </a:bodyPr>
          <a:lstStyle/>
          <a:p>
            <a:r>
              <a:rPr lang="en-US" sz="3200">
                <a:solidFill>
                  <a:schemeClr val="bg1"/>
                </a:solidFill>
                <a:latin typeface="Arial Black"/>
              </a:rPr>
              <a:t>Questions for Discussion</a:t>
            </a:r>
            <a:br>
              <a:rPr lang="en-US" sz="3200">
                <a:latin typeface="Arial Black"/>
              </a:rPr>
            </a:br>
            <a:br>
              <a:rPr lang="en-US" sz="3200">
                <a:latin typeface="Arial Black"/>
              </a:rPr>
            </a:br>
            <a:r>
              <a:rPr lang="en-US" sz="3200">
                <a:solidFill>
                  <a:schemeClr val="bg1"/>
                </a:solidFill>
                <a:latin typeface="+mn-lt"/>
              </a:rPr>
              <a:t>In your country, which gaps in economic opportunities and outcomes could have macroeconomic impacts?</a:t>
            </a:r>
            <a:br>
              <a:rPr lang="en-US" sz="3200">
                <a:latin typeface="+mn-lt"/>
              </a:rPr>
            </a:br>
            <a:br>
              <a:rPr lang="en-US" sz="3200">
                <a:latin typeface="+mn-lt"/>
              </a:rPr>
            </a:br>
            <a:r>
              <a:rPr lang="en-US" sz="3200">
                <a:solidFill>
                  <a:schemeClr val="bg1"/>
                </a:solidFill>
                <a:latin typeface="+mn-lt"/>
              </a:rPr>
              <a:t>Through which channels (labor supply, human capital, productivity, access to finance) do these gaps affect growth, stability, and resilience?</a:t>
            </a:r>
            <a:br>
              <a:rPr lang="en-US" sz="3200">
                <a:latin typeface="+mn-lt"/>
              </a:rPr>
            </a:br>
            <a:br>
              <a:rPr lang="en-US" sz="3200">
                <a:latin typeface="+mn-lt"/>
              </a:rPr>
            </a:br>
            <a:r>
              <a:rPr lang="en-US" sz="3200">
                <a:solidFill>
                  <a:schemeClr val="bg1"/>
                </a:solidFill>
                <a:latin typeface="+mn-lt"/>
              </a:rPr>
              <a:t>What evidence (e.g. from national statistics, your own analysis, today’s presentation) supports that conclusion?</a:t>
            </a:r>
            <a:br>
              <a:rPr lang="en-US" sz="3200">
                <a:latin typeface="+mn-lt"/>
              </a:rPr>
            </a:br>
            <a:br>
              <a:rPr lang="en-US" sz="3200">
                <a:latin typeface="+mn-lt"/>
              </a:rPr>
            </a:br>
            <a:endParaRPr lang="en-US" sz="3200">
              <a:solidFill>
                <a:schemeClr val="bg1"/>
              </a:solidFill>
              <a:latin typeface="+mn-lt"/>
            </a:endParaRPr>
          </a:p>
        </p:txBody>
      </p:sp>
    </p:spTree>
    <p:extLst>
      <p:ext uri="{BB962C8B-B14F-4D97-AF65-F5344CB8AC3E}">
        <p14:creationId xmlns:p14="http://schemas.microsoft.com/office/powerpoint/2010/main" val="119472844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CUMFILE" val="\\data3\users1\abarajas\My Documents\ICD\Courses\Courses 2023\Gender Inequality and Macroeconomics\Other Presentations\Presentations for Translation\L1 - Gender Inequality_ Dimensions &amp; Trends.cul"/>
  <p:tag name="CURRENTXMLFILE" val="\\data3\users1\abarajas\My Documents\ICD\Courses\Courses 2023\Gender Inequality and Macroeconomics\Other Presentations\Presentations for Translation\L1 - Gender Inequality_ Dimensions &amp; Trends.xml"/>
  <p:tag name="PPTXFILE" val="\\data3\users1\abarajas\My Documents\ICD\Courses\Courses 2023\Gender Inequality and Macroeconomics\Other Presentations\Presentations for Translation\L1 - Gender Inequality_ Dimensions &amp; Trends.pptx"/>
  <p:tag name="XMLFILE" val="\\data3\users1\abarajas\My Documents\ICD\Courses\Courses 2023\Gender Inequality and Macroeconomics\Other Presentations\Presentations for Translation\L1 - Gender Inequality_ Dimensions &amp; Trends.xml"/>
</p:tagLst>
</file>

<file path=ppt/theme/theme1.xml><?xml version="1.0" encoding="utf-8"?>
<a:theme xmlns:a="http://schemas.openxmlformats.org/drawingml/2006/main" name="Custom Design">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LEG_PresentationTemplate-General" id="{13F5556C-5BC5-9542-AB57-73990FD9E90C}" vid="{2B303AC9-B9EA-B048-9D5C-6C975EA17091}"/>
    </a:ext>
  </a:extLst>
</a:theme>
</file>

<file path=ppt/theme/theme2.xml><?xml version="1.0" encoding="utf-8"?>
<a:theme xmlns:a="http://schemas.openxmlformats.org/drawingml/2006/main" name="1_Custom Design">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F72D32AC-F563-4E54-A5C2-D8F0BC37EE7E}"/>
    </a:ext>
  </a:extLst>
</a:theme>
</file>

<file path=ppt/theme/theme3.xml><?xml version="1.0" encoding="utf-8"?>
<a:theme xmlns:a="http://schemas.openxmlformats.org/drawingml/2006/main" name="Office Theme">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6BC5DA02-7E34-41B8-ADA6-35A3853989A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c6f1c3b-ea25-4e6f-91c5-aeb92d62b0fb" xsi:nil="true"/>
    <lcf76f155ced4ddcb4097134ff3c332f xmlns="3b9dc015-dd13-448b-b628-7af3b634cca4">
      <Terms xmlns="http://schemas.microsoft.com/office/infopath/2007/PartnerControls"/>
    </lcf76f155ced4ddcb4097134ff3c332f>
    <SharedWithUsers xmlns="0c6f1c3b-ea25-4e6f-91c5-aeb92d62b0fb">
      <UserInfo>
        <DisplayName>Tang, Vincent</DisplayName>
        <AccountId>80</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808F46CC7369E44A38836926FD52CA4" ma:contentTypeVersion="17" ma:contentTypeDescription="Create a new document." ma:contentTypeScope="" ma:versionID="34d57240de38c5ca99423c2d81288a91">
  <xsd:schema xmlns:xsd="http://www.w3.org/2001/XMLSchema" xmlns:xs="http://www.w3.org/2001/XMLSchema" xmlns:p="http://schemas.microsoft.com/office/2006/metadata/properties" xmlns:ns2="3b9dc015-dd13-448b-b628-7af3b634cca4" xmlns:ns3="0c6f1c3b-ea25-4e6f-91c5-aeb92d62b0fb" targetNamespace="http://schemas.microsoft.com/office/2006/metadata/properties" ma:root="true" ma:fieldsID="e270c38f22e04ee44ccb8e6601e8d1f8" ns2:_="" ns3:_="">
    <xsd:import namespace="3b9dc015-dd13-448b-b628-7af3b634cca4"/>
    <xsd:import namespace="0c6f1c3b-ea25-4e6f-91c5-aeb92d62b0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9dc015-dd13-448b-b628-7af3b634cc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1b0229-19ef-4425-8520-9f00e8db62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6f1c3b-ea25-4e6f-91c5-aeb92d62b0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4a2595-35b6-44ef-becd-33de771bf95a}" ma:internalName="TaxCatchAll" ma:showField="CatchAllData" ma:web="0c6f1c3b-ea25-4e6f-91c5-aeb92d62b0f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C96193-877C-46EA-BD01-2ACB11A8A0AB}">
  <ds:schemaRefs>
    <ds:schemaRef ds:uri="http://schemas.microsoft.com/sharepoint/v3/contenttype/forms"/>
  </ds:schemaRefs>
</ds:datastoreItem>
</file>

<file path=customXml/itemProps2.xml><?xml version="1.0" encoding="utf-8"?>
<ds:datastoreItem xmlns:ds="http://schemas.openxmlformats.org/officeDocument/2006/customXml" ds:itemID="{9D0AC045-0708-4EF3-BE6A-CA4E594A0743}">
  <ds:schemaRefs>
    <ds:schemaRef ds:uri="http://purl.org/dc/dcmitype/"/>
    <ds:schemaRef ds:uri="http://purl.org/dc/elements/1.1/"/>
    <ds:schemaRef ds:uri="http://schemas.microsoft.com/office/2006/documentManagement/types"/>
    <ds:schemaRef ds:uri="http://schemas.microsoft.com/office/infopath/2007/PartnerControls"/>
    <ds:schemaRef ds:uri="0c6f1c3b-ea25-4e6f-91c5-aeb92d62b0fb"/>
    <ds:schemaRef ds:uri="http://schemas.openxmlformats.org/package/2006/metadata/core-properties"/>
    <ds:schemaRef ds:uri="3b9dc015-dd13-448b-b628-7af3b634cca4"/>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BB91733C-B267-4191-8890-6D93CF6F127E}">
  <ds:schemaRefs>
    <ds:schemaRef ds:uri="0c6f1c3b-ea25-4e6f-91c5-aeb92d62b0fb"/>
    <ds:schemaRef ds:uri="3b9dc015-dd13-448b-b628-7af3b634cc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1957</Words>
  <Application>Microsoft Office PowerPoint</Application>
  <PresentationFormat>Widescreen</PresentationFormat>
  <Paragraphs>275</Paragraphs>
  <Slides>30</Slides>
  <Notes>13</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30</vt:i4>
      </vt:variant>
    </vt:vector>
  </HeadingPairs>
  <TitlesOfParts>
    <vt:vector size="46" baseType="lpstr">
      <vt:lpstr>SimSun</vt:lpstr>
      <vt:lpstr>.HelveticaNeueDeskInterface-Regular</vt:lpstr>
      <vt:lpstr>Aldhabi</vt:lpstr>
      <vt:lpstr>Arial</vt:lpstr>
      <vt:lpstr>Arial Black</vt:lpstr>
      <vt:lpstr>ArialMT</vt:lpstr>
      <vt:lpstr>Calibri</vt:lpstr>
      <vt:lpstr>Cambria Math</vt:lpstr>
      <vt:lpstr>Lucida Grande</vt:lpstr>
      <vt:lpstr>LucidaGrande</vt:lpstr>
      <vt:lpstr>Symbol</vt:lpstr>
      <vt:lpstr>Times New Roman</vt:lpstr>
      <vt:lpstr>Wingdings</vt:lpstr>
      <vt:lpstr>Custom Design</vt:lpstr>
      <vt:lpstr>1_Custom Design</vt:lpstr>
      <vt:lpstr>Office Theme</vt:lpstr>
      <vt:lpstr>Where Do We Stand? A Regional Overview of Inequality </vt:lpstr>
      <vt:lpstr>Setting the Scene </vt:lpstr>
      <vt:lpstr>PowerPoint Presentation</vt:lpstr>
      <vt:lpstr>Helpful Definitions </vt:lpstr>
      <vt:lpstr>Labor force participation rate</vt:lpstr>
      <vt:lpstr>Unemployment rate</vt:lpstr>
      <vt:lpstr>Stylized Facts and Trends</vt:lpstr>
      <vt:lpstr>Significant differences across regions, but trend towards lower inequality over last two decades.</vt:lpstr>
      <vt:lpstr>Country-level data: GII for Sub-Saharan Africa</vt:lpstr>
      <vt:lpstr>Stylized Facts and Trends Labor Markets</vt:lpstr>
      <vt:lpstr>Labor markets are a key channel through which structural gaps affect employment, productivity, and inclusive growth. </vt:lpstr>
      <vt:lpstr>Structural gaps in labor force participation</vt:lpstr>
      <vt:lpstr>Evolution of Labor Force Participation</vt:lpstr>
      <vt:lpstr>Female Labor Force Participation Rate by Country</vt:lpstr>
      <vt:lpstr>Inequalities can limit labor market entry, skill utilization, and adjustment.</vt:lpstr>
      <vt:lpstr>Stylized Facts and Trends Human Capital Development</vt:lpstr>
      <vt:lpstr>Human capital is a core driver of long‑run growth, productivity, and income convergence. </vt:lpstr>
      <vt:lpstr>Education gaps constrain human capital and productivity</vt:lpstr>
      <vt:lpstr>On average, school enrollment rates are near parity in the region.</vt:lpstr>
      <vt:lpstr>While rates may be near parity, the levels of secondary and tertiary education are much lower than primary rates. </vt:lpstr>
      <vt:lpstr>Stylized Facts and Trends Not in Employment, Education, or Training (NEET)</vt:lpstr>
      <vt:lpstr>Disruptions in school‑to‑work transitions have macrocritical consequences</vt:lpstr>
      <vt:lpstr>High NEET rates signal structural barriers to labor market entry. </vt:lpstr>
      <vt:lpstr>NEET gaps point to the need for more granular diagnostics and tailored macro policies  </vt:lpstr>
      <vt:lpstr>Stylized Facts and Trends Financial Inclusion</vt:lpstr>
      <vt:lpstr>The female rate of account ownership is about 9 percentage points lower than the male rate in SSA. </vt:lpstr>
      <vt:lpstr>Stylized Facts and Trends Legal Barriers</vt:lpstr>
      <vt:lpstr>Countries have made much progress on legal reforms, but barriers remain.</vt:lpstr>
      <vt:lpstr>Key areas for potential legal reforms include “Marriage,” “Parenthood,” and “Assets” laws. </vt:lpstr>
      <vt:lpstr>Questions for Discussion  In your country, which gaps in economic opportunities and outcomes could have macroeconomic impacts?  Through which channels (labor supply, human capital, productivity, access to finance) do these gaps affect growth, stability, and resilience?  What evidence (e.g. from national statistics, your own analysis, today’s presentation) supports that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 and Instructions</dc:title>
  <dc:creator>Spatafora, Nikola</dc:creator>
  <cp:lastModifiedBy>Kolovich, Lisa</cp:lastModifiedBy>
  <cp:revision>51</cp:revision>
  <cp:lastPrinted>2018-06-28T11:42:50Z</cp:lastPrinted>
  <dcterms:created xsi:type="dcterms:W3CDTF">2019-01-15T17:35:17Z</dcterms:created>
  <dcterms:modified xsi:type="dcterms:W3CDTF">2026-05-21T13:39:21Z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0x0101003808F46CC7369E44A38836926FD52CA4</vt:lpwstr>
  </property>
  <property fmtid="{D5CDD505-2E9C-101B-9397-08002B2CF9AE}" pid="4" name="MMSClassification">
    <vt:lpwstr>1</vt:lpwstr>
  </property>
  <property fmtid="{D5CDD505-2E9C-101B-9397-08002B2CF9AE}" pid="5" name="Order">
    <vt:r8>2200</vt:r8>
  </property>
  <property fmtid="{D5CDD505-2E9C-101B-9397-08002B2CF9AE}" pid="6" name="MMSTopics">
    <vt:lpwstr/>
  </property>
  <property fmtid="{D5CDD505-2E9C-101B-9397-08002B2CF9AE}" pid="7" name="MMSCountries">
    <vt:lpwstr/>
  </property>
  <property fmtid="{D5CDD505-2E9C-101B-9397-08002B2CF9AE}" pid="8" name="MMSDepartments">
    <vt:lpwstr>33</vt:lpwstr>
  </property>
  <property fmtid="{D5CDD505-2E9C-101B-9397-08002B2CF9AE}" pid="9" name="eDOCS AutoSave">
    <vt:lpwstr/>
  </property>
  <property fmtid="{D5CDD505-2E9C-101B-9397-08002B2CF9AE}" pid="10" name="MSIP_Label_0c07ed86-5dc5-4593-ad03-a8684b843815_Enabled">
    <vt:lpwstr>true</vt:lpwstr>
  </property>
  <property fmtid="{D5CDD505-2E9C-101B-9397-08002B2CF9AE}" pid="11" name="MSIP_Label_0c07ed86-5dc5-4593-ad03-a8684b843815_SetDate">
    <vt:lpwstr>2023-08-10T16:29:55Z</vt:lpwstr>
  </property>
  <property fmtid="{D5CDD505-2E9C-101B-9397-08002B2CF9AE}" pid="12" name="MSIP_Label_0c07ed86-5dc5-4593-ad03-a8684b843815_Method">
    <vt:lpwstr>Standard</vt:lpwstr>
  </property>
  <property fmtid="{D5CDD505-2E9C-101B-9397-08002B2CF9AE}" pid="13" name="MSIP_Label_0c07ed86-5dc5-4593-ad03-a8684b843815_Name">
    <vt:lpwstr>0c07ed86-5dc5-4593-ad03-a8684b843815</vt:lpwstr>
  </property>
  <property fmtid="{D5CDD505-2E9C-101B-9397-08002B2CF9AE}" pid="14" name="MSIP_Label_0c07ed86-5dc5-4593-ad03-a8684b843815_SiteId">
    <vt:lpwstr>8085fa43-302e-45bd-b171-a6648c3b6be7</vt:lpwstr>
  </property>
  <property fmtid="{D5CDD505-2E9C-101B-9397-08002B2CF9AE}" pid="15" name="MSIP_Label_0c07ed86-5dc5-4593-ad03-a8684b843815_ActionId">
    <vt:lpwstr>bdaf899b-2077-417e-aab4-0d763181fea1</vt:lpwstr>
  </property>
  <property fmtid="{D5CDD505-2E9C-101B-9397-08002B2CF9AE}" pid="16" name="MSIP_Label_0c07ed86-5dc5-4593-ad03-a8684b843815_ContentBits">
    <vt:lpwstr>0</vt:lpwstr>
  </property>
  <property fmtid="{D5CDD505-2E9C-101B-9397-08002B2CF9AE}" pid="17" name="MediaServiceImageTags">
    <vt:lpwstr/>
  </property>
</Properties>
</file>