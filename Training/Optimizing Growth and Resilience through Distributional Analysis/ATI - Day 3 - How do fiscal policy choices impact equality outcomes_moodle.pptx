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4292" r:id="rId5"/>
    <p:sldId id="4528" r:id="rId6"/>
    <p:sldId id="2142533263" r:id="rId7"/>
    <p:sldId id="2142533265" r:id="rId8"/>
    <p:sldId id="2142533267" r:id="rId9"/>
    <p:sldId id="2142533268" r:id="rId10"/>
    <p:sldId id="2142533264" r:id="rId11"/>
  </p:sldIdLst>
  <p:sldSz cx="12192000" cy="6858000"/>
  <p:notesSz cx="7315200" cy="9601200"/>
  <p:defaultTextStyle>
    <a:defPPr>
      <a:defRPr lang="en-US"/>
    </a:defPPr>
    <a:lvl1pPr marL="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1754463-30FA-824E-9681-17E0926DDDD5}">
          <p14:sldIdLst>
            <p14:sldId id="4292"/>
            <p14:sldId id="4528"/>
            <p14:sldId id="2142533263"/>
            <p14:sldId id="2142533265"/>
            <p14:sldId id="2142533267"/>
            <p14:sldId id="2142533268"/>
            <p14:sldId id="2142533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34" userDrawn="1">
          <p15:clr>
            <a:srgbClr val="A4A3A4"/>
          </p15:clr>
        </p15:guide>
        <p15:guide id="2" pos="2212" userDrawn="1">
          <p15:clr>
            <a:srgbClr val="A4A3A4"/>
          </p15:clr>
        </p15:guide>
        <p15:guide id="3" orient="horz" pos="3024" userDrawn="1">
          <p15:clr>
            <a:srgbClr val="A4A3A4"/>
          </p15:clr>
        </p15:guide>
        <p15:guide id="4" pos="230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9A2F19-CB1E-740C-50CD-B91678F8B4AE}" name="Newiak, Monique" initials="MN" userId="S::MNewiak@imf.org::d81357e1-9dfe-4194-af64-4cbd758c7fe5" providerId="AD"/>
  <p188:author id="{C56BBA1C-3FF8-F7CC-1273-C91F9599EBC4}" name="Chiapello, Mattia" initials="CM" userId="S::mchiapello@imf.org::5d6fd680-78ea-4042-9465-8f380d898ad6" providerId="AD"/>
  <p188:author id="{5854C73E-3583-11C1-CE13-22776D3A641A}" name="Kolovich, Lisa" initials="KL" userId="S::LKolovich@IMF.ORG::705d1648-fc44-4335-a909-7bcc0ef9bfc0" providerId="AD"/>
  <p188:author id="{A7876F80-758E-7676-EEC9-FCDF247842A4}" name="Priano, Sahar" initials="PS" userId="S::SPriano@imf.org::3b5d6782-612c-4d81-97dc-e201bbd10b85" providerId="AD"/>
  <p188:author id="{8F3D4AA5-6CAE-C03C-D0E6-295E01968A3B}" name="Raissi, Mehdi" initials="RM" userId="S::mraissi@imf.org::f6393861-7977-47b1-91ff-d9b70d36a3c2" providerId="AD"/>
  <p188:author id="{3BF418A9-978B-1A9F-2A89-B71B282588FE}" name="Kolovich, Lisa" initials="KL" userId="S::lkolovich@imf.org::705d1648-fc44-4335-a909-7bcc0ef9bfc0" providerId="AD"/>
  <p188:author id="{99268ECB-3706-9D82-E8DB-E7F09471D57E}" name="Flamini, Valentina" initials="FV" userId="S::VFlamini@IMF.ORG::eff897fc-c4bd-42df-a72a-53fc4146d5ad" providerId="AD"/>
  <p188:author id="{9FAD53CC-1FDD-5674-9B3D-61CF34229D24}" name="Hanna, Christel" initials="CH" userId="S::channa@imf.org::f72fb5f2-2329-411f-9245-3b4649f41975" providerId="AD"/>
  <p188:author id="{2708D3D2-1E49-BB83-2378-9650164C949B}" name="Kolovich, Lisa" initials="LK" userId="S::LKolovich@imf.org::705d1648-fc44-4335-a909-7bcc0ef9bfc0" providerId="AD"/>
  <p188:author id="{0D8F83E4-EF17-15AA-7DA0-1A43993D769E}" name="Malta, Vivian" initials="" userId="S::VMalta@imf.org::c9130ee9-f22b-44aa-bb73-83a935e86cf9" providerId="AD"/>
  <p188:author id="{F153D5E6-D81B-117C-025B-055F1FE4F3D2}" name="Priano, Sahar" initials="PS" userId="S::spriano@imf.org::3b5d6782-612c-4d81-97dc-e201bbd10b8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ndwa, Boaz" initials="NB" lastIdx="10" clrIdx="0"/>
  <p:cmAuthor id="2" name="Kamil Dybczak" initials="KD" lastIdx="10" clrIdx="1"/>
  <p:cmAuthor id="3" name="Tamirisa, Natalia" initials="TN" lastIdx="12" clrIdx="2"/>
  <p:cmAuthor id="4" name="Almalik, Mansour" initials="AM" lastIdx="6" clrIdx="3"/>
  <p:cmAuthor id="5" name="Pierre, Gaelle" initials="PG" lastIdx="3" clrIdx="4"/>
  <p:cmAuthor id="6" name="Basile, Gregory" initials="BG" lastIdx="9" clrIdx="5"/>
  <p:cmAuthor id="7" name="Fabrizio, Stefania" initials="FS" lastIdx="6" clrIdx="6">
    <p:extLst>
      <p:ext uri="{19B8F6BF-5375-455C-9EA6-DF929625EA0E}">
        <p15:presenceInfo xmlns:p15="http://schemas.microsoft.com/office/powerpoint/2012/main" userId="S::SFabrizio@IMF.ORG::6b56a1ff-da59-4ea7-80b7-fcbcc4110b46" providerId="AD"/>
      </p:ext>
    </p:extLst>
  </p:cmAuthor>
  <p:cmAuthor id="8" name="Chabert, Guillaume" initials="CG" lastIdx="32" clrIdx="7">
    <p:extLst>
      <p:ext uri="{19B8F6BF-5375-455C-9EA6-DF929625EA0E}">
        <p15:presenceInfo xmlns:p15="http://schemas.microsoft.com/office/powerpoint/2012/main" userId="S::GChabert@imf.org::38c85545-1ee6-48a6-b252-764ce4069f3e" providerId="AD"/>
      </p:ext>
    </p:extLst>
  </p:cmAuthor>
  <p:cmAuthor id="9" name="Palomba, Geremia" initials="PG" lastIdx="1" clrIdx="8">
    <p:extLst>
      <p:ext uri="{19B8F6BF-5375-455C-9EA6-DF929625EA0E}">
        <p15:presenceInfo xmlns:p15="http://schemas.microsoft.com/office/powerpoint/2012/main" userId="S::GPalomba@imf.org::90bc7c4f-4345-4053-88b0-b1e4cb5367c4" providerId="AD"/>
      </p:ext>
    </p:extLst>
  </p:cmAuthor>
  <p:cmAuthor id="10" name="Shang, Baoping" initials="SB" lastIdx="1" clrIdx="9">
    <p:extLst>
      <p:ext uri="{19B8F6BF-5375-455C-9EA6-DF929625EA0E}">
        <p15:presenceInfo xmlns:p15="http://schemas.microsoft.com/office/powerpoint/2012/main" userId="S::BShang@imf.org::e648c2e3-4876-43f9-9a51-a725a6df752c" providerId="AD"/>
      </p:ext>
    </p:extLst>
  </p:cmAuthor>
  <p:cmAuthor id="11" name="Newiak, Monique" initials="NM" lastIdx="6" clrIdx="10">
    <p:extLst>
      <p:ext uri="{19B8F6BF-5375-455C-9EA6-DF929625EA0E}">
        <p15:presenceInfo xmlns:p15="http://schemas.microsoft.com/office/powerpoint/2012/main" userId="S::MNewiak@IMF.ORG::d81357e1-9dfe-4194-af64-4cbd758c7fe5" providerId="AD"/>
      </p:ext>
    </p:extLst>
  </p:cmAuthor>
  <p:cmAuthor id="12" name="Kolovich, Lisa" initials="KL" lastIdx="1" clrIdx="11">
    <p:extLst>
      <p:ext uri="{19B8F6BF-5375-455C-9EA6-DF929625EA0E}">
        <p15:presenceInfo xmlns:p15="http://schemas.microsoft.com/office/powerpoint/2012/main" userId="S::LKolovich@imf.org::705d1648-fc44-4335-a909-7bcc0ef9bfc0" providerId="AD"/>
      </p:ext>
    </p:extLst>
  </p:cmAuthor>
  <p:cmAuthor id="13" name="Flamini, Valentina" initials="FV" lastIdx="1" clrIdx="12">
    <p:extLst>
      <p:ext uri="{19B8F6BF-5375-455C-9EA6-DF929625EA0E}">
        <p15:presenceInfo xmlns:p15="http://schemas.microsoft.com/office/powerpoint/2012/main" userId="S::VFlamini@IMF.ORG::eff897fc-c4bd-42df-a72a-53fc4146d5a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5D"/>
    <a:srgbClr val="FFFFBD"/>
    <a:srgbClr val="004C97"/>
    <a:srgbClr val="009BDE"/>
    <a:srgbClr val="ED7D31"/>
    <a:srgbClr val="20A297"/>
    <a:srgbClr val="539635"/>
    <a:srgbClr val="000000"/>
    <a:srgbClr val="79D9FF"/>
    <a:srgbClr val="525E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83" autoAdjust="0"/>
  </p:normalViewPr>
  <p:slideViewPr>
    <p:cSldViewPr snapToGrid="0">
      <p:cViewPr varScale="1">
        <p:scale>
          <a:sx n="61" d="100"/>
          <a:sy n="61" d="100"/>
        </p:scale>
        <p:origin x="7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34"/>
        <p:guide pos="2212"/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5" y="15"/>
            <a:ext cx="3170027" cy="479566"/>
          </a:xfrm>
          <a:prstGeom prst="rect">
            <a:avLst/>
          </a:prstGeom>
        </p:spPr>
        <p:txBody>
          <a:bodyPr vert="horz" lIns="94491" tIns="47244" rIns="94491" bIns="472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5" y="9120008"/>
            <a:ext cx="3170027" cy="479566"/>
          </a:xfrm>
          <a:prstGeom prst="rect">
            <a:avLst/>
          </a:prstGeom>
        </p:spPr>
        <p:txBody>
          <a:bodyPr vert="horz" lIns="94491" tIns="47244" rIns="94491" bIns="472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31" y="9120008"/>
            <a:ext cx="3170027" cy="479566"/>
          </a:xfrm>
          <a:prstGeom prst="rect">
            <a:avLst/>
          </a:prstGeom>
        </p:spPr>
        <p:txBody>
          <a:bodyPr vert="horz" lIns="94491" tIns="47244" rIns="94491" bIns="47244" rtlCol="0" anchor="b"/>
          <a:lstStyle>
            <a:lvl1pPr algn="r">
              <a:defRPr sz="1200"/>
            </a:lvl1pPr>
          </a:lstStyle>
          <a:p>
            <a:fld id="{70787CFD-D5C7-455D-B121-683BFE13FB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98984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7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7" y="7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/>
          <a:lstStyle>
            <a:lvl1pPr algn="r">
              <a:defRPr sz="1200"/>
            </a:lvl1pPr>
          </a:lstStyle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3" tIns="48226" rIns="96453" bIns="482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3" y="4560574"/>
            <a:ext cx="5852160" cy="4320540"/>
          </a:xfrm>
          <a:prstGeom prst="rect">
            <a:avLst/>
          </a:prstGeom>
        </p:spPr>
        <p:txBody>
          <a:bodyPr vert="horz" lIns="96453" tIns="48226" rIns="96453" bIns="482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82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7" y="9119482"/>
            <a:ext cx="3169920" cy="480060"/>
          </a:xfrm>
          <a:prstGeom prst="rect">
            <a:avLst/>
          </a:prstGeom>
        </p:spPr>
        <p:txBody>
          <a:bodyPr vert="horz" lIns="96453" tIns="48226" rIns="96453" bIns="48226" rtlCol="0" anchor="b"/>
          <a:lstStyle>
            <a:lvl1pPr algn="r">
              <a:defRPr sz="1200"/>
            </a:lvl1pPr>
          </a:lstStyle>
          <a:p>
            <a:fld id="{BA49F774-CCF9-492C-9AEB-F2814D4A66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01023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14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7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28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85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42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00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257" algn="l" defTabSz="91431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06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808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7CB63-EDC3-1D3B-77C3-9768C04E4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C813C-47A5-6498-3702-7D917D681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E19CF-85B0-CD3F-7FC1-8CED3AB96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E7E4E-70EF-333B-D47A-D17EC656DA2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30B66-9972-A2B5-C542-1F036710F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71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A807B-A0BC-FD4D-6F82-27B4E809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706220-9C45-27B9-ECD8-87E9C3D22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52263-8127-D901-A617-E0816A1E6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marR="0" lvl="0" indent="-17145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F7B66-0208-BF13-E980-1C9A8B71E0D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CED4C-D1D2-DC6B-B22E-FCABD2B88B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765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C7AB8-30B7-EBFE-1A02-A0C9B50B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BBE87-79E9-6E03-0250-73E6764BB4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21D4B-8162-4DEB-1A6B-C113809DC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marR="0" lvl="0" indent="-17145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47945-3497-356A-4494-5C518A94EC90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F3B167-B6FF-F5DA-33FB-49CDD0BA7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56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7D6AB-EBF8-7052-DB6F-440956CE2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CD735C-A466-BB22-DE19-DD2F9D7E0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4A873-F16B-C6A7-E568-A7C98956E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71450" marR="0" lvl="0" indent="-17145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9C349-322D-C4F2-9758-2BD414B154A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D5EF1-FDFC-C274-D9E2-7BCC10881E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06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4EC5F-F2C2-C479-CB71-F16D3740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B67B4-685B-60C4-DF5F-2C3D91F84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54C56-DFBA-13EB-E111-0D06D86D1B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D5112-7D78-9BD7-1BAC-D3BFC0453D1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9E4E862-E263-8B4A-AFB5-DFAAA754BC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36391-F2F2-5BBF-85D0-355136406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9F774-CCF9-492C-9AEB-F2814D4A662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31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605BF9-2A92-FA4A-AE68-6B1AFBD20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3714" y="697150"/>
            <a:ext cx="1241727" cy="12437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E35A615-44B8-AC4C-BDEB-B9D50F7261D9}"/>
              </a:ext>
            </a:extLst>
          </p:cNvPr>
          <p:cNvSpPr/>
          <p:nvPr userDrawn="1"/>
        </p:nvSpPr>
        <p:spPr>
          <a:xfrm>
            <a:off x="11938958" y="-2"/>
            <a:ext cx="253042" cy="685800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41048" y="1940930"/>
            <a:ext cx="5515284" cy="2239337"/>
          </a:xfrm>
        </p:spPr>
        <p:txBody>
          <a:bodyPr lIns="0" tIns="0" rIns="0" bIns="45720" anchor="b" anchorCtr="0">
            <a:normAutofit/>
          </a:bodyPr>
          <a:lstStyle>
            <a:lvl1pPr algn="l">
              <a:lnSpc>
                <a:spcPct val="95000"/>
              </a:lnSpc>
              <a:defRPr sz="4000" b="0" i="0">
                <a:solidFill>
                  <a:schemeClr val="tx2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US"/>
              <a:t>Presentation Title up to three lines in length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41048" y="4180267"/>
            <a:ext cx="5515284" cy="465240"/>
          </a:xfrm>
        </p:spPr>
        <p:txBody>
          <a:bodyPr lIns="0" tIns="91440" rIns="0" bIns="0"/>
          <a:lstStyle>
            <a:lvl1pPr marL="0" indent="0" algn="l">
              <a:buNone/>
              <a:defRPr b="1" cap="all" baseline="0">
                <a:solidFill>
                  <a:schemeClr val="tx2"/>
                </a:solidFill>
              </a:defRPr>
            </a:lvl1pPr>
            <a:lvl2pPr marL="457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Month </a:t>
            </a:r>
            <a:r>
              <a:rPr lang="en-US" err="1"/>
              <a:t>dd</a:t>
            </a:r>
            <a:r>
              <a:rPr lang="en-US"/>
              <a:t>, </a:t>
            </a:r>
            <a:r>
              <a:rPr lang="en-US" err="1"/>
              <a:t>yyyy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F8FC6B8-AF18-8A44-98A9-C2E79C685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41048" y="4879731"/>
            <a:ext cx="5515284" cy="1213338"/>
          </a:xfrm>
        </p:spPr>
        <p:txBody>
          <a:bodyPr lIns="0" tIns="0" rIns="0" bIns="0" anchor="b" anchorCtr="0"/>
          <a:lstStyle>
            <a:lvl1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1pPr>
            <a:lvl2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2pPr>
            <a:lvl3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3pPr>
            <a:lvl4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 marL="0" indent="0">
              <a:spcBef>
                <a:spcPts val="300"/>
              </a:spcBef>
              <a:buNone/>
              <a:tabLst/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Division/Title/Affiliation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D8EAEE-101A-B04C-9480-47C14533CE5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4891088" cy="6858000"/>
          </a:xfrm>
          <a:solidFill>
            <a:schemeClr val="tx2"/>
          </a:solidFill>
        </p:spPr>
        <p:txBody>
          <a:bodyPr lIns="365760" tIns="365760" rIns="365760" bIns="2971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EFAF05C-419E-4343-8983-4850A83FB6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6597160"/>
            <a:ext cx="4891089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orient="horz" pos="3799" userDrawn="1">
          <p15:clr>
            <a:srgbClr val="FBAE40"/>
          </p15:clr>
        </p15:guide>
        <p15:guide id="3" pos="3600" userDrawn="1">
          <p15:clr>
            <a:srgbClr val="FBAE40"/>
          </p15:clr>
        </p15:guide>
        <p15:guide id="4" pos="308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Slide Title for Single-Column,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>
              <a:spcBef>
                <a:spcPts val="2400"/>
              </a:spcBef>
              <a:defRPr>
                <a:solidFill>
                  <a:schemeClr val="tx1"/>
                </a:solidFill>
              </a:defRPr>
            </a:lvl1pPr>
            <a:lvl2pPr>
              <a:defRPr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</p:spTree>
    <p:extLst>
      <p:ext uri="{BB962C8B-B14F-4D97-AF65-F5344CB8AC3E}">
        <p14:creationId xmlns:p14="http://schemas.microsoft.com/office/powerpoint/2010/main" val="8080275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81" userDrawn="1">
          <p15:clr>
            <a:srgbClr val="FBAE40"/>
          </p15:clr>
        </p15:guide>
        <p15:guide id="4" pos="69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+Text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, White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 marL="917575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marL="917575" marR="0" lvl="4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Tx/>
              <a:buFont typeface=".HelveticaNeueDeskInterface-Regular"/>
              <a:buChar char="●"/>
              <a:tabLst/>
              <a:defRPr/>
            </a:pPr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68106178-1013-D249-8751-3EA29B2109C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39838" y="1669499"/>
            <a:ext cx="4856162" cy="4480560"/>
          </a:xfrm>
          <a:solidFill>
            <a:schemeClr val="bg1">
              <a:lumMod val="9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DAF09BB-AD0B-2041-83F2-50D0A4E860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39839" y="5889219"/>
            <a:ext cx="4856162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35367013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Column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/>
            <a:r>
              <a:rPr lang="en-US"/>
              <a:t>Title for Two-Column, White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tx1"/>
                </a:solidFill>
              </a:defRPr>
            </a:lvl1pPr>
            <a:lvl2pPr>
              <a:defRPr sz="1800"/>
            </a:lvl2pPr>
            <a:lvl3pPr marL="458788" marR="0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marL="458788" marR="0" lvl="2" indent="-225425" algn="l" defTabSz="914314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ct val="65000"/>
              <a:buFont typeface="ArialMT"/>
              <a:buChar char="►"/>
              <a:tabLst/>
              <a:defRPr/>
            </a:pPr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82B71F5-23BD-A943-8CA6-64D3C92123D3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58498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-Photo,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4F27426-24A7-3845-8E05-8360D202A2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7607" y="5349451"/>
            <a:ext cx="10216785" cy="978486"/>
          </a:xfrm>
          <a:prstGeom prst="rect">
            <a:avLst/>
          </a:prstGeom>
        </p:spPr>
        <p:txBody>
          <a:bodyPr vert="horz" lIns="0" tIns="182880" rIns="0" bIns="0" rtlCol="0" anchor="t">
            <a:noAutofit/>
          </a:bodyPr>
          <a:lstStyle>
            <a:lvl1pPr algn="ctr">
              <a:defRPr lang="en-US" sz="2400" dirty="0">
                <a:solidFill>
                  <a:schemeClr val="tx2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Large-Photo, White Layout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8B1EB05-4C3D-C643-8F71-7489EF7CE39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bg1">
              <a:lumMod val="9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C91875E-B0A9-0447-9F79-6199D72612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>
                    <a:lumMod val="25000"/>
                  </a:schemeClr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687998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ngle-Column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Single-Column, Blue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9715500" cy="4860591"/>
          </a:xfrm>
        </p:spPr>
        <p:txBody>
          <a:bodyPr/>
          <a:lstStyle>
            <a:lvl1pPr marL="0" marR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314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Wingdings" charset="2"/>
              <a:buNone/>
              <a:tabLst/>
              <a:defRPr/>
            </a:pPr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31EA4B-58AD-3842-9BEC-4B9FF60E019D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D9C8-9F14-B64C-88D7-AFEADAB39B39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2685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+Text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</a:t>
            </a:r>
            <a:r>
              <a:rPr lang="en-US" err="1"/>
              <a:t>Photo+Text</a:t>
            </a:r>
            <a:r>
              <a:rPr lang="en-US"/>
              <a:t>, Blue Layout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0B0CE-B013-7641-9551-DA60CF80B4AC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DC7D600-7783-1F4F-AD62-06B784E129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838" y="1672046"/>
            <a:ext cx="4855464" cy="4480560"/>
          </a:xfrm>
          <a:solidFill>
            <a:schemeClr val="tx2">
              <a:lumMod val="50000"/>
            </a:schemeClr>
          </a:solidFill>
        </p:spPr>
        <p:txBody>
          <a:bodyPr lIns="365760" tIns="365760" rIns="365760" bIns="1828800" anchor="b">
            <a:normAutofit/>
          </a:bodyPr>
          <a:lstStyle>
            <a:lvl1pPr marL="0" indent="0" algn="ctr">
              <a:buNone/>
              <a:defRPr sz="1600"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3893C67-9BAE-6946-9896-78E2472B03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9838" y="5891766"/>
            <a:ext cx="4855464" cy="260840"/>
          </a:xfrm>
        </p:spPr>
        <p:txBody>
          <a:bodyPr lIns="45720" tIns="45720" rIns="45720" bIns="45720" anchor="b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</p:spTree>
    <p:extLst>
      <p:ext uri="{BB962C8B-B14F-4D97-AF65-F5344CB8AC3E}">
        <p14:creationId xmlns:p14="http://schemas.microsoft.com/office/powerpoint/2010/main" val="11157693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1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-Column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39838" y="491385"/>
            <a:ext cx="9715500" cy="97848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lang="en-US" sz="28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Two-Column, Blue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590E5-B0BC-F540-8942-A0FB291DEE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398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73A610-5F4D-8049-8881-F136A3242F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83338" y="1469871"/>
            <a:ext cx="4572000" cy="4860591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1800">
                <a:solidFill>
                  <a:schemeClr val="bg1"/>
                </a:solidFill>
              </a:defRPr>
            </a:lvl1pPr>
            <a:lvl2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3pPr>
            <a:lvl4pPr>
              <a:buClr>
                <a:schemeClr val="tx2">
                  <a:lumMod val="40000"/>
                  <a:lumOff val="60000"/>
                </a:schemeClr>
              </a:buClr>
              <a:defRPr sz="1800">
                <a:solidFill>
                  <a:schemeClr val="bg1"/>
                </a:solidFill>
              </a:defRPr>
            </a:lvl4pPr>
            <a:lvl5pPr>
              <a:buClr>
                <a:schemeClr val="bg1">
                  <a:lumMod val="75000"/>
                </a:schemeClr>
              </a:buCl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Paragraph/</a:t>
            </a:r>
            <a:r>
              <a:rPr lang="en-US" err="1"/>
              <a:t>unbulleted</a:t>
            </a:r>
            <a:r>
              <a:rPr lang="en-US"/>
              <a:t> text formatting</a:t>
            </a:r>
          </a:p>
          <a:p>
            <a:pPr lvl="1"/>
            <a:r>
              <a:rPr lang="en-US"/>
              <a:t>Click the “Indent More” button (in the Home ribbon, above) for first-level bullets</a:t>
            </a:r>
          </a:p>
          <a:p>
            <a:pPr lvl="2"/>
            <a:r>
              <a:rPr lang="en-US"/>
              <a:t>Double-click the “Indent More” button (above) for second-level bullets</a:t>
            </a:r>
          </a:p>
          <a:p>
            <a:pPr lvl="3"/>
            <a:r>
              <a:rPr lang="en-US"/>
              <a:t>Triple-click the “Indent More” button (above) for third-level bullets</a:t>
            </a:r>
          </a:p>
          <a:p>
            <a:pPr lvl="4"/>
            <a:r>
              <a:rPr lang="en-US"/>
              <a:t>Quadruple-click the “Indent More” button (above) for fourth-level bullets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0B0CE-B013-7641-9551-DA60CF80B4AC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62889-E692-BF4A-B8C8-D6FF23EE4CF0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B5B26B-2A1F-084E-BAF6-BEA91A8E38A5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670538"/>
            <a:ext cx="0" cy="442546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015890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-Photo,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87607" y="5349451"/>
            <a:ext cx="10216785" cy="978486"/>
          </a:xfrm>
          <a:prstGeom prst="rect">
            <a:avLst/>
          </a:prstGeom>
        </p:spPr>
        <p:txBody>
          <a:bodyPr vert="horz" lIns="0" tIns="182880" rIns="0" bIns="0" rtlCol="0" anchor="t">
            <a:noAutofit/>
          </a:bodyPr>
          <a:lstStyle>
            <a:lvl1pPr algn="ctr">
              <a:defRPr lang="en-US" sz="2400" dirty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marL="0" lvl="0"/>
            <a:r>
              <a:rPr lang="en-US"/>
              <a:t>Title for Large-Photo, Blue Layout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57DE7E-D5A7-934A-BDAA-810E25C7A25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5349875"/>
          </a:xfrm>
          <a:solidFill>
            <a:schemeClr val="tx2">
              <a:lumMod val="50000"/>
            </a:schemeClr>
          </a:solidFill>
        </p:spPr>
        <p:txBody>
          <a:bodyPr tIns="0" bIns="2057400" anchor="b"/>
          <a:lstStyle>
            <a:lvl1pPr algn="ctr">
              <a:defRPr i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insert a photo.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96E3DB-FA3A-7842-8A68-4AE4AACEC5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386856" y="2544308"/>
            <a:ext cx="5349451" cy="260840"/>
          </a:xfrm>
        </p:spPr>
        <p:txBody>
          <a:bodyPr lIns="91440" tIns="45720" rIns="91440" bIns="45720">
            <a:noAutofit/>
          </a:bodyPr>
          <a:lstStyle>
            <a:lvl1pPr>
              <a:defRPr sz="900">
                <a:solidFill>
                  <a:schemeClr val="bg1"/>
                </a:solidFill>
              </a:defRPr>
            </a:lvl1pPr>
            <a:lvl2pPr>
              <a:defRPr sz="1000">
                <a:solidFill>
                  <a:schemeClr val="bg1"/>
                </a:solidFill>
              </a:defRPr>
            </a:lvl2pPr>
            <a:lvl3pPr>
              <a:defRPr sz="1000">
                <a:solidFill>
                  <a:schemeClr val="bg1"/>
                </a:solidFill>
              </a:defRPr>
            </a:lvl3pPr>
            <a:lvl4pPr>
              <a:defRPr sz="1000">
                <a:solidFill>
                  <a:schemeClr val="bg1"/>
                </a:solidFill>
              </a:defRPr>
            </a:lvl4pPr>
            <a:lvl5pPr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here to insert photo credit/copyright information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4FF97F-5A7B-3544-BBF1-8D9147069589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accent1">
                    <a:lumMod val="60000"/>
                    <a:lumOff val="40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58205F-7910-2A4D-9D13-3F4027CE12D3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set&#10;&#10;Description automatically generated">
            <a:extLst>
              <a:ext uri="{FF2B5EF4-FFF2-40B4-BE49-F238E27FC236}">
                <a16:creationId xmlns:a16="http://schemas.microsoft.com/office/drawing/2014/main" id="{9E871F15-8DBF-4F46-BD54-401E2BFB60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01" r="31048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758BB7-0FC2-4B44-B4DA-84467471DB67}"/>
              </a:ext>
            </a:extLst>
          </p:cNvPr>
          <p:cNvSpPr/>
          <p:nvPr userDrawn="1"/>
        </p:nvSpPr>
        <p:spPr>
          <a:xfrm>
            <a:off x="0" y="5486400"/>
            <a:ext cx="12192000" cy="1383211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0"/>
                </a:schemeClr>
              </a:gs>
              <a:gs pos="78000">
                <a:schemeClr val="accent2">
                  <a:lumMod val="60156"/>
                  <a:alpha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9CCFC-0C7C-7E42-AAEE-3FB70C5929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47099" y="1069731"/>
            <a:ext cx="8697800" cy="2194560"/>
          </a:xfrm>
          <a:effectLst/>
        </p:spPr>
        <p:txBody>
          <a:bodyPr anchor="t">
            <a:normAutofit/>
          </a:bodyPr>
          <a:lstStyle>
            <a:lvl1pPr algn="ctr">
              <a:defRPr sz="360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Title for Divider (Graphic)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7B958B-EF8E-214B-9B02-2EE3EF507FDD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/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98BA64-B15C-8146-85CE-EE4EA1ADA406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bg1"/>
                </a:solidFill>
              </a:rPr>
              <a:pPr algn="r"/>
              <a:t>‹#›</a:t>
            </a:fld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8053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526D4-5096-450A-A179-244642EBFC42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EDD69-4421-47E6-9B44-68BFEBAE4F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96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72F9-695E-4EAA-B5E5-E813B408D9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DD12DA-14D1-4B80-929A-BCB4ECB6F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AF51F-F121-4FBA-BF20-54CA3BA4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459D8-8F9F-4AF2-A8C0-14C73542EEA9}" type="datetime1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02825-E4AB-4AF0-A78D-9FC417B3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2C13-DFA0-4C41-8DCD-E9F7A0845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08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7628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81">
          <p15:clr>
            <a:srgbClr val="FBAE40"/>
          </p15:clr>
        </p15:guide>
        <p15:guide id="4" pos="690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791806"/>
          </a:xfrm>
          <a:prstGeom prst="rect">
            <a:avLst/>
          </a:prstGeom>
        </p:spPr>
        <p:txBody>
          <a:bodyPr vert="horz" lIns="0" tIns="137160" rIns="0" bIns="0" rtlCol="0">
            <a:normAutofit/>
          </a:bodyPr>
          <a:lstStyle/>
          <a:p>
            <a:pPr lvl="0"/>
            <a:r>
              <a:rPr lang="en-US"/>
              <a:t>Paragraph type</a:t>
            </a:r>
          </a:p>
          <a:p>
            <a:pPr lvl="1"/>
            <a:r>
              <a:rPr lang="en-US"/>
              <a:t>Click the “Indent More” button (above) for first-level bullets</a:t>
            </a:r>
          </a:p>
          <a:p>
            <a:pPr lvl="2"/>
            <a:r>
              <a:rPr lang="en-US"/>
              <a:t>Click the “Indent More” button (above) twice for second-level bullets</a:t>
            </a:r>
          </a:p>
          <a:p>
            <a:pPr lvl="3"/>
            <a:r>
              <a:rPr lang="en-US"/>
              <a:t>Click the “Indent More” button (above) three times for third-level bullets</a:t>
            </a:r>
          </a:p>
          <a:p>
            <a:pPr lvl="4"/>
            <a:r>
              <a:rPr lang="en-US"/>
              <a:t>Click the “Indent More” button (above) four times for fourth-level bullets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1118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Master Slide 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9C718-696D-8C48-95E3-35ACB84AD8D9}"/>
              </a:ext>
            </a:extLst>
          </p:cNvPr>
          <p:cNvSpPr txBox="1"/>
          <p:nvPr userDrawn="1"/>
        </p:nvSpPr>
        <p:spPr>
          <a:xfrm>
            <a:off x="-1" y="6638779"/>
            <a:ext cx="914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>
                <a:solidFill>
                  <a:schemeClr val="bg1">
                    <a:lumMod val="75000"/>
                  </a:schemeClr>
                </a:solidFill>
                <a:latin typeface="Arial Black" charset="0"/>
                <a:cs typeface="Arial Black" charset="0"/>
              </a:rPr>
              <a:t>INTERNATIONAL MONETARY FUND</a:t>
            </a:r>
            <a:endParaRPr lang="en-US" sz="9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5D478-FD4A-2240-B032-46F4E3BAB6E8}"/>
              </a:ext>
            </a:extLst>
          </p:cNvPr>
          <p:cNvSpPr txBox="1"/>
          <p:nvPr userDrawn="1"/>
        </p:nvSpPr>
        <p:spPr>
          <a:xfrm>
            <a:off x="10981592" y="6623390"/>
            <a:ext cx="1210408" cy="24622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33391695-0C6B-4B4E-A11F-D5E1D321FCD2}" type="slidenum">
              <a:rPr lang="en-US" sz="1000" smtClean="0">
                <a:solidFill>
                  <a:schemeClr val="accent1"/>
                </a:solidFill>
              </a:rPr>
              <a:pPr algn="r"/>
              <a:t>‹#›</a:t>
            </a:fld>
            <a:endParaRPr lang="en-US" sz="1000">
              <a:solidFill>
                <a:schemeClr val="accen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7" r:id="rId2"/>
    <p:sldLayoutId id="2147483748" r:id="rId3"/>
    <p:sldLayoutId id="2147483744" r:id="rId4"/>
    <p:sldLayoutId id="2147483747" r:id="rId5"/>
    <p:sldLayoutId id="2147483745" r:id="rId6"/>
    <p:sldLayoutId id="2147483749" r:id="rId7"/>
    <p:sldLayoutId id="2147483746" r:id="rId8"/>
    <p:sldLayoutId id="2147483743" r:id="rId9"/>
    <p:sldLayoutId id="2147483759" r:id="rId10"/>
    <p:sldLayoutId id="2147483754" r:id="rId11"/>
    <p:sldLayoutId id="2147483775" r:id="rId12"/>
    <p:sldLayoutId id="2147483777" r:id="rId13"/>
  </p:sldLayoutIdLst>
  <p:transition>
    <p:fade/>
  </p:transition>
  <p:hf hdr="0" dt="0"/>
  <p:txStyles>
    <p:titleStyle>
      <a:lvl1pPr algn="l" defTabSz="914314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0" indent="0" algn="l" defTabSz="914314" rtl="0" eaLnBrk="1" latinLnBrk="0" hangingPunct="1">
        <a:spcBef>
          <a:spcPts val="2400"/>
        </a:spcBef>
        <a:buClr>
          <a:schemeClr val="accent1"/>
        </a:buClr>
        <a:buSzPct val="110000"/>
        <a:buFont typeface="Wingdings" charset="2"/>
        <a:buNone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33363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8788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SzPct val="65000"/>
        <a:buFont typeface="ArialMT"/>
        <a:buChar char="►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92150" indent="-233363" algn="l" defTabSz="914314" rtl="0" eaLnBrk="1" latinLnBrk="0" hangingPunct="1">
        <a:spcBef>
          <a:spcPts val="600"/>
        </a:spcBef>
        <a:buClr>
          <a:schemeClr val="accent1"/>
        </a:buClr>
        <a:buSzPct val="100000"/>
        <a:buFont typeface="LucidaGrande" charset="0"/>
        <a:buChar char="◆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917575" indent="-225425" algn="l" defTabSz="914314" rtl="0" eaLnBrk="1" latinLnBrk="0" hangingPunct="1">
        <a:spcBef>
          <a:spcPts val="600"/>
        </a:spcBef>
        <a:buClr>
          <a:schemeClr val="bg1">
            <a:lumMod val="50000"/>
          </a:schemeClr>
        </a:buClr>
        <a:buFont typeface=".HelveticaNeueDeskInterface-Regular"/>
        <a:buChar char="●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64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22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79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35" indent="-228578" algn="l" defTabSz="91431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14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7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28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85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42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00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57" algn="l" defTabSz="91431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CAF7-1F49-4180-A7FF-870B76E26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Linking Fiscal Policy Decisions with Equality Outcomes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D5D5A-4AAA-4897-9449-83DE78E84BC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98F3EC-2B39-D4F6-E088-E256ACE4AF2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43DA6-4E4D-D376-A55B-9C9D92FB8AD4}"/>
              </a:ext>
            </a:extLst>
          </p:cNvPr>
          <p:cNvSpPr txBox="1"/>
          <p:nvPr/>
        </p:nvSpPr>
        <p:spPr>
          <a:xfrm>
            <a:off x="5902036" y="5248894"/>
            <a:ext cx="489108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Lauren Keating, Resident Advisor, IMF, FAD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lkeating2@imf.org</a:t>
            </a:r>
          </a:p>
        </p:txBody>
      </p:sp>
    </p:spTree>
    <p:extLst>
      <p:ext uri="{BB962C8B-B14F-4D97-AF65-F5344CB8AC3E}">
        <p14:creationId xmlns:p14="http://schemas.microsoft.com/office/powerpoint/2010/main" val="2322553725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xplosion: 8 Points 16">
            <a:extLst>
              <a:ext uri="{FF2B5EF4-FFF2-40B4-BE49-F238E27FC236}">
                <a16:creationId xmlns:a16="http://schemas.microsoft.com/office/drawing/2014/main" id="{18C369F5-B014-CA63-6F68-EAD4F29D5779}"/>
              </a:ext>
            </a:extLst>
          </p:cNvPr>
          <p:cNvSpPr/>
          <p:nvPr/>
        </p:nvSpPr>
        <p:spPr>
          <a:xfrm>
            <a:off x="4600834" y="422101"/>
            <a:ext cx="2743200" cy="1781175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Explosion: 8 Points 14">
            <a:extLst>
              <a:ext uri="{FF2B5EF4-FFF2-40B4-BE49-F238E27FC236}">
                <a16:creationId xmlns:a16="http://schemas.microsoft.com/office/drawing/2014/main" id="{5E69719E-82B6-12D7-9D2A-53F063821695}"/>
              </a:ext>
            </a:extLst>
          </p:cNvPr>
          <p:cNvSpPr/>
          <p:nvPr/>
        </p:nvSpPr>
        <p:spPr>
          <a:xfrm>
            <a:off x="7753778" y="4336926"/>
            <a:ext cx="2743200" cy="1781175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6D6C90-BDEF-96F5-7831-4FF05DADF45C}"/>
              </a:ext>
            </a:extLst>
          </p:cNvPr>
          <p:cNvSpPr txBox="1">
            <a:spLocks/>
          </p:cNvSpPr>
          <p:nvPr/>
        </p:nvSpPr>
        <p:spPr>
          <a:xfrm>
            <a:off x="547687" y="239033"/>
            <a:ext cx="11096625" cy="914400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How are fiscal policy decisions connected with equality outcomes?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45713F0-ABAA-17D4-BF43-867F9945BD72}"/>
              </a:ext>
            </a:extLst>
          </p:cNvPr>
          <p:cNvSpPr/>
          <p:nvPr/>
        </p:nvSpPr>
        <p:spPr>
          <a:xfrm>
            <a:off x="4461254" y="3995955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Fiscal Policies </a:t>
            </a:r>
          </a:p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(others: </a:t>
            </a:r>
            <a:r>
              <a:rPr lang="en-US" sz="1400" dirty="0">
                <a:solidFill>
                  <a:schemeClr val="bg1"/>
                </a:solidFill>
              </a:rPr>
              <a:t>monetary, structural, financial)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F92E198-2C5A-2628-2C17-A66CE410CB87}"/>
              </a:ext>
            </a:extLst>
          </p:cNvPr>
          <p:cNvSpPr/>
          <p:nvPr/>
        </p:nvSpPr>
        <p:spPr>
          <a:xfrm>
            <a:off x="1964500" y="1312690"/>
            <a:ext cx="2743200" cy="2743200"/>
          </a:xfrm>
          <a:prstGeom prst="ellipse">
            <a:avLst/>
          </a:prstGeom>
          <a:solidFill>
            <a:srgbClr val="C00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Inequality 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(Opportunities and Outcomes)</a:t>
            </a:r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Education, health, financial inclusion,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labor force, wages,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representation,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leadership</a:t>
            </a:r>
          </a:p>
          <a:p>
            <a:pPr algn="l"/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6147098-72CE-B838-A1E8-D0DCA0B0925D}"/>
              </a:ext>
            </a:extLst>
          </p:cNvPr>
          <p:cNvSpPr/>
          <p:nvPr/>
        </p:nvSpPr>
        <p:spPr>
          <a:xfrm>
            <a:off x="6803534" y="1476602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Macro Outcomes</a:t>
            </a:r>
          </a:p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marL="0" lvl="1" algn="ctr" defTabSz="914400"/>
            <a:r>
              <a:rPr lang="en-US" sz="1600" dirty="0">
                <a:solidFill>
                  <a:schemeClr val="bg1"/>
                </a:solidFill>
              </a:rPr>
              <a:t>Economic growth and resilience,</a:t>
            </a:r>
          </a:p>
          <a:p>
            <a:pPr marL="0" lvl="1" algn="ctr" defTabSz="914400"/>
            <a:r>
              <a:rPr lang="en-US" sz="1600" dirty="0">
                <a:solidFill>
                  <a:schemeClr val="bg1"/>
                </a:solidFill>
              </a:rPr>
              <a:t>macro-financial stability</a:t>
            </a:r>
          </a:p>
          <a:p>
            <a:pPr marL="0" lvl="1" algn="ctr" defTabSz="914400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8441641-EBD4-8E3B-A0A7-3D79D0446D70}"/>
              </a:ext>
            </a:extLst>
          </p:cNvPr>
          <p:cNvSpPr/>
          <p:nvPr/>
        </p:nvSpPr>
        <p:spPr>
          <a:xfrm rot="12954239">
            <a:off x="7061946" y="3573867"/>
            <a:ext cx="914400" cy="1828800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3253EFE-D3A3-B341-9FA3-A54C13E8D7A4}"/>
              </a:ext>
            </a:extLst>
          </p:cNvPr>
          <p:cNvSpPr/>
          <p:nvPr/>
        </p:nvSpPr>
        <p:spPr>
          <a:xfrm rot="8404864">
            <a:off x="3665980" y="3573867"/>
            <a:ext cx="914400" cy="182880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29BF8D97-B68B-9B88-5C33-545DD5D00931}"/>
              </a:ext>
            </a:extLst>
          </p:cNvPr>
          <p:cNvSpPr/>
          <p:nvPr/>
        </p:nvSpPr>
        <p:spPr>
          <a:xfrm>
            <a:off x="4512624" y="1805056"/>
            <a:ext cx="2640459" cy="983152"/>
          </a:xfrm>
          <a:prstGeom prst="leftRightArrow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593AB2-0ADE-2399-DB4B-F282275E2861}"/>
              </a:ext>
            </a:extLst>
          </p:cNvPr>
          <p:cNvSpPr txBox="1"/>
          <p:nvPr/>
        </p:nvSpPr>
        <p:spPr>
          <a:xfrm>
            <a:off x="8314097" y="4927832"/>
            <a:ext cx="1760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Objective of the IMF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2E9E2A-A435-AA27-B04F-AB3DDDADB067}"/>
              </a:ext>
            </a:extLst>
          </p:cNvPr>
          <p:cNvSpPr txBox="1"/>
          <p:nvPr/>
        </p:nvSpPr>
        <p:spPr>
          <a:xfrm>
            <a:off x="4997536" y="907536"/>
            <a:ext cx="1949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Implications for macro-outcomes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CCA7E1-AC28-87B9-D94E-9CAADAF36B3A}"/>
              </a:ext>
            </a:extLst>
          </p:cNvPr>
          <p:cNvSpPr/>
          <p:nvPr/>
        </p:nvSpPr>
        <p:spPr>
          <a:xfrm rot="18615486">
            <a:off x="3870874" y="2877359"/>
            <a:ext cx="6437313" cy="225050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283E3EC-2B36-2065-D5A0-5DFE50DA3725}"/>
              </a:ext>
            </a:extLst>
          </p:cNvPr>
          <p:cNvSpPr/>
          <p:nvPr/>
        </p:nvSpPr>
        <p:spPr>
          <a:xfrm>
            <a:off x="2169810" y="1531689"/>
            <a:ext cx="7545690" cy="225050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40C50E9-70D9-095F-18C2-12B3F975BEC8}"/>
              </a:ext>
            </a:extLst>
          </p:cNvPr>
          <p:cNvSpPr/>
          <p:nvPr/>
        </p:nvSpPr>
        <p:spPr>
          <a:xfrm rot="2764187">
            <a:off x="1323314" y="2954011"/>
            <a:ext cx="6555040" cy="225050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xplosion: 8 Points 21">
            <a:extLst>
              <a:ext uri="{FF2B5EF4-FFF2-40B4-BE49-F238E27FC236}">
                <a16:creationId xmlns:a16="http://schemas.microsoft.com/office/drawing/2014/main" id="{0101A67E-7A4A-F5B4-BE60-871DCE04A870}"/>
              </a:ext>
            </a:extLst>
          </p:cNvPr>
          <p:cNvSpPr/>
          <p:nvPr/>
        </p:nvSpPr>
        <p:spPr>
          <a:xfrm>
            <a:off x="942065" y="4481326"/>
            <a:ext cx="2743200" cy="1781175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D69601-DC4D-EA74-5699-D5D44CAA3DA4}"/>
              </a:ext>
            </a:extLst>
          </p:cNvPr>
          <p:cNvSpPr txBox="1"/>
          <p:nvPr/>
        </p:nvSpPr>
        <p:spPr>
          <a:xfrm>
            <a:off x="1371911" y="5141645"/>
            <a:ext cx="176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031823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" grpId="0" animBg="1"/>
      <p:bldP spid="4" grpId="0" animBg="1"/>
      <p:bldP spid="5" grpId="0" animBg="1"/>
      <p:bldP spid="6" grpId="0" animBg="1"/>
      <p:bldP spid="9" grpId="0" animBg="1"/>
      <p:bldP spid="8" grpId="0" animBg="1"/>
      <p:bldP spid="11" grpId="0" animBg="1"/>
      <p:bldP spid="3" grpId="0"/>
      <p:bldP spid="14" grpId="0"/>
      <p:bldP spid="18" grpId="0" animBg="1"/>
      <p:bldP spid="20" grpId="0" animBg="1"/>
      <p:bldP spid="21" grpId="0" animBg="1"/>
      <p:bldP spid="22" grpId="0" animBg="1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6C7BD-0C26-8BA3-833B-F3F5ED1E6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CF3B2-DC21-B128-AF0A-CE9AF75379CE}"/>
              </a:ext>
            </a:extLst>
          </p:cNvPr>
          <p:cNvSpPr txBox="1">
            <a:spLocks/>
          </p:cNvSpPr>
          <p:nvPr/>
        </p:nvSpPr>
        <p:spPr>
          <a:xfrm>
            <a:off x="547687" y="239033"/>
            <a:ext cx="11096625" cy="914400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How are fiscal policy decisions connected with equality outcomes?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262CCA7-EECD-57E6-EBC2-E4976C0A6D12}"/>
              </a:ext>
            </a:extLst>
          </p:cNvPr>
          <p:cNvSpPr/>
          <p:nvPr/>
        </p:nvSpPr>
        <p:spPr>
          <a:xfrm>
            <a:off x="9214229" y="3995955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Fiscal Policies </a:t>
            </a:r>
          </a:p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(others: </a:t>
            </a:r>
            <a:r>
              <a:rPr lang="en-US" sz="1400" dirty="0">
                <a:solidFill>
                  <a:schemeClr val="bg1"/>
                </a:solidFill>
              </a:rPr>
              <a:t>monetary, structural, financial)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4565EC3-2D45-52CC-BDE2-028A3C5575EA}"/>
              </a:ext>
            </a:extLst>
          </p:cNvPr>
          <p:cNvSpPr/>
          <p:nvPr/>
        </p:nvSpPr>
        <p:spPr>
          <a:xfrm>
            <a:off x="6717475" y="1312690"/>
            <a:ext cx="2743200" cy="2743200"/>
          </a:xfrm>
          <a:prstGeom prst="ellipse">
            <a:avLst/>
          </a:prstGeom>
          <a:solidFill>
            <a:srgbClr val="C00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Inequality 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(Opportunities and Outcomes)</a:t>
            </a:r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Education, health, financial inclusion,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labor force, wages,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representation,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leadership</a:t>
            </a:r>
          </a:p>
          <a:p>
            <a:pPr algn="l"/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95F67F64-725B-EA5E-DB5C-51BAB82FF3D3}"/>
              </a:ext>
            </a:extLst>
          </p:cNvPr>
          <p:cNvSpPr/>
          <p:nvPr/>
        </p:nvSpPr>
        <p:spPr>
          <a:xfrm rot="8404864">
            <a:off x="8418955" y="3573867"/>
            <a:ext cx="914400" cy="182880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E867269-7DA5-FF32-7EEA-45F2AABB05AC}"/>
              </a:ext>
            </a:extLst>
          </p:cNvPr>
          <p:cNvSpPr/>
          <p:nvPr/>
        </p:nvSpPr>
        <p:spPr>
          <a:xfrm rot="2764187">
            <a:off x="6076289" y="2954011"/>
            <a:ext cx="6555040" cy="225050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xplosion: 8 Points 21">
            <a:extLst>
              <a:ext uri="{FF2B5EF4-FFF2-40B4-BE49-F238E27FC236}">
                <a16:creationId xmlns:a16="http://schemas.microsoft.com/office/drawing/2014/main" id="{93AB27EF-9BA0-540F-FB12-21FF44CF4B5E}"/>
              </a:ext>
            </a:extLst>
          </p:cNvPr>
          <p:cNvSpPr/>
          <p:nvPr/>
        </p:nvSpPr>
        <p:spPr>
          <a:xfrm>
            <a:off x="5695040" y="4481326"/>
            <a:ext cx="2743200" cy="1781175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A608AD-6FB4-DF3C-8934-42E11FAB5A00}"/>
              </a:ext>
            </a:extLst>
          </p:cNvPr>
          <p:cNvSpPr txBox="1"/>
          <p:nvPr/>
        </p:nvSpPr>
        <p:spPr>
          <a:xfrm>
            <a:off x="6124886" y="5141645"/>
            <a:ext cx="176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C16B6B-1138-D8F6-058E-A6F3D6DD1E45}"/>
              </a:ext>
            </a:extLst>
          </p:cNvPr>
          <p:cNvSpPr txBox="1"/>
          <p:nvPr/>
        </p:nvSpPr>
        <p:spPr>
          <a:xfrm>
            <a:off x="943365" y="1368415"/>
            <a:ext cx="45133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 impacts through policy/programs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E.g., Grants or credits to women owned businesses; funding to support safe homes for GBV survivors; funding to support men with substance use disorders, removing VAT from sanitary products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AB527-B781-6715-D6EF-452F128E3595}"/>
              </a:ext>
            </a:extLst>
          </p:cNvPr>
          <p:cNvSpPr txBox="1"/>
          <p:nvPr/>
        </p:nvSpPr>
        <p:spPr>
          <a:xfrm>
            <a:off x="1085849" y="3542349"/>
            <a:ext cx="42283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Indirect impacts through policy/program choices: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E.g., Changes to taxation, public spending, or debt management, unintentionally altering the distribution of wealth, income, consumption, or opportunity.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2AA6D3-1B63-B7FB-7B25-FE6765BC8FBA}"/>
              </a:ext>
            </a:extLst>
          </p:cNvPr>
          <p:cNvSpPr/>
          <p:nvPr/>
        </p:nvSpPr>
        <p:spPr>
          <a:xfrm>
            <a:off x="732944" y="3067051"/>
            <a:ext cx="4799409" cy="2783622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AE037EB-6868-2720-FB0A-F4C3F19A8A93}"/>
              </a:ext>
            </a:extLst>
          </p:cNvPr>
          <p:cNvCxnSpPr>
            <a:cxnSpLocks/>
          </p:cNvCxnSpPr>
          <p:nvPr/>
        </p:nvCxnSpPr>
        <p:spPr>
          <a:xfrm flipH="1" flipV="1">
            <a:off x="5084412" y="2853640"/>
            <a:ext cx="1364492" cy="1755211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D0D5E3-F3CA-183C-DF50-37A1D4751C22}"/>
              </a:ext>
            </a:extLst>
          </p:cNvPr>
          <p:cNvCxnSpPr>
            <a:cxnSpLocks/>
          </p:cNvCxnSpPr>
          <p:nvPr/>
        </p:nvCxnSpPr>
        <p:spPr>
          <a:xfrm flipH="1" flipV="1">
            <a:off x="5009633" y="4254497"/>
            <a:ext cx="1393857" cy="46754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350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56177-183B-DC08-54D5-46F025DAF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4FF599B-6CCF-BE61-2588-B01DCBBB04B9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243460" y="2402666"/>
            <a:ext cx="1977269" cy="51242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9C41224-BFAF-6674-F041-C8FD61ED34A3}"/>
              </a:ext>
            </a:extLst>
          </p:cNvPr>
          <p:cNvSpPr txBox="1">
            <a:spLocks/>
          </p:cNvSpPr>
          <p:nvPr/>
        </p:nvSpPr>
        <p:spPr>
          <a:xfrm>
            <a:off x="547687" y="239033"/>
            <a:ext cx="11096625" cy="914400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How are fiscal policy decisions connected with equality outcomes?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5F3B13-F62B-6463-DD29-0ADE21CADFA7}"/>
              </a:ext>
            </a:extLst>
          </p:cNvPr>
          <p:cNvSpPr txBox="1"/>
          <p:nvPr/>
        </p:nvSpPr>
        <p:spPr>
          <a:xfrm>
            <a:off x="458889" y="1454884"/>
            <a:ext cx="3905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Indirect impacts through policy/program choices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C82CC94-E464-11DA-0BEB-0B8A529AC408}"/>
              </a:ext>
            </a:extLst>
          </p:cNvPr>
          <p:cNvSpPr/>
          <p:nvPr/>
        </p:nvSpPr>
        <p:spPr>
          <a:xfrm>
            <a:off x="289128" y="1038225"/>
            <a:ext cx="4244772" cy="1438275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65875-60F6-1722-A27E-559B351A0F0D}"/>
              </a:ext>
            </a:extLst>
          </p:cNvPr>
          <p:cNvSpPr/>
          <p:nvPr/>
        </p:nvSpPr>
        <p:spPr>
          <a:xfrm>
            <a:off x="4873422" y="1253372"/>
            <a:ext cx="2695577" cy="12589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Fiscal Space?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84A252-1F0D-2CFC-D580-7919DD763E6C}"/>
              </a:ext>
            </a:extLst>
          </p:cNvPr>
          <p:cNvSpPr/>
          <p:nvPr/>
        </p:nvSpPr>
        <p:spPr>
          <a:xfrm>
            <a:off x="8736642" y="2915093"/>
            <a:ext cx="968174" cy="6359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D55CFD-5247-23CC-EC57-B44314FF7F3B}"/>
              </a:ext>
            </a:extLst>
          </p:cNvPr>
          <p:cNvSpPr/>
          <p:nvPr/>
        </p:nvSpPr>
        <p:spPr>
          <a:xfrm>
            <a:off x="2838450" y="2957734"/>
            <a:ext cx="968174" cy="63591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98C1D4-9C60-5358-7BF6-96A5A9E0FE9C}"/>
              </a:ext>
            </a:extLst>
          </p:cNvPr>
          <p:cNvSpPr txBox="1"/>
          <p:nvPr/>
        </p:nvSpPr>
        <p:spPr>
          <a:xfrm>
            <a:off x="8232094" y="3774816"/>
            <a:ext cx="36335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Spending or reprioritize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Increase Taxes or expand tax base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Borrow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D7C0D3-5C8F-1351-7C72-B54343729F44}"/>
              </a:ext>
            </a:extLst>
          </p:cNvPr>
          <p:cNvSpPr txBox="1"/>
          <p:nvPr/>
        </p:nvSpPr>
        <p:spPr>
          <a:xfrm>
            <a:off x="2277634" y="3774816"/>
            <a:ext cx="22806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Save (fiscal buffers)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Spend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Taxes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Debt repayment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8AE53747-F152-F8D8-2D51-5B3D103F400B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 flipV="1">
            <a:off x="3322538" y="2402666"/>
            <a:ext cx="1550885" cy="55506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Explosion: 8 Points 27">
            <a:extLst>
              <a:ext uri="{FF2B5EF4-FFF2-40B4-BE49-F238E27FC236}">
                <a16:creationId xmlns:a16="http://schemas.microsoft.com/office/drawing/2014/main" id="{CEBB7520-2FF9-A249-C303-A49CB60A016A}"/>
              </a:ext>
            </a:extLst>
          </p:cNvPr>
          <p:cNvSpPr/>
          <p:nvPr/>
        </p:nvSpPr>
        <p:spPr>
          <a:xfrm>
            <a:off x="3965571" y="4107029"/>
            <a:ext cx="4864101" cy="3155203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Which segment of the population is affected by these decisions?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Directly/indirectly, benefitting/negatively affected?</a:t>
            </a:r>
          </a:p>
        </p:txBody>
      </p:sp>
    </p:spTree>
    <p:extLst>
      <p:ext uri="{BB962C8B-B14F-4D97-AF65-F5344CB8AC3E}">
        <p14:creationId xmlns:p14="http://schemas.microsoft.com/office/powerpoint/2010/main" val="15781171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1" grpId="0"/>
      <p:bldP spid="12" grpId="0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607C4-EF45-5269-F028-500F011E6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816B5743-B749-8CEA-25D5-7BFD50F845C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436260" y="1482491"/>
            <a:ext cx="1977269" cy="512427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A3831A1-62DE-BAF8-DE0D-C7F7CC8531DC}"/>
              </a:ext>
            </a:extLst>
          </p:cNvPr>
          <p:cNvSpPr txBox="1">
            <a:spLocks/>
          </p:cNvSpPr>
          <p:nvPr/>
        </p:nvSpPr>
        <p:spPr>
          <a:xfrm>
            <a:off x="547687" y="239033"/>
            <a:ext cx="11096625" cy="914400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Is there Fiscal Space?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07494C-A59A-B1C3-CCA0-D8EAC29DF8CA}"/>
              </a:ext>
            </a:extLst>
          </p:cNvPr>
          <p:cNvSpPr/>
          <p:nvPr/>
        </p:nvSpPr>
        <p:spPr>
          <a:xfrm>
            <a:off x="1929442" y="1994918"/>
            <a:ext cx="968174" cy="635915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No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47EC7-732F-F8E9-231A-67458C9DB8AF}"/>
              </a:ext>
            </a:extLst>
          </p:cNvPr>
          <p:cNvSpPr txBox="1"/>
          <p:nvPr/>
        </p:nvSpPr>
        <p:spPr>
          <a:xfrm>
            <a:off x="1424894" y="2854641"/>
            <a:ext cx="36335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Spending or reprioritize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Increase Taxes or expand tax base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Borrow</a:t>
            </a:r>
          </a:p>
        </p:txBody>
      </p:sp>
      <p:sp>
        <p:nvSpPr>
          <p:cNvPr id="28" name="Explosion: 8 Points 27">
            <a:extLst>
              <a:ext uri="{FF2B5EF4-FFF2-40B4-BE49-F238E27FC236}">
                <a16:creationId xmlns:a16="http://schemas.microsoft.com/office/drawing/2014/main" id="{0C17BD71-67CC-D089-2023-1C561B5A0F76}"/>
              </a:ext>
            </a:extLst>
          </p:cNvPr>
          <p:cNvSpPr/>
          <p:nvPr/>
        </p:nvSpPr>
        <p:spPr>
          <a:xfrm>
            <a:off x="3965571" y="4107029"/>
            <a:ext cx="4864101" cy="3155203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Which segment of the population is affected by these decisions?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Directly/indirectly, benefitting/negatively affected?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4EAA2D-1F76-DBB9-3B2C-CBBE160966B6}"/>
              </a:ext>
            </a:extLst>
          </p:cNvPr>
          <p:cNvSpPr txBox="1"/>
          <p:nvPr/>
        </p:nvSpPr>
        <p:spPr>
          <a:xfrm>
            <a:off x="5238309" y="1850791"/>
            <a:ext cx="7245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E.g., Reducing social spending </a:t>
            </a:r>
            <a:r>
              <a:rPr lang="en-US" sz="2000" dirty="0"/>
              <a:t>– who will this disproportionately impact? How?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858DB-A0FC-096F-FF06-5F3EFD60D5C7}"/>
              </a:ext>
            </a:extLst>
          </p:cNvPr>
          <p:cNvSpPr txBox="1"/>
          <p:nvPr/>
        </p:nvSpPr>
        <p:spPr>
          <a:xfrm>
            <a:off x="5238309" y="2645190"/>
            <a:ext cx="7245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E.g., Increasing Revenue </a:t>
            </a:r>
            <a:r>
              <a:rPr lang="en-US" sz="2000" dirty="0"/>
              <a:t>– Excise tax, VAT, personal income tax, corporate income tax, capital gains tax, import customs tariffs? </a:t>
            </a:r>
          </a:p>
        </p:txBody>
      </p:sp>
      <p:sp>
        <p:nvSpPr>
          <p:cNvPr id="14" name="Explosion: 8 Points 13">
            <a:extLst>
              <a:ext uri="{FF2B5EF4-FFF2-40B4-BE49-F238E27FC236}">
                <a16:creationId xmlns:a16="http://schemas.microsoft.com/office/drawing/2014/main" id="{C58A64EA-F12C-3094-3A8E-C1AE0AB34A61}"/>
              </a:ext>
            </a:extLst>
          </p:cNvPr>
          <p:cNvSpPr/>
          <p:nvPr/>
        </p:nvSpPr>
        <p:spPr>
          <a:xfrm>
            <a:off x="8476343" y="3504925"/>
            <a:ext cx="4581526" cy="2598570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Disaggregated data by: income, region (urban/rural), gender, age? </a:t>
            </a:r>
          </a:p>
        </p:txBody>
      </p:sp>
    </p:spTree>
    <p:extLst>
      <p:ext uri="{BB962C8B-B14F-4D97-AF65-F5344CB8AC3E}">
        <p14:creationId xmlns:p14="http://schemas.microsoft.com/office/powerpoint/2010/main" val="2201498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7" grpId="0"/>
      <p:bldP spid="8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002E-7FB5-BA83-AB44-8961DCB4D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3AAC3-6D67-42AB-DE16-D21873F60401}"/>
              </a:ext>
            </a:extLst>
          </p:cNvPr>
          <p:cNvSpPr txBox="1">
            <a:spLocks/>
          </p:cNvSpPr>
          <p:nvPr/>
        </p:nvSpPr>
        <p:spPr>
          <a:xfrm>
            <a:off x="547687" y="239033"/>
            <a:ext cx="11096625" cy="914400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Is there Fiscal Space?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0E752E7-0E7E-F777-7C35-0AD525B3CE39}"/>
              </a:ext>
            </a:extLst>
          </p:cNvPr>
          <p:cNvSpPr/>
          <p:nvPr/>
        </p:nvSpPr>
        <p:spPr>
          <a:xfrm>
            <a:off x="9861550" y="2398934"/>
            <a:ext cx="968174" cy="635915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Yes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75F0A9-C4BC-4190-6655-AEA63A58FBB3}"/>
              </a:ext>
            </a:extLst>
          </p:cNvPr>
          <p:cNvSpPr txBox="1"/>
          <p:nvPr/>
        </p:nvSpPr>
        <p:spPr>
          <a:xfrm>
            <a:off x="9300734" y="3216016"/>
            <a:ext cx="22806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Save (fiscal buffers)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Spend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Reduce Taxes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Debt repayment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4AD3C22F-547B-6C85-A4E4-3450288A2B4F}"/>
              </a:ext>
            </a:extLst>
          </p:cNvPr>
          <p:cNvCxnSpPr>
            <a:cxnSpLocks/>
            <a:endCxn id="9" idx="0"/>
          </p:cNvCxnSpPr>
          <p:nvPr/>
        </p:nvCxnSpPr>
        <p:spPr>
          <a:xfrm rot="10800000" flipV="1">
            <a:off x="10345638" y="1843866"/>
            <a:ext cx="1550885" cy="555068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xplosion: 8 Points 3">
            <a:extLst>
              <a:ext uri="{FF2B5EF4-FFF2-40B4-BE49-F238E27FC236}">
                <a16:creationId xmlns:a16="http://schemas.microsoft.com/office/drawing/2014/main" id="{55F33DA5-AC68-8AE0-108D-3BB0309C9AC3}"/>
              </a:ext>
            </a:extLst>
          </p:cNvPr>
          <p:cNvSpPr/>
          <p:nvPr/>
        </p:nvSpPr>
        <p:spPr>
          <a:xfrm>
            <a:off x="610642" y="4031104"/>
            <a:ext cx="4864101" cy="3155203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Which segment of the population is affected by these decisions? 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Directly/indirectly, benefitting/ negatively affected?</a:t>
            </a:r>
          </a:p>
        </p:txBody>
      </p:sp>
      <p:sp>
        <p:nvSpPr>
          <p:cNvPr id="5" name="Explosion: 8 Points 4">
            <a:extLst>
              <a:ext uri="{FF2B5EF4-FFF2-40B4-BE49-F238E27FC236}">
                <a16:creationId xmlns:a16="http://schemas.microsoft.com/office/drawing/2014/main" id="{AD366F53-6667-12B2-E30B-C6CF75BB0443}"/>
              </a:ext>
            </a:extLst>
          </p:cNvPr>
          <p:cNvSpPr/>
          <p:nvPr/>
        </p:nvSpPr>
        <p:spPr>
          <a:xfrm>
            <a:off x="5121414" y="3429000"/>
            <a:ext cx="4581526" cy="2598570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Disaggregated data by: income, region (urban/rural), gender, age?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317188-28BA-AE86-1463-C0D75D9E1E21}"/>
              </a:ext>
            </a:extLst>
          </p:cNvPr>
          <p:cNvSpPr txBox="1"/>
          <p:nvPr/>
        </p:nvSpPr>
        <p:spPr>
          <a:xfrm>
            <a:off x="988143" y="1841126"/>
            <a:ext cx="724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E.g., Capital Investment </a:t>
            </a:r>
            <a:r>
              <a:rPr lang="en-US" sz="2000" dirty="0"/>
              <a:t>– Infrastructure spending?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9F076-1924-3044-A115-E5A32724B6E9}"/>
              </a:ext>
            </a:extLst>
          </p:cNvPr>
          <p:cNvSpPr txBox="1"/>
          <p:nvPr/>
        </p:nvSpPr>
        <p:spPr>
          <a:xfrm>
            <a:off x="988143" y="2635525"/>
            <a:ext cx="7245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E.g., Reducing Tax </a:t>
            </a:r>
            <a:r>
              <a:rPr lang="en-US" sz="2000" dirty="0"/>
              <a:t>– Capital gains tax, personal income tax? </a:t>
            </a:r>
          </a:p>
        </p:txBody>
      </p:sp>
    </p:spTree>
    <p:extLst>
      <p:ext uri="{BB962C8B-B14F-4D97-AF65-F5344CB8AC3E}">
        <p14:creationId xmlns:p14="http://schemas.microsoft.com/office/powerpoint/2010/main" val="2906278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7A9A-E216-32D1-265D-970EDE6C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A64C-7FBB-C69D-43CD-C171DA510708}"/>
              </a:ext>
            </a:extLst>
          </p:cNvPr>
          <p:cNvSpPr txBox="1">
            <a:spLocks/>
          </p:cNvSpPr>
          <p:nvPr/>
        </p:nvSpPr>
        <p:spPr>
          <a:xfrm>
            <a:off x="547687" y="239033"/>
            <a:ext cx="11096625" cy="914400"/>
          </a:xfrm>
          <a:prstGeom prst="rect">
            <a:avLst/>
          </a:prstGeom>
        </p:spPr>
        <p:txBody>
          <a:bodyPr/>
          <a:lstStyle>
            <a:lvl1pPr algn="l" defTabSz="91431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tx2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sz="2800" dirty="0">
                <a:latin typeface="Arial Black" panose="020B0A04020102020204" pitchFamily="34" charset="0"/>
              </a:rPr>
              <a:t>How are fiscal policy decisions connected with equality outcomes?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418BA02-3491-B1B3-C23A-F8983B9CE2EF}"/>
              </a:ext>
            </a:extLst>
          </p:cNvPr>
          <p:cNvSpPr/>
          <p:nvPr/>
        </p:nvSpPr>
        <p:spPr>
          <a:xfrm>
            <a:off x="9214229" y="3995955"/>
            <a:ext cx="2743200" cy="2743200"/>
          </a:xfrm>
          <a:prstGeom prst="ellipse">
            <a:avLst/>
          </a:prstGeom>
          <a:solidFill>
            <a:srgbClr val="004C9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Fiscal Policies </a:t>
            </a:r>
          </a:p>
          <a:p>
            <a:pPr algn="ctr"/>
            <a:br>
              <a:rPr lang="en-US" b="1" dirty="0">
                <a:solidFill>
                  <a:schemeClr val="bg1"/>
                </a:solidFill>
              </a:rPr>
            </a:br>
            <a:r>
              <a:rPr lang="en-US" sz="1600" dirty="0">
                <a:solidFill>
                  <a:schemeClr val="bg1"/>
                </a:solidFill>
              </a:rPr>
              <a:t>(others: </a:t>
            </a:r>
            <a:r>
              <a:rPr lang="en-US" sz="1400" dirty="0">
                <a:solidFill>
                  <a:schemeClr val="bg1"/>
                </a:solidFill>
              </a:rPr>
              <a:t>monetary, structural, financial)</a:t>
            </a:r>
          </a:p>
          <a:p>
            <a:pPr algn="ctr"/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D2B52CE-0436-3F2D-188A-B7EDB174430E}"/>
              </a:ext>
            </a:extLst>
          </p:cNvPr>
          <p:cNvSpPr/>
          <p:nvPr/>
        </p:nvSpPr>
        <p:spPr>
          <a:xfrm>
            <a:off x="6717475" y="1312690"/>
            <a:ext cx="2743200" cy="2743200"/>
          </a:xfrm>
          <a:prstGeom prst="ellipse">
            <a:avLst/>
          </a:prstGeom>
          <a:solidFill>
            <a:srgbClr val="C00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Inequality </a:t>
            </a:r>
          </a:p>
          <a:p>
            <a:pPr algn="ctr"/>
            <a:r>
              <a:rPr lang="en-US" sz="1100" b="1" dirty="0">
                <a:solidFill>
                  <a:schemeClr val="bg1"/>
                </a:solidFill>
              </a:rPr>
              <a:t>(Opportunities and Outcomes)</a:t>
            </a:r>
          </a:p>
          <a:p>
            <a:pPr algn="ctr"/>
            <a:endParaRPr lang="en-US" sz="1100" b="1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Education, health, financial inclusion,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labor force, wages,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representation,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leadership</a:t>
            </a:r>
          </a:p>
          <a:p>
            <a:pPr algn="l"/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3CF5DA65-23BE-A7A4-6792-EA732D49D21D}"/>
              </a:ext>
            </a:extLst>
          </p:cNvPr>
          <p:cNvSpPr/>
          <p:nvPr/>
        </p:nvSpPr>
        <p:spPr>
          <a:xfrm rot="8404864">
            <a:off x="8418955" y="3573867"/>
            <a:ext cx="914400" cy="1828800"/>
          </a:xfrm>
          <a:prstGeom prst="downArrow">
            <a:avLst/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904184-A0F2-D9AD-5E18-5A36D720BADA}"/>
              </a:ext>
            </a:extLst>
          </p:cNvPr>
          <p:cNvSpPr/>
          <p:nvPr/>
        </p:nvSpPr>
        <p:spPr>
          <a:xfrm rot="2764187">
            <a:off x="6076289" y="2954011"/>
            <a:ext cx="6555040" cy="2250508"/>
          </a:xfrm>
          <a:prstGeom prst="round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Explosion: 8 Points 21">
            <a:extLst>
              <a:ext uri="{FF2B5EF4-FFF2-40B4-BE49-F238E27FC236}">
                <a16:creationId xmlns:a16="http://schemas.microsoft.com/office/drawing/2014/main" id="{682950B2-23AF-0895-A74D-2FFDFAE7BF2E}"/>
              </a:ext>
            </a:extLst>
          </p:cNvPr>
          <p:cNvSpPr/>
          <p:nvPr/>
        </p:nvSpPr>
        <p:spPr>
          <a:xfrm>
            <a:off x="5695040" y="4481326"/>
            <a:ext cx="2743200" cy="1781175"/>
          </a:xfrm>
          <a:prstGeom prst="irregularSeal1">
            <a:avLst/>
          </a:prstGeom>
          <a:solidFill>
            <a:srgbClr val="FFF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AB6FE2-C2C2-4D44-B2AC-666E814EE80C}"/>
              </a:ext>
            </a:extLst>
          </p:cNvPr>
          <p:cNvSpPr txBox="1"/>
          <p:nvPr/>
        </p:nvSpPr>
        <p:spPr>
          <a:xfrm>
            <a:off x="6124886" y="5141645"/>
            <a:ext cx="1760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How?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235330-B553-518A-7590-D681DDE42D55}"/>
              </a:ext>
            </a:extLst>
          </p:cNvPr>
          <p:cNvSpPr txBox="1"/>
          <p:nvPr/>
        </p:nvSpPr>
        <p:spPr>
          <a:xfrm>
            <a:off x="1843190" y="1649493"/>
            <a:ext cx="42528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Direct impacts through policy/programs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E.g., Grants or credits to women owned businesses; funding to support safe homes for GBV survivors; funding to support men with substance use disorders, removing VAT from sanitary products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B5DFAF-1C54-7968-F2CE-253C8C5C1438}"/>
              </a:ext>
            </a:extLst>
          </p:cNvPr>
          <p:cNvSpPr txBox="1"/>
          <p:nvPr/>
        </p:nvSpPr>
        <p:spPr>
          <a:xfrm>
            <a:off x="1814812" y="3731688"/>
            <a:ext cx="39052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Indirect impacts through policy/program choices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Changes to taxation, public spending, or debt management, unintentionally altering the distribution of wealth, income, consumption, or opportunity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9D0EEC0-A2B8-9D83-DB0F-8DD46038603D}"/>
              </a:ext>
            </a:extLst>
          </p:cNvPr>
          <p:cNvCxnSpPr>
            <a:cxnSpLocks/>
          </p:cNvCxnSpPr>
          <p:nvPr/>
        </p:nvCxnSpPr>
        <p:spPr>
          <a:xfrm flipH="1" flipV="1">
            <a:off x="5474526" y="3207951"/>
            <a:ext cx="974378" cy="1400900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BB3A799-979E-2142-A494-B6AC100A54A5}"/>
              </a:ext>
            </a:extLst>
          </p:cNvPr>
          <p:cNvCxnSpPr>
            <a:cxnSpLocks/>
          </p:cNvCxnSpPr>
          <p:nvPr/>
        </p:nvCxnSpPr>
        <p:spPr>
          <a:xfrm flipH="1" flipV="1">
            <a:off x="5194300" y="4356100"/>
            <a:ext cx="1054099" cy="354311"/>
          </a:xfrm>
          <a:prstGeom prst="straightConnector1">
            <a:avLst/>
          </a:prstGeom>
          <a:ln w="571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Left Brace 2">
            <a:extLst>
              <a:ext uri="{FF2B5EF4-FFF2-40B4-BE49-F238E27FC236}">
                <a16:creationId xmlns:a16="http://schemas.microsoft.com/office/drawing/2014/main" id="{EA305B62-3632-1E64-40F6-CD6131D8DBED}"/>
              </a:ext>
            </a:extLst>
          </p:cNvPr>
          <p:cNvSpPr/>
          <p:nvPr/>
        </p:nvSpPr>
        <p:spPr>
          <a:xfrm>
            <a:off x="1398452" y="1501530"/>
            <a:ext cx="699789" cy="40862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xplosion: 8 Points 8">
            <a:extLst>
              <a:ext uri="{FF2B5EF4-FFF2-40B4-BE49-F238E27FC236}">
                <a16:creationId xmlns:a16="http://schemas.microsoft.com/office/drawing/2014/main" id="{ECF4FF5E-1FD7-BEE6-3FB7-431CA9293EFF}"/>
              </a:ext>
            </a:extLst>
          </p:cNvPr>
          <p:cNvSpPr/>
          <p:nvPr/>
        </p:nvSpPr>
        <p:spPr>
          <a:xfrm rot="18786294">
            <a:off x="-565428" y="2422771"/>
            <a:ext cx="2743200" cy="1781175"/>
          </a:xfrm>
          <a:prstGeom prst="irregularSeal1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B4EA20-E051-4064-BBDC-C1431B31DD7F}"/>
              </a:ext>
            </a:extLst>
          </p:cNvPr>
          <p:cNvSpPr txBox="1"/>
          <p:nvPr/>
        </p:nvSpPr>
        <p:spPr>
          <a:xfrm rot="18525824">
            <a:off x="-145735" y="3034085"/>
            <a:ext cx="1994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Gender Budgeting </a:t>
            </a:r>
          </a:p>
        </p:txBody>
      </p:sp>
    </p:spTree>
    <p:extLst>
      <p:ext uri="{BB962C8B-B14F-4D97-AF65-F5344CB8AC3E}">
        <p14:creationId xmlns:p14="http://schemas.microsoft.com/office/powerpoint/2010/main" val="22531106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3" grpId="0" animBg="1"/>
      <p:bldP spid="9" grpId="0" animBg="1"/>
    </p:bldLst>
  </p:timing>
</p:sld>
</file>

<file path=ppt/theme/theme1.xml><?xml version="1.0" encoding="utf-8"?>
<a:theme xmlns:a="http://schemas.openxmlformats.org/drawingml/2006/main" name="Custom Design">
  <a:themeElements>
    <a:clrScheme name="Fund Standard Colors">
      <a:dk1>
        <a:sysClr val="windowText" lastClr="000000"/>
      </a:dk1>
      <a:lt1>
        <a:sysClr val="window" lastClr="FFFFFF"/>
      </a:lt1>
      <a:dk2>
        <a:srgbClr val="004C97"/>
      </a:dk2>
      <a:lt2>
        <a:srgbClr val="CAEDFE"/>
      </a:lt2>
      <a:accent1>
        <a:srgbClr val="009CDE"/>
      </a:accent1>
      <a:accent2>
        <a:srgbClr val="F2A900"/>
      </a:accent2>
      <a:accent3>
        <a:srgbClr val="8031A7"/>
      </a:accent3>
      <a:accent4>
        <a:srgbClr val="DA291C"/>
      </a:accent4>
      <a:accent5>
        <a:srgbClr val="78BE20"/>
      </a:accent5>
      <a:accent6>
        <a:srgbClr val="FF8200"/>
      </a:accent6>
      <a:hlink>
        <a:srgbClr val="009CDE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MF-ExternalPowerPoint" id="{1321CDCF-73F3-F24E-AE22-CEC7E53E1B8D}" vid="{BD453AAE-108E-BA46-89C7-F40981556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c6f1c3b-ea25-4e6f-91c5-aeb92d62b0fb">
      <UserInfo>
        <DisplayName>Newiak, Monique</DisplayName>
        <AccountId>36</AccountId>
        <AccountType/>
      </UserInfo>
      <UserInfo>
        <DisplayName>Fabrizio, Stefania</DisplayName>
        <AccountId>13</AccountId>
        <AccountType/>
      </UserInfo>
    </SharedWithUsers>
    <lcf76f155ced4ddcb4097134ff3c332f xmlns="3b9dc015-dd13-448b-b628-7af3b634cca4">
      <Terms xmlns="http://schemas.microsoft.com/office/infopath/2007/PartnerControls"/>
    </lcf76f155ced4ddcb4097134ff3c332f>
    <TaxCatchAll xmlns="0c6f1c3b-ea25-4e6f-91c5-aeb92d62b0f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08F46CC7369E44A38836926FD52CA4" ma:contentTypeVersion="17" ma:contentTypeDescription="Create a new document." ma:contentTypeScope="" ma:versionID="34d57240de38c5ca99423c2d81288a91">
  <xsd:schema xmlns:xsd="http://www.w3.org/2001/XMLSchema" xmlns:xs="http://www.w3.org/2001/XMLSchema" xmlns:p="http://schemas.microsoft.com/office/2006/metadata/properties" xmlns:ns2="3b9dc015-dd13-448b-b628-7af3b634cca4" xmlns:ns3="0c6f1c3b-ea25-4e6f-91c5-aeb92d62b0fb" targetNamespace="http://schemas.microsoft.com/office/2006/metadata/properties" ma:root="true" ma:fieldsID="e270c38f22e04ee44ccb8e6601e8d1f8" ns2:_="" ns3:_="">
    <xsd:import namespace="3b9dc015-dd13-448b-b628-7af3b634cca4"/>
    <xsd:import namespace="0c6f1c3b-ea25-4e6f-91c5-aeb92d62b0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9dc015-dd13-448b-b628-7af3b634cc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81b0229-19ef-4425-8520-9f00e8db620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6f1c3b-ea25-4e6f-91c5-aeb92d62b0f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4a2595-35b6-44ef-becd-33de771bf95a}" ma:internalName="TaxCatchAll" ma:showField="CatchAllData" ma:web="0c6f1c3b-ea25-4e6f-91c5-aeb92d62b0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162A38-A1B6-44EC-9978-4717904F1FF6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openxmlformats.org/package/2006/metadata/core-properties"/>
    <ds:schemaRef ds:uri="0c6f1c3b-ea25-4e6f-91c5-aeb92d62b0fb"/>
    <ds:schemaRef ds:uri="3b9dc015-dd13-448b-b628-7af3b634cca4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FC8D683-7F18-4E49-BDB3-3705720246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935ABD-58BE-42FA-9E20-5BE820CEF5AA}">
  <ds:schemaRefs>
    <ds:schemaRef ds:uri="0c6f1c3b-ea25-4e6f-91c5-aeb92d62b0fb"/>
    <ds:schemaRef ds:uri="3b9dc015-dd13-448b-b628-7af3b634cca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IMF_GenericExternalPowerPoint</Template>
  <TotalTime>13366</TotalTime>
  <Words>578</Words>
  <Application>Microsoft Office PowerPoint</Application>
  <PresentationFormat>Widescreen</PresentationFormat>
  <Paragraphs>103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.HelveticaNeueDeskInterface-Regular</vt:lpstr>
      <vt:lpstr>Arial</vt:lpstr>
      <vt:lpstr>Arial Black</vt:lpstr>
      <vt:lpstr>ArialMT</vt:lpstr>
      <vt:lpstr>Calibri</vt:lpstr>
      <vt:lpstr>Courier New</vt:lpstr>
      <vt:lpstr>LucidaGrande</vt:lpstr>
      <vt:lpstr>Wingdings</vt:lpstr>
      <vt:lpstr>Custom Design</vt:lpstr>
      <vt:lpstr>Linking Fiscal Policy Decisions with Equality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a visually integrated Fund</dc:title>
  <dc:creator>Kourdali, Baya</dc:creator>
  <cp:lastModifiedBy>Keating, Lauren</cp:lastModifiedBy>
  <cp:revision>13</cp:revision>
  <cp:lastPrinted>2023-06-10T07:45:01Z</cp:lastPrinted>
  <dcterms:created xsi:type="dcterms:W3CDTF">2018-03-12T18:37:20Z</dcterms:created>
  <dcterms:modified xsi:type="dcterms:W3CDTF">2026-05-27T08:17:32Z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eDOCS AutoSave">
    <vt:lpwstr/>
  </property>
  <property fmtid="{D5CDD505-2E9C-101B-9397-08002B2CF9AE}" pid="4" name="ContentTypeId">
    <vt:lpwstr>0x0101003808F46CC7369E44A38836926FD52CA4</vt:lpwstr>
  </property>
  <property fmtid="{D5CDD505-2E9C-101B-9397-08002B2CF9AE}" pid="5" name="MediaServiceImageTags">
    <vt:lpwstr/>
  </property>
  <property fmtid="{D5CDD505-2E9C-101B-9397-08002B2CF9AE}" pid="6" name="MSIP_Label_0c07ed86-5dc5-4593-ad03-a8684b843815_Enabled">
    <vt:lpwstr>true</vt:lpwstr>
  </property>
  <property fmtid="{D5CDD505-2E9C-101B-9397-08002B2CF9AE}" pid="7" name="MSIP_Label_0c07ed86-5dc5-4593-ad03-a8684b843815_SetDate">
    <vt:lpwstr>2026-02-03T14:24:23Z</vt:lpwstr>
  </property>
  <property fmtid="{D5CDD505-2E9C-101B-9397-08002B2CF9AE}" pid="8" name="MSIP_Label_0c07ed86-5dc5-4593-ad03-a8684b843815_Method">
    <vt:lpwstr>Privileged</vt:lpwstr>
  </property>
  <property fmtid="{D5CDD505-2E9C-101B-9397-08002B2CF9AE}" pid="9" name="MSIP_Label_0c07ed86-5dc5-4593-ad03-a8684b843815_Name">
    <vt:lpwstr>0c07ed86-5dc5-4593-ad03-a8684b843815</vt:lpwstr>
  </property>
  <property fmtid="{D5CDD505-2E9C-101B-9397-08002B2CF9AE}" pid="10" name="MSIP_Label_0c07ed86-5dc5-4593-ad03-a8684b843815_SiteId">
    <vt:lpwstr>8085fa43-302e-45bd-b171-a6648c3b6be7</vt:lpwstr>
  </property>
  <property fmtid="{D5CDD505-2E9C-101B-9397-08002B2CF9AE}" pid="11" name="MSIP_Label_0c07ed86-5dc5-4593-ad03-a8684b843815_ActionId">
    <vt:lpwstr>6be01676-eaed-4f13-8851-3d1ccc97646b</vt:lpwstr>
  </property>
  <property fmtid="{D5CDD505-2E9C-101B-9397-08002B2CF9AE}" pid="12" name="MSIP_Label_0c07ed86-5dc5-4593-ad03-a8684b843815_ContentBits">
    <vt:lpwstr>0</vt:lpwstr>
  </property>
  <property fmtid="{D5CDD505-2E9C-101B-9397-08002B2CF9AE}" pid="13" name="MSIP_Label_0c07ed86-5dc5-4593-ad03-a8684b843815_Tag">
    <vt:lpwstr>10, 0, 1, 1</vt:lpwstr>
  </property>
  <property fmtid="{D5CDD505-2E9C-101B-9397-08002B2CF9AE}" pid="14" name="MSIP_Label_5b0716c7-1bba-4fad-a90d-ee558de007a7_Extended_MSFT_Method">
    <vt:lpwstr>Privileged</vt:lpwstr>
  </property>
  <property fmtid="{D5CDD505-2E9C-101B-9397-08002B2CF9AE}" pid="15" name="MSIP_Label_5b0716c7-1bba-4fad-a90d-ee558de007a7_SetDate">
    <vt:lpwstr>2026-02-03T07:53:26Z</vt:lpwstr>
  </property>
  <property fmtid="{D5CDD505-2E9C-101B-9397-08002B2CF9AE}" pid="16" name="MSIP_Label_5b0716c7-1bba-4fad-a90d-ee558de007a7_SiteId">
    <vt:lpwstr>8085fa43-302e-45bd-b171-a6648c3b6be7</vt:lpwstr>
  </property>
  <property fmtid="{D5CDD505-2E9C-101B-9397-08002B2CF9AE}" pid="17" name="MSIP_Label_5b0716c7-1bba-4fad-a90d-ee558de007a7_Name">
    <vt:lpwstr>Email Encrypt</vt:lpwstr>
  </property>
  <property fmtid="{D5CDD505-2E9C-101B-9397-08002B2CF9AE}" pid="18" name="MSIP_Label_5b0716c7-1bba-4fad-a90d-ee558de007a7_Enabled">
    <vt:lpwstr>True</vt:lpwstr>
  </property>
</Properties>
</file>