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2" r:id="rId5"/>
    <p:sldMasterId id="2147483776" r:id="rId6"/>
  </p:sldMasterIdLst>
  <p:notesMasterIdLst>
    <p:notesMasterId r:id="rId25"/>
  </p:notesMasterIdLst>
  <p:handoutMasterIdLst>
    <p:handoutMasterId r:id="rId26"/>
  </p:handoutMasterIdLst>
  <p:sldIdLst>
    <p:sldId id="1153" r:id="rId7"/>
    <p:sldId id="4483" r:id="rId8"/>
    <p:sldId id="4469" r:id="rId9"/>
    <p:sldId id="4470" r:id="rId10"/>
    <p:sldId id="4466" r:id="rId11"/>
    <p:sldId id="4472" r:id="rId12"/>
    <p:sldId id="4471" r:id="rId13"/>
    <p:sldId id="4361" r:id="rId14"/>
    <p:sldId id="4498" r:id="rId15"/>
    <p:sldId id="4489" r:id="rId16"/>
    <p:sldId id="4499" r:id="rId17"/>
    <p:sldId id="4479" r:id="rId18"/>
    <p:sldId id="4482" r:id="rId19"/>
    <p:sldId id="4497" r:id="rId20"/>
    <p:sldId id="4462" r:id="rId21"/>
    <p:sldId id="4463" r:id="rId22"/>
    <p:sldId id="4410" r:id="rId23"/>
    <p:sldId id="4399" r:id="rId24"/>
  </p:sldIdLst>
  <p:sldSz cx="12192000" cy="6858000"/>
  <p:notesSz cx="7023100" cy="9309100"/>
  <p:custDataLst>
    <p:tags r:id="rId27"/>
  </p:custDataLst>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754463-30FA-824E-9681-17E0926DDDD5}">
          <p14:sldIdLst>
            <p14:sldId id="1153"/>
            <p14:sldId id="4483"/>
            <p14:sldId id="4469"/>
            <p14:sldId id="4470"/>
            <p14:sldId id="4466"/>
            <p14:sldId id="4472"/>
            <p14:sldId id="4471"/>
            <p14:sldId id="4361"/>
            <p14:sldId id="4498"/>
            <p14:sldId id="4489"/>
            <p14:sldId id="4499"/>
            <p14:sldId id="4479"/>
            <p14:sldId id="4482"/>
            <p14:sldId id="4497"/>
          </p14:sldIdLst>
        </p14:section>
        <p14:section name="Extra slides" id="{67204C01-321E-4788-9C21-6A1C7C4A5326}">
          <p14:sldIdLst>
            <p14:sldId id="4462"/>
            <p14:sldId id="4463"/>
            <p14:sldId id="4410"/>
            <p14:sldId id="439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44" userDrawn="1">
          <p15:clr>
            <a:srgbClr val="A4A3A4"/>
          </p15:clr>
        </p15:guide>
        <p15:guide id="2" pos="2124" userDrawn="1">
          <p15:clr>
            <a:srgbClr val="A4A3A4"/>
          </p15:clr>
        </p15:guide>
        <p15:guide id="3" orient="horz" pos="2932" userDrawn="1">
          <p15:clr>
            <a:srgbClr val="A4A3A4"/>
          </p15:clr>
        </p15:guide>
        <p15:guide id="4" pos="221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9A2F19-CB1E-740C-50CD-B91678F8B4AE}" name="Newiak, Monique" initials="MN" userId="S::MNewiak@imf.org::d81357e1-9dfe-4194-af64-4cbd758c7fe5" providerId="AD"/>
  <p188:author id="{F9268FA7-36FA-7F93-E320-2B2AE8F0B00B}" name="Spatafora, Nikola" initials="NLS" userId="Spatafora, Nikola" providerId="None"/>
  <p188:author id="{228F27D4-DC16-A0DC-CE4F-F9D21D2716E7}" name="Zafar, Usama" initials="UZ" userId="S::uzafar@imf.org::aa999f82-f7e1-41bb-a8a0-9006fcec8cd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pofford, Laura" initials="SL" lastIdx="2" clrIdx="6">
    <p:extLst>
      <p:ext uri="{19B8F6BF-5375-455C-9EA6-DF929625EA0E}">
        <p15:presenceInfo xmlns:p15="http://schemas.microsoft.com/office/powerpoint/2012/main" userId="S::lspofford@imf.org::729f3023-7458-4886-8b15-5f4e1b9d797d" providerId="AD"/>
      </p:ext>
    </p:extLst>
  </p:cmAuthor>
  <p:cmAuthor id="1" name="Nandwa, Boaz" initials="NB" lastIdx="10" clrIdx="0"/>
  <p:cmAuthor id="8" name="Newiak, Monique" initials="NM" lastIdx="0" clrIdx="7">
    <p:extLst>
      <p:ext uri="{19B8F6BF-5375-455C-9EA6-DF929625EA0E}">
        <p15:presenceInfo xmlns:p15="http://schemas.microsoft.com/office/powerpoint/2012/main" userId="S::MNewiak@IMF.ORG::d81357e1-9dfe-4194-af64-4cbd758c7fe5" providerId="AD"/>
      </p:ext>
    </p:extLst>
  </p:cmAuthor>
  <p:cmAuthor id="2" name="Kamil Dybczak" initials="KD" lastIdx="10" clrIdx="1"/>
  <p:cmAuthor id="9" name="Kazandjian, Romina" initials="KR" lastIdx="4" clrIdx="8">
    <p:extLst>
      <p:ext uri="{19B8F6BF-5375-455C-9EA6-DF929625EA0E}">
        <p15:presenceInfo xmlns:p15="http://schemas.microsoft.com/office/powerpoint/2012/main" userId="S::RKazandjian@imf.org::981dfeef-ec4e-4cfc-812b-25e2594e53c9" providerId="AD"/>
      </p:ext>
    </p:extLst>
  </p:cmAuthor>
  <p:cmAuthor id="3" name="Tamirisa, Natalia" initials="TN" lastIdx="12" clrIdx="2"/>
  <p:cmAuthor id="10" name="Spatafora, Nikola" initials="NLS" lastIdx="53" clrIdx="9">
    <p:extLst>
      <p:ext uri="{19B8F6BF-5375-455C-9EA6-DF929625EA0E}">
        <p15:presenceInfo xmlns:p15="http://schemas.microsoft.com/office/powerpoint/2012/main" userId="Spatafora, Nikola" providerId="None"/>
      </p:ext>
    </p:extLst>
  </p:cmAuthor>
  <p:cmAuthor id="4" name="Almalik, Mansour" initials="AM" lastIdx="6" clrIdx="3"/>
  <p:cmAuthor id="5" name="Pierre, Gaelle" initials="PG" lastIdx="3" clrIdx="4"/>
  <p:cmAuthor id="6" name="Basile, Gregory" initials="BG" lastIdx="9"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00080"/>
    <a:srgbClr val="004C97"/>
    <a:srgbClr val="0000EE"/>
    <a:srgbClr val="FF8200"/>
    <a:srgbClr val="D9D9D9"/>
    <a:srgbClr val="25D129"/>
    <a:srgbClr val="5E8AB4"/>
    <a:srgbClr val="E46C0A"/>
    <a:srgbClr val="DC42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5F3712-BF89-B86D-EC79-8991F5577D14}" v="5" dt="2026-05-21T14:19:05.625"/>
    <p1510:client id="{4DF61A0E-A444-CA97-A080-30A68A429C5F}" v="1" dt="2026-05-21T14:20:14.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96" y="26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44"/>
        <p:guide pos="2124"/>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ovich, Lisa" userId="S::lkolovich@imf.org::705d1648-fc44-4335-a909-7bcc0ef9bfc0" providerId="AD" clId="Web-{4DF61A0E-A444-CA97-A080-30A68A429C5F}"/>
    <pc:docChg chg="delSld modSection">
      <pc:chgData name="Kolovich, Lisa" userId="S::lkolovich@imf.org::705d1648-fc44-4335-a909-7bcc0ef9bfc0" providerId="AD" clId="Web-{4DF61A0E-A444-CA97-A080-30A68A429C5F}" dt="2026-05-21T14:20:14.448" v="0"/>
      <pc:docMkLst>
        <pc:docMk/>
      </pc:docMkLst>
      <pc:sldChg chg="del">
        <pc:chgData name="Kolovich, Lisa" userId="S::lkolovich@imf.org::705d1648-fc44-4335-a909-7bcc0ef9bfc0" providerId="AD" clId="Web-{4DF61A0E-A444-CA97-A080-30A68A429C5F}" dt="2026-05-21T14:20:14.448" v="0"/>
        <pc:sldMkLst>
          <pc:docMk/>
          <pc:sldMk cId="1305749817" sldId="446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2" y="12"/>
            <a:ext cx="3043447" cy="464977"/>
          </a:xfrm>
          <a:prstGeom prst="rect">
            <a:avLst/>
          </a:prstGeom>
        </p:spPr>
        <p:txBody>
          <a:bodyPr vert="horz" lIns="91239" tIns="45618" rIns="91239" bIns="45618" rtlCol="0"/>
          <a:lstStyle>
            <a:lvl1pPr algn="l">
              <a:defRPr sz="1200"/>
            </a:lvl1pPr>
          </a:lstStyle>
          <a:p>
            <a:endParaRPr lang="en-US"/>
          </a:p>
        </p:txBody>
      </p:sp>
      <p:sp>
        <p:nvSpPr>
          <p:cNvPr id="4" name="Footer Placeholder 3"/>
          <p:cNvSpPr>
            <a:spLocks noGrp="1"/>
          </p:cNvSpPr>
          <p:nvPr>
            <p:ph type="ftr" sz="quarter" idx="2"/>
          </p:nvPr>
        </p:nvSpPr>
        <p:spPr>
          <a:xfrm>
            <a:off x="12" y="8842547"/>
            <a:ext cx="3043447" cy="464977"/>
          </a:xfrm>
          <a:prstGeom prst="rect">
            <a:avLst/>
          </a:prstGeom>
        </p:spPr>
        <p:txBody>
          <a:bodyPr vert="horz" lIns="91239" tIns="45618" rIns="91239" bIns="45618" rtlCol="0" anchor="b"/>
          <a:lstStyle>
            <a:lvl1pPr algn="l">
              <a:defRPr sz="1200"/>
            </a:lvl1pPr>
          </a:lstStyle>
          <a:p>
            <a:endParaRPr lang="en-US"/>
          </a:p>
        </p:txBody>
      </p:sp>
      <p:sp>
        <p:nvSpPr>
          <p:cNvPr id="5" name="Slide Number Placeholder 4"/>
          <p:cNvSpPr>
            <a:spLocks noGrp="1"/>
          </p:cNvSpPr>
          <p:nvPr>
            <p:ph type="sldNum" sz="quarter" idx="3"/>
          </p:nvPr>
        </p:nvSpPr>
        <p:spPr>
          <a:xfrm>
            <a:off x="3978075" y="8842547"/>
            <a:ext cx="3043447" cy="464977"/>
          </a:xfrm>
          <a:prstGeom prst="rect">
            <a:avLst/>
          </a:prstGeom>
        </p:spPr>
        <p:txBody>
          <a:bodyPr vert="horz" lIns="91239" tIns="45618" rIns="91239" bIns="45618" rtlCol="0" anchor="b"/>
          <a:lstStyle>
            <a:lvl1pPr algn="r">
              <a:defRPr sz="1200"/>
            </a:lvl1pPr>
          </a:lstStyle>
          <a:p>
            <a:fld id="{70787CFD-D5C7-455D-B121-683BFE13FBD4}" type="slidenum">
              <a:rPr lang="en-US" smtClean="0"/>
              <a:pPr/>
              <a:t>‹#›</a:t>
            </a:fld>
            <a:endParaRPr lang="en-US"/>
          </a:p>
        </p:txBody>
      </p:sp>
    </p:spTree>
    <p:extLst>
      <p:ext uri="{BB962C8B-B14F-4D97-AF65-F5344CB8AC3E}">
        <p14:creationId xmlns:p14="http://schemas.microsoft.com/office/powerpoint/2010/main" val="339198984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6"/>
            <a:ext cx="3043343" cy="465455"/>
          </a:xfrm>
          <a:prstGeom prst="rect">
            <a:avLst/>
          </a:prstGeom>
        </p:spPr>
        <p:txBody>
          <a:bodyPr vert="horz" lIns="93134" tIns="46567" rIns="93134" bIns="46567" rtlCol="0"/>
          <a:lstStyle>
            <a:lvl1pPr algn="l">
              <a:defRPr sz="1200"/>
            </a:lvl1pPr>
          </a:lstStyle>
          <a:p>
            <a:endParaRPr lang="en-US"/>
          </a:p>
        </p:txBody>
      </p:sp>
      <p:sp>
        <p:nvSpPr>
          <p:cNvPr id="3" name="Date Placeholder 2"/>
          <p:cNvSpPr>
            <a:spLocks noGrp="1"/>
          </p:cNvSpPr>
          <p:nvPr>
            <p:ph type="dt" idx="1"/>
          </p:nvPr>
        </p:nvSpPr>
        <p:spPr>
          <a:xfrm>
            <a:off x="3978139" y="6"/>
            <a:ext cx="3043343" cy="465455"/>
          </a:xfrm>
          <a:prstGeom prst="rect">
            <a:avLst/>
          </a:prstGeom>
        </p:spPr>
        <p:txBody>
          <a:bodyPr vert="horz" lIns="93134" tIns="46567" rIns="93134" bIns="46567" rtlCol="0"/>
          <a:lstStyle>
            <a:lvl1pPr algn="r">
              <a:defRPr sz="1200"/>
            </a:lvl1pPr>
          </a:lstStyle>
          <a:p>
            <a:fld id="{F2FB1009-8102-467C-88A3-A8200E3708E5}" type="datetime1">
              <a:rPr lang="en-US" smtClean="0"/>
              <a:t>5/21/2026</a:t>
            </a:fld>
            <a:endParaRPr 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134" tIns="46567" rIns="93134" bIns="46567" rtlCol="0" anchor="ctr"/>
          <a:lstStyle/>
          <a:p>
            <a:endParaRPr lang="en-US"/>
          </a:p>
        </p:txBody>
      </p:sp>
      <p:sp>
        <p:nvSpPr>
          <p:cNvPr id="5" name="Notes Placeholder 4"/>
          <p:cNvSpPr>
            <a:spLocks noGrp="1"/>
          </p:cNvSpPr>
          <p:nvPr>
            <p:ph type="body" sz="quarter" idx="3"/>
          </p:nvPr>
        </p:nvSpPr>
        <p:spPr>
          <a:xfrm>
            <a:off x="702313" y="4421825"/>
            <a:ext cx="5618480" cy="4189095"/>
          </a:xfrm>
          <a:prstGeom prst="rect">
            <a:avLst/>
          </a:prstGeom>
        </p:spPr>
        <p:txBody>
          <a:bodyPr vert="horz" lIns="93134" tIns="46567" rIns="93134" bIns="4656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6"/>
            <a:ext cx="3043343" cy="465455"/>
          </a:xfrm>
          <a:prstGeom prst="rect">
            <a:avLst/>
          </a:prstGeom>
        </p:spPr>
        <p:txBody>
          <a:bodyPr vert="horz" lIns="93134" tIns="46567" rIns="93134" bIns="46567" rtlCol="0" anchor="b"/>
          <a:lstStyle>
            <a:lvl1pPr algn="l">
              <a:defRPr sz="1200"/>
            </a:lvl1pPr>
          </a:lstStyle>
          <a:p>
            <a:endParaRPr lang="en-US"/>
          </a:p>
        </p:txBody>
      </p:sp>
      <p:sp>
        <p:nvSpPr>
          <p:cNvPr id="7" name="Slide Number Placeholder 6"/>
          <p:cNvSpPr>
            <a:spLocks noGrp="1"/>
          </p:cNvSpPr>
          <p:nvPr>
            <p:ph type="sldNum" sz="quarter" idx="5"/>
          </p:nvPr>
        </p:nvSpPr>
        <p:spPr>
          <a:xfrm>
            <a:off x="3978139" y="8842036"/>
            <a:ext cx="3043343" cy="465455"/>
          </a:xfrm>
          <a:prstGeom prst="rect">
            <a:avLst/>
          </a:prstGeom>
        </p:spPr>
        <p:txBody>
          <a:bodyPr vert="horz" lIns="93134" tIns="46567" rIns="93134" bIns="46567" rtlCol="0" anchor="b"/>
          <a:lstStyle>
            <a:lvl1pPr algn="r">
              <a:defRPr sz="1200"/>
            </a:lvl1pPr>
          </a:lstStyle>
          <a:p>
            <a:fld id="{BA49F774-CCF9-492C-9AEB-F2814D4A6625}" type="slidenum">
              <a:rPr lang="en-US" smtClean="0"/>
              <a:pPr/>
              <a:t>‹#›</a:t>
            </a:fld>
            <a:endParaRPr lang="en-US"/>
          </a:p>
        </p:txBody>
      </p:sp>
    </p:spTree>
    <p:extLst>
      <p:ext uri="{BB962C8B-B14F-4D97-AF65-F5344CB8AC3E}">
        <p14:creationId xmlns:p14="http://schemas.microsoft.com/office/powerpoint/2010/main" val="1913010238"/>
      </p:ext>
    </p:extLst>
  </p:cSld>
  <p:clrMap bg1="lt1" tx1="dk1" bg2="lt2" tx2="dk2" accent1="accent1" accent2="accent2" accent3="accent3" accent4="accent4" accent5="accent5" accent6="accent6" hlink="hlink" folHlink="folHlink"/>
  <p:hf hdr="0" ftr="0"/>
  <p:notesStyle>
    <a:lvl1pPr marL="0" algn="l" defTabSz="914314" rtl="0" eaLnBrk="1" latinLnBrk="0" hangingPunct="1">
      <a:defRPr sz="1200" kern="1200">
        <a:solidFill>
          <a:schemeClr val="tx1"/>
        </a:solidFill>
        <a:latin typeface="+mn-lt"/>
        <a:ea typeface="+mn-ea"/>
        <a:cs typeface="+mn-cs"/>
      </a:defRPr>
    </a:lvl1pPr>
    <a:lvl2pPr marL="457157"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2"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5" algn="l" defTabSz="914314" rtl="0" eaLnBrk="1" latinLnBrk="0" hangingPunct="1">
      <a:defRPr sz="1200" kern="1200">
        <a:solidFill>
          <a:schemeClr val="tx1"/>
        </a:solidFill>
        <a:latin typeface="+mn-lt"/>
        <a:ea typeface="+mn-ea"/>
        <a:cs typeface="+mn-cs"/>
      </a:defRPr>
    </a:lvl6pPr>
    <a:lvl7pPr marL="2742942" algn="l" defTabSz="914314" rtl="0" eaLnBrk="1" latinLnBrk="0" hangingPunct="1">
      <a:defRPr sz="1200" kern="1200">
        <a:solidFill>
          <a:schemeClr val="tx1"/>
        </a:solidFill>
        <a:latin typeface="+mn-lt"/>
        <a:ea typeface="+mn-ea"/>
        <a:cs typeface="+mn-cs"/>
      </a:defRPr>
    </a:lvl7pPr>
    <a:lvl8pPr marL="3200100" algn="l" defTabSz="914314" rtl="0" eaLnBrk="1" latinLnBrk="0" hangingPunct="1">
      <a:defRPr sz="1200" kern="1200">
        <a:solidFill>
          <a:schemeClr val="tx1"/>
        </a:solidFill>
        <a:latin typeface="+mn-lt"/>
        <a:ea typeface="+mn-ea"/>
        <a:cs typeface="+mn-cs"/>
      </a:defRPr>
    </a:lvl8pPr>
    <a:lvl9pPr marL="3657257"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61B9B78-73FE-4DA1-81AD-EEA68D15F9CA}" type="slidenum">
              <a:rPr lang="en-US" smtClean="0"/>
              <a:t>1</a:t>
            </a:fld>
            <a:endParaRPr lang="en-US"/>
          </a:p>
        </p:txBody>
      </p:sp>
    </p:spTree>
    <p:extLst>
      <p:ext uri="{BB962C8B-B14F-4D97-AF65-F5344CB8AC3E}">
        <p14:creationId xmlns:p14="http://schemas.microsoft.com/office/powerpoint/2010/main" val="399212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361B9B78-73FE-4DA1-81AD-EEA68D15F9C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50533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E7DE-B76B-FC41-87FB-DFBB30C41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DEB4F-9209-9588-17CF-C24774D3E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17EC9-4D89-F450-2552-EEA387C65E91}"/>
              </a:ext>
            </a:extLst>
          </p:cNvPr>
          <p:cNvSpPr>
            <a:spLocks noGrp="1"/>
          </p:cNvSpPr>
          <p:nvPr>
            <p:ph type="body" idx="1"/>
          </p:nvPr>
        </p:nvSpPr>
        <p:spPr/>
        <p:txBody>
          <a:bodyPr/>
          <a:lstStyle/>
          <a:p>
            <a:pPr marL="171450" indent="-171450">
              <a:buFont typeface="Arial" panose="020B0604020202020204" pitchFamily="34" charset="0"/>
              <a:buChar char="•"/>
            </a:pPr>
            <a:r>
              <a:rPr lang="en-US" sz="1100" dirty="0"/>
              <a:t>When you open the toolkit, you’ll see eight tabs: Home, Indicator, All Indicators, Bar Charts, Scatter Plots, Tables, Map, and Missing. </a:t>
            </a:r>
          </a:p>
          <a:p>
            <a:pPr marL="171450" indent="-171450">
              <a:buFont typeface="Arial" panose="020B0604020202020204" pitchFamily="34" charset="0"/>
              <a:buChar char="•"/>
            </a:pPr>
            <a:r>
              <a:rPr lang="en-US" sz="1100" dirty="0"/>
              <a:t>The </a:t>
            </a:r>
            <a:r>
              <a:rPr lang="en-US" sz="1100" b="1" dirty="0"/>
              <a:t>Home</a:t>
            </a:r>
            <a:r>
              <a:rPr lang="en-US" sz="1100" dirty="0"/>
              <a:t> tab lists each </a:t>
            </a:r>
            <a:r>
              <a:rPr lang="en-US" sz="1100" b="1" dirty="0"/>
              <a:t>female–male gap indicator</a:t>
            </a:r>
            <a:r>
              <a:rPr lang="en-US" sz="1100" dirty="0"/>
              <a:t>, a short definition, the </a:t>
            </a:r>
            <a:r>
              <a:rPr lang="en-US" sz="1100" b="1" dirty="0"/>
              <a:t>data source</a:t>
            </a:r>
            <a:r>
              <a:rPr lang="en-US" sz="1100" dirty="0"/>
              <a:t>, and a </a:t>
            </a:r>
            <a:r>
              <a:rPr lang="en-US" sz="1100" b="1" dirty="0"/>
              <a:t>link</a:t>
            </a:r>
            <a:r>
              <a:rPr lang="en-US" sz="1100" dirty="0"/>
              <a:t>. We track about </a:t>
            </a:r>
            <a:r>
              <a:rPr lang="en-US" sz="1100" b="1" dirty="0"/>
              <a:t>ten indicators</a:t>
            </a:r>
            <a:r>
              <a:rPr lang="en-US" sz="1100" dirty="0"/>
              <a:t> across five topics: finance, education, health, labor and income, and legal rights. </a:t>
            </a:r>
          </a:p>
          <a:p>
            <a:pPr marL="171450" indent="-171450">
              <a:buFont typeface="Arial" panose="020B0604020202020204" pitchFamily="34" charset="0"/>
              <a:buChar char="•"/>
            </a:pPr>
            <a:r>
              <a:rPr lang="en-US" sz="1100" dirty="0"/>
              <a:t>Most gaps are shown as </a:t>
            </a:r>
            <a:r>
              <a:rPr lang="en-US" sz="1100" b="1" dirty="0"/>
              <a:t>male minus female in percentage points</a:t>
            </a:r>
            <a:r>
              <a:rPr lang="en-US" sz="1100" dirty="0"/>
              <a:t>; the legal-rights dimension uses the </a:t>
            </a:r>
            <a:r>
              <a:rPr lang="en-US" sz="1100" b="1" dirty="0"/>
              <a:t>WBL index</a:t>
            </a:r>
            <a:r>
              <a:rPr lang="en-US" sz="1100" dirty="0"/>
              <a:t> on a 0–100 scale.</a:t>
            </a:r>
          </a:p>
          <a:p>
            <a:pPr marL="171450" indent="-171450">
              <a:buFont typeface="Arial" panose="020B0604020202020204" pitchFamily="34" charset="0"/>
              <a:buChar char="•"/>
            </a:pPr>
            <a:r>
              <a:rPr lang="en-US" sz="1100" dirty="0"/>
              <a:t>When you want the full snapshot for a country, you open </a:t>
            </a:r>
            <a:r>
              <a:rPr lang="en-US" sz="1100" b="1" dirty="0"/>
              <a:t>All Indicators</a:t>
            </a:r>
            <a:r>
              <a:rPr lang="en-US" sz="1100" dirty="0"/>
              <a:t>.</a:t>
            </a:r>
          </a:p>
          <a:p>
            <a:pPr marL="171450" indent="-171450">
              <a:buFont typeface="Arial" panose="020B0604020202020204" pitchFamily="34" charset="0"/>
              <a:buChar char="•"/>
            </a:pPr>
            <a:r>
              <a:rPr lang="en-US" sz="1100" dirty="0"/>
              <a:t> For quick comparisons, use the </a:t>
            </a:r>
            <a:r>
              <a:rPr lang="en-US" sz="1100" b="1" dirty="0"/>
              <a:t>Bar Charts, Scatter Plots, Tables,</a:t>
            </a:r>
            <a:r>
              <a:rPr lang="en-US" sz="1100" dirty="0"/>
              <a:t> and </a:t>
            </a:r>
            <a:r>
              <a:rPr lang="en-US" sz="1100" b="1" dirty="0"/>
              <a:t>Map</a:t>
            </a:r>
            <a:r>
              <a:rPr lang="en-US" sz="1100" dirty="0"/>
              <a:t>.</a:t>
            </a:r>
          </a:p>
          <a:p>
            <a:pPr marL="171450" indent="-171450">
              <a:buFont typeface="Arial" panose="020B0604020202020204" pitchFamily="34" charset="0"/>
              <a:buChar char="•"/>
            </a:pPr>
            <a:r>
              <a:rPr lang="en-US" sz="1100" dirty="0"/>
              <a:t> Finally, the </a:t>
            </a:r>
            <a:r>
              <a:rPr lang="en-US" sz="1100" b="1" dirty="0"/>
              <a:t>Missing</a:t>
            </a:r>
            <a:r>
              <a:rPr lang="en-US" sz="1100" dirty="0"/>
              <a:t> tab shows how many indicators are unavailable for a country and exactly </a:t>
            </a:r>
            <a:r>
              <a:rPr lang="en-US" sz="1100" b="1" dirty="0"/>
              <a:t>which</a:t>
            </a:r>
            <a:r>
              <a:rPr lang="en-US" sz="1100" dirty="0"/>
              <a:t> ones—useful for prioritizing data collection</a:t>
            </a:r>
            <a:endParaRPr lang="en-US" sz="1100" b="0" dirty="0"/>
          </a:p>
        </p:txBody>
      </p:sp>
      <p:sp>
        <p:nvSpPr>
          <p:cNvPr id="4" name="Date Placeholder 3">
            <a:extLst>
              <a:ext uri="{FF2B5EF4-FFF2-40B4-BE49-F238E27FC236}">
                <a16:creationId xmlns:a16="http://schemas.microsoft.com/office/drawing/2014/main" id="{483765AD-CA02-AC69-109E-DD217FB831CB}"/>
              </a:ext>
            </a:extLst>
          </p:cNvPr>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a:extLst>
              <a:ext uri="{FF2B5EF4-FFF2-40B4-BE49-F238E27FC236}">
                <a16:creationId xmlns:a16="http://schemas.microsoft.com/office/drawing/2014/main" id="{B39B703F-91EE-C63A-D478-EDF895E221BD}"/>
              </a:ext>
            </a:extLst>
          </p:cNvPr>
          <p:cNvSpPr>
            <a:spLocks noGrp="1"/>
          </p:cNvSpPr>
          <p:nvPr>
            <p:ph type="sldNum" sz="quarter" idx="5"/>
          </p:nvPr>
        </p:nvSpPr>
        <p:spPr/>
        <p:txBody>
          <a:bodyPr/>
          <a:lstStyle/>
          <a:p>
            <a:fld id="{BA49F774-CCF9-492C-9AEB-F2814D4A6625}" type="slidenum">
              <a:rPr lang="en-US" smtClean="0"/>
              <a:pPr/>
              <a:t>3</a:t>
            </a:fld>
            <a:endParaRPr lang="en-US"/>
          </a:p>
        </p:txBody>
      </p:sp>
    </p:spTree>
    <p:extLst>
      <p:ext uri="{BB962C8B-B14F-4D97-AF65-F5344CB8AC3E}">
        <p14:creationId xmlns:p14="http://schemas.microsoft.com/office/powerpoint/2010/main" val="2151002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On this page, you can see the gap for every indicator at once—useful for spotting where your country’s gaps are </a:t>
            </a:r>
            <a:r>
              <a:rPr lang="en-US" b="1" dirty="0"/>
              <a:t>largest and macro-critical</a:t>
            </a:r>
            <a:r>
              <a:rPr lang="en-US" dirty="0"/>
              <a:t>.</a:t>
            </a:r>
          </a:p>
          <a:p>
            <a:pPr marL="171450" indent="-171450">
              <a:buFont typeface="Arial" panose="020B0604020202020204" pitchFamily="34" charset="0"/>
              <a:buChar char="•"/>
            </a:pPr>
            <a:r>
              <a:rPr lang="en-US" dirty="0"/>
              <a:t>The color scheme is simple: </a:t>
            </a:r>
            <a:r>
              <a:rPr lang="en-US" b="1" dirty="0"/>
              <a:t>red means the disparity is against women; blue means it’s against men</a:t>
            </a:r>
            <a:r>
              <a:rPr lang="en-US" dirty="0"/>
              <a:t>. </a:t>
            </a:r>
          </a:p>
          <a:p>
            <a:pPr marL="171450" indent="-171450">
              <a:buFont typeface="Arial" panose="020B0604020202020204" pitchFamily="34" charset="0"/>
              <a:buChar char="•"/>
            </a:pPr>
            <a:r>
              <a:rPr lang="en-US" dirty="0"/>
              <a:t>Even at a glance, you can see many </a:t>
            </a:r>
            <a:r>
              <a:rPr lang="en-US" b="1" dirty="0"/>
              <a:t>red cells</a:t>
            </a:r>
            <a:r>
              <a:rPr lang="en-US" dirty="0"/>
              <a:t> across </a:t>
            </a:r>
            <a:r>
              <a:rPr lang="en-US" dirty="0" err="1"/>
              <a:t>AFRcountries</a:t>
            </a:r>
            <a:r>
              <a:rPr lang="en-US" dirty="0"/>
              <a:t>, particularly in areas like labor and income, finance, and legal rights. </a:t>
            </a:r>
          </a:p>
          <a:p>
            <a:pPr marL="171450" indent="-171450">
              <a:buFont typeface="Arial" panose="020B0604020202020204" pitchFamily="34" charset="0"/>
              <a:buChar char="•"/>
            </a:pPr>
            <a:r>
              <a:rPr lang="en-US" dirty="0"/>
              <a:t>This helps us prioritize where policy action and measurement improvements are most needed</a:t>
            </a: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5</a:t>
            </a:fld>
            <a:endParaRPr lang="en-US"/>
          </a:p>
        </p:txBody>
      </p:sp>
    </p:spTree>
    <p:extLst>
      <p:ext uri="{BB962C8B-B14F-4D97-AF65-F5344CB8AC3E}">
        <p14:creationId xmlns:p14="http://schemas.microsoft.com/office/powerpoint/2010/main" val="2791021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missing tab,  you see </a:t>
            </a:r>
          </a:p>
          <a:p>
            <a:pPr marL="171450" indent="-171450">
              <a:buFont typeface="Arial" panose="020B0604020202020204" pitchFamily="34" charset="0"/>
              <a:buChar char="•"/>
            </a:pPr>
            <a:r>
              <a:rPr lang="en-US" dirty="0"/>
              <a:t>The number of missing indicator by country </a:t>
            </a:r>
          </a:p>
          <a:p>
            <a:pPr marL="171450" indent="-171450">
              <a:buFont typeface="Arial" panose="020B0604020202020204" pitchFamily="34" charset="0"/>
              <a:buChar char="•"/>
            </a:pPr>
            <a:r>
              <a:rPr lang="en-US" dirty="0"/>
              <a:t>The  name of the indictor that is missing</a:t>
            </a:r>
          </a:p>
          <a:p>
            <a:pPr marL="171450" indent="-171450">
              <a:buFont typeface="Arial" panose="020B0604020202020204" pitchFamily="34" charset="0"/>
              <a:buChar char="•"/>
            </a:pPr>
            <a:r>
              <a:rPr lang="en-US" dirty="0"/>
              <a:t>There is a coloring scheme where red shows a lot of missing and </a:t>
            </a:r>
            <a:r>
              <a:rPr lang="en-US" dirty="0" err="1"/>
              <a:t>gree</a:t>
            </a:r>
            <a:r>
              <a:rPr lang="en-US" dirty="0"/>
              <a:t> shows no missing</a:t>
            </a:r>
          </a:p>
          <a:p>
            <a:pPr marL="171450" indent="-171450">
              <a:buFont typeface="Arial" panose="020B0604020202020204" pitchFamily="34" charset="0"/>
              <a:buChar char="•"/>
            </a:pPr>
            <a:r>
              <a:rPr lang="en-US" dirty="0"/>
              <a:t>From our AFR countries, we can see that some of them have red coloring scheme </a:t>
            </a:r>
            <a:r>
              <a:rPr lang="en-US" dirty="0" err="1"/>
              <a:t>whils</a:t>
            </a:r>
            <a:r>
              <a:rPr lang="en-US" dirty="0"/>
              <a:t> have green color </a:t>
            </a:r>
            <a:r>
              <a:rPr lang="en-US" dirty="0" err="1"/>
              <a:t>schem</a:t>
            </a:r>
            <a:endParaRPr lang="en-US" dirty="0"/>
          </a:p>
          <a:p>
            <a:pPr marL="171450" indent="-171450">
              <a:buFont typeface="Arial" panose="020B0604020202020204" pitchFamily="34" charset="0"/>
              <a:buChar char="•"/>
            </a:pPr>
            <a:r>
              <a:rPr lang="en-US" dirty="0"/>
              <a:t> For example, there are 6 missing indicator in EG, 5 missing indicators </a:t>
            </a:r>
            <a:r>
              <a:rPr lang="en-US" dirty="0" err="1"/>
              <a:t>inEritrea</a:t>
            </a:r>
            <a:r>
              <a:rPr lang="en-US" dirty="0"/>
              <a:t>, 1 missing in ETH and Eswatini has no </a:t>
            </a:r>
            <a:r>
              <a:rPr lang="en-US" dirty="0" err="1"/>
              <a:t>missings</a:t>
            </a:r>
            <a:endParaRPr lang="en-US" dirty="0"/>
          </a:p>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7</a:t>
            </a:fld>
            <a:endParaRPr lang="en-US"/>
          </a:p>
        </p:txBody>
      </p:sp>
    </p:spTree>
    <p:extLst>
      <p:ext uri="{BB962C8B-B14F-4D97-AF65-F5344CB8AC3E}">
        <p14:creationId xmlns:p14="http://schemas.microsoft.com/office/powerpoint/2010/main" val="1072822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want you to do the following group exercise</a:t>
            </a:r>
          </a:p>
          <a:p>
            <a:r>
              <a:rPr lang="en-US" dirty="0"/>
              <a:t>Prepare PPT and present</a:t>
            </a:r>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8</a:t>
            </a:fld>
            <a:endParaRPr lang="en-US"/>
          </a:p>
        </p:txBody>
      </p:sp>
    </p:spTree>
    <p:extLst>
      <p:ext uri="{BB962C8B-B14F-4D97-AF65-F5344CB8AC3E}">
        <p14:creationId xmlns:p14="http://schemas.microsoft.com/office/powerpoint/2010/main" val="3101841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98B0B-3376-EDD1-A9CD-517EC3610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DC9464-0815-571A-F87A-31F31162C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39F74-4EA0-FA9C-A6A1-873BD4308E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796197-3A18-B44C-F18C-ABBA1F01B3A4}"/>
              </a:ext>
            </a:extLst>
          </p:cNvPr>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361B9B78-73FE-4DA1-81AD-EEA68D15F9C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92511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C7D4D-0C4A-A96C-D3F9-B6F74B93D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788A8-4FE1-5201-2F0E-7085C2483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DE1E2-42EE-9271-D6FE-7E12EA534FA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7EE60A6-7E60-FA54-2186-F80E452DAC1D}"/>
              </a:ext>
            </a:extLst>
          </p:cNvPr>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CB8A206F-9420-B02F-2A02-E98138FE3296}"/>
              </a:ext>
            </a:extLst>
          </p:cNvPr>
          <p:cNvSpPr>
            <a:spLocks noGrp="1"/>
          </p:cNvSpPr>
          <p:nvPr>
            <p:ph type="sldNum" sz="quarter" idx="5"/>
          </p:nvPr>
        </p:nvSpPr>
        <p:spPr/>
        <p:txBody>
          <a:bodyPr/>
          <a:lstStyle/>
          <a:p>
            <a:fld id="{BA49F774-CCF9-492C-9AEB-F2814D4A6625}" type="slidenum">
              <a:rPr lang="en-US" smtClean="0"/>
              <a:pPr/>
              <a:t>10</a:t>
            </a:fld>
            <a:endParaRPr lang="en-US"/>
          </a:p>
        </p:txBody>
      </p:sp>
    </p:spTree>
    <p:extLst>
      <p:ext uri="{BB962C8B-B14F-4D97-AF65-F5344CB8AC3E}">
        <p14:creationId xmlns:p14="http://schemas.microsoft.com/office/powerpoint/2010/main" val="195698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12</a:t>
            </a:fld>
            <a:endParaRPr lang="en-US"/>
          </a:p>
        </p:txBody>
      </p:sp>
    </p:spTree>
    <p:extLst>
      <p:ext uri="{BB962C8B-B14F-4D97-AF65-F5344CB8AC3E}">
        <p14:creationId xmlns:p14="http://schemas.microsoft.com/office/powerpoint/2010/main" val="1882662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13</a:t>
            </a:fld>
            <a:endParaRPr lang="en-US"/>
          </a:p>
        </p:txBody>
      </p:sp>
    </p:spTree>
    <p:extLst>
      <p:ext uri="{BB962C8B-B14F-4D97-AF65-F5344CB8AC3E}">
        <p14:creationId xmlns:p14="http://schemas.microsoft.com/office/powerpoint/2010/main" val="89142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8E41E-6039-9E3D-FB41-CA365A011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9112C-4FFB-9DF7-3DA8-12BA3A048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6EBF8-E4D6-EC40-C439-57BE618D7E1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F0FC79E-DAAD-CCB5-DD8B-34BE2ADFEE26}"/>
              </a:ext>
            </a:extLst>
          </p:cNvPr>
          <p:cNvSpPr>
            <a:spLocks noGrp="1"/>
          </p:cNvSpPr>
          <p:nvPr>
            <p:ph type="dt" idx="10"/>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1670CA02-CA69-3F7E-5372-31CE723C2FB3}"/>
              </a:ext>
            </a:extLst>
          </p:cNvPr>
          <p:cNvSpPr>
            <a:spLocks noGrp="1"/>
          </p:cNvSpPr>
          <p:nvPr>
            <p:ph type="sldNum" sz="quarter" idx="11"/>
          </p:nvPr>
        </p:nvSpPr>
        <p:spPr/>
        <p:txBody>
          <a:bodyPr/>
          <a:lstStyle/>
          <a:p>
            <a:fld id="{BA49F774-CCF9-492C-9AEB-F2814D4A6625}" type="slidenum">
              <a:rPr lang="en-US" smtClean="0"/>
              <a:pPr/>
              <a:t>14</a:t>
            </a:fld>
            <a:endParaRPr lang="en-US"/>
          </a:p>
        </p:txBody>
      </p:sp>
    </p:spTree>
    <p:extLst>
      <p:ext uri="{BB962C8B-B14F-4D97-AF65-F5344CB8AC3E}">
        <p14:creationId xmlns:p14="http://schemas.microsoft.com/office/powerpoint/2010/main" val="402211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15</a:t>
            </a:fld>
            <a:endParaRPr lang="en-US"/>
          </a:p>
        </p:txBody>
      </p:sp>
    </p:spTree>
    <p:extLst>
      <p:ext uri="{BB962C8B-B14F-4D97-AF65-F5344CB8AC3E}">
        <p14:creationId xmlns:p14="http://schemas.microsoft.com/office/powerpoint/2010/main" val="2015220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16</a:t>
            </a:fld>
            <a:endParaRPr lang="en-US"/>
          </a:p>
        </p:txBody>
      </p:sp>
    </p:spTree>
    <p:extLst>
      <p:ext uri="{BB962C8B-B14F-4D97-AF65-F5344CB8AC3E}">
        <p14:creationId xmlns:p14="http://schemas.microsoft.com/office/powerpoint/2010/main" val="3382562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17</a:t>
            </a:fld>
            <a:endParaRPr lang="en-US"/>
          </a:p>
        </p:txBody>
      </p:sp>
    </p:spTree>
    <p:extLst>
      <p:ext uri="{BB962C8B-B14F-4D97-AF65-F5344CB8AC3E}">
        <p14:creationId xmlns:p14="http://schemas.microsoft.com/office/powerpoint/2010/main" val="2360939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OECD time use data based on people of age between 15 to 64.</a:t>
            </a:r>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Demographics is not a stand-alone issue. The choice of fertility, labor market participation and human capital are linked joint decisions.</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When households make these choices, they roughly have two constraints, time allocation and resource allocation. The time constraint, resource constraint, together with the distribution of household bargaining power and preferences shape the fertility and work decisions of households. </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This framework allows us to think of the diverging demographic trends in a unified framework.</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On the left, we present the time allocation of by male and female. As you see, women tend to spend more time on unpaid work and men tend to spend more time on paid work and leisure.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a setting where barriers for women to participate in labor market is high, women tend to spend more time in unpaid work. They may have more children, but due to the limited resources, they may choose to invest less in the education of each child.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When we think of policies, we can think about how polices can address each of the constraints:</a:t>
            </a:r>
          </a:p>
          <a:p>
            <a:pPr marL="171450" indent="-171450">
              <a:buFont typeface="Arial" panose="020B0604020202020204" pitchFamily="34" charset="0"/>
              <a:buChar char="•"/>
            </a:pPr>
            <a:r>
              <a:rPr lang="en-US" dirty="0"/>
              <a:t>For example, transportation and road infrastructure could reduce the time women spent on fetching water, and allow them more time for other activates such as paid work, so it could relax both time and resource constraint. </a:t>
            </a:r>
          </a:p>
          <a:p>
            <a:pPr marL="171450" indent="-171450">
              <a:buFont typeface="Arial" panose="020B0604020202020204" pitchFamily="34" charset="0"/>
              <a:buChar char="•"/>
            </a:pPr>
            <a:r>
              <a:rPr lang="en-US" dirty="0"/>
              <a:t>Subsidized schooling can help household overcome the resource constraint and at the same time allow the household member who use to watch the children some free time for other activities. </a:t>
            </a:r>
          </a:p>
          <a:p>
            <a:pPr marL="171450" indent="-171450">
              <a:buFont typeface="Arial" panose="020B0604020202020204" pitchFamily="34" charset="0"/>
              <a:buChar char="•"/>
            </a:pPr>
            <a:r>
              <a:rPr lang="en-US" dirty="0"/>
              <a:t>Designing polices to facilitate women’s work-life choice, increasing female’s participation in the paid economic activities contributes to a more inclusive and resilient macro economy.</a:t>
            </a:r>
          </a:p>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18</a:t>
            </a:fld>
            <a:endParaRPr lang="en-US"/>
          </a:p>
        </p:txBody>
      </p:sp>
    </p:spTree>
    <p:extLst>
      <p:ext uri="{BB962C8B-B14F-4D97-AF65-F5344CB8AC3E}">
        <p14:creationId xmlns:p14="http://schemas.microsoft.com/office/powerpoint/2010/main" val="3682865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7098733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0159108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579912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68339043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9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991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808027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1982088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536701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0165849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6085019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879988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11519002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4016884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792685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158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157693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945261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40971704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421767360"/>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4280663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600" b="1" i="0">
                <a:solidFill>
                  <a:srgbClr val="595958"/>
                </a:solidFill>
                <a:latin typeface="Arial"/>
                <a:cs typeface="Arial"/>
              </a:defRPr>
            </a:lvl1pPr>
          </a:lstStyle>
          <a:p>
            <a:endParaRPr/>
          </a:p>
        </p:txBody>
      </p:sp>
      <p:sp>
        <p:nvSpPr>
          <p:cNvPr id="7" name="Slide Number Placeholder 5">
            <a:extLst>
              <a:ext uri="{FF2B5EF4-FFF2-40B4-BE49-F238E27FC236}">
                <a16:creationId xmlns:a16="http://schemas.microsoft.com/office/drawing/2014/main" id="{9FF3D3D5-170A-4418-B408-21CD1E3FF9CE}"/>
              </a:ext>
            </a:extLst>
          </p:cNvPr>
          <p:cNvSpPr>
            <a:spLocks noGrp="1"/>
          </p:cNvSpPr>
          <p:nvPr>
            <p:ph type="sldNum" sz="quarter" idx="12"/>
          </p:nvPr>
        </p:nvSpPr>
        <p:spPr>
          <a:xfrm>
            <a:off x="10769600" y="6400801"/>
            <a:ext cx="812800" cy="365125"/>
          </a:xfrm>
        </p:spPr>
        <p:txBody>
          <a:bodyPr/>
          <a:lstStyle>
            <a:lvl1pPr>
              <a:defRPr>
                <a:solidFill>
                  <a:schemeClr val="tx1"/>
                </a:solidFill>
              </a:defRPr>
            </a:lvl1pPr>
          </a:lstStyle>
          <a:p>
            <a:fld id="{A6069BA8-B578-4BAC-8AFB-0081C5C119AE}" type="slidenum">
              <a:rPr lang="en-US" smtClean="0"/>
              <a:pPr/>
              <a:t>‹#›</a:t>
            </a:fld>
            <a:endParaRPr lang="en-US"/>
          </a:p>
        </p:txBody>
      </p:sp>
    </p:spTree>
    <p:extLst>
      <p:ext uri="{BB962C8B-B14F-4D97-AF65-F5344CB8AC3E}">
        <p14:creationId xmlns:p14="http://schemas.microsoft.com/office/powerpoint/2010/main" val="1032889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339058397"/>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ARTTAC 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13E802-0087-4A88-B9F3-B27074E51DA2}"/>
              </a:ext>
            </a:extLst>
          </p:cNvPr>
          <p:cNvSpPr>
            <a:spLocks noGrp="1"/>
          </p:cNvSpPr>
          <p:nvPr>
            <p:ph type="sldNum" sz="quarter" idx="12"/>
          </p:nvPr>
        </p:nvSpPr>
        <p:spPr>
          <a:xfrm>
            <a:off x="9132569"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0EF9D1-8FE4-4A6C-8373-E5034EFA4A90}" type="slidenum">
              <a:rPr lang="en-US" smtClean="0"/>
              <a:pPr/>
              <a:t>‹#›</a:t>
            </a:fld>
            <a:endParaRPr lang="en-US"/>
          </a:p>
        </p:txBody>
      </p:sp>
      <p:pic>
        <p:nvPicPr>
          <p:cNvPr id="17" name="Picture 16">
            <a:extLst>
              <a:ext uri="{FF2B5EF4-FFF2-40B4-BE49-F238E27FC236}">
                <a16:creationId xmlns:a16="http://schemas.microsoft.com/office/drawing/2014/main" id="{264E6205-D9A5-4D27-BFB4-F7BCEB65A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808059" y="3079268"/>
            <a:ext cx="6567856" cy="349678"/>
          </a:xfrm>
          <a:prstGeom prst="rect">
            <a:avLst/>
          </a:prstGeom>
        </p:spPr>
      </p:pic>
      <p:sp>
        <p:nvSpPr>
          <p:cNvPr id="28" name="Rectangle 27">
            <a:extLst>
              <a:ext uri="{FF2B5EF4-FFF2-40B4-BE49-F238E27FC236}">
                <a16:creationId xmlns:a16="http://schemas.microsoft.com/office/drawing/2014/main" id="{13B1E383-8E3E-4961-9E67-7569E541E23B}"/>
              </a:ext>
            </a:extLst>
          </p:cNvPr>
          <p:cNvSpPr/>
          <p:nvPr/>
        </p:nvSpPr>
        <p:spPr>
          <a:xfrm>
            <a:off x="-7068" y="6538035"/>
            <a:ext cx="12273893" cy="365125"/>
          </a:xfrm>
          <a:prstGeom prst="rect">
            <a:avLst/>
          </a:prstGeom>
          <a:solidFill>
            <a:srgbClr val="F2A900"/>
          </a:solidFill>
          <a:ln>
            <a:solidFill>
              <a:srgbClr val="F2A9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a:p>
        </p:txBody>
      </p:sp>
      <p:sp>
        <p:nvSpPr>
          <p:cNvPr id="18" name="Text Box 2">
            <a:extLst>
              <a:ext uri="{FF2B5EF4-FFF2-40B4-BE49-F238E27FC236}">
                <a16:creationId xmlns:a16="http://schemas.microsoft.com/office/drawing/2014/main" id="{9327A731-E579-490F-A267-6AACC1A09895}"/>
              </a:ext>
            </a:extLst>
          </p:cNvPr>
          <p:cNvSpPr txBox="1"/>
          <p:nvPr/>
        </p:nvSpPr>
        <p:spPr>
          <a:xfrm>
            <a:off x="106544" y="4244701"/>
            <a:ext cx="198755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member countries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4DD74BBD-1874-42BC-AB24-65343EF71610}"/>
              </a:ext>
            </a:extLst>
          </p:cNvPr>
          <p:cNvCxnSpPr>
            <a:cxnSpLocks/>
          </p:cNvCxnSpPr>
          <p:nvPr/>
        </p:nvCxnSpPr>
        <p:spPr>
          <a:xfrm flipV="1">
            <a:off x="186553" y="4584288"/>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 Box 2">
            <a:extLst>
              <a:ext uri="{FF2B5EF4-FFF2-40B4-BE49-F238E27FC236}">
                <a16:creationId xmlns:a16="http://schemas.microsoft.com/office/drawing/2014/main" id="{B6760F4B-0E53-4873-811E-91CFF0C3FA44}"/>
              </a:ext>
            </a:extLst>
          </p:cNvPr>
          <p:cNvSpPr txBox="1"/>
          <p:nvPr/>
        </p:nvSpPr>
        <p:spPr>
          <a:xfrm>
            <a:off x="80042" y="5422821"/>
            <a:ext cx="2531412"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development partners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3AE5E040-1BD7-4446-A6F1-1EBE8A0590EA}"/>
              </a:ext>
            </a:extLst>
          </p:cNvPr>
          <p:cNvCxnSpPr>
            <a:cxnSpLocks/>
          </p:cNvCxnSpPr>
          <p:nvPr/>
        </p:nvCxnSpPr>
        <p:spPr>
          <a:xfrm flipV="1">
            <a:off x="160051" y="5760417"/>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9" name="Picture 78" descr="A picture containing text&#10;&#10;Description automatically generated">
            <a:extLst>
              <a:ext uri="{FF2B5EF4-FFF2-40B4-BE49-F238E27FC236}">
                <a16:creationId xmlns:a16="http://schemas.microsoft.com/office/drawing/2014/main" id="{6B05876D-8396-4524-AB44-3AC466521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92" y="5820054"/>
            <a:ext cx="1522744" cy="369598"/>
          </a:xfrm>
          <a:prstGeom prst="rect">
            <a:avLst/>
          </a:prstGeom>
        </p:spPr>
      </p:pic>
      <p:sp>
        <p:nvSpPr>
          <p:cNvPr id="103" name="Text Box 2">
            <a:extLst>
              <a:ext uri="{FF2B5EF4-FFF2-40B4-BE49-F238E27FC236}">
                <a16:creationId xmlns:a16="http://schemas.microsoft.com/office/drawing/2014/main" id="{055F566B-93E6-4A71-B2B1-18231CC3E9FB}"/>
              </a:ext>
            </a:extLst>
          </p:cNvPr>
          <p:cNvSpPr txBox="1"/>
          <p:nvPr/>
        </p:nvSpPr>
        <p:spPr>
          <a:xfrm>
            <a:off x="164128" y="5093348"/>
            <a:ext cx="750318"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Bangladesh</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4" name="Text Box 2">
            <a:extLst>
              <a:ext uri="{FF2B5EF4-FFF2-40B4-BE49-F238E27FC236}">
                <a16:creationId xmlns:a16="http://schemas.microsoft.com/office/drawing/2014/main" id="{6A4F2024-16FB-41A6-91E1-ECDDF91FA78C}"/>
              </a:ext>
            </a:extLst>
          </p:cNvPr>
          <p:cNvSpPr txBox="1"/>
          <p:nvPr/>
        </p:nvSpPr>
        <p:spPr>
          <a:xfrm>
            <a:off x="1056253" y="5106079"/>
            <a:ext cx="530423"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Bhutan</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6" name="Text Box 2">
            <a:extLst>
              <a:ext uri="{FF2B5EF4-FFF2-40B4-BE49-F238E27FC236}">
                <a16:creationId xmlns:a16="http://schemas.microsoft.com/office/drawing/2014/main" id="{8FB12644-5B3A-45F7-8851-A9F07291388E}"/>
              </a:ext>
            </a:extLst>
          </p:cNvPr>
          <p:cNvSpPr txBox="1"/>
          <p:nvPr/>
        </p:nvSpPr>
        <p:spPr>
          <a:xfrm>
            <a:off x="1931593" y="5089364"/>
            <a:ext cx="49643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9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India</a:t>
            </a:r>
            <a:endParaRPr lang="en-US" sz="9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7" name="Text Box 2">
            <a:extLst>
              <a:ext uri="{FF2B5EF4-FFF2-40B4-BE49-F238E27FC236}">
                <a16:creationId xmlns:a16="http://schemas.microsoft.com/office/drawing/2014/main" id="{343B0394-3A95-499F-9024-683962B64689}"/>
              </a:ext>
            </a:extLst>
          </p:cNvPr>
          <p:cNvSpPr txBox="1"/>
          <p:nvPr/>
        </p:nvSpPr>
        <p:spPr>
          <a:xfrm>
            <a:off x="2673999" y="5108639"/>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Maldives</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8" name="Text Box 2">
            <a:extLst>
              <a:ext uri="{FF2B5EF4-FFF2-40B4-BE49-F238E27FC236}">
                <a16:creationId xmlns:a16="http://schemas.microsoft.com/office/drawing/2014/main" id="{23D860F5-B5E6-4F02-B526-922F1D3D46FA}"/>
              </a:ext>
            </a:extLst>
          </p:cNvPr>
          <p:cNvSpPr txBox="1"/>
          <p:nvPr/>
        </p:nvSpPr>
        <p:spPr>
          <a:xfrm>
            <a:off x="3411254" y="5108639"/>
            <a:ext cx="491920"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Nepal</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9" name="Text Box 2">
            <a:extLst>
              <a:ext uri="{FF2B5EF4-FFF2-40B4-BE49-F238E27FC236}">
                <a16:creationId xmlns:a16="http://schemas.microsoft.com/office/drawing/2014/main" id="{BA7AD0F8-FCBA-4156-AFB1-F623DB42E273}"/>
              </a:ext>
            </a:extLst>
          </p:cNvPr>
          <p:cNvSpPr txBox="1"/>
          <p:nvPr/>
        </p:nvSpPr>
        <p:spPr>
          <a:xfrm>
            <a:off x="4117024" y="5121700"/>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Sri Lanka</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8181419"/>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1_Divider (Cyan)">
    <p:bg>
      <p:bgPr>
        <a:solidFill>
          <a:srgbClr val="9015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63509806"/>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Agenda">
    <p:bg>
      <p:bgPr>
        <a:solidFill>
          <a:srgbClr val="90152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p:nvSpPr>
        <p:spPr>
          <a:xfrm>
            <a:off x="-1" y="6638778"/>
            <a:ext cx="12192001" cy="219221"/>
          </a:xfrm>
          <a:prstGeom prst="rect">
            <a:avLst/>
          </a:prstGeom>
          <a:solidFill>
            <a:srgbClr val="90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South Asia Regional Training and Technical Assistance Center— SARTTAC</a:t>
            </a: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353398900"/>
      </p:ext>
    </p:extLst>
  </p:cSld>
  <p:clrMapOvr>
    <a:masterClrMapping/>
  </p:clrMapOvr>
  <p:transition>
    <p:fade/>
  </p:transition>
  <p:extLst>
    <p:ext uri="{DCECCB84-F9BA-43D5-87BE-67443E8EF086}">
      <p15:sldGuideLst xmlns:p15="http://schemas.microsoft.com/office/powerpoint/2012/main">
        <p15:guide id="4" orient="horz" pos="2160" userDrawn="1">
          <p15:clr>
            <a:srgbClr val="FBAE40"/>
          </p15:clr>
        </p15:guide>
        <p15:guide id="5" pos="3840" userDrawn="1">
          <p15:clr>
            <a:srgbClr val="FBAE40"/>
          </p15:clr>
        </p15:guide>
        <p15:guide id="6" orient="horz" pos="399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4018520089"/>
      </p:ext>
    </p:extLst>
  </p:cSld>
  <p:clrMapOvr>
    <a:masterClrMapping/>
  </p:clrMapOvr>
  <p:transition>
    <p:fade/>
  </p:transition>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guide id="7" pos="781" userDrawn="1">
          <p15:clr>
            <a:srgbClr val="FBAE40"/>
          </p15:clr>
        </p15:guide>
        <p15:guide id="8" pos="6901"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2207676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997778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2758679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484380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0745999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1213206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73662313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678907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1578680897"/>
      </p:ext>
    </p:extLst>
  </p:cSld>
  <p:clrMapOvr>
    <a:masterClrMapping/>
  </p:clrMapOvr>
  <p:hf sldNum="0"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2075662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90742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2776896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589396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3376961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852305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2988723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825642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091808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6593952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5037468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67162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Divider Agenda">
    <p:bg>
      <p:bgPr>
        <a:solidFill>
          <a:srgbClr val="90152D"/>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840890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38791963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80213270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5.png"/><Relationship Id="rId2" Type="http://schemas.openxmlformats.org/officeDocument/2006/relationships/slideLayout" Target="../slideLayouts/slideLayout43.xml"/><Relationship Id="rId16" Type="http://schemas.openxmlformats.org/officeDocument/2006/relationships/image" Target="../media/image3.png"/><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theme" Target="../theme/theme3.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661" r:id="rId3"/>
    <p:sldLayoutId id="2147483760" r:id="rId4"/>
    <p:sldLayoutId id="2147483754" r:id="rId5"/>
    <p:sldLayoutId id="2147483755" r:id="rId6"/>
    <p:sldLayoutId id="2147483756" r:id="rId7"/>
    <p:sldLayoutId id="2147483758" r:id="rId8"/>
    <p:sldLayoutId id="2147483757" r:id="rId9"/>
    <p:sldLayoutId id="2147483707" r:id="rId10"/>
    <p:sldLayoutId id="2147483759" r:id="rId11"/>
    <p:sldLayoutId id="2147483748" r:id="rId12"/>
    <p:sldLayoutId id="2147483744" r:id="rId13"/>
    <p:sldLayoutId id="2147483750" r:id="rId14"/>
    <p:sldLayoutId id="2147483747" r:id="rId15"/>
    <p:sldLayoutId id="2147483752" r:id="rId16"/>
    <p:sldLayoutId id="2147483751" r:id="rId17"/>
    <p:sldLayoutId id="2147483745" r:id="rId18"/>
    <p:sldLayoutId id="2147483746" r:id="rId19"/>
    <p:sldLayoutId id="2147483749" r:id="rId20"/>
    <p:sldLayoutId id="2147483753" r:id="rId21"/>
    <p:sldLayoutId id="2147483743" r:id="rId22"/>
    <p:sldLayoutId id="2147483792" r:id="rId23"/>
    <p:sldLayoutId id="2147483800" r:id="rId24"/>
    <p:sldLayoutId id="2147483801" r:id="rId25"/>
    <p:sldLayoutId id="2147483802" r:id="rId26"/>
    <p:sldLayoutId id="2147483803" r:id="rId27"/>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
        <p:nvSpPr>
          <p:cNvPr id="6" name="TextBox 5">
            <a:extLst>
              <a:ext uri="{FF2B5EF4-FFF2-40B4-BE49-F238E27FC236}">
                <a16:creationId xmlns:a16="http://schemas.microsoft.com/office/drawing/2014/main" id="{9E8C54C7-734D-43A7-BEFB-A9BE6BF97DF4}"/>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25829068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91" r:id="rId14"/>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5/21/2026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72855" y="6579030"/>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57613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8" Type="http://schemas.openxmlformats.org/officeDocument/2006/relationships/hyperlink" Target="https://wbl.worldbank.org/en/wbl" TargetMode="External"/><Relationship Id="rId3" Type="http://schemas.openxmlformats.org/officeDocument/2006/relationships/image" Target="../media/image11.sv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25.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hyperlink" Target="https://genderdata.worldbank.org/"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25.xml"/><Relationship Id="rId5" Type="http://schemas.openxmlformats.org/officeDocument/2006/relationships/image" Target="../media/image16.png"/><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25.xml"/><Relationship Id="rId5" Type="http://schemas.openxmlformats.org/officeDocument/2006/relationships/image" Target="../media/image17.pn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hyperlink" Target="https://data.unwomen.org/data-portal/vaw-wps?annex=Marriage%2C%20Children%20and%20Work&amp;fipoc%5BEPR_NC%5D%5B%5D=3%2B&amp;fihtc%5BEPR_NC%5D%5B%5D=Extended%20households&amp;fipoc%5BEPR_PC%5D%5B%5D=No&amp;fihtc%5BEPR_PC%5D%5B%5D=Extended%20households&amp;fipoc%5BLFPR_NC%5D%5B%5D=3%2B&amp;fihtc%5BLFPR_NC%5D%5B%5D=Extended%20households&amp;finic%5B%5D=LFPR_PC&amp;fipoc%5BLFPR_PC%5D%5B%5D=Yes&amp;fihtc%5BLFPR_PC%5D%5B%5D=Extended%20households&amp;fyr%5B%5D=Latest%20available&amp;fsr=countries&amp;fgendr=Female&amp;tab=map&amp;fhf=" TargetMode="External"/><Relationship Id="rId3" Type="http://schemas.openxmlformats.org/officeDocument/2006/relationships/hyperlink" Target="https://www.statcompiler.com/en/" TargetMode="External"/><Relationship Id="rId7" Type="http://schemas.openxmlformats.org/officeDocument/2006/relationships/hyperlink" Target="https://genderdata.worldbank.org/en/topics"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6" Type="http://schemas.openxmlformats.org/officeDocument/2006/relationships/hyperlink" Target="https://www.enterprisesurveys.org/en/data/exploretopics/gender" TargetMode="External"/><Relationship Id="rId5" Type="http://schemas.openxmlformats.org/officeDocument/2006/relationships/hyperlink" Target="https://rshiny.ilo.org/dataexplorer12/?lang=en&amp;id=EMP_TEMP_SEX_AGE_GEO_NB_A" TargetMode="External"/><Relationship Id="rId4" Type="http://schemas.openxmlformats.org/officeDocument/2006/relationships/hyperlink" Target="https://lits-visualizer.ebrd.com/"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221FD5-C0B3-DA62-3AA2-E8B9CA5E6389}"/>
              </a:ext>
            </a:extLst>
          </p:cNvPr>
          <p:cNvSpPr>
            <a:spLocks noGrp="1"/>
          </p:cNvSpPr>
          <p:nvPr>
            <p:ph type="body" sz="quarter" idx="10"/>
          </p:nvPr>
        </p:nvSpPr>
        <p:spPr>
          <a:xfrm>
            <a:off x="5429250" y="4843463"/>
            <a:ext cx="5515284" cy="1213338"/>
          </a:xfrm>
        </p:spPr>
        <p:txBody>
          <a:bodyPr/>
          <a:lstStyle/>
          <a:p>
            <a:r>
              <a:rPr lang="en-US"/>
              <a:t>Lisa Kolovich</a:t>
            </a:r>
          </a:p>
        </p:txBody>
      </p:sp>
      <p:sp>
        <p:nvSpPr>
          <p:cNvPr id="16" name="Text Placeholder 15">
            <a:extLst>
              <a:ext uri="{FF2B5EF4-FFF2-40B4-BE49-F238E27FC236}">
                <a16:creationId xmlns:a16="http://schemas.microsoft.com/office/drawing/2014/main" id="{B4958751-400C-0F44-BB35-6CE0FEAC0E77}"/>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A9354EC1-60D1-CD48-8690-FF0B6D8AC540}"/>
              </a:ext>
            </a:extLst>
          </p:cNvPr>
          <p:cNvSpPr>
            <a:spLocks noGrp="1"/>
          </p:cNvSpPr>
          <p:nvPr>
            <p:ph type="ctrTitle" idx="4294967295"/>
          </p:nvPr>
        </p:nvSpPr>
        <p:spPr>
          <a:xfrm>
            <a:off x="5429250" y="1914525"/>
            <a:ext cx="6762750" cy="2928938"/>
          </a:xfrm>
          <a:noFill/>
        </p:spPr>
        <p:txBody>
          <a:bodyPr>
            <a:normAutofit/>
          </a:bodyPr>
          <a:lstStyle/>
          <a:p>
            <a:r>
              <a:rPr lang="en-US" sz="4400">
                <a:latin typeface="Arial Black"/>
              </a:rPr>
              <a:t>Data Sources for Identifying Gaps</a:t>
            </a:r>
            <a:endParaRPr lang="en-US" sz="4400"/>
          </a:p>
        </p:txBody>
      </p:sp>
      <p:sp>
        <p:nvSpPr>
          <p:cNvPr id="4" name="Picture Placeholder 3">
            <a:extLst>
              <a:ext uri="{FF2B5EF4-FFF2-40B4-BE49-F238E27FC236}">
                <a16:creationId xmlns:a16="http://schemas.microsoft.com/office/drawing/2014/main" id="{85422B3F-EE12-2073-4194-197337CF7156}"/>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28971448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4958751-400C-0F44-BB35-6CE0FEAC0E77}"/>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A9354EC1-60D1-CD48-8690-FF0B6D8AC540}"/>
              </a:ext>
            </a:extLst>
          </p:cNvPr>
          <p:cNvSpPr>
            <a:spLocks noGrp="1"/>
          </p:cNvSpPr>
          <p:nvPr>
            <p:ph type="ctrTitle" idx="4294967295"/>
          </p:nvPr>
        </p:nvSpPr>
        <p:spPr>
          <a:xfrm>
            <a:off x="5117315" y="1950793"/>
            <a:ext cx="6762750" cy="2928938"/>
          </a:xfrm>
          <a:noFill/>
        </p:spPr>
        <p:txBody>
          <a:bodyPr>
            <a:normAutofit/>
          </a:bodyPr>
          <a:lstStyle/>
          <a:p>
            <a:r>
              <a:rPr lang="en-US" sz="4400">
                <a:latin typeface="Arial Black"/>
              </a:rPr>
              <a:t>Macro-Criticality Dashboard</a:t>
            </a:r>
            <a:endParaRPr lang="en-US" sz="4400"/>
          </a:p>
        </p:txBody>
      </p:sp>
      <p:sp>
        <p:nvSpPr>
          <p:cNvPr id="4" name="Picture Placeholder 3">
            <a:extLst>
              <a:ext uri="{FF2B5EF4-FFF2-40B4-BE49-F238E27FC236}">
                <a16:creationId xmlns:a16="http://schemas.microsoft.com/office/drawing/2014/main" id="{BD7DBFCA-BF0B-3D44-334A-846D65E38C97}"/>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206830961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537F4-A33A-0861-7BCF-7F3119F526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3367B1-5427-05EF-925E-D6EB236D8FD5}"/>
              </a:ext>
            </a:extLst>
          </p:cNvPr>
          <p:cNvSpPr>
            <a:spLocks noGrp="1"/>
          </p:cNvSpPr>
          <p:nvPr>
            <p:ph type="title"/>
          </p:nvPr>
        </p:nvSpPr>
        <p:spPr>
          <a:xfrm>
            <a:off x="781209" y="185220"/>
            <a:ext cx="9715500" cy="633045"/>
          </a:xfrm>
        </p:spPr>
        <p:txBody>
          <a:bodyPr>
            <a:normAutofit/>
          </a:bodyPr>
          <a:lstStyle/>
          <a:p>
            <a:pPr algn="ctr"/>
            <a:r>
              <a:rPr lang="en-US" sz="3200" dirty="0"/>
              <a:t>Main Gap Indicators</a:t>
            </a:r>
          </a:p>
        </p:txBody>
      </p:sp>
      <p:sp>
        <p:nvSpPr>
          <p:cNvPr id="14" name="TextBox 13">
            <a:extLst>
              <a:ext uri="{FF2B5EF4-FFF2-40B4-BE49-F238E27FC236}">
                <a16:creationId xmlns:a16="http://schemas.microsoft.com/office/drawing/2014/main" id="{7098FBF7-A124-8B4F-FBBD-8DD05932C2D4}"/>
              </a:ext>
            </a:extLst>
          </p:cNvPr>
          <p:cNvSpPr txBox="1"/>
          <p:nvPr/>
        </p:nvSpPr>
        <p:spPr>
          <a:xfrm>
            <a:off x="367770" y="2113962"/>
            <a:ext cx="201583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accent1"/>
                </a:solidFill>
                <a:cs typeface="Arial"/>
              </a:rPr>
              <a:t>Select the page of interest from the tabs at the bottom of the screen</a:t>
            </a:r>
            <a:endParaRPr lang="en-US" sz="1600" dirty="0">
              <a:solidFill>
                <a:schemeClr val="accent1"/>
              </a:solidFill>
            </a:endParaRPr>
          </a:p>
        </p:txBody>
      </p:sp>
      <p:pic>
        <p:nvPicPr>
          <p:cNvPr id="7" name="Picture 6">
            <a:extLst>
              <a:ext uri="{FF2B5EF4-FFF2-40B4-BE49-F238E27FC236}">
                <a16:creationId xmlns:a16="http://schemas.microsoft.com/office/drawing/2014/main" id="{7514ED10-1BEE-7375-5A88-CC1AD03BA177}"/>
              </a:ext>
            </a:extLst>
          </p:cNvPr>
          <p:cNvPicPr>
            <a:picLocks noChangeAspect="1"/>
          </p:cNvPicPr>
          <p:nvPr/>
        </p:nvPicPr>
        <p:blipFill>
          <a:blip r:embed="rId3"/>
          <a:stretch>
            <a:fillRect/>
          </a:stretch>
        </p:blipFill>
        <p:spPr>
          <a:xfrm>
            <a:off x="2383605" y="1043562"/>
            <a:ext cx="9372425" cy="5246517"/>
          </a:xfrm>
          <a:prstGeom prst="rect">
            <a:avLst/>
          </a:prstGeom>
        </p:spPr>
      </p:pic>
      <p:cxnSp>
        <p:nvCxnSpPr>
          <p:cNvPr id="8" name="Straight Arrow Connector 7">
            <a:extLst>
              <a:ext uri="{FF2B5EF4-FFF2-40B4-BE49-F238E27FC236}">
                <a16:creationId xmlns:a16="http://schemas.microsoft.com/office/drawing/2014/main" id="{89E73BF8-6B46-E5B9-0F04-046114C77F90}"/>
              </a:ext>
            </a:extLst>
          </p:cNvPr>
          <p:cNvCxnSpPr>
            <a:cxnSpLocks/>
          </p:cNvCxnSpPr>
          <p:nvPr/>
        </p:nvCxnSpPr>
        <p:spPr>
          <a:xfrm>
            <a:off x="1671104" y="2982605"/>
            <a:ext cx="3105433" cy="29730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60858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97783-BE5A-6801-72F8-F01CEA4BC1DF}"/>
              </a:ext>
            </a:extLst>
          </p:cNvPr>
          <p:cNvSpPr>
            <a:spLocks noGrp="1"/>
          </p:cNvSpPr>
          <p:nvPr>
            <p:ph type="title"/>
          </p:nvPr>
        </p:nvSpPr>
        <p:spPr/>
        <p:txBody>
          <a:bodyPr/>
          <a:lstStyle/>
          <a:p>
            <a:r>
              <a:rPr lang="en-US" dirty="0"/>
              <a:t>Indicator</a:t>
            </a:r>
          </a:p>
        </p:txBody>
      </p:sp>
      <p:pic>
        <p:nvPicPr>
          <p:cNvPr id="5" name="Picture 4">
            <a:extLst>
              <a:ext uri="{FF2B5EF4-FFF2-40B4-BE49-F238E27FC236}">
                <a16:creationId xmlns:a16="http://schemas.microsoft.com/office/drawing/2014/main" id="{5FD4C3E9-E8AA-8449-36C2-20AF45C3F47D}"/>
              </a:ext>
            </a:extLst>
          </p:cNvPr>
          <p:cNvPicPr>
            <a:picLocks noChangeAspect="1"/>
          </p:cNvPicPr>
          <p:nvPr/>
        </p:nvPicPr>
        <p:blipFill>
          <a:blip r:embed="rId2"/>
          <a:stretch>
            <a:fillRect/>
          </a:stretch>
        </p:blipFill>
        <p:spPr>
          <a:xfrm>
            <a:off x="3789235" y="1388591"/>
            <a:ext cx="8233799" cy="4819169"/>
          </a:xfrm>
          <a:prstGeom prst="rect">
            <a:avLst/>
          </a:prstGeom>
        </p:spPr>
      </p:pic>
      <p:sp>
        <p:nvSpPr>
          <p:cNvPr id="6" name="Text Placeholder 2">
            <a:extLst>
              <a:ext uri="{FF2B5EF4-FFF2-40B4-BE49-F238E27FC236}">
                <a16:creationId xmlns:a16="http://schemas.microsoft.com/office/drawing/2014/main" id="{E45C06C9-D50F-FF17-C480-5964A32850C2}"/>
              </a:ext>
            </a:extLst>
          </p:cNvPr>
          <p:cNvSpPr txBox="1">
            <a:spLocks/>
          </p:cNvSpPr>
          <p:nvPr/>
        </p:nvSpPr>
        <p:spPr>
          <a:xfrm>
            <a:off x="316227" y="1627148"/>
            <a:ext cx="1847221" cy="1149947"/>
          </a:xfrm>
          <a:prstGeom prst="rect">
            <a:avLst/>
          </a:prstGeom>
        </p:spPr>
        <p:txBody>
          <a:bodyPr vert="horz" lIns="0" tIns="137160" rIns="0" bIns="0" rtlCol="0">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dirty="0">
                <a:solidFill>
                  <a:schemeClr val="accent1"/>
                </a:solidFill>
              </a:rPr>
              <a:t>Play with the drop-down menu, for example, choose </a:t>
            </a:r>
            <a:r>
              <a:rPr lang="en-US" sz="1600" b="1" dirty="0">
                <a:solidFill>
                  <a:schemeClr val="accent3"/>
                </a:solidFill>
              </a:rPr>
              <a:t>AFR</a:t>
            </a:r>
            <a:r>
              <a:rPr lang="en-US" sz="1600" dirty="0">
                <a:solidFill>
                  <a:schemeClr val="accent1"/>
                </a:solidFill>
              </a:rPr>
              <a:t> countries</a:t>
            </a:r>
          </a:p>
        </p:txBody>
      </p:sp>
      <p:sp>
        <p:nvSpPr>
          <p:cNvPr id="7" name="TextBox 6">
            <a:extLst>
              <a:ext uri="{FF2B5EF4-FFF2-40B4-BE49-F238E27FC236}">
                <a16:creationId xmlns:a16="http://schemas.microsoft.com/office/drawing/2014/main" id="{482999F8-E9D2-A757-C6C9-EE4168A31DE2}"/>
              </a:ext>
            </a:extLst>
          </p:cNvPr>
          <p:cNvSpPr txBox="1"/>
          <p:nvPr/>
        </p:nvSpPr>
        <p:spPr>
          <a:xfrm>
            <a:off x="312089" y="4763031"/>
            <a:ext cx="2196548" cy="830997"/>
          </a:xfrm>
          <a:prstGeom prst="rect">
            <a:avLst/>
          </a:prstGeom>
          <a:noFill/>
        </p:spPr>
        <p:txBody>
          <a:bodyPr wrap="square">
            <a:spAutoFit/>
          </a:bodyPr>
          <a:lstStyle/>
          <a:p>
            <a:r>
              <a:rPr lang="en-US" sz="1600" dirty="0">
                <a:solidFill>
                  <a:schemeClr val="accent1"/>
                </a:solidFill>
              </a:rPr>
              <a:t>Select the </a:t>
            </a:r>
            <a:r>
              <a:rPr lang="en-US" sz="1600" dirty="0">
                <a:solidFill>
                  <a:schemeClr val="accent3"/>
                </a:solidFill>
              </a:rPr>
              <a:t>countries</a:t>
            </a:r>
            <a:r>
              <a:rPr lang="en-US" sz="1600" dirty="0">
                <a:solidFill>
                  <a:schemeClr val="accent1"/>
                </a:solidFill>
              </a:rPr>
              <a:t> of interest at the top of the screen</a:t>
            </a:r>
          </a:p>
        </p:txBody>
      </p:sp>
      <p:sp>
        <p:nvSpPr>
          <p:cNvPr id="8" name="TextBox 7">
            <a:extLst>
              <a:ext uri="{FF2B5EF4-FFF2-40B4-BE49-F238E27FC236}">
                <a16:creationId xmlns:a16="http://schemas.microsoft.com/office/drawing/2014/main" id="{66E5F130-A359-B4B9-E2F0-2A0AB48E13E5}"/>
              </a:ext>
            </a:extLst>
          </p:cNvPr>
          <p:cNvSpPr txBox="1"/>
          <p:nvPr/>
        </p:nvSpPr>
        <p:spPr>
          <a:xfrm>
            <a:off x="168965" y="3625111"/>
            <a:ext cx="2196548" cy="830997"/>
          </a:xfrm>
          <a:prstGeom prst="rect">
            <a:avLst/>
          </a:prstGeom>
          <a:noFill/>
        </p:spPr>
        <p:txBody>
          <a:bodyPr wrap="square">
            <a:spAutoFit/>
          </a:bodyPr>
          <a:lstStyle/>
          <a:p>
            <a:r>
              <a:rPr lang="en-US" sz="1600" dirty="0">
                <a:solidFill>
                  <a:schemeClr val="accent1"/>
                </a:solidFill>
              </a:rPr>
              <a:t>Select the </a:t>
            </a:r>
            <a:r>
              <a:rPr lang="en-US" sz="1600" dirty="0">
                <a:solidFill>
                  <a:schemeClr val="accent3"/>
                </a:solidFill>
              </a:rPr>
              <a:t>variable</a:t>
            </a:r>
            <a:r>
              <a:rPr lang="en-US" sz="1600" dirty="0">
                <a:solidFill>
                  <a:schemeClr val="accent1"/>
                </a:solidFill>
              </a:rPr>
              <a:t> of interest at the top of the screen</a:t>
            </a:r>
          </a:p>
        </p:txBody>
      </p:sp>
      <p:cxnSp>
        <p:nvCxnSpPr>
          <p:cNvPr id="9" name="Straight Arrow Connector 8">
            <a:extLst>
              <a:ext uri="{FF2B5EF4-FFF2-40B4-BE49-F238E27FC236}">
                <a16:creationId xmlns:a16="http://schemas.microsoft.com/office/drawing/2014/main" id="{A7900F63-2A51-FCD2-33D4-17D8C1D0CA4E}"/>
              </a:ext>
            </a:extLst>
          </p:cNvPr>
          <p:cNvCxnSpPr>
            <a:cxnSpLocks/>
          </p:cNvCxnSpPr>
          <p:nvPr/>
        </p:nvCxnSpPr>
        <p:spPr>
          <a:xfrm flipV="1">
            <a:off x="1739950" y="2317887"/>
            <a:ext cx="2252930" cy="18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C74206A-88BA-5761-CA9A-A36990464713}"/>
              </a:ext>
            </a:extLst>
          </p:cNvPr>
          <p:cNvCxnSpPr>
            <a:cxnSpLocks/>
          </p:cNvCxnSpPr>
          <p:nvPr/>
        </p:nvCxnSpPr>
        <p:spPr>
          <a:xfrm flipV="1">
            <a:off x="1739950" y="3402343"/>
            <a:ext cx="2374850" cy="325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249F3DC-AC38-CD3F-DA49-A035D97DAAE1}"/>
              </a:ext>
            </a:extLst>
          </p:cNvPr>
          <p:cNvCxnSpPr>
            <a:cxnSpLocks/>
          </p:cNvCxnSpPr>
          <p:nvPr/>
        </p:nvCxnSpPr>
        <p:spPr>
          <a:xfrm flipV="1">
            <a:off x="1961512" y="3467834"/>
            <a:ext cx="5109848" cy="1373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BDB7E7-4CE1-819D-A101-51A28D87F0EB}"/>
              </a:ext>
            </a:extLst>
          </p:cNvPr>
          <p:cNvSpPr txBox="1"/>
          <p:nvPr/>
        </p:nvSpPr>
        <p:spPr>
          <a:xfrm>
            <a:off x="11250208" y="3298557"/>
            <a:ext cx="2196548" cy="338554"/>
          </a:xfrm>
          <a:prstGeom prst="rect">
            <a:avLst/>
          </a:prstGeom>
          <a:noFill/>
        </p:spPr>
        <p:txBody>
          <a:bodyPr wrap="square">
            <a:spAutoFit/>
          </a:bodyPr>
          <a:lstStyle/>
          <a:p>
            <a:r>
              <a:rPr lang="en-US" sz="1600" dirty="0">
                <a:solidFill>
                  <a:schemeClr val="accent3"/>
                </a:solidFill>
              </a:rPr>
              <a:t>Results</a:t>
            </a:r>
            <a:endParaRPr lang="en-US" sz="1600" dirty="0">
              <a:solidFill>
                <a:schemeClr val="accent1"/>
              </a:solidFill>
            </a:endParaRPr>
          </a:p>
        </p:txBody>
      </p:sp>
      <p:cxnSp>
        <p:nvCxnSpPr>
          <p:cNvPr id="16" name="Straight Arrow Connector 15">
            <a:extLst>
              <a:ext uri="{FF2B5EF4-FFF2-40B4-BE49-F238E27FC236}">
                <a16:creationId xmlns:a16="http://schemas.microsoft.com/office/drawing/2014/main" id="{E0BF5E04-307D-2017-2C97-9F3243C3BB3B}"/>
              </a:ext>
            </a:extLst>
          </p:cNvPr>
          <p:cNvCxnSpPr>
            <a:cxnSpLocks/>
          </p:cNvCxnSpPr>
          <p:nvPr/>
        </p:nvCxnSpPr>
        <p:spPr>
          <a:xfrm flipV="1">
            <a:off x="11399520" y="3625111"/>
            <a:ext cx="206733" cy="662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0170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0702B-97C8-2265-813C-5544D69DA012}"/>
              </a:ext>
            </a:extLst>
          </p:cNvPr>
          <p:cNvSpPr>
            <a:spLocks noGrp="1"/>
          </p:cNvSpPr>
          <p:nvPr>
            <p:ph type="title"/>
          </p:nvPr>
        </p:nvSpPr>
        <p:spPr/>
        <p:txBody>
          <a:bodyPr/>
          <a:lstStyle/>
          <a:p>
            <a:r>
              <a:rPr lang="en-US" sz="2800" dirty="0"/>
              <a:t>All Indicators</a:t>
            </a:r>
            <a:endParaRPr lang="en-US" dirty="0"/>
          </a:p>
        </p:txBody>
      </p:sp>
      <p:sp>
        <p:nvSpPr>
          <p:cNvPr id="14" name="TextBox 13">
            <a:extLst>
              <a:ext uri="{FF2B5EF4-FFF2-40B4-BE49-F238E27FC236}">
                <a16:creationId xmlns:a16="http://schemas.microsoft.com/office/drawing/2014/main" id="{B21698A0-AD2C-AD8B-0EC9-D186972F6ED7}"/>
              </a:ext>
            </a:extLst>
          </p:cNvPr>
          <p:cNvSpPr txBox="1"/>
          <p:nvPr/>
        </p:nvSpPr>
        <p:spPr>
          <a:xfrm>
            <a:off x="168965" y="3625111"/>
            <a:ext cx="2196548" cy="830997"/>
          </a:xfrm>
          <a:prstGeom prst="rect">
            <a:avLst/>
          </a:prstGeom>
          <a:noFill/>
        </p:spPr>
        <p:txBody>
          <a:bodyPr wrap="square">
            <a:spAutoFit/>
          </a:bodyPr>
          <a:lstStyle/>
          <a:p>
            <a:r>
              <a:rPr lang="en-US" sz="1600" dirty="0">
                <a:solidFill>
                  <a:schemeClr val="accent1"/>
                </a:solidFill>
              </a:rPr>
              <a:t>Select the </a:t>
            </a:r>
            <a:r>
              <a:rPr lang="en-US" sz="1600" dirty="0">
                <a:solidFill>
                  <a:schemeClr val="accent3"/>
                </a:solidFill>
              </a:rPr>
              <a:t>countries</a:t>
            </a:r>
            <a:r>
              <a:rPr lang="en-US" sz="1600" dirty="0">
                <a:solidFill>
                  <a:schemeClr val="accent1"/>
                </a:solidFill>
              </a:rPr>
              <a:t> of interest at the top of the screen</a:t>
            </a:r>
          </a:p>
        </p:txBody>
      </p:sp>
      <p:pic>
        <p:nvPicPr>
          <p:cNvPr id="4" name="Picture 3">
            <a:extLst>
              <a:ext uri="{FF2B5EF4-FFF2-40B4-BE49-F238E27FC236}">
                <a16:creationId xmlns:a16="http://schemas.microsoft.com/office/drawing/2014/main" id="{BC160932-DA59-312F-E9C0-450263891B0F}"/>
              </a:ext>
            </a:extLst>
          </p:cNvPr>
          <p:cNvPicPr>
            <a:picLocks noChangeAspect="1"/>
          </p:cNvPicPr>
          <p:nvPr/>
        </p:nvPicPr>
        <p:blipFill>
          <a:blip r:embed="rId3"/>
          <a:stretch>
            <a:fillRect/>
          </a:stretch>
        </p:blipFill>
        <p:spPr>
          <a:xfrm>
            <a:off x="2581249" y="1204896"/>
            <a:ext cx="8689725" cy="5498784"/>
          </a:xfrm>
          <a:prstGeom prst="rect">
            <a:avLst/>
          </a:prstGeom>
        </p:spPr>
      </p:pic>
      <p:sp>
        <p:nvSpPr>
          <p:cNvPr id="6" name="Rectangle 5">
            <a:extLst>
              <a:ext uri="{FF2B5EF4-FFF2-40B4-BE49-F238E27FC236}">
                <a16:creationId xmlns:a16="http://schemas.microsoft.com/office/drawing/2014/main" id="{5DA6EFF9-2ABC-8727-05E2-171DBF739497}"/>
              </a:ext>
            </a:extLst>
          </p:cNvPr>
          <p:cNvSpPr/>
          <p:nvPr/>
        </p:nvSpPr>
        <p:spPr>
          <a:xfrm>
            <a:off x="5555974" y="6385373"/>
            <a:ext cx="1142999" cy="318307"/>
          </a:xfrm>
          <a:prstGeom prst="rect">
            <a:avLst/>
          </a:prstGeom>
          <a:noFill/>
          <a:ln w="381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29B6FEA2-758D-EB3B-A4FF-678FA4270AE9}"/>
              </a:ext>
            </a:extLst>
          </p:cNvPr>
          <p:cNvCxnSpPr>
            <a:cxnSpLocks/>
          </p:cNvCxnSpPr>
          <p:nvPr/>
        </p:nvCxnSpPr>
        <p:spPr>
          <a:xfrm flipV="1">
            <a:off x="2019542" y="2822713"/>
            <a:ext cx="2274162" cy="951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F4D8F72A-2C12-45E1-3B1B-A53DAA6A8223}"/>
              </a:ext>
            </a:extLst>
          </p:cNvPr>
          <p:cNvSpPr txBox="1">
            <a:spLocks/>
          </p:cNvSpPr>
          <p:nvPr/>
        </p:nvSpPr>
        <p:spPr>
          <a:xfrm>
            <a:off x="518292" y="2156670"/>
            <a:ext cx="1847221" cy="1149947"/>
          </a:xfrm>
          <a:prstGeom prst="rect">
            <a:avLst/>
          </a:prstGeom>
        </p:spPr>
        <p:txBody>
          <a:bodyPr vert="horz" lIns="0" tIns="137160" rIns="0" bIns="0" rtlCol="0">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dirty="0">
                <a:solidFill>
                  <a:schemeClr val="accent1"/>
                </a:solidFill>
              </a:rPr>
              <a:t>Play with the drop-down menu, for example, choose </a:t>
            </a:r>
            <a:r>
              <a:rPr lang="en-US" sz="1600" b="1" dirty="0">
                <a:solidFill>
                  <a:schemeClr val="accent3"/>
                </a:solidFill>
              </a:rPr>
              <a:t>AFR</a:t>
            </a:r>
            <a:r>
              <a:rPr lang="en-US" sz="1600" dirty="0">
                <a:solidFill>
                  <a:schemeClr val="accent1"/>
                </a:solidFill>
              </a:rPr>
              <a:t> countries</a:t>
            </a:r>
          </a:p>
        </p:txBody>
      </p:sp>
      <p:cxnSp>
        <p:nvCxnSpPr>
          <p:cNvPr id="12" name="Straight Arrow Connector 11">
            <a:extLst>
              <a:ext uri="{FF2B5EF4-FFF2-40B4-BE49-F238E27FC236}">
                <a16:creationId xmlns:a16="http://schemas.microsoft.com/office/drawing/2014/main" id="{660FAFCD-45BD-C073-6AEE-D9144A34BB63}"/>
              </a:ext>
            </a:extLst>
          </p:cNvPr>
          <p:cNvCxnSpPr>
            <a:cxnSpLocks/>
          </p:cNvCxnSpPr>
          <p:nvPr/>
        </p:nvCxnSpPr>
        <p:spPr>
          <a:xfrm flipV="1">
            <a:off x="1551709" y="1990009"/>
            <a:ext cx="1251126" cy="374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13695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0FEAB-66E9-F6E8-4E0C-DE0B6309C73C}"/>
              </a:ext>
            </a:extLst>
          </p:cNvPr>
          <p:cNvSpPr>
            <a:spLocks noGrp="1"/>
          </p:cNvSpPr>
          <p:nvPr>
            <p:ph type="title"/>
          </p:nvPr>
        </p:nvSpPr>
        <p:spPr/>
        <p:txBody>
          <a:bodyPr/>
          <a:lstStyle/>
          <a:p>
            <a:r>
              <a:rPr lang="en-US" dirty="0"/>
              <a:t>Bar Chart</a:t>
            </a:r>
          </a:p>
        </p:txBody>
      </p:sp>
      <p:pic>
        <p:nvPicPr>
          <p:cNvPr id="5" name="Picture 4">
            <a:extLst>
              <a:ext uri="{FF2B5EF4-FFF2-40B4-BE49-F238E27FC236}">
                <a16:creationId xmlns:a16="http://schemas.microsoft.com/office/drawing/2014/main" id="{1685508F-EB5F-A27F-3109-38D3C4AA07AD}"/>
              </a:ext>
            </a:extLst>
          </p:cNvPr>
          <p:cNvPicPr>
            <a:picLocks noChangeAspect="1"/>
          </p:cNvPicPr>
          <p:nvPr/>
        </p:nvPicPr>
        <p:blipFill>
          <a:blip r:embed="rId2"/>
          <a:stretch>
            <a:fillRect/>
          </a:stretch>
        </p:blipFill>
        <p:spPr>
          <a:xfrm>
            <a:off x="2795863" y="1581052"/>
            <a:ext cx="8969417" cy="4586068"/>
          </a:xfrm>
          <a:prstGeom prst="rect">
            <a:avLst/>
          </a:prstGeom>
        </p:spPr>
      </p:pic>
      <p:sp>
        <p:nvSpPr>
          <p:cNvPr id="6" name="TextBox 5">
            <a:extLst>
              <a:ext uri="{FF2B5EF4-FFF2-40B4-BE49-F238E27FC236}">
                <a16:creationId xmlns:a16="http://schemas.microsoft.com/office/drawing/2014/main" id="{33386E1C-53B2-FE27-20C4-8E81EDC80B6D}"/>
              </a:ext>
            </a:extLst>
          </p:cNvPr>
          <p:cNvSpPr txBox="1"/>
          <p:nvPr/>
        </p:nvSpPr>
        <p:spPr>
          <a:xfrm>
            <a:off x="38472" y="2873226"/>
            <a:ext cx="240273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chemeClr val="accent1"/>
                </a:solidFill>
                <a:cs typeface="Arial"/>
              </a:rPr>
              <a:t>Now select “Bar Charts” to benchmark with comparison countries</a:t>
            </a:r>
            <a:endParaRPr lang="en-US" sz="1600" dirty="0">
              <a:solidFill>
                <a:schemeClr val="accent1"/>
              </a:solidFill>
            </a:endParaRPr>
          </a:p>
        </p:txBody>
      </p:sp>
    </p:spTree>
    <p:extLst>
      <p:ext uri="{BB962C8B-B14F-4D97-AF65-F5344CB8AC3E}">
        <p14:creationId xmlns:p14="http://schemas.microsoft.com/office/powerpoint/2010/main" val="19713134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B9461-C733-1C0D-87EB-65FE4D561DA0}"/>
              </a:ext>
            </a:extLst>
          </p:cNvPr>
          <p:cNvSpPr>
            <a:spLocks noGrp="1"/>
          </p:cNvSpPr>
          <p:nvPr>
            <p:ph type="title"/>
          </p:nvPr>
        </p:nvSpPr>
        <p:spPr/>
        <p:txBody>
          <a:bodyPr/>
          <a:lstStyle/>
          <a:p>
            <a:r>
              <a:rPr lang="en-US" dirty="0"/>
              <a:t>Missing</a:t>
            </a:r>
          </a:p>
        </p:txBody>
      </p:sp>
      <p:pic>
        <p:nvPicPr>
          <p:cNvPr id="5" name="Picture 4">
            <a:extLst>
              <a:ext uri="{FF2B5EF4-FFF2-40B4-BE49-F238E27FC236}">
                <a16:creationId xmlns:a16="http://schemas.microsoft.com/office/drawing/2014/main" id="{91382DD4-9C28-9D38-A129-FC91BB936775}"/>
              </a:ext>
            </a:extLst>
          </p:cNvPr>
          <p:cNvPicPr>
            <a:picLocks noChangeAspect="1"/>
          </p:cNvPicPr>
          <p:nvPr/>
        </p:nvPicPr>
        <p:blipFill>
          <a:blip r:embed="rId3"/>
          <a:stretch>
            <a:fillRect/>
          </a:stretch>
        </p:blipFill>
        <p:spPr>
          <a:xfrm>
            <a:off x="1744164" y="1213338"/>
            <a:ext cx="9715500" cy="5644662"/>
          </a:xfrm>
          <a:prstGeom prst="rect">
            <a:avLst/>
          </a:prstGeom>
        </p:spPr>
      </p:pic>
    </p:spTree>
    <p:extLst>
      <p:ext uri="{BB962C8B-B14F-4D97-AF65-F5344CB8AC3E}">
        <p14:creationId xmlns:p14="http://schemas.microsoft.com/office/powerpoint/2010/main" val="37837112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1E48-3167-C946-663E-353BB20513E5}"/>
              </a:ext>
            </a:extLst>
          </p:cNvPr>
          <p:cNvSpPr>
            <a:spLocks noGrp="1"/>
          </p:cNvSpPr>
          <p:nvPr>
            <p:ph type="title"/>
          </p:nvPr>
        </p:nvSpPr>
        <p:spPr>
          <a:xfrm>
            <a:off x="1238250" y="216468"/>
            <a:ext cx="9715500" cy="978486"/>
          </a:xfrm>
        </p:spPr>
        <p:txBody>
          <a:bodyPr/>
          <a:lstStyle/>
          <a:p>
            <a:r>
              <a:rPr lang="en-US" dirty="0">
                <a:latin typeface="Arial Black"/>
              </a:rPr>
              <a:t>Group Exercise </a:t>
            </a:r>
            <a:endParaRPr lang="en-US" dirty="0"/>
          </a:p>
        </p:txBody>
      </p:sp>
      <p:sp>
        <p:nvSpPr>
          <p:cNvPr id="3" name="Text Placeholder 2">
            <a:extLst>
              <a:ext uri="{FF2B5EF4-FFF2-40B4-BE49-F238E27FC236}">
                <a16:creationId xmlns:a16="http://schemas.microsoft.com/office/drawing/2014/main" id="{C961543A-ECB1-85D6-1D29-BE74FC6FF0C0}"/>
              </a:ext>
            </a:extLst>
          </p:cNvPr>
          <p:cNvSpPr>
            <a:spLocks noGrp="1"/>
          </p:cNvSpPr>
          <p:nvPr>
            <p:ph type="body" sz="quarter" idx="10"/>
          </p:nvPr>
        </p:nvSpPr>
        <p:spPr>
          <a:xfrm>
            <a:off x="310451" y="908627"/>
            <a:ext cx="11401258" cy="5732905"/>
          </a:xfrm>
        </p:spPr>
        <p:txBody>
          <a:bodyPr vert="horz" lIns="0" tIns="137160" rIns="0" bIns="0" rtlCol="0" anchor="t">
            <a:noAutofit/>
          </a:bodyPr>
          <a:lstStyle/>
          <a:p>
            <a:pPr marL="342900" indent="-342900">
              <a:lnSpc>
                <a:spcPct val="200000"/>
              </a:lnSpc>
              <a:spcBef>
                <a:spcPts val="800"/>
              </a:spcBef>
              <a:buFont typeface="Arial" panose="020B0604020202020204" pitchFamily="34" charset="0"/>
              <a:buChar char="•"/>
            </a:pPr>
            <a:r>
              <a:rPr lang="en-US" sz="1600" dirty="0"/>
              <a:t>Select your </a:t>
            </a:r>
            <a:r>
              <a:rPr lang="en-US" sz="1600" b="1" dirty="0">
                <a:solidFill>
                  <a:srgbClr val="7030A0"/>
                </a:solidFill>
              </a:rPr>
              <a:t>country</a:t>
            </a:r>
            <a:r>
              <a:rPr lang="en-US" sz="1600" dirty="0">
                <a:solidFill>
                  <a:srgbClr val="7030A0"/>
                </a:solidFill>
              </a:rPr>
              <a:t> </a:t>
            </a:r>
            <a:r>
              <a:rPr lang="en-US" sz="1600" dirty="0"/>
              <a:t>of interest</a:t>
            </a:r>
            <a:endParaRPr lang="en-US" sz="1600" dirty="0">
              <a:cs typeface="Arial"/>
            </a:endParaRPr>
          </a:p>
          <a:p>
            <a:pPr marL="342900" indent="-342900">
              <a:lnSpc>
                <a:spcPct val="200000"/>
              </a:lnSpc>
              <a:spcBef>
                <a:spcPts val="800"/>
              </a:spcBef>
              <a:buFont typeface="Arial" panose="020B0604020202020204" pitchFamily="34" charset="0"/>
              <a:buChar char="•"/>
            </a:pPr>
            <a:r>
              <a:rPr lang="en-US" sz="1600" dirty="0"/>
              <a:t>In the </a:t>
            </a:r>
            <a:r>
              <a:rPr lang="en-US" sz="1600" b="1" dirty="0">
                <a:solidFill>
                  <a:srgbClr val="7030A0"/>
                </a:solidFill>
              </a:rPr>
              <a:t>All-Indicators</a:t>
            </a:r>
            <a:r>
              <a:rPr lang="en-US" sz="1600" dirty="0"/>
              <a:t> view, which indicator(s) show the most critical female–male gaps? </a:t>
            </a:r>
          </a:p>
          <a:p>
            <a:pPr marL="342900" indent="-342900">
              <a:lnSpc>
                <a:spcPct val="200000"/>
              </a:lnSpc>
              <a:spcBef>
                <a:spcPts val="800"/>
              </a:spcBef>
              <a:buFont typeface="Arial" panose="020B0604020202020204" pitchFamily="34" charset="0"/>
              <a:buChar char="•"/>
            </a:pPr>
            <a:r>
              <a:rPr lang="en-US" sz="1600" dirty="0"/>
              <a:t>Still in </a:t>
            </a:r>
            <a:r>
              <a:rPr lang="en-US" sz="1600" b="1" dirty="0">
                <a:solidFill>
                  <a:srgbClr val="7030A0"/>
                </a:solidFill>
              </a:rPr>
              <a:t>All-Indicators</a:t>
            </a:r>
            <a:r>
              <a:rPr lang="en-US" sz="1600" dirty="0"/>
              <a:t>, select benchmark peers—how does your country of interest compare? </a:t>
            </a:r>
          </a:p>
          <a:p>
            <a:pPr marL="342900" indent="-342900">
              <a:lnSpc>
                <a:spcPct val="200000"/>
              </a:lnSpc>
              <a:spcBef>
                <a:spcPts val="800"/>
              </a:spcBef>
              <a:buFont typeface="Arial" panose="020B0604020202020204" pitchFamily="34" charset="0"/>
              <a:buChar char="•"/>
            </a:pPr>
            <a:r>
              <a:rPr lang="en-US" sz="1600" dirty="0"/>
              <a:t>Select an indicator (</a:t>
            </a:r>
            <a:r>
              <a:rPr lang="en-US" sz="1600" b="1" dirty="0">
                <a:solidFill>
                  <a:srgbClr val="7030A0"/>
                </a:solidFill>
              </a:rPr>
              <a:t>Indicator view</a:t>
            </a:r>
            <a:r>
              <a:rPr lang="en-US" sz="1600" dirty="0"/>
              <a:t>): how does the selected gap compare with </a:t>
            </a:r>
            <a:r>
              <a:rPr lang="en-US" sz="1600" b="1" dirty="0">
                <a:solidFill>
                  <a:srgbClr val="7030A0"/>
                </a:solidFill>
              </a:rPr>
              <a:t>regional</a:t>
            </a:r>
            <a:r>
              <a:rPr lang="en-US" sz="1600" dirty="0"/>
              <a:t> and </a:t>
            </a:r>
            <a:r>
              <a:rPr lang="en-US" sz="1600" b="1" dirty="0">
                <a:solidFill>
                  <a:srgbClr val="7030A0"/>
                </a:solidFill>
              </a:rPr>
              <a:t>global</a:t>
            </a:r>
            <a:r>
              <a:rPr lang="en-US" sz="1600" dirty="0">
                <a:solidFill>
                  <a:srgbClr val="7030A0"/>
                </a:solidFill>
              </a:rPr>
              <a:t> </a:t>
            </a:r>
            <a:r>
              <a:rPr lang="en-US" sz="1600" dirty="0"/>
              <a:t>averages in the dashboard?</a:t>
            </a:r>
          </a:p>
          <a:p>
            <a:pPr marL="342900" indent="-342900">
              <a:lnSpc>
                <a:spcPct val="200000"/>
              </a:lnSpc>
              <a:spcBef>
                <a:spcPts val="800"/>
              </a:spcBef>
              <a:buFont typeface="Arial" panose="020B0604020202020204" pitchFamily="34" charset="0"/>
              <a:buChar char="•"/>
            </a:pPr>
            <a:r>
              <a:rPr lang="en-US" sz="1600" dirty="0"/>
              <a:t>In the </a:t>
            </a:r>
            <a:r>
              <a:rPr lang="en-US" sz="1600" b="1" dirty="0">
                <a:solidFill>
                  <a:srgbClr val="7030A0"/>
                </a:solidFill>
              </a:rPr>
              <a:t>Bar-chart</a:t>
            </a:r>
            <a:r>
              <a:rPr lang="en-US" sz="1600" dirty="0">
                <a:solidFill>
                  <a:srgbClr val="7030A0"/>
                </a:solidFill>
              </a:rPr>
              <a:t> </a:t>
            </a:r>
            <a:r>
              <a:rPr lang="en-US" sz="1600" dirty="0"/>
              <a:t>view, which countries perform </a:t>
            </a:r>
            <a:r>
              <a:rPr lang="en-US" sz="1600" b="1" dirty="0"/>
              <a:t>better</a:t>
            </a:r>
            <a:r>
              <a:rPr lang="en-US" sz="1600" dirty="0"/>
              <a:t> or </a:t>
            </a:r>
            <a:r>
              <a:rPr lang="en-US" sz="1600" b="1" dirty="0"/>
              <a:t>worse</a:t>
            </a:r>
            <a:r>
              <a:rPr lang="en-US" sz="1600" dirty="0"/>
              <a:t> on this indicator?</a:t>
            </a:r>
          </a:p>
          <a:p>
            <a:pPr marL="342900" indent="-342900">
              <a:lnSpc>
                <a:spcPct val="200000"/>
              </a:lnSpc>
              <a:spcBef>
                <a:spcPts val="800"/>
              </a:spcBef>
              <a:buFont typeface="Arial" panose="020B0604020202020204" pitchFamily="34" charset="0"/>
              <a:buChar char="•"/>
            </a:pPr>
            <a:r>
              <a:rPr lang="en-US" sz="1600" dirty="0"/>
              <a:t>In the M</a:t>
            </a:r>
            <a:r>
              <a:rPr lang="en-US" sz="1600" b="1" dirty="0">
                <a:solidFill>
                  <a:srgbClr val="7030A0"/>
                </a:solidFill>
              </a:rPr>
              <a:t>ap</a:t>
            </a:r>
            <a:r>
              <a:rPr lang="en-US" sz="1600" dirty="0"/>
              <a:t> tab, plot your country and its </a:t>
            </a:r>
            <a:r>
              <a:rPr lang="en-US" sz="1600" b="1" dirty="0"/>
              <a:t>neighboring countries</a:t>
            </a:r>
            <a:r>
              <a:rPr lang="en-US" sz="1600" dirty="0"/>
              <a:t> for one indicator—what pattern do you observe?</a:t>
            </a:r>
          </a:p>
          <a:p>
            <a:pPr marL="342900" indent="-342900">
              <a:lnSpc>
                <a:spcPct val="200000"/>
              </a:lnSpc>
              <a:spcBef>
                <a:spcPts val="800"/>
              </a:spcBef>
              <a:buFont typeface="Arial" panose="020B0604020202020204" pitchFamily="34" charset="0"/>
              <a:buChar char="•"/>
            </a:pPr>
            <a:r>
              <a:rPr lang="en-US" sz="1600" dirty="0"/>
              <a:t>Based on these comparisons, what </a:t>
            </a:r>
            <a:r>
              <a:rPr lang="en-US" sz="1600" b="1" dirty="0">
                <a:solidFill>
                  <a:srgbClr val="7030A0"/>
                </a:solidFill>
              </a:rPr>
              <a:t>policy priorities</a:t>
            </a:r>
            <a:r>
              <a:rPr lang="en-US" sz="1600" dirty="0">
                <a:solidFill>
                  <a:srgbClr val="7030A0"/>
                </a:solidFill>
              </a:rPr>
              <a:t> </a:t>
            </a:r>
            <a:r>
              <a:rPr lang="en-US" sz="1600" dirty="0"/>
              <a:t>or </a:t>
            </a:r>
            <a:r>
              <a:rPr lang="en-US" sz="1600" b="1" dirty="0"/>
              <a:t>quick wins</a:t>
            </a:r>
            <a:r>
              <a:rPr lang="en-US" sz="1600" dirty="0"/>
              <a:t> emerge?</a:t>
            </a:r>
            <a:endParaRPr lang="en-US" sz="1600" dirty="0">
              <a:cs typeface="Arial"/>
            </a:endParaRPr>
          </a:p>
          <a:p>
            <a:pPr marL="342900" indent="-342900">
              <a:buFont typeface="Arial" panose="020B0604020202020204" pitchFamily="34" charset="0"/>
              <a:buChar char="•"/>
            </a:pPr>
            <a:endParaRPr lang="en-US" sz="1600" dirty="0">
              <a:cs typeface="Arial"/>
            </a:endParaRPr>
          </a:p>
          <a:p>
            <a:pPr marL="342900" indent="-342900">
              <a:buFont typeface="Arial" panose="020B0604020202020204" pitchFamily="34" charset="0"/>
              <a:buChar char="•"/>
            </a:pPr>
            <a:endParaRPr lang="en-US" sz="1600" dirty="0">
              <a:cs typeface="Arial"/>
            </a:endParaRPr>
          </a:p>
          <a:p>
            <a:pPr marL="342900" indent="-342900">
              <a:buFont typeface="Arial" panose="020B0604020202020204" pitchFamily="34" charset="0"/>
              <a:buChar char="•"/>
            </a:pPr>
            <a:endParaRPr lang="en-US" sz="1600" dirty="0">
              <a:cs typeface="Arial"/>
            </a:endParaRPr>
          </a:p>
        </p:txBody>
      </p:sp>
    </p:spTree>
    <p:extLst>
      <p:ext uri="{BB962C8B-B14F-4D97-AF65-F5344CB8AC3E}">
        <p14:creationId xmlns:p14="http://schemas.microsoft.com/office/powerpoint/2010/main" val="6437808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73AEA-289D-8945-96F0-E217105D4261}"/>
            </a:ext>
          </a:extLst>
        </p:cNvPr>
        <p:cNvGrpSpPr/>
        <p:nvPr/>
      </p:nvGrpSpPr>
      <p:grpSpPr>
        <a:xfrm>
          <a:off x="0" y="0"/>
          <a:ext cx="0" cy="0"/>
          <a:chOff x="0" y="0"/>
          <a:chExt cx="0" cy="0"/>
        </a:xfrm>
      </p:grpSpPr>
      <p:sp>
        <p:nvSpPr>
          <p:cNvPr id="16" name="Text Placeholder 15">
            <a:extLst>
              <a:ext uri="{FF2B5EF4-FFF2-40B4-BE49-F238E27FC236}">
                <a16:creationId xmlns:a16="http://schemas.microsoft.com/office/drawing/2014/main" id="{C7347C4B-BC1C-FE7C-9A77-2FAE83E79965}"/>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455B92A7-1573-12B7-A8A4-8FC4AB50D2F0}"/>
              </a:ext>
            </a:extLst>
          </p:cNvPr>
          <p:cNvSpPr>
            <a:spLocks noGrp="1"/>
          </p:cNvSpPr>
          <p:nvPr>
            <p:ph type="ctrTitle" idx="4294967295"/>
          </p:nvPr>
        </p:nvSpPr>
        <p:spPr>
          <a:xfrm>
            <a:off x="5117315" y="1950793"/>
            <a:ext cx="6762750" cy="2928938"/>
          </a:xfrm>
          <a:noFill/>
        </p:spPr>
        <p:txBody>
          <a:bodyPr>
            <a:normAutofit/>
          </a:bodyPr>
          <a:lstStyle/>
          <a:p>
            <a:r>
              <a:rPr lang="en-US" sz="4400" dirty="0">
                <a:latin typeface="Arial Black"/>
              </a:rPr>
              <a:t>World Development Indicators and Women, Business, and the Law</a:t>
            </a:r>
            <a:endParaRPr lang="en-US" sz="4400" dirty="0"/>
          </a:p>
        </p:txBody>
      </p:sp>
      <p:sp>
        <p:nvSpPr>
          <p:cNvPr id="4" name="Picture Placeholder 3">
            <a:extLst>
              <a:ext uri="{FF2B5EF4-FFF2-40B4-BE49-F238E27FC236}">
                <a16:creationId xmlns:a16="http://schemas.microsoft.com/office/drawing/2014/main" id="{A5BC670F-56FA-4A40-669F-511AFF495BBD}"/>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1342442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C76F-7B77-8522-E7BD-2AFEE6604CC4}"/>
            </a:ext>
          </a:extLst>
        </p:cNvPr>
        <p:cNvGrpSpPr/>
        <p:nvPr/>
      </p:nvGrpSpPr>
      <p:grpSpPr>
        <a:xfrm>
          <a:off x="0" y="0"/>
          <a:ext cx="0" cy="0"/>
          <a:chOff x="0" y="0"/>
          <a:chExt cx="0" cy="0"/>
        </a:xfrm>
      </p:grpSpPr>
      <p:sp>
        <p:nvSpPr>
          <p:cNvPr id="23" name="Title 1">
            <a:extLst>
              <a:ext uri="{FF2B5EF4-FFF2-40B4-BE49-F238E27FC236}">
                <a16:creationId xmlns:a16="http://schemas.microsoft.com/office/drawing/2014/main" id="{FF742DC5-1B7E-C519-710A-26E766B0EB92}"/>
              </a:ext>
            </a:extLst>
          </p:cNvPr>
          <p:cNvSpPr>
            <a:spLocks noGrp="1"/>
          </p:cNvSpPr>
          <p:nvPr>
            <p:ph type="title"/>
          </p:nvPr>
        </p:nvSpPr>
        <p:spPr>
          <a:xfrm>
            <a:off x="1026723" y="275984"/>
            <a:ext cx="10138554" cy="978486"/>
          </a:xfrm>
        </p:spPr>
        <p:txBody>
          <a:bodyPr vert="horz" lIns="0" tIns="0" rIns="0" bIns="0" rtlCol="0" anchor="ctr">
            <a:normAutofit/>
          </a:bodyPr>
          <a:lstStyle/>
          <a:p>
            <a:r>
              <a:rPr lang="en-US">
                <a:latin typeface="Arial Black" panose="020B0A04020102020204" pitchFamily="34" charset="0"/>
              </a:rPr>
              <a:t>Key Resources</a:t>
            </a:r>
          </a:p>
        </p:txBody>
      </p:sp>
      <p:sp>
        <p:nvSpPr>
          <p:cNvPr id="9" name="Freeform: Shape 8">
            <a:extLst>
              <a:ext uri="{FF2B5EF4-FFF2-40B4-BE49-F238E27FC236}">
                <a16:creationId xmlns:a16="http://schemas.microsoft.com/office/drawing/2014/main" id="{029602B5-907C-028C-F658-0E6CA5D11E35}"/>
              </a:ext>
            </a:extLst>
          </p:cNvPr>
          <p:cNvSpPr/>
          <p:nvPr/>
        </p:nvSpPr>
        <p:spPr>
          <a:xfrm>
            <a:off x="5169007" y="1390700"/>
            <a:ext cx="6484662" cy="1144601"/>
          </a:xfrm>
          <a:custGeom>
            <a:avLst/>
            <a:gdLst>
              <a:gd name="connsiteX0" fmla="*/ 0 w 6405757"/>
              <a:gd name="connsiteY0" fmla="*/ 0 h 629732"/>
              <a:gd name="connsiteX1" fmla="*/ 6405757 w 6405757"/>
              <a:gd name="connsiteY1" fmla="*/ 0 h 629732"/>
              <a:gd name="connsiteX2" fmla="*/ 6405757 w 6405757"/>
              <a:gd name="connsiteY2" fmla="*/ 629732 h 629732"/>
              <a:gd name="connsiteX3" fmla="*/ 0 w 6405757"/>
              <a:gd name="connsiteY3" fmla="*/ 629732 h 629732"/>
              <a:gd name="connsiteX4" fmla="*/ 0 w 6405757"/>
              <a:gd name="connsiteY4" fmla="*/ 0 h 629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5757" h="629732">
                <a:moveTo>
                  <a:pt x="0" y="0"/>
                </a:moveTo>
                <a:lnTo>
                  <a:pt x="6405757" y="0"/>
                </a:lnTo>
                <a:lnTo>
                  <a:pt x="6405757" y="629732"/>
                </a:lnTo>
                <a:lnTo>
                  <a:pt x="0" y="629732"/>
                </a:lnTo>
                <a:lnTo>
                  <a:pt x="0" y="0"/>
                </a:lnTo>
                <a:close/>
              </a:path>
            </a:pathLst>
          </a:custGeom>
          <a:ln>
            <a:solidFill>
              <a:schemeClr val="accent1"/>
            </a:solidFill>
          </a:ln>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45720" tIns="45720" rIns="45720" bIns="45720" numCol="1" spcCol="1270" anchor="ctr" anchorCtr="0">
            <a:noAutofit/>
          </a:bodyPr>
          <a:lstStyle/>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1500">
                <a:solidFill>
                  <a:schemeClr val="tx1"/>
                </a:solidFill>
              </a:rPr>
              <a:t>Broad array of gender indicators</a:t>
            </a:r>
          </a:p>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1500">
                <a:solidFill>
                  <a:schemeClr val="tx1"/>
                </a:solidFill>
              </a:rPr>
              <a:t>Customized visualizations and data download options</a:t>
            </a:r>
          </a:p>
        </p:txBody>
      </p:sp>
      <p:sp>
        <p:nvSpPr>
          <p:cNvPr id="2" name="Pentagon 2">
            <a:extLst>
              <a:ext uri="{FF2B5EF4-FFF2-40B4-BE49-F238E27FC236}">
                <a16:creationId xmlns:a16="http://schemas.microsoft.com/office/drawing/2014/main" id="{21EFA58F-C033-9ADE-5799-D71BBFE16630}"/>
              </a:ext>
            </a:extLst>
          </p:cNvPr>
          <p:cNvSpPr/>
          <p:nvPr/>
        </p:nvSpPr>
        <p:spPr>
          <a:xfrm>
            <a:off x="1178533" y="1482909"/>
            <a:ext cx="1057323" cy="978486"/>
          </a:xfrm>
          <a:prstGeom prst="homePlate">
            <a:avLst>
              <a:gd name="adj" fmla="val 29569"/>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8" name="Graphic 17" descr="Lightbulb and gear">
            <a:extLst>
              <a:ext uri="{FF2B5EF4-FFF2-40B4-BE49-F238E27FC236}">
                <a16:creationId xmlns:a16="http://schemas.microsoft.com/office/drawing/2014/main" id="{3ACFE839-A306-62B0-8E2A-39A1A11BF2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44740" y="1551224"/>
            <a:ext cx="727288" cy="727288"/>
          </a:xfrm>
          <a:prstGeom prst="rect">
            <a:avLst/>
          </a:prstGeom>
        </p:spPr>
      </p:pic>
      <p:sp>
        <p:nvSpPr>
          <p:cNvPr id="21" name="Rectangle 20">
            <a:extLst>
              <a:ext uri="{FF2B5EF4-FFF2-40B4-BE49-F238E27FC236}">
                <a16:creationId xmlns:a16="http://schemas.microsoft.com/office/drawing/2014/main" id="{E48E5405-3342-7787-13B0-D18F977EC32C}"/>
              </a:ext>
            </a:extLst>
          </p:cNvPr>
          <p:cNvSpPr/>
          <p:nvPr/>
        </p:nvSpPr>
        <p:spPr>
          <a:xfrm>
            <a:off x="2255348" y="1473758"/>
            <a:ext cx="2670773" cy="97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200"/>
              </a:spcAft>
            </a:pPr>
            <a:r>
              <a:rPr lang="en-US" sz="2000">
                <a:solidFill>
                  <a:schemeClr val="tx1"/>
                </a:solidFill>
                <a:latin typeface="Arial Black" panose="020B0A04020102020204" pitchFamily="34" charset="0"/>
                <a:hlinkClick r:id="rId4"/>
              </a:rPr>
              <a:t>World Bank Gender Data Portal</a:t>
            </a:r>
            <a:endParaRPr lang="en-US" sz="1400">
              <a:solidFill>
                <a:schemeClr val="tx1"/>
              </a:solidFill>
              <a:latin typeface="Arial Black" panose="020B0A04020102020204" pitchFamily="34" charset="0"/>
            </a:endParaRPr>
          </a:p>
        </p:txBody>
      </p:sp>
      <p:pic>
        <p:nvPicPr>
          <p:cNvPr id="36" name="Graphic 35" descr="Statistics with solid fill">
            <a:extLst>
              <a:ext uri="{FF2B5EF4-FFF2-40B4-BE49-F238E27FC236}">
                <a16:creationId xmlns:a16="http://schemas.microsoft.com/office/drawing/2014/main" id="{DA96D11E-5C53-1CBE-94C3-9D215C79AA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226" y="2863285"/>
            <a:ext cx="908152" cy="909110"/>
          </a:xfrm>
          <a:prstGeom prst="rect">
            <a:avLst/>
          </a:prstGeom>
        </p:spPr>
      </p:pic>
      <p:pic>
        <p:nvPicPr>
          <p:cNvPr id="38" name="Graphic 37" descr="Circles with lines outline">
            <a:extLst>
              <a:ext uri="{FF2B5EF4-FFF2-40B4-BE49-F238E27FC236}">
                <a16:creationId xmlns:a16="http://schemas.microsoft.com/office/drawing/2014/main" id="{70468065-D484-0426-46FF-447AEE4127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4436" y="4127550"/>
            <a:ext cx="909110" cy="909110"/>
          </a:xfrm>
          <a:prstGeom prst="rect">
            <a:avLst/>
          </a:prstGeom>
        </p:spPr>
      </p:pic>
      <p:pic>
        <p:nvPicPr>
          <p:cNvPr id="40" name="Graphic 39" descr="Open book outline">
            <a:extLst>
              <a:ext uri="{FF2B5EF4-FFF2-40B4-BE49-F238E27FC236}">
                <a16:creationId xmlns:a16="http://schemas.microsoft.com/office/drawing/2014/main" id="{F352EE50-0520-F7FB-D110-2F53A9C351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522" y="5409818"/>
            <a:ext cx="909110" cy="909110"/>
          </a:xfrm>
          <a:prstGeom prst="rect">
            <a:avLst/>
          </a:prstGeom>
        </p:spPr>
      </p:pic>
      <p:sp>
        <p:nvSpPr>
          <p:cNvPr id="5" name="Pentagon 2">
            <a:extLst>
              <a:ext uri="{FF2B5EF4-FFF2-40B4-BE49-F238E27FC236}">
                <a16:creationId xmlns:a16="http://schemas.microsoft.com/office/drawing/2014/main" id="{1079C5CF-28C9-C96F-8D31-3A93C6177BD7}"/>
              </a:ext>
            </a:extLst>
          </p:cNvPr>
          <p:cNvSpPr/>
          <p:nvPr/>
        </p:nvSpPr>
        <p:spPr>
          <a:xfrm>
            <a:off x="1187274" y="3511257"/>
            <a:ext cx="1057323" cy="978486"/>
          </a:xfrm>
          <a:prstGeom prst="homePlate">
            <a:avLst>
              <a:gd name="adj" fmla="val 29569"/>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Open book outline">
            <a:extLst>
              <a:ext uri="{FF2B5EF4-FFF2-40B4-BE49-F238E27FC236}">
                <a16:creationId xmlns:a16="http://schemas.microsoft.com/office/drawing/2014/main" id="{8A91BDC8-DABB-3F37-433D-429EE1F4DE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78533" y="3581190"/>
            <a:ext cx="909110" cy="909110"/>
          </a:xfrm>
          <a:prstGeom prst="rect">
            <a:avLst/>
          </a:prstGeom>
        </p:spPr>
      </p:pic>
      <p:sp>
        <p:nvSpPr>
          <p:cNvPr id="7" name="Rectangle 6">
            <a:extLst>
              <a:ext uri="{FF2B5EF4-FFF2-40B4-BE49-F238E27FC236}">
                <a16:creationId xmlns:a16="http://schemas.microsoft.com/office/drawing/2014/main" id="{7EF7A31A-4529-F822-AD30-008678199BB2}"/>
              </a:ext>
            </a:extLst>
          </p:cNvPr>
          <p:cNvSpPr/>
          <p:nvPr/>
        </p:nvSpPr>
        <p:spPr>
          <a:xfrm>
            <a:off x="2244597" y="3524044"/>
            <a:ext cx="2522131" cy="9784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200"/>
              </a:spcAft>
            </a:pPr>
            <a:r>
              <a:rPr lang="en-US" sz="2000" dirty="0">
                <a:solidFill>
                  <a:schemeClr val="tx1"/>
                </a:solidFill>
                <a:latin typeface="Arial Black" panose="020B0A04020102020204" pitchFamily="34" charset="0"/>
                <a:hlinkClick r:id="rId8"/>
              </a:rPr>
              <a:t>Women, Business, and the Law</a:t>
            </a:r>
            <a:endParaRPr lang="en-US" sz="1400" dirty="0">
              <a:solidFill>
                <a:schemeClr val="tx1"/>
              </a:solidFill>
              <a:latin typeface="Arial Black" panose="020B0A04020102020204" pitchFamily="34" charset="0"/>
            </a:endParaRPr>
          </a:p>
        </p:txBody>
      </p:sp>
      <p:sp>
        <p:nvSpPr>
          <p:cNvPr id="12" name="Rectangle 11">
            <a:extLst>
              <a:ext uri="{FF2B5EF4-FFF2-40B4-BE49-F238E27FC236}">
                <a16:creationId xmlns:a16="http://schemas.microsoft.com/office/drawing/2014/main" id="{EA5C2C0D-31C1-636E-F8B7-B717DFA9E5B5}"/>
              </a:ext>
            </a:extLst>
          </p:cNvPr>
          <p:cNvSpPr/>
          <p:nvPr/>
        </p:nvSpPr>
        <p:spPr>
          <a:xfrm>
            <a:off x="5006567" y="3441787"/>
            <a:ext cx="45719" cy="1143000"/>
          </a:xfrm>
          <a:prstGeom prst="rect">
            <a:avLst/>
          </a:prstGeom>
          <a:solidFill>
            <a:schemeClr val="accent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822C5667-B5D0-22AC-BE7D-30F6B8ABCD24}"/>
              </a:ext>
            </a:extLst>
          </p:cNvPr>
          <p:cNvSpPr/>
          <p:nvPr/>
        </p:nvSpPr>
        <p:spPr>
          <a:xfrm>
            <a:off x="5179314" y="3429000"/>
            <a:ext cx="6483096" cy="114300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1" indent="-285750" defTabSz="533400">
              <a:lnSpc>
                <a:spcPct val="90000"/>
              </a:lnSpc>
              <a:spcBef>
                <a:spcPct val="0"/>
              </a:spcBef>
              <a:spcAft>
                <a:spcPts val="200"/>
              </a:spcAft>
              <a:buFont typeface="Arial" panose="020B0604020202020204" pitchFamily="34" charset="0"/>
              <a:buChar char="•"/>
            </a:pPr>
            <a:r>
              <a:rPr lang="en-US" sz="1500">
                <a:solidFill>
                  <a:schemeClr val="tx1"/>
                </a:solidFill>
              </a:rPr>
              <a:t>Over 50 years of data on legal barriers</a:t>
            </a:r>
          </a:p>
          <a:p>
            <a:pPr marL="285750" lvl="1" indent="-285750" defTabSz="533400">
              <a:lnSpc>
                <a:spcPct val="90000"/>
              </a:lnSpc>
              <a:spcBef>
                <a:spcPct val="0"/>
              </a:spcBef>
              <a:spcAft>
                <a:spcPts val="200"/>
              </a:spcAft>
              <a:buFont typeface="Arial" panose="020B0604020202020204" pitchFamily="34" charset="0"/>
              <a:buChar char="•"/>
            </a:pPr>
            <a:r>
              <a:rPr lang="en-US" sz="1500">
                <a:solidFill>
                  <a:schemeClr val="tx1"/>
                </a:solidFill>
              </a:rPr>
              <a:t>190 countries</a:t>
            </a:r>
          </a:p>
          <a:p>
            <a:pPr marL="285750" lvl="1" indent="-285750" defTabSz="533400">
              <a:lnSpc>
                <a:spcPct val="90000"/>
              </a:lnSpc>
              <a:spcBef>
                <a:spcPct val="0"/>
              </a:spcBef>
              <a:spcAft>
                <a:spcPts val="200"/>
              </a:spcAft>
              <a:buFont typeface="Arial" panose="020B0604020202020204" pitchFamily="34" charset="0"/>
              <a:buChar char="•"/>
            </a:pPr>
            <a:r>
              <a:rPr lang="en-US" sz="1500">
                <a:solidFill>
                  <a:schemeClr val="tx1"/>
                </a:solidFill>
              </a:rPr>
              <a:t>Data visualization, downloads</a:t>
            </a:r>
          </a:p>
        </p:txBody>
      </p:sp>
      <p:sp>
        <p:nvSpPr>
          <p:cNvPr id="20" name="Rectangle 19">
            <a:extLst>
              <a:ext uri="{FF2B5EF4-FFF2-40B4-BE49-F238E27FC236}">
                <a16:creationId xmlns:a16="http://schemas.microsoft.com/office/drawing/2014/main" id="{6E42A8C9-24DD-9752-5D67-34A93251FE4A}"/>
              </a:ext>
            </a:extLst>
          </p:cNvPr>
          <p:cNvSpPr/>
          <p:nvPr/>
        </p:nvSpPr>
        <p:spPr>
          <a:xfrm>
            <a:off x="4996260" y="1390700"/>
            <a:ext cx="45719" cy="114300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099473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D9BB4-30DF-5C36-D506-4D8F88EEC6D3}"/>
              </a:ext>
            </a:extLst>
          </p:cNvPr>
          <p:cNvSpPr>
            <a:spLocks noGrp="1"/>
          </p:cNvSpPr>
          <p:nvPr>
            <p:ph type="title"/>
          </p:nvPr>
        </p:nvSpPr>
        <p:spPr>
          <a:xfrm>
            <a:off x="503568" y="111375"/>
            <a:ext cx="9715500" cy="978486"/>
          </a:xfrm>
        </p:spPr>
        <p:txBody>
          <a:bodyPr/>
          <a:lstStyle/>
          <a:p>
            <a:r>
              <a:rPr lang="en-US" dirty="0"/>
              <a:t>Gender Data Portal</a:t>
            </a:r>
          </a:p>
        </p:txBody>
      </p:sp>
      <p:pic>
        <p:nvPicPr>
          <p:cNvPr id="5" name="Picture 4">
            <a:extLst>
              <a:ext uri="{FF2B5EF4-FFF2-40B4-BE49-F238E27FC236}">
                <a16:creationId xmlns:a16="http://schemas.microsoft.com/office/drawing/2014/main" id="{016CC565-D006-8E22-835C-1F9EE9A80F72}"/>
              </a:ext>
            </a:extLst>
          </p:cNvPr>
          <p:cNvPicPr>
            <a:picLocks noChangeAspect="1"/>
          </p:cNvPicPr>
          <p:nvPr/>
        </p:nvPicPr>
        <p:blipFill>
          <a:blip r:embed="rId2"/>
          <a:stretch>
            <a:fillRect/>
          </a:stretch>
        </p:blipFill>
        <p:spPr>
          <a:xfrm>
            <a:off x="2102004" y="914401"/>
            <a:ext cx="7987992" cy="5626325"/>
          </a:xfrm>
          <a:prstGeom prst="rect">
            <a:avLst/>
          </a:prstGeom>
        </p:spPr>
      </p:pic>
    </p:spTree>
    <p:extLst>
      <p:ext uri="{BB962C8B-B14F-4D97-AF65-F5344CB8AC3E}">
        <p14:creationId xmlns:p14="http://schemas.microsoft.com/office/powerpoint/2010/main" val="234198471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BFDF02D7-E880-D3C5-1187-499A3C9DAC74}"/>
              </a:ext>
            </a:extLst>
          </p:cNvPr>
          <p:cNvSpPr>
            <a:spLocks noGrp="1"/>
          </p:cNvSpPr>
          <p:nvPr>
            <p:ph type="title"/>
          </p:nvPr>
        </p:nvSpPr>
        <p:spPr>
          <a:xfrm>
            <a:off x="1026723" y="275984"/>
            <a:ext cx="10138554" cy="978486"/>
          </a:xfrm>
        </p:spPr>
        <p:txBody>
          <a:bodyPr vert="horz" lIns="0" tIns="0" rIns="0" bIns="0" rtlCol="0" anchor="ctr">
            <a:normAutofit/>
          </a:bodyPr>
          <a:lstStyle/>
          <a:p>
            <a:r>
              <a:rPr lang="en-US">
                <a:latin typeface="Arial Black" panose="020B0A04020102020204" pitchFamily="34" charset="0"/>
              </a:rPr>
              <a:t>World Bank Gender Data Portal: Data Availability</a:t>
            </a:r>
          </a:p>
        </p:txBody>
      </p:sp>
      <p:pic>
        <p:nvPicPr>
          <p:cNvPr id="40" name="Graphic 39" descr="Open book outline">
            <a:extLst>
              <a:ext uri="{FF2B5EF4-FFF2-40B4-BE49-F238E27FC236}">
                <a16:creationId xmlns:a16="http://schemas.microsoft.com/office/drawing/2014/main" id="{E99BD508-60AC-932E-62EE-B4FA9B8BAD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482" y="1651776"/>
            <a:ext cx="909110" cy="909110"/>
          </a:xfrm>
          <a:prstGeom prst="rect">
            <a:avLst/>
          </a:prstGeom>
        </p:spPr>
      </p:pic>
      <p:pic>
        <p:nvPicPr>
          <p:cNvPr id="35" name="Graphic 34" descr="Statistics with solid fill">
            <a:extLst>
              <a:ext uri="{FF2B5EF4-FFF2-40B4-BE49-F238E27FC236}">
                <a16:creationId xmlns:a16="http://schemas.microsoft.com/office/drawing/2014/main" id="{C6AC89C6-7938-1768-2582-305A8A0FEC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482" y="3323957"/>
            <a:ext cx="908152" cy="909110"/>
          </a:xfrm>
          <a:prstGeom prst="rect">
            <a:avLst/>
          </a:prstGeom>
        </p:spPr>
      </p:pic>
      <p:pic>
        <p:nvPicPr>
          <p:cNvPr id="6" name="Picture 5">
            <a:extLst>
              <a:ext uri="{FF2B5EF4-FFF2-40B4-BE49-F238E27FC236}">
                <a16:creationId xmlns:a16="http://schemas.microsoft.com/office/drawing/2014/main" id="{C8559703-024C-A6FC-772E-8DCF7CF4D6BC}"/>
              </a:ext>
            </a:extLst>
          </p:cNvPr>
          <p:cNvPicPr>
            <a:picLocks noChangeAspect="1"/>
          </p:cNvPicPr>
          <p:nvPr/>
        </p:nvPicPr>
        <p:blipFill>
          <a:blip r:embed="rId5"/>
          <a:stretch>
            <a:fillRect/>
          </a:stretch>
        </p:blipFill>
        <p:spPr>
          <a:xfrm>
            <a:off x="1273858" y="1254470"/>
            <a:ext cx="9077781" cy="5165386"/>
          </a:xfrm>
          <a:prstGeom prst="rect">
            <a:avLst/>
          </a:prstGeom>
        </p:spPr>
      </p:pic>
      <p:sp>
        <p:nvSpPr>
          <p:cNvPr id="7" name="TextBox 6">
            <a:extLst>
              <a:ext uri="{FF2B5EF4-FFF2-40B4-BE49-F238E27FC236}">
                <a16:creationId xmlns:a16="http://schemas.microsoft.com/office/drawing/2014/main" id="{7F3A9464-E156-7AD6-D9B6-EC2A1566778D}"/>
              </a:ext>
            </a:extLst>
          </p:cNvPr>
          <p:cNvSpPr txBox="1"/>
          <p:nvPr/>
        </p:nvSpPr>
        <p:spPr>
          <a:xfrm>
            <a:off x="9482097" y="1254470"/>
            <a:ext cx="909110" cy="397306"/>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131478654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BFDF02D7-E880-D3C5-1187-499A3C9DAC74}"/>
              </a:ext>
            </a:extLst>
          </p:cNvPr>
          <p:cNvSpPr>
            <a:spLocks noGrp="1"/>
          </p:cNvSpPr>
          <p:nvPr>
            <p:ph type="title"/>
          </p:nvPr>
        </p:nvSpPr>
        <p:spPr>
          <a:xfrm>
            <a:off x="1239838" y="275984"/>
            <a:ext cx="9925439" cy="978486"/>
          </a:xfrm>
        </p:spPr>
        <p:txBody>
          <a:bodyPr vert="horz" lIns="0" tIns="0" rIns="0" bIns="0" rtlCol="0" anchor="ctr">
            <a:normAutofit/>
          </a:bodyPr>
          <a:lstStyle/>
          <a:p>
            <a:r>
              <a:rPr lang="en-US">
                <a:latin typeface="Arial Black" panose="020B0A04020102020204" pitchFamily="34" charset="0"/>
              </a:rPr>
              <a:t>Women, Business, and the Law Index</a:t>
            </a:r>
          </a:p>
        </p:txBody>
      </p:sp>
      <p:pic>
        <p:nvPicPr>
          <p:cNvPr id="40" name="Graphic 39" descr="Open book outline">
            <a:extLst>
              <a:ext uri="{FF2B5EF4-FFF2-40B4-BE49-F238E27FC236}">
                <a16:creationId xmlns:a16="http://schemas.microsoft.com/office/drawing/2014/main" id="{E99BD508-60AC-932E-62EE-B4FA9B8BAD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482" y="1651776"/>
            <a:ext cx="909110" cy="909110"/>
          </a:xfrm>
          <a:prstGeom prst="rect">
            <a:avLst/>
          </a:prstGeom>
        </p:spPr>
      </p:pic>
      <p:pic>
        <p:nvPicPr>
          <p:cNvPr id="35" name="Graphic 34" descr="Statistics with solid fill">
            <a:extLst>
              <a:ext uri="{FF2B5EF4-FFF2-40B4-BE49-F238E27FC236}">
                <a16:creationId xmlns:a16="http://schemas.microsoft.com/office/drawing/2014/main" id="{C6AC89C6-7938-1768-2582-305A8A0FEC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2482" y="3323957"/>
            <a:ext cx="908152" cy="909110"/>
          </a:xfrm>
          <a:prstGeom prst="rect">
            <a:avLst/>
          </a:prstGeom>
        </p:spPr>
      </p:pic>
      <p:sp>
        <p:nvSpPr>
          <p:cNvPr id="7" name="TextBox 6">
            <a:extLst>
              <a:ext uri="{FF2B5EF4-FFF2-40B4-BE49-F238E27FC236}">
                <a16:creationId xmlns:a16="http://schemas.microsoft.com/office/drawing/2014/main" id="{7F3A9464-E156-7AD6-D9B6-EC2A1566778D}"/>
              </a:ext>
            </a:extLst>
          </p:cNvPr>
          <p:cNvSpPr txBox="1"/>
          <p:nvPr/>
        </p:nvSpPr>
        <p:spPr>
          <a:xfrm>
            <a:off x="9482097" y="1254470"/>
            <a:ext cx="909110" cy="397306"/>
          </a:xfrm>
          <a:prstGeom prst="rect">
            <a:avLst/>
          </a:prstGeom>
          <a:solidFill>
            <a:schemeClr val="bg1"/>
          </a:solidFill>
        </p:spPr>
        <p:txBody>
          <a:bodyPr wrap="square" rtlCol="0">
            <a:spAutoFit/>
          </a:bodyPr>
          <a:lstStyle/>
          <a:p>
            <a:endParaRPr lang="en-US"/>
          </a:p>
        </p:txBody>
      </p:sp>
      <p:sp>
        <p:nvSpPr>
          <p:cNvPr id="2" name="Text Placeholder 2">
            <a:extLst>
              <a:ext uri="{FF2B5EF4-FFF2-40B4-BE49-F238E27FC236}">
                <a16:creationId xmlns:a16="http://schemas.microsoft.com/office/drawing/2014/main" id="{BF10E80C-C3D2-E856-DD90-73BB9C194F95}"/>
              </a:ext>
            </a:extLst>
          </p:cNvPr>
          <p:cNvSpPr>
            <a:spLocks noGrp="1"/>
          </p:cNvSpPr>
          <p:nvPr>
            <p:ph type="body" sz="quarter" idx="10"/>
          </p:nvPr>
        </p:nvSpPr>
        <p:spPr>
          <a:xfrm>
            <a:off x="1239838" y="1469871"/>
            <a:ext cx="9715500" cy="4860591"/>
          </a:xfrm>
        </p:spPr>
        <p:txBody>
          <a:bodyPr vert="horz" lIns="0" tIns="137160" rIns="0" bIns="0" rtlCol="0" anchor="t">
            <a:normAutofit/>
          </a:bodyPr>
          <a:lstStyle/>
          <a:p>
            <a:pPr marL="342900" indent="-342900">
              <a:buFont typeface="Arial" charset="2"/>
              <a:buChar char="•"/>
            </a:pPr>
            <a:endParaRPr lang="en-US">
              <a:cs typeface="Arial" panose="020B0604020202020204"/>
            </a:endParaRPr>
          </a:p>
          <a:p>
            <a:pPr marL="342900" indent="-342900">
              <a:buFont typeface="Arial" charset="2"/>
              <a:buChar char="•"/>
            </a:pPr>
            <a:endParaRPr lang="en-US">
              <a:cs typeface="Arial" panose="020B0604020202020204"/>
            </a:endParaRPr>
          </a:p>
          <a:p>
            <a:pPr marL="342900" indent="-342900">
              <a:buFont typeface="Arial" charset="2"/>
              <a:buChar char="•"/>
            </a:pPr>
            <a:endParaRPr lang="en-US">
              <a:cs typeface="Arial" panose="020B0604020202020204"/>
            </a:endParaRPr>
          </a:p>
        </p:txBody>
      </p:sp>
      <p:pic>
        <p:nvPicPr>
          <p:cNvPr id="4" name="Picture 3">
            <a:extLst>
              <a:ext uri="{FF2B5EF4-FFF2-40B4-BE49-F238E27FC236}">
                <a16:creationId xmlns:a16="http://schemas.microsoft.com/office/drawing/2014/main" id="{F8100C54-B3CD-7F57-0D10-7FD23D5411DA}"/>
              </a:ext>
            </a:extLst>
          </p:cNvPr>
          <p:cNvPicPr>
            <a:picLocks noChangeAspect="1"/>
          </p:cNvPicPr>
          <p:nvPr/>
        </p:nvPicPr>
        <p:blipFill>
          <a:blip r:embed="rId5"/>
          <a:stretch>
            <a:fillRect/>
          </a:stretch>
        </p:blipFill>
        <p:spPr>
          <a:xfrm>
            <a:off x="2083741" y="1281476"/>
            <a:ext cx="8024518" cy="4810425"/>
          </a:xfrm>
          <a:prstGeom prst="rect">
            <a:avLst/>
          </a:prstGeom>
        </p:spPr>
      </p:pic>
    </p:spTree>
    <p:extLst>
      <p:ext uri="{BB962C8B-B14F-4D97-AF65-F5344CB8AC3E}">
        <p14:creationId xmlns:p14="http://schemas.microsoft.com/office/powerpoint/2010/main" val="18622382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B81F-490D-E48C-9C6A-91BD27F7AA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A62327-2A81-9734-F864-24B5E724848F}"/>
              </a:ext>
            </a:extLst>
          </p:cNvPr>
          <p:cNvSpPr>
            <a:spLocks noGrp="1"/>
          </p:cNvSpPr>
          <p:nvPr>
            <p:ph type="title"/>
          </p:nvPr>
        </p:nvSpPr>
        <p:spPr>
          <a:xfrm>
            <a:off x="900204" y="2276643"/>
            <a:ext cx="9931919" cy="1981848"/>
          </a:xfrm>
        </p:spPr>
        <p:txBody>
          <a:bodyPr>
            <a:normAutofit/>
          </a:bodyPr>
          <a:lstStyle/>
          <a:p>
            <a:pPr algn="ctr"/>
            <a:r>
              <a:rPr lang="en-US" sz="4900">
                <a:latin typeface="Arial Black"/>
              </a:rPr>
              <a:t>ILO Care Portal</a:t>
            </a:r>
            <a:endParaRPr lang="en-US">
              <a:solidFill>
                <a:srgbClr val="FFC000"/>
              </a:solidFill>
            </a:endParaRPr>
          </a:p>
        </p:txBody>
      </p:sp>
    </p:spTree>
    <p:extLst>
      <p:ext uri="{BB962C8B-B14F-4D97-AF65-F5344CB8AC3E}">
        <p14:creationId xmlns:p14="http://schemas.microsoft.com/office/powerpoint/2010/main" val="410417715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8B7578-25D0-61AC-A111-0A23B696054A}"/>
              </a:ext>
            </a:extLst>
          </p:cNvPr>
          <p:cNvPicPr>
            <a:picLocks noChangeAspect="1"/>
          </p:cNvPicPr>
          <p:nvPr/>
        </p:nvPicPr>
        <p:blipFill>
          <a:blip r:embed="rId3"/>
          <a:stretch>
            <a:fillRect/>
          </a:stretch>
        </p:blipFill>
        <p:spPr>
          <a:xfrm>
            <a:off x="1132014" y="1469871"/>
            <a:ext cx="9927971" cy="4926941"/>
          </a:xfrm>
          <a:prstGeom prst="rect">
            <a:avLst/>
          </a:prstGeom>
        </p:spPr>
      </p:pic>
      <p:sp>
        <p:nvSpPr>
          <p:cNvPr id="4" name="Title 5">
            <a:extLst>
              <a:ext uri="{FF2B5EF4-FFF2-40B4-BE49-F238E27FC236}">
                <a16:creationId xmlns:a16="http://schemas.microsoft.com/office/drawing/2014/main" id="{A598F9FB-82D2-34AB-F774-1F3F176A3B54}"/>
              </a:ext>
            </a:extLst>
          </p:cNvPr>
          <p:cNvSpPr>
            <a:spLocks noGrp="1"/>
          </p:cNvSpPr>
          <p:nvPr>
            <p:ph type="title"/>
          </p:nvPr>
        </p:nvSpPr>
        <p:spPr>
          <a:xfrm>
            <a:off x="1239838" y="491385"/>
            <a:ext cx="9715500" cy="978486"/>
          </a:xfrm>
        </p:spPr>
        <p:txBody>
          <a:bodyPr/>
          <a:lstStyle/>
          <a:p>
            <a:r>
              <a:rPr lang="en-US">
                <a:latin typeface="Arial Black"/>
              </a:rPr>
              <a:t>ILO Global Care Portal</a:t>
            </a:r>
            <a:endParaRPr lang="en-US"/>
          </a:p>
        </p:txBody>
      </p:sp>
    </p:spTree>
    <p:extLst>
      <p:ext uri="{BB962C8B-B14F-4D97-AF65-F5344CB8AC3E}">
        <p14:creationId xmlns:p14="http://schemas.microsoft.com/office/powerpoint/2010/main" val="296717144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A598F9FB-82D2-34AB-F774-1F3F176A3B54}"/>
              </a:ext>
            </a:extLst>
          </p:cNvPr>
          <p:cNvSpPr>
            <a:spLocks noGrp="1"/>
          </p:cNvSpPr>
          <p:nvPr>
            <p:ph type="title"/>
          </p:nvPr>
        </p:nvSpPr>
        <p:spPr>
          <a:xfrm>
            <a:off x="1239838" y="491385"/>
            <a:ext cx="9715500" cy="978486"/>
          </a:xfrm>
        </p:spPr>
        <p:txBody>
          <a:bodyPr/>
          <a:lstStyle/>
          <a:p>
            <a:r>
              <a:rPr lang="en-US">
                <a:latin typeface="Arial Black"/>
              </a:rPr>
              <a:t>ILO Global Care Portal</a:t>
            </a:r>
            <a:endParaRPr lang="en-US"/>
          </a:p>
        </p:txBody>
      </p:sp>
      <p:pic>
        <p:nvPicPr>
          <p:cNvPr id="3" name="Picture 2">
            <a:extLst>
              <a:ext uri="{FF2B5EF4-FFF2-40B4-BE49-F238E27FC236}">
                <a16:creationId xmlns:a16="http://schemas.microsoft.com/office/drawing/2014/main" id="{676ABD31-D9FE-62B5-1B8F-F79B4375626E}"/>
              </a:ext>
            </a:extLst>
          </p:cNvPr>
          <p:cNvPicPr>
            <a:picLocks noChangeAspect="1"/>
          </p:cNvPicPr>
          <p:nvPr/>
        </p:nvPicPr>
        <p:blipFill>
          <a:blip r:embed="rId3"/>
          <a:stretch>
            <a:fillRect/>
          </a:stretch>
        </p:blipFill>
        <p:spPr>
          <a:xfrm>
            <a:off x="285451" y="1326866"/>
            <a:ext cx="11621097" cy="5531134"/>
          </a:xfrm>
          <a:prstGeom prst="rect">
            <a:avLst/>
          </a:prstGeom>
        </p:spPr>
      </p:pic>
    </p:spTree>
    <p:extLst>
      <p:ext uri="{BB962C8B-B14F-4D97-AF65-F5344CB8AC3E}">
        <p14:creationId xmlns:p14="http://schemas.microsoft.com/office/powerpoint/2010/main" val="218745361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68A0A9-7E8B-2460-525E-98E3E8FED33A}"/>
              </a:ext>
            </a:extLst>
          </p:cNvPr>
          <p:cNvSpPr>
            <a:spLocks noGrp="1"/>
          </p:cNvSpPr>
          <p:nvPr>
            <p:ph type="title"/>
          </p:nvPr>
        </p:nvSpPr>
        <p:spPr/>
        <p:txBody>
          <a:bodyPr/>
          <a:lstStyle/>
          <a:p>
            <a:r>
              <a:rPr lang="en-US">
                <a:latin typeface="Arial Black"/>
              </a:rPr>
              <a:t>Links and Resources</a:t>
            </a:r>
            <a:endParaRPr lang="en-US"/>
          </a:p>
        </p:txBody>
      </p:sp>
      <p:sp>
        <p:nvSpPr>
          <p:cNvPr id="3" name="Text Placeholder 2">
            <a:extLst>
              <a:ext uri="{FF2B5EF4-FFF2-40B4-BE49-F238E27FC236}">
                <a16:creationId xmlns:a16="http://schemas.microsoft.com/office/drawing/2014/main" id="{2BDBF525-6EFF-007C-02B6-2C006B708377}"/>
              </a:ext>
            </a:extLst>
          </p:cNvPr>
          <p:cNvSpPr>
            <a:spLocks noGrp="1"/>
          </p:cNvSpPr>
          <p:nvPr>
            <p:ph type="body" sz="quarter" idx="10"/>
          </p:nvPr>
        </p:nvSpPr>
        <p:spPr>
          <a:xfrm>
            <a:off x="1239838" y="1637139"/>
            <a:ext cx="9715500" cy="4860591"/>
          </a:xfrm>
        </p:spPr>
        <p:txBody>
          <a:bodyPr vert="horz" lIns="0" tIns="137160" rIns="0" bIns="0" rtlCol="0" anchor="t">
            <a:normAutofit/>
          </a:bodyPr>
          <a:lstStyle/>
          <a:p>
            <a:pPr marL="342900" indent="-342900">
              <a:buFont typeface="Arial" charset="2"/>
              <a:buChar char="•"/>
            </a:pPr>
            <a:r>
              <a:rPr lang="en-US" err="1">
                <a:hlinkClick r:id="rId3"/>
              </a:rPr>
              <a:t>STATcompiler</a:t>
            </a:r>
            <a:endParaRPr lang="en-US"/>
          </a:p>
          <a:p>
            <a:pPr marL="342900" indent="-342900">
              <a:buFont typeface="Arial" charset="2"/>
              <a:buChar char="•"/>
            </a:pPr>
            <a:r>
              <a:rPr lang="en-US">
                <a:hlinkClick r:id="rId4"/>
              </a:rPr>
              <a:t>Life in Transition IV Visualizer</a:t>
            </a:r>
            <a:endParaRPr lang="en-US">
              <a:cs typeface="Arial" panose="020B0604020202020204"/>
              <a:hlinkClick r:id="" action="ppaction://noaction"/>
            </a:endParaRPr>
          </a:p>
          <a:p>
            <a:pPr marL="342900" indent="-342900">
              <a:buFont typeface="Arial" charset="2"/>
              <a:buChar char="•"/>
            </a:pPr>
            <a:r>
              <a:rPr lang="en-US">
                <a:cs typeface="Arial" panose="020B0604020202020204"/>
                <a:hlinkClick r:id="" action="ppaction://noaction"/>
              </a:rPr>
              <a:t>ILO Labor force suveys</a:t>
            </a:r>
            <a:endParaRPr lang="en-US">
              <a:cs typeface="Arial" panose="020B0604020202020204"/>
            </a:endParaRPr>
          </a:p>
          <a:p>
            <a:pPr marL="342900" indent="-342900">
              <a:buFont typeface="Arial" charset="2"/>
              <a:buChar char="•"/>
            </a:pPr>
            <a:r>
              <a:rPr lang="en-US">
                <a:cs typeface="Arial" panose="020B0604020202020204"/>
                <a:hlinkClick r:id="rId5"/>
              </a:rPr>
              <a:t>ILOSTAT data explorer</a:t>
            </a:r>
          </a:p>
          <a:p>
            <a:pPr marL="342900" indent="-342900">
              <a:buFont typeface="Arial" charset="2"/>
              <a:buChar char="•"/>
            </a:pPr>
            <a:r>
              <a:rPr lang="en-US">
                <a:cs typeface="Arial" panose="020B0604020202020204"/>
                <a:hlinkClick r:id="rId6"/>
              </a:rPr>
              <a:t>WB Enterprise Surveys &amp; gender</a:t>
            </a:r>
            <a:endParaRPr lang="en-US">
              <a:cs typeface="Arial" panose="020B0604020202020204"/>
            </a:endParaRPr>
          </a:p>
          <a:p>
            <a:pPr marL="342900" indent="-342900">
              <a:buFont typeface="Arial" charset="2"/>
              <a:buChar char="•"/>
            </a:pPr>
            <a:r>
              <a:rPr lang="en-US">
                <a:cs typeface="Arial" panose="020B0604020202020204"/>
                <a:hlinkClick r:id="rId7"/>
              </a:rPr>
              <a:t>WB Gender Data Portal</a:t>
            </a:r>
          </a:p>
          <a:p>
            <a:pPr marL="342900" indent="-342900">
              <a:buFont typeface="Arial" charset="2"/>
              <a:buChar char="•"/>
            </a:pPr>
            <a:r>
              <a:rPr lang="en-US">
                <a:cs typeface="Arial" panose="020B0604020202020204"/>
                <a:hlinkClick r:id="rId8"/>
              </a:rPr>
              <a:t>UN Women Thematic Area Dashboard</a:t>
            </a:r>
            <a:endParaRPr lang="en-US">
              <a:cs typeface="Arial" panose="020B0604020202020204"/>
            </a:endParaRPr>
          </a:p>
        </p:txBody>
      </p:sp>
    </p:spTree>
    <p:extLst>
      <p:ext uri="{BB962C8B-B14F-4D97-AF65-F5344CB8AC3E}">
        <p14:creationId xmlns:p14="http://schemas.microsoft.com/office/powerpoint/2010/main" val="110105521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6992F-CA8C-1B6B-EB3A-2DA196B99C9F}"/>
              </a:ext>
            </a:extLst>
          </p:cNvPr>
          <p:cNvSpPr>
            <a:spLocks noGrp="1"/>
          </p:cNvSpPr>
          <p:nvPr>
            <p:ph type="title"/>
          </p:nvPr>
        </p:nvSpPr>
        <p:spPr>
          <a:xfrm>
            <a:off x="206895" y="0"/>
            <a:ext cx="10907720" cy="978486"/>
          </a:xfrm>
        </p:spPr>
        <p:txBody>
          <a:bodyPr>
            <a:normAutofit/>
          </a:bodyPr>
          <a:lstStyle/>
          <a:p>
            <a:r>
              <a:rPr lang="en-US" dirty="0">
                <a:latin typeface="Arial Black" panose="020B0A04020102020204" pitchFamily="34" charset="0"/>
                <a:cs typeface="Calibri" panose="020F0502020204030204" pitchFamily="34" charset="0"/>
              </a:rPr>
              <a:t>Women spend more time on unpaid work</a:t>
            </a:r>
          </a:p>
        </p:txBody>
      </p:sp>
      <p:sp>
        <p:nvSpPr>
          <p:cNvPr id="4" name="TextBox 3">
            <a:extLst>
              <a:ext uri="{FF2B5EF4-FFF2-40B4-BE49-F238E27FC236}">
                <a16:creationId xmlns:a16="http://schemas.microsoft.com/office/drawing/2014/main" id="{0802B207-A4D1-E660-8D51-FEC7841BFB90}"/>
              </a:ext>
            </a:extLst>
          </p:cNvPr>
          <p:cNvSpPr txBox="1"/>
          <p:nvPr/>
        </p:nvSpPr>
        <p:spPr>
          <a:xfrm>
            <a:off x="2462178" y="852025"/>
            <a:ext cx="6923733" cy="369332"/>
          </a:xfrm>
          <a:prstGeom prst="rect">
            <a:avLst/>
          </a:prstGeom>
          <a:noFill/>
        </p:spPr>
        <p:txBody>
          <a:bodyPr wrap="square">
            <a:spAutoFit/>
          </a:bodyPr>
          <a:lstStyle/>
          <a:p>
            <a:pPr algn="ctr"/>
            <a:r>
              <a:rPr lang="en-US" sz="1800" b="1" dirty="0">
                <a:latin typeface="Arial" panose="020B0604020202020204" pitchFamily="34" charset="0"/>
                <a:ea typeface="Times New Roman" panose="02020603050405020304" pitchFamily="18" charset="0"/>
                <a:cs typeface="Arial" panose="020B0604020202020204" pitchFamily="34" charset="0"/>
              </a:rPr>
              <a:t>Figure: Minutes per day, M - F</a:t>
            </a:r>
            <a:endParaRPr lang="en-US" sz="1800" dirty="0">
              <a:latin typeface="Arial" panose="020B0604020202020204" pitchFamily="34" charset="0"/>
              <a:ea typeface="SimSun" panose="02010600030101010101" pitchFamily="2" charset="-122"/>
              <a:cs typeface="Times New Roman" panose="02020603050405020304" pitchFamily="18" charset="0"/>
            </a:endParaRPr>
          </a:p>
        </p:txBody>
      </p:sp>
      <p:pic>
        <p:nvPicPr>
          <p:cNvPr id="6" name="Picture 5">
            <a:extLst>
              <a:ext uri="{FF2B5EF4-FFF2-40B4-BE49-F238E27FC236}">
                <a16:creationId xmlns:a16="http://schemas.microsoft.com/office/drawing/2014/main" id="{6904E3A8-260D-BB3A-5911-AF4C9FF42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862" y="731091"/>
            <a:ext cx="9190363" cy="6126909"/>
          </a:xfrm>
          <a:prstGeom prst="rect">
            <a:avLst/>
          </a:prstGeom>
        </p:spPr>
      </p:pic>
    </p:spTree>
    <p:extLst>
      <p:ext uri="{BB962C8B-B14F-4D97-AF65-F5344CB8AC3E}">
        <p14:creationId xmlns:p14="http://schemas.microsoft.com/office/powerpoint/2010/main" val="185918189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UMFILE" val="\\data3\users1\abarajas\My Documents\ICD\Courses\Courses 2023\Gender Inequality and Macroeconomics\Other Presentations\Presentations for Translation\L1 - Gender Inequality_ Dimensions &amp; Trends.cul"/>
  <p:tag name="CURRENTXMLFILE" val="\\data3\users1\abarajas\My Documents\ICD\Courses\Courses 2023\Gender Inequality and Macroeconomics\Other Presentations\Presentations for Translation\L1 - Gender Inequality_ Dimensions &amp; Trends.xml"/>
  <p:tag name="PPTXFILE" val="\\data3\users1\abarajas\My Documents\ICD\Courses\Courses 2023\Gender Inequality and Macroeconomics\Other Presentations\Presentations for Translation\L1 - Gender Inequality_ Dimensions &amp; Trends.pptx"/>
  <p:tag name="XMLFILE" val="\\data3\users1\abarajas\My Documents\ICD\Courses\Courses 2023\Gender Inequality and Macroeconomics\Other Presentations\Presentations for Translation\L1 - Gender Inequality_ Dimensions &amp; Trends.xml"/>
</p:tagLst>
</file>

<file path=ppt/theme/theme1.xml><?xml version="1.0" encoding="utf-8"?>
<a:theme xmlns:a="http://schemas.openxmlformats.org/drawingml/2006/main" name="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LEG_PresentationTemplate-General" id="{13F5556C-5BC5-9542-AB57-73990FD9E90C}" vid="{2B303AC9-B9EA-B048-9D5C-6C975EA17091}"/>
    </a:ext>
  </a:extLst>
</a:theme>
</file>

<file path=ppt/theme/theme2.xml><?xml version="1.0" encoding="utf-8"?>
<a:theme xmlns:a="http://schemas.openxmlformats.org/drawingml/2006/main" name="1_Custom Design">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F72D32AC-F563-4E54-A5C2-D8F0BC37EE7E}"/>
    </a:ext>
  </a:extLst>
</a:theme>
</file>

<file path=ppt/theme/theme3.xml><?xml version="1.0" encoding="utf-8"?>
<a:theme xmlns:a="http://schemas.openxmlformats.org/drawingml/2006/main" name="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c6f1c3b-ea25-4e6f-91c5-aeb92d62b0fb" xsi:nil="true"/>
    <lcf76f155ced4ddcb4097134ff3c332f xmlns="3b9dc015-dd13-448b-b628-7af3b634cca4">
      <Terms xmlns="http://schemas.microsoft.com/office/infopath/2007/PartnerControls"/>
    </lcf76f155ced4ddcb4097134ff3c332f>
    <SharedWithUsers xmlns="0c6f1c3b-ea25-4e6f-91c5-aeb92d62b0fb">
      <UserInfo>
        <DisplayName>Tang, Vincent</DisplayName>
        <AccountId>80</AccountId>
        <AccountType/>
      </UserInfo>
    </SharedWithUsers>
  </documentManagement>
</p:properties>
</file>

<file path=customXml/itemProps1.xml><?xml version="1.0" encoding="utf-8"?>
<ds:datastoreItem xmlns:ds="http://schemas.openxmlformats.org/officeDocument/2006/customXml" ds:itemID="{DBC96193-877C-46EA-BD01-2ACB11A8A0AB}">
  <ds:schemaRefs>
    <ds:schemaRef ds:uri="http://schemas.microsoft.com/sharepoint/v3/contenttype/forms"/>
  </ds:schemaRefs>
</ds:datastoreItem>
</file>

<file path=customXml/itemProps2.xml><?xml version="1.0" encoding="utf-8"?>
<ds:datastoreItem xmlns:ds="http://schemas.openxmlformats.org/officeDocument/2006/customXml" ds:itemID="{AA6A204C-4BB4-4E2D-8875-D440B18BCE90}">
  <ds:schemaRefs>
    <ds:schemaRef ds:uri="0c6f1c3b-ea25-4e6f-91c5-aeb92d62b0fb"/>
    <ds:schemaRef ds:uri="3b9dc015-dd13-448b-b628-7af3b634cc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D0AC045-0708-4EF3-BE6A-CA4E594A0743}">
  <ds:schemaRefs>
    <ds:schemaRef ds:uri="3b9dc015-dd13-448b-b628-7af3b634cca4"/>
    <ds:schemaRef ds:uri="0c6f1c3b-ea25-4e6f-91c5-aeb92d62b0fb"/>
    <ds:schemaRef ds:uri="http://schemas.microsoft.com/office/infopath/2007/PartnerControls"/>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20</TotalTime>
  <Words>2320</Words>
  <Application>Microsoft Office PowerPoint</Application>
  <PresentationFormat>Widescreen</PresentationFormat>
  <Paragraphs>272</Paragraphs>
  <Slides>18</Slides>
  <Notes>15</Notes>
  <HiddenSlides>0</HiddenSlides>
  <MMClips>0</MMClips>
  <ScaleCrop>false</ScaleCrop>
  <HeadingPairs>
    <vt:vector size="4" baseType="variant">
      <vt:variant>
        <vt:lpstr>Theme</vt:lpstr>
      </vt:variant>
      <vt:variant>
        <vt:i4>3</vt:i4>
      </vt:variant>
      <vt:variant>
        <vt:lpstr>Slide Titles</vt:lpstr>
      </vt:variant>
      <vt:variant>
        <vt:i4>18</vt:i4>
      </vt:variant>
    </vt:vector>
  </HeadingPairs>
  <TitlesOfParts>
    <vt:vector size="21" baseType="lpstr">
      <vt:lpstr>Custom Design</vt:lpstr>
      <vt:lpstr>1_Custom Design</vt:lpstr>
      <vt:lpstr>Office Theme</vt:lpstr>
      <vt:lpstr>Data Sources for Identifying Gaps</vt:lpstr>
      <vt:lpstr>Macro-Criticality Dashboard</vt:lpstr>
      <vt:lpstr>Main Gap Indicators</vt:lpstr>
      <vt:lpstr>Indicator</vt:lpstr>
      <vt:lpstr>All Indicators</vt:lpstr>
      <vt:lpstr>Bar Chart</vt:lpstr>
      <vt:lpstr>Missing</vt:lpstr>
      <vt:lpstr>Group Exercise </vt:lpstr>
      <vt:lpstr>World Development Indicators and Women, Business, and the Law</vt:lpstr>
      <vt:lpstr>Key Resources</vt:lpstr>
      <vt:lpstr>Gender Data Portal</vt:lpstr>
      <vt:lpstr>World Bank Gender Data Portal: Data Availability</vt:lpstr>
      <vt:lpstr>Women, Business, and the Law Index</vt:lpstr>
      <vt:lpstr>ILO Care Portal</vt:lpstr>
      <vt:lpstr>ILO Global Care Portal</vt:lpstr>
      <vt:lpstr>ILO Global Care Portal</vt:lpstr>
      <vt:lpstr>Links and Resources</vt:lpstr>
      <vt:lpstr>Women spend more time on unpaid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 and Instructions</dc:title>
  <dc:creator>Spatafora, Nikola</dc:creator>
  <cp:lastModifiedBy>Kolovich, Lisa</cp:lastModifiedBy>
  <cp:revision>3</cp:revision>
  <cp:lastPrinted>2018-06-28T11:42:50Z</cp:lastPrinted>
  <dcterms:created xsi:type="dcterms:W3CDTF">2019-01-15T17:35:17Z</dcterms:created>
  <dcterms:modified xsi:type="dcterms:W3CDTF">2026-05-21T14:20:14Z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0x0101003808F46CC7369E44A38836926FD52CA4</vt:lpwstr>
  </property>
  <property fmtid="{D5CDD505-2E9C-101B-9397-08002B2CF9AE}" pid="4" name="MMSClassification">
    <vt:lpwstr>1</vt:lpwstr>
  </property>
  <property fmtid="{D5CDD505-2E9C-101B-9397-08002B2CF9AE}" pid="5" name="Order">
    <vt:r8>2200</vt:r8>
  </property>
  <property fmtid="{D5CDD505-2E9C-101B-9397-08002B2CF9AE}" pid="6" name="MMSTopics">
    <vt:lpwstr/>
  </property>
  <property fmtid="{D5CDD505-2E9C-101B-9397-08002B2CF9AE}" pid="7" name="MMSCountries">
    <vt:lpwstr/>
  </property>
  <property fmtid="{D5CDD505-2E9C-101B-9397-08002B2CF9AE}" pid="8" name="MMSDepartments">
    <vt:lpwstr>33</vt:lpwstr>
  </property>
  <property fmtid="{D5CDD505-2E9C-101B-9397-08002B2CF9AE}" pid="9" name="eDOCS AutoSave">
    <vt:lpwstr/>
  </property>
  <property fmtid="{D5CDD505-2E9C-101B-9397-08002B2CF9AE}" pid="10" name="MSIP_Label_0c07ed86-5dc5-4593-ad03-a8684b843815_Enabled">
    <vt:lpwstr>true</vt:lpwstr>
  </property>
  <property fmtid="{D5CDD505-2E9C-101B-9397-08002B2CF9AE}" pid="11" name="MSIP_Label_0c07ed86-5dc5-4593-ad03-a8684b843815_SetDate">
    <vt:lpwstr>2023-08-10T16:29:55Z</vt:lpwstr>
  </property>
  <property fmtid="{D5CDD505-2E9C-101B-9397-08002B2CF9AE}" pid="12" name="MSIP_Label_0c07ed86-5dc5-4593-ad03-a8684b843815_Method">
    <vt:lpwstr>Standard</vt:lpwstr>
  </property>
  <property fmtid="{D5CDD505-2E9C-101B-9397-08002B2CF9AE}" pid="13" name="MSIP_Label_0c07ed86-5dc5-4593-ad03-a8684b843815_Name">
    <vt:lpwstr>0c07ed86-5dc5-4593-ad03-a8684b843815</vt:lpwstr>
  </property>
  <property fmtid="{D5CDD505-2E9C-101B-9397-08002B2CF9AE}" pid="14" name="MSIP_Label_0c07ed86-5dc5-4593-ad03-a8684b843815_SiteId">
    <vt:lpwstr>8085fa43-302e-45bd-b171-a6648c3b6be7</vt:lpwstr>
  </property>
  <property fmtid="{D5CDD505-2E9C-101B-9397-08002B2CF9AE}" pid="15" name="MSIP_Label_0c07ed86-5dc5-4593-ad03-a8684b843815_ActionId">
    <vt:lpwstr>bdaf899b-2077-417e-aab4-0d763181fea1</vt:lpwstr>
  </property>
  <property fmtid="{D5CDD505-2E9C-101B-9397-08002B2CF9AE}" pid="16" name="MSIP_Label_0c07ed86-5dc5-4593-ad03-a8684b843815_ContentBits">
    <vt:lpwstr>0</vt:lpwstr>
  </property>
  <property fmtid="{D5CDD505-2E9C-101B-9397-08002B2CF9AE}" pid="17" name="MediaServiceImageTags">
    <vt:lpwstr/>
  </property>
</Properties>
</file>