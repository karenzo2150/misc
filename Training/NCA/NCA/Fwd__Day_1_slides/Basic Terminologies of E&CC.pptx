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62" r:id="rId6"/>
    <p:sldId id="264" r:id="rId7"/>
    <p:sldId id="266" r:id="rId8"/>
    <p:sldId id="267" r:id="rId9"/>
    <p:sldId id="268" r:id="rId10"/>
    <p:sldId id="269" r:id="rId11"/>
    <p:sldId id="386" r:id="rId12"/>
    <p:sldId id="387" r:id="rId13"/>
    <p:sldId id="270" r:id="rId14"/>
    <p:sldId id="271" r:id="rId15"/>
    <p:sldId id="274" r:id="rId16"/>
    <p:sldId id="276" r:id="rId17"/>
    <p:sldId id="388" r:id="rId18"/>
    <p:sldId id="280" r:id="rId19"/>
    <p:sldId id="282"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7FA897-76CE-4380-8653-925217A269D1}" type="datetimeFigureOut">
              <a:rPr lang="en-PK" smtClean="0"/>
              <a:t>19/01/2026</a:t>
            </a:fld>
            <a:endParaRPr lang="en-PK"/>
          </a:p>
        </p:txBody>
      </p:sp>
      <p:sp>
        <p:nvSpPr>
          <p:cNvPr id="5" name="Footer Placeholder 4"/>
          <p:cNvSpPr>
            <a:spLocks noGrp="1"/>
          </p:cNvSpPr>
          <p:nvPr>
            <p:ph type="ftr" sz="quarter" idx="11"/>
          </p:nvPr>
        </p:nvSpPr>
        <p:spPr>
          <a:xfrm>
            <a:off x="1451579" y="329307"/>
            <a:ext cx="5626774" cy="309201"/>
          </a:xfrm>
        </p:spPr>
        <p:txBody>
          <a:bodyPr/>
          <a:lstStyle/>
          <a:p>
            <a:endParaRPr lang="en-PK"/>
          </a:p>
        </p:txBody>
      </p:sp>
      <p:sp>
        <p:nvSpPr>
          <p:cNvPr id="6" name="Slide Number Placeholder 5"/>
          <p:cNvSpPr>
            <a:spLocks noGrp="1"/>
          </p:cNvSpPr>
          <p:nvPr>
            <p:ph type="sldNum" sz="quarter" idx="12"/>
          </p:nvPr>
        </p:nvSpPr>
        <p:spPr>
          <a:xfrm>
            <a:off x="476834" y="798973"/>
            <a:ext cx="811019" cy="503578"/>
          </a:xfrm>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555340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7FA897-76CE-4380-8653-925217A269D1}" type="datetimeFigureOut">
              <a:rPr lang="en-PK" smtClean="0"/>
              <a:t>19/01/2026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3230285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7FA897-76CE-4380-8653-925217A269D1}" type="datetimeFigureOut">
              <a:rPr lang="en-PK" smtClean="0"/>
              <a:t>19/01/2026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1594851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7FA897-76CE-4380-8653-925217A269D1}" type="datetimeFigureOut">
              <a:rPr lang="en-PK" smtClean="0"/>
              <a:t>19/01/2026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3761592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7FA897-76CE-4380-8653-925217A269D1}" type="datetimeFigureOut">
              <a:rPr lang="en-PK" smtClean="0"/>
              <a:t>19/01/2026</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181943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7FA897-76CE-4380-8653-925217A269D1}" type="datetimeFigureOut">
              <a:rPr lang="en-PK" smtClean="0"/>
              <a:t>19/01/2026</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222610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7FA897-76CE-4380-8653-925217A269D1}" type="datetimeFigureOut">
              <a:rPr lang="en-PK" smtClean="0"/>
              <a:t>19/01/2026</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1420082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7FA897-76CE-4380-8653-925217A269D1}" type="datetimeFigureOut">
              <a:rPr lang="en-PK" smtClean="0"/>
              <a:t>19/01/2026</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3007835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D7FA897-76CE-4380-8653-925217A269D1}" type="datetimeFigureOut">
              <a:rPr lang="en-PK" smtClean="0"/>
              <a:t>19/01/2026</a:t>
            </a:fld>
            <a:endParaRPr lang="en-PK"/>
          </a:p>
        </p:txBody>
      </p:sp>
      <p:sp>
        <p:nvSpPr>
          <p:cNvPr id="6" name="Footer Placeholder 5"/>
          <p:cNvSpPr>
            <a:spLocks noGrp="1"/>
          </p:cNvSpPr>
          <p:nvPr>
            <p:ph type="ftr" sz="quarter" idx="11"/>
          </p:nvPr>
        </p:nvSpPr>
        <p:spPr>
          <a:xfrm>
            <a:off x="1447382" y="318640"/>
            <a:ext cx="5541004" cy="320931"/>
          </a:xfrm>
        </p:spPr>
        <p:txBody>
          <a:bodyPr/>
          <a:lstStyle/>
          <a:p>
            <a:endParaRPr lang="en-PK"/>
          </a:p>
        </p:txBody>
      </p:sp>
      <p:sp>
        <p:nvSpPr>
          <p:cNvPr id="7" name="Slide Number Placeholder 6"/>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2784057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7FA897-76CE-4380-8653-925217A269D1}" type="datetimeFigureOut">
              <a:rPr lang="en-PK" smtClean="0"/>
              <a:t>19/01/2026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227208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7FA897-76CE-4380-8653-925217A269D1}" type="datetimeFigureOut">
              <a:rPr lang="en-PK" smtClean="0"/>
              <a:t>19/01/2026</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BDDD3151-FF69-46CF-8DC6-028C8B233850}" type="slidenum">
              <a:rPr lang="en-PK" smtClean="0"/>
              <a:t>‹#›</a:t>
            </a:fld>
            <a:endParaRPr lang="en-PK"/>
          </a:p>
        </p:txBody>
      </p:sp>
    </p:spTree>
    <p:extLst>
      <p:ext uri="{BB962C8B-B14F-4D97-AF65-F5344CB8AC3E}">
        <p14:creationId xmlns:p14="http://schemas.microsoft.com/office/powerpoint/2010/main" val="3231471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D7FA897-76CE-4380-8653-925217A269D1}" type="datetimeFigureOut">
              <a:rPr lang="en-PK" smtClean="0"/>
              <a:t>19/01/2026</a:t>
            </a:fld>
            <a:endParaRPr lang="en-PK"/>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K"/>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DDD3151-FF69-46CF-8DC6-028C8B233850}" type="slidenum">
              <a:rPr lang="en-PK" smtClean="0"/>
              <a:t>‹#›</a:t>
            </a:fld>
            <a:endParaRPr lang="en-PK"/>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333745"/>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wVlfyhs64IY"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D3B3-BCD1-4030-A443-114DC8A968F9}"/>
              </a:ext>
            </a:extLst>
          </p:cNvPr>
          <p:cNvSpPr>
            <a:spLocks noGrp="1"/>
          </p:cNvSpPr>
          <p:nvPr>
            <p:ph type="ctrTitle"/>
          </p:nvPr>
        </p:nvSpPr>
        <p:spPr>
          <a:xfrm>
            <a:off x="1" y="1293780"/>
            <a:ext cx="12191999" cy="2762654"/>
          </a:xfrm>
        </p:spPr>
        <p:txBody>
          <a:bodyPr>
            <a:noAutofit/>
          </a:bodyPr>
          <a:lstStyle/>
          <a:p>
            <a:br>
              <a:rPr lang="en-US" sz="3200" b="1" dirty="0">
                <a:solidFill>
                  <a:schemeClr val="tx1"/>
                </a:solidFill>
                <a:latin typeface="Times New Roman" panose="02020603050405020304" pitchFamily="18" charset="0"/>
                <a:cs typeface="Times New Roman" panose="02020603050405020304" pitchFamily="18" charset="0"/>
              </a:rPr>
            </a:br>
            <a:r>
              <a:rPr lang="en-US" sz="3200" b="1" dirty="0">
                <a:solidFill>
                  <a:schemeClr val="tx1"/>
                </a:solidFill>
                <a:latin typeface="Times New Roman" panose="02020603050405020304" pitchFamily="18" charset="0"/>
                <a:cs typeface="Times New Roman" panose="02020603050405020304" pitchFamily="18" charset="0"/>
              </a:rPr>
              <a:t>basic terminologies </a:t>
            </a:r>
            <a:br>
              <a:rPr lang="en-US" sz="3200" b="1" dirty="0">
                <a:solidFill>
                  <a:schemeClr val="tx1"/>
                </a:solidFill>
                <a:latin typeface="Times New Roman" panose="02020603050405020304" pitchFamily="18" charset="0"/>
                <a:cs typeface="Times New Roman" panose="02020603050405020304" pitchFamily="18" charset="0"/>
              </a:rPr>
            </a:br>
            <a:r>
              <a:rPr lang="en-US" sz="3000" dirty="0">
                <a:solidFill>
                  <a:schemeClr val="tx1"/>
                </a:solidFill>
                <a:latin typeface="Times New Roman" panose="02020603050405020304" pitchFamily="18" charset="0"/>
                <a:cs typeface="Times New Roman" panose="02020603050405020304" pitchFamily="18" charset="0"/>
              </a:rPr>
              <a:t>of </a:t>
            </a:r>
            <a:br>
              <a:rPr lang="en-US" sz="3000" dirty="0">
                <a:solidFill>
                  <a:schemeClr val="tx1"/>
                </a:solidFill>
                <a:latin typeface="Times New Roman" panose="02020603050405020304" pitchFamily="18" charset="0"/>
                <a:cs typeface="Times New Roman" panose="02020603050405020304" pitchFamily="18" charset="0"/>
              </a:rPr>
            </a:br>
            <a:r>
              <a:rPr lang="en-US" sz="3000" b="1" dirty="0">
                <a:solidFill>
                  <a:schemeClr val="tx1"/>
                </a:solidFill>
                <a:latin typeface="Times New Roman" panose="02020603050405020304" pitchFamily="18" charset="0"/>
                <a:cs typeface="Times New Roman" panose="02020603050405020304" pitchFamily="18" charset="0"/>
              </a:rPr>
              <a:t>environment &amp; Climate change</a:t>
            </a:r>
            <a:br>
              <a:rPr lang="en-US" sz="3000" dirty="0">
                <a:solidFill>
                  <a:schemeClr val="tx1"/>
                </a:solidFill>
                <a:latin typeface="Times New Roman" panose="02020603050405020304" pitchFamily="18" charset="0"/>
                <a:cs typeface="Times New Roman" panose="02020603050405020304" pitchFamily="18" charset="0"/>
              </a:rPr>
            </a:br>
            <a:br>
              <a:rPr lang="en-US" sz="3000" dirty="0">
                <a:solidFill>
                  <a:schemeClr val="tx1"/>
                </a:solidFill>
                <a:latin typeface="Times New Roman" panose="02020603050405020304" pitchFamily="18" charset="0"/>
                <a:cs typeface="Times New Roman" panose="02020603050405020304" pitchFamily="18" charset="0"/>
              </a:rPr>
            </a:br>
            <a:endParaRPr lang="en-PK" sz="30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FB03032-D5B3-467E-9390-66CB2DBBD922}"/>
              </a:ext>
            </a:extLst>
          </p:cNvPr>
          <p:cNvSpPr>
            <a:spLocks noGrp="1"/>
          </p:cNvSpPr>
          <p:nvPr>
            <p:ph type="subTitle" idx="1"/>
          </p:nvPr>
        </p:nvSpPr>
        <p:spPr>
          <a:xfrm>
            <a:off x="1523999" y="5201623"/>
            <a:ext cx="9315450" cy="451925"/>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19 Jan 2026</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8504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85FE6-EB27-4B6B-9101-06F20A2F3B7B}"/>
              </a:ext>
            </a:extLst>
          </p:cNvPr>
          <p:cNvSpPr>
            <a:spLocks noGrp="1"/>
          </p:cNvSpPr>
          <p:nvPr>
            <p:ph type="title"/>
          </p:nvPr>
        </p:nvSpPr>
        <p:spPr/>
        <p:txBody>
          <a:bodyPr>
            <a:noAutofit/>
          </a:bodyPr>
          <a:lstStyle/>
          <a:p>
            <a:r>
              <a:rPr lang="en-US" sz="4000" b="1" dirty="0">
                <a:latin typeface="Times New Roman" panose="02020603050405020304" pitchFamily="18" charset="0"/>
                <a:cs typeface="Times New Roman" panose="02020603050405020304" pitchFamily="18" charset="0"/>
              </a:rPr>
              <a:t>Weather</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4FD9600-A162-4850-B594-A46011416DEA}"/>
              </a:ext>
            </a:extLst>
          </p:cNvPr>
          <p:cNvSpPr>
            <a:spLocks noGrp="1"/>
          </p:cNvSpPr>
          <p:nvPr>
            <p:ph idx="1"/>
          </p:nvPr>
        </p:nvSpPr>
        <p:spPr>
          <a:xfrm>
            <a:off x="0" y="2015732"/>
            <a:ext cx="12191999" cy="3450613"/>
          </a:xfrm>
        </p:spPr>
        <p:txBody>
          <a:bodyPr>
            <a:normAutofit/>
          </a:bodyPr>
          <a:lstStyle/>
          <a:p>
            <a:pPr marL="0" indent="0" algn="just">
              <a:buNone/>
            </a:pPr>
            <a:r>
              <a:rPr lang="en-US" sz="2400" i="1" dirty="0">
                <a:latin typeface="Times New Roman" panose="02020603050405020304" pitchFamily="18" charset="0"/>
                <a:cs typeface="Times New Roman" panose="02020603050405020304" pitchFamily="18" charset="0"/>
              </a:rPr>
              <a:t>“The behavior of the atmosphere on a day-to-day basis in a relatively local area is known as weather. A description of the weather would include daily temperatures, humidity, sunshine, wind, precipitation, cloudiness and rainfall that we experience in the atmosphere at a given time in a specific location”</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3398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C7D1-2C6B-4B71-A3E5-7F16F336E960}"/>
              </a:ext>
            </a:extLst>
          </p:cNvPr>
          <p:cNvSpPr>
            <a:spLocks noGrp="1"/>
          </p:cNvSpPr>
          <p:nvPr>
            <p:ph type="title"/>
          </p:nvPr>
        </p:nvSpPr>
        <p:spPr>
          <a:xfrm>
            <a:off x="1451579" y="191677"/>
            <a:ext cx="9291215" cy="1049235"/>
          </a:xfrm>
        </p:spPr>
        <p:txBody>
          <a:bodyPr>
            <a:noAutofit/>
          </a:bodyPr>
          <a:lstStyle/>
          <a:p>
            <a:r>
              <a:rPr lang="en-US" sz="4000" b="1" dirty="0">
                <a:latin typeface="Times New Roman" panose="02020603050405020304" pitchFamily="18" charset="0"/>
                <a:cs typeface="Times New Roman" panose="02020603050405020304" pitchFamily="18" charset="0"/>
              </a:rPr>
              <a:t>Greenhouse Gases </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C4D8E4-6A78-4046-9140-8D98DAE62F5B}"/>
              </a:ext>
            </a:extLst>
          </p:cNvPr>
          <p:cNvSpPr>
            <a:spLocks noGrp="1"/>
          </p:cNvSpPr>
          <p:nvPr>
            <p:ph idx="1"/>
          </p:nvPr>
        </p:nvSpPr>
        <p:spPr>
          <a:xfrm>
            <a:off x="0" y="1334795"/>
            <a:ext cx="12192000" cy="4093240"/>
          </a:xfrm>
        </p:spPr>
        <p:txBody>
          <a:bodyPr>
            <a:normAutofit fontScale="92500" lnSpcReduction="10000"/>
          </a:bodyPr>
          <a:lstStyle/>
          <a:p>
            <a:pPr marL="0" indent="0" algn="just">
              <a:buNone/>
            </a:pPr>
            <a:r>
              <a:rPr lang="en-US" sz="2400" i="1" dirty="0">
                <a:latin typeface="Times New Roman" panose="02020603050405020304" pitchFamily="18" charset="0"/>
                <a:cs typeface="Times New Roman" panose="02020603050405020304" pitchFamily="18" charset="0"/>
              </a:rPr>
              <a:t>“The atmospheric gases that are responsible for causing global warming and climate change. Naturally occurring GHGs include Water Vapor (H2O), Carbon Dioxide (CO2), Methane (CH4), Nitrous Oxide (N2O), and Ozone (O3). Nitrous Oxide can live for an average of 114 years, according to the EPA- One pound of N2O warms the atmosphere about 300 times the amount that one pound of carbon dioxide does over a 100-year timescale.</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Anthropogenic GHGs are less prevalent but very powerful GHGs. These include hydrofluorocarbons (HFCs- used primarily in refrigeration, air-conditioning), perfluorocarbons (PFCs- used in food packaging, microwave popcorn bags, fast food wrappers, Non-stick cookware) and Sulphur hexafluoride (SF6- manufacture of electronics / semiconductors, and production of magnesium)</a:t>
            </a:r>
          </a:p>
          <a:p>
            <a:pPr marL="0" indent="0" algn="just">
              <a:buNone/>
            </a:pPr>
            <a:endParaRPr lang="en-US" sz="2400" i="1" dirty="0">
              <a:latin typeface="Times New Roman" panose="02020603050405020304" pitchFamily="18" charset="0"/>
              <a:cs typeface="Times New Roman" panose="02020603050405020304" pitchFamily="18" charset="0"/>
            </a:endParaRP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6629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967EB-D063-49DB-96B3-CD696B8535B5}"/>
              </a:ext>
            </a:extLst>
          </p:cNvPr>
          <p:cNvSpPr>
            <a:spLocks noGrp="1"/>
          </p:cNvSpPr>
          <p:nvPr>
            <p:ph type="title"/>
          </p:nvPr>
        </p:nvSpPr>
        <p:spPr/>
        <p:txBody>
          <a:bodyPr>
            <a:noAutofit/>
          </a:bodyPr>
          <a:lstStyle/>
          <a:p>
            <a:r>
              <a:rPr lang="en-US" sz="4000" b="1" dirty="0">
                <a:latin typeface="Times New Roman" panose="02020603050405020304" pitchFamily="18" charset="0"/>
                <a:cs typeface="Times New Roman" panose="02020603050405020304" pitchFamily="18" charset="0"/>
              </a:rPr>
              <a:t>Global Warming</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F4C3C8-2EFF-4BC0-80D6-EDE6E1B486F2}"/>
              </a:ext>
            </a:extLst>
          </p:cNvPr>
          <p:cNvSpPr>
            <a:spLocks noGrp="1"/>
          </p:cNvSpPr>
          <p:nvPr>
            <p:ph idx="1"/>
          </p:nvPr>
        </p:nvSpPr>
        <p:spPr>
          <a:xfrm>
            <a:off x="1" y="2015733"/>
            <a:ext cx="12091480" cy="3373390"/>
          </a:xfrm>
        </p:spPr>
        <p:txBody>
          <a:bodyPr>
            <a:normAutofit/>
          </a:bodyPr>
          <a:lstStyle/>
          <a:p>
            <a:pPr marL="0" indent="0" algn="just">
              <a:buNone/>
            </a:pPr>
            <a:r>
              <a:rPr lang="en-US" sz="2400" i="1" dirty="0">
                <a:latin typeface="Times New Roman" panose="02020603050405020304" pitchFamily="18" charset="0"/>
                <a:cs typeface="Times New Roman" panose="02020603050405020304" pitchFamily="18" charset="0"/>
              </a:rPr>
              <a:t>The gradual increase observed in global surface temperature caused by anthropogenic emissions is known as global warming</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Due to the anthropogenic activities, the increase in the GHGs emissions enhances the greenhouse effect which results global warming</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4079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36795-6DA8-4990-B64B-AA549CC6B2D0}"/>
              </a:ext>
            </a:extLst>
          </p:cNvPr>
          <p:cNvSpPr>
            <a:spLocks noGrp="1"/>
          </p:cNvSpPr>
          <p:nvPr>
            <p:ph type="title"/>
          </p:nvPr>
        </p:nvSpPr>
        <p:spPr/>
        <p:txBody>
          <a:bodyPr>
            <a:noAutofit/>
          </a:bodyPr>
          <a:lstStyle/>
          <a:p>
            <a:r>
              <a:rPr lang="en-US" sz="4000" b="1" dirty="0">
                <a:latin typeface="Times New Roman" panose="02020603050405020304" pitchFamily="18" charset="0"/>
                <a:cs typeface="Times New Roman" panose="02020603050405020304" pitchFamily="18" charset="0"/>
              </a:rPr>
              <a:t>Climate Variability </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776F91B-0B85-4590-81FC-1B5C82500F5B}"/>
              </a:ext>
            </a:extLst>
          </p:cNvPr>
          <p:cNvSpPr>
            <a:spLocks noGrp="1"/>
          </p:cNvSpPr>
          <p:nvPr>
            <p:ph idx="1"/>
          </p:nvPr>
        </p:nvSpPr>
        <p:spPr>
          <a:xfrm>
            <a:off x="0" y="1703693"/>
            <a:ext cx="12191999" cy="4035626"/>
          </a:xfrm>
        </p:spPr>
        <p:txBody>
          <a:bodyPr>
            <a:noAutofit/>
          </a:bodyPr>
          <a:lstStyle/>
          <a:p>
            <a:pPr marL="0" indent="0" algn="just">
              <a:buNone/>
            </a:pPr>
            <a:r>
              <a:rPr lang="en-US" sz="2400" i="1" dirty="0">
                <a:latin typeface="Times New Roman" panose="02020603050405020304" pitchFamily="18" charset="0"/>
                <a:cs typeface="Times New Roman" panose="02020603050405020304" pitchFamily="18" charset="0"/>
              </a:rPr>
              <a:t>Climate variability refers to natural variation in climate that occurs over months to decades </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El Niño, which changes temperature, rain and wind patterns in many regions (about 2 – 7 years) is a good example of natural climate variability</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Understanding </a:t>
            </a:r>
            <a:r>
              <a:rPr lang="es-ES" sz="2400" i="1" dirty="0">
                <a:latin typeface="Times New Roman" panose="02020603050405020304" pitchFamily="18" charset="0"/>
                <a:cs typeface="Times New Roman" panose="02020603050405020304" pitchFamily="18" charset="0"/>
              </a:rPr>
              <a:t> El Niño and La Niña</a:t>
            </a:r>
          </a:p>
          <a:p>
            <a:pPr marL="0" indent="0" algn="just">
              <a:buNone/>
            </a:pPr>
            <a:r>
              <a:rPr lang="en-GB" sz="2400" i="1" dirty="0">
                <a:latin typeface="Times New Roman" panose="02020603050405020304" pitchFamily="18" charset="0"/>
                <a:cs typeface="Times New Roman" panose="02020603050405020304" pitchFamily="18" charset="0"/>
                <a:hlinkClick r:id="rId2"/>
              </a:rPr>
              <a:t>https://www.youtube.com/watch?v=wVlfyhs64IY</a:t>
            </a:r>
            <a:r>
              <a:rPr lang="es-ES" sz="2400" i="1" dirty="0">
                <a:latin typeface="Times New Roman" panose="02020603050405020304" pitchFamily="18" charset="0"/>
                <a:cs typeface="Times New Roman" panose="02020603050405020304" pitchFamily="18" charset="0"/>
              </a:rPr>
              <a:t> </a:t>
            </a:r>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8575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EBEAE-9292-40EB-9613-D3059A376FFA}"/>
              </a:ext>
            </a:extLst>
          </p:cNvPr>
          <p:cNvSpPr>
            <a:spLocks noGrp="1"/>
          </p:cNvSpPr>
          <p:nvPr>
            <p:ph type="title"/>
          </p:nvPr>
        </p:nvSpPr>
        <p:spPr>
          <a:xfrm>
            <a:off x="1450391" y="0"/>
            <a:ext cx="9291215" cy="1049235"/>
          </a:xfrm>
        </p:spPr>
        <p:txBody>
          <a:bodyPr>
            <a:normAutofit/>
          </a:bodyPr>
          <a:lstStyle/>
          <a:p>
            <a:r>
              <a:rPr lang="en-US" sz="4000" b="1" dirty="0">
                <a:latin typeface="Times New Roman" panose="02020603050405020304" pitchFamily="18" charset="0"/>
                <a:cs typeface="Times New Roman" panose="02020603050405020304" pitchFamily="18" charset="0"/>
              </a:rPr>
              <a:t>Climate Change</a:t>
            </a:r>
          </a:p>
        </p:txBody>
      </p:sp>
      <p:sp>
        <p:nvSpPr>
          <p:cNvPr id="3" name="Content Placeholder 2">
            <a:extLst>
              <a:ext uri="{FF2B5EF4-FFF2-40B4-BE49-F238E27FC236}">
                <a16:creationId xmlns:a16="http://schemas.microsoft.com/office/drawing/2014/main" id="{45244CCA-31AC-43AA-ABEF-7C1909CC15AB}"/>
              </a:ext>
            </a:extLst>
          </p:cNvPr>
          <p:cNvSpPr>
            <a:spLocks noGrp="1"/>
          </p:cNvSpPr>
          <p:nvPr>
            <p:ph idx="1"/>
          </p:nvPr>
        </p:nvSpPr>
        <p:spPr>
          <a:xfrm>
            <a:off x="0" y="856034"/>
            <a:ext cx="12192000" cy="5272391"/>
          </a:xfrm>
        </p:spPr>
        <p:txBody>
          <a:bodyPr>
            <a:noAutofit/>
          </a:bodyPr>
          <a:lstStyle/>
          <a:p>
            <a:pPr marL="0" indent="0" algn="just">
              <a:buNone/>
            </a:pPr>
            <a:r>
              <a:rPr lang="en-US" sz="2400" i="1" dirty="0">
                <a:latin typeface="Times New Roman" panose="02020603050405020304" pitchFamily="18" charset="0"/>
                <a:cs typeface="Times New Roman" panose="02020603050405020304" pitchFamily="18" charset="0"/>
              </a:rPr>
              <a:t>Climate change is a systematic change in the atmosphere over multiple decades</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It may be due to natural processes or anthropogenic changes in the composition of the atmosphere</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This means a change of climate is attributed directly or indirectly to human activity that alters the composition of the global atmosphere</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The UN Framework Convention on Climate Change (UNFCCC) uses the term “Climate Change” for human-induced changes and “climate variability” for other natural changes</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7815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25E4-6E91-470B-8DB6-E2AB1A8D964B}"/>
              </a:ext>
            </a:extLst>
          </p:cNvPr>
          <p:cNvSpPr>
            <a:spLocks noGrp="1"/>
          </p:cNvSpPr>
          <p:nvPr>
            <p:ph type="title"/>
          </p:nvPr>
        </p:nvSpPr>
        <p:spPr>
          <a:xfrm>
            <a:off x="1450392" y="110613"/>
            <a:ext cx="9291215" cy="1260987"/>
          </a:xfrm>
        </p:spPr>
        <p:txBody>
          <a:bodyPr>
            <a:noAutofit/>
          </a:bodyPr>
          <a:lstStyle/>
          <a:p>
            <a:r>
              <a:rPr lang="en-US" sz="4000" b="1" dirty="0">
                <a:latin typeface="Times New Roman" panose="02020603050405020304" pitchFamily="18" charset="0"/>
                <a:cs typeface="Times New Roman" panose="02020603050405020304" pitchFamily="18" charset="0"/>
              </a:rPr>
              <a:t>Climate Change Mitigation</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A47282-742C-4EBF-BF8B-2E1981FA3D63}"/>
              </a:ext>
            </a:extLst>
          </p:cNvPr>
          <p:cNvSpPr>
            <a:spLocks noGrp="1"/>
          </p:cNvSpPr>
          <p:nvPr>
            <p:ph idx="1"/>
          </p:nvPr>
        </p:nvSpPr>
        <p:spPr>
          <a:xfrm>
            <a:off x="0" y="710120"/>
            <a:ext cx="12192000" cy="5418306"/>
          </a:xfrm>
        </p:spPr>
        <p:txBody>
          <a:bodyPr>
            <a:noAutofit/>
          </a:bodyPr>
          <a:lstStyle/>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Strategies and policies that reduce the concentration of GHGs either by reducing their emissions or by increasing their capture is known as Climate Change Mitigation</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Mitigation is a human intervention to reduce the sources or enhance the sinks of GHGs. Examples include:</a:t>
            </a:r>
          </a:p>
          <a:p>
            <a:pPr marL="447675" indent="447675" algn="just"/>
            <a:r>
              <a:rPr lang="en-US" sz="2400" i="1" dirty="0">
                <a:latin typeface="Times New Roman" panose="02020603050405020304" pitchFamily="18" charset="0"/>
                <a:cs typeface="Times New Roman" panose="02020603050405020304" pitchFamily="18" charset="0"/>
              </a:rPr>
              <a:t>Using fossil fuels more efficiently for industrial processes or electricity generation</a:t>
            </a:r>
          </a:p>
          <a:p>
            <a:pPr marL="447675" indent="447675" algn="just"/>
            <a:r>
              <a:rPr lang="en-US" sz="2400" i="1" dirty="0">
                <a:latin typeface="Times New Roman" panose="02020603050405020304" pitchFamily="18" charset="0"/>
                <a:cs typeface="Times New Roman" panose="02020603050405020304" pitchFamily="18" charset="0"/>
              </a:rPr>
              <a:t>Switching to solar energy or wind power </a:t>
            </a:r>
          </a:p>
          <a:p>
            <a:pPr marL="447675" indent="447675" algn="just"/>
            <a:r>
              <a:rPr lang="en-US" sz="2400" i="1" dirty="0">
                <a:latin typeface="Times New Roman" panose="02020603050405020304" pitchFamily="18" charset="0"/>
                <a:cs typeface="Times New Roman" panose="02020603050405020304" pitchFamily="18" charset="0"/>
              </a:rPr>
              <a:t>Improving the insulation of buildings and </a:t>
            </a:r>
          </a:p>
          <a:p>
            <a:pPr marL="447675" indent="447675" algn="just"/>
            <a:r>
              <a:rPr lang="en-US" sz="2400" i="1" dirty="0">
                <a:latin typeface="Times New Roman" panose="02020603050405020304" pitchFamily="18" charset="0"/>
                <a:cs typeface="Times New Roman" panose="02020603050405020304" pitchFamily="18" charset="0"/>
              </a:rPr>
              <a:t>Expanding forests and vegetation  etc.</a:t>
            </a:r>
          </a:p>
          <a:p>
            <a:pPr marL="0" indent="0" algn="just">
              <a:buNone/>
            </a:pPr>
            <a:endParaRPr lang="en-US" sz="2400" i="1" dirty="0">
              <a:latin typeface="Times New Roman" panose="02020603050405020304" pitchFamily="18" charset="0"/>
              <a:cs typeface="Times New Roman" panose="02020603050405020304" pitchFamily="18" charset="0"/>
            </a:endParaRP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083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25E4-6E91-470B-8DB6-E2AB1A8D964B}"/>
              </a:ext>
            </a:extLst>
          </p:cNvPr>
          <p:cNvSpPr>
            <a:spLocks noGrp="1"/>
          </p:cNvSpPr>
          <p:nvPr>
            <p:ph type="title"/>
          </p:nvPr>
        </p:nvSpPr>
        <p:spPr>
          <a:xfrm>
            <a:off x="0" y="1"/>
            <a:ext cx="12192000" cy="603114"/>
          </a:xfrm>
        </p:spPr>
        <p:txBody>
          <a:bodyPr>
            <a:noAutofit/>
          </a:bodyPr>
          <a:lstStyle/>
          <a:p>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Mitigation Through Reducing emissions</a:t>
            </a:r>
            <a:br>
              <a:rPr lang="en-US" sz="3000" b="1" dirty="0">
                <a:latin typeface="Times New Roman" panose="02020603050405020304" pitchFamily="18" charset="0"/>
                <a:cs typeface="Times New Roman" panose="02020603050405020304" pitchFamily="18" charset="0"/>
              </a:rPr>
            </a:br>
            <a:endParaRPr lang="en-PK"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FA47282-742C-4EBF-BF8B-2E1981FA3D63}"/>
              </a:ext>
            </a:extLst>
          </p:cNvPr>
          <p:cNvSpPr>
            <a:spLocks noGrp="1"/>
          </p:cNvSpPr>
          <p:nvPr>
            <p:ph idx="1"/>
          </p:nvPr>
        </p:nvSpPr>
        <p:spPr>
          <a:xfrm>
            <a:off x="-1" y="567446"/>
            <a:ext cx="6096001" cy="5538282"/>
          </a:xfrm>
        </p:spPr>
        <p:txBody>
          <a:bodyPr>
            <a:noAutofit/>
          </a:bodyPr>
          <a:lstStyle/>
          <a:p>
            <a:pPr algn="just"/>
            <a:r>
              <a:rPr lang="en-US" sz="1600" i="1" dirty="0">
                <a:latin typeface="Times New Roman" panose="02020603050405020304" pitchFamily="18" charset="0"/>
                <a:cs typeface="Times New Roman" panose="02020603050405020304" pitchFamily="18" charset="0"/>
              </a:rPr>
              <a:t>Methodology: AM 00031 (Baseline Methodologies for CERs in Rapid Transit Projects).</a:t>
            </a:r>
          </a:p>
          <a:p>
            <a:pPr algn="just"/>
            <a:endParaRPr lang="en-US" sz="1600" i="1" dirty="0">
              <a:latin typeface="Times New Roman" panose="02020603050405020304" pitchFamily="18" charset="0"/>
              <a:cs typeface="Times New Roman" panose="02020603050405020304" pitchFamily="18" charset="0"/>
            </a:endParaRPr>
          </a:p>
          <a:p>
            <a:pPr algn="just"/>
            <a:r>
              <a:rPr lang="en-US" sz="1600" i="1" dirty="0">
                <a:latin typeface="Times New Roman" panose="02020603050405020304" pitchFamily="18" charset="0"/>
                <a:cs typeface="Times New Roman" panose="02020603050405020304" pitchFamily="18" charset="0"/>
              </a:rPr>
              <a:t>Total investment cost of MTS: About US$ 2 bn</a:t>
            </a:r>
          </a:p>
          <a:p>
            <a:pPr algn="just"/>
            <a:endParaRPr lang="en-US" sz="1600" i="1" dirty="0">
              <a:latin typeface="Times New Roman" panose="02020603050405020304" pitchFamily="18" charset="0"/>
              <a:cs typeface="Times New Roman" panose="02020603050405020304" pitchFamily="18" charset="0"/>
            </a:endParaRPr>
          </a:p>
          <a:p>
            <a:pPr algn="just"/>
            <a:r>
              <a:rPr lang="en-US" sz="1600" i="1" dirty="0">
                <a:latin typeface="Times New Roman" panose="02020603050405020304" pitchFamily="18" charset="0"/>
                <a:cs typeface="Times New Roman" panose="02020603050405020304" pitchFamily="18" charset="0"/>
              </a:rPr>
              <a:t>The price of CER to be $10 (Assumed Price)</a:t>
            </a:r>
          </a:p>
          <a:p>
            <a:pPr algn="just"/>
            <a:endParaRPr lang="en-US" sz="1600" i="1" dirty="0">
              <a:latin typeface="Times New Roman" panose="02020603050405020304" pitchFamily="18" charset="0"/>
              <a:cs typeface="Times New Roman" panose="02020603050405020304" pitchFamily="18" charset="0"/>
            </a:endParaRPr>
          </a:p>
          <a:p>
            <a:pPr algn="just"/>
            <a:r>
              <a:rPr lang="en-US" sz="1600" i="1" dirty="0">
                <a:latin typeface="Times New Roman" panose="02020603050405020304" pitchFamily="18" charset="0"/>
                <a:cs typeface="Times New Roman" panose="02020603050405020304" pitchFamily="18" charset="0"/>
              </a:rPr>
              <a:t>Renewable crediting period, i.e., 7 + 2x7 (21 years) (Claiming CERs for Project Period Phase 1=7 Years)</a:t>
            </a:r>
          </a:p>
          <a:p>
            <a:pPr algn="just"/>
            <a:endParaRPr lang="en-US" sz="1600" i="1" dirty="0">
              <a:latin typeface="Times New Roman" panose="02020603050405020304" pitchFamily="18" charset="0"/>
              <a:cs typeface="Times New Roman" panose="02020603050405020304" pitchFamily="18" charset="0"/>
            </a:endParaRPr>
          </a:p>
          <a:p>
            <a:pPr algn="just"/>
            <a:r>
              <a:rPr lang="en-US" sz="1600" i="1" dirty="0">
                <a:latin typeface="Times New Roman" panose="02020603050405020304" pitchFamily="18" charset="0"/>
                <a:cs typeface="Times New Roman" panose="02020603050405020304" pitchFamily="18" charset="0"/>
              </a:rPr>
              <a:t>Revenue per crediting period:  $ 1.7 Billion USD</a:t>
            </a:r>
          </a:p>
          <a:p>
            <a:pPr algn="just"/>
            <a:endParaRPr lang="en-US" sz="1600" i="1" dirty="0">
              <a:latin typeface="Times New Roman" panose="02020603050405020304" pitchFamily="18" charset="0"/>
              <a:cs typeface="Times New Roman" panose="02020603050405020304" pitchFamily="18" charset="0"/>
            </a:endParaRPr>
          </a:p>
          <a:p>
            <a:pPr algn="just"/>
            <a:r>
              <a:rPr lang="en-US" sz="1600" i="1" dirty="0">
                <a:latin typeface="Times New Roman" panose="02020603050405020304" pitchFamily="18" charset="0"/>
                <a:cs typeface="Times New Roman" panose="02020603050405020304" pitchFamily="18" charset="0"/>
              </a:rPr>
              <a:t>Revenue for the 3 Crediting Period (21 years):   $ 5.1 Billion USD </a:t>
            </a:r>
          </a:p>
          <a:p>
            <a:pPr algn="just"/>
            <a:r>
              <a:rPr lang="en-US" sz="1600" i="1" dirty="0">
                <a:latin typeface="Times New Roman" panose="02020603050405020304" pitchFamily="18" charset="0"/>
                <a:cs typeface="Times New Roman" panose="02020603050405020304" pitchFamily="18" charset="0"/>
              </a:rPr>
              <a:t>ER = Baseline emissions - Project emissions (BAU 2013- MTS 2013)</a:t>
            </a:r>
          </a:p>
          <a:p>
            <a:pPr algn="just"/>
            <a:endParaRPr lang="en-PK" sz="1600" i="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D8653D9-2F2B-4C68-952D-3D4C6F694660}"/>
              </a:ext>
            </a:extLst>
          </p:cNvPr>
          <p:cNvSpPr txBox="1">
            <a:spLocks/>
          </p:cNvSpPr>
          <p:nvPr/>
        </p:nvSpPr>
        <p:spPr>
          <a:xfrm>
            <a:off x="6566170" y="599873"/>
            <a:ext cx="5243210" cy="5505855"/>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endParaRPr lang="en-PK" sz="1600" i="1" dirty="0">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0C794DC-0EA0-4FBE-8478-92AB4D24A3E5}"/>
              </a:ext>
            </a:extLst>
          </p:cNvPr>
          <p:cNvGraphicFramePr>
            <a:graphicFrameLocks noGrp="1"/>
          </p:cNvGraphicFramePr>
          <p:nvPr>
            <p:extLst>
              <p:ext uri="{D42A27DB-BD31-4B8C-83A1-F6EECF244321}">
                <p14:modId xmlns:p14="http://schemas.microsoft.com/office/powerpoint/2010/main" val="3258858240"/>
              </p:ext>
            </p:extLst>
          </p:nvPr>
        </p:nvGraphicFramePr>
        <p:xfrm>
          <a:off x="7042827" y="752272"/>
          <a:ext cx="5149173" cy="5340485"/>
        </p:xfrm>
        <a:graphic>
          <a:graphicData uri="http://schemas.openxmlformats.org/drawingml/2006/table">
            <a:tbl>
              <a:tblPr firstRow="1" bandRow="1">
                <a:tableStyleId>{5C22544A-7EE6-4342-B048-85BDC9FD1C3A}</a:tableStyleId>
              </a:tblPr>
              <a:tblGrid>
                <a:gridCol w="1716391">
                  <a:extLst>
                    <a:ext uri="{9D8B030D-6E8A-4147-A177-3AD203B41FA5}">
                      <a16:colId xmlns:a16="http://schemas.microsoft.com/office/drawing/2014/main" val="2863071097"/>
                    </a:ext>
                  </a:extLst>
                </a:gridCol>
                <a:gridCol w="1716391">
                  <a:extLst>
                    <a:ext uri="{9D8B030D-6E8A-4147-A177-3AD203B41FA5}">
                      <a16:colId xmlns:a16="http://schemas.microsoft.com/office/drawing/2014/main" val="3175048869"/>
                    </a:ext>
                  </a:extLst>
                </a:gridCol>
                <a:gridCol w="1716391">
                  <a:extLst>
                    <a:ext uri="{9D8B030D-6E8A-4147-A177-3AD203B41FA5}">
                      <a16:colId xmlns:a16="http://schemas.microsoft.com/office/drawing/2014/main" val="3372925999"/>
                    </a:ext>
                  </a:extLst>
                </a:gridCol>
              </a:tblGrid>
              <a:tr h="418015">
                <a:tc>
                  <a:txBody>
                    <a:bodyPr/>
                    <a:lstStyle/>
                    <a:p>
                      <a:pPr algn="ctr"/>
                      <a:r>
                        <a:rPr lang="en-US" dirty="0">
                          <a:latin typeface="Times New Roman" panose="02020603050405020304" pitchFamily="18" charset="0"/>
                          <a:cs typeface="Times New Roman" panose="02020603050405020304" pitchFamily="18" charset="0"/>
                        </a:rPr>
                        <a:t>Year</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ER (tCO2) </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Revenue ($)</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6774677"/>
                  </a:ext>
                </a:extLst>
              </a:tr>
              <a:tr h="703210">
                <a:tc>
                  <a:txBody>
                    <a:bodyPr/>
                    <a:lstStyle/>
                    <a:p>
                      <a:pPr algn="ctr"/>
                      <a:r>
                        <a:rPr lang="en-US" dirty="0">
                          <a:latin typeface="Times New Roman" panose="02020603050405020304" pitchFamily="18" charset="0"/>
                          <a:cs typeface="Times New Roman" panose="02020603050405020304" pitchFamily="18" charset="0"/>
                        </a:rPr>
                        <a:t>2013</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94,567 </a:t>
                      </a:r>
                      <a:endParaRPr lang="en-PK"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945,670</a:t>
                      </a:r>
                      <a:endParaRPr lang="en-PK" sz="1800" kern="1200" dirty="0">
                        <a:solidFill>
                          <a:schemeClr val="dk1"/>
                        </a:solidFill>
                        <a:effectLst/>
                        <a:latin typeface="Times New Roman" panose="02020603050405020304" pitchFamily="18" charset="0"/>
                        <a:ea typeface="+mn-ea"/>
                        <a:cs typeface="Times New Roman" panose="02020603050405020304" pitchFamily="18" charset="0"/>
                      </a:endParaRPr>
                    </a:p>
                    <a:p>
                      <a:pPr algn="ct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29771688"/>
                  </a:ext>
                </a:extLst>
              </a:tr>
              <a:tr h="703210">
                <a:tc>
                  <a:txBody>
                    <a:bodyPr/>
                    <a:lstStyle/>
                    <a:p>
                      <a:pPr algn="ctr"/>
                      <a:r>
                        <a:rPr lang="en-US" dirty="0">
                          <a:latin typeface="Times New Roman" panose="02020603050405020304" pitchFamily="18" charset="0"/>
                          <a:cs typeface="Times New Roman" panose="02020603050405020304" pitchFamily="18" charset="0"/>
                        </a:rPr>
                        <a:t>2014</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134,011 </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1,340,110</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587883"/>
                  </a:ext>
                </a:extLst>
              </a:tr>
              <a:tr h="703210">
                <a:tc>
                  <a:txBody>
                    <a:bodyPr/>
                    <a:lstStyle/>
                    <a:p>
                      <a:pPr algn="ctr"/>
                      <a:r>
                        <a:rPr lang="en-US" dirty="0">
                          <a:latin typeface="Times New Roman" panose="02020603050405020304" pitchFamily="18" charset="0"/>
                          <a:cs typeface="Times New Roman" panose="02020603050405020304" pitchFamily="18" charset="0"/>
                        </a:rPr>
                        <a:t>2015</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230,201 </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2,302,010</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9736222"/>
                  </a:ext>
                </a:extLst>
              </a:tr>
              <a:tr h="703210">
                <a:tc>
                  <a:txBody>
                    <a:bodyPr/>
                    <a:lstStyle/>
                    <a:p>
                      <a:pPr algn="ctr"/>
                      <a:r>
                        <a:rPr lang="en-US" dirty="0">
                          <a:latin typeface="Times New Roman" panose="02020603050405020304" pitchFamily="18" charset="0"/>
                          <a:cs typeface="Times New Roman" panose="02020603050405020304" pitchFamily="18" charset="0"/>
                        </a:rPr>
                        <a:t>2016</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304,432 </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3,044,320</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04456770"/>
                  </a:ext>
                </a:extLst>
              </a:tr>
              <a:tr h="703210">
                <a:tc>
                  <a:txBody>
                    <a:bodyPr/>
                    <a:lstStyle/>
                    <a:p>
                      <a:pPr algn="ctr"/>
                      <a:r>
                        <a:rPr lang="en-US" dirty="0">
                          <a:latin typeface="Times New Roman" panose="02020603050405020304" pitchFamily="18" charset="0"/>
                          <a:cs typeface="Times New Roman" panose="02020603050405020304" pitchFamily="18" charset="0"/>
                        </a:rPr>
                        <a:t>2017</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298,719 </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2,987,190</a:t>
                      </a: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82112983"/>
                  </a:ext>
                </a:extLst>
              </a:tr>
              <a:tr h="703210">
                <a:tc>
                  <a:txBody>
                    <a:bodyPr/>
                    <a:lstStyle/>
                    <a:p>
                      <a:pPr algn="ctr"/>
                      <a:r>
                        <a:rPr lang="en-US" dirty="0">
                          <a:latin typeface="Times New Roman" panose="02020603050405020304" pitchFamily="18" charset="0"/>
                          <a:cs typeface="Times New Roman" panose="02020603050405020304" pitchFamily="18" charset="0"/>
                        </a:rPr>
                        <a:t>2018</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336,735 </a:t>
                      </a:r>
                      <a:endParaRPr lang="en-PK"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3,367,350</a:t>
                      </a:r>
                      <a:endParaRPr lang="en-PK" sz="1800" kern="1200" dirty="0">
                        <a:solidFill>
                          <a:schemeClr val="dk1"/>
                        </a:solidFill>
                        <a:effectLst/>
                        <a:latin typeface="Times New Roman" panose="02020603050405020304" pitchFamily="18" charset="0"/>
                        <a:ea typeface="+mn-ea"/>
                        <a:cs typeface="Times New Roman" panose="02020603050405020304" pitchFamily="18" charset="0"/>
                      </a:endParaRPr>
                    </a:p>
                    <a:p>
                      <a:pPr algn="ct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88609460"/>
                  </a:ext>
                </a:extLst>
              </a:tr>
              <a:tr h="703210">
                <a:tc>
                  <a:txBody>
                    <a:bodyPr/>
                    <a:lstStyle/>
                    <a:p>
                      <a:pPr algn="ctr"/>
                      <a:r>
                        <a:rPr lang="en-US" dirty="0">
                          <a:latin typeface="Times New Roman" panose="02020603050405020304" pitchFamily="18" charset="0"/>
                          <a:cs typeface="Times New Roman" panose="02020603050405020304" pitchFamily="18" charset="0"/>
                        </a:rPr>
                        <a:t>2019</a:t>
                      </a:r>
                      <a:endParaRPr lang="en-PK" dirty="0">
                        <a:latin typeface="Times New Roman" panose="02020603050405020304" pitchFamily="18" charset="0"/>
                        <a:cs typeface="Times New Roman" panose="02020603050405020304" pitchFamily="18" charset="0"/>
                      </a:endParaRPr>
                    </a:p>
                  </a:txBody>
                  <a:tcPr/>
                </a:tc>
                <a:tc>
                  <a:txBody>
                    <a:bodyPr/>
                    <a:lstStyle/>
                    <a:p>
                      <a:pPr algn="ctr"/>
                      <a:r>
                        <a:rPr lang="en-US" sz="1800" kern="1200" dirty="0">
                          <a:solidFill>
                            <a:schemeClr val="dk1"/>
                          </a:solidFill>
                          <a:effectLst/>
                          <a:latin typeface="Times New Roman" panose="02020603050405020304" pitchFamily="18" charset="0"/>
                          <a:ea typeface="+mn-ea"/>
                          <a:cs typeface="Times New Roman" panose="02020603050405020304" pitchFamily="18" charset="0"/>
                        </a:rPr>
                        <a:t>327,276 </a:t>
                      </a:r>
                      <a:endParaRPr lang="en-PK"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3,272,760</a:t>
                      </a:r>
                      <a:endParaRPr lang="en-PK" sz="1800" kern="1200" dirty="0">
                        <a:solidFill>
                          <a:schemeClr val="dk1"/>
                        </a:solidFill>
                        <a:effectLst/>
                        <a:latin typeface="Times New Roman" panose="02020603050405020304" pitchFamily="18" charset="0"/>
                        <a:ea typeface="+mn-ea"/>
                        <a:cs typeface="Times New Roman" panose="02020603050405020304" pitchFamily="18" charset="0"/>
                      </a:endParaRPr>
                    </a:p>
                    <a:p>
                      <a:pPr algn="ctr"/>
                      <a:endParaRPr lang="en-PK"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8970988"/>
                  </a:ext>
                </a:extLst>
              </a:tr>
            </a:tbl>
          </a:graphicData>
        </a:graphic>
      </p:graphicFrame>
    </p:spTree>
    <p:extLst>
      <p:ext uri="{BB962C8B-B14F-4D97-AF65-F5344CB8AC3E}">
        <p14:creationId xmlns:p14="http://schemas.microsoft.com/office/powerpoint/2010/main" val="291334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25E4-6E91-470B-8DB6-E2AB1A8D964B}"/>
              </a:ext>
            </a:extLst>
          </p:cNvPr>
          <p:cNvSpPr>
            <a:spLocks noGrp="1"/>
          </p:cNvSpPr>
          <p:nvPr>
            <p:ph type="title"/>
          </p:nvPr>
        </p:nvSpPr>
        <p:spPr>
          <a:xfrm>
            <a:off x="0" y="1"/>
            <a:ext cx="12192000" cy="603114"/>
          </a:xfrm>
        </p:spPr>
        <p:txBody>
          <a:bodyPr>
            <a:noAutofit/>
          </a:bodyPr>
          <a:lstStyle/>
          <a:p>
            <a:br>
              <a:rPr lang="en-US" sz="3000" b="1" dirty="0">
                <a:latin typeface="Times New Roman" panose="02020603050405020304" pitchFamily="18" charset="0"/>
                <a:cs typeface="Times New Roman" panose="02020603050405020304" pitchFamily="18" charset="0"/>
              </a:rPr>
            </a:br>
            <a:r>
              <a:rPr lang="en-US" sz="3000" b="1" dirty="0">
                <a:latin typeface="Times New Roman" panose="02020603050405020304" pitchFamily="18" charset="0"/>
                <a:cs typeface="Times New Roman" panose="02020603050405020304" pitchFamily="18" charset="0"/>
              </a:rPr>
              <a:t>Mitigation Through enhancing capture</a:t>
            </a:r>
            <a:br>
              <a:rPr lang="en-US" sz="3000" b="1" dirty="0">
                <a:latin typeface="Times New Roman" panose="02020603050405020304" pitchFamily="18" charset="0"/>
                <a:cs typeface="Times New Roman" panose="02020603050405020304" pitchFamily="18" charset="0"/>
              </a:rPr>
            </a:br>
            <a:endParaRPr lang="en-PK" sz="3000"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D8653D9-2F2B-4C68-952D-3D4C6F694660}"/>
              </a:ext>
            </a:extLst>
          </p:cNvPr>
          <p:cNvSpPr txBox="1">
            <a:spLocks/>
          </p:cNvSpPr>
          <p:nvPr/>
        </p:nvSpPr>
        <p:spPr>
          <a:xfrm>
            <a:off x="6566170" y="599873"/>
            <a:ext cx="5243210" cy="5505855"/>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endParaRPr lang="en-PK" sz="1600" i="1"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DD3F0C65-D1DE-41C0-8712-0ED6493F076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2862" y="752272"/>
            <a:ext cx="12106275" cy="5353456"/>
          </a:xfrm>
          <a:noFill/>
        </p:spPr>
      </p:pic>
    </p:spTree>
    <p:extLst>
      <p:ext uri="{BB962C8B-B14F-4D97-AF65-F5344CB8AC3E}">
        <p14:creationId xmlns:p14="http://schemas.microsoft.com/office/powerpoint/2010/main" val="3706543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B4D05-A4AF-4DED-88B6-54E6CA448DB4}"/>
              </a:ext>
            </a:extLst>
          </p:cNvPr>
          <p:cNvSpPr>
            <a:spLocks noGrp="1"/>
          </p:cNvSpPr>
          <p:nvPr>
            <p:ph type="title"/>
          </p:nvPr>
        </p:nvSpPr>
        <p:spPr>
          <a:xfrm>
            <a:off x="1450392" y="123583"/>
            <a:ext cx="9291215" cy="567081"/>
          </a:xfrm>
        </p:spPr>
        <p:txBody>
          <a:bodyPr>
            <a:noAutofit/>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Climate Change Adaptation</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A455EB-31C4-4A79-A639-0D38D346CC9B}"/>
              </a:ext>
            </a:extLst>
          </p:cNvPr>
          <p:cNvSpPr>
            <a:spLocks noGrp="1"/>
          </p:cNvSpPr>
          <p:nvPr>
            <p:ph idx="1"/>
          </p:nvPr>
        </p:nvSpPr>
        <p:spPr>
          <a:xfrm>
            <a:off x="0" y="817123"/>
            <a:ext cx="12192000" cy="5291847"/>
          </a:xfrm>
        </p:spPr>
        <p:txBody>
          <a:bodyPr>
            <a:noAutofit/>
          </a:bodyPr>
          <a:lstStyle/>
          <a:p>
            <a:pPr marL="0" indent="0" algn="just">
              <a:buNone/>
            </a:pPr>
            <a:r>
              <a:rPr lang="en-US" sz="2400" i="1" dirty="0">
                <a:latin typeface="Times New Roman" panose="02020603050405020304" pitchFamily="18" charset="0"/>
                <a:cs typeface="Times New Roman" panose="02020603050405020304" pitchFamily="18" charset="0"/>
              </a:rPr>
              <a:t>Adaptation is a process by which individuals, communities, and states seek to cope with the consequences of climate change. It is basically adjustment in the natural systems in response to actual or expected climatic effects</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Adaptation is about the capacity to shift strategies as conditions change and to develop systems that are resilient and flexible to respond to change. </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Various types of adaptation can be distinguished, including proactive and reactive, private and public, and autonomous and planned adaptation</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701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A7ED-B91A-465E-9F5C-5620026E93E7}"/>
              </a:ext>
            </a:extLst>
          </p:cNvPr>
          <p:cNvSpPr>
            <a:spLocks noGrp="1"/>
          </p:cNvSpPr>
          <p:nvPr>
            <p:ph type="title"/>
          </p:nvPr>
        </p:nvSpPr>
        <p:spPr>
          <a:xfrm>
            <a:off x="1354303" y="191678"/>
            <a:ext cx="9291215" cy="612842"/>
          </a:xfrm>
        </p:spPr>
        <p:txBody>
          <a:bodyPr>
            <a:noAutofit/>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Environmental Degradation</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EFBAFA-BD47-4C0B-93BD-D496495852A4}"/>
              </a:ext>
            </a:extLst>
          </p:cNvPr>
          <p:cNvSpPr>
            <a:spLocks noGrp="1"/>
          </p:cNvSpPr>
          <p:nvPr>
            <p:ph idx="1"/>
          </p:nvPr>
        </p:nvSpPr>
        <p:spPr>
          <a:xfrm>
            <a:off x="0" y="1079770"/>
            <a:ext cx="12192000" cy="4973711"/>
          </a:xfrm>
        </p:spPr>
        <p:txBody>
          <a:bodyPr>
            <a:noAutofit/>
          </a:bodyPr>
          <a:lstStyle/>
          <a:p>
            <a:pPr marL="0" indent="0" algn="just">
              <a:buNone/>
            </a:pPr>
            <a:r>
              <a:rPr lang="en-US" sz="2400" i="1" dirty="0">
                <a:latin typeface="Times New Roman" panose="02020603050405020304" pitchFamily="18" charset="0"/>
                <a:cs typeface="Times New Roman" panose="02020603050405020304" pitchFamily="18" charset="0"/>
              </a:rPr>
              <a:t>The reduction in the capacity of the environment to meet social and ecological needs is known as environmental degradation</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Degradation of the environment can alter the frequency and intensity of natural hazards and increase the vulnerability of communities</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The types of human-induced degradation are varied and include land misuse, soil erosion, desertification, wild land fires, loss of biodiversity, deforestation, land, water and air pollution, climate change, sea level rise and ozone depletion.</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152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CAC56-748F-4381-8ED0-C9BA556878CB}"/>
              </a:ext>
            </a:extLst>
          </p:cNvPr>
          <p:cNvSpPr>
            <a:spLocks noGrp="1"/>
          </p:cNvSpPr>
          <p:nvPr>
            <p:ph type="title"/>
          </p:nvPr>
        </p:nvSpPr>
        <p:spPr/>
        <p:txBody>
          <a:bodyPr>
            <a:noAutofit/>
          </a:bodyPr>
          <a:lstStyle/>
          <a:p>
            <a:r>
              <a:rPr lang="en-US" sz="4000" b="1" dirty="0">
                <a:latin typeface="Times New Roman" panose="02020603050405020304" pitchFamily="18" charset="0"/>
                <a:cs typeface="Times New Roman" panose="02020603050405020304" pitchFamily="18" charset="0"/>
              </a:rPr>
              <a:t>Vulnerability</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9E2F7B-F417-4C80-8F2F-B031B1B245A4}"/>
              </a:ext>
            </a:extLst>
          </p:cNvPr>
          <p:cNvSpPr>
            <a:spLocks noGrp="1"/>
          </p:cNvSpPr>
          <p:nvPr>
            <p:ph idx="1"/>
          </p:nvPr>
        </p:nvSpPr>
        <p:spPr>
          <a:xfrm>
            <a:off x="0" y="2015733"/>
            <a:ext cx="12191999" cy="2595178"/>
          </a:xfrm>
        </p:spPr>
        <p:txBody>
          <a:bodyPr>
            <a:normAutofit/>
          </a:bodyPr>
          <a:lstStyle/>
          <a:p>
            <a:pPr marL="0" indent="0" algn="just">
              <a:buNone/>
            </a:pPr>
            <a:r>
              <a:rPr lang="en-US" sz="2400" i="1" dirty="0">
                <a:latin typeface="Times New Roman" panose="02020603050405020304" pitchFamily="18" charset="0"/>
                <a:cs typeface="Times New Roman" panose="02020603050405020304" pitchFamily="18" charset="0"/>
              </a:rPr>
              <a:t>Vulnerability is a set of conditions and processes resulting from physical, social, economic, and environmental factors, which increase the likelihood that a community will be negatively affected by a hazard. In the context of climate change, vulnerability is the degree to which a system is susceptible to cope with adverse effects of Climate Change</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88087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69B0-E811-48E9-B592-7FD5BBA3868D}"/>
              </a:ext>
            </a:extLst>
          </p:cNvPr>
          <p:cNvSpPr>
            <a:spLocks noGrp="1"/>
          </p:cNvSpPr>
          <p:nvPr>
            <p:ph type="title"/>
          </p:nvPr>
        </p:nvSpPr>
        <p:spPr>
          <a:xfrm>
            <a:off x="1450392" y="0"/>
            <a:ext cx="9291215" cy="664358"/>
          </a:xfrm>
        </p:spPr>
        <p:txBody>
          <a:bodyPr>
            <a:noAutofit/>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Disaster</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F83567-839E-4EFC-AEE2-CD64C4BA7E72}"/>
              </a:ext>
            </a:extLst>
          </p:cNvPr>
          <p:cNvSpPr>
            <a:spLocks noGrp="1"/>
          </p:cNvSpPr>
          <p:nvPr>
            <p:ph idx="1"/>
          </p:nvPr>
        </p:nvSpPr>
        <p:spPr>
          <a:xfrm>
            <a:off x="0" y="664359"/>
            <a:ext cx="12192000" cy="5454340"/>
          </a:xfrm>
        </p:spPr>
        <p:txBody>
          <a:bodyPr>
            <a:noAutofit/>
          </a:bodyPr>
          <a:lstStyle/>
          <a:p>
            <a:pPr marL="0" indent="0" algn="just">
              <a:buNone/>
            </a:pPr>
            <a:r>
              <a:rPr lang="en-US" sz="2400" i="1" dirty="0">
                <a:latin typeface="Times New Roman" panose="02020603050405020304" pitchFamily="18" charset="0"/>
                <a:cs typeface="Times New Roman" panose="02020603050405020304" pitchFamily="18" charset="0"/>
              </a:rPr>
              <a:t>A serious disruption to the functioning of a community causing widespread human, material, economic or environmental losses which exceed the ability of the affected community to cope using its own resources is known as disaster. </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Disasters are often described as a result of the combination of: the exposure to a hazard; the conditions of vulnerability that are present; and insufficient capacity to cope with the potential negative consequences</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Disaster impacts may include loss of life, injury, and other negative effects on physical, mental,  and social well-being of human together with damage to property, destruction of assets, loss of services, social and economic disruption and environmental degradation.</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6131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869B0-E811-48E9-B592-7FD5BBA3868D}"/>
              </a:ext>
            </a:extLst>
          </p:cNvPr>
          <p:cNvSpPr>
            <a:spLocks noGrp="1"/>
          </p:cNvSpPr>
          <p:nvPr>
            <p:ph type="title"/>
          </p:nvPr>
        </p:nvSpPr>
        <p:spPr>
          <a:xfrm>
            <a:off x="0" y="-1"/>
            <a:ext cx="12192000" cy="739302"/>
          </a:xfrm>
        </p:spPr>
        <p:txBody>
          <a:bodyPr>
            <a:noAutofit/>
          </a:bodyPr>
          <a:lstStyle/>
          <a:p>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Difference between hazard &amp; disaster</a:t>
            </a:r>
            <a:br>
              <a:rPr lang="en-US" sz="3600" b="1" dirty="0">
                <a:latin typeface="Times New Roman" panose="02020603050405020304" pitchFamily="18" charset="0"/>
                <a:cs typeface="Times New Roman" panose="02020603050405020304" pitchFamily="18" charset="0"/>
              </a:rPr>
            </a:br>
            <a:endParaRPr lang="en-PK" sz="3600" b="1" dirty="0">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703DACE2-FDF1-4F6E-B463-592AB99EB310}"/>
              </a:ext>
            </a:extLst>
          </p:cNvPr>
          <p:cNvGraphicFramePr>
            <a:graphicFrameLocks noGrp="1"/>
          </p:cNvGraphicFramePr>
          <p:nvPr>
            <p:ph idx="1"/>
            <p:extLst>
              <p:ext uri="{D42A27DB-BD31-4B8C-83A1-F6EECF244321}">
                <p14:modId xmlns:p14="http://schemas.microsoft.com/office/powerpoint/2010/main" val="909948876"/>
              </p:ext>
            </p:extLst>
          </p:nvPr>
        </p:nvGraphicFramePr>
        <p:xfrm>
          <a:off x="0" y="593386"/>
          <a:ext cx="12192000" cy="5428035"/>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744680892"/>
                    </a:ext>
                  </a:extLst>
                </a:gridCol>
                <a:gridCol w="6096000">
                  <a:extLst>
                    <a:ext uri="{9D8B030D-6E8A-4147-A177-3AD203B41FA5}">
                      <a16:colId xmlns:a16="http://schemas.microsoft.com/office/drawing/2014/main" val="4129122246"/>
                    </a:ext>
                  </a:extLst>
                </a:gridCol>
              </a:tblGrid>
              <a:tr h="689628">
                <a:tc>
                  <a:txBody>
                    <a:bodyPr/>
                    <a:lstStyle/>
                    <a:p>
                      <a:pPr algn="ctr"/>
                      <a:r>
                        <a:rPr lang="en-US" sz="3000" dirty="0"/>
                        <a:t>Hazard</a:t>
                      </a:r>
                      <a:endParaRPr lang="en-PK" sz="3000" dirty="0"/>
                    </a:p>
                  </a:txBody>
                  <a:tcPr/>
                </a:tc>
                <a:tc>
                  <a:txBody>
                    <a:bodyPr/>
                    <a:lstStyle/>
                    <a:p>
                      <a:pPr algn="ctr"/>
                      <a:r>
                        <a:rPr lang="en-US" sz="3000" dirty="0"/>
                        <a:t>Disaster</a:t>
                      </a:r>
                      <a:endParaRPr lang="en-PK" sz="3000" dirty="0"/>
                    </a:p>
                  </a:txBody>
                  <a:tcPr/>
                </a:tc>
                <a:extLst>
                  <a:ext uri="{0D108BD9-81ED-4DB2-BD59-A6C34878D82A}">
                    <a16:rowId xmlns:a16="http://schemas.microsoft.com/office/drawing/2014/main" val="3427259336"/>
                  </a:ext>
                </a:extLst>
              </a:tr>
              <a:tr h="1579469">
                <a:tc>
                  <a:txBody>
                    <a:bodyPr/>
                    <a:lstStyle/>
                    <a:p>
                      <a:pPr algn="just"/>
                      <a:r>
                        <a:rPr lang="en-US" sz="2400" dirty="0"/>
                        <a:t>A dangerous situation that poses a threats to human life</a:t>
                      </a:r>
                      <a:endParaRPr lang="en-PK" sz="2400" dirty="0"/>
                    </a:p>
                  </a:txBody>
                  <a:tcPr/>
                </a:tc>
                <a:tc>
                  <a:txBody>
                    <a:bodyPr/>
                    <a:lstStyle/>
                    <a:p>
                      <a:pPr algn="just"/>
                      <a:r>
                        <a:rPr lang="en-US" sz="2400" dirty="0"/>
                        <a:t>An event that completely causes damage to human life and property</a:t>
                      </a:r>
                      <a:endParaRPr lang="en-PK" sz="2400" dirty="0"/>
                    </a:p>
                  </a:txBody>
                  <a:tcPr/>
                </a:tc>
                <a:extLst>
                  <a:ext uri="{0D108BD9-81ED-4DB2-BD59-A6C34878D82A}">
                    <a16:rowId xmlns:a16="http://schemas.microsoft.com/office/drawing/2014/main" val="3772258853"/>
                  </a:ext>
                </a:extLst>
              </a:tr>
              <a:tr h="1579469">
                <a:tc>
                  <a:txBody>
                    <a:bodyPr/>
                    <a:lstStyle/>
                    <a:p>
                      <a:pPr algn="just"/>
                      <a:r>
                        <a:rPr lang="en-US" sz="2400" dirty="0"/>
                        <a:t>Has less critical consequences</a:t>
                      </a:r>
                      <a:endParaRPr lang="en-PK" sz="2400" dirty="0"/>
                    </a:p>
                  </a:txBody>
                  <a:tcPr/>
                </a:tc>
                <a:tc>
                  <a:txBody>
                    <a:bodyPr/>
                    <a:lstStyle/>
                    <a:p>
                      <a:pPr algn="just"/>
                      <a:r>
                        <a:rPr lang="en-US" sz="2400" dirty="0"/>
                        <a:t>Has more critical consequences and more catastrophic</a:t>
                      </a:r>
                      <a:endParaRPr lang="en-PK" sz="2400" dirty="0"/>
                    </a:p>
                  </a:txBody>
                  <a:tcPr/>
                </a:tc>
                <a:extLst>
                  <a:ext uri="{0D108BD9-81ED-4DB2-BD59-A6C34878D82A}">
                    <a16:rowId xmlns:a16="http://schemas.microsoft.com/office/drawing/2014/main" val="3259304377"/>
                  </a:ext>
                </a:extLst>
              </a:tr>
              <a:tr h="1579469">
                <a:tc>
                  <a:txBody>
                    <a:bodyPr/>
                    <a:lstStyle/>
                    <a:p>
                      <a:pPr algn="just"/>
                      <a:r>
                        <a:rPr lang="en-US" sz="2400" dirty="0"/>
                        <a:t>Take its full shape after a series of events, which might have led it to happen</a:t>
                      </a:r>
                      <a:endParaRPr lang="en-PK" sz="2400" dirty="0"/>
                    </a:p>
                  </a:txBody>
                  <a:tcPr/>
                </a:tc>
                <a:tc>
                  <a:txBody>
                    <a:bodyPr/>
                    <a:lstStyle/>
                    <a:p>
                      <a:pPr algn="just"/>
                      <a:r>
                        <a:rPr lang="en-US" sz="2400" dirty="0"/>
                        <a:t>Often happened in a short time, causing more severe effects</a:t>
                      </a:r>
                      <a:endParaRPr lang="en-PK" sz="2400" dirty="0"/>
                    </a:p>
                  </a:txBody>
                  <a:tcPr/>
                </a:tc>
                <a:extLst>
                  <a:ext uri="{0D108BD9-81ED-4DB2-BD59-A6C34878D82A}">
                    <a16:rowId xmlns:a16="http://schemas.microsoft.com/office/drawing/2014/main" val="148782534"/>
                  </a:ext>
                </a:extLst>
              </a:tr>
            </a:tbl>
          </a:graphicData>
        </a:graphic>
      </p:graphicFrame>
    </p:spTree>
    <p:extLst>
      <p:ext uri="{BB962C8B-B14F-4D97-AF65-F5344CB8AC3E}">
        <p14:creationId xmlns:p14="http://schemas.microsoft.com/office/powerpoint/2010/main" val="448159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1200-9908-4990-A2D0-A61280591681}"/>
              </a:ext>
            </a:extLst>
          </p:cNvPr>
          <p:cNvSpPr>
            <a:spLocks noGrp="1"/>
          </p:cNvSpPr>
          <p:nvPr>
            <p:ph type="title"/>
          </p:nvPr>
        </p:nvSpPr>
        <p:spPr>
          <a:xfrm>
            <a:off x="1305664" y="1"/>
            <a:ext cx="9291215" cy="933855"/>
          </a:xfrm>
        </p:spPr>
        <p:txBody>
          <a:bodyPr>
            <a:noAutofit/>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Resilience </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BB5584-CDFA-411E-B624-020B72AB1511}"/>
              </a:ext>
            </a:extLst>
          </p:cNvPr>
          <p:cNvSpPr>
            <a:spLocks noGrp="1"/>
          </p:cNvSpPr>
          <p:nvPr>
            <p:ph idx="1"/>
          </p:nvPr>
        </p:nvSpPr>
        <p:spPr>
          <a:xfrm>
            <a:off x="0" y="1021402"/>
            <a:ext cx="12192000" cy="5107023"/>
          </a:xfrm>
        </p:spPr>
        <p:txBody>
          <a:bodyPr>
            <a:noAutofit/>
          </a:bodyPr>
          <a:lstStyle/>
          <a:p>
            <a:pPr marL="0" indent="0" algn="just">
              <a:buNone/>
            </a:pPr>
            <a:r>
              <a:rPr lang="en-US" sz="2400" i="1" dirty="0">
                <a:latin typeface="Times New Roman" panose="02020603050405020304" pitchFamily="18" charset="0"/>
                <a:cs typeface="Times New Roman" panose="02020603050405020304" pitchFamily="18" charset="0"/>
              </a:rPr>
              <a:t>The ability of a system/community/society exposed to hazards to resist, absorb, accommodate, adapt to, transform, and recover from the effects of a hazard in a timely and efficient manner</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This is determined by the degree to which the social system can organize itself to increase its capacity for learning from past disasters for better future protection and to improve risk reduction measures </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Enhanced resilience allows better planning to reduce disaster losses—rather than waiting for an event to occur and paying for it afterward. However, building the culture and practice of disaster resilience is not simple or inexpensive.</a:t>
            </a:r>
          </a:p>
          <a:p>
            <a:endParaRPr lang="en-GB"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164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43F8A-7B36-495E-9002-6C7E2AC00609}"/>
              </a:ext>
            </a:extLst>
          </p:cNvPr>
          <p:cNvSpPr>
            <a:spLocks noGrp="1"/>
          </p:cNvSpPr>
          <p:nvPr>
            <p:ph type="title"/>
          </p:nvPr>
        </p:nvSpPr>
        <p:spPr>
          <a:xfrm>
            <a:off x="1450391" y="143038"/>
            <a:ext cx="9291215" cy="1049235"/>
          </a:xfrm>
        </p:spPr>
        <p:txBody>
          <a:bodyPr>
            <a:noAutofit/>
          </a:bodyPr>
          <a:lstStyle/>
          <a:p>
            <a:r>
              <a:rPr lang="en-US" sz="4000" b="1" dirty="0">
                <a:latin typeface="Times New Roman" panose="02020603050405020304" pitchFamily="18" charset="0"/>
                <a:cs typeface="Times New Roman" panose="02020603050405020304" pitchFamily="18" charset="0"/>
              </a:rPr>
              <a:t>Sustainable Development</a:t>
            </a:r>
            <a:br>
              <a:rPr lang="en-US" sz="4000" b="1" dirty="0">
                <a:latin typeface="Times New Roman" panose="02020603050405020304" pitchFamily="18" charset="0"/>
                <a:cs typeface="Times New Roman" panose="02020603050405020304" pitchFamily="18" charset="0"/>
              </a:rPr>
            </a:br>
            <a:endParaRPr lang="en-PK"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90090F-23CE-4B6B-9D49-79341D0F00BC}"/>
              </a:ext>
            </a:extLst>
          </p:cNvPr>
          <p:cNvSpPr>
            <a:spLocks noGrp="1"/>
          </p:cNvSpPr>
          <p:nvPr>
            <p:ph idx="1"/>
          </p:nvPr>
        </p:nvSpPr>
        <p:spPr>
          <a:xfrm>
            <a:off x="0" y="1352145"/>
            <a:ext cx="12191999" cy="4027251"/>
          </a:xfrm>
        </p:spPr>
        <p:txBody>
          <a:bodyPr>
            <a:normAutofit/>
          </a:bodyPr>
          <a:lstStyle/>
          <a:p>
            <a:pPr marL="0" indent="0" algn="just">
              <a:buNone/>
            </a:pPr>
            <a:r>
              <a:rPr lang="en-US" sz="2400" i="1" dirty="0">
                <a:latin typeface="Times New Roman" panose="02020603050405020304" pitchFamily="18" charset="0"/>
                <a:cs typeface="Times New Roman" panose="02020603050405020304" pitchFamily="18" charset="0"/>
              </a:rPr>
              <a:t>The development that “meets the needs of the present without compromising the ability of future generations to meet their own needs”</a:t>
            </a:r>
          </a:p>
          <a:p>
            <a:pPr marL="0" indent="0" algn="just">
              <a:buNone/>
            </a:pPr>
            <a:endParaRPr lang="en-US" sz="2400" i="1" dirty="0">
              <a:latin typeface="Times New Roman" panose="02020603050405020304" pitchFamily="18" charset="0"/>
              <a:cs typeface="Times New Roman" panose="02020603050405020304" pitchFamily="18" charset="0"/>
            </a:endParaRPr>
          </a:p>
          <a:p>
            <a:pPr marL="0" indent="0" algn="just">
              <a:buNone/>
            </a:pPr>
            <a:r>
              <a:rPr lang="en-US" sz="2400" i="1" dirty="0">
                <a:latin typeface="Times New Roman" panose="02020603050405020304" pitchFamily="18" charset="0"/>
                <a:cs typeface="Times New Roman" panose="02020603050405020304" pitchFamily="18" charset="0"/>
              </a:rPr>
              <a:t>Sustainable Development is a pattern of resource use that aims to meet human needs while preserving the environment so that these needs can be met not only in the present, but also for generations to come</a:t>
            </a:r>
          </a:p>
          <a:p>
            <a:pPr algn="just"/>
            <a:endParaRPr lang="en-PK" sz="24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414832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81D28E9D4CCF46A8C91E61AA5DA793" ma:contentTypeVersion="4" ma:contentTypeDescription="Create a new document." ma:contentTypeScope="" ma:versionID="46ab1a86e892251d2e5a6db017458c46">
  <xsd:schema xmlns:xsd="http://www.w3.org/2001/XMLSchema" xmlns:xs="http://www.w3.org/2001/XMLSchema" xmlns:p="http://schemas.microsoft.com/office/2006/metadata/properties" xmlns:ns3="360ff79d-bd36-49b3-a247-ea48727b6185" targetNamespace="http://schemas.microsoft.com/office/2006/metadata/properties" ma:root="true" ma:fieldsID="812ec775cf1d379547247382726c8dd7" ns3:_="">
    <xsd:import namespace="360ff79d-bd36-49b3-a247-ea48727b618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0ff79d-bd36-49b3-a247-ea48727b61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E36A0E0-FF91-49AD-BFE8-C4E1B7DB25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0ff79d-bd36-49b3-a247-ea48727b61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2CCB3A-11A3-4F26-917B-ADDAAA2E0BE4}">
  <ds:schemaRefs>
    <ds:schemaRef ds:uri="http://schemas.openxmlformats.org/package/2006/metadata/core-properties"/>
    <ds:schemaRef ds:uri="http://purl.org/dc/elements/1.1/"/>
    <ds:schemaRef ds:uri="http://purl.org/dc/dcmitype/"/>
    <ds:schemaRef ds:uri="http://www.w3.org/XML/1998/namespace"/>
    <ds:schemaRef ds:uri="http://schemas.microsoft.com/office/2006/documentManagement/types"/>
    <ds:schemaRef ds:uri="http://schemas.microsoft.com/office/infopath/2007/PartnerControls"/>
    <ds:schemaRef ds:uri="360ff79d-bd36-49b3-a247-ea48727b6185"/>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A2A50FC4-8E5A-414F-A205-6C577A8450B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Gallery</Template>
  <TotalTime>2395</TotalTime>
  <Words>1224</Words>
  <Application>Microsoft Office PowerPoint</Application>
  <PresentationFormat>Widescreen</PresentationFormat>
  <Paragraphs>113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Rockwell</vt:lpstr>
      <vt:lpstr>Times New Roman</vt:lpstr>
      <vt:lpstr>Gallery</vt:lpstr>
      <vt:lpstr> basic terminologies  of  environment &amp; Climate change  </vt:lpstr>
      <vt:lpstr>Weather </vt:lpstr>
      <vt:lpstr>Greenhouse Gases  </vt:lpstr>
      <vt:lpstr>Global Warming </vt:lpstr>
      <vt:lpstr>Climate Variability  </vt:lpstr>
      <vt:lpstr>Climate Change</vt:lpstr>
      <vt:lpstr>Climate Change Mitigation </vt:lpstr>
      <vt:lpstr> Mitigation Through Reducing emissions </vt:lpstr>
      <vt:lpstr> Mitigation Through enhancing capture </vt:lpstr>
      <vt:lpstr> Climate Change Adaptation </vt:lpstr>
      <vt:lpstr> Environmental Degradation </vt:lpstr>
      <vt:lpstr>Vulnerability </vt:lpstr>
      <vt:lpstr> Disaster </vt:lpstr>
      <vt:lpstr> Difference between hazard &amp; disaster </vt:lpstr>
      <vt:lpstr> Resilience  </vt:lpstr>
      <vt:lpstr>Sustainable Development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Days Training on   DRR &amp; Climate Change Adaptation Strategies for Key DRR Actors at District Battagram  under the project  “Integrated Children and Women Centered Community Development in District Battagram</dc:title>
  <dc:creator>Shakeel Hayat</dc:creator>
  <cp:lastModifiedBy>Shakeel Hayat</cp:lastModifiedBy>
  <cp:revision>34</cp:revision>
  <dcterms:created xsi:type="dcterms:W3CDTF">2021-11-22T16:58:50Z</dcterms:created>
  <dcterms:modified xsi:type="dcterms:W3CDTF">2026-01-19T09:38:22Z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0x0101004D81D28E9D4CCF46A8C91E61AA5DA793</vt:lpwstr>
  </property>
</Properties>
</file>