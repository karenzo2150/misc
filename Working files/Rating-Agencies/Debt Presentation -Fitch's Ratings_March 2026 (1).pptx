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  <p:sldMasterId id="2147483661" r:id="rId2"/>
    <p:sldMasterId id="2147483664" r:id="rId3"/>
  </p:sldMasterIdLst>
  <p:notesMasterIdLst>
    <p:notesMasterId r:id="rId14"/>
  </p:notesMasterIdLst>
  <p:sldIdLst>
    <p:sldId id="4719" r:id="rId4"/>
    <p:sldId id="4713" r:id="rId5"/>
    <p:sldId id="4714" r:id="rId6"/>
    <p:sldId id="4715" r:id="rId7"/>
    <p:sldId id="4716" r:id="rId8"/>
    <p:sldId id="4717" r:id="rId9"/>
    <p:sldId id="4718" r:id="rId10"/>
    <p:sldId id="4720" r:id="rId11"/>
    <p:sldId id="4738" r:id="rId12"/>
    <p:sldId id="78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0FB5BF2-F7C3-4206-A8AA-3E959C98CD9C}">
          <p14:sldIdLst/>
        </p14:section>
        <p14:section name="Untitled Section" id="{F7D0C591-9D4C-4BB3-8F67-C879348FE5F3}">
          <p14:sldIdLst>
            <p14:sldId id="4719"/>
            <p14:sldId id="4713"/>
            <p14:sldId id="4714"/>
            <p14:sldId id="4715"/>
            <p14:sldId id="4716"/>
            <p14:sldId id="4717"/>
            <p14:sldId id="4718"/>
            <p14:sldId id="4720"/>
            <p14:sldId id="4738"/>
            <p14:sldId id="7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MUTABAZI" initials="EM" lastIdx="1" clrIdx="0">
    <p:extLst>
      <p:ext uri="{19B8F6BF-5375-455C-9EA6-DF929625EA0E}">
        <p15:presenceInfo xmlns:p15="http://schemas.microsoft.com/office/powerpoint/2012/main" userId="53737c6ac2c3f9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7138C4-888C-45B9-8EE4-CCD0E19708F9}">
  <a:tblStyle styleId="{A27138C4-888C-45B9-8EE4-CCD0E1970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40" autoAdjust="0"/>
  </p:normalViewPr>
  <p:slideViewPr>
    <p:cSldViewPr snapToGrid="0">
      <p:cViewPr varScale="1">
        <p:scale>
          <a:sx n="77" d="100"/>
          <a:sy n="77" d="100"/>
        </p:scale>
        <p:origin x="2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4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Desktop\EXT%20Files\2026\DISBURSEMENTS\DISBURSEMENTS%20JULY-DECEMBER%202025(3RD%20FEB%202026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>
                <a:solidFill>
                  <a:schemeClr val="accent1"/>
                </a:solidFill>
              </a:rPr>
              <a:t>Debt Path</a:t>
            </a:r>
          </a:p>
        </c:rich>
      </c:tx>
      <c:layout>
        <c:manualLayout>
          <c:xMode val="edge"/>
          <c:yMode val="edge"/>
          <c:x val="0.4100414265190683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3574280200684258"/>
          <c:y val="2.7229909635947912E-2"/>
          <c:w val="0.83838679065722266"/>
          <c:h val="0.74029937861742789"/>
        </c:manualLayout>
      </c:layout>
      <c:lineChart>
        <c:grouping val="standard"/>
        <c:varyColors val="0"/>
        <c:ser>
          <c:idx val="1"/>
          <c:order val="0"/>
          <c:tx>
            <c:strRef>
              <c:f>'[Chart in Microsoft PowerPoint]Debt Data'!$C$1</c:f>
              <c:strCache>
                <c:ptCount val="1"/>
                <c:pt idx="0">
                  <c:v>Current Status – Nov 2025</c:v>
                </c:pt>
              </c:strCache>
            </c:strRef>
          </c:tx>
          <c:spPr>
            <a:ln w="31750">
              <a:solidFill>
                <a:srgbClr val="4F81BD"/>
              </a:solidFill>
              <a:prstDash val="solid"/>
            </a:ln>
          </c:spPr>
          <c:marker>
            <c:symbol val="none"/>
          </c:marker>
          <c:cat>
            <c:numRef>
              <c:f>'[Chart in Microsoft PowerPoint]Debt Data'!$A$2:$A$11</c:f>
              <c:numCache>
                <c:formatCode>General</c:formatCod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numCache>
            </c:numRef>
          </c:cat>
          <c:val>
            <c:numRef>
              <c:f>'[Chart in Microsoft PowerPoint]Debt Data'!$C$2:$C$11</c:f>
              <c:numCache>
                <c:formatCode>0.0</c:formatCode>
                <c:ptCount val="10"/>
                <c:pt idx="0">
                  <c:v>74.214043858624763</c:v>
                </c:pt>
                <c:pt idx="1">
                  <c:v>74.952989527932942</c:v>
                </c:pt>
                <c:pt idx="2">
                  <c:v>77.704733003114129</c:v>
                </c:pt>
                <c:pt idx="3">
                  <c:v>79.084001639814105</c:v>
                </c:pt>
                <c:pt idx="4">
                  <c:v>78.765595789274144</c:v>
                </c:pt>
                <c:pt idx="5">
                  <c:v>77.039746475720662</c:v>
                </c:pt>
                <c:pt idx="6">
                  <c:v>73.845540806358613</c:v>
                </c:pt>
                <c:pt idx="7">
                  <c:v>70.384764335011539</c:v>
                </c:pt>
                <c:pt idx="8">
                  <c:v>67.140609904342909</c:v>
                </c:pt>
                <c:pt idx="9">
                  <c:v>64.416663109582075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FA-4DFB-80CE-AAA94E279D2B}"/>
            </c:ext>
          </c:extLst>
        </c:ser>
        <c:ser>
          <c:idx val="2"/>
          <c:order val="1"/>
          <c:tx>
            <c:strRef>
              <c:f>'[Chart in Microsoft PowerPoint]Debt Data'!$E$1</c:f>
              <c:strCache>
                <c:ptCount val="1"/>
                <c:pt idx="0">
                  <c:v>Threshold</c:v>
                </c:pt>
              </c:strCache>
            </c:strRef>
          </c:tx>
          <c:spPr>
            <a:ln>
              <a:solidFill>
                <a:srgbClr val="808080"/>
              </a:solidFill>
              <a:prstDash val="sysDot"/>
            </a:ln>
          </c:spPr>
          <c:marker>
            <c:symbol val="none"/>
          </c:marker>
          <c:cat>
            <c:numRef>
              <c:f>'[Chart in Microsoft PowerPoint]Debt Data'!$A$2:$A$11</c:f>
              <c:numCache>
                <c:formatCode>General</c:formatCod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numCache>
            </c:numRef>
          </c:cat>
          <c:val>
            <c:numRef>
              <c:f>'[Chart in Microsoft PowerPoint]Debt Data'!$E$2:$E$11</c:f>
              <c:numCache>
                <c:formatCode>General</c:formatCode>
                <c:ptCount val="10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FA-4DFB-80CE-AAA94E279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  <c:min val="50"/>
        </c:scaling>
        <c:delete val="0"/>
        <c:axPos val="l"/>
        <c:title>
          <c:tx>
            <c:rich>
              <a:bodyPr/>
              <a:lstStyle/>
              <a:p>
                <a:pPr>
                  <a:defRPr>
                    <a:solidFill>
                      <a:schemeClr val="accent1"/>
                    </a:solidFill>
                  </a:defRPr>
                </a:pPr>
                <a:r>
                  <a:rPr lang="en-US">
                    <a:solidFill>
                      <a:schemeClr val="accent1"/>
                    </a:solidFill>
                  </a:rPr>
                  <a:t>Debt-to-GDP Ratio (%)</a:t>
                </a:r>
              </a:p>
            </c:rich>
          </c:tx>
          <c:layout>
            <c:manualLayout>
              <c:xMode val="edge"/>
              <c:yMode val="edge"/>
              <c:x val="1.8073131759495892E-2"/>
              <c:y val="9.2162009676594339E-2"/>
            </c:manualLayout>
          </c:layout>
          <c:overlay val="0"/>
        </c:title>
        <c:numFmt formatCode="0.0" sourceLinked="1"/>
        <c:majorTickMark val="none"/>
        <c:minorTickMark val="none"/>
        <c:tickLblPos val="nextTo"/>
        <c:txPr>
          <a:bodyPr/>
          <a:lstStyle/>
          <a:p>
            <a:pPr>
              <a:defRPr lang="en-US"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9.9092592592592652E-3"/>
          <c:y val="0.80871999999999999"/>
          <c:w val="0.94411958148107256"/>
          <c:h val="0.19128000000000001"/>
        </c:manualLayout>
      </c:layout>
      <c:overlay val="0"/>
      <c:txPr>
        <a:bodyPr/>
        <a:lstStyle/>
        <a:p>
          <a:pPr>
            <a:defRPr>
              <a:solidFill>
                <a:schemeClr val="accent1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latin typeface="Abadi" panose="020B0604020104020204" pitchFamily="34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8.2896200474940646E-2"/>
          <c:y val="6.368901002759271E-2"/>
          <c:w val="0.90610611173603106"/>
          <c:h val="0.74276263543980259"/>
        </c:manualLayout>
      </c:layout>
      <c:barChart>
        <c:barDir val="col"/>
        <c:grouping val="stacked"/>
        <c:varyColors val="0"/>
        <c:ser>
          <c:idx val="0"/>
          <c:order val="0"/>
          <c:tx>
            <c:v>External</c:v>
          </c:tx>
          <c:spPr>
            <a:solidFill>
              <a:srgbClr val="F79646"/>
            </a:solidFill>
            <a:ln>
              <a:solidFill>
                <a:srgbClr val="000000"/>
              </a:solidFill>
              <a:prstDash val="solid"/>
            </a:ln>
            <a:effectLst/>
          </c:spPr>
          <c:invertIfNegative val="0"/>
          <c:cat>
            <c:numRef>
              <c:f>[4]Existing_Debt!$F$445:$Y$445</c:f>
              <c:numCache>
                <c:formatCode>General</c:formatCode>
                <c:ptCount val="20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</c:numCache>
            </c:numRef>
          </c:cat>
          <c:val>
            <c:numRef>
              <c:f>[4]Existing_Debt!$F$454:$Y$454</c:f>
              <c:numCache>
                <c:formatCode>General</c:formatCode>
                <c:ptCount val="20"/>
                <c:pt idx="0">
                  <c:v>423514.53785622452</c:v>
                </c:pt>
                <c:pt idx="1">
                  <c:v>427924.19513115415</c:v>
                </c:pt>
                <c:pt idx="2">
                  <c:v>525626.38294273987</c:v>
                </c:pt>
                <c:pt idx="3">
                  <c:v>618327.01757896598</c:v>
                </c:pt>
                <c:pt idx="4">
                  <c:v>700228.5061247648</c:v>
                </c:pt>
                <c:pt idx="5">
                  <c:v>668122.12145740923</c:v>
                </c:pt>
                <c:pt idx="6">
                  <c:v>1956107.2333497074</c:v>
                </c:pt>
                <c:pt idx="7">
                  <c:v>622934.49077024648</c:v>
                </c:pt>
                <c:pt idx="8">
                  <c:v>715498.40488372371</c:v>
                </c:pt>
                <c:pt idx="9">
                  <c:v>775901.04585250944</c:v>
                </c:pt>
                <c:pt idx="10">
                  <c:v>764368.92634741799</c:v>
                </c:pt>
                <c:pt idx="11">
                  <c:v>750082.89513424877</c:v>
                </c:pt>
                <c:pt idx="12">
                  <c:v>742046.62874903844</c:v>
                </c:pt>
                <c:pt idx="13">
                  <c:v>730930.07112699735</c:v>
                </c:pt>
                <c:pt idx="14">
                  <c:v>674838.57050989207</c:v>
                </c:pt>
                <c:pt idx="15">
                  <c:v>1137732.6134950658</c:v>
                </c:pt>
                <c:pt idx="16">
                  <c:v>622031.51446542505</c:v>
                </c:pt>
                <c:pt idx="17">
                  <c:v>581790.91417789843</c:v>
                </c:pt>
                <c:pt idx="18">
                  <c:v>458801.51699045743</c:v>
                </c:pt>
                <c:pt idx="19">
                  <c:v>429228.07674840116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BB-4B47-8EA5-42A6ADF3EA0B}"/>
            </c:ext>
          </c:extLst>
        </c:ser>
        <c:ser>
          <c:idx val="2"/>
          <c:order val="1"/>
          <c:tx>
            <c:v>Domestic</c:v>
          </c:tx>
          <c:spPr>
            <a:solidFill>
              <a:srgbClr val="00B050"/>
            </a:solidFill>
            <a:ln>
              <a:solidFill>
                <a:srgbClr val="000000"/>
              </a:solidFill>
              <a:prstDash val="solid"/>
            </a:ln>
            <a:effectLst/>
          </c:spPr>
          <c:invertIfNegative val="0"/>
          <c:cat>
            <c:numRef>
              <c:f>[4]Existing_Debt!$F$445:$Y$445</c:f>
              <c:numCache>
                <c:formatCode>General</c:formatCode>
                <c:ptCount val="20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</c:numCache>
            </c:numRef>
          </c:cat>
          <c:val>
            <c:numRef>
              <c:f>[4]Existing_Debt!$F$455:$Y$455</c:f>
              <c:numCache>
                <c:formatCode>General</c:formatCode>
                <c:ptCount val="20"/>
                <c:pt idx="0">
                  <c:v>901769.21121959889</c:v>
                </c:pt>
                <c:pt idx="1">
                  <c:v>171009.77180380316</c:v>
                </c:pt>
                <c:pt idx="2">
                  <c:v>255208.52250605816</c:v>
                </c:pt>
                <c:pt idx="3">
                  <c:v>215413.47246763617</c:v>
                </c:pt>
                <c:pt idx="4">
                  <c:v>250547.56123823658</c:v>
                </c:pt>
                <c:pt idx="5">
                  <c:v>246243.88301803026</c:v>
                </c:pt>
                <c:pt idx="6">
                  <c:v>192223.48882047576</c:v>
                </c:pt>
                <c:pt idx="7">
                  <c:v>55621.726579144932</c:v>
                </c:pt>
                <c:pt idx="8">
                  <c:v>88746.871341176942</c:v>
                </c:pt>
                <c:pt idx="9">
                  <c:v>145912.12714908295</c:v>
                </c:pt>
                <c:pt idx="10">
                  <c:v>87678.254835720436</c:v>
                </c:pt>
                <c:pt idx="11">
                  <c:v>2752.2618357204401</c:v>
                </c:pt>
                <c:pt idx="12">
                  <c:v>92369.697650000002</c:v>
                </c:pt>
                <c:pt idx="13">
                  <c:v>55132.219099999995</c:v>
                </c:pt>
                <c:pt idx="14">
                  <c:v>93735</c:v>
                </c:pt>
                <c:pt idx="15">
                  <c:v>62490</c:v>
                </c:pt>
                <c:pt idx="16">
                  <c:v>109357.5</c:v>
                </c:pt>
                <c:pt idx="17">
                  <c:v>79055.057499999995</c:v>
                </c:pt>
                <c:pt idx="18">
                  <c:v>31245</c:v>
                </c:pt>
                <c:pt idx="19">
                  <c:v>10415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BB-4B47-8EA5-42A6ADF3E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9081584"/>
        <c:axId val="369081976"/>
      </c:barChart>
      <c:catAx>
        <c:axId val="36908158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-5400000" vert="horz"/>
          <a:lstStyle/>
          <a:p>
            <a:pPr>
              <a:defRPr>
                <a:latin typeface="Segoe UI"/>
                <a:ea typeface="Segoe UI"/>
                <a:cs typeface="Segoe UI"/>
              </a:defRPr>
            </a:pPr>
            <a:endParaRPr lang="en-US"/>
          </a:p>
        </c:txPr>
        <c:crossAx val="369081976"/>
        <c:crosses val="autoZero"/>
        <c:auto val="1"/>
        <c:lblAlgn val="ctr"/>
        <c:lblOffset val="100"/>
        <c:noMultiLvlLbl val="0"/>
      </c:catAx>
      <c:valAx>
        <c:axId val="369081976"/>
        <c:scaling>
          <c:orientation val="minMax"/>
        </c:scaling>
        <c:delete val="0"/>
        <c:axPos val="l"/>
        <c:numFmt formatCode="#,##0" sourceLinked="0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>
                <a:latin typeface="Segoe UI"/>
                <a:ea typeface="Segoe UI"/>
                <a:cs typeface="Segoe UI"/>
              </a:defRPr>
            </a:pPr>
            <a:endParaRPr lang="en-US"/>
          </a:p>
        </c:txPr>
        <c:crossAx val="369081584"/>
        <c:crosses val="autoZero"/>
        <c:crossBetween val="between"/>
      </c:valAx>
      <c:spPr>
        <a:solidFill>
          <a:srgbClr val="FFFFFF"/>
        </a:solidFill>
        <a:ln w="3175">
          <a:solidFill>
            <a:srgbClr val="B3B3B3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0436042130755399"/>
          <c:y val="5.6899100727163206E-2"/>
          <c:w val="0.40466103096967887"/>
          <c:h val="0.1519322665312004"/>
        </c:manualLayout>
      </c:layout>
      <c:overlay val="0"/>
      <c:txPr>
        <a:bodyPr/>
        <a:lstStyle/>
        <a:p>
          <a:pPr>
            <a:defRPr>
              <a:latin typeface="Segoe UI"/>
              <a:ea typeface="Segoe UI"/>
              <a:cs typeface="Segoe UI"/>
            </a:defRPr>
          </a:pPr>
          <a:endParaRPr lang="en-US"/>
        </a:p>
      </c:txPr>
    </c:legend>
    <c:plotVisOnly val="1"/>
    <c:dispBlanksAs val="gap"/>
    <c:showDLblsOverMax val="0"/>
  </c:chart>
  <c:spPr>
    <a:ln w="9525">
      <a:solidFill>
        <a:srgbClr val="4F81BD"/>
      </a:solidFill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 panose="020B0604020202020204" pitchFamily="34" charset="0"/>
          <a:ea typeface="Calibri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41-424C-976E-41F91BCE42F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41-424C-976E-41F91BCE42F0}"/>
              </c:ext>
            </c:extLst>
          </c:dPt>
          <c:dPt>
            <c:idx val="3"/>
            <c:invertIfNegative val="0"/>
            <c:bubble3D val="0"/>
            <c:spPr>
              <a:solidFill>
                <a:srgbClr val="C0504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41-424C-976E-41F91BCE42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Sheet1!$F$4:$F$7</c:f>
              <c:strCache>
                <c:ptCount val="4"/>
                <c:pt idx="0">
                  <c:v>T-BILLS</c:v>
                </c:pt>
                <c:pt idx="1">
                  <c:v>3-5 YEARS</c:v>
                </c:pt>
                <c:pt idx="2">
                  <c:v>7-10 YEARS</c:v>
                </c:pt>
                <c:pt idx="3">
                  <c:v>15-20 YEARS</c:v>
                </c:pt>
              </c:strCache>
            </c:strRef>
          </c:cat>
          <c:val>
            <c:numRef>
              <c:f>Sheet1!$G$4:$G$7</c:f>
              <c:numCache>
                <c:formatCode>General</c:formatCode>
                <c:ptCount val="4"/>
                <c:pt idx="0">
                  <c:v>146.6</c:v>
                </c:pt>
                <c:pt idx="1">
                  <c:v>25</c:v>
                </c:pt>
                <c:pt idx="2">
                  <c:v>60</c:v>
                </c:pt>
                <c:pt idx="3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41-424C-976E-41F91BCE4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6141343"/>
        <c:axId val="1946139679"/>
      </c:barChart>
      <c:catAx>
        <c:axId val="19461413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r>
                  <a:rPr lang="en-US" dirty="0"/>
                  <a:t>Tenor</a:t>
                </a:r>
              </a:p>
            </c:rich>
          </c:tx>
          <c:layout>
            <c:manualLayout>
              <c:xMode val="edge"/>
              <c:yMode val="edge"/>
              <c:x val="0.51878847936892614"/>
              <c:y val="0.936181569379409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  <a:ea typeface="+mn-ea"/>
                <a:cs typeface="+mn-cs"/>
              </a:defRPr>
            </a:pPr>
            <a:endParaRPr lang="en-US"/>
          </a:p>
        </c:txPr>
        <c:crossAx val="1946139679"/>
        <c:crosses val="autoZero"/>
        <c:auto val="1"/>
        <c:lblAlgn val="ctr"/>
        <c:lblOffset val="100"/>
        <c:noMultiLvlLbl val="0"/>
      </c:catAx>
      <c:valAx>
        <c:axId val="19461396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r>
                  <a:rPr lang="en-US" dirty="0"/>
                  <a:t>Billions</a:t>
                </a:r>
                <a:r>
                  <a:rPr lang="en-US" baseline="0" dirty="0"/>
                  <a:t> RWF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  <a:ea typeface="+mn-ea"/>
                <a:cs typeface="+mn-cs"/>
              </a:defRPr>
            </a:pPr>
            <a:endParaRPr lang="en-US"/>
          </a:p>
        </c:txPr>
        <c:crossAx val="1946141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ysClr val="window" lastClr="FFFFFF">
          <a:lumMod val="65000"/>
        </a:sysClr>
      </a:solidFill>
    </a:ln>
    <a:effectLst/>
  </c:spPr>
  <c:txPr>
    <a:bodyPr/>
    <a:lstStyle/>
    <a:p>
      <a:pPr>
        <a:defRPr sz="1200">
          <a:latin typeface="Abadi" panose="020B0604020104020204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USD!$F$107</c:f>
              <c:strCache>
                <c:ptCount val="1"/>
                <c:pt idx="0">
                  <c:v>Provisional Act. Half Fiscal Year 25/26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A9-4A66-96DF-A0BA619E9B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USD!$E$108:$E$110</c:f>
              <c:strCache>
                <c:ptCount val="3"/>
                <c:pt idx="0">
                  <c:v>Multilateral</c:v>
                </c:pt>
                <c:pt idx="1">
                  <c:v>Bilateral</c:v>
                </c:pt>
                <c:pt idx="2">
                  <c:v>Commercial</c:v>
                </c:pt>
              </c:strCache>
            </c:strRef>
          </c:cat>
          <c:val>
            <c:numRef>
              <c:f>USD!$F$108:$F$110</c:f>
              <c:numCache>
                <c:formatCode>#,##0</c:formatCode>
                <c:ptCount val="3"/>
                <c:pt idx="0">
                  <c:v>297.07382596099995</c:v>
                </c:pt>
                <c:pt idx="1">
                  <c:v>144.178496158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A9-4A66-96DF-A0BA619E9B8A}"/>
            </c:ext>
          </c:extLst>
        </c:ser>
        <c:ser>
          <c:idx val="1"/>
          <c:order val="1"/>
          <c:tx>
            <c:strRef>
              <c:f>USD!$G$107</c:f>
              <c:strCache>
                <c:ptCount val="1"/>
                <c:pt idx="0">
                  <c:v>Projected For the Full FY 25/26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USD!$E$108:$E$110</c:f>
              <c:strCache>
                <c:ptCount val="3"/>
                <c:pt idx="0">
                  <c:v>Multilateral</c:v>
                </c:pt>
                <c:pt idx="1">
                  <c:v>Bilateral</c:v>
                </c:pt>
                <c:pt idx="2">
                  <c:v>Commercial</c:v>
                </c:pt>
              </c:strCache>
            </c:strRef>
          </c:cat>
          <c:val>
            <c:numRef>
              <c:f>USD!$G$108:$G$110</c:f>
              <c:numCache>
                <c:formatCode>#,##0</c:formatCode>
                <c:ptCount val="3"/>
                <c:pt idx="0">
                  <c:v>676.47722406156845</c:v>
                </c:pt>
                <c:pt idx="1">
                  <c:v>260.88941675887486</c:v>
                </c:pt>
                <c:pt idx="2">
                  <c:v>217.461804661825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A9-4A66-96DF-A0BA619E9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334447"/>
        <c:axId val="203334863"/>
      </c:barChart>
      <c:catAx>
        <c:axId val="2033344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Creditor Type</a:t>
                </a:r>
              </a:p>
            </c:rich>
          </c:tx>
          <c:layout>
            <c:manualLayout>
              <c:xMode val="edge"/>
              <c:yMode val="edge"/>
              <c:x val="0.47622863896511808"/>
              <c:y val="0.942670811769204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3334863"/>
        <c:crosses val="autoZero"/>
        <c:auto val="1"/>
        <c:lblAlgn val="ctr"/>
        <c:lblOffset val="100"/>
        <c:noMultiLvlLbl val="0"/>
      </c:catAx>
      <c:valAx>
        <c:axId val="203334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In Millions</a:t>
                </a:r>
                <a:r>
                  <a:rPr lang="en-US" baseline="0" dirty="0"/>
                  <a:t> USD 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4.7817768367341366E-3"/>
              <c:y val="0.318300246408919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3334447"/>
        <c:crosses val="autoZero"/>
        <c:crossBetween val="between"/>
      </c:valAx>
      <c:spPr>
        <a:noFill/>
        <a:ln>
          <a:solidFill>
            <a:srgbClr val="4F81BD"/>
          </a:solidFill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rgbClr val="4F81BD"/>
      </a:solidFill>
    </a:ln>
    <a:effectLst/>
  </c:spPr>
  <c:txPr>
    <a:bodyPr/>
    <a:lstStyle/>
    <a:p>
      <a:pPr>
        <a:defRPr sz="14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48AA321-3115-4D6D-9C1E-1FFD6600DEA0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083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3390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8574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013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544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864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811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809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7" y="2125981"/>
            <a:ext cx="10368609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5" y="3840481"/>
            <a:ext cx="8538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C01A-01D1-4B7F-AB1F-448AB1C327C0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25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0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8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7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1E563-4F39-45E4-BC4F-C8EE49BD548F}" type="datetime1">
              <a:rPr lang="en-US" smtClean="0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30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24"/>
          <p:cNvSpPr/>
          <p:nvPr/>
        </p:nvSpPr>
        <p:spPr>
          <a:xfrm>
            <a:off x="11405801" y="391242"/>
            <a:ext cx="787771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57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57" y="582104"/>
                </a:lnTo>
                <a:lnTo>
                  <a:pt x="785957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5" name="bg object 25"/>
          <p:cNvSpPr/>
          <p:nvPr/>
        </p:nvSpPr>
        <p:spPr>
          <a:xfrm>
            <a:off x="1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90" y="0"/>
                </a:moveTo>
                <a:lnTo>
                  <a:pt x="0" y="0"/>
                </a:lnTo>
                <a:lnTo>
                  <a:pt x="0" y="194627"/>
                </a:lnTo>
                <a:lnTo>
                  <a:pt x="4049890" y="194627"/>
                </a:lnTo>
                <a:lnTo>
                  <a:pt x="4049890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6" name="bg object 26"/>
          <p:cNvSpPr/>
          <p:nvPr/>
        </p:nvSpPr>
        <p:spPr>
          <a:xfrm>
            <a:off x="4058345" y="6657705"/>
            <a:ext cx="4076939" cy="195307"/>
          </a:xfrm>
          <a:custGeom>
            <a:avLst/>
            <a:gdLst/>
            <a:ahLst/>
            <a:cxnLst/>
            <a:rect l="l" t="t" r="r" b="b"/>
            <a:pathLst>
              <a:path w="4068445" h="194945">
                <a:moveTo>
                  <a:pt x="4068229" y="0"/>
                </a:moveTo>
                <a:lnTo>
                  <a:pt x="0" y="0"/>
                </a:lnTo>
                <a:lnTo>
                  <a:pt x="0" y="194627"/>
                </a:lnTo>
                <a:lnTo>
                  <a:pt x="4068229" y="194627"/>
                </a:lnTo>
                <a:lnTo>
                  <a:pt x="4068229" y="0"/>
                </a:lnTo>
                <a:close/>
              </a:path>
            </a:pathLst>
          </a:custGeom>
          <a:solidFill>
            <a:srgbClr val="149ED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7" name="bg object 27"/>
          <p:cNvSpPr/>
          <p:nvPr/>
        </p:nvSpPr>
        <p:spPr>
          <a:xfrm>
            <a:off x="8135068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77" y="0"/>
                </a:moveTo>
                <a:lnTo>
                  <a:pt x="0" y="0"/>
                </a:lnTo>
                <a:lnTo>
                  <a:pt x="0" y="194627"/>
                </a:lnTo>
                <a:lnTo>
                  <a:pt x="4049877" y="194627"/>
                </a:lnTo>
                <a:lnTo>
                  <a:pt x="4049877" y="0"/>
                </a:lnTo>
                <a:close/>
              </a:path>
            </a:pathLst>
          </a:custGeom>
          <a:solidFill>
            <a:srgbClr val="F8D10A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pic>
        <p:nvPicPr>
          <p:cNvPr id="28" name="bg 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174" y="424164"/>
            <a:ext cx="272877" cy="326006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A08B2-5757-4A8A-811A-DC396F29D4C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oogle Shape;22;p3">
            <a:extLst>
              <a:ext uri="{FF2B5EF4-FFF2-40B4-BE49-F238E27FC236}">
                <a16:creationId xmlns:a16="http://schemas.microsoft.com/office/drawing/2014/main" id="{D60626A7-64BD-C862-2B03-81F35AACA69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065" y="291825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59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8CB7-7B76-4A95-9F48-ACBE2A7EA61E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67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65720" y="167885"/>
            <a:ext cx="7805168" cy="36933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623395" y="1340773"/>
            <a:ext cx="10849204" cy="83875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buClr>
                <a:schemeClr val="accent2"/>
              </a:buClr>
              <a:defRPr sz="1799" b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buClrTx/>
              <a:defRPr sz="1799" b="0">
                <a:solidFill>
                  <a:srgbClr val="29C000"/>
                </a:solidFill>
                <a:latin typeface="Arial"/>
                <a:cs typeface="Arial"/>
              </a:defRPr>
            </a:lvl2pPr>
            <a:lvl3pPr>
              <a:buClrTx/>
              <a:defRPr sz="1600" b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3pPr>
            <a:lvl4pPr>
              <a:buClr>
                <a:schemeClr val="accent1">
                  <a:lumMod val="75000"/>
                </a:schemeClr>
              </a:buClr>
              <a:defRPr sz="1600" b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defRPr>
            </a:lvl4pPr>
            <a:lvl5pPr>
              <a:buClr>
                <a:schemeClr val="accent2"/>
              </a:buClr>
              <a:defRPr sz="16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11089219" y="6558986"/>
            <a:ext cx="1102783" cy="215444"/>
          </a:xfrm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4B3B5BF1-36F4-440D-932D-C7907D6A98B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7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01085" y="119065"/>
            <a:ext cx="1159933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568451" y="1054100"/>
            <a:ext cx="1051348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5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">
  <p:cSld name="Final Slide">
    <p:bg>
      <p:bgPr>
        <a:solidFill>
          <a:srgbClr val="073763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91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631" y="114302"/>
            <a:ext cx="11596076" cy="5048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631" y="1431925"/>
            <a:ext cx="5666154" cy="4883150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0355" y="1431925"/>
            <a:ext cx="5668107" cy="4883150"/>
          </a:xfrm>
        </p:spPr>
        <p:txBody>
          <a:bodyPr/>
          <a:lstStyle>
            <a:lvl1pPr>
              <a:buClr>
                <a:schemeClr val="accent2"/>
              </a:buClr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04835C-9472-4241-BCDA-E5ACDC3F3B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772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7" y="2125981"/>
            <a:ext cx="10368609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5" y="3840481"/>
            <a:ext cx="8538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C01A-01D1-4B7F-AB1F-448AB1C327C0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63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61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8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7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1E563-4F39-45E4-BC4F-C8EE49BD548F}" type="datetime1">
              <a:rPr lang="en-US" smtClean="0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3625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24"/>
          <p:cNvSpPr/>
          <p:nvPr/>
        </p:nvSpPr>
        <p:spPr>
          <a:xfrm>
            <a:off x="11405801" y="391242"/>
            <a:ext cx="787771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57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57" y="582104"/>
                </a:lnTo>
                <a:lnTo>
                  <a:pt x="785957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5" name="bg object 25"/>
          <p:cNvSpPr/>
          <p:nvPr/>
        </p:nvSpPr>
        <p:spPr>
          <a:xfrm>
            <a:off x="1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90" y="0"/>
                </a:moveTo>
                <a:lnTo>
                  <a:pt x="0" y="0"/>
                </a:lnTo>
                <a:lnTo>
                  <a:pt x="0" y="194627"/>
                </a:lnTo>
                <a:lnTo>
                  <a:pt x="4049890" y="194627"/>
                </a:lnTo>
                <a:lnTo>
                  <a:pt x="4049890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6" name="bg object 26"/>
          <p:cNvSpPr/>
          <p:nvPr/>
        </p:nvSpPr>
        <p:spPr>
          <a:xfrm>
            <a:off x="4058345" y="6657705"/>
            <a:ext cx="4076939" cy="195307"/>
          </a:xfrm>
          <a:custGeom>
            <a:avLst/>
            <a:gdLst/>
            <a:ahLst/>
            <a:cxnLst/>
            <a:rect l="l" t="t" r="r" b="b"/>
            <a:pathLst>
              <a:path w="4068445" h="194945">
                <a:moveTo>
                  <a:pt x="4068229" y="0"/>
                </a:moveTo>
                <a:lnTo>
                  <a:pt x="0" y="0"/>
                </a:lnTo>
                <a:lnTo>
                  <a:pt x="0" y="194627"/>
                </a:lnTo>
                <a:lnTo>
                  <a:pt x="4068229" y="194627"/>
                </a:lnTo>
                <a:lnTo>
                  <a:pt x="4068229" y="0"/>
                </a:lnTo>
                <a:close/>
              </a:path>
            </a:pathLst>
          </a:custGeom>
          <a:solidFill>
            <a:srgbClr val="149ED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7" name="bg object 27"/>
          <p:cNvSpPr/>
          <p:nvPr/>
        </p:nvSpPr>
        <p:spPr>
          <a:xfrm>
            <a:off x="8135068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77" y="0"/>
                </a:moveTo>
                <a:lnTo>
                  <a:pt x="0" y="0"/>
                </a:lnTo>
                <a:lnTo>
                  <a:pt x="0" y="194627"/>
                </a:lnTo>
                <a:lnTo>
                  <a:pt x="4049877" y="194627"/>
                </a:lnTo>
                <a:lnTo>
                  <a:pt x="4049877" y="0"/>
                </a:lnTo>
                <a:close/>
              </a:path>
            </a:pathLst>
          </a:custGeom>
          <a:solidFill>
            <a:srgbClr val="F8D10A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pic>
        <p:nvPicPr>
          <p:cNvPr id="28" name="bg 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174" y="424164"/>
            <a:ext cx="272877" cy="326006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A08B2-5757-4A8A-811A-DC396F29D4C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oogle Shape;22;p3">
            <a:extLst>
              <a:ext uri="{FF2B5EF4-FFF2-40B4-BE49-F238E27FC236}">
                <a16:creationId xmlns:a16="http://schemas.microsoft.com/office/drawing/2014/main" id="{D60626A7-64BD-C862-2B03-81F35AACA69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065" y="291825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903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8CB7-7B76-4A95-9F48-ACBE2A7EA61E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08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2CCC-F89B-4F7C-9B04-BEDB4BBBDBB8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337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65720" y="167885"/>
            <a:ext cx="7805168" cy="36933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623395" y="1340773"/>
            <a:ext cx="10849204" cy="83875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buClr>
                <a:schemeClr val="accent2"/>
              </a:buClr>
              <a:defRPr sz="1799" b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buClrTx/>
              <a:defRPr sz="1799" b="0">
                <a:solidFill>
                  <a:srgbClr val="29C000"/>
                </a:solidFill>
                <a:latin typeface="Arial"/>
                <a:cs typeface="Arial"/>
              </a:defRPr>
            </a:lvl2pPr>
            <a:lvl3pPr>
              <a:buClrTx/>
              <a:defRPr sz="1600" b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3pPr>
            <a:lvl4pPr>
              <a:buClr>
                <a:schemeClr val="accent1">
                  <a:lumMod val="75000"/>
                </a:schemeClr>
              </a:buClr>
              <a:defRPr sz="1600" b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defRPr>
            </a:lvl4pPr>
            <a:lvl5pPr>
              <a:buClr>
                <a:schemeClr val="accent2"/>
              </a:buClr>
              <a:defRPr sz="16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11089219" y="6558986"/>
            <a:ext cx="1102783" cy="215444"/>
          </a:xfrm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B3B5BF1-36F4-440D-932D-C7907D6A98BA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01085" y="119065"/>
            <a:ext cx="1159933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568451" y="1054100"/>
            <a:ext cx="1051348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52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5272" y="2412555"/>
            <a:ext cx="1602904" cy="9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534" y="3254820"/>
            <a:ext cx="859129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44" y="6377941"/>
            <a:ext cx="390347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8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8C1B-2213-4D54-96B1-78A92FEE9E15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22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624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9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6252" y="621821"/>
            <a:ext cx="1035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6251" y="2092232"/>
            <a:ext cx="10352000" cy="3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5002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5272" y="2412555"/>
            <a:ext cx="1602904" cy="9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534" y="3254820"/>
            <a:ext cx="859129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44" y="6377941"/>
            <a:ext cx="390347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8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8C1B-2213-4D54-96B1-78A92FEE9E15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22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205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q.wikipedia.org/wiki/Ruand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1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1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Worksheet2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5.xlsx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lexikon.zum.de/wiki/Datei:Flag_of_Rwanda.sv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6308" y="22860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000" b="1">
                <a:solidFill>
                  <a:srgbClr val="002060"/>
                </a:solidFill>
              </a:defRPr>
            </a:pPr>
            <a:r>
              <a:rPr lang="en-US" sz="4400" b="1" kern="1200" spc="-410" noProof="0" dirty="0">
                <a:solidFill>
                  <a:srgbClr val="135DAB"/>
                </a:solidFill>
                <a:latin typeface="Bahnschrift" panose="020B0502040204020203" pitchFamily="34" charset="0"/>
              </a:rPr>
              <a:t>Status of Rwanda’s Public Debt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15E60A-3AC7-04F0-8781-5FF641FE8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5562" y="83335"/>
            <a:ext cx="1224951" cy="105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635061" cy="71991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199"/>
              </a:spcBef>
              <a:buSzPct val="75000"/>
            </a:pP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Debt Developments.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4495" y="1396999"/>
            <a:ext cx="4535243" cy="532384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699" dirty="0">
              <a:solidFill>
                <a:srgbClr val="4F81BD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Rwanda’s nominal debt-to-GDP ratio is anticipated to increase slightly to 75 percent by end-December 2025, from 74.5 percent of end-December 2024. This shift reflects not only continued concessional disbursements but also the impact of exchange rate depreciation on the external debt stock.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Despite the marginal rise, Rwanda’s debt portfolio remains sustainable. </a:t>
            </a: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699" dirty="0">
              <a:solidFill>
                <a:srgbClr val="4F81BD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The external debt composition is highly concessional, accounting for approximately 89.1 percent, which helps contain financing costs and rollover risks.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99" dirty="0">
                <a:solidFill>
                  <a:srgbClr val="4F81BD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1699" b="0" i="0" u="none" strike="noStrike" kern="0" cap="none" spc="0" normalizeH="0" baseline="0" noProof="0" dirty="0" err="1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verall</a:t>
            </a: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, Rwanda’s debt position remains resilient, even amid global macroeconomic shocks and ongoing geopolitical tensions.</a:t>
            </a: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7520E-EEE0-2B93-1877-04ABAB601A9A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F94460-51A1-D92F-A2AE-8BEF459068EE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21960-C062-B805-F8B1-E77AE2BD5817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ADA792A-AEFC-4F94-A97A-713B397DB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597557"/>
              </p:ext>
            </p:extLst>
          </p:nvPr>
        </p:nvGraphicFramePr>
        <p:xfrm>
          <a:off x="204008" y="1396999"/>
          <a:ext cx="6896100" cy="502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Worksheet" r:id="rId4" imgW="6896150" imgH="4064135" progId="Excel.Sheet.12">
                  <p:embed/>
                </p:oleObj>
              </mc:Choice>
              <mc:Fallback>
                <p:oleObj name="Worksheet" r:id="rId4" imgW="6896150" imgH="40641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008" y="1396999"/>
                        <a:ext cx="6896100" cy="5021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49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SOEs Path in Fiscal Consolidation</a:t>
            </a:r>
            <a:endParaRPr lang="en-US" sz="300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F9D6AC-73FD-5A2C-60FD-66152AFBDB0A}"/>
              </a:ext>
            </a:extLst>
          </p:cNvPr>
          <p:cNvSpPr txBox="1">
            <a:spLocks/>
          </p:cNvSpPr>
          <p:nvPr/>
        </p:nvSpPr>
        <p:spPr>
          <a:xfrm>
            <a:off x="453966" y="1202482"/>
            <a:ext cx="5958584" cy="3003758"/>
          </a:xfrm>
          <a:prstGeom prst="rect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194" y="4396219"/>
            <a:ext cx="5905397" cy="212561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Rwanda is taking practical steps to strengthen its fiscal resilience by fully accounting for all SOE debt  including non-guaranteed liabilities as part of its broader reform agenda.</a:t>
            </a: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 additional </a:t>
            </a:r>
            <a:r>
              <a:rPr lang="en-US" sz="1100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GoR</a:t>
            </a: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has privatized </a:t>
            </a: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some </a:t>
            </a:r>
            <a:r>
              <a:rPr lang="en-US" sz="1100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SoEs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to improve performance, strengthen oversight, and reduce the overall debt burden, through continued debt restructuring, including shifting external SOE liabilities into longer-term domestic instruments, all of it; to lower fiscal risks and create more stable and sustainable economic environment. 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Government remains committed to implementing fiscal consolidation program agreed with the IMF to maintain debt to sustainable levels with projection of public debt to GDP ratio indicating a gradual decline over time as consolidation efforts take hold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. 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282569-C86E-4D07-A90D-7D7B9E234A23}"/>
              </a:ext>
            </a:extLst>
          </p:cNvPr>
          <p:cNvSpPr txBox="1">
            <a:spLocks/>
          </p:cNvSpPr>
          <p:nvPr/>
        </p:nvSpPr>
        <p:spPr>
          <a:xfrm>
            <a:off x="6474679" y="1202481"/>
            <a:ext cx="5499869" cy="5319348"/>
          </a:xfrm>
          <a:prstGeom prst="rect">
            <a:avLst/>
          </a:prstGeom>
          <a:ln w="12700">
            <a:solidFill>
              <a:sysClr val="windowText" lastClr="000000"/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E8C8E-A018-8495-3240-56DAFE98656A}"/>
              </a:ext>
            </a:extLst>
          </p:cNvPr>
          <p:cNvSpPr txBox="1"/>
          <p:nvPr/>
        </p:nvSpPr>
        <p:spPr>
          <a:xfrm>
            <a:off x="6492312" y="6271235"/>
            <a:ext cx="41756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 b="1" i="0" u="none" strike="noStrike" kern="1200" baseline="0">
                <a:solidFill>
                  <a:srgbClr val="44546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Source :  Debt Directorate General  Dec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49CE5B-5FBC-8F6E-7FE0-A0E5286AF275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B3783-BA59-B12A-CE90-43A13A5F71DB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51A1C-734F-6057-1EB6-AFEE56A3D87A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67EC27E-63BA-48A5-A1F0-CE14F5AD5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281257"/>
              </p:ext>
            </p:extLst>
          </p:nvPr>
        </p:nvGraphicFramePr>
        <p:xfrm>
          <a:off x="6629400" y="1304711"/>
          <a:ext cx="5050450" cy="5008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Worksheet" r:id="rId4" imgW="4838851" imgH="4451215" progId="Excel.Sheet.12">
                  <p:embed/>
                </p:oleObj>
              </mc:Choice>
              <mc:Fallback>
                <p:oleObj name="Worksheet" r:id="rId4" imgW="4838851" imgH="44512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29400" y="1304711"/>
                        <a:ext cx="5050450" cy="5008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52B0CE9-E5A9-4D27-AEFA-C9380D96FF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9954470"/>
              </p:ext>
            </p:extLst>
          </p:nvPr>
        </p:nvGraphicFramePr>
        <p:xfrm>
          <a:off x="453966" y="1202481"/>
          <a:ext cx="5905396" cy="3131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6115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566" y="185892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Debt Sustainability Indicators</a:t>
            </a:r>
            <a:r>
              <a:rPr lang="en-US" sz="3000" spc="-409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 of December 2024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F9D6AC-73FD-5A2C-60FD-66152AFBDB0A}"/>
              </a:ext>
            </a:extLst>
          </p:cNvPr>
          <p:cNvSpPr txBox="1">
            <a:spLocks/>
          </p:cNvSpPr>
          <p:nvPr/>
        </p:nvSpPr>
        <p:spPr>
          <a:xfrm>
            <a:off x="453966" y="1202483"/>
            <a:ext cx="11520582" cy="302664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3966" y="4229124"/>
            <a:ext cx="11520581" cy="220651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703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latest Debt Sustainability Analysis (DSA) indicates that Rwanda's public debt will remain sustainable with a moderate risk of debt distress.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03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703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ratios indicates a pick in 2026 and 2027 due to disbursement related to the financing of New Bugesera International Airport and the national airline where financing is required starting in FY 2025/26.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20FCBC-356C-86E4-99BF-6010667E1A92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89476-9963-315E-796B-979737E7F691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AF183C-3A4B-6B77-107B-626A55F5A5FE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491E8BB2-83FA-40FA-823C-453B28EF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3965" y="1205252"/>
            <a:ext cx="11424200" cy="3023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6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Sensitivity Analysis-Cost and Risks</a:t>
            </a:r>
            <a:endParaRPr lang="en-US" sz="300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1288" y="4507012"/>
            <a:ext cx="11676158" cy="2115198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sensitivity Analysis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show a shift in debt levels with nominal debt as percent of GDP to be 74.8% as at end June 2025 from 72.1 percent of GDP by end June 2024.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rise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is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driven by a sharp increase in disbursement from concessional lenders but also the valuation effect that inflated the value of RWF in USD terms.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Interest payments as a percentage of GDP stands at 2.7%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June 2025, from 3.1% in June 2024. This decrease is primarily due to the concessional nature of the debt portfolio and also the GDP rebase.  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On the other hand, most risk indicators have improved due to rigorous liability management but also a large pool of concessional financing from development partners.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0E5029-6585-4C4B-B2FF-8EC3C1DBB5C4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FFC0D-75C0-E77C-96EC-F6C41DA929C2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DA4C9-CE49-458A-A522-CC1C1D360F02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91767B9-DD10-4D01-929F-59EBBE4E3F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926976"/>
              </p:ext>
            </p:extLst>
          </p:nvPr>
        </p:nvGraphicFramePr>
        <p:xfrm>
          <a:off x="141288" y="1122363"/>
          <a:ext cx="11676062" cy="344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Worksheet" r:id="rId4" imgW="10769735" imgH="3206885" progId="Excel.Sheet.12">
                  <p:embed/>
                </p:oleObj>
              </mc:Choice>
              <mc:Fallback>
                <p:oleObj name="Worksheet" r:id="rId4" imgW="10769735" imgH="32068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288" y="1122363"/>
                        <a:ext cx="11676062" cy="3446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569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Rwanda’s debt maturity profile (PPG  FY).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2068" y="4453467"/>
            <a:ext cx="11521200" cy="2130213"/>
          </a:xfr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/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As part of the country’s strategy to deepen the domestic bond market, </a:t>
            </a:r>
            <a:r>
              <a:rPr lang="en-US" sz="1703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GoR</a:t>
            </a: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progressively reduced reliance on short-term debt instruments, supported by stronger financial infrastructure and improved market systems. </a:t>
            </a:r>
          </a:p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introduction of benchmark bonds has strengthened price discovery, enhanced market transparency, and boosted investor confidence, contributing to a more stable and credible domestic debt market.</a:t>
            </a:r>
          </a:p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improvement in Rwanda’s debt maturity profile reflects a deliberate debt management strategy focused on reducing reliance on short-term borrowing while prioritizing concessional financing to maintain sustainability and limit refinancing risks.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9C660-8E08-A20A-872B-D79A30D6114F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F3E46-0835-B95B-8BD0-E4AB455A650C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D2910-7320-06C4-3796-B0A6CECEF4DE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475030"/>
              </p:ext>
            </p:extLst>
          </p:nvPr>
        </p:nvGraphicFramePr>
        <p:xfrm>
          <a:off x="222067" y="1354584"/>
          <a:ext cx="11521200" cy="2946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069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Borrowing Plan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24403" y="1618468"/>
            <a:ext cx="4787290" cy="4799749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799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25937-9839-AA3F-B022-4C2E91C36DDA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44E8A-4BF4-1D2A-D01D-5F1C1468D34D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ED212-FA2B-1A8B-9020-D4B88A04E308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4E2DA-4C76-5480-86EE-B97BECE07E91}"/>
              </a:ext>
            </a:extLst>
          </p:cNvPr>
          <p:cNvSpPr txBox="1"/>
          <p:nvPr/>
        </p:nvSpPr>
        <p:spPr>
          <a:xfrm>
            <a:off x="495620" y="1249136"/>
            <a:ext cx="432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External Financing Plan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F6AD4-0929-7BF0-036F-27F4A07826C0}"/>
              </a:ext>
            </a:extLst>
          </p:cNvPr>
          <p:cNvSpPr txBox="1"/>
          <p:nvPr/>
        </p:nvSpPr>
        <p:spPr>
          <a:xfrm>
            <a:off x="6985000" y="1172243"/>
            <a:ext cx="462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Domestic Issuance calendar FY 25/26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59CA70E-6074-45C5-A6DD-9682603196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883077"/>
              </p:ext>
            </p:extLst>
          </p:nvPr>
        </p:nvGraphicFramePr>
        <p:xfrm>
          <a:off x="6815618" y="1618468"/>
          <a:ext cx="5096075" cy="489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20F6163-E331-4B83-8BE3-3A71DA3FD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69815"/>
              </p:ext>
            </p:extLst>
          </p:nvPr>
        </p:nvGraphicFramePr>
        <p:xfrm>
          <a:off x="429854" y="1611336"/>
          <a:ext cx="5797115" cy="4929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Worksheet" r:id="rId5" imgW="5391125" imgH="5600700" progId="Excel.Sheet.12">
                  <p:embed/>
                </p:oleObj>
              </mc:Choice>
              <mc:Fallback>
                <p:oleObj name="Worksheet" r:id="rId5" imgW="5391125" imgH="560070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6F17BB3-E07A-42E7-8360-29B045D49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854" y="1611336"/>
                        <a:ext cx="5797115" cy="4929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532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920327"/>
          </a:xfrm>
        </p:spPr>
        <p:txBody>
          <a:bodyPr>
            <a:normAutofit fontScale="90000"/>
          </a:bodyPr>
          <a:lstStyle/>
          <a:p>
            <a:r>
              <a:rPr lang="en-US" sz="33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funding received so far  Against October Review 2025 projections for full  FY25/26</a:t>
            </a:r>
            <a:endParaRPr lang="en-US" sz="3000" spc="-409" dirty="0">
              <a:solidFill>
                <a:srgbClr val="135DAB"/>
              </a:solidFill>
              <a:latin typeface="Verdana" panose="020B0604030504040204" pitchFamily="34" charset="0"/>
              <a:ea typeface="Verdana" panose="020B0604030504040204" pitchFamily="34" charset="0"/>
              <a:cs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25937-9839-AA3F-B022-4C2E91C36DDA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44E8A-4BF4-1D2A-D01D-5F1C1468D34D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ED212-FA2B-1A8B-9020-D4B88A04E308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09EB557-EBDE-4621-83E0-D94614439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370240"/>
              </p:ext>
            </p:extLst>
          </p:nvPr>
        </p:nvGraphicFramePr>
        <p:xfrm>
          <a:off x="678122" y="1612670"/>
          <a:ext cx="10623666" cy="4231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825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F8C4-B62E-45C7-80C0-DFE7F58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719" y="167885"/>
            <a:ext cx="9800139" cy="728586"/>
          </a:xfrm>
        </p:spPr>
        <p:txBody>
          <a:bodyPr/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New Kigali International Airport Financing Schedule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4819EB-E80B-4187-ABBB-A7C9EE725E92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3C67B3-9E22-4F8B-85EA-B2AD50606AE9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F4D034-90EC-4B1B-8C33-AF472FB5DC37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368E7-6FFA-4986-AEDD-74374D887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4" y="1207586"/>
            <a:ext cx="11244560" cy="3737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4DC58-E1FA-4248-BEB2-FD396E50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2" y="5364316"/>
            <a:ext cx="11244561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2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3DA194CD-DE32-A41C-1BE7-EFBA39B6160A}"/>
              </a:ext>
            </a:extLst>
          </p:cNvPr>
          <p:cNvSpPr txBox="1">
            <a:spLocks/>
          </p:cNvSpPr>
          <p:nvPr/>
        </p:nvSpPr>
        <p:spPr bwMode="auto">
          <a:xfrm>
            <a:off x="11684500" y="6693094"/>
            <a:ext cx="394574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604835C-9472-4241-BCDA-E5ACDC3F3B41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A20FE-644E-6740-D710-ADF27FC2D5F5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5B723-762D-87EB-C97A-05364D90A776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EFB96-C17C-D26B-F8BD-6B85FB1A548E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EFDD1-CD44-738F-FF3C-3AD3176FA57F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BF8C8-B365-F78D-9A05-D898B3A8E76D}"/>
              </a:ext>
            </a:extLst>
          </p:cNvPr>
          <p:cNvSpPr txBox="1"/>
          <p:nvPr/>
        </p:nvSpPr>
        <p:spPr>
          <a:xfrm>
            <a:off x="3497461" y="2843952"/>
            <a:ext cx="4062984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blipFill dpi="0" rotWithShape="1">
                  <a:blip r:embed="rId2">
                    <a:extLst>
                      <a:ext uri="{837473B0-CC2E-450A-ABE3-18F120FF3D39}">
                        <a1611:picAttrSrcUrl xmlns:a1611="http://schemas.microsoft.com/office/drawing/2016/11/main" r:id="rId3"/>
                      </a:ext>
                    </a:extLst>
                  </a:blip>
                  <a:srcRect/>
                  <a:stretch>
                    <a:fillRect/>
                  </a:stretch>
                </a:blipFill>
                <a:effectLst/>
                <a:uLnTx/>
                <a:uFillTx/>
                <a:latin typeface="Arial"/>
                <a:cs typeface="Arial"/>
                <a:sym typeface="Arial"/>
              </a:rPr>
              <a:t>MURAKOZE</a:t>
            </a:r>
          </a:p>
        </p:txBody>
      </p:sp>
    </p:spTree>
    <p:extLst>
      <p:ext uri="{BB962C8B-B14F-4D97-AF65-F5344CB8AC3E}">
        <p14:creationId xmlns:p14="http://schemas.microsoft.com/office/powerpoint/2010/main" val="68229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Custom 3">
      <a:dk1>
        <a:srgbClr val="0B000C"/>
      </a:dk1>
      <a:lt1>
        <a:srgbClr val="FFFFFF"/>
      </a:lt1>
      <a:dk2>
        <a:srgbClr val="54156B"/>
      </a:dk2>
      <a:lt2>
        <a:srgbClr val="EAE9E5"/>
      </a:lt2>
      <a:accent1>
        <a:srgbClr val="F1B434"/>
      </a:accent1>
      <a:accent2>
        <a:srgbClr val="0097A9"/>
      </a:accent2>
      <a:accent3>
        <a:srgbClr val="9D9DA0"/>
      </a:accent3>
      <a:accent4>
        <a:srgbClr val="8064A2"/>
      </a:accent4>
      <a:accent5>
        <a:srgbClr val="6FC3D4"/>
      </a:accent5>
      <a:accent6>
        <a:srgbClr val="375FA0"/>
      </a:accent6>
      <a:hlink>
        <a:srgbClr val="DE9E40"/>
      </a:hlink>
      <a:folHlink>
        <a:srgbClr val="65A7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15411</TotalTime>
  <Words>595</Words>
  <Application>Microsoft Office PowerPoint</Application>
  <PresentationFormat>Widescreen</PresentationFormat>
  <Paragraphs>58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Abadi</vt:lpstr>
      <vt:lpstr>Arial</vt:lpstr>
      <vt:lpstr>Bahnschrift</vt:lpstr>
      <vt:lpstr>Bookman Old Style</vt:lpstr>
      <vt:lpstr>Calibri</vt:lpstr>
      <vt:lpstr>Cambria</vt:lpstr>
      <vt:lpstr>Merriweather Sans</vt:lpstr>
      <vt:lpstr>Times New Roman</vt:lpstr>
      <vt:lpstr>Trebuchet MS</vt:lpstr>
      <vt:lpstr>Verdana</vt:lpstr>
      <vt:lpstr>Wingdings</vt:lpstr>
      <vt:lpstr>1_Office Theme</vt:lpstr>
      <vt:lpstr>2_Office Theme</vt:lpstr>
      <vt:lpstr>3_Office Theme</vt:lpstr>
      <vt:lpstr>Worksheet</vt:lpstr>
      <vt:lpstr>PowerPoint Presentation</vt:lpstr>
      <vt:lpstr> Debt Developments.</vt:lpstr>
      <vt:lpstr>SOEs Path in Fiscal Consolidation</vt:lpstr>
      <vt:lpstr>Debt Sustainability Indicators As of December 2024</vt:lpstr>
      <vt:lpstr>Sensitivity Analysis-Cost and Risks</vt:lpstr>
      <vt:lpstr> Rwanda’s debt maturity profile (PPG  FY).</vt:lpstr>
      <vt:lpstr>Borrowing Plan.</vt:lpstr>
      <vt:lpstr>External funding received so far  Against October Review 2025 projections for full  FY25/26</vt:lpstr>
      <vt:lpstr>New Kigali International Airport Financing Schedule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Plan Comments</dc:title>
  <dc:creator>Tabaro Didier;Evariste Karenzo</dc:creator>
  <cp:lastModifiedBy>Bienvenu NDAYAMBAJE</cp:lastModifiedBy>
  <cp:revision>679</cp:revision>
  <dcterms:modified xsi:type="dcterms:W3CDTF">2026-02-17T15:56:33Z</dcterms:modified>
</cp:coreProperties>
</file>