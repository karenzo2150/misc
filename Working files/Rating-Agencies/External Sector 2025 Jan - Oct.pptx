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660" r:id="rId5"/>
  </p:sldMasterIdLst>
  <p:notesMasterIdLst>
    <p:notesMasterId r:id="rId15"/>
  </p:notesMasterIdLst>
  <p:sldIdLst>
    <p:sldId id="256" r:id="rId6"/>
    <p:sldId id="4833" r:id="rId7"/>
    <p:sldId id="4843" r:id="rId8"/>
    <p:sldId id="4842" r:id="rId9"/>
    <p:sldId id="4841" r:id="rId10"/>
    <p:sldId id="4838" r:id="rId11"/>
    <p:sldId id="4844" r:id="rId12"/>
    <p:sldId id="4840" r:id="rId13"/>
    <p:sldId id="4774" r:id="rId14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C4B474-1D16-4FF0-7976-8E73C69DCDD8}" name="Faustin  Maniraguha" initials="FM" userId="S::fmaniraguha@bnr.rw::85059ea0-a9ee-43ea-b732-f7296b3dfb1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18"/>
    <a:srgbClr val="FCF7EA"/>
    <a:srgbClr val="AB892C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1D1FA-AE5D-4BC0-8FB5-F2DD76CAE0D6}" v="27" dt="2026-02-17T10:31:43.6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6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babazi Jovia" userId="bc33df06-1bb7-411f-a6cb-1d7fcbe04afb" providerId="ADAL" clId="{7A170AFF-C380-49ED-A878-D1062E0BF6B9}"/>
    <pc:docChg chg="undo custSel addSld delSld modSld">
      <pc:chgData name="Mbabazi Jovia" userId="bc33df06-1bb7-411f-a6cb-1d7fcbe04afb" providerId="ADAL" clId="{7A170AFF-C380-49ED-A878-D1062E0BF6B9}" dt="2026-02-17T10:32:53.324" v="529" actId="20577"/>
      <pc:docMkLst>
        <pc:docMk/>
      </pc:docMkLst>
      <pc:sldChg chg="del">
        <pc:chgData name="Mbabazi Jovia" userId="bc33df06-1bb7-411f-a6cb-1d7fcbe04afb" providerId="ADAL" clId="{7A170AFF-C380-49ED-A878-D1062E0BF6B9}" dt="2026-02-16T12:36:56.639" v="34" actId="47"/>
        <pc:sldMkLst>
          <pc:docMk/>
          <pc:sldMk cId="0" sldId="4710"/>
        </pc:sldMkLst>
      </pc:sldChg>
      <pc:sldChg chg="modSp mod">
        <pc:chgData name="Mbabazi Jovia" userId="bc33df06-1bb7-411f-a6cb-1d7fcbe04afb" providerId="ADAL" clId="{7A170AFF-C380-49ED-A878-D1062E0BF6B9}" dt="2026-02-16T13:19:22.384" v="262" actId="6549"/>
        <pc:sldMkLst>
          <pc:docMk/>
          <pc:sldMk cId="3081580534" sldId="4833"/>
        </pc:sldMkLst>
        <pc:spChg chg="mod">
          <ac:chgData name="Mbabazi Jovia" userId="bc33df06-1bb7-411f-a6cb-1d7fcbe04afb" providerId="ADAL" clId="{7A170AFF-C380-49ED-A878-D1062E0BF6B9}" dt="2026-02-16T13:19:22.384" v="262" actId="6549"/>
          <ac:spMkLst>
            <pc:docMk/>
            <pc:sldMk cId="3081580534" sldId="4833"/>
            <ac:spMk id="3" creationId="{FDA25EF5-9525-81BB-6DF7-12FDF2BFB651}"/>
          </ac:spMkLst>
        </pc:spChg>
      </pc:sldChg>
      <pc:sldChg chg="del">
        <pc:chgData name="Mbabazi Jovia" userId="bc33df06-1bb7-411f-a6cb-1d7fcbe04afb" providerId="ADAL" clId="{7A170AFF-C380-49ED-A878-D1062E0BF6B9}" dt="2026-02-16T12:36:53.076" v="33" actId="47"/>
        <pc:sldMkLst>
          <pc:docMk/>
          <pc:sldMk cId="1086763423" sldId="4836"/>
        </pc:sldMkLst>
      </pc:sldChg>
      <pc:sldChg chg="del mod">
        <pc:chgData name="Mbabazi Jovia" userId="bc33df06-1bb7-411f-a6cb-1d7fcbe04afb" providerId="ADAL" clId="{7A170AFF-C380-49ED-A878-D1062E0BF6B9}" dt="2026-02-16T13:13:17.272" v="260" actId="2696"/>
        <pc:sldMkLst>
          <pc:docMk/>
          <pc:sldMk cId="3816007225" sldId="4839"/>
        </pc:sldMkLst>
      </pc:sldChg>
      <pc:sldChg chg="modSp mod">
        <pc:chgData name="Mbabazi Jovia" userId="bc33df06-1bb7-411f-a6cb-1d7fcbe04afb" providerId="ADAL" clId="{7A170AFF-C380-49ED-A878-D1062E0BF6B9}" dt="2026-02-16T13:02:52.769" v="259" actId="20577"/>
        <pc:sldMkLst>
          <pc:docMk/>
          <pc:sldMk cId="3931826003" sldId="4840"/>
        </pc:sldMkLst>
        <pc:spChg chg="mod">
          <ac:chgData name="Mbabazi Jovia" userId="bc33df06-1bb7-411f-a6cb-1d7fcbe04afb" providerId="ADAL" clId="{7A170AFF-C380-49ED-A878-D1062E0BF6B9}" dt="2026-02-16T13:00:12.916" v="159" actId="20577"/>
          <ac:spMkLst>
            <pc:docMk/>
            <pc:sldMk cId="3931826003" sldId="4840"/>
            <ac:spMk id="5" creationId="{C88C82A4-87F6-EBE1-E30E-5DF6033B0D8D}"/>
          </ac:spMkLst>
        </pc:spChg>
        <pc:spChg chg="mod">
          <ac:chgData name="Mbabazi Jovia" userId="bc33df06-1bb7-411f-a6cb-1d7fcbe04afb" providerId="ADAL" clId="{7A170AFF-C380-49ED-A878-D1062E0BF6B9}" dt="2026-02-16T13:02:52.769" v="259" actId="20577"/>
          <ac:spMkLst>
            <pc:docMk/>
            <pc:sldMk cId="3931826003" sldId="4840"/>
            <ac:spMk id="6" creationId="{671F1DBA-9DA9-D33D-4BA8-276A3E062C09}"/>
          </ac:spMkLst>
        </pc:spChg>
      </pc:sldChg>
      <pc:sldChg chg="modSp mod">
        <pc:chgData name="Mbabazi Jovia" userId="bc33df06-1bb7-411f-a6cb-1d7fcbe04afb" providerId="ADAL" clId="{7A170AFF-C380-49ED-A878-D1062E0BF6B9}" dt="2026-02-16T14:16:27.857" v="493" actId="20577"/>
        <pc:sldMkLst>
          <pc:docMk/>
          <pc:sldMk cId="3381496842" sldId="4841"/>
        </pc:sldMkLst>
        <pc:graphicFrameChg chg="modGraphic">
          <ac:chgData name="Mbabazi Jovia" userId="bc33df06-1bb7-411f-a6cb-1d7fcbe04afb" providerId="ADAL" clId="{7A170AFF-C380-49ED-A878-D1062E0BF6B9}" dt="2026-02-16T14:16:27.857" v="493" actId="20577"/>
          <ac:graphicFrameMkLst>
            <pc:docMk/>
            <pc:sldMk cId="3381496842" sldId="4841"/>
            <ac:graphicFrameMk id="6" creationId="{44BFCE50-A03A-3CF9-184E-DC06997AA868}"/>
          </ac:graphicFrameMkLst>
        </pc:graphicFrameChg>
      </pc:sldChg>
      <pc:sldChg chg="modSp add mod">
        <pc:chgData name="Mbabazi Jovia" userId="bc33df06-1bb7-411f-a6cb-1d7fcbe04afb" providerId="ADAL" clId="{7A170AFF-C380-49ED-A878-D1062E0BF6B9}" dt="2026-02-17T10:32:13.612" v="512" actId="1076"/>
        <pc:sldMkLst>
          <pc:docMk/>
          <pc:sldMk cId="0" sldId="4842"/>
        </pc:sldMkLst>
        <pc:spChg chg="mod">
          <ac:chgData name="Mbabazi Jovia" userId="bc33df06-1bb7-411f-a6cb-1d7fcbe04afb" providerId="ADAL" clId="{7A170AFF-C380-49ED-A878-D1062E0BF6B9}" dt="2026-02-17T10:31:24.244" v="503" actId="1076"/>
          <ac:spMkLst>
            <pc:docMk/>
            <pc:sldMk cId="0" sldId="4842"/>
            <ac:spMk id="3" creationId="{00000000-0000-0000-0000-000000000000}"/>
          </ac:spMkLst>
        </pc:spChg>
        <pc:spChg chg="mod">
          <ac:chgData name="Mbabazi Jovia" userId="bc33df06-1bb7-411f-a6cb-1d7fcbe04afb" providerId="ADAL" clId="{7A170AFF-C380-49ED-A878-D1062E0BF6B9}" dt="2026-02-17T10:30:37.095" v="494" actId="255"/>
          <ac:spMkLst>
            <pc:docMk/>
            <pc:sldMk cId="0" sldId="4842"/>
            <ac:spMk id="4" creationId="{00000000-0000-0000-0000-000000000000}"/>
          </ac:spMkLst>
        </pc:spChg>
        <pc:spChg chg="mod">
          <ac:chgData name="Mbabazi Jovia" userId="bc33df06-1bb7-411f-a6cb-1d7fcbe04afb" providerId="ADAL" clId="{7A170AFF-C380-49ED-A878-D1062E0BF6B9}" dt="2026-02-17T10:31:31.373" v="504" actId="1076"/>
          <ac:spMkLst>
            <pc:docMk/>
            <pc:sldMk cId="0" sldId="4842"/>
            <ac:spMk id="9" creationId="{CB50D772-1919-92B6-758A-D9DBADD6F85A}"/>
          </ac:spMkLst>
        </pc:spChg>
        <pc:spChg chg="mod">
          <ac:chgData name="Mbabazi Jovia" userId="bc33df06-1bb7-411f-a6cb-1d7fcbe04afb" providerId="ADAL" clId="{7A170AFF-C380-49ED-A878-D1062E0BF6B9}" dt="2026-02-17T10:32:07.536" v="511" actId="1076"/>
          <ac:spMkLst>
            <pc:docMk/>
            <pc:sldMk cId="0" sldId="4842"/>
            <ac:spMk id="13" creationId="{98250DB2-365C-E34E-E077-FEC7AD941DFD}"/>
          </ac:spMkLst>
        </pc:spChg>
        <pc:spChg chg="mod">
          <ac:chgData name="Mbabazi Jovia" userId="bc33df06-1bb7-411f-a6cb-1d7fcbe04afb" providerId="ADAL" clId="{7A170AFF-C380-49ED-A878-D1062E0BF6B9}" dt="2026-02-17T10:32:13.612" v="512" actId="1076"/>
          <ac:spMkLst>
            <pc:docMk/>
            <pc:sldMk cId="0" sldId="4842"/>
            <ac:spMk id="14" creationId="{01109FA4-7624-C0A0-21FA-1F33DAA006F8}"/>
          </ac:spMkLst>
        </pc:spChg>
        <pc:graphicFrameChg chg="mod">
          <ac:chgData name="Mbabazi Jovia" userId="bc33df06-1bb7-411f-a6cb-1d7fcbe04afb" providerId="ADAL" clId="{7A170AFF-C380-49ED-A878-D1062E0BF6B9}" dt="2026-02-17T10:31:38.611" v="506" actId="1076"/>
          <ac:graphicFrameMkLst>
            <pc:docMk/>
            <pc:sldMk cId="0" sldId="4842"/>
            <ac:graphicFrameMk id="6" creationId="{00000000-0008-0000-0500-000004000000}"/>
          </ac:graphicFrameMkLst>
        </pc:graphicFrameChg>
        <pc:graphicFrameChg chg="mod">
          <ac:chgData name="Mbabazi Jovia" userId="bc33df06-1bb7-411f-a6cb-1d7fcbe04afb" providerId="ADAL" clId="{7A170AFF-C380-49ED-A878-D1062E0BF6B9}" dt="2026-02-17T10:31:50.480" v="509" actId="1076"/>
          <ac:graphicFrameMkLst>
            <pc:docMk/>
            <pc:sldMk cId="0" sldId="4842"/>
            <ac:graphicFrameMk id="7" creationId="{00000000-0008-0000-0500-000006000000}"/>
          </ac:graphicFrameMkLst>
        </pc:graphicFrameChg>
      </pc:sldChg>
      <pc:sldChg chg="modSp add mod">
        <pc:chgData name="Mbabazi Jovia" userId="bc33df06-1bb7-411f-a6cb-1d7fcbe04afb" providerId="ADAL" clId="{7A170AFF-C380-49ED-A878-D1062E0BF6B9}" dt="2026-02-17T10:32:53.324" v="529" actId="20577"/>
        <pc:sldMkLst>
          <pc:docMk/>
          <pc:sldMk cId="670031675" sldId="4843"/>
        </pc:sldMkLst>
        <pc:spChg chg="mod">
          <ac:chgData name="Mbabazi Jovia" userId="bc33df06-1bb7-411f-a6cb-1d7fcbe04afb" providerId="ADAL" clId="{7A170AFF-C380-49ED-A878-D1062E0BF6B9}" dt="2026-02-16T14:14:48.904" v="489" actId="20577"/>
          <ac:spMkLst>
            <pc:docMk/>
            <pc:sldMk cId="670031675" sldId="4843"/>
            <ac:spMk id="2" creationId="{AB5FAC4B-9375-20D5-9CFE-992B19A5441E}"/>
          </ac:spMkLst>
        </pc:spChg>
        <pc:spChg chg="mod">
          <ac:chgData name="Mbabazi Jovia" userId="bc33df06-1bb7-411f-a6cb-1d7fcbe04afb" providerId="ADAL" clId="{7A170AFF-C380-49ED-A878-D1062E0BF6B9}" dt="2026-02-17T10:32:47.349" v="528" actId="20577"/>
          <ac:spMkLst>
            <pc:docMk/>
            <pc:sldMk cId="670031675" sldId="4843"/>
            <ac:spMk id="5" creationId="{2A8E3F2F-47D5-8A22-2BD9-DF3D7652B1FC}"/>
          </ac:spMkLst>
        </pc:spChg>
        <pc:spChg chg="mod">
          <ac:chgData name="Mbabazi Jovia" userId="bc33df06-1bb7-411f-a6cb-1d7fcbe04afb" providerId="ADAL" clId="{7A170AFF-C380-49ED-A878-D1062E0BF6B9}" dt="2026-02-17T10:32:53.324" v="529" actId="20577"/>
          <ac:spMkLst>
            <pc:docMk/>
            <pc:sldMk cId="670031675" sldId="4843"/>
            <ac:spMk id="8" creationId="{6BB119D1-7C4A-4913-C8E4-88BCFCAF9895}"/>
          </ac:spMkLst>
        </pc:spChg>
        <pc:spChg chg="mod">
          <ac:chgData name="Mbabazi Jovia" userId="bc33df06-1bb7-411f-a6cb-1d7fcbe04afb" providerId="ADAL" clId="{7A170AFF-C380-49ED-A878-D1062E0BF6B9}" dt="2026-02-16T14:12:03.320" v="472" actId="1076"/>
          <ac:spMkLst>
            <pc:docMk/>
            <pc:sldMk cId="670031675" sldId="4843"/>
            <ac:spMk id="12" creationId="{B77B6CAA-01A3-83B5-2F79-030FCCE13B7A}"/>
          </ac:spMkLst>
        </pc:spChg>
        <pc:spChg chg="mod">
          <ac:chgData name="Mbabazi Jovia" userId="bc33df06-1bb7-411f-a6cb-1d7fcbe04afb" providerId="ADAL" clId="{7A170AFF-C380-49ED-A878-D1062E0BF6B9}" dt="2026-02-16T14:12:15.201" v="474" actId="1076"/>
          <ac:spMkLst>
            <pc:docMk/>
            <pc:sldMk cId="670031675" sldId="4843"/>
            <ac:spMk id="14" creationId="{6F27AC47-011E-71E1-DB96-18C4184CCDD5}"/>
          </ac:spMkLst>
        </pc:spChg>
        <pc:spChg chg="mod">
          <ac:chgData name="Mbabazi Jovia" userId="bc33df06-1bb7-411f-a6cb-1d7fcbe04afb" providerId="ADAL" clId="{7A170AFF-C380-49ED-A878-D1062E0BF6B9}" dt="2026-02-16T14:12:33.684" v="477" actId="1076"/>
          <ac:spMkLst>
            <pc:docMk/>
            <pc:sldMk cId="670031675" sldId="4843"/>
            <ac:spMk id="15" creationId="{E0AE4704-A23C-9E01-791E-F9EFDBF04CE8}"/>
          </ac:spMkLst>
        </pc:spChg>
        <pc:spChg chg="mod">
          <ac:chgData name="Mbabazi Jovia" userId="bc33df06-1bb7-411f-a6cb-1d7fcbe04afb" providerId="ADAL" clId="{7A170AFF-C380-49ED-A878-D1062E0BF6B9}" dt="2026-02-16T14:12:38.001" v="478" actId="1076"/>
          <ac:spMkLst>
            <pc:docMk/>
            <pc:sldMk cId="670031675" sldId="4843"/>
            <ac:spMk id="16" creationId="{02B66209-974E-BBA8-6CEF-9C22FBC1BF56}"/>
          </ac:spMkLst>
        </pc:spChg>
        <pc:graphicFrameChg chg="mod">
          <ac:chgData name="Mbabazi Jovia" userId="bc33df06-1bb7-411f-a6cb-1d7fcbe04afb" providerId="ADAL" clId="{7A170AFF-C380-49ED-A878-D1062E0BF6B9}" dt="2026-02-16T14:12:08.116" v="473" actId="1076"/>
          <ac:graphicFrameMkLst>
            <pc:docMk/>
            <pc:sldMk cId="670031675" sldId="4843"/>
            <ac:graphicFrameMk id="4" creationId="{00000000-0008-0000-0500-000002000000}"/>
          </ac:graphicFrameMkLst>
        </pc:graphicFrameChg>
        <pc:graphicFrameChg chg="mod">
          <ac:chgData name="Mbabazi Jovia" userId="bc33df06-1bb7-411f-a6cb-1d7fcbe04afb" providerId="ADAL" clId="{7A170AFF-C380-49ED-A878-D1062E0BF6B9}" dt="2026-02-16T14:12:20.300" v="475" actId="1076"/>
          <ac:graphicFrameMkLst>
            <pc:docMk/>
            <pc:sldMk cId="670031675" sldId="4843"/>
            <ac:graphicFrameMk id="6" creationId="{00000000-0008-0000-0500-000003000000}"/>
          </ac:graphicFrameMkLst>
        </pc:graphicFrameChg>
      </pc:sldChg>
      <pc:sldChg chg="addSp delSp modSp new mod">
        <pc:chgData name="Mbabazi Jovia" userId="bc33df06-1bb7-411f-a6cb-1d7fcbe04afb" providerId="ADAL" clId="{7A170AFF-C380-49ED-A878-D1062E0BF6B9}" dt="2026-02-16T14:11:14.439" v="469" actId="20577"/>
        <pc:sldMkLst>
          <pc:docMk/>
          <pc:sldMk cId="1018698004" sldId="4844"/>
        </pc:sldMkLst>
        <pc:spChg chg="mod">
          <ac:chgData name="Mbabazi Jovia" userId="bc33df06-1bb7-411f-a6cb-1d7fcbe04afb" providerId="ADAL" clId="{7A170AFF-C380-49ED-A878-D1062E0BF6B9}" dt="2026-02-16T13:48:39.627" v="282"/>
          <ac:spMkLst>
            <pc:docMk/>
            <pc:sldMk cId="1018698004" sldId="4844"/>
            <ac:spMk id="2" creationId="{F4040491-3F61-109E-786A-056EE82CBC9E}"/>
          </ac:spMkLst>
        </pc:spChg>
        <pc:spChg chg="del">
          <ac:chgData name="Mbabazi Jovia" userId="bc33df06-1bb7-411f-a6cb-1d7fcbe04afb" providerId="ADAL" clId="{7A170AFF-C380-49ED-A878-D1062E0BF6B9}" dt="2026-02-16T13:46:10.234" v="265"/>
          <ac:spMkLst>
            <pc:docMk/>
            <pc:sldMk cId="1018698004" sldId="4844"/>
            <ac:spMk id="3" creationId="{9AD8952A-8416-78E7-09C2-39639F7E44C4}"/>
          </ac:spMkLst>
        </pc:spChg>
        <pc:spChg chg="del mod">
          <ac:chgData name="Mbabazi Jovia" userId="bc33df06-1bb7-411f-a6cb-1d7fcbe04afb" providerId="ADAL" clId="{7A170AFF-C380-49ED-A878-D1062E0BF6B9}" dt="2026-02-16T13:46:48.511" v="270"/>
          <ac:spMkLst>
            <pc:docMk/>
            <pc:sldMk cId="1018698004" sldId="4844"/>
            <ac:spMk id="4" creationId="{8B92128E-0A50-AA57-A3A5-ED17EB875EA8}"/>
          </ac:spMkLst>
        </pc:spChg>
        <pc:spChg chg="add del mod">
          <ac:chgData name="Mbabazi Jovia" userId="bc33df06-1bb7-411f-a6cb-1d7fcbe04afb" providerId="ADAL" clId="{7A170AFF-C380-49ED-A878-D1062E0BF6B9}" dt="2026-02-16T13:47:17.877" v="274" actId="478"/>
          <ac:spMkLst>
            <pc:docMk/>
            <pc:sldMk cId="1018698004" sldId="4844"/>
            <ac:spMk id="8" creationId="{0AF624C1-7328-F0D9-B613-C7EE4D15EA0E}"/>
          </ac:spMkLst>
        </pc:spChg>
        <pc:spChg chg="add del mod">
          <ac:chgData name="Mbabazi Jovia" userId="bc33df06-1bb7-411f-a6cb-1d7fcbe04afb" providerId="ADAL" clId="{7A170AFF-C380-49ED-A878-D1062E0BF6B9}" dt="2026-02-16T14:11:14.439" v="469" actId="20577"/>
          <ac:spMkLst>
            <pc:docMk/>
            <pc:sldMk cId="1018698004" sldId="4844"/>
            <ac:spMk id="10" creationId="{8F803275-4109-E5E3-8A82-3FCAC7E8E738}"/>
          </ac:spMkLst>
        </pc:spChg>
        <pc:spChg chg="add del mod">
          <ac:chgData name="Mbabazi Jovia" userId="bc33df06-1bb7-411f-a6cb-1d7fcbe04afb" providerId="ADAL" clId="{7A170AFF-C380-49ED-A878-D1062E0BF6B9}" dt="2026-02-16T14:02:17.878" v="366" actId="478"/>
          <ac:spMkLst>
            <pc:docMk/>
            <pc:sldMk cId="1018698004" sldId="4844"/>
            <ac:spMk id="13" creationId="{E15DD96E-5E46-5A79-D48D-D21590D66A9B}"/>
          </ac:spMkLst>
        </pc:spChg>
        <pc:graphicFrameChg chg="add del mod">
          <ac:chgData name="Mbabazi Jovia" userId="bc33df06-1bb7-411f-a6cb-1d7fcbe04afb" providerId="ADAL" clId="{7A170AFF-C380-49ED-A878-D1062E0BF6B9}" dt="2026-02-16T14:01:30.173" v="360" actId="478"/>
          <ac:graphicFrameMkLst>
            <pc:docMk/>
            <pc:sldMk cId="1018698004" sldId="4844"/>
            <ac:graphicFrameMk id="5" creationId="{669141E5-70E6-709C-010A-1A414076F8B1}"/>
          </ac:graphicFrameMkLst>
        </pc:graphicFrameChg>
        <pc:graphicFrameChg chg="add del mod">
          <ac:chgData name="Mbabazi Jovia" userId="bc33df06-1bb7-411f-a6cb-1d7fcbe04afb" providerId="ADAL" clId="{7A170AFF-C380-49ED-A878-D1062E0BF6B9}" dt="2026-02-16T13:46:50.075" v="271" actId="478"/>
          <ac:graphicFrameMkLst>
            <pc:docMk/>
            <pc:sldMk cId="1018698004" sldId="4844"/>
            <ac:graphicFrameMk id="6" creationId="{8FFB7CF0-CA5A-2368-F640-76BA95A0A5A6}"/>
          </ac:graphicFrameMkLst>
        </pc:graphicFrameChg>
        <pc:graphicFrameChg chg="add mod">
          <ac:chgData name="Mbabazi Jovia" userId="bc33df06-1bb7-411f-a6cb-1d7fcbe04afb" providerId="ADAL" clId="{7A170AFF-C380-49ED-A878-D1062E0BF6B9}" dt="2026-02-16T14:10:11.429" v="454" actId="255"/>
          <ac:graphicFrameMkLst>
            <pc:docMk/>
            <pc:sldMk cId="1018698004" sldId="4844"/>
            <ac:graphicFrameMk id="11" creationId="{669141E5-70E6-709C-010A-1A414076F8B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trwayitare_bnr_rw/Documents/Documents/data-science/Statistics/MPC/2025/2025Q4/Final/MPC%20revised%20F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bnrw-my.sharepoint.com/personal/trwayitare_bnr_rw/Documents/Documents/data-science/Statistics/MPC/2025/2025Q4/Final/MPC%20revised%20F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https://bnrw-my.sharepoint.com/personal/trwayitare_bnr_rw/Documents/Documents/data-science/Statistics/MPC/2025/2025Q4/Final/MPC%20revised%20F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https://bnrw-my.sharepoint.com/personal/trwayitare_bnr_rw/Documents/Documents/data-science/Statistics/MPC/2025/2025Q4/Final/MPC%20revised%20F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60" b="1" i="0" u="none" strike="noStrike" kern="1200" spc="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r>
              <a:rPr lang="en-US"/>
              <a:t>Quarterly exports in USD million</a:t>
            </a:r>
          </a:p>
        </c:rich>
      </c:tx>
      <c:layout>
        <c:manualLayout>
          <c:xMode val="edge"/>
          <c:yMode val="edge"/>
          <c:x val="0.23798099231359007"/>
          <c:y val="8.12118426903160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60" b="1" i="0" u="none" strike="noStrike" kern="1200" spc="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52820812052899"/>
          <c:y val="0.17171296296296301"/>
          <c:w val="0.73859203562669395"/>
          <c:h val="0.61498432487605703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Graphs!$B$3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Graphs!$C$2:$D$2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Graphs!$C$3:$D$3</c:f>
              <c:numCache>
                <c:formatCode>0.0</c:formatCode>
                <c:ptCount val="2"/>
                <c:pt idx="0">
                  <c:v>114.03972010859999</c:v>
                </c:pt>
                <c:pt idx="1">
                  <c:v>192.48945353716451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0-4C5D-9F00-620BD7D3A3F0}"/>
            </c:ext>
          </c:extLst>
        </c:ser>
        <c:ser>
          <c:idx val="1"/>
          <c:order val="1"/>
          <c:tx>
            <c:strRef>
              <c:f>Graphs!$B$4</c:f>
              <c:strCache>
                <c:ptCount val="1"/>
                <c:pt idx="0">
                  <c:v>Non-traditional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Graphs!$C$2:$D$2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Graphs!$C$4:$D$4</c:f>
              <c:numCache>
                <c:formatCode>0.0</c:formatCode>
                <c:ptCount val="2"/>
                <c:pt idx="0">
                  <c:v>119.82009804331</c:v>
                </c:pt>
                <c:pt idx="1">
                  <c:v>131.98244603455095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50-4C5D-9F00-620BD7D3A3F0}"/>
            </c:ext>
          </c:extLst>
        </c:ser>
        <c:ser>
          <c:idx val="2"/>
          <c:order val="2"/>
          <c:tx>
            <c:strRef>
              <c:f>Graphs!$B$5</c:f>
              <c:strCache>
                <c:ptCount val="1"/>
                <c:pt idx="0">
                  <c:v>Re-export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Graphs!$C$2:$D$2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Graphs!$C$5:$D$5</c:f>
              <c:numCache>
                <c:formatCode>0.0</c:formatCode>
                <c:ptCount val="2"/>
                <c:pt idx="0">
                  <c:v>176.920406109174</c:v>
                </c:pt>
                <c:pt idx="1">
                  <c:v>223.68510909543676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50-4C5D-9F00-620BD7D3A3F0}"/>
            </c:ext>
          </c:extLst>
        </c:ser>
        <c:ser>
          <c:idx val="3"/>
          <c:order val="3"/>
          <c:tx>
            <c:strRef>
              <c:f>Graphs!$B$6</c:f>
              <c:strCache>
                <c:ptCount val="1"/>
                <c:pt idx="0">
                  <c:v>ICBT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Graphs!$C$2:$D$2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Graphs!$C$6:$D$6</c:f>
              <c:numCache>
                <c:formatCode>0.0</c:formatCode>
                <c:ptCount val="2"/>
                <c:pt idx="0">
                  <c:v>46.360497008989597</c:v>
                </c:pt>
                <c:pt idx="1">
                  <c:v>45.530235907732553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50-4C5D-9F00-620BD7D3A3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65051648"/>
        <c:axId val="1265044992"/>
      </c:barChart>
      <c:catAx>
        <c:axId val="1265051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1" i="0" u="none" strike="noStrike" kern="120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265044992"/>
        <c:crosses val="autoZero"/>
        <c:auto val="1"/>
        <c:lblAlgn val="ctr"/>
        <c:lblOffset val="100"/>
        <c:noMultiLvlLbl val="0"/>
      </c:catAx>
      <c:valAx>
        <c:axId val="126504499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265051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7349495001142497E-2"/>
          <c:y val="0.91182390007400604"/>
          <c:w val="0.83688933699559398"/>
          <c:h val="8.281248627861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50" b="1" i="0" u="none" strike="noStrike" kern="120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1050" b="1">
          <a:solidFill>
            <a:schemeClr val="tx1"/>
          </a:solidFill>
          <a:latin typeface="BentonSans Book" panose="02000503040000020004" pitchFamily="50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320" b="1" i="0" u="none" strike="noStrike" kern="1200" spc="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r>
              <a:rPr lang="en-US"/>
              <a:t>Jan - Sept exports in USD million</a:t>
            </a:r>
          </a:p>
        </c:rich>
      </c:tx>
      <c:layout>
        <c:manualLayout>
          <c:xMode val="edge"/>
          <c:yMode val="edge"/>
          <c:x val="0.14775511877726399"/>
          <c:y val="4.68749807763366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320" b="1" i="0" u="none" strike="noStrike" kern="1200" spc="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637884881926199"/>
          <c:y val="0.15782407407407401"/>
          <c:w val="0.77669994096071204"/>
          <c:h val="0.6288732137649459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Graphs!$B$10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Graphs!$C$9:$D$9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Graphs!$C$10:$D$10</c:f>
              <c:numCache>
                <c:formatCode>0.0</c:formatCode>
                <c:ptCount val="2"/>
                <c:pt idx="0">
                  <c:v>441.76672316639576</c:v>
                </c:pt>
                <c:pt idx="1">
                  <c:v>605.15454951535867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50-4F15-B8A9-6AC867700274}"/>
            </c:ext>
          </c:extLst>
        </c:ser>
        <c:ser>
          <c:idx val="1"/>
          <c:order val="1"/>
          <c:tx>
            <c:strRef>
              <c:f>Graphs!$B$11</c:f>
              <c:strCache>
                <c:ptCount val="1"/>
                <c:pt idx="0">
                  <c:v>Non-traditional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Graphs!$C$9:$D$9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Graphs!$C$11:$D$11</c:f>
              <c:numCache>
                <c:formatCode>0.0</c:formatCode>
                <c:ptCount val="2"/>
                <c:pt idx="0">
                  <c:v>392.52294025212979</c:v>
                </c:pt>
                <c:pt idx="1">
                  <c:v>476.72108373385004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50-4F15-B8A9-6AC867700274}"/>
            </c:ext>
          </c:extLst>
        </c:ser>
        <c:ser>
          <c:idx val="2"/>
          <c:order val="2"/>
          <c:tx>
            <c:strRef>
              <c:f>Graphs!$B$12</c:f>
              <c:strCache>
                <c:ptCount val="1"/>
                <c:pt idx="0">
                  <c:v>Re-export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Graphs!$C$9:$D$9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Graphs!$C$12:$D$12</c:f>
              <c:numCache>
                <c:formatCode>0.0</c:formatCode>
                <c:ptCount val="2"/>
                <c:pt idx="0">
                  <c:v>698.2597458950064</c:v>
                </c:pt>
                <c:pt idx="1">
                  <c:v>675.08788978739119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50-4F15-B8A9-6AC867700274}"/>
            </c:ext>
          </c:extLst>
        </c:ser>
        <c:ser>
          <c:idx val="3"/>
          <c:order val="3"/>
          <c:tx>
            <c:strRef>
              <c:f>Graphs!$B$13</c:f>
              <c:strCache>
                <c:ptCount val="1"/>
                <c:pt idx="0">
                  <c:v>ICBT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Graphs!$C$9:$D$9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Graphs!$C$13:$D$13</c:f>
              <c:numCache>
                <c:formatCode>0.0</c:formatCode>
                <c:ptCount val="2"/>
                <c:pt idx="0">
                  <c:v>159.3985412790019</c:v>
                </c:pt>
                <c:pt idx="1">
                  <c:v>173.56913563470553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50-4F15-B8A9-6AC8677002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66743200"/>
        <c:axId val="1266734880"/>
      </c:barChart>
      <c:catAx>
        <c:axId val="1266743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00" b="1" i="0" u="none" strike="noStrike" kern="120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266734880"/>
        <c:crosses val="autoZero"/>
        <c:auto val="1"/>
        <c:lblAlgn val="ctr"/>
        <c:lblOffset val="100"/>
        <c:noMultiLvlLbl val="0"/>
      </c:catAx>
      <c:valAx>
        <c:axId val="1266734880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crossAx val="1266743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00" b="1" i="0" u="none" strike="noStrike" kern="120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1100" b="1">
          <a:solidFill>
            <a:schemeClr val="tx1"/>
          </a:solidFill>
          <a:latin typeface="BentonSans Book" panose="02000503040000020004" pitchFamily="50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60" b="1" i="0" u="none" strike="noStrike" kern="1200" spc="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r>
              <a:rPr lang="en-US"/>
              <a:t>Quarterly imports in USD million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60" b="1" i="0" u="none" strike="noStrike" kern="1200" spc="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977454623612123"/>
          <c:y val="0.1263496252861509"/>
          <c:w val="0.82266101768149003"/>
          <c:h val="0.68809152772352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Graphs!$B$17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rgbClr val="ED7D31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Graphs!$C$16:$D$16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Graphs!$C$17:$D$17</c:f>
              <c:numCache>
                <c:formatCode>_(* #,##0.0_);_(* \(#,##0.0\);_(* "-"??_);_(@_)</c:formatCode>
                <c:ptCount val="2"/>
                <c:pt idx="0">
                  <c:v>346.85661128458196</c:v>
                </c:pt>
                <c:pt idx="1">
                  <c:v>418.39333283078827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7B-407C-AAEB-AFDD10A8992D}"/>
            </c:ext>
          </c:extLst>
        </c:ser>
        <c:ser>
          <c:idx val="1"/>
          <c:order val="1"/>
          <c:tx>
            <c:strRef>
              <c:f>Graphs!$B$18</c:f>
              <c:strCache>
                <c:ptCount val="1"/>
                <c:pt idx="0">
                  <c:v>Capital</c:v>
                </c:pt>
              </c:strCache>
            </c:strRef>
          </c:tx>
          <c:spPr>
            <a:solidFill>
              <a:srgbClr val="A5A5A5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Graphs!$C$16:$D$16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Graphs!$C$18:$D$18</c:f>
              <c:numCache>
                <c:formatCode>_(* #,##0.0_);_(* \(#,##0.0\);_(* "-"??_);_(@_)</c:formatCode>
                <c:ptCount val="2"/>
                <c:pt idx="0">
                  <c:v>216.00819581820929</c:v>
                </c:pt>
                <c:pt idx="1">
                  <c:v>260.63888874980142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7B-407C-AAEB-AFDD10A8992D}"/>
            </c:ext>
          </c:extLst>
        </c:ser>
        <c:ser>
          <c:idx val="2"/>
          <c:order val="2"/>
          <c:tx>
            <c:strRef>
              <c:f>Graphs!$B$19</c:f>
              <c:strCache>
                <c:ptCount val="1"/>
                <c:pt idx="0">
                  <c:v>Intermediate</c:v>
                </c:pt>
              </c:strCache>
            </c:strRef>
          </c:tx>
          <c:spPr>
            <a:solidFill>
              <a:srgbClr val="FFC000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Graphs!$C$16:$D$16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Graphs!$C$19:$D$19</c:f>
              <c:numCache>
                <c:formatCode>_(* #,##0.0_);_(* \(#,##0.0\);_(* "-"??_);_(@_)</c:formatCode>
                <c:ptCount val="2"/>
                <c:pt idx="0">
                  <c:v>283.30328992548192</c:v>
                </c:pt>
                <c:pt idx="1">
                  <c:v>324.6378388685232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7B-407C-AAEB-AFDD10A8992D}"/>
            </c:ext>
          </c:extLst>
        </c:ser>
        <c:ser>
          <c:idx val="3"/>
          <c:order val="3"/>
          <c:tx>
            <c:strRef>
              <c:f>Graphs!$B$20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FFC000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Graphs!$C$16:$D$16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Graphs!$C$20:$D$20</c:f>
              <c:numCache>
                <c:formatCode>_(* #,##0.0_);_(* \(#,##0.0\);_(* "-"??_);_(@_)</c:formatCode>
                <c:ptCount val="2"/>
                <c:pt idx="0">
                  <c:v>179.5740690197089</c:v>
                </c:pt>
                <c:pt idx="1">
                  <c:v>180.69058134824678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7B-407C-AAEB-AFDD10A8992D}"/>
            </c:ext>
          </c:extLst>
        </c:ser>
        <c:ser>
          <c:idx val="4"/>
          <c:order val="4"/>
          <c:tx>
            <c:strRef>
              <c:f>Graphs!$B$21</c:f>
              <c:strCache>
                <c:ptCount val="1"/>
                <c:pt idx="0">
                  <c:v>Import for Reexport</c:v>
                </c:pt>
              </c:strCache>
            </c:strRef>
          </c:tx>
          <c:spPr>
            <a:solidFill>
              <a:srgbClr val="ED7D31">
                <a:lumMod val="40000"/>
                <a:lumOff val="60000"/>
              </a:srgbClr>
            </a:solidFill>
            <a:ln>
              <a:solidFill>
                <a:srgbClr val="CC99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Graphs!$C$16:$D$16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Graphs!$C$21:$D$21</c:f>
              <c:numCache>
                <c:formatCode>_(* #,##0.0_);_(* \(#,##0.0\);_(* "-"??_);_(@_)</c:formatCode>
                <c:ptCount val="2"/>
                <c:pt idx="0">
                  <c:v>109.57757177398983</c:v>
                </c:pt>
                <c:pt idx="1">
                  <c:v>141.80625108918204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7B-407C-AAEB-AFDD10A8992D}"/>
            </c:ext>
          </c:extLst>
        </c:ser>
        <c:ser>
          <c:idx val="5"/>
          <c:order val="5"/>
          <c:tx>
            <c:strRef>
              <c:f>Graphs!$B$22</c:f>
              <c:strCache>
                <c:ptCount val="1"/>
                <c:pt idx="0">
                  <c:v>ICBT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92839013951358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7B-407C-AAEB-AFDD10A8992D}"/>
                </c:ext>
              </c:extLst>
            </c:dLbl>
            <c:dLbl>
              <c:idx val="1"/>
              <c:layout>
                <c:manualLayout>
                  <c:x val="2.0788657136654891E-2"/>
                  <c:y val="-4.6525632819967424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E7B-407C-AAEB-AFDD10A899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Graphs!$C$16:$D$16</c:f>
              <c:strCache>
                <c:ptCount val="2"/>
                <c:pt idx="0">
                  <c:v>2024Q4</c:v>
                </c:pt>
                <c:pt idx="1">
                  <c:v>2025Q4</c:v>
                </c:pt>
              </c:strCache>
            </c:strRef>
          </c:cat>
          <c:val>
            <c:numRef>
              <c:f>Graphs!$C$22:$D$22</c:f>
              <c:numCache>
                <c:formatCode>_(* #,##0.0_);_(* \(#,##0.0\);_(* "-"??_);_(@_)</c:formatCode>
                <c:ptCount val="2"/>
                <c:pt idx="0">
                  <c:v>2.2865731052497029</c:v>
                </c:pt>
                <c:pt idx="1">
                  <c:v>2.8427442518811237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E7B-407C-AAEB-AFDD10A899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65051648"/>
        <c:axId val="1265044992"/>
      </c:barChart>
      <c:catAx>
        <c:axId val="1265051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1" i="0" u="none" strike="noStrike" kern="120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265044992"/>
        <c:crosses val="autoZero"/>
        <c:auto val="1"/>
        <c:lblAlgn val="ctr"/>
        <c:lblOffset val="100"/>
        <c:noMultiLvlLbl val="0"/>
      </c:catAx>
      <c:valAx>
        <c:axId val="1265044992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1265051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3983114073931E-2"/>
          <c:y val="0.80920869225550496"/>
          <c:w val="0.89999981509791283"/>
          <c:h val="0.164172304426227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50" b="1" i="0" u="none" strike="noStrike" kern="120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1050" b="1">
          <a:solidFill>
            <a:schemeClr val="tx1"/>
          </a:solidFill>
          <a:latin typeface="BentonSans Book" panose="02000503040000020004" pitchFamily="50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60" b="1" i="0" u="none" strike="noStrike" kern="1200" spc="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r>
              <a:rPr lang="en-US"/>
              <a:t>Jan - Sept imports in USD million</a:t>
            </a:r>
          </a:p>
        </c:rich>
      </c:tx>
      <c:layout>
        <c:manualLayout>
          <c:xMode val="edge"/>
          <c:yMode val="edge"/>
          <c:x val="0.219565217391304"/>
          <c:y val="4.56852791878172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60" b="1" i="0" u="none" strike="noStrike" kern="1200" spc="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688111103049227"/>
          <c:y val="0.15669401353062293"/>
          <c:w val="0.84311888896950771"/>
          <c:h val="0.68809152772352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Graphs!$B$26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rgbClr val="ED7D31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Graphs!$C$25:$D$25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Graphs!$C$26:$D$26</c:f>
              <c:numCache>
                <c:formatCode>0.0</c:formatCode>
                <c:ptCount val="2"/>
                <c:pt idx="0">
                  <c:v>1287.9897811710182</c:v>
                </c:pt>
                <c:pt idx="1">
                  <c:v>1518.0186020654926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8F-4D15-BBE3-EEDB32CFF0AB}"/>
            </c:ext>
          </c:extLst>
        </c:ser>
        <c:ser>
          <c:idx val="1"/>
          <c:order val="1"/>
          <c:tx>
            <c:strRef>
              <c:f>Graphs!$B$27</c:f>
              <c:strCache>
                <c:ptCount val="1"/>
                <c:pt idx="0">
                  <c:v>Capital</c:v>
                </c:pt>
              </c:strCache>
            </c:strRef>
          </c:tx>
          <c:spPr>
            <a:solidFill>
              <a:srgbClr val="A5A5A5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Graphs!$C$25:$D$25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Graphs!$C$27:$D$27</c:f>
              <c:numCache>
                <c:formatCode>0.0</c:formatCode>
                <c:ptCount val="2"/>
                <c:pt idx="0">
                  <c:v>957.29556174401796</c:v>
                </c:pt>
                <c:pt idx="1">
                  <c:v>1030.6836221977346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8F-4D15-BBE3-EEDB32CFF0AB}"/>
            </c:ext>
          </c:extLst>
        </c:ser>
        <c:ser>
          <c:idx val="2"/>
          <c:order val="2"/>
          <c:tx>
            <c:strRef>
              <c:f>Graphs!$B$28</c:f>
              <c:strCache>
                <c:ptCount val="1"/>
                <c:pt idx="0">
                  <c:v>Intermediate</c:v>
                </c:pt>
              </c:strCache>
            </c:strRef>
          </c:tx>
          <c:spPr>
            <a:solidFill>
              <a:srgbClr val="FFC000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Graphs!$C$25:$D$25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Graphs!$C$28:$D$28</c:f>
              <c:numCache>
                <c:formatCode>0.0</c:formatCode>
                <c:ptCount val="2"/>
                <c:pt idx="0">
                  <c:v>1116.7703239986472</c:v>
                </c:pt>
                <c:pt idx="1">
                  <c:v>1197.4658096432734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8F-4D15-BBE3-EEDB32CFF0AB}"/>
            </c:ext>
          </c:extLst>
        </c:ser>
        <c:ser>
          <c:idx val="3"/>
          <c:order val="3"/>
          <c:tx>
            <c:strRef>
              <c:f>Graphs!$B$29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FFC000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Graphs!$C$25:$D$25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Graphs!$C$29:$D$29</c:f>
              <c:numCache>
                <c:formatCode>0.0</c:formatCode>
                <c:ptCount val="2"/>
                <c:pt idx="0">
                  <c:v>740.13166217804951</c:v>
                </c:pt>
                <c:pt idx="1">
                  <c:v>661.63536757551299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8F-4D15-BBE3-EEDB32CFF0AB}"/>
            </c:ext>
          </c:extLst>
        </c:ser>
        <c:ser>
          <c:idx val="4"/>
          <c:order val="4"/>
          <c:tx>
            <c:strRef>
              <c:f>Graphs!$B$30</c:f>
              <c:strCache>
                <c:ptCount val="1"/>
                <c:pt idx="0">
                  <c:v>Import for Reexport</c:v>
                </c:pt>
              </c:strCache>
            </c:strRef>
          </c:tx>
          <c:spPr>
            <a:solidFill>
              <a:srgbClr val="ED7D31">
                <a:lumMod val="40000"/>
                <a:lumOff val="6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Graphs!$C$25:$D$25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Graphs!$C$30:$D$30</c:f>
              <c:numCache>
                <c:formatCode>0.0</c:formatCode>
                <c:ptCount val="2"/>
                <c:pt idx="0">
                  <c:v>438.97106986726732</c:v>
                </c:pt>
                <c:pt idx="1">
                  <c:v>443.85188247609915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8F-4D15-BBE3-EEDB32CFF0AB}"/>
            </c:ext>
          </c:extLst>
        </c:ser>
        <c:ser>
          <c:idx val="5"/>
          <c:order val="5"/>
          <c:tx>
            <c:strRef>
              <c:f>Graphs!$B$31</c:f>
              <c:strCache>
                <c:ptCount val="1"/>
                <c:pt idx="0">
                  <c:v>ICBT</c:v>
                </c:pt>
              </c:strCache>
            </c:strRef>
          </c:tx>
          <c:spPr>
            <a:solidFill>
              <a:srgbClr val="44546A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8085030382231676E-2"/>
                  <c:y val="-5.075382387170207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627279234968525E-2"/>
                      <c:h val="6.428721970900168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B48F-4D15-BBE3-EEDB32CFF0AB}"/>
                </c:ext>
              </c:extLst>
            </c:dLbl>
            <c:dLbl>
              <c:idx val="1"/>
              <c:layout>
                <c:manualLayout>
                  <c:x val="3.5553541766927356E-2"/>
                  <c:y val="-6.9388939039072284E-1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996341853328082E-2"/>
                      <c:h val="7.7072915734144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B48F-4D15-BBE3-EEDB32CFF0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50" b="1" i="0" u="none" strike="noStrike" kern="1200" baseline="0">
                    <a:solidFill>
                      <a:schemeClr val="tx1"/>
                    </a:solidFill>
                    <a:latin typeface="BentonSans Book" panose="02000503040000020004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Graphs!$C$25:$D$25</c:f>
              <c:strCache>
                <c:ptCount val="2"/>
                <c:pt idx="0">
                  <c:v>2024 Jan-Dec</c:v>
                </c:pt>
                <c:pt idx="1">
                  <c:v>2025 Jan-Dec</c:v>
                </c:pt>
              </c:strCache>
            </c:strRef>
          </c:cat>
          <c:val>
            <c:numRef>
              <c:f>Graphs!$C$31:$D$31</c:f>
              <c:numCache>
                <c:formatCode>0.0</c:formatCode>
                <c:ptCount val="2"/>
                <c:pt idx="0">
                  <c:v>9.126019946990473</c:v>
                </c:pt>
                <c:pt idx="1">
                  <c:v>13.143253907251824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48F-4D15-BBE3-EEDB32CFF0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65051648"/>
        <c:axId val="1265044992"/>
      </c:barChart>
      <c:catAx>
        <c:axId val="1265051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1" i="0" u="none" strike="noStrike" kern="1200" baseline="0">
                <a:solidFill>
                  <a:schemeClr val="tx1"/>
                </a:solidFill>
                <a:latin typeface="BentonSans Book" panose="02000503040000020004" pitchFamily="50" charset="0"/>
                <a:ea typeface="+mn-ea"/>
                <a:cs typeface="+mn-cs"/>
              </a:defRPr>
            </a:pPr>
            <a:endParaRPr lang="en-US"/>
          </a:p>
        </c:txPr>
        <c:crossAx val="1265044992"/>
        <c:crosses val="autoZero"/>
        <c:auto val="1"/>
        <c:lblAlgn val="ctr"/>
        <c:lblOffset val="100"/>
        <c:noMultiLvlLbl val="0"/>
      </c:catAx>
      <c:valAx>
        <c:axId val="1265044992"/>
        <c:scaling>
          <c:orientation val="minMax"/>
        </c:scaling>
        <c:delete val="1"/>
        <c:axPos val="b"/>
        <c:numFmt formatCode="0.0" sourceLinked="1"/>
        <c:majorTickMark val="none"/>
        <c:minorTickMark val="none"/>
        <c:tickLblPos val="nextTo"/>
        <c:crossAx val="1265051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852116949067403E-2"/>
          <c:y val="0.79930692673568104"/>
          <c:w val="0.95316188893681719"/>
          <c:h val="0.167251224534165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50" b="1" i="0" u="none" strike="noStrike" kern="1200" baseline="0">
              <a:solidFill>
                <a:schemeClr val="tx1"/>
              </a:solidFill>
              <a:latin typeface="BentonSans Book" panose="02000503040000020004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lang="en-US" sz="1050" b="1">
          <a:solidFill>
            <a:schemeClr val="tx1"/>
          </a:solidFill>
          <a:latin typeface="BentonSans Book" panose="02000503040000020004" pitchFamily="50" charset="0"/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Sheet2!$W$22</c:f>
              <c:strCache>
                <c:ptCount val="1"/>
                <c:pt idx="0">
                  <c:v>Official reserves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Sheet2!$X$21:$AE$21</c:f>
              <c:strCache>
                <c:ptCount val="8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</c:strCache>
            </c:strRef>
          </c:cat>
          <c:val>
            <c:numRef>
              <c:f>Sheet2!$X$22:$AE$22</c:f>
              <c:numCache>
                <c:formatCode>_(* #,##0.0_);_(* \(#,##0.0\);_(* "-"??_);_(@_)</c:formatCode>
                <c:ptCount val="8"/>
                <c:pt idx="0">
                  <c:v>1547.55200536595</c:v>
                </c:pt>
                <c:pt idx="1">
                  <c:v>1921.7907673965899</c:v>
                </c:pt>
                <c:pt idx="2">
                  <c:v>1773.8510388044201</c:v>
                </c:pt>
                <c:pt idx="3">
                  <c:v>2384.27254808936</c:v>
                </c:pt>
                <c:pt idx="4">
                  <c:v>2114.2473630784398</c:v>
                </c:pt>
                <c:pt idx="5">
                  <c:v>2201.6212140533098</c:v>
                </c:pt>
                <c:pt idx="6">
                  <c:v>1981.67347367756</c:v>
                </c:pt>
                <c:pt idx="7">
                  <c:v>2091.2356960326601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3-43A6-905C-B0E53476F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99363903"/>
        <c:axId val="599367743"/>
      </c:barChart>
      <c:lineChart>
        <c:grouping val="standard"/>
        <c:varyColors val="0"/>
        <c:ser>
          <c:idx val="1"/>
          <c:order val="1"/>
          <c:tx>
            <c:strRef>
              <c:f>Sheet2!$W$23</c:f>
              <c:strCache>
                <c:ptCount val="1"/>
                <c:pt idx="0">
                  <c:v>Months of imports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Sheet2!$X$21:$AE$21</c:f>
              <c:strCache>
                <c:ptCount val="8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</c:strCache>
            </c:strRef>
          </c:cat>
          <c:val>
            <c:numRef>
              <c:f>Sheet2!$X$23:$AE$23</c:f>
              <c:numCache>
                <c:formatCode>_(* #,##0.0_);_(* \(#,##0.0\);_(* "-"??_);_(@_)</c:formatCode>
                <c:ptCount val="8"/>
                <c:pt idx="0" formatCode="0.0">
                  <c:v>3.55489888679754</c:v>
                </c:pt>
                <c:pt idx="1">
                  <c:v>4.3314999670178302</c:v>
                </c:pt>
                <c:pt idx="2">
                  <c:v>3.9513529997466299</c:v>
                </c:pt>
                <c:pt idx="3">
                  <c:v>5.1925166806124903</c:v>
                </c:pt>
                <c:pt idx="4">
                  <c:v>4.5439430742750799</c:v>
                </c:pt>
                <c:pt idx="5">
                  <c:v>4.6646568493335998</c:v>
                </c:pt>
                <c:pt idx="6">
                  <c:v>4.1710281550360602</c:v>
                </c:pt>
                <c:pt idx="7">
                  <c:v>4.2310172171335001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BE3-43A6-905C-B0E53476FDB5}"/>
            </c:ext>
          </c:extLst>
        </c:ser>
        <c:ser>
          <c:idx val="2"/>
          <c:order val="2"/>
          <c:tx>
            <c:strRef>
              <c:f>Sheet2!$W$24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F9DB79"/>
              </a:solidFill>
              <a:round/>
            </a:ln>
            <a:effectLst/>
          </c:spPr>
          <c:marker>
            <c:symbol val="none"/>
          </c:marker>
          <c:cat>
            <c:strRef>
              <c:f>Sheet2!$X$21:$AE$21</c:f>
              <c:strCache>
                <c:ptCount val="8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</c:strCache>
            </c:strRef>
          </c:cat>
          <c:val>
            <c:numRef>
              <c:f>Sheet2!$X$24:$AE$24</c:f>
              <c:numCache>
                <c:formatCode>_(* #,##0.0_);_(* \(#,##0.0\);_(* "-"??_);_(@_)</c:formatCode>
                <c:ptCount val="8"/>
                <c:pt idx="0" formatCode="0.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E3-43A6-905C-B0E53476F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0142751"/>
        <c:axId val="820143231"/>
      </c:lineChart>
      <c:catAx>
        <c:axId val="59936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9367743"/>
        <c:crosses val="autoZero"/>
        <c:auto val="1"/>
        <c:lblAlgn val="ctr"/>
        <c:lblOffset val="100"/>
        <c:noMultiLvlLbl val="0"/>
      </c:catAx>
      <c:valAx>
        <c:axId val="599367743"/>
        <c:scaling>
          <c:orientation val="minMax"/>
        </c:scaling>
        <c:delete val="0"/>
        <c:axPos val="l"/>
        <c:numFmt formatCode="_(* #,##0.0_);_(* \(#,##0.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9363903"/>
        <c:crosses val="autoZero"/>
        <c:crossBetween val="between"/>
      </c:valAx>
      <c:valAx>
        <c:axId val="820143231"/>
        <c:scaling>
          <c:orientation val="minMax"/>
        </c:scaling>
        <c:delete val="0"/>
        <c:axPos val="r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0142751"/>
        <c:crosses val="max"/>
        <c:crossBetween val="between"/>
      </c:valAx>
      <c:catAx>
        <c:axId val="82014275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820143231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F8A66-7F5D-4068-876A-74D4DDDC11C3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21310-E454-4A02-81B6-E6658021C7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1310-E454-4A02-81B6-E6658021C7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471694"/>
            <a:ext cx="4744656" cy="256957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753918"/>
                </a:solidFill>
                <a:latin typeface="BentonSans Black" panose="0200050304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200" y="4155313"/>
            <a:ext cx="3309396" cy="11603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AB892C"/>
                </a:solidFill>
                <a:latin typeface="BentonSans Medium" panose="02000603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r>
              <a:rPr lang="en-US"/>
              <a:t>Presenter’s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CE3B-4C33-0C14-342A-9A5864334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71694"/>
            <a:ext cx="4744656" cy="256957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753918"/>
                </a:solidFill>
                <a:latin typeface="BentonSans Black" panose="0200050304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354BB-A370-1616-DCB3-269FBD92649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155313"/>
            <a:ext cx="3309396" cy="11603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AB892C"/>
                </a:solidFill>
                <a:latin typeface="BentonSans Medium" panose="02000603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r>
              <a:rPr lang="en-US"/>
              <a:t>Presenter’s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FF1D4-B91A-A0F4-15A7-576E76F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C5A52-50DC-B8A4-EDEF-41E98D65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4EC86-57D3-3011-DE8A-E7E894A7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05673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EA62-0891-0EC3-E8C7-0AB1B2C95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7DE10-A54A-C9BB-783B-38F290FAE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BAD3E-1E27-2B7B-69BD-291673E1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C160D-B5EB-4C47-69CF-E74228B3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9007-1930-7AAC-3819-498FF351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06539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2935-AC7F-024B-8B97-25E948E63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19401-714F-3B08-DE68-C383430F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63C6-70E9-BEF9-83E6-88F97B7E7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CE25F-9F6E-229A-8245-BBFCD3DA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F6F5-974F-3AF8-BF36-CE8A3830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8332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25D7-0543-6D39-A4F9-C85BD1F3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05BA2-E619-2F31-94D6-17F0B5893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6D493-E8CE-5E85-C4B5-ECDCFFBDA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91CF3-D099-C797-99B1-F9902B95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A15F7-FE63-0752-0A7C-39970F7E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06C2F-174E-3A7F-0D21-ECED6612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14983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B2A1-D49F-347D-DD56-2613ED2F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3F11C-1514-9E6B-B320-967F2615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5FC15-7B5A-80FB-83EE-49F5702B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41CFB-C075-3E17-419C-5CF6483C1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76CC6-6460-1100-0BF4-19D98681E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C7363-0017-3FF5-5BFF-C9EEADEE4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582C5-1A04-4084-1DEC-1CB15EE5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E797F-7625-1EE1-0A23-DF21819B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47983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B27B-ECCA-17F7-E69B-354DF542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F8A23-39E5-421C-8E1D-E7827789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4A323-347D-D31C-3E48-EC6C1AA7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136A6-78FF-A9B5-497E-C0AC39F5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01627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4C3BF-90CD-76FB-1527-6F974C8D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7ECEA-FBCC-F20D-083D-7C96604B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FE8E1-A341-75BE-A7E6-35083B2C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06415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D69D-AA38-9184-57E4-1C5527C1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3848-9A5D-4950-043A-FAFD1C82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7E0B5-67EF-2D42-99CC-2D99394BB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F19CD-A126-091A-5E77-A0510CF5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AB7F7-3882-3BCA-E2DB-8DFF758B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4BE38-5C36-2A86-A763-D8011578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036269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905F-85AC-1F39-6730-D1E9134D4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6C751-F7AF-E32B-9582-F4AF76B97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D4A1F-75F9-96AC-F632-5AA0E7AAA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0AE44-83C4-27C4-0057-1B9F95D7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0D296-AFBB-C84F-0424-32F91947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5999A-0FA5-40A3-F62D-198E0404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674516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890A-BA7D-FDA9-8902-C251157B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E52E7-C0E3-AAA2-A751-DF9B65268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0F738-79A2-B9F3-2C70-A56DDBCB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B0A3D-A3CF-8AB1-96E8-6AB43EDE9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04B28-27A9-37DA-AB04-91239D2F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045820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E66A8-E992-D276-946B-EB0C36B94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22333-60B7-6B64-6363-6C3C173A1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E4262-7DCC-8E2E-C096-DC5F180E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D8CC2-FE15-4E4A-9D90-5FE0123D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1DB2-8F46-342F-0E30-369060D7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8654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28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  <p:sp>
        <p:nvSpPr>
          <p:cNvPr id="7" name="fc" descr="BNR RESTRICTED"/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 i="0" u="none" baseline="0">
                <a:solidFill>
                  <a:srgbClr val="000099"/>
                </a:solidFill>
                <a:latin typeface="arial" panose="020B0604020202020204" pitchFamily="34" charset="0"/>
              </a:rPr>
              <a:t>BNR RESTRICTED</a:t>
            </a:r>
          </a:p>
        </p:txBody>
      </p:sp>
      <p:sp>
        <p:nvSpPr>
          <p:cNvPr id="8" name="hc" descr=" "/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FCF7EA"/>
          </a:solidFill>
          <a:latin typeface="BentonSans Bold" panose="0200050304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DCF84-7FA1-A625-5D80-B2933BAB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8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3E0D7-86FA-CD1B-06BA-7DB4F1BAA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F6A6E-F82B-57AD-B5E1-F9D6C1D67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E17F0-91A5-E146-9508-43B043CA1ED9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7FBC2-881B-E362-DD5B-6181CC0E8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499A1-A3EB-CDD5-3C13-A47B01737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60AF8-AE41-214F-AF15-91FC868F1F26}" type="slidenum">
              <a:rPr lang="x-none" smtClean="0"/>
              <a:t>‹#›</a:t>
            </a:fld>
            <a:endParaRPr lang="x-none"/>
          </a:p>
        </p:txBody>
      </p:sp>
      <p:sp>
        <p:nvSpPr>
          <p:cNvPr id="7" name="fc" descr="BNR RESTRICTED">
            <a:extLst>
              <a:ext uri="{FF2B5EF4-FFF2-40B4-BE49-F238E27FC236}">
                <a16:creationId xmlns:a16="http://schemas.microsoft.com/office/drawing/2014/main" id="{B700849F-1BC7-F3B8-7527-63D415B0612C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1" i="0" u="none" baseline="0">
                <a:solidFill>
                  <a:srgbClr val="000099"/>
                </a:solidFill>
                <a:latin typeface="arial" panose="020B0604020202020204" pitchFamily="34" charset="0"/>
              </a:rPr>
              <a:t>BNR RESTRICTED</a:t>
            </a:r>
          </a:p>
        </p:txBody>
      </p:sp>
      <p:sp>
        <p:nvSpPr>
          <p:cNvPr id="8" name="hc" descr=" ">
            <a:extLst>
              <a:ext uri="{FF2B5EF4-FFF2-40B4-BE49-F238E27FC236}">
                <a16:creationId xmlns:a16="http://schemas.microsoft.com/office/drawing/2014/main" id="{418269FE-CEE5-CB39-7F3B-9A21766A0929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81899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FCF7EA"/>
          </a:solidFill>
          <a:latin typeface="BentonSans Bold" panose="0200050304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3918"/>
          </a:solidFill>
          <a:latin typeface="BentonSans Medium" panose="0200060303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2306" y="3224098"/>
            <a:ext cx="10058400" cy="1869881"/>
          </a:xfrm>
        </p:spPr>
        <p:txBody>
          <a:bodyPr anchor="ctr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External Sector Statistics</a:t>
            </a:r>
            <a:endParaRPr lang="x-none" sz="3200" dirty="0">
              <a:solidFill>
                <a:schemeClr val="bg1"/>
              </a:solidFill>
            </a:endParaRPr>
          </a:p>
        </p:txBody>
      </p:sp>
      <p:sp>
        <p:nvSpPr>
          <p:cNvPr id="3" name="object 10"/>
          <p:cNvSpPr txBox="1"/>
          <p:nvPr/>
        </p:nvSpPr>
        <p:spPr>
          <a:xfrm>
            <a:off x="3913349" y="2375152"/>
            <a:ext cx="4365302" cy="5078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600" spc="-25">
                <a:solidFill>
                  <a:schemeClr val="bg1"/>
                </a:solidFill>
                <a:latin typeface="BentonSans Bold" panose="02000503040000020004"/>
                <a:cs typeface="BentonSans Bold" panose="02000503040000020004"/>
              </a:rPr>
              <a:t>NATIONAL</a:t>
            </a:r>
            <a:r>
              <a:rPr sz="1600" spc="-114">
                <a:solidFill>
                  <a:schemeClr val="bg1"/>
                </a:solidFill>
                <a:latin typeface="BentonSans Bold" panose="02000503040000020004"/>
                <a:cs typeface="BentonSans Bold" panose="02000503040000020004"/>
              </a:rPr>
              <a:t> </a:t>
            </a:r>
            <a:r>
              <a:rPr sz="1600">
                <a:solidFill>
                  <a:schemeClr val="bg1"/>
                </a:solidFill>
                <a:latin typeface="BentonSans Bold" panose="02000503040000020004"/>
                <a:cs typeface="BentonSans Bold" panose="02000503040000020004"/>
              </a:rPr>
              <a:t>BANK</a:t>
            </a:r>
            <a:r>
              <a:rPr sz="1600" spc="-45">
                <a:solidFill>
                  <a:schemeClr val="bg1"/>
                </a:solidFill>
                <a:latin typeface="BentonSans Bold" panose="02000503040000020004"/>
                <a:cs typeface="BentonSans Bold" panose="02000503040000020004"/>
              </a:rPr>
              <a:t> </a:t>
            </a:r>
            <a:r>
              <a:rPr sz="1600">
                <a:solidFill>
                  <a:schemeClr val="bg1"/>
                </a:solidFill>
                <a:latin typeface="BentonSans Bold" panose="02000503040000020004"/>
                <a:cs typeface="BentonSans Bold" panose="02000503040000020004"/>
              </a:rPr>
              <a:t>OF</a:t>
            </a:r>
            <a:r>
              <a:rPr sz="1600" spc="-85">
                <a:solidFill>
                  <a:schemeClr val="bg1"/>
                </a:solidFill>
                <a:latin typeface="BentonSans Bold" panose="02000503040000020004"/>
                <a:cs typeface="BentonSans Bold" panose="02000503040000020004"/>
              </a:rPr>
              <a:t> </a:t>
            </a:r>
            <a:r>
              <a:rPr sz="1600" spc="-10">
                <a:solidFill>
                  <a:schemeClr val="bg1"/>
                </a:solidFill>
                <a:latin typeface="BentonSans Bold" panose="02000503040000020004"/>
                <a:cs typeface="BentonSans Bold" panose="02000503040000020004"/>
              </a:rPr>
              <a:t>RWANDA</a:t>
            </a:r>
            <a:endParaRPr sz="1600">
              <a:solidFill>
                <a:schemeClr val="bg1"/>
              </a:solidFill>
              <a:latin typeface="BentonSans Bold" panose="02000503040000020004"/>
              <a:cs typeface="BentonSans Bold" panose="020005030400000200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600">
                <a:solidFill>
                  <a:schemeClr val="bg1"/>
                </a:solidFill>
                <a:latin typeface="BentonSans Regular" panose="02000503040000020004" pitchFamily="2" charset="0"/>
                <a:cs typeface="BentonSans Regular" panose="02000503040000020004"/>
              </a:rPr>
              <a:t>BANKI</a:t>
            </a:r>
            <a:r>
              <a:rPr sz="1600" spc="-15">
                <a:solidFill>
                  <a:schemeClr val="bg1"/>
                </a:solidFill>
                <a:latin typeface="BentonSans Regular" panose="02000503040000020004" pitchFamily="2" charset="0"/>
                <a:cs typeface="BentonSans Regular" panose="02000503040000020004"/>
              </a:rPr>
              <a:t> </a:t>
            </a:r>
            <a:r>
              <a:rPr sz="1600" spc="-20">
                <a:solidFill>
                  <a:schemeClr val="bg1"/>
                </a:solidFill>
                <a:latin typeface="BentonSans Regular" panose="02000503040000020004" pitchFamily="2" charset="0"/>
                <a:cs typeface="BentonSans Regular" panose="02000503040000020004"/>
              </a:rPr>
              <a:t>NKURU</a:t>
            </a:r>
            <a:r>
              <a:rPr sz="1600" spc="-110">
                <a:solidFill>
                  <a:schemeClr val="bg1"/>
                </a:solidFill>
                <a:latin typeface="BentonSans Regular" panose="02000503040000020004" pitchFamily="2" charset="0"/>
                <a:cs typeface="BentonSans Regular" panose="02000503040000020004"/>
              </a:rPr>
              <a:t> </a:t>
            </a:r>
            <a:r>
              <a:rPr sz="1600">
                <a:solidFill>
                  <a:schemeClr val="bg1"/>
                </a:solidFill>
                <a:latin typeface="BentonSans Regular" panose="02000503040000020004" pitchFamily="2" charset="0"/>
                <a:cs typeface="BentonSans Regular" panose="02000503040000020004"/>
              </a:rPr>
              <a:t>Y’U</a:t>
            </a:r>
            <a:r>
              <a:rPr sz="1600" spc="-10">
                <a:solidFill>
                  <a:schemeClr val="bg1"/>
                </a:solidFill>
                <a:latin typeface="BentonSans Regular" panose="02000503040000020004" pitchFamily="2" charset="0"/>
                <a:cs typeface="BentonSans Regular" panose="02000503040000020004"/>
              </a:rPr>
              <a:t> RWANDA</a:t>
            </a:r>
            <a:endParaRPr sz="1600">
              <a:solidFill>
                <a:schemeClr val="bg1"/>
              </a:solidFill>
              <a:latin typeface="BentonSans Regular" panose="02000503040000020004" pitchFamily="2" charset="0"/>
              <a:cs typeface="BentonSans Regular" panose="020005030400000200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239" y="395980"/>
            <a:ext cx="1935523" cy="1935523"/>
          </a:xfrm>
          <a:prstGeom prst="rect">
            <a:avLst/>
          </a:prstGeom>
        </p:spPr>
      </p:pic>
      <p:sp>
        <p:nvSpPr>
          <p:cNvPr id="5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2306" y="6350924"/>
            <a:ext cx="9807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spc="-5">
                <a:solidFill>
                  <a:srgbClr val="FEF8ED"/>
                </a:solidFill>
                <a:latin typeface="Aptos" panose="020B0004020202020204" pitchFamily="34" charset="0"/>
                <a:cs typeface="BentonSans Regular" panose="02000503040000020004"/>
              </a:rPr>
              <a:t>Our Core </a:t>
            </a:r>
            <a:r>
              <a:rPr lang="en-US" sz="1600" b="1" spc="-40">
                <a:solidFill>
                  <a:srgbClr val="FEF8ED"/>
                </a:solidFill>
                <a:latin typeface="Aptos" panose="020B0004020202020204" pitchFamily="34" charset="0"/>
                <a:cs typeface="BentonSans Regular" panose="02000503040000020004"/>
              </a:rPr>
              <a:t>Values: </a:t>
            </a:r>
            <a:r>
              <a:rPr lang="en-US" sz="1600" spc="-15">
                <a:solidFill>
                  <a:srgbClr val="FEF8ED"/>
                </a:solidFill>
                <a:latin typeface="Aptos" panose="020B0004020202020204" pitchFamily="34" charset="0"/>
                <a:cs typeface="BentonSans Regular" panose="02000503040000020004"/>
              </a:rPr>
              <a:t>Integrity, </a:t>
            </a:r>
            <a:r>
              <a:rPr lang="en-US" sz="1600">
                <a:solidFill>
                  <a:srgbClr val="FEF8ED"/>
                </a:solidFill>
                <a:latin typeface="Aptos" panose="020B0004020202020204" pitchFamily="34" charset="0"/>
                <a:cs typeface="BentonSans Regular" panose="02000503040000020004"/>
              </a:rPr>
              <a:t>Collaboration and</a:t>
            </a:r>
            <a:r>
              <a:rPr lang="en-US" sz="1600" spc="-160">
                <a:solidFill>
                  <a:srgbClr val="FEF8ED"/>
                </a:solidFill>
                <a:latin typeface="Aptos" panose="020B0004020202020204" pitchFamily="34" charset="0"/>
                <a:cs typeface="BentonSans Regular" panose="02000503040000020004"/>
              </a:rPr>
              <a:t> </a:t>
            </a:r>
            <a:r>
              <a:rPr lang="en-US" sz="1600" spc="-15">
                <a:solidFill>
                  <a:srgbClr val="FEF8ED"/>
                </a:solidFill>
                <a:latin typeface="Aptos" panose="020B0004020202020204" pitchFamily="34" charset="0"/>
                <a:cs typeface="BentonSans Regular" panose="02000503040000020004"/>
              </a:rPr>
              <a:t>Excellence</a:t>
            </a:r>
            <a:endParaRPr lang="en-US" sz="1600">
              <a:latin typeface="Aptos" panose="020B0004020202020204" pitchFamily="34" charset="0"/>
              <a:cs typeface="BentonSans Regular" panose="020005030400000200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6270570"/>
            <a:ext cx="12192000" cy="0"/>
          </a:xfrm>
          <a:prstGeom prst="line">
            <a:avLst/>
          </a:prstGeom>
          <a:ln>
            <a:solidFill>
              <a:srgbClr val="FCF7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533996" y="5129938"/>
            <a:ext cx="4744655" cy="653073"/>
          </a:xfrm>
        </p:spPr>
        <p:txBody>
          <a:bodyPr>
            <a:normAutofit fontScale="85000" lnSpcReduction="20000"/>
          </a:bodyPr>
          <a:lstStyle/>
          <a:p>
            <a:pPr algn="ctr"/>
            <a:endParaRPr lang="en-US" b="1" dirty="0">
              <a:latin typeface="BentonSans Regular" panose="02000503040000020004" pitchFamily="2" charset="0"/>
            </a:endParaRPr>
          </a:p>
          <a:p>
            <a:pPr algn="ctr"/>
            <a:r>
              <a:rPr lang="en-US" b="1" dirty="0">
                <a:latin typeface="BentonSans Regular" panose="02000503040000020004" pitchFamily="2" charset="0"/>
              </a:rPr>
              <a:t>Feb 2026</a:t>
            </a:r>
            <a:endParaRPr lang="x-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62D0-F32C-1625-72A5-E5B110EE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63A6F-BF26-2207-363C-0570D8FD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5EF5-9525-81BB-6DF7-12FDF2BFB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295" y="2309247"/>
            <a:ext cx="8787539" cy="31857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BentonSans Book" panose="02000503040000020004" pitchFamily="50" charset="0"/>
              </a:rPr>
              <a:t> Trade developments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BentonSans Book" panose="02000503040000020004" pitchFamily="50" charset="0"/>
              </a:rPr>
              <a:t>CA, Capital and Financial Accounts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BentonSans Book" panose="02000503040000020004" pitchFamily="50" charset="0"/>
              </a:rPr>
              <a:t>FX Reserves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BentonSans Book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AC4B-9375-20D5-9CFE-992B19A5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67" y="276726"/>
            <a:ext cx="8444517" cy="853924"/>
          </a:xfrm>
        </p:spPr>
        <p:txBody>
          <a:bodyPr>
            <a:normAutofit/>
          </a:bodyPr>
          <a:lstStyle/>
          <a:p>
            <a:r>
              <a:rPr lang="en-US" dirty="0"/>
              <a:t>Export growth surged to 29.9% in 2025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7B6CAA-01A3-83B5-2F79-030FCCE13B7A}"/>
              </a:ext>
            </a:extLst>
          </p:cNvPr>
          <p:cNvSpPr txBox="1"/>
          <p:nvPr/>
        </p:nvSpPr>
        <p:spPr>
          <a:xfrm>
            <a:off x="463937" y="1735611"/>
            <a:ext cx="48166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dirty="0">
                <a:latin typeface="BentonSans Medium" panose="02000603030000020004" pitchFamily="50" charset="0"/>
              </a:rPr>
              <a:t>Q4 Exports:  +29.9%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7AC47-011E-71E1-DB96-18C4184CCDD5}"/>
              </a:ext>
            </a:extLst>
          </p:cNvPr>
          <p:cNvSpPr txBox="1"/>
          <p:nvPr/>
        </p:nvSpPr>
        <p:spPr>
          <a:xfrm>
            <a:off x="6596210" y="1671815"/>
            <a:ext cx="49326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dirty="0">
                <a:latin typeface="BentonSans Medium" panose="02000603030000020004" pitchFamily="50" charset="0"/>
              </a:rPr>
              <a:t>Jan – Dec: +14.1%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AE4704-A23C-9E01-791E-F9EFDBF04CE8}"/>
              </a:ext>
            </a:extLst>
          </p:cNvPr>
          <p:cNvSpPr txBox="1"/>
          <p:nvPr/>
        </p:nvSpPr>
        <p:spPr>
          <a:xfrm>
            <a:off x="414536" y="4763990"/>
            <a:ext cx="5057772" cy="1723549"/>
          </a:xfrm>
          <a:prstGeom prst="rect">
            <a:avLst/>
          </a:prstGeom>
          <a:solidFill>
            <a:srgbClr val="FCF7EA"/>
          </a:solidFill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Traditional exports: </a:t>
            </a:r>
            <a:r>
              <a:rPr lang="en-US" sz="1400" b="1" dirty="0">
                <a:latin typeface="BentonSans Regular" panose="02000503040000020004" pitchFamily="2" charset="0"/>
              </a:rPr>
              <a:t>+68.8% (</a:t>
            </a:r>
            <a:r>
              <a:rPr lang="en-US" sz="1400" dirty="0">
                <a:latin typeface="BentonSans Regular" panose="02000503040000020004" pitchFamily="2" charset="0"/>
              </a:rPr>
              <a:t>Coffee: +53.2%, Tea: +23.0%,  Minerals: +95.1%)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Non-traditional exports: </a:t>
            </a:r>
            <a:r>
              <a:rPr lang="en-US" sz="1400" b="1" dirty="0">
                <a:latin typeface="BentonSans Regular" panose="02000503040000020004" pitchFamily="2" charset="0"/>
              </a:rPr>
              <a:t>+10.2% </a:t>
            </a:r>
            <a:r>
              <a:rPr lang="en-US" sz="1400" dirty="0">
                <a:latin typeface="BentonSans Regular" panose="02000503040000020004" pitchFamily="2" charset="0"/>
              </a:rPr>
              <a:t>(mainly due to  cooking oil, wheat flour, animal feeds, and iron bars)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Re-exports: +</a:t>
            </a:r>
            <a:r>
              <a:rPr lang="en-US" sz="1400" b="1" dirty="0">
                <a:latin typeface="BentonSans Regular" panose="02000503040000020004" pitchFamily="2" charset="0"/>
              </a:rPr>
              <a:t>26.4%, </a:t>
            </a:r>
            <a:r>
              <a:rPr lang="en-US" sz="1400" dirty="0">
                <a:latin typeface="BentonSans Regular" panose="02000503040000020004" pitchFamily="2" charset="0"/>
              </a:rPr>
              <a:t>(frozen fish, rice, flavors, and cooking oil).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ICBT: </a:t>
            </a:r>
            <a:r>
              <a:rPr lang="en-US" sz="1400" b="1" dirty="0">
                <a:latin typeface="BentonSans Regular" panose="02000503040000020004" pitchFamily="2" charset="0"/>
              </a:rPr>
              <a:t>-1.8% </a:t>
            </a:r>
            <a:r>
              <a:rPr lang="en-US" sz="1400" dirty="0">
                <a:latin typeface="BentonSans Regular" panose="02000503040000020004" pitchFamily="2" charset="0"/>
              </a:rPr>
              <a:t>(cattle and alive pigs)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66209-974E-BBA8-6CEF-9C22FBC1BF56}"/>
              </a:ext>
            </a:extLst>
          </p:cNvPr>
          <p:cNvSpPr txBox="1"/>
          <p:nvPr/>
        </p:nvSpPr>
        <p:spPr>
          <a:xfrm>
            <a:off x="6571508" y="4710827"/>
            <a:ext cx="5237276" cy="1754326"/>
          </a:xfrm>
          <a:prstGeom prst="rect">
            <a:avLst/>
          </a:prstGeom>
          <a:solidFill>
            <a:srgbClr val="FCF7EA"/>
          </a:solidFill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Traditional exports</a:t>
            </a:r>
            <a:r>
              <a:rPr lang="en-US" sz="1400" b="1" dirty="0">
                <a:latin typeface="BentonSans Regular" panose="02000503040000020004" pitchFamily="2" charset="0"/>
              </a:rPr>
              <a:t>:+37.0%  (</a:t>
            </a:r>
            <a:r>
              <a:rPr lang="en-US" sz="1400" dirty="0">
                <a:latin typeface="BentonSans Regular" panose="02000503040000020004" pitchFamily="2" charset="0"/>
              </a:rPr>
              <a:t>Coffee: +56.7%, Tea: 3.7%,  Minerals: +46.2%)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Non-traditional exports: </a:t>
            </a:r>
            <a:r>
              <a:rPr lang="en-US" sz="1400" b="1" dirty="0">
                <a:latin typeface="BentonSans Regular" panose="02000503040000020004" pitchFamily="2" charset="0"/>
              </a:rPr>
              <a:t>+21.5 % </a:t>
            </a:r>
            <a:r>
              <a:rPr lang="en-US" sz="1400" dirty="0">
                <a:latin typeface="BentonSans Regular" panose="02000503040000020004" pitchFamily="2" charset="0"/>
              </a:rPr>
              <a:t>(Rise in cooking oil, cement, bars of iron, wheat flour)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Re-exports: -3.3%, </a:t>
            </a:r>
            <a:r>
              <a:rPr lang="en-US" sz="1400" dirty="0">
                <a:latin typeface="BentonSans Regular" panose="02000503040000020004" pitchFamily="2" charset="0"/>
              </a:rPr>
              <a:t>(fuel, frozen fish, rice, sugar, and cooking oil).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>
                <a:latin typeface="BentonSans Regular" panose="02000503040000020004" pitchFamily="2" charset="0"/>
              </a:rPr>
              <a:t>ICBT : +8.9% </a:t>
            </a:r>
            <a:r>
              <a:rPr lang="en-US" sz="1600" dirty="0">
                <a:latin typeface="BentonSans Regular" panose="02000503040000020004" pitchFamily="2" charset="0"/>
              </a:rPr>
              <a:t>(cattle, alive pigs and beef meat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BentonSans Regular" panose="02000503040000020004" pitchFamily="2" charset="0"/>
              </a:rPr>
              <a:t>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2150027"/>
              </p:ext>
            </p:extLst>
          </p:nvPr>
        </p:nvGraphicFramePr>
        <p:xfrm>
          <a:off x="453305" y="2179674"/>
          <a:ext cx="4816683" cy="2432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5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8606451"/>
              </p:ext>
            </p:extLst>
          </p:nvPr>
        </p:nvGraphicFramePr>
        <p:xfrm>
          <a:off x="6617474" y="2115528"/>
          <a:ext cx="4932693" cy="2390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8E3F2F-47D5-8A22-2BD9-DF3D7652B1FC}"/>
              </a:ext>
            </a:extLst>
          </p:cNvPr>
          <p:cNvSpPr txBox="1"/>
          <p:nvPr/>
        </p:nvSpPr>
        <p:spPr>
          <a:xfrm>
            <a:off x="6478782" y="1329645"/>
            <a:ext cx="4677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ntonSans Medium" panose="02000603030000020004" pitchFamily="50" charset="0"/>
              </a:rPr>
              <a:t>           Trade deficit 2.7</a:t>
            </a:r>
            <a:r>
              <a:rPr lang="en-US" sz="1800" b="0" dirty="0">
                <a:latin typeface="BentonSans Medium" panose="02000603030000020004" pitchFamily="50" charset="0"/>
              </a:rPr>
              <a:t>%</a:t>
            </a:r>
            <a:endParaRPr lang="en-US" dirty="0">
              <a:latin typeface="BentonSans Medium" panose="02000603030000020004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B119D1-7C4A-4913-C8E4-88BCFCAF9895}"/>
              </a:ext>
            </a:extLst>
          </p:cNvPr>
          <p:cNvSpPr txBox="1"/>
          <p:nvPr/>
        </p:nvSpPr>
        <p:spPr>
          <a:xfrm>
            <a:off x="404102" y="1384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BentonSans Medium" panose="02000603030000020004" pitchFamily="50" charset="0"/>
              </a:rPr>
              <a:t>      Trade </a:t>
            </a:r>
            <a:r>
              <a:rPr lang="en-US" dirty="0">
                <a:latin typeface="BentonSans Medium" panose="02000603030000020004" pitchFamily="50" charset="0"/>
              </a:rPr>
              <a:t>deficit: 8.1 </a:t>
            </a:r>
            <a:r>
              <a:rPr lang="en-US" sz="1800" b="0" dirty="0">
                <a:latin typeface="BentonSans Medium" panose="02000603030000020004" pitchFamily="50" charset="0"/>
              </a:rPr>
              <a:t>%</a:t>
            </a:r>
            <a:endParaRPr lang="en-US" dirty="0">
              <a:latin typeface="BentonSans Medium" panose="02000603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03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199" y="598570"/>
            <a:ext cx="9284855" cy="674254"/>
          </a:xfrm>
        </p:spPr>
        <p:txBody>
          <a:bodyPr>
            <a:normAutofit/>
          </a:bodyPr>
          <a:lstStyle/>
          <a:p>
            <a:r>
              <a:rPr lang="en-US" sz="2800" dirty="0"/>
              <a:t>Import growth reached 6.9% in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10176" y="1413287"/>
            <a:ext cx="4960397" cy="41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entonSans Medium" panose="02000603030000020004" pitchFamily="50" charset="0"/>
              </a:rPr>
              <a:t>Q4 (2025 vs 2024): +</a:t>
            </a:r>
            <a:r>
              <a:rPr lang="en-US" sz="1600" b="1" dirty="0">
                <a:latin typeface="BentonSans Medium" panose="02000603030000020004" pitchFamily="50" charset="0"/>
              </a:rPr>
              <a:t>16.8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entonSans Medium" panose="02000603030000020004" pitchFamily="50" charset="0"/>
              </a:rPr>
              <a:t>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0D772-1919-92B6-758A-D9DBADD6F85A}"/>
              </a:ext>
            </a:extLst>
          </p:cNvPr>
          <p:cNvSpPr txBox="1"/>
          <p:nvPr/>
        </p:nvSpPr>
        <p:spPr>
          <a:xfrm>
            <a:off x="5026735" y="1306961"/>
            <a:ext cx="4960397" cy="4128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BentonSans Medium" panose="02000603030000020004" pitchFamily="50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2025 vs 2024: +6.9%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250DB2-365C-E34E-E077-FEC7AD941DFD}"/>
              </a:ext>
            </a:extLst>
          </p:cNvPr>
          <p:cNvSpPr txBox="1"/>
          <p:nvPr/>
        </p:nvSpPr>
        <p:spPr>
          <a:xfrm>
            <a:off x="397090" y="4474161"/>
            <a:ext cx="5470156" cy="2153218"/>
          </a:xfrm>
          <a:prstGeom prst="rect">
            <a:avLst/>
          </a:prstGeom>
          <a:solidFill>
            <a:srgbClr val="FCF7EA"/>
          </a:solidFill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Consumer: +20.6% (driven by cooking oil, rice  medicine, sugar and corn)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Capital: 20.7% (due to cars and telephones despite a rise in computers and  electrical wires)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Intermediate: 14.6% (wheat, clinker and fertilizers)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Energy: 0.6% (Mainly driven by petroleum products)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ICBT: +24.3% ( fresh bananas, Sorghum, dried beans)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109FA4-7624-C0A0-21FA-1F33DAA006F8}"/>
              </a:ext>
            </a:extLst>
          </p:cNvPr>
          <p:cNvSpPr txBox="1"/>
          <p:nvPr/>
        </p:nvSpPr>
        <p:spPr>
          <a:xfrm>
            <a:off x="6334541" y="4470090"/>
            <a:ext cx="5392643" cy="1853136"/>
          </a:xfrm>
          <a:prstGeom prst="rect">
            <a:avLst/>
          </a:prstGeom>
          <a:solidFill>
            <a:srgbClr val="FCF7EA"/>
          </a:solidFill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Consumer: +17.9.1% </a:t>
            </a:r>
            <a:r>
              <a:rPr lang="en-US" sz="1300" dirty="0">
                <a:latin typeface="BentonSans Book" panose="02000503040000020004" pitchFamily="50" charset="0"/>
              </a:rPr>
              <a:t>(cooking oil, rice, sugar, medicine, and corn)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Capital: 7.7% </a:t>
            </a:r>
            <a:r>
              <a:rPr lang="en-US" sz="1300" dirty="0">
                <a:latin typeface="BentonSans Book" panose="02000503040000020004" pitchFamily="50" charset="0"/>
              </a:rPr>
              <a:t>(cars, telephone, computers, medical instruments 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Intermediate: +7.2% </a:t>
            </a:r>
            <a:r>
              <a:rPr lang="en-US" sz="1300" dirty="0">
                <a:latin typeface="BentonSans Book" panose="02000503040000020004" pitchFamily="50" charset="0"/>
              </a:rPr>
              <a:t>(clinker, fertilizers, wheat)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BentonSans Book" panose="02000503040000020004" pitchFamily="50" charset="0"/>
              </a:rPr>
              <a:t>Energy: -10.6% </a:t>
            </a:r>
            <a:r>
              <a:rPr lang="en-US" sz="1300" dirty="0">
                <a:latin typeface="BentonSans Book" panose="02000503040000020004" pitchFamily="50" charset="0"/>
              </a:rPr>
              <a:t>(Mainly driven by petroleum  prices)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BentonSans Book" panose="02000503040000020004" pitchFamily="50" charset="0"/>
              </a:rPr>
              <a:t>IC</a:t>
            </a:r>
            <a:r>
              <a:rPr lang="en-US" sz="1300" b="1" dirty="0">
                <a:latin typeface="BentonSans Book" panose="02000503040000020004" pitchFamily="50" charset="0"/>
              </a:rPr>
              <a:t>BT: +44.0% (raw coffee, sorghum and fresh bananas)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2883144"/>
              </p:ext>
            </p:extLst>
          </p:nvPr>
        </p:nvGraphicFramePr>
        <p:xfrm>
          <a:off x="503274" y="1872489"/>
          <a:ext cx="5127171" cy="2502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5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64926"/>
              </p:ext>
            </p:extLst>
          </p:nvPr>
        </p:nvGraphicFramePr>
        <p:xfrm>
          <a:off x="6285132" y="1775235"/>
          <a:ext cx="5016748" cy="2502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8DDF-0555-79EC-F546-7D6BF587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account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4BFCE50-A03A-3CF9-184E-DC06997AA86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96778786"/>
              </p:ext>
            </p:extLst>
          </p:nvPr>
        </p:nvGraphicFramePr>
        <p:xfrm>
          <a:off x="721242" y="1616149"/>
          <a:ext cx="7391400" cy="4603899"/>
        </p:xfrm>
        <a:graphic>
          <a:graphicData uri="http://schemas.openxmlformats.org/drawingml/2006/table">
            <a:tbl>
              <a:tblPr/>
              <a:tblGrid>
                <a:gridCol w="1887846">
                  <a:extLst>
                    <a:ext uri="{9D8B030D-6E8A-4147-A177-3AD203B41FA5}">
                      <a16:colId xmlns:a16="http://schemas.microsoft.com/office/drawing/2014/main" val="2403599758"/>
                    </a:ext>
                  </a:extLst>
                </a:gridCol>
                <a:gridCol w="975921">
                  <a:extLst>
                    <a:ext uri="{9D8B030D-6E8A-4147-A177-3AD203B41FA5}">
                      <a16:colId xmlns:a16="http://schemas.microsoft.com/office/drawing/2014/main" val="3438281570"/>
                    </a:ext>
                  </a:extLst>
                </a:gridCol>
                <a:gridCol w="975921">
                  <a:extLst>
                    <a:ext uri="{9D8B030D-6E8A-4147-A177-3AD203B41FA5}">
                      <a16:colId xmlns:a16="http://schemas.microsoft.com/office/drawing/2014/main" val="2097705152"/>
                    </a:ext>
                  </a:extLst>
                </a:gridCol>
                <a:gridCol w="799935">
                  <a:extLst>
                    <a:ext uri="{9D8B030D-6E8A-4147-A177-3AD203B41FA5}">
                      <a16:colId xmlns:a16="http://schemas.microsoft.com/office/drawing/2014/main" val="1979025309"/>
                    </a:ext>
                  </a:extLst>
                </a:gridCol>
                <a:gridCol w="975921">
                  <a:extLst>
                    <a:ext uri="{9D8B030D-6E8A-4147-A177-3AD203B41FA5}">
                      <a16:colId xmlns:a16="http://schemas.microsoft.com/office/drawing/2014/main" val="1564797414"/>
                    </a:ext>
                  </a:extLst>
                </a:gridCol>
                <a:gridCol w="975921">
                  <a:extLst>
                    <a:ext uri="{9D8B030D-6E8A-4147-A177-3AD203B41FA5}">
                      <a16:colId xmlns:a16="http://schemas.microsoft.com/office/drawing/2014/main" val="3978307223"/>
                    </a:ext>
                  </a:extLst>
                </a:gridCol>
                <a:gridCol w="799935">
                  <a:extLst>
                    <a:ext uri="{9D8B030D-6E8A-4147-A177-3AD203B41FA5}">
                      <a16:colId xmlns:a16="http://schemas.microsoft.com/office/drawing/2014/main" val="165746135"/>
                    </a:ext>
                  </a:extLst>
                </a:gridCol>
              </a:tblGrid>
              <a:tr h="4159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2024 Jan - sept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2025 Jan - sept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% Change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2025 oct. Rev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% Change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174773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Medium" panose="02000603030000020004" pitchFamily="50" charset="0"/>
                        </a:rPr>
                        <a:t>Current Account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-1565.5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-1445.8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-7.6%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-1960.0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-1928.7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391535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as % GDP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-14.5%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-12.4%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BentonSans Book" panose="02000503040000020004" pitchFamily="50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-13.0%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-12.0%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04581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 Goods (Merchandise)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-1879.2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-1925.5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2.5%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-2425.9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-2328.3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-4.0%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218585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Exports (Merchandise)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1267.5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1372.5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8.3%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3245.6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1290.9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-60.2%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55022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Imports (Merchandise)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3146.7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3298.0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4.8%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5671.4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2450.2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-56.8%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052987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 Services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73.7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49.7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-32.6%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88.1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65.1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-26.0%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776044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Travel (Credit)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451.3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443.0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577.4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629.4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9.0%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450332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Transport (Credit)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136.7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133.8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-2.2%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-266.2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-263.4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693755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 PKO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113.3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90.3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-20.3%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152.6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141.9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-7.0%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711877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Regular" panose="02000503040000020004" pitchFamily="50" charset="0"/>
                        </a:rPr>
                        <a:t> Secondary Income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582.3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555.7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-4.6%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780.1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741.2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-5.0%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422285"/>
                  </a:ext>
                </a:extLst>
              </a:tr>
              <a:tr h="3807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Remittances (Credit)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375.4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449.6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19.8%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502.4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523.6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4.2%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99206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1EEFC-3FD1-62D2-CCFF-AAA011CA5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5804" y="1825625"/>
            <a:ext cx="3187995" cy="4351338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Current Account </a:t>
            </a: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BentonSans Book" panose="02000503040000020004" pitchFamily="50" charset="0"/>
              </a:rPr>
              <a:t>(-7.6%) in 2025 Jan – Sept </a:t>
            </a:r>
          </a:p>
          <a:p>
            <a:pPr lvl="1"/>
            <a:endParaRPr lang="en-US" sz="1600" b="1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/>
            <a:endParaRPr lang="en-US" sz="1600" b="1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BentonSans Book" panose="02000503040000020004" pitchFamily="50" charset="0"/>
              </a:rPr>
              <a:t>Goods improved by 2.5%</a:t>
            </a:r>
          </a:p>
          <a:p>
            <a:pPr marL="457200" lvl="1" indent="0">
              <a:buNone/>
            </a:pPr>
            <a:endParaRPr lang="en-US" sz="1600" b="1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BentonSans Book" panose="02000503040000020004" pitchFamily="50" charset="0"/>
              </a:rPr>
              <a:t>Services  reduced 32.6%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 b="1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 b="1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BentonSans Book" panose="02000503040000020004" pitchFamily="50" charset="0"/>
              </a:rPr>
              <a:t>Secondary income reduced by 4.6%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 b="1" dirty="0">
              <a:solidFill>
                <a:schemeClr val="tx1"/>
              </a:solidFill>
              <a:latin typeface="BentonSans Book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49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5F4A7-EC27-0C00-C46B-177E3E155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Capital and Financial Accounts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281AE6-ABFA-391C-A669-B3D713A4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46558" y="1548451"/>
            <a:ext cx="3657600" cy="4628515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Capital Account </a:t>
            </a: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BentonSans Book" panose="02000503040000020004" pitchFamily="50" charset="0"/>
              </a:rPr>
              <a:t>(-25.7%) in 2025 Jan – Sept </a:t>
            </a:r>
          </a:p>
          <a:p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Financial Account net flows</a:t>
            </a:r>
          </a:p>
          <a:p>
            <a:pPr lvl="1"/>
            <a:r>
              <a:rPr lang="en-US" sz="1400" b="1" dirty="0">
                <a:solidFill>
                  <a:schemeClr val="tx1"/>
                </a:solidFill>
                <a:latin typeface="BentonSans Book" panose="02000503040000020004" pitchFamily="50" charset="0"/>
              </a:rPr>
              <a:t>(-25.7%) in 2025Jan – Sept </a:t>
            </a:r>
            <a:endParaRPr lang="en-US" sz="14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marL="457200" lvl="1" indent="0">
              <a:buNone/>
            </a:pPr>
            <a:r>
              <a:rPr lang="en-US" sz="1400" dirty="0">
                <a:solidFill>
                  <a:schemeClr val="tx1"/>
                </a:solidFill>
                <a:latin typeface="BentonSans Book" panose="02000503040000020004" pitchFamily="50" charset="0"/>
              </a:rPr>
              <a:t>Due to</a:t>
            </a:r>
          </a:p>
          <a:p>
            <a:pPr marL="457200" lvl="1" indent="0">
              <a:buNone/>
            </a:pPr>
            <a:endParaRPr lang="en-US" sz="14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BentonSans Book" panose="02000503040000020004" pitchFamily="50" charset="0"/>
              </a:rPr>
              <a:t>Budget Loan (-81.6%)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BentonSans Book" panose="02000503040000020004" pitchFamily="50" charset="0"/>
              </a:rPr>
              <a:t>Project loan (-9.1%)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BentonSans Book" panose="02000503040000020004" pitchFamily="50" charset="0"/>
              </a:rPr>
              <a:t>Amortization (+17.4%)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977FF1B-B337-DB4C-CF4C-D3ED9B67090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47362904"/>
              </p:ext>
            </p:extLst>
          </p:nvPr>
        </p:nvGraphicFramePr>
        <p:xfrm>
          <a:off x="838199" y="2009553"/>
          <a:ext cx="7306341" cy="4029740"/>
        </p:xfrm>
        <a:graphic>
          <a:graphicData uri="http://schemas.openxmlformats.org/drawingml/2006/table">
            <a:tbl>
              <a:tblPr/>
              <a:tblGrid>
                <a:gridCol w="1675674">
                  <a:extLst>
                    <a:ext uri="{9D8B030D-6E8A-4147-A177-3AD203B41FA5}">
                      <a16:colId xmlns:a16="http://schemas.microsoft.com/office/drawing/2014/main" val="1836088994"/>
                    </a:ext>
                  </a:extLst>
                </a:gridCol>
                <a:gridCol w="1155138">
                  <a:extLst>
                    <a:ext uri="{9D8B030D-6E8A-4147-A177-3AD203B41FA5}">
                      <a16:colId xmlns:a16="http://schemas.microsoft.com/office/drawing/2014/main" val="1415679418"/>
                    </a:ext>
                  </a:extLst>
                </a:gridCol>
                <a:gridCol w="1310182">
                  <a:extLst>
                    <a:ext uri="{9D8B030D-6E8A-4147-A177-3AD203B41FA5}">
                      <a16:colId xmlns:a16="http://schemas.microsoft.com/office/drawing/2014/main" val="2684378331"/>
                    </a:ext>
                  </a:extLst>
                </a:gridCol>
                <a:gridCol w="781192">
                  <a:extLst>
                    <a:ext uri="{9D8B030D-6E8A-4147-A177-3AD203B41FA5}">
                      <a16:colId xmlns:a16="http://schemas.microsoft.com/office/drawing/2014/main" val="3089444006"/>
                    </a:ext>
                  </a:extLst>
                </a:gridCol>
                <a:gridCol w="628736">
                  <a:extLst>
                    <a:ext uri="{9D8B030D-6E8A-4147-A177-3AD203B41FA5}">
                      <a16:colId xmlns:a16="http://schemas.microsoft.com/office/drawing/2014/main" val="3739432491"/>
                    </a:ext>
                  </a:extLst>
                </a:gridCol>
                <a:gridCol w="964691">
                  <a:extLst>
                    <a:ext uri="{9D8B030D-6E8A-4147-A177-3AD203B41FA5}">
                      <a16:colId xmlns:a16="http://schemas.microsoft.com/office/drawing/2014/main" val="1521204267"/>
                    </a:ext>
                  </a:extLst>
                </a:gridCol>
                <a:gridCol w="790728">
                  <a:extLst>
                    <a:ext uri="{9D8B030D-6E8A-4147-A177-3AD203B41FA5}">
                      <a16:colId xmlns:a16="http://schemas.microsoft.com/office/drawing/2014/main" val="593435364"/>
                    </a:ext>
                  </a:extLst>
                </a:gridCol>
              </a:tblGrid>
              <a:tr h="4055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2024 Jan - sept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2025 Jan - sept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% Change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2025 oct. Rev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% Change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549614"/>
                  </a:ext>
                </a:extLst>
              </a:tr>
              <a:tr h="517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Capital Account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296.2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220.1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-25.7%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383.0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337.3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-11.9%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549141"/>
                  </a:ext>
                </a:extLst>
              </a:tr>
              <a:tr h="517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Financial Account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296.2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220.1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-25.7%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-1918.8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-1072.3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-44.1%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4386"/>
                  </a:ext>
                </a:extLst>
              </a:tr>
              <a:tr h="517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Direct Investment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-397.7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-455.4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14.5%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-518.0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-511.7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-1.2%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398080"/>
                  </a:ext>
                </a:extLst>
              </a:tr>
              <a:tr h="517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Other Investment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-1044.5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-428.0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-59.0%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-1422.1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-560.6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-60.6%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68080"/>
                  </a:ext>
                </a:extLst>
              </a:tr>
              <a:tr h="517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   o/w Budget Loan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643.7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118.2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-81.6%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916.2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184.4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-79.9%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348634"/>
                  </a:ext>
                </a:extLst>
              </a:tr>
              <a:tr h="517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   o/w Project Loan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422.6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384.3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-9.1%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555.8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514.6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-7.4%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656155"/>
                  </a:ext>
                </a:extLst>
              </a:tr>
              <a:tr h="517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       o/w Amortization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95.2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111.8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17.4%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118.3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180.1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entonSans Book" panose="02000503040000020004" pitchFamily="50" charset="0"/>
                        </a:rPr>
                        <a:t>52.2%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785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99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0491-3F61-109E-786A-056EE82C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Reserves Assets Coverage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803275-4109-E5E3-8A82-3FCAC7E8E738}"/>
              </a:ext>
            </a:extLst>
          </p:cNvPr>
          <p:cNvSpPr txBox="1"/>
          <p:nvPr/>
        </p:nvSpPr>
        <p:spPr>
          <a:xfrm>
            <a:off x="691116" y="5262033"/>
            <a:ext cx="1043053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The month</a:t>
            </a:r>
            <a:r>
              <a:rPr lang="en-US" sz="2000" dirty="0">
                <a:latin typeface="BentonSans Book" panose="02000503040000020004" pitchFamily="50" charset="0"/>
              </a:rPr>
              <a:t> of imports stood at 4.2 in 2025Q4 compared to 5.2 in 2024Q4 </a:t>
            </a:r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endParaRPr lang="en-US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69141E5-70E6-709C-010A-1A414076F8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3140922"/>
              </p:ext>
            </p:extLst>
          </p:nvPr>
        </p:nvGraphicFramePr>
        <p:xfrm>
          <a:off x="705292" y="1919176"/>
          <a:ext cx="10416363" cy="3173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869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8C82A4-87F6-EBE1-E30E-5DF6033B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External Sector 2025 Outlook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F1DBA-9DA9-D33D-4BA8-276A3E062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448"/>
            <a:ext cx="10515600" cy="46285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Global commodity prices for traditional goods rose, which contributed to export growth.</a:t>
            </a:r>
          </a:p>
          <a:p>
            <a:pPr marL="457200" lvl="1" indent="0" algn="just">
              <a:buNone/>
            </a:pPr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A moderate decrease in global fuel prices eased the import bill for energy products.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Increase in remittance inflows and tourism receipts contributed to an improvement in CAD in 2025Q3.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BentonSans Book" panose="02000503040000020004" pitchFamily="50" charset="0"/>
              </a:rPr>
              <a:t> The Current Account Deficit (CAD) will be financed by stable private inflows and reserves</a:t>
            </a:r>
          </a:p>
          <a:p>
            <a:endParaRPr lang="en-US" sz="2000" dirty="0">
              <a:solidFill>
                <a:schemeClr val="tx1"/>
              </a:solidFill>
              <a:latin typeface="BentonSans Book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82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0B28-2A62-D209-1D6B-A84C624B7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1367" y="3175187"/>
            <a:ext cx="5541915" cy="79772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THANK YOU</a:t>
            </a:r>
            <a:endParaRPr lang="x-non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26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69219f-734b-4804-8b0e-a1de50d2bc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F5D2EF661769449F78514D4EADBC86" ma:contentTypeVersion="9" ma:contentTypeDescription="Create a new document." ma:contentTypeScope="" ma:versionID="eca9a255cb513d33122084823ee70cc1">
  <xsd:schema xmlns:xsd="http://www.w3.org/2001/XMLSchema" xmlns:xs="http://www.w3.org/2001/XMLSchema" xmlns:p="http://schemas.microsoft.com/office/2006/metadata/properties" xmlns:ns3="9e69219f-734b-4804-8b0e-a1de50d2bc8a" xmlns:ns4="986be713-7b76-4603-a2cd-a6e7ec1179ec" targetNamespace="http://schemas.microsoft.com/office/2006/metadata/properties" ma:root="true" ma:fieldsID="53efc00b21c613e70ebe16e4968f5a65" ns3:_="" ns4:_="">
    <xsd:import namespace="9e69219f-734b-4804-8b0e-a1de50d2bc8a"/>
    <xsd:import namespace="986be713-7b76-4603-a2cd-a6e7ec1179e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9219f-734b-4804-8b0e-a1de50d2bc8a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be713-7b76-4603-a2cd-a6e7ec1179ec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D7CEF-F547-4E06-A371-EF895531E8AB}">
  <ds:schemaRefs>
    <ds:schemaRef ds:uri="http://schemas.microsoft.com/office/infopath/2007/PartnerControls"/>
    <ds:schemaRef ds:uri="http://purl.org/dc/terms/"/>
    <ds:schemaRef ds:uri="986be713-7b76-4603-a2cd-a6e7ec1179ec"/>
    <ds:schemaRef ds:uri="http://schemas.microsoft.com/office/2006/documentManagement/types"/>
    <ds:schemaRef ds:uri="http://www.w3.org/XML/1998/namespace"/>
    <ds:schemaRef ds:uri="http://purl.org/dc/dcmitype/"/>
    <ds:schemaRef ds:uri="9e69219f-734b-4804-8b0e-a1de50d2bc8a"/>
    <ds:schemaRef ds:uri="http://schemas.microsoft.com/office/2006/metadata/properties"/>
    <ds:schemaRef ds:uri="http://purl.org/dc/elements/1.1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387D4A4-D9CB-4F06-A29F-D9070B480A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969BA7-A4E5-4874-B620-BF1C1005D9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9219f-734b-4804-8b0e-a1de50d2bc8a"/>
    <ds:schemaRef ds:uri="986be713-7b76-4603-a2cd-a6e7ec1179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2252</TotalTime>
  <Words>862</Words>
  <Application>Microsoft Office PowerPoint</Application>
  <PresentationFormat>Widescreen</PresentationFormat>
  <Paragraphs>223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Aptos</vt:lpstr>
      <vt:lpstr>arial</vt:lpstr>
      <vt:lpstr>arial</vt:lpstr>
      <vt:lpstr>BentonSans Black</vt:lpstr>
      <vt:lpstr>BentonSans Bold</vt:lpstr>
      <vt:lpstr>BentonSans Book</vt:lpstr>
      <vt:lpstr>BentonSans Medium</vt:lpstr>
      <vt:lpstr>BentonSans Regular</vt:lpstr>
      <vt:lpstr>Calibri</vt:lpstr>
      <vt:lpstr>Courier New</vt:lpstr>
      <vt:lpstr>Microsoft Sans Serif</vt:lpstr>
      <vt:lpstr>Wingdings</vt:lpstr>
      <vt:lpstr>Office Theme</vt:lpstr>
      <vt:lpstr>1_Office Theme</vt:lpstr>
      <vt:lpstr>External Sector Statistics</vt:lpstr>
      <vt:lpstr>Outline</vt:lpstr>
      <vt:lpstr>Export growth surged to 29.9% in 2025 </vt:lpstr>
      <vt:lpstr>Import growth reached 6.9% in 2025</vt:lpstr>
      <vt:lpstr>Current account</vt:lpstr>
      <vt:lpstr>Capital and Financial Accounts</vt:lpstr>
      <vt:lpstr>Reserves Assets Coverage</vt:lpstr>
      <vt:lpstr>External Sector 2025 Outlook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mcyamwa@bnr.rw</dc:creator>
  <cp:lastModifiedBy>Mbabazi Jovia</cp:lastModifiedBy>
  <cp:revision>169</cp:revision>
  <dcterms:created xsi:type="dcterms:W3CDTF">2022-09-12T10:32:00Z</dcterms:created>
  <dcterms:modified xsi:type="dcterms:W3CDTF">2026-02-17T10:32:59Z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c89c131b-6392-4432-a9aa-995e0d157d46</vt:lpwstr>
  </property>
  <property fmtid="{D5CDD505-2E9C-101B-9397-08002B2CF9AE}" pid="3" name="Classification">
    <vt:lpwstr>RESTRICTED</vt:lpwstr>
  </property>
  <property fmtid="{D5CDD505-2E9C-101B-9397-08002B2CF9AE}" pid="4" name="ICV">
    <vt:lpwstr>FBC0BC7DE0244A5C8C0115CF5873BD87</vt:lpwstr>
  </property>
  <property fmtid="{D5CDD505-2E9C-101B-9397-08002B2CF9AE}" pid="5" name="KSOProductBuildVer">
    <vt:lpwstr>1033-11.2.0.11516</vt:lpwstr>
  </property>
  <property fmtid="{D5CDD505-2E9C-101B-9397-08002B2CF9AE}" pid="6" name="ContentTypeId">
    <vt:lpwstr>0x010100A7F5D2EF661769449F78514D4EADBC86</vt:lpwstr>
  </property>
  <property fmtid="{D5CDD505-2E9C-101B-9397-08002B2CF9AE}" pid="7" name="MSIP_Label_55c5eb89-a1ec-4cf8-b8d4-f6a23bcf8f72_Enabled">
    <vt:lpwstr>true</vt:lpwstr>
  </property>
  <property fmtid="{D5CDD505-2E9C-101B-9397-08002B2CF9AE}" pid="8" name="MSIP_Label_55c5eb89-a1ec-4cf8-b8d4-f6a23bcf8f72_SetDate">
    <vt:lpwstr>2025-05-07T13:39:17Z</vt:lpwstr>
  </property>
  <property fmtid="{D5CDD505-2E9C-101B-9397-08002B2CF9AE}" pid="9" name="MSIP_Label_55c5eb89-a1ec-4cf8-b8d4-f6a23bcf8f72_Method">
    <vt:lpwstr>Privileged</vt:lpwstr>
  </property>
  <property fmtid="{D5CDD505-2E9C-101B-9397-08002B2CF9AE}" pid="10" name="MSIP_Label_55c5eb89-a1ec-4cf8-b8d4-f6a23bcf8f72_Name">
    <vt:lpwstr>PUBLIC</vt:lpwstr>
  </property>
  <property fmtid="{D5CDD505-2E9C-101B-9397-08002B2CF9AE}" pid="11" name="MSIP_Label_55c5eb89-a1ec-4cf8-b8d4-f6a23bcf8f72_SiteId">
    <vt:lpwstr>968fd953-3deb-4543-8ab9-8b0f19e71ed9</vt:lpwstr>
  </property>
  <property fmtid="{D5CDD505-2E9C-101B-9397-08002B2CF9AE}" pid="12" name="MSIP_Label_55c5eb89-a1ec-4cf8-b8d4-f6a23bcf8f72_ActionId">
    <vt:lpwstr>d6855cd8-e64e-46b6-a324-a7507171956b</vt:lpwstr>
  </property>
  <property fmtid="{D5CDD505-2E9C-101B-9397-08002B2CF9AE}" pid="13" name="MSIP_Label_55c5eb89-a1ec-4cf8-b8d4-f6a23bcf8f72_ContentBits">
    <vt:lpwstr>0</vt:lpwstr>
  </property>
  <property fmtid="{D5CDD505-2E9C-101B-9397-08002B2CF9AE}" pid="14" name="MSIP_Label_55c5eb89-a1ec-4cf8-b8d4-f6a23bcf8f72_Tag">
    <vt:lpwstr>10, 0, 1, 1</vt:lpwstr>
  </property>
</Properties>
</file>