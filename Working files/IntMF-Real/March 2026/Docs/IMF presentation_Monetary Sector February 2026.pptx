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3.xml" ContentType="application/vnd.openxmlformats-officedocument.themeOverrid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1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2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4854" r:id="rId6"/>
    <p:sldId id="4951" r:id="rId7"/>
    <p:sldId id="4952" r:id="rId8"/>
    <p:sldId id="4953" r:id="rId9"/>
    <p:sldId id="4954" r:id="rId10"/>
    <p:sldId id="4955" r:id="rId11"/>
    <p:sldId id="4956" r:id="rId12"/>
    <p:sldId id="4957" r:id="rId13"/>
    <p:sldId id="4958" r:id="rId14"/>
    <p:sldId id="4963" r:id="rId15"/>
    <p:sldId id="4964" r:id="rId16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087701-C315-8968-15C1-F7BECE49E6F9}" name="MAKUMI, Doreen" initials="DM" userId="S::dmakumi@bnr.rw::ee2ebcac-98c8-495b-b1da-aa55d3f507d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3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753918"/>
    <a:srgbClr val="404040"/>
    <a:srgbClr val="454048"/>
    <a:srgbClr val="FCF7EA"/>
    <a:srgbClr val="9E755E"/>
    <a:srgbClr val="FFFFFF"/>
    <a:srgbClr val="DBA628"/>
    <a:srgbClr val="FFC000"/>
    <a:srgbClr val="4525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7D3748-B6EE-4177-8370-27CB1C2AD737}" v="5" dt="2026-02-17T12:49:10.1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39"/>
    <p:restoredTop sz="94211" autoAdjust="0"/>
  </p:normalViewPr>
  <p:slideViewPr>
    <p:cSldViewPr snapToGrid="0">
      <p:cViewPr varScale="1">
        <p:scale>
          <a:sx n="60" d="100"/>
          <a:sy n="60" d="100"/>
        </p:scale>
        <p:origin x="107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GENZI, Patrick" userId="9446a94f-46e3-4cf1-afe4-f13b03048424" providerId="ADAL" clId="{D562DF87-A046-4516-917C-2F96C0535277}"/>
    <pc:docChg chg="undo custSel addSld delSld modSld">
      <pc:chgData name="MUGENZI, Patrick" userId="9446a94f-46e3-4cf1-afe4-f13b03048424" providerId="ADAL" clId="{D562DF87-A046-4516-917C-2F96C0535277}" dt="2026-02-17T12:51:44.046" v="105" actId="20577"/>
      <pc:docMkLst>
        <pc:docMk/>
      </pc:docMkLst>
      <pc:sldChg chg="addSp delSp modSp mod">
        <pc:chgData name="MUGENZI, Patrick" userId="9446a94f-46e3-4cf1-afe4-f13b03048424" providerId="ADAL" clId="{D562DF87-A046-4516-917C-2F96C0535277}" dt="2026-02-17T12:49:43.057" v="97" actId="20577"/>
        <pc:sldMkLst>
          <pc:docMk/>
          <pc:sldMk cId="4274478912" sldId="256"/>
        </pc:sldMkLst>
        <pc:spChg chg="add mod">
          <ac:chgData name="MUGENZI, Patrick" userId="9446a94f-46e3-4cf1-afe4-f13b03048424" providerId="ADAL" clId="{D562DF87-A046-4516-917C-2F96C0535277}" dt="2026-02-17T12:49:03.648" v="36"/>
          <ac:spMkLst>
            <pc:docMk/>
            <pc:sldMk cId="4274478912" sldId="256"/>
            <ac:spMk id="2" creationId="{DE47D4FB-E2B6-905D-85FA-4B05CAE39B99}"/>
          </ac:spMkLst>
        </pc:spChg>
        <pc:spChg chg="add del mod">
          <ac:chgData name="MUGENZI, Patrick" userId="9446a94f-46e3-4cf1-afe4-f13b03048424" providerId="ADAL" clId="{D562DF87-A046-4516-917C-2F96C0535277}" dt="2026-02-17T12:49:32.951" v="70" actId="20577"/>
          <ac:spMkLst>
            <pc:docMk/>
            <pc:sldMk cId="4274478912" sldId="256"/>
            <ac:spMk id="6" creationId="{884E083D-D1A6-FCF2-2381-7B71EBC4E0C6}"/>
          </ac:spMkLst>
        </pc:spChg>
        <pc:spChg chg="add mod">
          <ac:chgData name="MUGENZI, Patrick" userId="9446a94f-46e3-4cf1-afe4-f13b03048424" providerId="ADAL" clId="{D562DF87-A046-4516-917C-2F96C0535277}" dt="2026-02-17T12:49:08.253" v="38"/>
          <ac:spMkLst>
            <pc:docMk/>
            <pc:sldMk cId="4274478912" sldId="256"/>
            <ac:spMk id="8" creationId="{FE8A94C3-973A-657F-6B93-47F62A3C64FA}"/>
          </ac:spMkLst>
        </pc:spChg>
        <pc:spChg chg="mod">
          <ac:chgData name="MUGENZI, Patrick" userId="9446a94f-46e3-4cf1-afe4-f13b03048424" providerId="ADAL" clId="{D562DF87-A046-4516-917C-2F96C0535277}" dt="2026-02-17T12:49:43.057" v="97" actId="20577"/>
          <ac:spMkLst>
            <pc:docMk/>
            <pc:sldMk cId="4274478912" sldId="256"/>
            <ac:spMk id="10" creationId="{354ADB26-3FDC-2E56-608D-AAC363F4D23F}"/>
          </ac:spMkLst>
        </pc:spChg>
      </pc:sldChg>
      <pc:sldChg chg="del">
        <pc:chgData name="MUGENZI, Patrick" userId="9446a94f-46e3-4cf1-afe4-f13b03048424" providerId="ADAL" clId="{D562DF87-A046-4516-917C-2F96C0535277}" dt="2026-02-17T12:45:45.282" v="5" actId="47"/>
        <pc:sldMkLst>
          <pc:docMk/>
          <pc:sldMk cId="4161490989" sldId="4960"/>
        </pc:sldMkLst>
      </pc:sldChg>
      <pc:sldChg chg="add del">
        <pc:chgData name="MUGENZI, Patrick" userId="9446a94f-46e3-4cf1-afe4-f13b03048424" providerId="ADAL" clId="{D562DF87-A046-4516-917C-2F96C0535277}" dt="2026-02-17T12:45:43.493" v="4" actId="47"/>
        <pc:sldMkLst>
          <pc:docMk/>
          <pc:sldMk cId="3460910275" sldId="4961"/>
        </pc:sldMkLst>
      </pc:sldChg>
      <pc:sldChg chg="addSp modSp mod">
        <pc:chgData name="MUGENZI, Patrick" userId="9446a94f-46e3-4cf1-afe4-f13b03048424" providerId="ADAL" clId="{D562DF87-A046-4516-917C-2F96C0535277}" dt="2026-02-17T12:51:44.046" v="105" actId="20577"/>
        <pc:sldMkLst>
          <pc:docMk/>
          <pc:sldMk cId="1041821775" sldId="4963"/>
        </pc:sldMkLst>
        <pc:spChg chg="add mod">
          <ac:chgData name="MUGENZI, Patrick" userId="9446a94f-46e3-4cf1-afe4-f13b03048424" providerId="ADAL" clId="{D562DF87-A046-4516-917C-2F96C0535277}" dt="2026-02-17T12:51:44.046" v="105" actId="20577"/>
          <ac:spMkLst>
            <pc:docMk/>
            <pc:sldMk cId="1041821775" sldId="4963"/>
            <ac:spMk id="3" creationId="{69944441-5A8A-75A5-4E7A-1A69E4B1F2DF}"/>
          </ac:spMkLst>
        </pc:spChg>
        <pc:spChg chg="mod">
          <ac:chgData name="MUGENZI, Patrick" userId="9446a94f-46e3-4cf1-afe4-f13b03048424" providerId="ADAL" clId="{D562DF87-A046-4516-917C-2F96C0535277}" dt="2026-02-17T12:47:31.724" v="23" actId="1076"/>
          <ac:spMkLst>
            <pc:docMk/>
            <pc:sldMk cId="1041821775" sldId="4963"/>
            <ac:spMk id="7" creationId="{063D0C11-E454-02E3-49BF-27BF5ABE473B}"/>
          </ac:spMkLst>
        </pc:spChg>
        <pc:spChg chg="mod">
          <ac:chgData name="MUGENZI, Patrick" userId="9446a94f-46e3-4cf1-afe4-f13b03048424" providerId="ADAL" clId="{D562DF87-A046-4516-917C-2F96C0535277}" dt="2026-02-17T12:46:49.096" v="16" actId="14100"/>
          <ac:spMkLst>
            <pc:docMk/>
            <pc:sldMk cId="1041821775" sldId="4963"/>
            <ac:spMk id="14" creationId="{B8139720-3BB0-D394-EA17-7B26DE7F9031}"/>
          </ac:spMkLst>
        </pc:spChg>
        <pc:graphicFrameChg chg="mod">
          <ac:chgData name="MUGENZI, Patrick" userId="9446a94f-46e3-4cf1-afe4-f13b03048424" providerId="ADAL" clId="{D562DF87-A046-4516-917C-2F96C0535277}" dt="2026-02-17T12:46:47.601" v="14" actId="1076"/>
          <ac:graphicFrameMkLst>
            <pc:docMk/>
            <pc:sldMk cId="1041821775" sldId="4963"/>
            <ac:graphicFrameMk id="2" creationId="{2DEF9B92-4794-A925-1DCB-46DC87202288}"/>
          </ac:graphicFrameMkLst>
        </pc:graphicFrameChg>
      </pc:sldChg>
      <pc:sldChg chg="add del">
        <pc:chgData name="MUGENZI, Patrick" userId="9446a94f-46e3-4cf1-afe4-f13b03048424" providerId="ADAL" clId="{D562DF87-A046-4516-917C-2F96C0535277}" dt="2026-02-17T12:45:39.615" v="2" actId="47"/>
        <pc:sldMkLst>
          <pc:docMk/>
          <pc:sldMk cId="448479374" sldId="496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https://bnrw-my.sharepoint.com/personal/pmugenzi_bnr_rw/Documents/My%20Documents1/My%20Documents/BNR/MPD/2024-2025/MPC/MAY%202025%20MPC/Excess%20reserves%20before%20and%20after%20interventions%20from%202015%20to%202025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bnrw-my.sharepoint.com/personal/pmugenzi_bnr_rw/Documents/My%20Documents1/My%20Documents/BNR/MPD/2024-2025/MPC/MAY%202025%20MPC/Quarterly%20Interest%20rates%20time%20series%20_MPC%20MAY%20202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bnrw-my.sharepoint.com/personal/pmugenzi_bnr_rw/Documents/My%20Documents1/My%20Documents/BNR/MPD/2024-2025/MPC/MAY%202025%20MPC/Montly%20money%20market%20rates%20MPC%20May%202025_Interbank%20rate%20graph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mugenzi\AppData\Local\Microsoft\Windows\INetCache\Content.Outlook\NSZHNZFZ\YC%20December%202024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bnrw-my.sharepoint.com/personal/pmugenzi_bnr_rw/Documents/My%20Documents1/My%20Documents/BNR/MPD/2025-2026/MPC%20February%202026/Deposit%20rates%20Analysis_with%20and%20without%20RSSB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bnrw-my.sharepoint.com/personal/pmugenzi_bnr_rw/Documents/My%20Documents1/My%20Documents/BNR/MPD/2025-2026/MPC%20February%202026/Quarterly%20Interest%20rates%20time%20series%20_MPC%20Feb%202025v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bnrw-my.sharepoint.com/personal/pmugenzi_bnr_rw/Documents/My%20Documents1/My%20Documents/BNR/MPD/2025-2026/MPC%20November%202025/Quarterly%20Interest%20rates%20time%20series%20_MPC%20November%202025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oleObject" Target="https://bnrw-my.sharepoint.com/personal/pmugenzi_bnr_rw/Documents/My%20Documents1/My%20Documents/BNR/MPD/2025-2026/MPC%20February%202026/Quarterly%20Interest%20rates%20time%20series%20_MPC%20FEB%202026.xlsx" TargetMode="External"/><Relationship Id="rId1" Type="http://schemas.openxmlformats.org/officeDocument/2006/relationships/themeOverride" Target="../theme/themeOverride2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bnrw-my.sharepoint.com/personal/pmugenzi_bnr_rw/Documents/My%20Documents1/My%20Documents/BNR/MPD/2025-2026/MPC%20February%202026/Data%20to%20update%20for%20MPC%20Q4%202025%20(Delphine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7531566218385884E-2"/>
          <c:y val="5.9264981128695174E-2"/>
          <c:w val="0.89644245401118716"/>
          <c:h val="0.8122755475024315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Excess reserves with interventions</c:v>
                </c:pt>
              </c:strCache>
            </c:strRef>
          </c:tx>
          <c:spPr>
            <a:ln w="28575" cap="rnd">
              <a:solidFill>
                <a:srgbClr val="800000"/>
              </a:solidFill>
              <a:round/>
            </a:ln>
            <a:effectLst/>
          </c:spPr>
          <c:marker>
            <c:symbol val="none"/>
          </c:marker>
          <c:cat>
            <c:numRef>
              <c:f>Sheet1!$A$110:$A$133</c:f>
              <c:numCache>
                <c:formatCode>mmm\-yy</c:formatCode>
                <c:ptCount val="24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  <c:pt idx="6">
                  <c:v>45474</c:v>
                </c:pt>
                <c:pt idx="7">
                  <c:v>45505</c:v>
                </c:pt>
                <c:pt idx="8">
                  <c:v>45536</c:v>
                </c:pt>
                <c:pt idx="9">
                  <c:v>45566</c:v>
                </c:pt>
                <c:pt idx="10">
                  <c:v>45597</c:v>
                </c:pt>
                <c:pt idx="11">
                  <c:v>45627</c:v>
                </c:pt>
                <c:pt idx="12">
                  <c:v>45658</c:v>
                </c:pt>
                <c:pt idx="13">
                  <c:v>45689</c:v>
                </c:pt>
                <c:pt idx="14">
                  <c:v>45717</c:v>
                </c:pt>
                <c:pt idx="15">
                  <c:v>45748</c:v>
                </c:pt>
                <c:pt idx="16">
                  <c:v>45778</c:v>
                </c:pt>
                <c:pt idx="17">
                  <c:v>45809</c:v>
                </c:pt>
                <c:pt idx="18">
                  <c:v>45839</c:v>
                </c:pt>
                <c:pt idx="19">
                  <c:v>45870</c:v>
                </c:pt>
                <c:pt idx="20">
                  <c:v>45901</c:v>
                </c:pt>
                <c:pt idx="21">
                  <c:v>45931</c:v>
                </c:pt>
                <c:pt idx="22">
                  <c:v>45962</c:v>
                </c:pt>
                <c:pt idx="23">
                  <c:v>45992</c:v>
                </c:pt>
              </c:numCache>
            </c:numRef>
          </c:cat>
          <c:val>
            <c:numRef>
              <c:f>Sheet1!$B$110:$B$133</c:f>
              <c:numCache>
                <c:formatCode>0.0</c:formatCode>
                <c:ptCount val="24"/>
                <c:pt idx="0">
                  <c:v>13.827798430420685</c:v>
                </c:pt>
                <c:pt idx="1">
                  <c:v>28.411326779179689</c:v>
                </c:pt>
                <c:pt idx="2">
                  <c:v>25.907067481540146</c:v>
                </c:pt>
                <c:pt idx="3">
                  <c:v>23.031894312922343</c:v>
                </c:pt>
                <c:pt idx="4">
                  <c:v>24.504238835549209</c:v>
                </c:pt>
                <c:pt idx="5">
                  <c:v>32.044593016244939</c:v>
                </c:pt>
                <c:pt idx="6">
                  <c:v>53.272628060917299</c:v>
                </c:pt>
                <c:pt idx="7">
                  <c:v>35.030168279323064</c:v>
                </c:pt>
                <c:pt idx="8">
                  <c:v>33.732098095572368</c:v>
                </c:pt>
                <c:pt idx="9">
                  <c:v>27.434368918721276</c:v>
                </c:pt>
                <c:pt idx="10">
                  <c:v>34.296029083218478</c:v>
                </c:pt>
                <c:pt idx="11">
                  <c:v>30.576846677683253</c:v>
                </c:pt>
                <c:pt idx="12">
                  <c:v>76.43142062535199</c:v>
                </c:pt>
                <c:pt idx="13">
                  <c:v>31.821075154673881</c:v>
                </c:pt>
                <c:pt idx="14">
                  <c:v>48.8203140555269</c:v>
                </c:pt>
                <c:pt idx="15">
                  <c:v>135.59396530136399</c:v>
                </c:pt>
                <c:pt idx="16">
                  <c:v>193.06</c:v>
                </c:pt>
                <c:pt idx="17">
                  <c:v>150.01</c:v>
                </c:pt>
                <c:pt idx="18">
                  <c:v>111.460978183436</c:v>
                </c:pt>
                <c:pt idx="19">
                  <c:v>63.470421269275441</c:v>
                </c:pt>
                <c:pt idx="20">
                  <c:v>33.149549470862944</c:v>
                </c:pt>
                <c:pt idx="21">
                  <c:v>26.047000000000001</c:v>
                </c:pt>
                <c:pt idx="22">
                  <c:v>34.411000000000001</c:v>
                </c:pt>
                <c:pt idx="23">
                  <c:v>30.295999999999999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F1C-46AE-A42A-A73DE4BED6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Excess reserves without interventions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Sheet1!$A$110:$A$133</c:f>
              <c:numCache>
                <c:formatCode>mmm\-yy</c:formatCode>
                <c:ptCount val="24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  <c:pt idx="6">
                  <c:v>45474</c:v>
                </c:pt>
                <c:pt idx="7">
                  <c:v>45505</c:v>
                </c:pt>
                <c:pt idx="8">
                  <c:v>45536</c:v>
                </c:pt>
                <c:pt idx="9">
                  <c:v>45566</c:v>
                </c:pt>
                <c:pt idx="10">
                  <c:v>45597</c:v>
                </c:pt>
                <c:pt idx="11">
                  <c:v>45627</c:v>
                </c:pt>
                <c:pt idx="12">
                  <c:v>45658</c:v>
                </c:pt>
                <c:pt idx="13">
                  <c:v>45689</c:v>
                </c:pt>
                <c:pt idx="14">
                  <c:v>45717</c:v>
                </c:pt>
                <c:pt idx="15">
                  <c:v>45748</c:v>
                </c:pt>
                <c:pt idx="16">
                  <c:v>45778</c:v>
                </c:pt>
                <c:pt idx="17">
                  <c:v>45809</c:v>
                </c:pt>
                <c:pt idx="18">
                  <c:v>45839</c:v>
                </c:pt>
                <c:pt idx="19">
                  <c:v>45870</c:v>
                </c:pt>
                <c:pt idx="20">
                  <c:v>45901</c:v>
                </c:pt>
                <c:pt idx="21">
                  <c:v>45931</c:v>
                </c:pt>
                <c:pt idx="22">
                  <c:v>45962</c:v>
                </c:pt>
                <c:pt idx="23">
                  <c:v>45992</c:v>
                </c:pt>
              </c:numCache>
            </c:numRef>
          </c:cat>
          <c:val>
            <c:numRef>
              <c:f>Sheet1!$C$110:$C$133</c:f>
              <c:numCache>
                <c:formatCode>0.0</c:formatCode>
                <c:ptCount val="24"/>
                <c:pt idx="0">
                  <c:v>-77.108964919007789</c:v>
                </c:pt>
                <c:pt idx="1">
                  <c:v>-57.335941385816227</c:v>
                </c:pt>
                <c:pt idx="2">
                  <c:v>29.812066677786433</c:v>
                </c:pt>
                <c:pt idx="3">
                  <c:v>-33.845235105603543</c:v>
                </c:pt>
                <c:pt idx="4">
                  <c:v>51.840328952065008</c:v>
                </c:pt>
                <c:pt idx="5">
                  <c:v>134.55657873598</c:v>
                </c:pt>
                <c:pt idx="6">
                  <c:v>276.63499999999999</c:v>
                </c:pt>
                <c:pt idx="7">
                  <c:v>278.16699999999997</c:v>
                </c:pt>
                <c:pt idx="8">
                  <c:v>218.69499999999999</c:v>
                </c:pt>
                <c:pt idx="9">
                  <c:v>163.1</c:v>
                </c:pt>
                <c:pt idx="10">
                  <c:v>117</c:v>
                </c:pt>
                <c:pt idx="11">
                  <c:v>30.9</c:v>
                </c:pt>
                <c:pt idx="12">
                  <c:v>93.509</c:v>
                </c:pt>
                <c:pt idx="13">
                  <c:v>175.29499999999999</c:v>
                </c:pt>
                <c:pt idx="14">
                  <c:v>213.772695007908</c:v>
                </c:pt>
                <c:pt idx="15">
                  <c:v>186.06764951189001</c:v>
                </c:pt>
                <c:pt idx="16">
                  <c:v>232.32</c:v>
                </c:pt>
                <c:pt idx="17">
                  <c:v>232.16</c:v>
                </c:pt>
                <c:pt idx="18">
                  <c:v>223.84193056438801</c:v>
                </c:pt>
                <c:pt idx="19">
                  <c:v>156.39147390085435</c:v>
                </c:pt>
                <c:pt idx="20">
                  <c:v>59.2222767435902</c:v>
                </c:pt>
                <c:pt idx="21">
                  <c:v>-17.209</c:v>
                </c:pt>
                <c:pt idx="22">
                  <c:v>-2.4990000000000001</c:v>
                </c:pt>
                <c:pt idx="23">
                  <c:v>-31.547999999999998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F1C-46AE-A42A-A73DE4BED6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49848048"/>
        <c:axId val="1849849008"/>
      </c:lineChart>
      <c:dateAx>
        <c:axId val="1849848048"/>
        <c:scaling>
          <c:orientation val="minMax"/>
          <c:min val="45292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88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accent2">
                    <a:lumMod val="50000"/>
                  </a:schemeClr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1849849008"/>
        <c:crosses val="autoZero"/>
        <c:auto val="1"/>
        <c:lblOffset val="100"/>
        <c:baseTimeUnit val="months"/>
        <c:majorUnit val="1"/>
        <c:majorTimeUnit val="months"/>
      </c:dateAx>
      <c:valAx>
        <c:axId val="1849849008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2">
                    <a:lumMod val="50000"/>
                  </a:schemeClr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1849848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8.1924867020238767E-2"/>
          <c:y val="1.7397238063766824E-2"/>
          <c:w val="0.72893126363345673"/>
          <c:h val="0.1137683753555740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accent2">
                  <a:lumMod val="50000"/>
                </a:schemeClr>
              </a:solidFill>
              <a:latin typeface="BentonSans Regular" panose="02000503040000020004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800000"/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753918"/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r>
              <a:rPr lang="en-US">
                <a:solidFill>
                  <a:srgbClr val="753918"/>
                </a:solidFill>
                <a:latin typeface="BentonSans Regular" panose="02000503040000020004" pitchFamily="50" charset="0"/>
              </a:rPr>
              <a:t>T-Bills rates by Maturity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753918"/>
              </a:solidFill>
              <a:latin typeface="BentonSans Regular" panose="02000503040000020004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'[Quarterly Interest rates time series _MPC MAY 2025.xlsx]All rates'!$E$4</c:f>
              <c:strCache>
                <c:ptCount val="1"/>
                <c:pt idx="0">
                  <c:v>4wtb</c:v>
                </c:pt>
              </c:strCache>
            </c:strRef>
          </c:tx>
          <c:spPr>
            <a:ln w="28575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'[Quarterly Interest rates time series _MPC MAY 2025.xlsx]All rates'!$A$269:$A$316</c:f>
              <c:numCache>
                <c:formatCode>mmm\-yy</c:formatCode>
                <c:ptCount val="48"/>
                <c:pt idx="0">
                  <c:v>44562</c:v>
                </c:pt>
                <c:pt idx="1">
                  <c:v>44593</c:v>
                </c:pt>
                <c:pt idx="2">
                  <c:v>44621</c:v>
                </c:pt>
                <c:pt idx="3">
                  <c:v>44652</c:v>
                </c:pt>
                <c:pt idx="4">
                  <c:v>44682</c:v>
                </c:pt>
                <c:pt idx="5">
                  <c:v>44713</c:v>
                </c:pt>
                <c:pt idx="6">
                  <c:v>44743</c:v>
                </c:pt>
                <c:pt idx="7">
                  <c:v>44774</c:v>
                </c:pt>
                <c:pt idx="8">
                  <c:v>44805</c:v>
                </c:pt>
                <c:pt idx="9">
                  <c:v>44835</c:v>
                </c:pt>
                <c:pt idx="10">
                  <c:v>44866</c:v>
                </c:pt>
                <c:pt idx="11">
                  <c:v>44896</c:v>
                </c:pt>
                <c:pt idx="12">
                  <c:v>44927</c:v>
                </c:pt>
                <c:pt idx="13">
                  <c:v>44958</c:v>
                </c:pt>
                <c:pt idx="14">
                  <c:v>44986</c:v>
                </c:pt>
                <c:pt idx="15">
                  <c:v>45017</c:v>
                </c:pt>
                <c:pt idx="16">
                  <c:v>45047</c:v>
                </c:pt>
                <c:pt idx="17">
                  <c:v>45078</c:v>
                </c:pt>
                <c:pt idx="18">
                  <c:v>45108</c:v>
                </c:pt>
                <c:pt idx="19">
                  <c:v>45139</c:v>
                </c:pt>
                <c:pt idx="20">
                  <c:v>45170</c:v>
                </c:pt>
                <c:pt idx="21">
                  <c:v>45200</c:v>
                </c:pt>
                <c:pt idx="22">
                  <c:v>45231</c:v>
                </c:pt>
                <c:pt idx="23">
                  <c:v>45261</c:v>
                </c:pt>
                <c:pt idx="24">
                  <c:v>45292</c:v>
                </c:pt>
                <c:pt idx="25">
                  <c:v>45323</c:v>
                </c:pt>
                <c:pt idx="26">
                  <c:v>45375</c:v>
                </c:pt>
                <c:pt idx="27">
                  <c:v>45406</c:v>
                </c:pt>
                <c:pt idx="28">
                  <c:v>45436</c:v>
                </c:pt>
                <c:pt idx="29">
                  <c:v>45467</c:v>
                </c:pt>
                <c:pt idx="30">
                  <c:v>45497</c:v>
                </c:pt>
                <c:pt idx="31">
                  <c:v>45528</c:v>
                </c:pt>
                <c:pt idx="32">
                  <c:v>45559</c:v>
                </c:pt>
                <c:pt idx="33">
                  <c:v>45589</c:v>
                </c:pt>
                <c:pt idx="34">
                  <c:v>45620</c:v>
                </c:pt>
                <c:pt idx="35">
                  <c:v>45650</c:v>
                </c:pt>
                <c:pt idx="36">
                  <c:v>45681</c:v>
                </c:pt>
                <c:pt idx="37">
                  <c:v>45712</c:v>
                </c:pt>
                <c:pt idx="38">
                  <c:v>45740</c:v>
                </c:pt>
                <c:pt idx="39">
                  <c:v>45771</c:v>
                </c:pt>
                <c:pt idx="40">
                  <c:v>45801</c:v>
                </c:pt>
                <c:pt idx="41">
                  <c:v>45832</c:v>
                </c:pt>
                <c:pt idx="42">
                  <c:v>45862</c:v>
                </c:pt>
                <c:pt idx="43">
                  <c:v>45893</c:v>
                </c:pt>
                <c:pt idx="44">
                  <c:v>45924</c:v>
                </c:pt>
                <c:pt idx="45">
                  <c:v>45954</c:v>
                </c:pt>
                <c:pt idx="46">
                  <c:v>45985</c:v>
                </c:pt>
                <c:pt idx="47">
                  <c:v>46015</c:v>
                </c:pt>
              </c:numCache>
            </c:numRef>
          </c:cat>
          <c:val>
            <c:numRef>
              <c:f>'[Quarterly Interest rates time series _MPC MAY 2025.xlsx]All rates'!$E$269:$E$316</c:f>
              <c:numCache>
                <c:formatCode>0.00</c:formatCode>
                <c:ptCount val="48"/>
                <c:pt idx="0">
                  <c:v>5.6349999999999998</c:v>
                </c:pt>
                <c:pt idx="1">
                  <c:v>5.8019999999999996</c:v>
                </c:pt>
                <c:pt idx="2">
                  <c:v>5.8330000000000002</c:v>
                </c:pt>
                <c:pt idx="3">
                  <c:v>5.8739999999999997</c:v>
                </c:pt>
                <c:pt idx="4">
                  <c:v>5.8659999999999997</c:v>
                </c:pt>
                <c:pt idx="5">
                  <c:v>5.7190000000000003</c:v>
                </c:pt>
                <c:pt idx="6">
                  <c:v>5.6050000000000004</c:v>
                </c:pt>
                <c:pt idx="7">
                  <c:v>5.7619999999999996</c:v>
                </c:pt>
                <c:pt idx="8">
                  <c:v>6.39</c:v>
                </c:pt>
                <c:pt idx="9">
                  <c:v>6.569</c:v>
                </c:pt>
                <c:pt idx="10">
                  <c:v>6.7329999999999997</c:v>
                </c:pt>
                <c:pt idx="11">
                  <c:v>6.827</c:v>
                </c:pt>
                <c:pt idx="12">
                  <c:v>6.997803423579728</c:v>
                </c:pt>
                <c:pt idx="13">
                  <c:v>7.4059422930223056</c:v>
                </c:pt>
                <c:pt idx="14">
                  <c:v>7.8176124838473458</c:v>
                </c:pt>
                <c:pt idx="15">
                  <c:v>8.0002631644467002</c:v>
                </c:pt>
                <c:pt idx="16">
                  <c:v>8.2240101528790692</c:v>
                </c:pt>
                <c:pt idx="17">
                  <c:v>8.6644247341802227</c:v>
                </c:pt>
                <c:pt idx="18">
                  <c:v>8.9622379122805569</c:v>
                </c:pt>
                <c:pt idx="19">
                  <c:v>8.8766153751568897</c:v>
                </c:pt>
                <c:pt idx="20">
                  <c:v>8.3017743954799439</c:v>
                </c:pt>
                <c:pt idx="21">
                  <c:v>7.6381340579711301</c:v>
                </c:pt>
                <c:pt idx="22">
                  <c:v>8.209791424440251</c:v>
                </c:pt>
                <c:pt idx="23">
                  <c:v>8.6859999999999999</c:v>
                </c:pt>
                <c:pt idx="24">
                  <c:v>8.5730000000000004</c:v>
                </c:pt>
                <c:pt idx="25">
                  <c:v>8.8224584975703113</c:v>
                </c:pt>
                <c:pt idx="26">
                  <c:v>8.5840368462926016</c:v>
                </c:pt>
                <c:pt idx="27">
                  <c:v>8.2958493317069895</c:v>
                </c:pt>
                <c:pt idx="28">
                  <c:v>8.0199455008944245</c:v>
                </c:pt>
                <c:pt idx="29">
                  <c:v>7.9585139975785006</c:v>
                </c:pt>
                <c:pt idx="30">
                  <c:v>7.5623726447216768</c:v>
                </c:pt>
                <c:pt idx="31">
                  <c:v>7.2270640343250587</c:v>
                </c:pt>
                <c:pt idx="32">
                  <c:v>6.522375455172309</c:v>
                </c:pt>
                <c:pt idx="33">
                  <c:v>6.4180299163445529</c:v>
                </c:pt>
                <c:pt idx="34">
                  <c:v>6.5296114871651012</c:v>
                </c:pt>
                <c:pt idx="35">
                  <c:v>6.6130580460845279</c:v>
                </c:pt>
                <c:pt idx="36">
                  <c:v>6.6329227684647662</c:v>
                </c:pt>
                <c:pt idx="37">
                  <c:v>6.8022864074937353</c:v>
                </c:pt>
                <c:pt idx="38">
                  <c:v>6.8900587708129066</c:v>
                </c:pt>
                <c:pt idx="39">
                  <c:v>6.16</c:v>
                </c:pt>
                <c:pt idx="40">
                  <c:v>4.5330000000000004</c:v>
                </c:pt>
                <c:pt idx="41">
                  <c:v>5.5439586666666552</c:v>
                </c:pt>
                <c:pt idx="42">
                  <c:v>5.5655138339920809</c:v>
                </c:pt>
                <c:pt idx="43">
                  <c:v>5.8547540476861029</c:v>
                </c:pt>
                <c:pt idx="44">
                  <c:v>6.2783497736401621</c:v>
                </c:pt>
                <c:pt idx="45">
                  <c:v>6.76</c:v>
                </c:pt>
                <c:pt idx="46">
                  <c:v>6.94</c:v>
                </c:pt>
                <c:pt idx="47">
                  <c:v>6.89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07-4154-8FF9-83772BF8A8B3}"/>
            </c:ext>
          </c:extLst>
        </c:ser>
        <c:ser>
          <c:idx val="1"/>
          <c:order val="1"/>
          <c:tx>
            <c:strRef>
              <c:f>'[Quarterly Interest rates time series _MPC MAY 2025.xlsx]All rates'!$F$4</c:f>
              <c:strCache>
                <c:ptCount val="1"/>
                <c:pt idx="0">
                  <c:v>13wtb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'[Quarterly Interest rates time series _MPC MAY 2025.xlsx]All rates'!$A$269:$A$316</c:f>
              <c:numCache>
                <c:formatCode>mmm\-yy</c:formatCode>
                <c:ptCount val="48"/>
                <c:pt idx="0">
                  <c:v>44562</c:v>
                </c:pt>
                <c:pt idx="1">
                  <c:v>44593</c:v>
                </c:pt>
                <c:pt idx="2">
                  <c:v>44621</c:v>
                </c:pt>
                <c:pt idx="3">
                  <c:v>44652</c:v>
                </c:pt>
                <c:pt idx="4">
                  <c:v>44682</c:v>
                </c:pt>
                <c:pt idx="5">
                  <c:v>44713</c:v>
                </c:pt>
                <c:pt idx="6">
                  <c:v>44743</c:v>
                </c:pt>
                <c:pt idx="7">
                  <c:v>44774</c:v>
                </c:pt>
                <c:pt idx="8">
                  <c:v>44805</c:v>
                </c:pt>
                <c:pt idx="9">
                  <c:v>44835</c:v>
                </c:pt>
                <c:pt idx="10">
                  <c:v>44866</c:v>
                </c:pt>
                <c:pt idx="11">
                  <c:v>44896</c:v>
                </c:pt>
                <c:pt idx="12">
                  <c:v>44927</c:v>
                </c:pt>
                <c:pt idx="13">
                  <c:v>44958</c:v>
                </c:pt>
                <c:pt idx="14">
                  <c:v>44986</c:v>
                </c:pt>
                <c:pt idx="15">
                  <c:v>45017</c:v>
                </c:pt>
                <c:pt idx="16">
                  <c:v>45047</c:v>
                </c:pt>
                <c:pt idx="17">
                  <c:v>45078</c:v>
                </c:pt>
                <c:pt idx="18">
                  <c:v>45108</c:v>
                </c:pt>
                <c:pt idx="19">
                  <c:v>45139</c:v>
                </c:pt>
                <c:pt idx="20">
                  <c:v>45170</c:v>
                </c:pt>
                <c:pt idx="21">
                  <c:v>45200</c:v>
                </c:pt>
                <c:pt idx="22">
                  <c:v>45231</c:v>
                </c:pt>
                <c:pt idx="23">
                  <c:v>45261</c:v>
                </c:pt>
                <c:pt idx="24">
                  <c:v>45292</c:v>
                </c:pt>
                <c:pt idx="25">
                  <c:v>45323</c:v>
                </c:pt>
                <c:pt idx="26">
                  <c:v>45375</c:v>
                </c:pt>
                <c:pt idx="27">
                  <c:v>45406</c:v>
                </c:pt>
                <c:pt idx="28">
                  <c:v>45436</c:v>
                </c:pt>
                <c:pt idx="29">
                  <c:v>45467</c:v>
                </c:pt>
                <c:pt idx="30">
                  <c:v>45497</c:v>
                </c:pt>
                <c:pt idx="31">
                  <c:v>45528</c:v>
                </c:pt>
                <c:pt idx="32">
                  <c:v>45559</c:v>
                </c:pt>
                <c:pt idx="33">
                  <c:v>45589</c:v>
                </c:pt>
                <c:pt idx="34">
                  <c:v>45620</c:v>
                </c:pt>
                <c:pt idx="35">
                  <c:v>45650</c:v>
                </c:pt>
                <c:pt idx="36">
                  <c:v>45681</c:v>
                </c:pt>
                <c:pt idx="37">
                  <c:v>45712</c:v>
                </c:pt>
                <c:pt idx="38">
                  <c:v>45740</c:v>
                </c:pt>
                <c:pt idx="39">
                  <c:v>45771</c:v>
                </c:pt>
                <c:pt idx="40">
                  <c:v>45801</c:v>
                </c:pt>
                <c:pt idx="41">
                  <c:v>45832</c:v>
                </c:pt>
                <c:pt idx="42">
                  <c:v>45862</c:v>
                </c:pt>
                <c:pt idx="43">
                  <c:v>45893</c:v>
                </c:pt>
                <c:pt idx="44">
                  <c:v>45924</c:v>
                </c:pt>
                <c:pt idx="45">
                  <c:v>45954</c:v>
                </c:pt>
                <c:pt idx="46">
                  <c:v>45985</c:v>
                </c:pt>
                <c:pt idx="47">
                  <c:v>46015</c:v>
                </c:pt>
              </c:numCache>
            </c:numRef>
          </c:cat>
          <c:val>
            <c:numRef>
              <c:f>'[Quarterly Interest rates time series _MPC MAY 2025.xlsx]All rates'!$F$269:$F$316</c:f>
              <c:numCache>
                <c:formatCode>0.00</c:formatCode>
                <c:ptCount val="48"/>
                <c:pt idx="0">
                  <c:v>5.8570000000000002</c:v>
                </c:pt>
                <c:pt idx="1">
                  <c:v>5.9210000000000003</c:v>
                </c:pt>
                <c:pt idx="2">
                  <c:v>6.5709999999999997</c:v>
                </c:pt>
                <c:pt idx="3">
                  <c:v>6.7640000000000002</c:v>
                </c:pt>
                <c:pt idx="4">
                  <c:v>6.4779999999999998</c:v>
                </c:pt>
                <c:pt idx="5">
                  <c:v>6.0819999999999999</c:v>
                </c:pt>
                <c:pt idx="6">
                  <c:v>6.0190000000000001</c:v>
                </c:pt>
                <c:pt idx="7">
                  <c:v>6.31</c:v>
                </c:pt>
                <c:pt idx="8">
                  <c:v>6.9219999999999997</c:v>
                </c:pt>
                <c:pt idx="9">
                  <c:v>7.242</c:v>
                </c:pt>
                <c:pt idx="10">
                  <c:v>7.25</c:v>
                </c:pt>
                <c:pt idx="11">
                  <c:v>7.2729999999999997</c:v>
                </c:pt>
                <c:pt idx="12">
                  <c:v>7.4351791530944533</c:v>
                </c:pt>
                <c:pt idx="13">
                  <c:v>7.6086006825938535</c:v>
                </c:pt>
                <c:pt idx="14">
                  <c:v>7.9755497294046904</c:v>
                </c:pt>
                <c:pt idx="15">
                  <c:v>8.26251776072748</c:v>
                </c:pt>
                <c:pt idx="16">
                  <c:v>8.6064143426294724</c:v>
                </c:pt>
                <c:pt idx="17">
                  <c:v>8.8663529411764639</c:v>
                </c:pt>
                <c:pt idx="18">
                  <c:v>9.1843419032258016</c:v>
                </c:pt>
                <c:pt idx="19">
                  <c:v>9.2448155555555473</c:v>
                </c:pt>
                <c:pt idx="20">
                  <c:v>8.4779999999999998</c:v>
                </c:pt>
                <c:pt idx="21">
                  <c:v>8.1066796796123093</c:v>
                </c:pt>
                <c:pt idx="22">
                  <c:v>8.8604780487804824</c:v>
                </c:pt>
                <c:pt idx="23">
                  <c:v>9.1980000000000004</c:v>
                </c:pt>
                <c:pt idx="24">
                  <c:v>9.2010000000000005</c:v>
                </c:pt>
                <c:pt idx="25">
                  <c:v>9.2059859109311741</c:v>
                </c:pt>
                <c:pt idx="26">
                  <c:v>9.1347931034482777</c:v>
                </c:pt>
                <c:pt idx="27">
                  <c:v>8.8176114285714284</c:v>
                </c:pt>
                <c:pt idx="28">
                  <c:v>8.5972285714285714</c:v>
                </c:pt>
                <c:pt idx="29">
                  <c:v>8.4833333333333307</c:v>
                </c:pt>
                <c:pt idx="30">
                  <c:v>7.8474694267515952</c:v>
                </c:pt>
                <c:pt idx="31">
                  <c:v>7.2624196721311449</c:v>
                </c:pt>
                <c:pt idx="32">
                  <c:v>6.6283703703703702</c:v>
                </c:pt>
                <c:pt idx="33">
                  <c:v>6.5794736842105275</c:v>
                </c:pt>
                <c:pt idx="34">
                  <c:v>7.181558823529409</c:v>
                </c:pt>
                <c:pt idx="35">
                  <c:v>7.158285962473939</c:v>
                </c:pt>
                <c:pt idx="36">
                  <c:v>7.1300275482093678</c:v>
                </c:pt>
                <c:pt idx="37">
                  <c:v>7.1150711875000043</c:v>
                </c:pt>
                <c:pt idx="38">
                  <c:v>7.1375000000000028</c:v>
                </c:pt>
                <c:pt idx="39">
                  <c:v>6.25</c:v>
                </c:pt>
                <c:pt idx="40">
                  <c:v>5.0069999999999997</c:v>
                </c:pt>
                <c:pt idx="41">
                  <c:v>5.6500000000000208</c:v>
                </c:pt>
                <c:pt idx="42">
                  <c:v>5.7027661206349149</c:v>
                </c:pt>
                <c:pt idx="43">
                  <c:v>5.9049896563380253</c:v>
                </c:pt>
                <c:pt idx="44">
                  <c:v>6.5586120674035167</c:v>
                </c:pt>
                <c:pt idx="45">
                  <c:v>6.81</c:v>
                </c:pt>
                <c:pt idx="46">
                  <c:v>7.27</c:v>
                </c:pt>
                <c:pt idx="47">
                  <c:v>7.61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107-4154-8FF9-83772BF8A8B3}"/>
            </c:ext>
          </c:extLst>
        </c:ser>
        <c:ser>
          <c:idx val="2"/>
          <c:order val="2"/>
          <c:tx>
            <c:strRef>
              <c:f>'[Quarterly Interest rates time series _MPC MAY 2025.xlsx]All rates'!$G$4</c:f>
              <c:strCache>
                <c:ptCount val="1"/>
                <c:pt idx="0">
                  <c:v>26wtb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'[Quarterly Interest rates time series _MPC MAY 2025.xlsx]All rates'!$A$269:$A$316</c:f>
              <c:numCache>
                <c:formatCode>mmm\-yy</c:formatCode>
                <c:ptCount val="48"/>
                <c:pt idx="0">
                  <c:v>44562</c:v>
                </c:pt>
                <c:pt idx="1">
                  <c:v>44593</c:v>
                </c:pt>
                <c:pt idx="2">
                  <c:v>44621</c:v>
                </c:pt>
                <c:pt idx="3">
                  <c:v>44652</c:v>
                </c:pt>
                <c:pt idx="4">
                  <c:v>44682</c:v>
                </c:pt>
                <c:pt idx="5">
                  <c:v>44713</c:v>
                </c:pt>
                <c:pt idx="6">
                  <c:v>44743</c:v>
                </c:pt>
                <c:pt idx="7">
                  <c:v>44774</c:v>
                </c:pt>
                <c:pt idx="8">
                  <c:v>44805</c:v>
                </c:pt>
                <c:pt idx="9">
                  <c:v>44835</c:v>
                </c:pt>
                <c:pt idx="10">
                  <c:v>44866</c:v>
                </c:pt>
                <c:pt idx="11">
                  <c:v>44896</c:v>
                </c:pt>
                <c:pt idx="12">
                  <c:v>44927</c:v>
                </c:pt>
                <c:pt idx="13">
                  <c:v>44958</c:v>
                </c:pt>
                <c:pt idx="14">
                  <c:v>44986</c:v>
                </c:pt>
                <c:pt idx="15">
                  <c:v>45017</c:v>
                </c:pt>
                <c:pt idx="16">
                  <c:v>45047</c:v>
                </c:pt>
                <c:pt idx="17">
                  <c:v>45078</c:v>
                </c:pt>
                <c:pt idx="18">
                  <c:v>45108</c:v>
                </c:pt>
                <c:pt idx="19">
                  <c:v>45139</c:v>
                </c:pt>
                <c:pt idx="20">
                  <c:v>45170</c:v>
                </c:pt>
                <c:pt idx="21">
                  <c:v>45200</c:v>
                </c:pt>
                <c:pt idx="22">
                  <c:v>45231</c:v>
                </c:pt>
                <c:pt idx="23">
                  <c:v>45261</c:v>
                </c:pt>
                <c:pt idx="24">
                  <c:v>45292</c:v>
                </c:pt>
                <c:pt idx="25">
                  <c:v>45323</c:v>
                </c:pt>
                <c:pt idx="26">
                  <c:v>45375</c:v>
                </c:pt>
                <c:pt idx="27">
                  <c:v>45406</c:v>
                </c:pt>
                <c:pt idx="28">
                  <c:v>45436</c:v>
                </c:pt>
                <c:pt idx="29">
                  <c:v>45467</c:v>
                </c:pt>
                <c:pt idx="30">
                  <c:v>45497</c:v>
                </c:pt>
                <c:pt idx="31">
                  <c:v>45528</c:v>
                </c:pt>
                <c:pt idx="32">
                  <c:v>45559</c:v>
                </c:pt>
                <c:pt idx="33">
                  <c:v>45589</c:v>
                </c:pt>
                <c:pt idx="34">
                  <c:v>45620</c:v>
                </c:pt>
                <c:pt idx="35">
                  <c:v>45650</c:v>
                </c:pt>
                <c:pt idx="36">
                  <c:v>45681</c:v>
                </c:pt>
                <c:pt idx="37">
                  <c:v>45712</c:v>
                </c:pt>
                <c:pt idx="38">
                  <c:v>45740</c:v>
                </c:pt>
                <c:pt idx="39">
                  <c:v>45771</c:v>
                </c:pt>
                <c:pt idx="40">
                  <c:v>45801</c:v>
                </c:pt>
                <c:pt idx="41">
                  <c:v>45832</c:v>
                </c:pt>
                <c:pt idx="42">
                  <c:v>45862</c:v>
                </c:pt>
                <c:pt idx="43">
                  <c:v>45893</c:v>
                </c:pt>
                <c:pt idx="44">
                  <c:v>45924</c:v>
                </c:pt>
                <c:pt idx="45">
                  <c:v>45954</c:v>
                </c:pt>
                <c:pt idx="46">
                  <c:v>45985</c:v>
                </c:pt>
                <c:pt idx="47">
                  <c:v>46015</c:v>
                </c:pt>
              </c:numCache>
            </c:numRef>
          </c:cat>
          <c:val>
            <c:numRef>
              <c:f>'[Quarterly Interest rates time series _MPC MAY 2025.xlsx]All rates'!$G$269:$G$316</c:f>
              <c:numCache>
                <c:formatCode>0.00</c:formatCode>
                <c:ptCount val="48"/>
                <c:pt idx="0">
                  <c:v>6.3730000000000002</c:v>
                </c:pt>
                <c:pt idx="1">
                  <c:v>6.0570000000000004</c:v>
                </c:pt>
                <c:pt idx="2">
                  <c:v>7.8220000000000001</c:v>
                </c:pt>
                <c:pt idx="3">
                  <c:v>8.0619999999999994</c:v>
                </c:pt>
                <c:pt idx="4">
                  <c:v>8.1069999999999993</c:v>
                </c:pt>
                <c:pt idx="5">
                  <c:v>7.8280000000000003</c:v>
                </c:pt>
                <c:pt idx="6">
                  <c:v>7.92</c:v>
                </c:pt>
                <c:pt idx="7">
                  <c:v>8.1180000000000003</c:v>
                </c:pt>
                <c:pt idx="8">
                  <c:v>8.1519999999999992</c:v>
                </c:pt>
                <c:pt idx="9">
                  <c:v>8.0879999999999992</c:v>
                </c:pt>
                <c:pt idx="10">
                  <c:v>8.0809999999999995</c:v>
                </c:pt>
                <c:pt idx="11">
                  <c:v>8.1649999999999991</c:v>
                </c:pt>
                <c:pt idx="12">
                  <c:v>8.3134228187919526</c:v>
                </c:pt>
                <c:pt idx="13">
                  <c:v>8.3324324324324284</c:v>
                </c:pt>
                <c:pt idx="14">
                  <c:v>8.6051923076923025</c:v>
                </c:pt>
                <c:pt idx="15">
                  <c:v>10.020401186817837</c:v>
                </c:pt>
                <c:pt idx="16">
                  <c:v>10.334406779661014</c:v>
                </c:pt>
                <c:pt idx="17">
                  <c:v>10.441892274588744</c:v>
                </c:pt>
                <c:pt idx="18">
                  <c:v>10.630736196319015</c:v>
                </c:pt>
                <c:pt idx="19">
                  <c:v>10.63625722543353</c:v>
                </c:pt>
                <c:pt idx="20">
                  <c:v>10.276</c:v>
                </c:pt>
                <c:pt idx="21">
                  <c:v>9.5693986033422522</c:v>
                </c:pt>
                <c:pt idx="22">
                  <c:v>9.4158506731946137</c:v>
                </c:pt>
                <c:pt idx="23">
                  <c:v>9.4640000000000004</c:v>
                </c:pt>
                <c:pt idx="24">
                  <c:v>9.6354882674965321</c:v>
                </c:pt>
                <c:pt idx="25">
                  <c:v>9.8198680864847354</c:v>
                </c:pt>
                <c:pt idx="26">
                  <c:v>9.6187396337730267</c:v>
                </c:pt>
                <c:pt idx="27">
                  <c:v>9.2958284023668654</c:v>
                </c:pt>
                <c:pt idx="28">
                  <c:v>8.8032258064516231</c:v>
                </c:pt>
                <c:pt idx="29">
                  <c:v>8.6000000000000032</c:v>
                </c:pt>
                <c:pt idx="30">
                  <c:v>8.2286516853932543</c:v>
                </c:pt>
                <c:pt idx="31">
                  <c:v>7.5141399548532712</c:v>
                </c:pt>
                <c:pt idx="32">
                  <c:v>6.7240446096654285</c:v>
                </c:pt>
                <c:pt idx="33">
                  <c:v>6.7865020576131672</c:v>
                </c:pt>
                <c:pt idx="34">
                  <c:v>7.3303953871499186</c:v>
                </c:pt>
                <c:pt idx="35">
                  <c:v>7.3194910884051527</c:v>
                </c:pt>
                <c:pt idx="36">
                  <c:v>7.3111206896551755</c:v>
                </c:pt>
                <c:pt idx="37">
                  <c:v>7.3751428571428548</c:v>
                </c:pt>
                <c:pt idx="38">
                  <c:v>7.3152631578947389</c:v>
                </c:pt>
                <c:pt idx="39">
                  <c:v>6.56</c:v>
                </c:pt>
                <c:pt idx="40">
                  <c:v>5.28</c:v>
                </c:pt>
                <c:pt idx="41">
                  <c:v>5.7664287559808658</c:v>
                </c:pt>
                <c:pt idx="42">
                  <c:v>5.8817431322033915</c:v>
                </c:pt>
                <c:pt idx="43">
                  <c:v>6.1056553290573259</c:v>
                </c:pt>
                <c:pt idx="44">
                  <c:v>6.7722960151802631</c:v>
                </c:pt>
                <c:pt idx="45">
                  <c:v>7.08</c:v>
                </c:pt>
                <c:pt idx="46">
                  <c:v>7.53</c:v>
                </c:pt>
                <c:pt idx="47">
                  <c:v>7.57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107-4154-8FF9-83772BF8A8B3}"/>
            </c:ext>
          </c:extLst>
        </c:ser>
        <c:ser>
          <c:idx val="3"/>
          <c:order val="3"/>
          <c:tx>
            <c:strRef>
              <c:f>'[Quarterly Interest rates time series _MPC MAY 2025.xlsx]All rates'!$H$4</c:f>
              <c:strCache>
                <c:ptCount val="1"/>
                <c:pt idx="0">
                  <c:v>52wtb</c:v>
                </c:pt>
              </c:strCache>
            </c:strRef>
          </c:tx>
          <c:spPr>
            <a:ln w="28575" cap="rnd">
              <a:solidFill>
                <a:schemeClr val="accent2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'[Quarterly Interest rates time series _MPC MAY 2025.xlsx]All rates'!$A$269:$A$316</c:f>
              <c:numCache>
                <c:formatCode>mmm\-yy</c:formatCode>
                <c:ptCount val="48"/>
                <c:pt idx="0">
                  <c:v>44562</c:v>
                </c:pt>
                <c:pt idx="1">
                  <c:v>44593</c:v>
                </c:pt>
                <c:pt idx="2">
                  <c:v>44621</c:v>
                </c:pt>
                <c:pt idx="3">
                  <c:v>44652</c:v>
                </c:pt>
                <c:pt idx="4">
                  <c:v>44682</c:v>
                </c:pt>
                <c:pt idx="5">
                  <c:v>44713</c:v>
                </c:pt>
                <c:pt idx="6">
                  <c:v>44743</c:v>
                </c:pt>
                <c:pt idx="7">
                  <c:v>44774</c:v>
                </c:pt>
                <c:pt idx="8">
                  <c:v>44805</c:v>
                </c:pt>
                <c:pt idx="9">
                  <c:v>44835</c:v>
                </c:pt>
                <c:pt idx="10">
                  <c:v>44866</c:v>
                </c:pt>
                <c:pt idx="11">
                  <c:v>44896</c:v>
                </c:pt>
                <c:pt idx="12">
                  <c:v>44927</c:v>
                </c:pt>
                <c:pt idx="13">
                  <c:v>44958</c:v>
                </c:pt>
                <c:pt idx="14">
                  <c:v>44986</c:v>
                </c:pt>
                <c:pt idx="15">
                  <c:v>45017</c:v>
                </c:pt>
                <c:pt idx="16">
                  <c:v>45047</c:v>
                </c:pt>
                <c:pt idx="17">
                  <c:v>45078</c:v>
                </c:pt>
                <c:pt idx="18">
                  <c:v>45108</c:v>
                </c:pt>
                <c:pt idx="19">
                  <c:v>45139</c:v>
                </c:pt>
                <c:pt idx="20">
                  <c:v>45170</c:v>
                </c:pt>
                <c:pt idx="21">
                  <c:v>45200</c:v>
                </c:pt>
                <c:pt idx="22">
                  <c:v>45231</c:v>
                </c:pt>
                <c:pt idx="23">
                  <c:v>45261</c:v>
                </c:pt>
                <c:pt idx="24">
                  <c:v>45292</c:v>
                </c:pt>
                <c:pt idx="25">
                  <c:v>45323</c:v>
                </c:pt>
                <c:pt idx="26">
                  <c:v>45375</c:v>
                </c:pt>
                <c:pt idx="27">
                  <c:v>45406</c:v>
                </c:pt>
                <c:pt idx="28">
                  <c:v>45436</c:v>
                </c:pt>
                <c:pt idx="29">
                  <c:v>45467</c:v>
                </c:pt>
                <c:pt idx="30">
                  <c:v>45497</c:v>
                </c:pt>
                <c:pt idx="31">
                  <c:v>45528</c:v>
                </c:pt>
                <c:pt idx="32">
                  <c:v>45559</c:v>
                </c:pt>
                <c:pt idx="33">
                  <c:v>45589</c:v>
                </c:pt>
                <c:pt idx="34">
                  <c:v>45620</c:v>
                </c:pt>
                <c:pt idx="35">
                  <c:v>45650</c:v>
                </c:pt>
                <c:pt idx="36">
                  <c:v>45681</c:v>
                </c:pt>
                <c:pt idx="37">
                  <c:v>45712</c:v>
                </c:pt>
                <c:pt idx="38">
                  <c:v>45740</c:v>
                </c:pt>
                <c:pt idx="39">
                  <c:v>45771</c:v>
                </c:pt>
                <c:pt idx="40">
                  <c:v>45801</c:v>
                </c:pt>
                <c:pt idx="41">
                  <c:v>45832</c:v>
                </c:pt>
                <c:pt idx="42">
                  <c:v>45862</c:v>
                </c:pt>
                <c:pt idx="43">
                  <c:v>45893</c:v>
                </c:pt>
                <c:pt idx="44">
                  <c:v>45924</c:v>
                </c:pt>
                <c:pt idx="45">
                  <c:v>45954</c:v>
                </c:pt>
                <c:pt idx="46">
                  <c:v>45985</c:v>
                </c:pt>
                <c:pt idx="47">
                  <c:v>46015</c:v>
                </c:pt>
              </c:numCache>
            </c:numRef>
          </c:cat>
          <c:val>
            <c:numRef>
              <c:f>'[Quarterly Interest rates time series _MPC MAY 2025.xlsx]All rates'!$H$269:$H$316</c:f>
              <c:numCache>
                <c:formatCode>0.00</c:formatCode>
                <c:ptCount val="48"/>
                <c:pt idx="0">
                  <c:v>7.8680000000000003</c:v>
                </c:pt>
                <c:pt idx="1">
                  <c:v>7.7469999999999999</c:v>
                </c:pt>
                <c:pt idx="2">
                  <c:v>8.4309999999999992</c:v>
                </c:pt>
                <c:pt idx="3">
                  <c:v>8.4380000000000006</c:v>
                </c:pt>
                <c:pt idx="4">
                  <c:v>8.5630000000000006</c:v>
                </c:pt>
                <c:pt idx="5">
                  <c:v>8.2639999999999993</c:v>
                </c:pt>
                <c:pt idx="6">
                  <c:v>8.2370000000000001</c:v>
                </c:pt>
                <c:pt idx="7">
                  <c:v>8.4450000000000003</c:v>
                </c:pt>
                <c:pt idx="8">
                  <c:v>8.4879999999999995</c:v>
                </c:pt>
                <c:pt idx="9">
                  <c:v>8.5180000000000007</c:v>
                </c:pt>
                <c:pt idx="10">
                  <c:v>8.6189999999999998</c:v>
                </c:pt>
                <c:pt idx="11">
                  <c:v>8.6620000000000008</c:v>
                </c:pt>
                <c:pt idx="12">
                  <c:v>8.8279369708253501</c:v>
                </c:pt>
                <c:pt idx="13">
                  <c:v>8.9641304049808657</c:v>
                </c:pt>
                <c:pt idx="14">
                  <c:v>9.6025615322217206</c:v>
                </c:pt>
                <c:pt idx="15">
                  <c:v>9.9444444444444446</c:v>
                </c:pt>
                <c:pt idx="16">
                  <c:v>10.234513274336281</c:v>
                </c:pt>
                <c:pt idx="17">
                  <c:v>10.702021481037656</c:v>
                </c:pt>
                <c:pt idx="18">
                  <c:v>10.807361737979177</c:v>
                </c:pt>
                <c:pt idx="19">
                  <c:v>10.75223113964687</c:v>
                </c:pt>
                <c:pt idx="20">
                  <c:v>10.348000000000001</c:v>
                </c:pt>
                <c:pt idx="21">
                  <c:v>9.8659817600000022</c:v>
                </c:pt>
                <c:pt idx="22">
                  <c:v>9.7265421372719345</c:v>
                </c:pt>
                <c:pt idx="23">
                  <c:v>9.6709999999999994</c:v>
                </c:pt>
                <c:pt idx="24">
                  <c:v>10.005000000000001</c:v>
                </c:pt>
                <c:pt idx="25">
                  <c:v>10.457108385492402</c:v>
                </c:pt>
                <c:pt idx="26">
                  <c:v>9.7746623515981703</c:v>
                </c:pt>
                <c:pt idx="27">
                  <c:v>9.411621621621622</c:v>
                </c:pt>
                <c:pt idx="28">
                  <c:v>9.5717023809523791</c:v>
                </c:pt>
                <c:pt idx="29">
                  <c:v>9.3260000000000041</c:v>
                </c:pt>
                <c:pt idx="30">
                  <c:v>9.1059547428571452</c:v>
                </c:pt>
                <c:pt idx="31">
                  <c:v>8.3354343629343628</c:v>
                </c:pt>
                <c:pt idx="32">
                  <c:v>7.4490033783783804</c:v>
                </c:pt>
                <c:pt idx="33">
                  <c:v>7.2874575175422436</c:v>
                </c:pt>
                <c:pt idx="34">
                  <c:v>7.4694750211685017</c:v>
                </c:pt>
                <c:pt idx="35">
                  <c:v>7.7091525423728839</c:v>
                </c:pt>
                <c:pt idx="36">
                  <c:v>8.1209999999999987</c:v>
                </c:pt>
                <c:pt idx="37">
                  <c:v>7.9567478096084798</c:v>
                </c:pt>
                <c:pt idx="38">
                  <c:v>7.8314582306376268</c:v>
                </c:pt>
                <c:pt idx="39">
                  <c:v>7.1230000000000002</c:v>
                </c:pt>
                <c:pt idx="40">
                  <c:v>5.4109999999999996</c:v>
                </c:pt>
                <c:pt idx="41">
                  <c:v>6.8666666666666663</c:v>
                </c:pt>
                <c:pt idx="42">
                  <c:v>6.865065557377048</c:v>
                </c:pt>
                <c:pt idx="43">
                  <c:v>7.3261097497761698</c:v>
                </c:pt>
                <c:pt idx="44">
                  <c:v>7.3886361665548499</c:v>
                </c:pt>
                <c:pt idx="45">
                  <c:v>7.78</c:v>
                </c:pt>
                <c:pt idx="46">
                  <c:v>8.1999999999999993</c:v>
                </c:pt>
                <c:pt idx="47">
                  <c:v>8.4600000000000009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107-4154-8FF9-83772BF8A8B3}"/>
            </c:ext>
          </c:extLst>
        </c:ser>
        <c:ser>
          <c:idx val="4"/>
          <c:order val="4"/>
          <c:tx>
            <c:strRef>
              <c:f>'[Quarterly Interest rates time series _MPC MAY 2025.xlsx]All rates'!$B$3</c:f>
              <c:strCache>
                <c:ptCount val="1"/>
                <c:pt idx="0">
                  <c:v>CBR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'[Quarterly Interest rates time series _MPC MAY 2025.xlsx]All rates'!$A$269:$A$316</c:f>
              <c:numCache>
                <c:formatCode>mmm\-yy</c:formatCode>
                <c:ptCount val="48"/>
                <c:pt idx="0">
                  <c:v>44562</c:v>
                </c:pt>
                <c:pt idx="1">
                  <c:v>44593</c:v>
                </c:pt>
                <c:pt idx="2">
                  <c:v>44621</c:v>
                </c:pt>
                <c:pt idx="3">
                  <c:v>44652</c:v>
                </c:pt>
                <c:pt idx="4">
                  <c:v>44682</c:v>
                </c:pt>
                <c:pt idx="5">
                  <c:v>44713</c:v>
                </c:pt>
                <c:pt idx="6">
                  <c:v>44743</c:v>
                </c:pt>
                <c:pt idx="7">
                  <c:v>44774</c:v>
                </c:pt>
                <c:pt idx="8">
                  <c:v>44805</c:v>
                </c:pt>
                <c:pt idx="9">
                  <c:v>44835</c:v>
                </c:pt>
                <c:pt idx="10">
                  <c:v>44866</c:v>
                </c:pt>
                <c:pt idx="11">
                  <c:v>44896</c:v>
                </c:pt>
                <c:pt idx="12">
                  <c:v>44927</c:v>
                </c:pt>
                <c:pt idx="13">
                  <c:v>44958</c:v>
                </c:pt>
                <c:pt idx="14">
                  <c:v>44986</c:v>
                </c:pt>
                <c:pt idx="15">
                  <c:v>45017</c:v>
                </c:pt>
                <c:pt idx="16">
                  <c:v>45047</c:v>
                </c:pt>
                <c:pt idx="17">
                  <c:v>45078</c:v>
                </c:pt>
                <c:pt idx="18">
                  <c:v>45108</c:v>
                </c:pt>
                <c:pt idx="19">
                  <c:v>45139</c:v>
                </c:pt>
                <c:pt idx="20">
                  <c:v>45170</c:v>
                </c:pt>
                <c:pt idx="21">
                  <c:v>45200</c:v>
                </c:pt>
                <c:pt idx="22">
                  <c:v>45231</c:v>
                </c:pt>
                <c:pt idx="23">
                  <c:v>45261</c:v>
                </c:pt>
                <c:pt idx="24">
                  <c:v>45292</c:v>
                </c:pt>
                <c:pt idx="25">
                  <c:v>45323</c:v>
                </c:pt>
                <c:pt idx="26">
                  <c:v>45375</c:v>
                </c:pt>
                <c:pt idx="27">
                  <c:v>45406</c:v>
                </c:pt>
                <c:pt idx="28">
                  <c:v>45436</c:v>
                </c:pt>
                <c:pt idx="29">
                  <c:v>45467</c:v>
                </c:pt>
                <c:pt idx="30">
                  <c:v>45497</c:v>
                </c:pt>
                <c:pt idx="31">
                  <c:v>45528</c:v>
                </c:pt>
                <c:pt idx="32">
                  <c:v>45559</c:v>
                </c:pt>
                <c:pt idx="33">
                  <c:v>45589</c:v>
                </c:pt>
                <c:pt idx="34">
                  <c:v>45620</c:v>
                </c:pt>
                <c:pt idx="35">
                  <c:v>45650</c:v>
                </c:pt>
                <c:pt idx="36">
                  <c:v>45681</c:v>
                </c:pt>
                <c:pt idx="37">
                  <c:v>45712</c:v>
                </c:pt>
                <c:pt idx="38">
                  <c:v>45740</c:v>
                </c:pt>
                <c:pt idx="39">
                  <c:v>45771</c:v>
                </c:pt>
                <c:pt idx="40">
                  <c:v>45801</c:v>
                </c:pt>
                <c:pt idx="41">
                  <c:v>45832</c:v>
                </c:pt>
                <c:pt idx="42">
                  <c:v>45862</c:v>
                </c:pt>
                <c:pt idx="43">
                  <c:v>45893</c:v>
                </c:pt>
                <c:pt idx="44">
                  <c:v>45924</c:v>
                </c:pt>
                <c:pt idx="45">
                  <c:v>45954</c:v>
                </c:pt>
                <c:pt idx="46">
                  <c:v>45985</c:v>
                </c:pt>
                <c:pt idx="47">
                  <c:v>46015</c:v>
                </c:pt>
              </c:numCache>
            </c:numRef>
          </c:cat>
          <c:val>
            <c:numRef>
              <c:f>'[Quarterly Interest rates time series _MPC MAY 2025.xlsx]All rates'!$B$269:$B$316</c:f>
              <c:numCache>
                <c:formatCode>0.00</c:formatCode>
                <c:ptCount val="48"/>
                <c:pt idx="0">
                  <c:v>4.5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6.5</c:v>
                </c:pt>
                <c:pt idx="11">
                  <c:v>6.5</c:v>
                </c:pt>
                <c:pt idx="12">
                  <c:v>6.5</c:v>
                </c:pt>
                <c:pt idx="13">
                  <c:v>7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7</c:v>
                </c:pt>
                <c:pt idx="19">
                  <c:v>7.5</c:v>
                </c:pt>
                <c:pt idx="20">
                  <c:v>7.5</c:v>
                </c:pt>
                <c:pt idx="21">
                  <c:v>7.5</c:v>
                </c:pt>
                <c:pt idx="22">
                  <c:v>7.5</c:v>
                </c:pt>
                <c:pt idx="23">
                  <c:v>7.5</c:v>
                </c:pt>
                <c:pt idx="24">
                  <c:v>7.5</c:v>
                </c:pt>
                <c:pt idx="25">
                  <c:v>7.5</c:v>
                </c:pt>
                <c:pt idx="26">
                  <c:v>7.5</c:v>
                </c:pt>
                <c:pt idx="27">
                  <c:v>7.5</c:v>
                </c:pt>
                <c:pt idx="28">
                  <c:v>7</c:v>
                </c:pt>
                <c:pt idx="29">
                  <c:v>7</c:v>
                </c:pt>
                <c:pt idx="30">
                  <c:v>7</c:v>
                </c:pt>
                <c:pt idx="31">
                  <c:v>6.5</c:v>
                </c:pt>
                <c:pt idx="32">
                  <c:v>6.5</c:v>
                </c:pt>
                <c:pt idx="33">
                  <c:v>6.5</c:v>
                </c:pt>
                <c:pt idx="34">
                  <c:v>6.5</c:v>
                </c:pt>
                <c:pt idx="35">
                  <c:v>6.5</c:v>
                </c:pt>
                <c:pt idx="36">
                  <c:v>6.5</c:v>
                </c:pt>
                <c:pt idx="37">
                  <c:v>6.5</c:v>
                </c:pt>
                <c:pt idx="38">
                  <c:v>6.5</c:v>
                </c:pt>
                <c:pt idx="39">
                  <c:v>6.5</c:v>
                </c:pt>
                <c:pt idx="40">
                  <c:v>6.5</c:v>
                </c:pt>
                <c:pt idx="41">
                  <c:v>6.5</c:v>
                </c:pt>
                <c:pt idx="42">
                  <c:v>6.5</c:v>
                </c:pt>
                <c:pt idx="43">
                  <c:v>6.75</c:v>
                </c:pt>
                <c:pt idx="44">
                  <c:v>6.75</c:v>
                </c:pt>
                <c:pt idx="45">
                  <c:v>6.75</c:v>
                </c:pt>
                <c:pt idx="46">
                  <c:v>6.75</c:v>
                </c:pt>
                <c:pt idx="47">
                  <c:v>6.75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107-4154-8FF9-83772BF8A8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13709232"/>
        <c:axId val="813708688"/>
      </c:lineChart>
      <c:dateAx>
        <c:axId val="813709232"/>
        <c:scaling>
          <c:orientation val="minMax"/>
          <c:max val="46021"/>
          <c:min val="44562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solidFill>
            <a:srgbClr val="FCF7EA"/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753918"/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813708688"/>
        <c:crosses val="autoZero"/>
        <c:auto val="1"/>
        <c:lblOffset val="100"/>
        <c:baseTimeUnit val="months"/>
        <c:majorUnit val="2"/>
        <c:majorTimeUnit val="months"/>
      </c:dateAx>
      <c:valAx>
        <c:axId val="813708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753918"/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813709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753918"/>
              </a:solidFill>
              <a:latin typeface="BentonSans Regular" panose="02000503040000020004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accent2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5797893643614E-2"/>
          <c:y val="4.062504601635572E-2"/>
          <c:w val="0.94168937369630001"/>
          <c:h val="0.66308541888386019"/>
        </c:manualLayout>
      </c:layout>
      <c:lineChart>
        <c:grouping val="standard"/>
        <c:varyColors val="0"/>
        <c:ser>
          <c:idx val="2"/>
          <c:order val="0"/>
          <c:tx>
            <c:strRef>
              <c:f>'[Montly money market rates MPC May 2025_Interbank rate graph.xlsx]Money market interest rates '!$E$2</c:f>
              <c:strCache>
                <c:ptCount val="1"/>
                <c:pt idx="0">
                  <c:v>CBR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'[Montly money market rates MPC May 2025_Interbank rate graph.xlsx]Money market interest rates '!$B$267:$B$314</c:f>
              <c:numCache>
                <c:formatCode>mmm\-yy</c:formatCode>
                <c:ptCount val="48"/>
                <c:pt idx="0">
                  <c:v>44566</c:v>
                </c:pt>
                <c:pt idx="1">
                  <c:v>44597</c:v>
                </c:pt>
                <c:pt idx="2">
                  <c:v>44625</c:v>
                </c:pt>
                <c:pt idx="3">
                  <c:v>44656</c:v>
                </c:pt>
                <c:pt idx="4">
                  <c:v>44686</c:v>
                </c:pt>
                <c:pt idx="5">
                  <c:v>44717</c:v>
                </c:pt>
                <c:pt idx="6">
                  <c:v>44747</c:v>
                </c:pt>
                <c:pt idx="7">
                  <c:v>44778</c:v>
                </c:pt>
                <c:pt idx="8">
                  <c:v>44809</c:v>
                </c:pt>
                <c:pt idx="9">
                  <c:v>44839</c:v>
                </c:pt>
                <c:pt idx="10">
                  <c:v>44870</c:v>
                </c:pt>
                <c:pt idx="11">
                  <c:v>44900</c:v>
                </c:pt>
                <c:pt idx="12">
                  <c:v>44931</c:v>
                </c:pt>
                <c:pt idx="13">
                  <c:v>44962</c:v>
                </c:pt>
                <c:pt idx="14">
                  <c:v>44990</c:v>
                </c:pt>
                <c:pt idx="15">
                  <c:v>45021</c:v>
                </c:pt>
                <c:pt idx="16">
                  <c:v>45051</c:v>
                </c:pt>
                <c:pt idx="17">
                  <c:v>45082</c:v>
                </c:pt>
                <c:pt idx="18">
                  <c:v>45112</c:v>
                </c:pt>
                <c:pt idx="19">
                  <c:v>45143</c:v>
                </c:pt>
                <c:pt idx="20">
                  <c:v>45174</c:v>
                </c:pt>
                <c:pt idx="21">
                  <c:v>45204</c:v>
                </c:pt>
                <c:pt idx="22">
                  <c:v>45235</c:v>
                </c:pt>
                <c:pt idx="23">
                  <c:v>45265</c:v>
                </c:pt>
                <c:pt idx="24">
                  <c:v>45296</c:v>
                </c:pt>
                <c:pt idx="25">
                  <c:v>45327</c:v>
                </c:pt>
                <c:pt idx="26">
                  <c:v>45375</c:v>
                </c:pt>
                <c:pt idx="27">
                  <c:v>45406</c:v>
                </c:pt>
                <c:pt idx="28">
                  <c:v>45436</c:v>
                </c:pt>
                <c:pt idx="29">
                  <c:v>45467</c:v>
                </c:pt>
                <c:pt idx="30">
                  <c:v>45497</c:v>
                </c:pt>
                <c:pt idx="31">
                  <c:v>45528</c:v>
                </c:pt>
                <c:pt idx="32">
                  <c:v>45559</c:v>
                </c:pt>
                <c:pt idx="33">
                  <c:v>45589</c:v>
                </c:pt>
                <c:pt idx="34">
                  <c:v>45620</c:v>
                </c:pt>
                <c:pt idx="35">
                  <c:v>45650</c:v>
                </c:pt>
                <c:pt idx="36">
                  <c:v>45681</c:v>
                </c:pt>
                <c:pt idx="37">
                  <c:v>45712</c:v>
                </c:pt>
                <c:pt idx="38">
                  <c:v>45740</c:v>
                </c:pt>
                <c:pt idx="39">
                  <c:v>45771</c:v>
                </c:pt>
                <c:pt idx="40">
                  <c:v>45801</c:v>
                </c:pt>
                <c:pt idx="41">
                  <c:v>45832</c:v>
                </c:pt>
                <c:pt idx="42">
                  <c:v>45862</c:v>
                </c:pt>
                <c:pt idx="43">
                  <c:v>45893</c:v>
                </c:pt>
                <c:pt idx="44">
                  <c:v>45924</c:v>
                </c:pt>
                <c:pt idx="45">
                  <c:v>45954</c:v>
                </c:pt>
                <c:pt idx="46">
                  <c:v>45985</c:v>
                </c:pt>
                <c:pt idx="47">
                  <c:v>46015</c:v>
                </c:pt>
              </c:numCache>
            </c:numRef>
          </c:cat>
          <c:val>
            <c:numRef>
              <c:f>'[Montly money market rates MPC May 2025_Interbank rate graph.xlsx]Money market interest rates '!$E$267:$E$314</c:f>
              <c:numCache>
                <c:formatCode>0.00</c:formatCode>
                <c:ptCount val="48"/>
                <c:pt idx="0">
                  <c:v>4.5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6.5</c:v>
                </c:pt>
                <c:pt idx="11">
                  <c:v>6.5</c:v>
                </c:pt>
                <c:pt idx="12">
                  <c:v>6.5</c:v>
                </c:pt>
                <c:pt idx="13">
                  <c:v>7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7</c:v>
                </c:pt>
                <c:pt idx="19">
                  <c:v>7.5</c:v>
                </c:pt>
                <c:pt idx="20">
                  <c:v>7.5</c:v>
                </c:pt>
                <c:pt idx="21">
                  <c:v>7.5</c:v>
                </c:pt>
                <c:pt idx="22">
                  <c:v>7.5</c:v>
                </c:pt>
                <c:pt idx="23">
                  <c:v>7.5</c:v>
                </c:pt>
                <c:pt idx="24">
                  <c:v>7.5</c:v>
                </c:pt>
                <c:pt idx="25">
                  <c:v>7.5</c:v>
                </c:pt>
                <c:pt idx="26">
                  <c:v>7.5</c:v>
                </c:pt>
                <c:pt idx="27">
                  <c:v>7.5</c:v>
                </c:pt>
                <c:pt idx="28">
                  <c:v>7</c:v>
                </c:pt>
                <c:pt idx="29">
                  <c:v>7</c:v>
                </c:pt>
                <c:pt idx="30">
                  <c:v>7</c:v>
                </c:pt>
                <c:pt idx="31">
                  <c:v>6.5</c:v>
                </c:pt>
                <c:pt idx="32">
                  <c:v>6.5</c:v>
                </c:pt>
                <c:pt idx="33">
                  <c:v>6.5</c:v>
                </c:pt>
                <c:pt idx="34">
                  <c:v>6.5</c:v>
                </c:pt>
                <c:pt idx="35">
                  <c:v>6.5</c:v>
                </c:pt>
                <c:pt idx="36">
                  <c:v>6.5</c:v>
                </c:pt>
                <c:pt idx="37">
                  <c:v>6.5</c:v>
                </c:pt>
                <c:pt idx="38">
                  <c:v>6.5</c:v>
                </c:pt>
                <c:pt idx="39">
                  <c:v>6.5</c:v>
                </c:pt>
                <c:pt idx="40">
                  <c:v>6.5</c:v>
                </c:pt>
                <c:pt idx="41">
                  <c:v>6.5</c:v>
                </c:pt>
                <c:pt idx="42">
                  <c:v>6.5</c:v>
                </c:pt>
                <c:pt idx="43">
                  <c:v>6.75</c:v>
                </c:pt>
                <c:pt idx="44">
                  <c:v>6.75</c:v>
                </c:pt>
                <c:pt idx="45">
                  <c:v>6.75</c:v>
                </c:pt>
                <c:pt idx="46">
                  <c:v>6.75</c:v>
                </c:pt>
                <c:pt idx="47">
                  <c:v>6.75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9F-475F-84E3-6E37DE45FCBD}"/>
            </c:ext>
          </c:extLst>
        </c:ser>
        <c:ser>
          <c:idx val="0"/>
          <c:order val="1"/>
          <c:tx>
            <c:strRef>
              <c:f>'[Montly money market rates MPC May 2025_Interbank rate graph.xlsx]Money market interest rates '!$G$2</c:f>
              <c:strCache>
                <c:ptCount val="1"/>
                <c:pt idx="0">
                  <c:v>Interbank_rate</c:v>
                </c:pt>
              </c:strCache>
            </c:strRef>
          </c:tx>
          <c:spPr>
            <a:ln w="22225" cap="rnd">
              <a:solidFill>
                <a:srgbClr val="800000"/>
              </a:solidFill>
              <a:round/>
            </a:ln>
            <a:effectLst/>
          </c:spPr>
          <c:marker>
            <c:symbol val="none"/>
          </c:marker>
          <c:cat>
            <c:numRef>
              <c:f>'[Montly money market rates MPC May 2025_Interbank rate graph.xlsx]Money market interest rates '!$B$267:$B$314</c:f>
              <c:numCache>
                <c:formatCode>mmm\-yy</c:formatCode>
                <c:ptCount val="48"/>
                <c:pt idx="0">
                  <c:v>44566</c:v>
                </c:pt>
                <c:pt idx="1">
                  <c:v>44597</c:v>
                </c:pt>
                <c:pt idx="2">
                  <c:v>44625</c:v>
                </c:pt>
                <c:pt idx="3">
                  <c:v>44656</c:v>
                </c:pt>
                <c:pt idx="4">
                  <c:v>44686</c:v>
                </c:pt>
                <c:pt idx="5">
                  <c:v>44717</c:v>
                </c:pt>
                <c:pt idx="6">
                  <c:v>44747</c:v>
                </c:pt>
                <c:pt idx="7">
                  <c:v>44778</c:v>
                </c:pt>
                <c:pt idx="8">
                  <c:v>44809</c:v>
                </c:pt>
                <c:pt idx="9">
                  <c:v>44839</c:v>
                </c:pt>
                <c:pt idx="10">
                  <c:v>44870</c:v>
                </c:pt>
                <c:pt idx="11">
                  <c:v>44900</c:v>
                </c:pt>
                <c:pt idx="12">
                  <c:v>44931</c:v>
                </c:pt>
                <c:pt idx="13">
                  <c:v>44962</c:v>
                </c:pt>
                <c:pt idx="14">
                  <c:v>44990</c:v>
                </c:pt>
                <c:pt idx="15">
                  <c:v>45021</c:v>
                </c:pt>
                <c:pt idx="16">
                  <c:v>45051</c:v>
                </c:pt>
                <c:pt idx="17">
                  <c:v>45082</c:v>
                </c:pt>
                <c:pt idx="18">
                  <c:v>45112</c:v>
                </c:pt>
                <c:pt idx="19">
                  <c:v>45143</c:v>
                </c:pt>
                <c:pt idx="20">
                  <c:v>45174</c:v>
                </c:pt>
                <c:pt idx="21">
                  <c:v>45204</c:v>
                </c:pt>
                <c:pt idx="22">
                  <c:v>45235</c:v>
                </c:pt>
                <c:pt idx="23">
                  <c:v>45265</c:v>
                </c:pt>
                <c:pt idx="24">
                  <c:v>45296</c:v>
                </c:pt>
                <c:pt idx="25">
                  <c:v>45327</c:v>
                </c:pt>
                <c:pt idx="26">
                  <c:v>45375</c:v>
                </c:pt>
                <c:pt idx="27">
                  <c:v>45406</c:v>
                </c:pt>
                <c:pt idx="28">
                  <c:v>45436</c:v>
                </c:pt>
                <c:pt idx="29">
                  <c:v>45467</c:v>
                </c:pt>
                <c:pt idx="30">
                  <c:v>45497</c:v>
                </c:pt>
                <c:pt idx="31">
                  <c:v>45528</c:v>
                </c:pt>
                <c:pt idx="32">
                  <c:v>45559</c:v>
                </c:pt>
                <c:pt idx="33">
                  <c:v>45589</c:v>
                </c:pt>
                <c:pt idx="34">
                  <c:v>45620</c:v>
                </c:pt>
                <c:pt idx="35">
                  <c:v>45650</c:v>
                </c:pt>
                <c:pt idx="36">
                  <c:v>45681</c:v>
                </c:pt>
                <c:pt idx="37">
                  <c:v>45712</c:v>
                </c:pt>
                <c:pt idx="38">
                  <c:v>45740</c:v>
                </c:pt>
                <c:pt idx="39">
                  <c:v>45771</c:v>
                </c:pt>
                <c:pt idx="40">
                  <c:v>45801</c:v>
                </c:pt>
                <c:pt idx="41">
                  <c:v>45832</c:v>
                </c:pt>
                <c:pt idx="42">
                  <c:v>45862</c:v>
                </c:pt>
                <c:pt idx="43">
                  <c:v>45893</c:v>
                </c:pt>
                <c:pt idx="44">
                  <c:v>45924</c:v>
                </c:pt>
                <c:pt idx="45">
                  <c:v>45954</c:v>
                </c:pt>
                <c:pt idx="46">
                  <c:v>45985</c:v>
                </c:pt>
                <c:pt idx="47">
                  <c:v>46015</c:v>
                </c:pt>
              </c:numCache>
            </c:numRef>
          </c:cat>
          <c:val>
            <c:numRef>
              <c:f>'[Montly money market rates MPC May 2025_Interbank rate graph.xlsx]Money market interest rates '!$G$267:$G$314</c:f>
              <c:numCache>
                <c:formatCode>0.00</c:formatCode>
                <c:ptCount val="48"/>
                <c:pt idx="0">
                  <c:v>5.1890000000000001</c:v>
                </c:pt>
                <c:pt idx="1">
                  <c:v>5.2240000000000002</c:v>
                </c:pt>
                <c:pt idx="2">
                  <c:v>5.4630000000000001</c:v>
                </c:pt>
                <c:pt idx="3">
                  <c:v>5.4340000000000002</c:v>
                </c:pt>
                <c:pt idx="4">
                  <c:v>5.54</c:v>
                </c:pt>
                <c:pt idx="5">
                  <c:v>5.5490000000000004</c:v>
                </c:pt>
                <c:pt idx="6">
                  <c:v>5.5490000000000004</c:v>
                </c:pt>
                <c:pt idx="7">
                  <c:v>6.0970000000000004</c:v>
                </c:pt>
                <c:pt idx="8">
                  <c:v>6.4950000000000001</c:v>
                </c:pt>
                <c:pt idx="9">
                  <c:v>6.5609999999999999</c:v>
                </c:pt>
                <c:pt idx="10">
                  <c:v>6.867</c:v>
                </c:pt>
                <c:pt idx="11">
                  <c:v>7.1040000000000001</c:v>
                </c:pt>
                <c:pt idx="12">
                  <c:v>7.1559734772913979</c:v>
                </c:pt>
                <c:pt idx="13">
                  <c:v>7.2965912129043753</c:v>
                </c:pt>
                <c:pt idx="14">
                  <c:v>7.6183074265975819</c:v>
                </c:pt>
                <c:pt idx="15">
                  <c:v>7.7124198784649964</c:v>
                </c:pt>
                <c:pt idx="16">
                  <c:v>7.7520935391440986</c:v>
                </c:pt>
                <c:pt idx="17">
                  <c:v>7.7670000000000003</c:v>
                </c:pt>
                <c:pt idx="18">
                  <c:v>7.7854465315537977</c:v>
                </c:pt>
                <c:pt idx="19">
                  <c:v>8.0039999999999996</c:v>
                </c:pt>
                <c:pt idx="20">
                  <c:v>8.19</c:v>
                </c:pt>
                <c:pt idx="21">
                  <c:v>8.193584545115586</c:v>
                </c:pt>
                <c:pt idx="22">
                  <c:v>8.2460000000000004</c:v>
                </c:pt>
                <c:pt idx="23">
                  <c:v>8.3070000000000004</c:v>
                </c:pt>
                <c:pt idx="24">
                  <c:v>8.2934850266270139</c:v>
                </c:pt>
                <c:pt idx="25">
                  <c:v>8.279344546267323</c:v>
                </c:pt>
                <c:pt idx="26">
                  <c:v>8.2872386367725923</c:v>
                </c:pt>
                <c:pt idx="27">
                  <c:v>8.2966506368110604</c:v>
                </c:pt>
                <c:pt idx="28">
                  <c:v>8.2892493458179644</c:v>
                </c:pt>
                <c:pt idx="29">
                  <c:v>7.829727578277021</c:v>
                </c:pt>
                <c:pt idx="30">
                  <c:v>7.7060000000000004</c:v>
                </c:pt>
                <c:pt idx="31">
                  <c:v>7.3209999999999997</c:v>
                </c:pt>
                <c:pt idx="32">
                  <c:v>6.7469999999999999</c:v>
                </c:pt>
                <c:pt idx="33">
                  <c:v>6.77</c:v>
                </c:pt>
                <c:pt idx="34">
                  <c:v>6.8040000000000003</c:v>
                </c:pt>
                <c:pt idx="35">
                  <c:v>6.7709999999999999</c:v>
                </c:pt>
                <c:pt idx="36">
                  <c:v>6.7880000000000003</c:v>
                </c:pt>
                <c:pt idx="37">
                  <c:v>6.7519999999999998</c:v>
                </c:pt>
                <c:pt idx="38">
                  <c:v>6.7896931495463049</c:v>
                </c:pt>
                <c:pt idx="39">
                  <c:v>6.7729999999999997</c:v>
                </c:pt>
                <c:pt idx="40">
                  <c:v>6.4720000000000004</c:v>
                </c:pt>
                <c:pt idx="41">
                  <c:v>5.6833317476928897</c:v>
                </c:pt>
                <c:pt idx="42">
                  <c:v>5.468601128047359</c:v>
                </c:pt>
                <c:pt idx="43">
                  <c:v>5.6238733928495153</c:v>
                </c:pt>
                <c:pt idx="44">
                  <c:v>6.4676861891008945</c:v>
                </c:pt>
                <c:pt idx="45">
                  <c:v>6.78</c:v>
                </c:pt>
                <c:pt idx="46">
                  <c:v>6.89</c:v>
                </c:pt>
                <c:pt idx="47" formatCode="General">
                  <c:v>6.93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9F-475F-84E3-6E37DE45FCBD}"/>
            </c:ext>
          </c:extLst>
        </c:ser>
        <c:ser>
          <c:idx val="1"/>
          <c:order val="2"/>
          <c:tx>
            <c:strRef>
              <c:f>'[Montly money market rates MPC May 2025_Interbank rate graph.xlsx]Money market interest rates '!$H$2</c:f>
              <c:strCache>
                <c:ptCount val="1"/>
                <c:pt idx="0">
                  <c:v>T-brate_28days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'[Montly money market rates MPC May 2025_Interbank rate graph.xlsx]Money market interest rates '!$B$267:$B$314</c:f>
              <c:numCache>
                <c:formatCode>mmm\-yy</c:formatCode>
                <c:ptCount val="48"/>
                <c:pt idx="0">
                  <c:v>44566</c:v>
                </c:pt>
                <c:pt idx="1">
                  <c:v>44597</c:v>
                </c:pt>
                <c:pt idx="2">
                  <c:v>44625</c:v>
                </c:pt>
                <c:pt idx="3">
                  <c:v>44656</c:v>
                </c:pt>
                <c:pt idx="4">
                  <c:v>44686</c:v>
                </c:pt>
                <c:pt idx="5">
                  <c:v>44717</c:v>
                </c:pt>
                <c:pt idx="6">
                  <c:v>44747</c:v>
                </c:pt>
                <c:pt idx="7">
                  <c:v>44778</c:v>
                </c:pt>
                <c:pt idx="8">
                  <c:v>44809</c:v>
                </c:pt>
                <c:pt idx="9">
                  <c:v>44839</c:v>
                </c:pt>
                <c:pt idx="10">
                  <c:v>44870</c:v>
                </c:pt>
                <c:pt idx="11">
                  <c:v>44900</c:v>
                </c:pt>
                <c:pt idx="12">
                  <c:v>44931</c:v>
                </c:pt>
                <c:pt idx="13">
                  <c:v>44962</c:v>
                </c:pt>
                <c:pt idx="14">
                  <c:v>44990</c:v>
                </c:pt>
                <c:pt idx="15">
                  <c:v>45021</c:v>
                </c:pt>
                <c:pt idx="16">
                  <c:v>45051</c:v>
                </c:pt>
                <c:pt idx="17">
                  <c:v>45082</c:v>
                </c:pt>
                <c:pt idx="18">
                  <c:v>45112</c:v>
                </c:pt>
                <c:pt idx="19">
                  <c:v>45143</c:v>
                </c:pt>
                <c:pt idx="20">
                  <c:v>45174</c:v>
                </c:pt>
                <c:pt idx="21">
                  <c:v>45204</c:v>
                </c:pt>
                <c:pt idx="22">
                  <c:v>45235</c:v>
                </c:pt>
                <c:pt idx="23">
                  <c:v>45265</c:v>
                </c:pt>
                <c:pt idx="24">
                  <c:v>45296</c:v>
                </c:pt>
                <c:pt idx="25">
                  <c:v>45327</c:v>
                </c:pt>
                <c:pt idx="26">
                  <c:v>45375</c:v>
                </c:pt>
                <c:pt idx="27">
                  <c:v>45406</c:v>
                </c:pt>
                <c:pt idx="28">
                  <c:v>45436</c:v>
                </c:pt>
                <c:pt idx="29">
                  <c:v>45467</c:v>
                </c:pt>
                <c:pt idx="30">
                  <c:v>45497</c:v>
                </c:pt>
                <c:pt idx="31">
                  <c:v>45528</c:v>
                </c:pt>
                <c:pt idx="32">
                  <c:v>45559</c:v>
                </c:pt>
                <c:pt idx="33">
                  <c:v>45589</c:v>
                </c:pt>
                <c:pt idx="34">
                  <c:v>45620</c:v>
                </c:pt>
                <c:pt idx="35">
                  <c:v>45650</c:v>
                </c:pt>
                <c:pt idx="36">
                  <c:v>45681</c:v>
                </c:pt>
                <c:pt idx="37">
                  <c:v>45712</c:v>
                </c:pt>
                <c:pt idx="38">
                  <c:v>45740</c:v>
                </c:pt>
                <c:pt idx="39">
                  <c:v>45771</c:v>
                </c:pt>
                <c:pt idx="40">
                  <c:v>45801</c:v>
                </c:pt>
                <c:pt idx="41">
                  <c:v>45832</c:v>
                </c:pt>
                <c:pt idx="42">
                  <c:v>45862</c:v>
                </c:pt>
                <c:pt idx="43">
                  <c:v>45893</c:v>
                </c:pt>
                <c:pt idx="44">
                  <c:v>45924</c:v>
                </c:pt>
                <c:pt idx="45">
                  <c:v>45954</c:v>
                </c:pt>
                <c:pt idx="46">
                  <c:v>45985</c:v>
                </c:pt>
                <c:pt idx="47">
                  <c:v>46015</c:v>
                </c:pt>
              </c:numCache>
            </c:numRef>
          </c:cat>
          <c:val>
            <c:numRef>
              <c:f>'[Montly money market rates MPC May 2025_Interbank rate graph.xlsx]Money market interest rates '!$H$267:$H$314</c:f>
              <c:numCache>
                <c:formatCode>0.00</c:formatCode>
                <c:ptCount val="48"/>
                <c:pt idx="0">
                  <c:v>5.6349999999999998</c:v>
                </c:pt>
                <c:pt idx="1">
                  <c:v>5.8019999999999996</c:v>
                </c:pt>
                <c:pt idx="2">
                  <c:v>5.8330000000000002</c:v>
                </c:pt>
                <c:pt idx="3">
                  <c:v>5.8739999999999997</c:v>
                </c:pt>
                <c:pt idx="4">
                  <c:v>5.8659999999999997</c:v>
                </c:pt>
                <c:pt idx="5">
                  <c:v>5.7190000000000003</c:v>
                </c:pt>
                <c:pt idx="6">
                  <c:v>5.6053000199743979</c:v>
                </c:pt>
                <c:pt idx="7">
                  <c:v>5.7620630974742797</c:v>
                </c:pt>
                <c:pt idx="8">
                  <c:v>6.3900430263260715</c:v>
                </c:pt>
                <c:pt idx="9">
                  <c:v>6.5689288315181544</c:v>
                </c:pt>
                <c:pt idx="10">
                  <c:v>6.7330544498514895</c:v>
                </c:pt>
                <c:pt idx="11">
                  <c:v>6.8273174246418105</c:v>
                </c:pt>
                <c:pt idx="12">
                  <c:v>6.997803423579728</c:v>
                </c:pt>
                <c:pt idx="13">
                  <c:v>7.4059422930223056</c:v>
                </c:pt>
                <c:pt idx="14">
                  <c:v>7.8176124838473458</c:v>
                </c:pt>
                <c:pt idx="15">
                  <c:v>8.0002631644467002</c:v>
                </c:pt>
                <c:pt idx="16">
                  <c:v>8.2240101528790692</c:v>
                </c:pt>
                <c:pt idx="17">
                  <c:v>8.6644247341802227</c:v>
                </c:pt>
                <c:pt idx="18">
                  <c:v>8.9622379122805569</c:v>
                </c:pt>
                <c:pt idx="19">
                  <c:v>8.8766153751568897</c:v>
                </c:pt>
                <c:pt idx="20">
                  <c:v>8.3017743954799439</c:v>
                </c:pt>
                <c:pt idx="21">
                  <c:v>7.6381340579711328</c:v>
                </c:pt>
                <c:pt idx="22">
                  <c:v>8.209791424440251</c:v>
                </c:pt>
                <c:pt idx="23">
                  <c:v>8.6859999999999999</c:v>
                </c:pt>
                <c:pt idx="24">
                  <c:v>8.5730000000000004</c:v>
                </c:pt>
                <c:pt idx="25">
                  <c:v>8.8224584975703113</c:v>
                </c:pt>
                <c:pt idx="26">
                  <c:v>8.5840368462926016</c:v>
                </c:pt>
                <c:pt idx="27">
                  <c:v>8.2958493317069895</c:v>
                </c:pt>
                <c:pt idx="28">
                  <c:v>8.0199455008944245</c:v>
                </c:pt>
                <c:pt idx="29">
                  <c:v>7.9585139975785006</c:v>
                </c:pt>
                <c:pt idx="30">
                  <c:v>7.5620000000000003</c:v>
                </c:pt>
                <c:pt idx="31">
                  <c:v>7.2270000000000003</c:v>
                </c:pt>
                <c:pt idx="32">
                  <c:v>6.5220000000000002</c:v>
                </c:pt>
                <c:pt idx="33">
                  <c:v>6.4180000000000001</c:v>
                </c:pt>
                <c:pt idx="34">
                  <c:v>6.53</c:v>
                </c:pt>
                <c:pt idx="35">
                  <c:v>6.6130000000000004</c:v>
                </c:pt>
                <c:pt idx="36">
                  <c:v>6.633</c:v>
                </c:pt>
                <c:pt idx="37">
                  <c:v>6.8022864074937353</c:v>
                </c:pt>
                <c:pt idx="38">
                  <c:v>6.8900587708129066</c:v>
                </c:pt>
                <c:pt idx="39">
                  <c:v>6.16</c:v>
                </c:pt>
                <c:pt idx="40">
                  <c:v>4.5330000000000004</c:v>
                </c:pt>
                <c:pt idx="41">
                  <c:v>5.5439586666666552</c:v>
                </c:pt>
                <c:pt idx="42">
                  <c:v>5.5655138339920809</c:v>
                </c:pt>
                <c:pt idx="43">
                  <c:v>5.8547540476861029</c:v>
                </c:pt>
                <c:pt idx="44">
                  <c:v>6.2783497736401621</c:v>
                </c:pt>
                <c:pt idx="45" formatCode="General">
                  <c:v>6.76</c:v>
                </c:pt>
                <c:pt idx="46" formatCode="General">
                  <c:v>6.94</c:v>
                </c:pt>
                <c:pt idx="47" formatCode="General">
                  <c:v>6.89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19F-475F-84E3-6E37DE45FCBD}"/>
            </c:ext>
          </c:extLst>
        </c:ser>
        <c:ser>
          <c:idx val="3"/>
          <c:order val="3"/>
          <c:tx>
            <c:strRef>
              <c:f>'[Montly money market rates MPC May 2025_Interbank rate graph.xlsx]Money market interest rates '!$D$2</c:f>
              <c:strCache>
                <c:ptCount val="1"/>
                <c:pt idx="0">
                  <c:v>Lower limit</c:v>
                </c:pt>
              </c:strCache>
            </c:strRef>
          </c:tx>
          <c:spPr>
            <a:ln w="22225" cap="rnd">
              <a:solidFill>
                <a:schemeClr val="bg2">
                  <a:lumMod val="50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'[Montly money market rates MPC May 2025_Interbank rate graph.xlsx]Money market interest rates '!$B$267:$B$314</c:f>
              <c:numCache>
                <c:formatCode>mmm\-yy</c:formatCode>
                <c:ptCount val="48"/>
                <c:pt idx="0">
                  <c:v>44566</c:v>
                </c:pt>
                <c:pt idx="1">
                  <c:v>44597</c:v>
                </c:pt>
                <c:pt idx="2">
                  <c:v>44625</c:v>
                </c:pt>
                <c:pt idx="3">
                  <c:v>44656</c:v>
                </c:pt>
                <c:pt idx="4">
                  <c:v>44686</c:v>
                </c:pt>
                <c:pt idx="5">
                  <c:v>44717</c:v>
                </c:pt>
                <c:pt idx="6">
                  <c:v>44747</c:v>
                </c:pt>
                <c:pt idx="7">
                  <c:v>44778</c:v>
                </c:pt>
                <c:pt idx="8">
                  <c:v>44809</c:v>
                </c:pt>
                <c:pt idx="9">
                  <c:v>44839</c:v>
                </c:pt>
                <c:pt idx="10">
                  <c:v>44870</c:v>
                </c:pt>
                <c:pt idx="11">
                  <c:v>44900</c:v>
                </c:pt>
                <c:pt idx="12">
                  <c:v>44931</c:v>
                </c:pt>
                <c:pt idx="13">
                  <c:v>44962</c:v>
                </c:pt>
                <c:pt idx="14">
                  <c:v>44990</c:v>
                </c:pt>
                <c:pt idx="15">
                  <c:v>45021</c:v>
                </c:pt>
                <c:pt idx="16">
                  <c:v>45051</c:v>
                </c:pt>
                <c:pt idx="17">
                  <c:v>45082</c:v>
                </c:pt>
                <c:pt idx="18">
                  <c:v>45112</c:v>
                </c:pt>
                <c:pt idx="19">
                  <c:v>45143</c:v>
                </c:pt>
                <c:pt idx="20">
                  <c:v>45174</c:v>
                </c:pt>
                <c:pt idx="21">
                  <c:v>45204</c:v>
                </c:pt>
                <c:pt idx="22">
                  <c:v>45235</c:v>
                </c:pt>
                <c:pt idx="23">
                  <c:v>45265</c:v>
                </c:pt>
                <c:pt idx="24">
                  <c:v>45296</c:v>
                </c:pt>
                <c:pt idx="25">
                  <c:v>45327</c:v>
                </c:pt>
                <c:pt idx="26">
                  <c:v>45375</c:v>
                </c:pt>
                <c:pt idx="27">
                  <c:v>45406</c:v>
                </c:pt>
                <c:pt idx="28">
                  <c:v>45436</c:v>
                </c:pt>
                <c:pt idx="29">
                  <c:v>45467</c:v>
                </c:pt>
                <c:pt idx="30">
                  <c:v>45497</c:v>
                </c:pt>
                <c:pt idx="31">
                  <c:v>45528</c:v>
                </c:pt>
                <c:pt idx="32">
                  <c:v>45559</c:v>
                </c:pt>
                <c:pt idx="33">
                  <c:v>45589</c:v>
                </c:pt>
                <c:pt idx="34">
                  <c:v>45620</c:v>
                </c:pt>
                <c:pt idx="35">
                  <c:v>45650</c:v>
                </c:pt>
                <c:pt idx="36">
                  <c:v>45681</c:v>
                </c:pt>
                <c:pt idx="37">
                  <c:v>45712</c:v>
                </c:pt>
                <c:pt idx="38">
                  <c:v>45740</c:v>
                </c:pt>
                <c:pt idx="39">
                  <c:v>45771</c:v>
                </c:pt>
                <c:pt idx="40">
                  <c:v>45801</c:v>
                </c:pt>
                <c:pt idx="41">
                  <c:v>45832</c:v>
                </c:pt>
                <c:pt idx="42">
                  <c:v>45862</c:v>
                </c:pt>
                <c:pt idx="43">
                  <c:v>45893</c:v>
                </c:pt>
                <c:pt idx="44">
                  <c:v>45924</c:v>
                </c:pt>
                <c:pt idx="45">
                  <c:v>45954</c:v>
                </c:pt>
                <c:pt idx="46">
                  <c:v>45985</c:v>
                </c:pt>
                <c:pt idx="47">
                  <c:v>46015</c:v>
                </c:pt>
              </c:numCache>
            </c:numRef>
          </c:cat>
          <c:val>
            <c:numRef>
              <c:f>'[Montly money market rates MPC May 2025_Interbank rate graph.xlsx]Money market interest rates '!$D$267:$D$314</c:f>
              <c:numCache>
                <c:formatCode>0.0</c:formatCode>
                <c:ptCount val="48"/>
                <c:pt idx="0">
                  <c:v>3.5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5.5</c:v>
                </c:pt>
                <c:pt idx="11">
                  <c:v>5.5</c:v>
                </c:pt>
                <c:pt idx="12">
                  <c:v>5.5</c:v>
                </c:pt>
                <c:pt idx="13">
                  <c:v>6</c:v>
                </c:pt>
                <c:pt idx="14">
                  <c:v>6</c:v>
                </c:pt>
                <c:pt idx="15">
                  <c:v>6</c:v>
                </c:pt>
                <c:pt idx="16">
                  <c:v>6</c:v>
                </c:pt>
                <c:pt idx="17">
                  <c:v>6</c:v>
                </c:pt>
                <c:pt idx="18">
                  <c:v>6</c:v>
                </c:pt>
                <c:pt idx="19">
                  <c:v>6.5</c:v>
                </c:pt>
                <c:pt idx="20">
                  <c:v>6.5</c:v>
                </c:pt>
                <c:pt idx="21">
                  <c:v>6.5</c:v>
                </c:pt>
                <c:pt idx="22">
                  <c:v>6.5</c:v>
                </c:pt>
                <c:pt idx="23">
                  <c:v>6.5</c:v>
                </c:pt>
                <c:pt idx="24">
                  <c:v>6.5</c:v>
                </c:pt>
                <c:pt idx="25">
                  <c:v>6.5</c:v>
                </c:pt>
                <c:pt idx="26">
                  <c:v>6.5</c:v>
                </c:pt>
                <c:pt idx="27" formatCode="0.00">
                  <c:v>6.5</c:v>
                </c:pt>
                <c:pt idx="28" formatCode="0.00">
                  <c:v>6</c:v>
                </c:pt>
                <c:pt idx="29" formatCode="0.00">
                  <c:v>6</c:v>
                </c:pt>
                <c:pt idx="30" formatCode="0.00">
                  <c:v>6</c:v>
                </c:pt>
                <c:pt idx="31" formatCode="0.00">
                  <c:v>5.5</c:v>
                </c:pt>
                <c:pt idx="32" formatCode="0.00">
                  <c:v>5.5</c:v>
                </c:pt>
                <c:pt idx="33" formatCode="0.00">
                  <c:v>5.5</c:v>
                </c:pt>
                <c:pt idx="34" formatCode="0.00">
                  <c:v>5.5</c:v>
                </c:pt>
                <c:pt idx="35" formatCode="0.00">
                  <c:v>5.5</c:v>
                </c:pt>
                <c:pt idx="36" formatCode="0.00">
                  <c:v>5.5</c:v>
                </c:pt>
                <c:pt idx="37" formatCode="0.00">
                  <c:v>5.5</c:v>
                </c:pt>
                <c:pt idx="38" formatCode="0.00">
                  <c:v>5.5</c:v>
                </c:pt>
                <c:pt idx="39" formatCode="0.00">
                  <c:v>5.5</c:v>
                </c:pt>
                <c:pt idx="40" formatCode="0.00">
                  <c:v>5.5</c:v>
                </c:pt>
                <c:pt idx="41" formatCode="0.00">
                  <c:v>5.5</c:v>
                </c:pt>
                <c:pt idx="42" formatCode="0.00">
                  <c:v>5.5</c:v>
                </c:pt>
                <c:pt idx="43" formatCode="0.00">
                  <c:v>5.75</c:v>
                </c:pt>
                <c:pt idx="44" formatCode="0.00">
                  <c:v>5.75</c:v>
                </c:pt>
                <c:pt idx="45" formatCode="0.00">
                  <c:v>5.75</c:v>
                </c:pt>
                <c:pt idx="46" formatCode="0.00">
                  <c:v>5.75</c:v>
                </c:pt>
                <c:pt idx="47" formatCode="0.00">
                  <c:v>5.75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19F-475F-84E3-6E37DE45FCBD}"/>
            </c:ext>
          </c:extLst>
        </c:ser>
        <c:ser>
          <c:idx val="4"/>
          <c:order val="4"/>
          <c:tx>
            <c:strRef>
              <c:f>'[Montly money market rates MPC May 2025_Interbank rate graph.xlsx]Money market interest rates '!$F$2</c:f>
              <c:strCache>
                <c:ptCount val="1"/>
                <c:pt idx="0">
                  <c:v>Upper limit</c:v>
                </c:pt>
              </c:strCache>
            </c:strRef>
          </c:tx>
          <c:spPr>
            <a:ln w="22225" cap="rnd">
              <a:solidFill>
                <a:schemeClr val="bg2">
                  <a:lumMod val="50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'[Montly money market rates MPC May 2025_Interbank rate graph.xlsx]Money market interest rates '!$B$267:$B$314</c:f>
              <c:numCache>
                <c:formatCode>mmm\-yy</c:formatCode>
                <c:ptCount val="48"/>
                <c:pt idx="0">
                  <c:v>44566</c:v>
                </c:pt>
                <c:pt idx="1">
                  <c:v>44597</c:v>
                </c:pt>
                <c:pt idx="2">
                  <c:v>44625</c:v>
                </c:pt>
                <c:pt idx="3">
                  <c:v>44656</c:v>
                </c:pt>
                <c:pt idx="4">
                  <c:v>44686</c:v>
                </c:pt>
                <c:pt idx="5">
                  <c:v>44717</c:v>
                </c:pt>
                <c:pt idx="6">
                  <c:v>44747</c:v>
                </c:pt>
                <c:pt idx="7">
                  <c:v>44778</c:v>
                </c:pt>
                <c:pt idx="8">
                  <c:v>44809</c:v>
                </c:pt>
                <c:pt idx="9">
                  <c:v>44839</c:v>
                </c:pt>
                <c:pt idx="10">
                  <c:v>44870</c:v>
                </c:pt>
                <c:pt idx="11">
                  <c:v>44900</c:v>
                </c:pt>
                <c:pt idx="12">
                  <c:v>44931</c:v>
                </c:pt>
                <c:pt idx="13">
                  <c:v>44962</c:v>
                </c:pt>
                <c:pt idx="14">
                  <c:v>44990</c:v>
                </c:pt>
                <c:pt idx="15">
                  <c:v>45021</c:v>
                </c:pt>
                <c:pt idx="16">
                  <c:v>45051</c:v>
                </c:pt>
                <c:pt idx="17">
                  <c:v>45082</c:v>
                </c:pt>
                <c:pt idx="18">
                  <c:v>45112</c:v>
                </c:pt>
                <c:pt idx="19">
                  <c:v>45143</c:v>
                </c:pt>
                <c:pt idx="20">
                  <c:v>45174</c:v>
                </c:pt>
                <c:pt idx="21">
                  <c:v>45204</c:v>
                </c:pt>
                <c:pt idx="22">
                  <c:v>45235</c:v>
                </c:pt>
                <c:pt idx="23">
                  <c:v>45265</c:v>
                </c:pt>
                <c:pt idx="24">
                  <c:v>45296</c:v>
                </c:pt>
                <c:pt idx="25">
                  <c:v>45327</c:v>
                </c:pt>
                <c:pt idx="26">
                  <c:v>45375</c:v>
                </c:pt>
                <c:pt idx="27">
                  <c:v>45406</c:v>
                </c:pt>
                <c:pt idx="28">
                  <c:v>45436</c:v>
                </c:pt>
                <c:pt idx="29">
                  <c:v>45467</c:v>
                </c:pt>
                <c:pt idx="30">
                  <c:v>45497</c:v>
                </c:pt>
                <c:pt idx="31">
                  <c:v>45528</c:v>
                </c:pt>
                <c:pt idx="32">
                  <c:v>45559</c:v>
                </c:pt>
                <c:pt idx="33">
                  <c:v>45589</c:v>
                </c:pt>
                <c:pt idx="34">
                  <c:v>45620</c:v>
                </c:pt>
                <c:pt idx="35">
                  <c:v>45650</c:v>
                </c:pt>
                <c:pt idx="36">
                  <c:v>45681</c:v>
                </c:pt>
                <c:pt idx="37">
                  <c:v>45712</c:v>
                </c:pt>
                <c:pt idx="38">
                  <c:v>45740</c:v>
                </c:pt>
                <c:pt idx="39">
                  <c:v>45771</c:v>
                </c:pt>
                <c:pt idx="40">
                  <c:v>45801</c:v>
                </c:pt>
                <c:pt idx="41">
                  <c:v>45832</c:v>
                </c:pt>
                <c:pt idx="42">
                  <c:v>45862</c:v>
                </c:pt>
                <c:pt idx="43">
                  <c:v>45893</c:v>
                </c:pt>
                <c:pt idx="44">
                  <c:v>45924</c:v>
                </c:pt>
                <c:pt idx="45">
                  <c:v>45954</c:v>
                </c:pt>
                <c:pt idx="46">
                  <c:v>45985</c:v>
                </c:pt>
                <c:pt idx="47">
                  <c:v>46015</c:v>
                </c:pt>
              </c:numCache>
            </c:numRef>
          </c:cat>
          <c:val>
            <c:numRef>
              <c:f>'[Montly money market rates MPC May 2025_Interbank rate graph.xlsx]Money market interest rates '!$F$267:$F$314</c:f>
              <c:numCache>
                <c:formatCode>0.0</c:formatCode>
                <c:ptCount val="48"/>
                <c:pt idx="0">
                  <c:v>5.5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  <c:pt idx="10">
                  <c:v>7.5</c:v>
                </c:pt>
                <c:pt idx="11">
                  <c:v>7.5</c:v>
                </c:pt>
                <c:pt idx="12">
                  <c:v>7.5</c:v>
                </c:pt>
                <c:pt idx="13">
                  <c:v>8</c:v>
                </c:pt>
                <c:pt idx="14">
                  <c:v>8</c:v>
                </c:pt>
                <c:pt idx="15">
                  <c:v>8</c:v>
                </c:pt>
                <c:pt idx="16">
                  <c:v>8</c:v>
                </c:pt>
                <c:pt idx="17">
                  <c:v>8</c:v>
                </c:pt>
                <c:pt idx="18">
                  <c:v>8</c:v>
                </c:pt>
                <c:pt idx="19">
                  <c:v>8.5</c:v>
                </c:pt>
                <c:pt idx="20">
                  <c:v>8.5</c:v>
                </c:pt>
                <c:pt idx="21">
                  <c:v>8.5</c:v>
                </c:pt>
                <c:pt idx="22">
                  <c:v>8.5</c:v>
                </c:pt>
                <c:pt idx="23">
                  <c:v>8.5</c:v>
                </c:pt>
                <c:pt idx="24">
                  <c:v>8.5</c:v>
                </c:pt>
                <c:pt idx="25">
                  <c:v>8.5</c:v>
                </c:pt>
                <c:pt idx="26">
                  <c:v>8.5</c:v>
                </c:pt>
                <c:pt idx="27" formatCode="0.00">
                  <c:v>8.5</c:v>
                </c:pt>
                <c:pt idx="28" formatCode="0.00">
                  <c:v>8</c:v>
                </c:pt>
                <c:pt idx="29" formatCode="0.00">
                  <c:v>8</c:v>
                </c:pt>
                <c:pt idx="30" formatCode="0.00">
                  <c:v>8</c:v>
                </c:pt>
                <c:pt idx="31" formatCode="0.00">
                  <c:v>7.5</c:v>
                </c:pt>
                <c:pt idx="32" formatCode="0.00">
                  <c:v>7.5</c:v>
                </c:pt>
                <c:pt idx="33" formatCode="0.00">
                  <c:v>7.5</c:v>
                </c:pt>
                <c:pt idx="34" formatCode="0.00">
                  <c:v>7.5</c:v>
                </c:pt>
                <c:pt idx="35" formatCode="0.00">
                  <c:v>7.5</c:v>
                </c:pt>
                <c:pt idx="36" formatCode="0.00">
                  <c:v>7.5</c:v>
                </c:pt>
                <c:pt idx="37" formatCode="0.00">
                  <c:v>7.5</c:v>
                </c:pt>
                <c:pt idx="38" formatCode="0.00">
                  <c:v>7.5</c:v>
                </c:pt>
                <c:pt idx="39" formatCode="0.00">
                  <c:v>7.5</c:v>
                </c:pt>
                <c:pt idx="40" formatCode="0.00">
                  <c:v>7.5</c:v>
                </c:pt>
                <c:pt idx="41" formatCode="0.00">
                  <c:v>7.5</c:v>
                </c:pt>
                <c:pt idx="42" formatCode="0.00">
                  <c:v>7.5</c:v>
                </c:pt>
                <c:pt idx="43" formatCode="0.00">
                  <c:v>7.75</c:v>
                </c:pt>
                <c:pt idx="44" formatCode="0.00">
                  <c:v>7.75</c:v>
                </c:pt>
                <c:pt idx="45" formatCode="0.00">
                  <c:v>7.75</c:v>
                </c:pt>
                <c:pt idx="46" formatCode="0.00">
                  <c:v>7.75</c:v>
                </c:pt>
                <c:pt idx="47" formatCode="0.00">
                  <c:v>7.75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19F-475F-84E3-6E37DE45FC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43285376"/>
        <c:axId val="543287552"/>
      </c:lineChart>
      <c:dateAx>
        <c:axId val="543285376"/>
        <c:scaling>
          <c:orientation val="minMax"/>
          <c:max val="46021"/>
          <c:min val="44593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4200000" spcFirstLastPara="1" vertOverflow="ellipsis" wrap="square" anchor="ctr" anchorCtr="1"/>
          <a:lstStyle/>
          <a:p>
            <a:pPr>
              <a:defRPr sz="800" b="0" i="0" u="none" strike="noStrike" kern="1200" cap="none" spc="0" normalizeH="0" baseline="0">
                <a:solidFill>
                  <a:schemeClr val="accent2">
                    <a:lumMod val="50000"/>
                  </a:schemeClr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543287552"/>
        <c:crosses val="autoZero"/>
        <c:auto val="0"/>
        <c:lblOffset val="100"/>
        <c:baseTimeUnit val="months"/>
        <c:majorUnit val="2"/>
        <c:majorTimeUnit val="months"/>
        <c:minorUnit val="2"/>
        <c:minorTimeUnit val="months"/>
      </c:dateAx>
      <c:valAx>
        <c:axId val="543287552"/>
        <c:scaling>
          <c:orientation val="minMax"/>
          <c:max val="9"/>
          <c:min val="3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accent2">
                    <a:lumMod val="50000"/>
                  </a:schemeClr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543285376"/>
        <c:crosses val="autoZero"/>
        <c:crossBetween val="between"/>
      </c:valAx>
      <c:spPr>
        <a:solidFill>
          <a:srgbClr val="FCF7EA"/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4828797749927151E-2"/>
          <c:y val="0.8969770705912099"/>
          <c:w val="0.89641784055403195"/>
          <c:h val="4.78349577222666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accent2">
                  <a:lumMod val="50000"/>
                </a:schemeClr>
              </a:solidFill>
              <a:latin typeface="BentonSans Regular" panose="02000503040000020004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solidFill>
        <a:schemeClr val="accent4">
          <a:lumMod val="50000"/>
        </a:schemeClr>
      </a:solidFill>
      <a:round/>
    </a:ln>
    <a:effectLst/>
  </c:spPr>
  <c:txPr>
    <a:bodyPr/>
    <a:lstStyle/>
    <a:p>
      <a:pPr>
        <a:defRPr sz="800">
          <a:latin typeface="BentonSans Regular" panose="02000503040000020004" pitchFamily="50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n-US"/>
              <a:t>BOND YIELD CURVE: December 2025 vs December 2024</a:t>
            </a:r>
          </a:p>
        </c:rich>
      </c:tx>
      <c:layout>
        <c:manualLayout>
          <c:xMode val="edge"/>
          <c:yMode val="edge"/>
          <c:x val="0.10288232328195641"/>
          <c:y val="2.7777675780566304E-2"/>
        </c:manualLayout>
      </c:layout>
      <c:overlay val="0"/>
      <c:spPr>
        <a:noFill/>
        <a:ln w="25400">
          <a:noFill/>
        </a:ln>
      </c:sp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Sheet1!$E$4</c:f>
              <c:strCache>
                <c:ptCount val="1"/>
                <c:pt idx="0">
                  <c:v>Dec-24</c:v>
                </c:pt>
              </c:strCache>
            </c:strRef>
          </c:tx>
          <c:spPr>
            <a:ln w="1270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none"/>
          </c:marker>
          <c:dLbls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Sheet1!$C$5:$C$10</c:f>
              <c:strCache>
                <c:ptCount val="6"/>
                <c:pt idx="0">
                  <c:v>3yr </c:v>
                </c:pt>
                <c:pt idx="1">
                  <c:v>5yr</c:v>
                </c:pt>
                <c:pt idx="2">
                  <c:v>7yr</c:v>
                </c:pt>
                <c:pt idx="3">
                  <c:v>10yr</c:v>
                </c:pt>
                <c:pt idx="4">
                  <c:v>15yr</c:v>
                </c:pt>
                <c:pt idx="5">
                  <c:v>20yr</c:v>
                </c:pt>
              </c:strCache>
            </c:strRef>
          </c:cat>
          <c:val>
            <c:numRef>
              <c:f>Sheet1!$E$5:$E$10</c:f>
              <c:numCache>
                <c:formatCode>0.00%</c:formatCode>
                <c:ptCount val="6"/>
                <c:pt idx="0">
                  <c:v>0.113</c:v>
                </c:pt>
                <c:pt idx="1">
                  <c:v>0.11849999999999999</c:v>
                </c:pt>
                <c:pt idx="2">
                  <c:v>0.1195</c:v>
                </c:pt>
                <c:pt idx="3">
                  <c:v>0.12970000000000001</c:v>
                </c:pt>
                <c:pt idx="4">
                  <c:v>0.13150000000000001</c:v>
                </c:pt>
                <c:pt idx="5">
                  <c:v>0.13270000000000001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155-4FF9-B3F2-0F7A51834DF2}"/>
            </c:ext>
          </c:extLst>
        </c:ser>
        <c:ser>
          <c:idx val="2"/>
          <c:order val="1"/>
          <c:tx>
            <c:strRef>
              <c:f>Sheet1!$F$4</c:f>
              <c:strCache>
                <c:ptCount val="1"/>
                <c:pt idx="0">
                  <c:v>Dec-25</c:v>
                </c:pt>
              </c:strCache>
            </c:strRef>
          </c:tx>
          <c:spPr>
            <a:ln>
              <a:solidFill>
                <a:srgbClr val="753918"/>
              </a:solidFill>
            </a:ln>
          </c:spPr>
          <c:marker>
            <c:symbol val="none"/>
          </c:marker>
          <c:dLbls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Sheet1!$C$5:$C$10</c:f>
              <c:strCache>
                <c:ptCount val="6"/>
                <c:pt idx="0">
                  <c:v>3yr </c:v>
                </c:pt>
                <c:pt idx="1">
                  <c:v>5yr</c:v>
                </c:pt>
                <c:pt idx="2">
                  <c:v>7yr</c:v>
                </c:pt>
                <c:pt idx="3">
                  <c:v>10yr</c:v>
                </c:pt>
                <c:pt idx="4">
                  <c:v>15yr</c:v>
                </c:pt>
                <c:pt idx="5">
                  <c:v>20yr</c:v>
                </c:pt>
              </c:strCache>
            </c:strRef>
          </c:cat>
          <c:val>
            <c:numRef>
              <c:f>Sheet1!$F$5:$F$10</c:f>
              <c:numCache>
                <c:formatCode>0.00%</c:formatCode>
                <c:ptCount val="6"/>
                <c:pt idx="0">
                  <c:v>0.105</c:v>
                </c:pt>
                <c:pt idx="1">
                  <c:v>0.108</c:v>
                </c:pt>
                <c:pt idx="2">
                  <c:v>0.115</c:v>
                </c:pt>
                <c:pt idx="3">
                  <c:v>0.1215</c:v>
                </c:pt>
                <c:pt idx="4">
                  <c:v>0.129</c:v>
                </c:pt>
                <c:pt idx="5">
                  <c:v>0.13150000000000001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155-4FF9-B3F2-0F7A51834D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5913760"/>
        <c:axId val="1"/>
      </c:lineChart>
      <c:catAx>
        <c:axId val="8859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in val="0.1"/>
        </c:scaling>
        <c:delete val="0"/>
        <c:axPos val="l"/>
        <c:numFmt formatCode="0.00%" sourceLinked="1"/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885913760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 w="25400">
          <a:noFill/>
        </a:ln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solidFill>
        <a:schemeClr val="accent2">
          <a:lumMod val="50000"/>
        </a:schemeClr>
      </a:solidFill>
      <a:prstDash val="solid"/>
      <a:round/>
    </a:ln>
    <a:effectLst/>
  </c:spPr>
  <c:txPr>
    <a:bodyPr/>
    <a:lstStyle/>
    <a:p>
      <a:pPr>
        <a:defRPr lang="en-US">
          <a:solidFill>
            <a:schemeClr val="accent2">
              <a:lumMod val="50000"/>
            </a:schemeClr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'One Year'!$F$3</c:f>
              <c:strCache>
                <c:ptCount val="1"/>
                <c:pt idx="0">
                  <c:v>Overall Deposit rate</c:v>
                </c:pt>
              </c:strCache>
            </c:strRef>
          </c:tx>
          <c:spPr>
            <a:ln w="28575" cap="rnd">
              <a:solidFill>
                <a:srgbClr val="A47D00"/>
              </a:solidFill>
              <a:round/>
            </a:ln>
            <a:effectLst/>
          </c:spPr>
          <c:marker>
            <c:symbol val="none"/>
          </c:marker>
          <c:cat>
            <c:numRef>
              <c:f>'One Year'!$B$4:$B$39</c:f>
              <c:numCache>
                <c:formatCode>mmm\-yy</c:formatCode>
                <c:ptCount val="36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45375</c:v>
                </c:pt>
                <c:pt idx="15">
                  <c:v>45406</c:v>
                </c:pt>
                <c:pt idx="16">
                  <c:v>45436</c:v>
                </c:pt>
                <c:pt idx="17">
                  <c:v>45467</c:v>
                </c:pt>
                <c:pt idx="18">
                  <c:v>45497</c:v>
                </c:pt>
                <c:pt idx="19">
                  <c:v>45528</c:v>
                </c:pt>
                <c:pt idx="20">
                  <c:v>45559</c:v>
                </c:pt>
                <c:pt idx="21">
                  <c:v>45589</c:v>
                </c:pt>
                <c:pt idx="22">
                  <c:v>45620</c:v>
                </c:pt>
                <c:pt idx="23">
                  <c:v>45650</c:v>
                </c:pt>
                <c:pt idx="24">
                  <c:v>45681</c:v>
                </c:pt>
                <c:pt idx="25">
                  <c:v>45712</c:v>
                </c:pt>
                <c:pt idx="26">
                  <c:v>45740</c:v>
                </c:pt>
                <c:pt idx="27">
                  <c:v>45771</c:v>
                </c:pt>
                <c:pt idx="28">
                  <c:v>45801</c:v>
                </c:pt>
                <c:pt idx="29">
                  <c:v>45832</c:v>
                </c:pt>
                <c:pt idx="30">
                  <c:v>45862</c:v>
                </c:pt>
                <c:pt idx="31">
                  <c:v>45893</c:v>
                </c:pt>
                <c:pt idx="32">
                  <c:v>45924</c:v>
                </c:pt>
                <c:pt idx="33">
                  <c:v>45954</c:v>
                </c:pt>
                <c:pt idx="34">
                  <c:v>45985</c:v>
                </c:pt>
                <c:pt idx="35">
                  <c:v>46015</c:v>
                </c:pt>
              </c:numCache>
            </c:numRef>
          </c:cat>
          <c:val>
            <c:numRef>
              <c:f>'One Year'!$F$4:$F$39</c:f>
              <c:numCache>
                <c:formatCode>0.000</c:formatCode>
                <c:ptCount val="36"/>
                <c:pt idx="0">
                  <c:v>9.3263458937960291</c:v>
                </c:pt>
                <c:pt idx="1">
                  <c:v>9.73</c:v>
                </c:pt>
                <c:pt idx="2">
                  <c:v>9.4746409074522848</c:v>
                </c:pt>
                <c:pt idx="3">
                  <c:v>9.2861770044494989</c:v>
                </c:pt>
                <c:pt idx="4">
                  <c:v>9.4661532286746723</c:v>
                </c:pt>
                <c:pt idx="5">
                  <c:v>9.6383367524232302</c:v>
                </c:pt>
                <c:pt idx="6">
                  <c:v>9.4700000000000006</c:v>
                </c:pt>
                <c:pt idx="7">
                  <c:v>9.7991856030847675</c:v>
                </c:pt>
                <c:pt idx="8">
                  <c:v>9.4641963703692031</c:v>
                </c:pt>
                <c:pt idx="9">
                  <c:v>10.70400925903717</c:v>
                </c:pt>
                <c:pt idx="10">
                  <c:v>9.0411737329329025</c:v>
                </c:pt>
                <c:pt idx="11">
                  <c:v>10.411300000000001</c:v>
                </c:pt>
                <c:pt idx="12">
                  <c:v>9.7089999999999996</c:v>
                </c:pt>
                <c:pt idx="13">
                  <c:v>10.592057980128695</c:v>
                </c:pt>
                <c:pt idx="14">
                  <c:v>10.577015184209404</c:v>
                </c:pt>
                <c:pt idx="15">
                  <c:v>10.690049710242301</c:v>
                </c:pt>
                <c:pt idx="16">
                  <c:v>9.7248728750701563</c:v>
                </c:pt>
                <c:pt idx="17">
                  <c:v>10.095216877463754</c:v>
                </c:pt>
                <c:pt idx="18">
                  <c:v>10.56839926952974</c:v>
                </c:pt>
                <c:pt idx="19">
                  <c:v>10.883943584236794</c:v>
                </c:pt>
                <c:pt idx="20">
                  <c:v>9.6292394833456836</c:v>
                </c:pt>
                <c:pt idx="21">
                  <c:v>11.336088250526018</c:v>
                </c:pt>
                <c:pt idx="22">
                  <c:v>10.395003527919842</c:v>
                </c:pt>
                <c:pt idx="23">
                  <c:v>9.760937197816963</c:v>
                </c:pt>
                <c:pt idx="24">
                  <c:v>9.8250364388908586</c:v>
                </c:pt>
                <c:pt idx="25">
                  <c:v>9.1319999999999997</c:v>
                </c:pt>
                <c:pt idx="26">
                  <c:v>9.3979999999999997</c:v>
                </c:pt>
                <c:pt idx="27">
                  <c:v>9.6188246307334886</c:v>
                </c:pt>
                <c:pt idx="28">
                  <c:v>10.306782177637499</c:v>
                </c:pt>
                <c:pt idx="29">
                  <c:v>9.3346170276133495</c:v>
                </c:pt>
                <c:pt idx="30">
                  <c:v>8.823876145113001</c:v>
                </c:pt>
                <c:pt idx="31">
                  <c:v>8.41</c:v>
                </c:pt>
                <c:pt idx="32">
                  <c:v>8.7646622046965259</c:v>
                </c:pt>
                <c:pt idx="33">
                  <c:v>8.06</c:v>
                </c:pt>
                <c:pt idx="34">
                  <c:v>10.210000000000001</c:v>
                </c:pt>
                <c:pt idx="35">
                  <c:v>8.68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AE5-448B-9484-70A8FF339C7F}"/>
            </c:ext>
          </c:extLst>
        </c:ser>
        <c:ser>
          <c:idx val="1"/>
          <c:order val="1"/>
          <c:tx>
            <c:strRef>
              <c:f>'One Year'!$G$3</c:f>
              <c:strCache>
                <c:ptCount val="1"/>
                <c:pt idx="0">
                  <c:v>Deposit rate without RSSB</c:v>
                </c:pt>
              </c:strCache>
            </c:strRef>
          </c:tx>
          <c:spPr>
            <a:ln w="28575" cap="rnd">
              <a:solidFill>
                <a:srgbClr val="411A07"/>
              </a:solidFill>
              <a:round/>
            </a:ln>
            <a:effectLst/>
          </c:spPr>
          <c:marker>
            <c:symbol val="none"/>
          </c:marker>
          <c:cat>
            <c:numRef>
              <c:f>'One Year'!$B$4:$B$39</c:f>
              <c:numCache>
                <c:formatCode>mmm\-yy</c:formatCode>
                <c:ptCount val="36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45375</c:v>
                </c:pt>
                <c:pt idx="15">
                  <c:v>45406</c:v>
                </c:pt>
                <c:pt idx="16">
                  <c:v>45436</c:v>
                </c:pt>
                <c:pt idx="17">
                  <c:v>45467</c:v>
                </c:pt>
                <c:pt idx="18">
                  <c:v>45497</c:v>
                </c:pt>
                <c:pt idx="19">
                  <c:v>45528</c:v>
                </c:pt>
                <c:pt idx="20">
                  <c:v>45559</c:v>
                </c:pt>
                <c:pt idx="21">
                  <c:v>45589</c:v>
                </c:pt>
                <c:pt idx="22">
                  <c:v>45620</c:v>
                </c:pt>
                <c:pt idx="23">
                  <c:v>45650</c:v>
                </c:pt>
                <c:pt idx="24">
                  <c:v>45681</c:v>
                </c:pt>
                <c:pt idx="25">
                  <c:v>45712</c:v>
                </c:pt>
                <c:pt idx="26">
                  <c:v>45740</c:v>
                </c:pt>
                <c:pt idx="27">
                  <c:v>45771</c:v>
                </c:pt>
                <c:pt idx="28">
                  <c:v>45801</c:v>
                </c:pt>
                <c:pt idx="29">
                  <c:v>45832</c:v>
                </c:pt>
                <c:pt idx="30">
                  <c:v>45862</c:v>
                </c:pt>
                <c:pt idx="31">
                  <c:v>45893</c:v>
                </c:pt>
                <c:pt idx="32">
                  <c:v>45924</c:v>
                </c:pt>
                <c:pt idx="33">
                  <c:v>45954</c:v>
                </c:pt>
                <c:pt idx="34">
                  <c:v>45985</c:v>
                </c:pt>
                <c:pt idx="35">
                  <c:v>46015</c:v>
                </c:pt>
              </c:numCache>
            </c:numRef>
          </c:cat>
          <c:val>
            <c:numRef>
              <c:f>'One Year'!$G$4:$G$39</c:f>
              <c:numCache>
                <c:formatCode>0.000</c:formatCode>
                <c:ptCount val="36"/>
                <c:pt idx="0">
                  <c:v>9.3263458937960291</c:v>
                </c:pt>
                <c:pt idx="1">
                  <c:v>9.7302381133940425</c:v>
                </c:pt>
                <c:pt idx="2">
                  <c:v>9.4746409074522848</c:v>
                </c:pt>
                <c:pt idx="3">
                  <c:v>9.2861770044494989</c:v>
                </c:pt>
                <c:pt idx="4">
                  <c:v>9.4250876520975009</c:v>
                </c:pt>
                <c:pt idx="5">
                  <c:v>9.3435297209600137</c:v>
                </c:pt>
                <c:pt idx="6">
                  <c:v>9.4687496779022151</c:v>
                </c:pt>
                <c:pt idx="7">
                  <c:v>9.6991856030847696</c:v>
                </c:pt>
                <c:pt idx="8">
                  <c:v>9.4641963703692031</c:v>
                </c:pt>
                <c:pt idx="9">
                  <c:v>7.6834443033556701</c:v>
                </c:pt>
                <c:pt idx="10">
                  <c:v>9.0411737329329025</c:v>
                </c:pt>
                <c:pt idx="11">
                  <c:v>10.425992050435664</c:v>
                </c:pt>
                <c:pt idx="12">
                  <c:v>9.7088377747638841</c:v>
                </c:pt>
                <c:pt idx="13">
                  <c:v>9.8231201098987793</c:v>
                </c:pt>
                <c:pt idx="14">
                  <c:v>10.577015184209404</c:v>
                </c:pt>
                <c:pt idx="15">
                  <c:v>9.4736965579656403</c:v>
                </c:pt>
                <c:pt idx="16">
                  <c:v>9.7248728750701563</c:v>
                </c:pt>
                <c:pt idx="17">
                  <c:v>10.095216877463754</c:v>
                </c:pt>
                <c:pt idx="18">
                  <c:v>9.583892882142143</c:v>
                </c:pt>
                <c:pt idx="19">
                  <c:v>10.388264496844709</c:v>
                </c:pt>
                <c:pt idx="20">
                  <c:v>8.7253633665022594</c:v>
                </c:pt>
                <c:pt idx="21">
                  <c:v>9.6809740939575963</c:v>
                </c:pt>
                <c:pt idx="22">
                  <c:v>7.4563597281248279</c:v>
                </c:pt>
                <c:pt idx="23">
                  <c:v>9.43</c:v>
                </c:pt>
                <c:pt idx="24">
                  <c:v>9.8250364388908586</c:v>
                </c:pt>
                <c:pt idx="25">
                  <c:v>8.9715219892612019</c:v>
                </c:pt>
                <c:pt idx="26">
                  <c:v>9.3979999999999997</c:v>
                </c:pt>
                <c:pt idx="27">
                  <c:v>9.4121473203577981</c:v>
                </c:pt>
                <c:pt idx="28">
                  <c:v>9.3670692386798677</c:v>
                </c:pt>
                <c:pt idx="29">
                  <c:v>9.3346170276133495</c:v>
                </c:pt>
                <c:pt idx="30">
                  <c:v>8.2411073502049845</c:v>
                </c:pt>
                <c:pt idx="31">
                  <c:v>8.41</c:v>
                </c:pt>
                <c:pt idx="32">
                  <c:v>8.2987886036887062</c:v>
                </c:pt>
                <c:pt idx="33">
                  <c:v>8.06</c:v>
                </c:pt>
                <c:pt idx="34">
                  <c:v>9.3793840592108673</c:v>
                </c:pt>
                <c:pt idx="35">
                  <c:v>8.68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AE5-448B-9484-70A8FF339C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8109008"/>
        <c:axId val="68112368"/>
      </c:lineChart>
      <c:dateAx>
        <c:axId val="68109008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404040"/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68112368"/>
        <c:crosses val="autoZero"/>
        <c:auto val="1"/>
        <c:lblOffset val="100"/>
        <c:baseTimeUnit val="months"/>
      </c:dateAx>
      <c:valAx>
        <c:axId val="68112368"/>
        <c:scaling>
          <c:orientation val="minMax"/>
          <c:min val="6"/>
        </c:scaling>
        <c:delete val="0"/>
        <c:axPos val="l"/>
        <c:numFmt formatCode="0.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404040"/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68109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404040"/>
              </a:solidFill>
              <a:latin typeface="BentonSans Regular" panose="02000503040000020004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2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r>
              <a:rPr lang="en-US">
                <a:solidFill>
                  <a:schemeClr val="bg1"/>
                </a:solidFill>
                <a:latin typeface="BentonSans Regular" panose="02000503040000020004" pitchFamily="50" charset="0"/>
              </a:rPr>
              <a:t>lending</a:t>
            </a:r>
            <a:r>
              <a:rPr lang="en-US" baseline="0">
                <a:solidFill>
                  <a:schemeClr val="bg1"/>
                </a:solidFill>
                <a:latin typeface="BentonSans Regular" panose="02000503040000020004" pitchFamily="50" charset="0"/>
              </a:rPr>
              <a:t> rate by Maturity</a:t>
            </a:r>
            <a:endParaRPr lang="en-US">
              <a:solidFill>
                <a:schemeClr val="bg1"/>
              </a:solidFill>
              <a:latin typeface="BentonSans Regular" panose="02000503040000020004" pitchFamily="50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BentonSans Regular" panose="02000503040000020004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9116460392598426E-2"/>
          <c:y val="0.11219554498666463"/>
          <c:w val="0.8829646662159446"/>
          <c:h val="0.61947145552666116"/>
        </c:manualLayout>
      </c:layout>
      <c:lineChart>
        <c:grouping val="standard"/>
        <c:varyColors val="0"/>
        <c:ser>
          <c:idx val="0"/>
          <c:order val="0"/>
          <c:tx>
            <c:strRef>
              <c:f>'Lending rate by maturity'!$J$2</c:f>
              <c:strCache>
                <c:ptCount val="1"/>
                <c:pt idx="0">
                  <c:v>Short term</c:v>
                </c:pt>
              </c:strCache>
            </c:strRef>
          </c:tx>
          <c:spPr>
            <a:ln w="28575" cap="rnd">
              <a:solidFill>
                <a:srgbClr val="800000"/>
              </a:solidFill>
              <a:round/>
            </a:ln>
            <a:effectLst/>
          </c:spPr>
          <c:marker>
            <c:symbol val="none"/>
          </c:marker>
          <c:cat>
            <c:strRef>
              <c:f>'Lending rate by maturity'!$H$3:$I$22</c:f>
              <c:strCache>
                <c:ptCount val="20"/>
                <c:pt idx="0">
                  <c:v>2021Q1</c:v>
                </c:pt>
                <c:pt idx="1">
                  <c:v>2021Q2</c:v>
                </c:pt>
                <c:pt idx="2">
                  <c:v>2021Q3</c:v>
                </c:pt>
                <c:pt idx="3">
                  <c:v>2021Q4</c:v>
                </c:pt>
                <c:pt idx="4">
                  <c:v>2022Q1</c:v>
                </c:pt>
                <c:pt idx="5">
                  <c:v>2022Q2</c:v>
                </c:pt>
                <c:pt idx="6">
                  <c:v>2022Q3</c:v>
                </c:pt>
                <c:pt idx="7">
                  <c:v>2022Q4</c:v>
                </c:pt>
                <c:pt idx="8">
                  <c:v>2023Q1</c:v>
                </c:pt>
                <c:pt idx="9">
                  <c:v>2023Q2</c:v>
                </c:pt>
                <c:pt idx="10">
                  <c:v>2023Q3</c:v>
                </c:pt>
                <c:pt idx="11">
                  <c:v>2023Q4</c:v>
                </c:pt>
                <c:pt idx="12">
                  <c:v>2024Q1</c:v>
                </c:pt>
                <c:pt idx="13">
                  <c:v>2024Q2</c:v>
                </c:pt>
                <c:pt idx="14">
                  <c:v>2024Q3</c:v>
                </c:pt>
                <c:pt idx="15">
                  <c:v>2024Q4</c:v>
                </c:pt>
                <c:pt idx="16">
                  <c:v>2025Q1</c:v>
                </c:pt>
                <c:pt idx="17">
                  <c:v>2025Q2</c:v>
                </c:pt>
                <c:pt idx="18">
                  <c:v>2025Q3</c:v>
                </c:pt>
                <c:pt idx="19">
                  <c:v>2025Q4</c:v>
                </c:pt>
              </c:strCache>
            </c:strRef>
          </c:cat>
          <c:val>
            <c:numRef>
              <c:f>'Lending rate by maturity'!$J$3:$J$22</c:f>
              <c:numCache>
                <c:formatCode>0.00</c:formatCode>
                <c:ptCount val="20"/>
                <c:pt idx="0">
                  <c:v>17.103333333333335</c:v>
                </c:pt>
                <c:pt idx="1">
                  <c:v>16.743333333333336</c:v>
                </c:pt>
                <c:pt idx="2" formatCode="_-* #,##0.00_-;\-* #,##0.00_-;_-* &quot;-&quot;_-;_-@_-">
                  <c:v>16.966666666666665</c:v>
                </c:pt>
                <c:pt idx="3" formatCode="_-* #,##0.00_-;\-* #,##0.00_-;_-* &quot;-&quot;_-;_-@_-">
                  <c:v>16.88</c:v>
                </c:pt>
                <c:pt idx="4" formatCode="_-* #,##0.00_-;\-* #,##0.00_-;_-* &quot;-&quot;_-;_-@_-">
                  <c:v>17.133333333333333</c:v>
                </c:pt>
                <c:pt idx="5" formatCode="_-* #,##0.00_-;\-* #,##0.00_-;_-* &quot;-&quot;_-;_-@_-">
                  <c:v>17.166666666666668</c:v>
                </c:pt>
                <c:pt idx="6" formatCode="_-* #,##0.00_-;\-* #,##0.00_-;_-* &quot;-&quot;_-;_-@_-">
                  <c:v>16.639210895954779</c:v>
                </c:pt>
                <c:pt idx="7" formatCode="_-* #,##0.00_-;\-* #,##0.00_-;_-* &quot;-&quot;_-;_-@_-">
                  <c:v>17.099999999999998</c:v>
                </c:pt>
                <c:pt idx="8" formatCode="_-* #,##0.00_-;\-* #,##0.00_-;_-* &quot;-&quot;_-;_-@_-">
                  <c:v>16.443333333333332</c:v>
                </c:pt>
                <c:pt idx="9" formatCode="_-* #,##0.00_-;\-* #,##0.00_-;_-* &quot;-&quot;_-;_-@_-">
                  <c:v>17.333829758257579</c:v>
                </c:pt>
                <c:pt idx="10" formatCode="_-* #,##0.00_-;\-* #,##0.00_-;_-* &quot;-&quot;_-;_-@_-">
                  <c:v>17.60883390556873</c:v>
                </c:pt>
                <c:pt idx="11" formatCode="_-* #,##0.00_-;\-* #,##0.00_-;_-* &quot;-&quot;_-;_-@_-">
                  <c:v>16.336565775682484</c:v>
                </c:pt>
                <c:pt idx="12" formatCode="_-* #,##0.00_-;\-* #,##0.00_-;_-* &quot;-&quot;_-;_-@_-">
                  <c:v>17.035690383230804</c:v>
                </c:pt>
                <c:pt idx="13" formatCode="_-* #,##0.00_-;\-* #,##0.00_-;_-* &quot;-&quot;_-;_-@_-">
                  <c:v>16.180285331811586</c:v>
                </c:pt>
                <c:pt idx="14" formatCode="_-* #,##0.00_-;\-* #,##0.00_-;_-* &quot;-&quot;_-;_-@_-">
                  <c:v>15.977166771374803</c:v>
                </c:pt>
                <c:pt idx="15" formatCode="_-* #,##0.00_-;\-* #,##0.00_-;_-* &quot;-&quot;_-;_-@_-">
                  <c:v>15.63</c:v>
                </c:pt>
                <c:pt idx="16" formatCode="General">
                  <c:v>15.69</c:v>
                </c:pt>
                <c:pt idx="17">
                  <c:v>15.730926079960994</c:v>
                </c:pt>
                <c:pt idx="18">
                  <c:v>15.526159068729221</c:v>
                </c:pt>
                <c:pt idx="19">
                  <c:v>15.443333333333333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5FC-42AC-8BE3-180A837D76A5}"/>
            </c:ext>
          </c:extLst>
        </c:ser>
        <c:ser>
          <c:idx val="1"/>
          <c:order val="1"/>
          <c:tx>
            <c:strRef>
              <c:f>'Lending rate by maturity'!$K$2</c:f>
              <c:strCache>
                <c:ptCount val="1"/>
                <c:pt idx="0">
                  <c:v>Medium Term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'Lending rate by maturity'!$H$3:$I$22</c:f>
              <c:strCache>
                <c:ptCount val="20"/>
                <c:pt idx="0">
                  <c:v>2021Q1</c:v>
                </c:pt>
                <c:pt idx="1">
                  <c:v>2021Q2</c:v>
                </c:pt>
                <c:pt idx="2">
                  <c:v>2021Q3</c:v>
                </c:pt>
                <c:pt idx="3">
                  <c:v>2021Q4</c:v>
                </c:pt>
                <c:pt idx="4">
                  <c:v>2022Q1</c:v>
                </c:pt>
                <c:pt idx="5">
                  <c:v>2022Q2</c:v>
                </c:pt>
                <c:pt idx="6">
                  <c:v>2022Q3</c:v>
                </c:pt>
                <c:pt idx="7">
                  <c:v>2022Q4</c:v>
                </c:pt>
                <c:pt idx="8">
                  <c:v>2023Q1</c:v>
                </c:pt>
                <c:pt idx="9">
                  <c:v>2023Q2</c:v>
                </c:pt>
                <c:pt idx="10">
                  <c:v>2023Q3</c:v>
                </c:pt>
                <c:pt idx="11">
                  <c:v>2023Q4</c:v>
                </c:pt>
                <c:pt idx="12">
                  <c:v>2024Q1</c:v>
                </c:pt>
                <c:pt idx="13">
                  <c:v>2024Q2</c:v>
                </c:pt>
                <c:pt idx="14">
                  <c:v>2024Q3</c:v>
                </c:pt>
                <c:pt idx="15">
                  <c:v>2024Q4</c:v>
                </c:pt>
                <c:pt idx="16">
                  <c:v>2025Q1</c:v>
                </c:pt>
                <c:pt idx="17">
                  <c:v>2025Q2</c:v>
                </c:pt>
                <c:pt idx="18">
                  <c:v>2025Q3</c:v>
                </c:pt>
                <c:pt idx="19">
                  <c:v>2025Q4</c:v>
                </c:pt>
              </c:strCache>
            </c:strRef>
          </c:cat>
          <c:val>
            <c:numRef>
              <c:f>'Lending rate by maturity'!$K$3:$K$22</c:f>
              <c:numCache>
                <c:formatCode>0.00</c:formatCode>
                <c:ptCount val="20"/>
                <c:pt idx="0">
                  <c:v>15.93</c:v>
                </c:pt>
                <c:pt idx="1">
                  <c:v>15.983333333333334</c:v>
                </c:pt>
                <c:pt idx="2" formatCode="_-* #,##0.00_-;\-* #,##0.00_-;_-* &quot;-&quot;_-;_-@_-">
                  <c:v>16.819999999999997</c:v>
                </c:pt>
                <c:pt idx="3" formatCode="_-* #,##0.00_-;\-* #,##0.00_-;_-* &quot;-&quot;_-;_-@_-">
                  <c:v>16.673333333333332</c:v>
                </c:pt>
                <c:pt idx="4" formatCode="_-* #,##0.00_-;\-* #,##0.00_-;_-* &quot;-&quot;_-;_-@_-">
                  <c:v>16.64</c:v>
                </c:pt>
                <c:pt idx="5" formatCode="_-* #,##0.00_-;\-* #,##0.00_-;_-* &quot;-&quot;_-;_-@_-">
                  <c:v>16.260000000000002</c:v>
                </c:pt>
                <c:pt idx="6" formatCode="_-* #,##0.00_-;\-* #,##0.00_-;_-* &quot;-&quot;_-;_-@_-">
                  <c:v>16.566397872174793</c:v>
                </c:pt>
                <c:pt idx="7" formatCode="_-* #,##0.00_-;\-* #,##0.00_-;_-* &quot;-&quot;_-;_-@_-">
                  <c:v>16.643333333333331</c:v>
                </c:pt>
                <c:pt idx="8" formatCode="_-* #,##0.00_-;\-* #,##0.00_-;_-* &quot;-&quot;_-;_-@_-">
                  <c:v>16.443333333333332</c:v>
                </c:pt>
                <c:pt idx="9" formatCode="_-* #,##0.00_-;\-* #,##0.00_-;_-* &quot;-&quot;_-;_-@_-">
                  <c:v>16.463723148666883</c:v>
                </c:pt>
                <c:pt idx="10" formatCode="_-* #,##0.00_-;\-* #,##0.00_-;_-* &quot;-&quot;_-;_-@_-">
                  <c:v>16.395275912723843</c:v>
                </c:pt>
                <c:pt idx="11" formatCode="_-* #,##0.00_-;\-* #,##0.00_-;_-* &quot;-&quot;_-;_-@_-">
                  <c:v>16.223553673857705</c:v>
                </c:pt>
                <c:pt idx="12" formatCode="_-* #,##0.00_-;\-* #,##0.00_-;_-* &quot;-&quot;_-;_-@_-">
                  <c:v>16.958012851991633</c:v>
                </c:pt>
                <c:pt idx="13" formatCode="_-* #,##0.00_-;\-* #,##0.00_-;_-* &quot;-&quot;_-;_-@_-">
                  <c:v>16.746304299792524</c:v>
                </c:pt>
                <c:pt idx="14" formatCode="_-* #,##0.00_-;\-* #,##0.00_-;_-* &quot;-&quot;_-;_-@_-">
                  <c:v>16.97192363521124</c:v>
                </c:pt>
                <c:pt idx="15" formatCode="_-* #,##0.00_-;\-* #,##0.00_-;_-* &quot;-&quot;_-;_-@_-">
                  <c:v>16.873333333333331</c:v>
                </c:pt>
                <c:pt idx="16" formatCode="General">
                  <c:v>16.929999999999996</c:v>
                </c:pt>
                <c:pt idx="17">
                  <c:v>16.61549304370984</c:v>
                </c:pt>
                <c:pt idx="18">
                  <c:v>16.496354719385014</c:v>
                </c:pt>
                <c:pt idx="19">
                  <c:v>16.366666666666664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5FC-42AC-8BE3-180A837D76A5}"/>
            </c:ext>
          </c:extLst>
        </c:ser>
        <c:ser>
          <c:idx val="2"/>
          <c:order val="2"/>
          <c:tx>
            <c:strRef>
              <c:f>'Lending rate by maturity'!$L$2</c:f>
              <c:strCache>
                <c:ptCount val="1"/>
                <c:pt idx="0">
                  <c:v>Longterm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'Lending rate by maturity'!$H$3:$I$22</c:f>
              <c:strCache>
                <c:ptCount val="20"/>
                <c:pt idx="0">
                  <c:v>2021Q1</c:v>
                </c:pt>
                <c:pt idx="1">
                  <c:v>2021Q2</c:v>
                </c:pt>
                <c:pt idx="2">
                  <c:v>2021Q3</c:v>
                </c:pt>
                <c:pt idx="3">
                  <c:v>2021Q4</c:v>
                </c:pt>
                <c:pt idx="4">
                  <c:v>2022Q1</c:v>
                </c:pt>
                <c:pt idx="5">
                  <c:v>2022Q2</c:v>
                </c:pt>
                <c:pt idx="6">
                  <c:v>2022Q3</c:v>
                </c:pt>
                <c:pt idx="7">
                  <c:v>2022Q4</c:v>
                </c:pt>
                <c:pt idx="8">
                  <c:v>2023Q1</c:v>
                </c:pt>
                <c:pt idx="9">
                  <c:v>2023Q2</c:v>
                </c:pt>
                <c:pt idx="10">
                  <c:v>2023Q3</c:v>
                </c:pt>
                <c:pt idx="11">
                  <c:v>2023Q4</c:v>
                </c:pt>
                <c:pt idx="12">
                  <c:v>2024Q1</c:v>
                </c:pt>
                <c:pt idx="13">
                  <c:v>2024Q2</c:v>
                </c:pt>
                <c:pt idx="14">
                  <c:v>2024Q3</c:v>
                </c:pt>
                <c:pt idx="15">
                  <c:v>2024Q4</c:v>
                </c:pt>
                <c:pt idx="16">
                  <c:v>2025Q1</c:v>
                </c:pt>
                <c:pt idx="17">
                  <c:v>2025Q2</c:v>
                </c:pt>
                <c:pt idx="18">
                  <c:v>2025Q3</c:v>
                </c:pt>
                <c:pt idx="19">
                  <c:v>2025Q4</c:v>
                </c:pt>
              </c:strCache>
            </c:strRef>
          </c:cat>
          <c:val>
            <c:numRef>
              <c:f>'Lending rate by maturity'!$L$3:$L$22</c:f>
              <c:numCache>
                <c:formatCode>0.00</c:formatCode>
                <c:ptCount val="20"/>
                <c:pt idx="0">
                  <c:v>14.89</c:v>
                </c:pt>
                <c:pt idx="1">
                  <c:v>14.833333333333334</c:v>
                </c:pt>
                <c:pt idx="2" formatCode="_-* #,##0.00_-;\-* #,##0.00_-;_-* &quot;-&quot;_-;_-@_-">
                  <c:v>14.926666666666668</c:v>
                </c:pt>
                <c:pt idx="3" formatCode="_-* #,##0.00_-;\-* #,##0.00_-;_-* &quot;-&quot;_-;_-@_-">
                  <c:v>15.26</c:v>
                </c:pt>
                <c:pt idx="4" formatCode="_-* #,##0.00_-;\-* #,##0.00_-;_-* &quot;-&quot;_-;_-@_-">
                  <c:v>15.103333333333333</c:v>
                </c:pt>
                <c:pt idx="5" formatCode="_-* #,##0.00_-;\-* #,##0.00_-;_-* &quot;-&quot;_-;_-@_-">
                  <c:v>14.9</c:v>
                </c:pt>
                <c:pt idx="6" formatCode="_-* #,##0.00_-;\-* #,##0.00_-;_-* &quot;-&quot;_-;_-@_-">
                  <c:v>14.896437402572454</c:v>
                </c:pt>
                <c:pt idx="7" formatCode="_-* #,##0.00_-;\-* #,##0.00_-;_-* &quot;-&quot;_-;_-@_-">
                  <c:v>15.280000000000001</c:v>
                </c:pt>
                <c:pt idx="8" formatCode="_-* #,##0.00_-;\-* #,##0.00_-;_-* &quot;-&quot;_-;_-@_-">
                  <c:v>14.646666666666667</c:v>
                </c:pt>
                <c:pt idx="9" formatCode="_-* #,##0.00_-;\-* #,##0.00_-;_-* &quot;-&quot;_-;_-@_-">
                  <c:v>15.029304076044596</c:v>
                </c:pt>
                <c:pt idx="10" formatCode="_-* #,##0.00_-;\-* #,##0.00_-;_-* &quot;-&quot;_-;_-@_-">
                  <c:v>14.601771025007338</c:v>
                </c:pt>
                <c:pt idx="11" formatCode="_-* #,##0.00_-;\-* #,##0.00_-;_-* &quot;-&quot;_-;_-@_-">
                  <c:v>14.53186947423228</c:v>
                </c:pt>
                <c:pt idx="12" formatCode="_-* #,##0.00_-;\-* #,##0.00_-;_-* &quot;-&quot;_-;_-@_-">
                  <c:v>15.439135185021426</c:v>
                </c:pt>
                <c:pt idx="13" formatCode="_-* #,##0.00_-;\-* #,##0.00_-;_-* &quot;-&quot;_-;_-@_-">
                  <c:v>16.191474617261516</c:v>
                </c:pt>
                <c:pt idx="14" formatCode="_-* #,##0.00_-;\-* #,##0.00_-;_-* &quot;-&quot;_-;_-@_-">
                  <c:v>15.860919216397756</c:v>
                </c:pt>
                <c:pt idx="15" formatCode="_-* #,##0.00_-;\-* #,##0.00_-;_-* &quot;-&quot;_-;_-@_-">
                  <c:v>15.660000000000002</c:v>
                </c:pt>
                <c:pt idx="16">
                  <c:v>15.823333333333332</c:v>
                </c:pt>
                <c:pt idx="17">
                  <c:v>15.99908467938001</c:v>
                </c:pt>
                <c:pt idx="18">
                  <c:v>15.756547756053202</c:v>
                </c:pt>
                <c:pt idx="19" formatCode="General">
                  <c:v>15.709999999999999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5FC-42AC-8BE3-180A837D76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28642335"/>
        <c:axId val="1528632255"/>
      </c:lineChart>
      <c:catAx>
        <c:axId val="15286423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404040"/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1528632255"/>
        <c:crosses val="autoZero"/>
        <c:auto val="1"/>
        <c:lblAlgn val="ctr"/>
        <c:lblOffset val="100"/>
        <c:noMultiLvlLbl val="0"/>
      </c:catAx>
      <c:valAx>
        <c:axId val="1528632255"/>
        <c:scaling>
          <c:orientation val="minMax"/>
          <c:min val="12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404040"/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15286423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404040"/>
              </a:solidFill>
              <a:latin typeface="BentonSans Regular" panose="02000503040000020004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2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r>
              <a:rPr lang="en-US" dirty="0">
                <a:solidFill>
                  <a:schemeClr val="bg1"/>
                </a:solidFill>
                <a:latin typeface="BentonSans Regular" panose="02000503040000020004" pitchFamily="50" charset="0"/>
              </a:rPr>
              <a:t>Lending</a:t>
            </a:r>
            <a:r>
              <a:rPr lang="en-US" baseline="0" dirty="0">
                <a:solidFill>
                  <a:schemeClr val="bg1"/>
                </a:solidFill>
                <a:latin typeface="BentonSans Regular" panose="02000503040000020004" pitchFamily="50" charset="0"/>
              </a:rPr>
              <a:t> rate by type of borrowers</a:t>
            </a:r>
            <a:endParaRPr lang="en-US" dirty="0">
              <a:solidFill>
                <a:schemeClr val="bg1"/>
              </a:solidFill>
              <a:latin typeface="BentonSans Regular" panose="02000503040000020004" pitchFamily="50" charset="0"/>
            </a:endParaRPr>
          </a:p>
        </c:rich>
      </c:tx>
      <c:layout>
        <c:manualLayout>
          <c:xMode val="edge"/>
          <c:yMode val="edge"/>
          <c:x val="0.28962984125763763"/>
          <c:y val="2.87659628443421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BentonSans Regular" panose="02000503040000020004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'Lending by Type of borrowers'!$C$2</c:f>
              <c:strCache>
                <c:ptCount val="1"/>
                <c:pt idx="0">
                  <c:v>Individuals</c:v>
                </c:pt>
              </c:strCache>
            </c:strRef>
          </c:tx>
          <c:spPr>
            <a:ln w="28575" cap="rnd">
              <a:solidFill>
                <a:srgbClr val="753918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3.5548943804490883E-2"/>
                  <c:y val="-2.51702174887994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972-4558-A7A9-A88F4ACCF059}"/>
                </c:ext>
              </c:extLst>
            </c:dLbl>
            <c:dLbl>
              <c:idx val="7"/>
              <c:layout>
                <c:manualLayout>
                  <c:x val="-4.265873256538915E-2"/>
                  <c:y val="-4.31489442665132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972-4558-A7A9-A88F4ACCF059}"/>
                </c:ext>
              </c:extLst>
            </c:dLbl>
            <c:dLbl>
              <c:idx val="11"/>
              <c:layout>
                <c:manualLayout>
                  <c:x val="-1.1849647934830383E-2"/>
                  <c:y val="-2.15744721332566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972-4558-A7A9-A88F4ACCF059}"/>
                </c:ext>
              </c:extLst>
            </c:dLbl>
            <c:dLbl>
              <c:idx val="15"/>
              <c:layout>
                <c:manualLayout>
                  <c:x val="-4.7398591739321178E-3"/>
                  <c:y val="-2.87659628443421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972-4558-A7A9-A88F4ACCF059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2">
                        <a:lumMod val="50000"/>
                      </a:schemeClr>
                    </a:solidFill>
                    <a:latin typeface="BentonSans Regular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'Lending by Type of borrowers'!$B$3:$B$18</c:f>
              <c:strCache>
                <c:ptCount val="16"/>
                <c:pt idx="0">
                  <c:v>2022Q1</c:v>
                </c:pt>
                <c:pt idx="1">
                  <c:v>2022Q2</c:v>
                </c:pt>
                <c:pt idx="2">
                  <c:v>2022Q3</c:v>
                </c:pt>
                <c:pt idx="3">
                  <c:v>2022Q4</c:v>
                </c:pt>
                <c:pt idx="4">
                  <c:v>2023Q1</c:v>
                </c:pt>
                <c:pt idx="5">
                  <c:v>2023Q2</c:v>
                </c:pt>
                <c:pt idx="6">
                  <c:v>2023Q3</c:v>
                </c:pt>
                <c:pt idx="7">
                  <c:v>2023Q4</c:v>
                </c:pt>
                <c:pt idx="8">
                  <c:v>2024Q1</c:v>
                </c:pt>
                <c:pt idx="9">
                  <c:v>2024Q2</c:v>
                </c:pt>
                <c:pt idx="10">
                  <c:v>2024Q3</c:v>
                </c:pt>
                <c:pt idx="11">
                  <c:v>2024Q4</c:v>
                </c:pt>
                <c:pt idx="12">
                  <c:v>2025Q1</c:v>
                </c:pt>
                <c:pt idx="13">
                  <c:v>2025Q2</c:v>
                </c:pt>
                <c:pt idx="14">
                  <c:v>2025Q3</c:v>
                </c:pt>
                <c:pt idx="15">
                  <c:v>2025Q4</c:v>
                </c:pt>
              </c:strCache>
            </c:strRef>
          </c:cat>
          <c:val>
            <c:numRef>
              <c:f>'Lending by Type of borrowers'!$C$3:$C$18</c:f>
              <c:numCache>
                <c:formatCode>General</c:formatCode>
                <c:ptCount val="16"/>
                <c:pt idx="0">
                  <c:v>17.06589668677616</c:v>
                </c:pt>
                <c:pt idx="1">
                  <c:v>17.114009156658028</c:v>
                </c:pt>
                <c:pt idx="2">
                  <c:v>17.18299472611206</c:v>
                </c:pt>
                <c:pt idx="3">
                  <c:v>17.617517725746797</c:v>
                </c:pt>
                <c:pt idx="4">
                  <c:v>16.554179863494799</c:v>
                </c:pt>
                <c:pt idx="5">
                  <c:v>17.472468206105791</c:v>
                </c:pt>
                <c:pt idx="6">
                  <c:v>16.949060995235826</c:v>
                </c:pt>
                <c:pt idx="7">
                  <c:v>16.677912045822772</c:v>
                </c:pt>
                <c:pt idx="8">
                  <c:v>16.888592108842509</c:v>
                </c:pt>
                <c:pt idx="9">
                  <c:v>15.515053877099671</c:v>
                </c:pt>
                <c:pt idx="10">
                  <c:v>16.654373252390471</c:v>
                </c:pt>
                <c:pt idx="11">
                  <c:v>16.524455492443185</c:v>
                </c:pt>
                <c:pt idx="12">
                  <c:v>16.422544015111487</c:v>
                </c:pt>
                <c:pt idx="13">
                  <c:v>16.329856847517956</c:v>
                </c:pt>
                <c:pt idx="14">
                  <c:v>15.979457900675159</c:v>
                </c:pt>
                <c:pt idx="15">
                  <c:v>16.090079405390473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396-4AB0-BFEC-8EFD9474E54B}"/>
            </c:ext>
          </c:extLst>
        </c:ser>
        <c:ser>
          <c:idx val="1"/>
          <c:order val="1"/>
          <c:tx>
            <c:strRef>
              <c:f>'Lending by Type of borrowers'!$D$2</c:f>
              <c:strCache>
                <c:ptCount val="1"/>
                <c:pt idx="0">
                  <c:v>Corporates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3.3179014217524824E-2"/>
                  <c:y val="3.95531989109704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972-4558-A7A9-A88F4ACCF059}"/>
                </c:ext>
              </c:extLst>
            </c:dLbl>
            <c:dLbl>
              <c:idx val="7"/>
              <c:layout>
                <c:manualLayout>
                  <c:x val="-7.1097887608981775E-3"/>
                  <c:y val="3.59574535554277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972-4558-A7A9-A88F4ACCF059}"/>
                </c:ext>
              </c:extLst>
            </c:dLbl>
            <c:dLbl>
              <c:idx val="11"/>
              <c:layout>
                <c:manualLayout>
                  <c:x val="-2.3699295869660679E-2"/>
                  <c:y val="1.43829814221710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972-4558-A7A9-A88F4ACCF059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972-4558-A7A9-A88F4ACCF059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2">
                        <a:lumMod val="50000"/>
                      </a:schemeClr>
                    </a:solidFill>
                    <a:latin typeface="BentonSans Regular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'Lending by Type of borrowers'!$B$3:$B$18</c:f>
              <c:strCache>
                <c:ptCount val="16"/>
                <c:pt idx="0">
                  <c:v>2022Q1</c:v>
                </c:pt>
                <c:pt idx="1">
                  <c:v>2022Q2</c:v>
                </c:pt>
                <c:pt idx="2">
                  <c:v>2022Q3</c:v>
                </c:pt>
                <c:pt idx="3">
                  <c:v>2022Q4</c:v>
                </c:pt>
                <c:pt idx="4">
                  <c:v>2023Q1</c:v>
                </c:pt>
                <c:pt idx="5">
                  <c:v>2023Q2</c:v>
                </c:pt>
                <c:pt idx="6">
                  <c:v>2023Q3</c:v>
                </c:pt>
                <c:pt idx="7">
                  <c:v>2023Q4</c:v>
                </c:pt>
                <c:pt idx="8">
                  <c:v>2024Q1</c:v>
                </c:pt>
                <c:pt idx="9">
                  <c:v>2024Q2</c:v>
                </c:pt>
                <c:pt idx="10">
                  <c:v>2024Q3</c:v>
                </c:pt>
                <c:pt idx="11">
                  <c:v>2024Q4</c:v>
                </c:pt>
                <c:pt idx="12">
                  <c:v>2025Q1</c:v>
                </c:pt>
                <c:pt idx="13">
                  <c:v>2025Q2</c:v>
                </c:pt>
                <c:pt idx="14">
                  <c:v>2025Q3</c:v>
                </c:pt>
                <c:pt idx="15">
                  <c:v>2025Q4</c:v>
                </c:pt>
              </c:strCache>
            </c:strRef>
          </c:cat>
          <c:val>
            <c:numRef>
              <c:f>'Lending by Type of borrowers'!$D$3:$D$18</c:f>
              <c:numCache>
                <c:formatCode>General</c:formatCode>
                <c:ptCount val="16"/>
                <c:pt idx="0">
                  <c:v>15.990565943079911</c:v>
                </c:pt>
                <c:pt idx="1">
                  <c:v>15.696754107404773</c:v>
                </c:pt>
                <c:pt idx="2">
                  <c:v>15.517515372701931</c:v>
                </c:pt>
                <c:pt idx="3">
                  <c:v>15.826623493012642</c:v>
                </c:pt>
                <c:pt idx="4">
                  <c:v>15.544335744202996</c:v>
                </c:pt>
                <c:pt idx="5">
                  <c:v>15.757811847375061</c:v>
                </c:pt>
                <c:pt idx="6">
                  <c:v>15.163151054398851</c:v>
                </c:pt>
                <c:pt idx="7">
                  <c:v>15.229876764044354</c:v>
                </c:pt>
                <c:pt idx="8">
                  <c:v>15.781751482151556</c:v>
                </c:pt>
                <c:pt idx="9">
                  <c:v>15.968057111403462</c:v>
                </c:pt>
                <c:pt idx="10">
                  <c:v>15.590179405616624</c:v>
                </c:pt>
                <c:pt idx="11">
                  <c:v>15.542323211413539</c:v>
                </c:pt>
                <c:pt idx="12">
                  <c:v>15.688481331826372</c:v>
                </c:pt>
                <c:pt idx="13">
                  <c:v>15.830716635658009</c:v>
                </c:pt>
                <c:pt idx="14">
                  <c:v>15.662944566215113</c:v>
                </c:pt>
                <c:pt idx="15">
                  <c:v>15.512110485633178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396-4AB0-BFEC-8EFD9474E5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90009568"/>
        <c:axId val="1590008128"/>
      </c:lineChart>
      <c:catAx>
        <c:axId val="1590009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1590008128"/>
        <c:crosses val="autoZero"/>
        <c:auto val="1"/>
        <c:lblAlgn val="ctr"/>
        <c:lblOffset val="100"/>
        <c:noMultiLvlLbl val="0"/>
      </c:catAx>
      <c:valAx>
        <c:axId val="1590008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1590009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454048"/>
              </a:solidFill>
              <a:latin typeface="BentonSans Regular" panose="02000503040000020004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CF7EA"/>
    </a:solidFill>
    <a:ln>
      <a:solidFill>
        <a:schemeClr val="accent2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1400">
                <a:solidFill>
                  <a:schemeClr val="accent2">
                    <a:lumMod val="50000"/>
                  </a:schemeClr>
                </a:solidFill>
              </a:defRPr>
            </a:pPr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Deposit</a:t>
            </a:r>
            <a:r>
              <a:rPr lang="en-US" sz="1400" baseline="0" dirty="0">
                <a:solidFill>
                  <a:schemeClr val="accent2">
                    <a:lumMod val="50000"/>
                  </a:schemeClr>
                </a:solidFill>
              </a:rPr>
              <a:t> and Lending rates</a:t>
            </a:r>
            <a:endParaRPr lang="en-US" sz="1400" dirty="0">
              <a:solidFill>
                <a:schemeClr val="accent2">
                  <a:lumMod val="50000"/>
                </a:schemeClr>
              </a:solidFill>
            </a:endParaRP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8.8901614570905896E-2"/>
          <c:y val="0.14568931577518299"/>
          <c:w val="0.88483575916646795"/>
          <c:h val="0.54997149063263595"/>
        </c:manualLayout>
      </c:layout>
      <c:lineChart>
        <c:grouping val="standard"/>
        <c:varyColors val="0"/>
        <c:ser>
          <c:idx val="0"/>
          <c:order val="0"/>
          <c:tx>
            <c:strRef>
              <c:f>'2025Q4'!$B$6</c:f>
              <c:strCache>
                <c:ptCount val="1"/>
                <c:pt idx="0">
                  <c:v>Deposit rate</c:v>
                </c:pt>
              </c:strCache>
            </c:strRef>
          </c:tx>
          <c:spPr>
            <a:ln w="34925">
              <a:solidFill>
                <a:srgbClr val="C0504D">
                  <a:lumMod val="75000"/>
                </a:srgbClr>
              </a:solidFill>
              <a:prstDash val="sysDash"/>
            </a:ln>
          </c:spPr>
          <c:marker>
            <c:symbol val="none"/>
          </c:marker>
          <c:dLbls>
            <c:dLbl>
              <c:idx val="3"/>
              <c:layout>
                <c:manualLayout>
                  <c:x val="-2.0590426424488665E-2"/>
                  <c:y val="-3.95531989109705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15E-43F9-B769-A5700BEBBB44}"/>
                </c:ext>
              </c:extLst>
            </c:dLbl>
            <c:dLbl>
              <c:idx val="7"/>
              <c:layout>
                <c:manualLayout>
                  <c:x val="-2.6767554351835265E-2"/>
                  <c:y val="-3.95531989109705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F15E-43F9-B769-A5700BEBBB44}"/>
                </c:ext>
              </c:extLst>
            </c:dLbl>
            <c:dLbl>
              <c:idx val="11"/>
              <c:layout>
                <c:manualLayout>
                  <c:x val="-4.3239895491426268E-2"/>
                  <c:y val="-3.23617081998849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15E-43F9-B769-A5700BEBBB44}"/>
                </c:ext>
              </c:extLst>
            </c:dLbl>
            <c:dLbl>
              <c:idx val="15"/>
              <c:layout>
                <c:manualLayout>
                  <c:x val="-1.8531383782039872E-2"/>
                  <c:y val="-3.95531989109705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15E-43F9-B769-A5700BEBBB44}"/>
                </c:ext>
              </c:extLst>
            </c:dLbl>
            <c:dLbl>
              <c:idx val="19"/>
              <c:layout>
                <c:manualLayout>
                  <c:x val="-1.0295213212244332E-2"/>
                  <c:y val="-2.87659628443421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15E-43F9-B769-A5700BEBBB44}"/>
                </c:ext>
              </c:extLst>
            </c:dLbl>
            <c:dLbl>
              <c:idx val="23"/>
              <c:layout>
                <c:manualLayout>
                  <c:x val="-6.177127927346599E-3"/>
                  <c:y val="2.15744721332566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15E-43F9-B769-A5700BEBBB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accent2">
                        <a:lumMod val="50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multiLvlStrRef>
              <c:f>'2025Q4'!$W$3:$AT$5</c:f>
              <c:multiLvlStrCache>
                <c:ptCount val="2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</c:v>
                  </c:pt>
                  <c:pt idx="5">
                    <c:v>Q2</c:v>
                  </c:pt>
                  <c:pt idx="6">
                    <c:v>Q3</c:v>
                  </c:pt>
                  <c:pt idx="7">
                    <c:v>Q4</c:v>
                  </c:pt>
                  <c:pt idx="8">
                    <c:v>Q1</c:v>
                  </c:pt>
                  <c:pt idx="9">
                    <c:v>Q2</c:v>
                  </c:pt>
                  <c:pt idx="10">
                    <c:v>Q3</c:v>
                  </c:pt>
                  <c:pt idx="11">
                    <c:v>Q4</c:v>
                  </c:pt>
                  <c:pt idx="12">
                    <c:v>Q1</c:v>
                  </c:pt>
                  <c:pt idx="13">
                    <c:v>Q2</c:v>
                  </c:pt>
                  <c:pt idx="14">
                    <c:v>Q3</c:v>
                  </c:pt>
                  <c:pt idx="15">
                    <c:v>Q4</c:v>
                  </c:pt>
                  <c:pt idx="16">
                    <c:v>Q1</c:v>
                  </c:pt>
                  <c:pt idx="17">
                    <c:v>Q2</c:v>
                  </c:pt>
                  <c:pt idx="18">
                    <c:v>Q3</c:v>
                  </c:pt>
                  <c:pt idx="19">
                    <c:v>Q4</c:v>
                  </c:pt>
                  <c:pt idx="20">
                    <c:v>Q1</c:v>
                  </c:pt>
                  <c:pt idx="21">
                    <c:v>Q2</c:v>
                  </c:pt>
                  <c:pt idx="22">
                    <c:v>Q3</c:v>
                  </c:pt>
                  <c:pt idx="23">
                    <c:v>Q4</c:v>
                  </c:pt>
                </c:lvl>
                <c:lvl>
                  <c:pt idx="0">
                    <c:v>2020</c:v>
                  </c:pt>
                  <c:pt idx="4">
                    <c:v>2021</c:v>
                  </c:pt>
                  <c:pt idx="8">
                    <c:v>2022</c:v>
                  </c:pt>
                  <c:pt idx="12">
                    <c:v>2023</c:v>
                  </c:pt>
                  <c:pt idx="16">
                    <c:v>2024</c:v>
                  </c:pt>
                  <c:pt idx="20">
                    <c:v>2025</c:v>
                  </c:pt>
                </c:lvl>
              </c:multiLvlStrCache>
            </c:multiLvlStrRef>
          </c:cat>
          <c:val>
            <c:numRef>
              <c:f>'2025Q4'!$W$6:$AT$6</c:f>
              <c:numCache>
                <c:formatCode>0.00</c:formatCode>
                <c:ptCount val="24"/>
                <c:pt idx="0">
                  <c:v>7.3796666666666679</c:v>
                </c:pt>
                <c:pt idx="1">
                  <c:v>7.8396666666666661</c:v>
                </c:pt>
                <c:pt idx="2">
                  <c:v>7.8180875614632166</c:v>
                </c:pt>
                <c:pt idx="3">
                  <c:v>7.532716234231736</c:v>
                </c:pt>
                <c:pt idx="4">
                  <c:v>7.8609999999999998</c:v>
                </c:pt>
                <c:pt idx="5">
                  <c:v>7.6578555795771708</c:v>
                </c:pt>
                <c:pt idx="6">
                  <c:v>7.8213333333333326</c:v>
                </c:pt>
                <c:pt idx="7">
                  <c:v>7.7850000000000001</c:v>
                </c:pt>
                <c:pt idx="8">
                  <c:v>7.4489603882324502</c:v>
                </c:pt>
                <c:pt idx="9">
                  <c:v>7.4761738059305571</c:v>
                </c:pt>
                <c:pt idx="10">
                  <c:v>7.7737923277002778</c:v>
                </c:pt>
                <c:pt idx="11">
                  <c:v>7.9123656575986656</c:v>
                </c:pt>
                <c:pt idx="12">
                  <c:v>9.5103289337494363</c:v>
                </c:pt>
                <c:pt idx="13">
                  <c:v>9.4635556618491332</c:v>
                </c:pt>
                <c:pt idx="14">
                  <c:v>9.5777939911513243</c:v>
                </c:pt>
                <c:pt idx="15">
                  <c:v>10.052160997323357</c:v>
                </c:pt>
                <c:pt idx="16">
                  <c:v>10.292691054779366</c:v>
                </c:pt>
                <c:pt idx="17">
                  <c:v>10.170046487592069</c:v>
                </c:pt>
                <c:pt idx="18">
                  <c:v>10.360527445704072</c:v>
                </c:pt>
                <c:pt idx="19">
                  <c:v>10.497342992087608</c:v>
                </c:pt>
                <c:pt idx="20">
                  <c:v>9.4516788129636193</c:v>
                </c:pt>
                <c:pt idx="21">
                  <c:v>9.7534079453281119</c:v>
                </c:pt>
                <c:pt idx="22">
                  <c:v>8.666179449936509</c:v>
                </c:pt>
                <c:pt idx="23">
                  <c:v>8.9833333333333343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15E-43F9-B769-A5700BEBBB44}"/>
            </c:ext>
          </c:extLst>
        </c:ser>
        <c:ser>
          <c:idx val="1"/>
          <c:order val="1"/>
          <c:tx>
            <c:strRef>
              <c:f>'2025Q4'!$B$7</c:f>
              <c:strCache>
                <c:ptCount val="1"/>
                <c:pt idx="0">
                  <c:v>Lending rate</c:v>
                </c:pt>
              </c:strCache>
            </c:strRef>
          </c:tx>
          <c:spPr>
            <a:ln w="34925">
              <a:solidFill>
                <a:srgbClr val="CC9900"/>
              </a:solidFill>
              <a:prstDash val="sysDash"/>
            </a:ln>
          </c:spPr>
          <c:marker>
            <c:symbol val="none"/>
          </c:marker>
          <c:dLbls>
            <c:dLbl>
              <c:idx val="3"/>
              <c:layout>
                <c:manualLayout>
                  <c:x val="-1.4413298497142103E-2"/>
                  <c:y val="-3.59574535554277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15E-43F9-B769-A5700BEBBB44}"/>
                </c:ext>
              </c:extLst>
            </c:dLbl>
            <c:dLbl>
              <c:idx val="7"/>
              <c:layout>
                <c:manualLayout>
                  <c:x val="-1.0295213212244332E-2"/>
                  <c:y val="-4.67446896220560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15E-43F9-B769-A5700BEBBB44}"/>
                </c:ext>
              </c:extLst>
            </c:dLbl>
            <c:dLbl>
              <c:idx val="11"/>
              <c:layout>
                <c:manualLayout>
                  <c:x val="-1.2354255854693274E-2"/>
                  <c:y val="-1.797872677771388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15E-43F9-B769-A5700BEBBB44}"/>
                </c:ext>
              </c:extLst>
            </c:dLbl>
            <c:dLbl>
              <c:idx val="15"/>
              <c:layout>
                <c:manualLayout>
                  <c:x val="-1.0295213212244332E-2"/>
                  <c:y val="-3.95531989109705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15E-43F9-B769-A5700BEBBB44}"/>
                </c:ext>
              </c:extLst>
            </c:dLbl>
            <c:dLbl>
              <c:idx val="19"/>
              <c:layout>
                <c:manualLayout>
                  <c:x val="-1.0295213212244332E-2"/>
                  <c:y val="-3.95531989109705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15E-43F9-B769-A5700BEBBB44}"/>
                </c:ext>
              </c:extLst>
            </c:dLbl>
            <c:dLbl>
              <c:idx val="23"/>
              <c:layout>
                <c:manualLayout>
                  <c:x val="0"/>
                  <c:y val="-1.4382981422171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5E-43F9-B769-A5700BEBBB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accent2">
                        <a:lumMod val="50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multiLvlStrRef>
              <c:f>'2025Q4'!$W$3:$AT$5</c:f>
              <c:multiLvlStrCache>
                <c:ptCount val="2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</c:v>
                  </c:pt>
                  <c:pt idx="5">
                    <c:v>Q2</c:v>
                  </c:pt>
                  <c:pt idx="6">
                    <c:v>Q3</c:v>
                  </c:pt>
                  <c:pt idx="7">
                    <c:v>Q4</c:v>
                  </c:pt>
                  <c:pt idx="8">
                    <c:v>Q1</c:v>
                  </c:pt>
                  <c:pt idx="9">
                    <c:v>Q2</c:v>
                  </c:pt>
                  <c:pt idx="10">
                    <c:v>Q3</c:v>
                  </c:pt>
                  <c:pt idx="11">
                    <c:v>Q4</c:v>
                  </c:pt>
                  <c:pt idx="12">
                    <c:v>Q1</c:v>
                  </c:pt>
                  <c:pt idx="13">
                    <c:v>Q2</c:v>
                  </c:pt>
                  <c:pt idx="14">
                    <c:v>Q3</c:v>
                  </c:pt>
                  <c:pt idx="15">
                    <c:v>Q4</c:v>
                  </c:pt>
                  <c:pt idx="16">
                    <c:v>Q1</c:v>
                  </c:pt>
                  <c:pt idx="17">
                    <c:v>Q2</c:v>
                  </c:pt>
                  <c:pt idx="18">
                    <c:v>Q3</c:v>
                  </c:pt>
                  <c:pt idx="19">
                    <c:v>Q4</c:v>
                  </c:pt>
                  <c:pt idx="20">
                    <c:v>Q1</c:v>
                  </c:pt>
                  <c:pt idx="21">
                    <c:v>Q2</c:v>
                  </c:pt>
                  <c:pt idx="22">
                    <c:v>Q3</c:v>
                  </c:pt>
                  <c:pt idx="23">
                    <c:v>Q4</c:v>
                  </c:pt>
                </c:lvl>
                <c:lvl>
                  <c:pt idx="0">
                    <c:v>2020</c:v>
                  </c:pt>
                  <c:pt idx="4">
                    <c:v>2021</c:v>
                  </c:pt>
                  <c:pt idx="8">
                    <c:v>2022</c:v>
                  </c:pt>
                  <c:pt idx="12">
                    <c:v>2023</c:v>
                  </c:pt>
                  <c:pt idx="16">
                    <c:v>2024</c:v>
                  </c:pt>
                  <c:pt idx="20">
                    <c:v>2025</c:v>
                  </c:pt>
                </c:lvl>
              </c:multiLvlStrCache>
            </c:multiLvlStrRef>
          </c:cat>
          <c:val>
            <c:numRef>
              <c:f>'2025Q4'!$W$7:$AT$7</c:f>
              <c:numCache>
                <c:formatCode>0.00</c:formatCode>
                <c:ptCount val="24"/>
                <c:pt idx="0">
                  <c:v>16.73</c:v>
                </c:pt>
                <c:pt idx="1">
                  <c:v>15.766666666666666</c:v>
                </c:pt>
                <c:pt idx="2">
                  <c:v>16.466666666666669</c:v>
                </c:pt>
                <c:pt idx="3">
                  <c:v>16.433333333333334</c:v>
                </c:pt>
                <c:pt idx="4">
                  <c:v>15.82</c:v>
                </c:pt>
                <c:pt idx="5">
                  <c:v>16</c:v>
                </c:pt>
                <c:pt idx="6">
                  <c:v>16.350000000000001</c:v>
                </c:pt>
                <c:pt idx="7">
                  <c:v>16.53</c:v>
                </c:pt>
                <c:pt idx="8">
                  <c:v>16.523333333333333</c:v>
                </c:pt>
                <c:pt idx="9">
                  <c:v>16.306666666666668</c:v>
                </c:pt>
                <c:pt idx="10">
                  <c:v>16.168617535783831</c:v>
                </c:pt>
                <c:pt idx="11">
                  <c:v>16.540000000000003</c:v>
                </c:pt>
                <c:pt idx="12">
                  <c:v>15.973333333333334</c:v>
                </c:pt>
                <c:pt idx="13">
                  <c:v>16.540000000000003</c:v>
                </c:pt>
                <c:pt idx="14">
                  <c:v>15.933333333333332</c:v>
                </c:pt>
                <c:pt idx="15">
                  <c:v>15.783333333333331</c:v>
                </c:pt>
                <c:pt idx="16">
                  <c:v>16.346666666666668</c:v>
                </c:pt>
                <c:pt idx="17">
                  <c:v>15.81</c:v>
                </c:pt>
                <c:pt idx="18">
                  <c:v>16.059999999999999</c:v>
                </c:pt>
                <c:pt idx="19">
                  <c:v>15.85</c:v>
                </c:pt>
                <c:pt idx="20">
                  <c:v>15.89</c:v>
                </c:pt>
                <c:pt idx="21">
                  <c:v>15.966666666666667</c:v>
                </c:pt>
                <c:pt idx="22">
                  <c:v>15.781246160064555</c:v>
                </c:pt>
                <c:pt idx="23">
                  <c:v>15.719999999999999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15E-43F9-B769-A5700BEBBB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68376880"/>
        <c:axId val="1168383408"/>
      </c:lineChart>
      <c:catAx>
        <c:axId val="116837688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  <a:latin typeface="BentonSans Regular" panose="02000503040000020004" pitchFamily="50" charset="0"/>
              </a:defRPr>
            </a:pPr>
            <a:endParaRPr lang="en-US"/>
          </a:p>
        </c:txPr>
        <c:crossAx val="1168383408"/>
        <c:crosses val="autoZero"/>
        <c:auto val="1"/>
        <c:lblAlgn val="ctr"/>
        <c:lblOffset val="100"/>
        <c:noMultiLvlLbl val="0"/>
      </c:catAx>
      <c:valAx>
        <c:axId val="116838340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6350">
            <a:noFill/>
          </a:ln>
        </c:spPr>
        <c:txPr>
          <a:bodyPr/>
          <a:lstStyle/>
          <a:p>
            <a:pPr>
              <a:defRPr>
                <a:solidFill>
                  <a:srgbClr val="000000"/>
                </a:solidFill>
                <a:latin typeface="BentonSans Regular" panose="02000503040000020004" pitchFamily="50" charset="0"/>
              </a:defRPr>
            </a:pPr>
            <a:endParaRPr lang="en-US"/>
          </a:p>
        </c:txPr>
        <c:crossAx val="1168376880"/>
        <c:crosses val="autoZero"/>
        <c:crossBetween val="between"/>
        <c:majorUnit val="5"/>
      </c:valAx>
    </c:plotArea>
    <c:legend>
      <c:legendPos val="b"/>
      <c:layout>
        <c:manualLayout>
          <c:xMode val="edge"/>
          <c:yMode val="edge"/>
          <c:x val="0.216214468289503"/>
          <c:y val="0.88256084010894498"/>
          <c:w val="0.45851570879221498"/>
          <c:h val="7.1014935097332005E-2"/>
        </c:manualLayout>
      </c:layout>
      <c:overlay val="0"/>
      <c:txPr>
        <a:bodyPr/>
        <a:lstStyle/>
        <a:p>
          <a:pPr>
            <a:defRPr>
              <a:solidFill>
                <a:srgbClr val="000000"/>
              </a:solidFill>
              <a:latin typeface="BentonSans Regular" panose="02000503040000020004" pitchFamily="50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CF7EA"/>
    </a:solidFill>
    <a:ln w="9525" cap="flat" cmpd="sng">
      <a:solidFill>
        <a:srgbClr val="DBA628">
          <a:lumMod val="75000"/>
        </a:srgbClr>
      </a:solidFill>
      <a:round/>
    </a:ln>
  </c:spPr>
  <c:txPr>
    <a:bodyPr/>
    <a:lstStyle/>
    <a:p>
      <a:pPr>
        <a:defRPr>
          <a:latin typeface="BentonSans Book" panose="02000503040000020004" pitchFamily="50" charset="0"/>
        </a:defRPr>
      </a:pPr>
      <a:endParaRPr lang="en-US"/>
    </a:p>
  </c:txPr>
  <c:externalData r:id="rId2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accent2">
                    <a:lumMod val="50000"/>
                  </a:schemeClr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NALs by maturity in % share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accent2">
                  <a:lumMod val="50000"/>
                </a:schemeClr>
              </a:solidFill>
              <a:latin typeface="BentonSans Regular" panose="02000503040000020004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graphs!$H$282</c:f>
              <c:strCache>
                <c:ptCount val="1"/>
                <c:pt idx="0">
                  <c:v>Short-term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rgbClr val="FDF9EF"/>
                    </a:solidFill>
                    <a:latin typeface="BentonSans Regular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graphs!$I$281:$O$281</c:f>
              <c:strCache>
                <c:ptCount val="7"/>
                <c:pt idx="0">
                  <c:v>2024Q2</c:v>
                </c:pt>
                <c:pt idx="1">
                  <c:v>2024Q3</c:v>
                </c:pt>
                <c:pt idx="2">
                  <c:v>2024Q4</c:v>
                </c:pt>
                <c:pt idx="3">
                  <c:v>2025Q1</c:v>
                </c:pt>
                <c:pt idx="4">
                  <c:v>2025Q2</c:v>
                </c:pt>
                <c:pt idx="5">
                  <c:v>2025Q3</c:v>
                </c:pt>
                <c:pt idx="6">
                  <c:v>2025Q4</c:v>
                </c:pt>
              </c:strCache>
            </c:strRef>
          </c:cat>
          <c:val>
            <c:numRef>
              <c:f>graphs!$I$282:$O$282</c:f>
              <c:numCache>
                <c:formatCode>0.0</c:formatCode>
                <c:ptCount val="7"/>
                <c:pt idx="0">
                  <c:v>54.581546218873292</c:v>
                </c:pt>
                <c:pt idx="1">
                  <c:v>52.893277053864587</c:v>
                </c:pt>
                <c:pt idx="2">
                  <c:v>49.40085948281159</c:v>
                </c:pt>
                <c:pt idx="3">
                  <c:v>58.607195351384568</c:v>
                </c:pt>
                <c:pt idx="4">
                  <c:v>46.874993528356903</c:v>
                </c:pt>
                <c:pt idx="5">
                  <c:v>49.386519721209524</c:v>
                </c:pt>
                <c:pt idx="6">
                  <c:v>48.002786672643758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01-4CF1-8392-68895C3AE81E}"/>
            </c:ext>
          </c:extLst>
        </c:ser>
        <c:ser>
          <c:idx val="1"/>
          <c:order val="1"/>
          <c:tx>
            <c:strRef>
              <c:f>graphs!$H$283</c:f>
              <c:strCache>
                <c:ptCount val="1"/>
                <c:pt idx="0">
                  <c:v>Medium-term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rgbClr val="FFFFFF"/>
                    </a:solidFill>
                    <a:latin typeface="BentonSans Regular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graphs!$I$281:$O$281</c:f>
              <c:strCache>
                <c:ptCount val="7"/>
                <c:pt idx="0">
                  <c:v>2024Q2</c:v>
                </c:pt>
                <c:pt idx="1">
                  <c:v>2024Q3</c:v>
                </c:pt>
                <c:pt idx="2">
                  <c:v>2024Q4</c:v>
                </c:pt>
                <c:pt idx="3">
                  <c:v>2025Q1</c:v>
                </c:pt>
                <c:pt idx="4">
                  <c:v>2025Q2</c:v>
                </c:pt>
                <c:pt idx="5">
                  <c:v>2025Q3</c:v>
                </c:pt>
                <c:pt idx="6">
                  <c:v>2025Q4</c:v>
                </c:pt>
              </c:strCache>
            </c:strRef>
          </c:cat>
          <c:val>
            <c:numRef>
              <c:f>graphs!$I$283:$O$283</c:f>
              <c:numCache>
                <c:formatCode>0.0</c:formatCode>
                <c:ptCount val="7"/>
                <c:pt idx="0">
                  <c:v>14.885534392972</c:v>
                </c:pt>
                <c:pt idx="1">
                  <c:v>11.972893595269911</c:v>
                </c:pt>
                <c:pt idx="2">
                  <c:v>16.222727702750515</c:v>
                </c:pt>
                <c:pt idx="3">
                  <c:v>11.398364090029773</c:v>
                </c:pt>
                <c:pt idx="4">
                  <c:v>16.402877665917842</c:v>
                </c:pt>
                <c:pt idx="5">
                  <c:v>14.476049977328554</c:v>
                </c:pt>
                <c:pt idx="6">
                  <c:v>15.798593128745914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01-4CF1-8392-68895C3AE81E}"/>
            </c:ext>
          </c:extLst>
        </c:ser>
        <c:ser>
          <c:idx val="2"/>
          <c:order val="2"/>
          <c:tx>
            <c:strRef>
              <c:f>graphs!$H$284</c:f>
              <c:strCache>
                <c:ptCount val="1"/>
                <c:pt idx="0">
                  <c:v>Long-term</c:v>
                </c:pt>
              </c:strCache>
            </c:strRef>
          </c:tx>
          <c:spPr>
            <a:solidFill>
              <a:srgbClr val="FFC000">
                <a:lumMod val="5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rgbClr val="FFFFFF"/>
                    </a:solidFill>
                    <a:latin typeface="BentonSans Regular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graphs!$I$281:$O$281</c:f>
              <c:strCache>
                <c:ptCount val="7"/>
                <c:pt idx="0">
                  <c:v>2024Q2</c:v>
                </c:pt>
                <c:pt idx="1">
                  <c:v>2024Q3</c:v>
                </c:pt>
                <c:pt idx="2">
                  <c:v>2024Q4</c:v>
                </c:pt>
                <c:pt idx="3">
                  <c:v>2025Q1</c:v>
                </c:pt>
                <c:pt idx="4">
                  <c:v>2025Q2</c:v>
                </c:pt>
                <c:pt idx="5">
                  <c:v>2025Q3</c:v>
                </c:pt>
                <c:pt idx="6">
                  <c:v>2025Q4</c:v>
                </c:pt>
              </c:strCache>
            </c:strRef>
          </c:cat>
          <c:val>
            <c:numRef>
              <c:f>graphs!$I$284:$O$284</c:f>
              <c:numCache>
                <c:formatCode>0.0</c:formatCode>
                <c:ptCount val="7"/>
                <c:pt idx="0">
                  <c:v>30.532919388154717</c:v>
                </c:pt>
                <c:pt idx="1">
                  <c:v>35.133829350865497</c:v>
                </c:pt>
                <c:pt idx="2">
                  <c:v>34.376412814437899</c:v>
                </c:pt>
                <c:pt idx="3">
                  <c:v>29.994440558585662</c:v>
                </c:pt>
                <c:pt idx="4">
                  <c:v>36.722128805725248</c:v>
                </c:pt>
                <c:pt idx="5">
                  <c:v>36.137430301461926</c:v>
                </c:pt>
                <c:pt idx="6">
                  <c:v>36.198620198610335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101-4CF1-8392-68895C3AE81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26666776"/>
        <c:axId val="1126667496"/>
      </c:barChart>
      <c:catAx>
        <c:axId val="1126666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2">
                    <a:lumMod val="50000"/>
                  </a:schemeClr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1126667496"/>
        <c:crosses val="autoZero"/>
        <c:auto val="1"/>
        <c:lblAlgn val="ctr"/>
        <c:lblOffset val="100"/>
        <c:noMultiLvlLbl val="0"/>
      </c:catAx>
      <c:valAx>
        <c:axId val="1126667496"/>
        <c:scaling>
          <c:orientation val="minMax"/>
          <c:max val="100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2">
                    <a:lumMod val="50000"/>
                  </a:schemeClr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1126666776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accent2">
                  <a:lumMod val="50000"/>
                </a:schemeClr>
              </a:solidFill>
              <a:latin typeface="BentonSans Regular" panose="02000503040000020004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E4C988">
        <a:lumMod val="20000"/>
        <a:lumOff val="80000"/>
      </a:srgbClr>
    </a:solidFill>
    <a:ln w="9525" cap="flat" cmpd="sng" algn="ctr">
      <a:solidFill>
        <a:srgbClr val="800000"/>
      </a:solidFill>
      <a:round/>
    </a:ln>
    <a:effectLst/>
  </c:spPr>
  <c:txPr>
    <a:bodyPr/>
    <a:lstStyle/>
    <a:p>
      <a:pPr>
        <a:defRPr sz="1400">
          <a:latin typeface="BentonSans Regular" panose="02000503040000020004" pitchFamily="50" charset="0"/>
        </a:defRPr>
      </a:pPr>
      <a:endParaRPr lang="en-US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Sheet2!$O$17</c:f>
              <c:strCache>
                <c:ptCount val="1"/>
                <c:pt idx="0">
                  <c:v>Individuals</c:v>
                </c:pt>
              </c:strCache>
            </c:strRef>
          </c:tx>
          <c:spPr>
            <a:solidFill>
              <a:srgbClr val="DBA628"/>
            </a:solidFill>
            <a:ln>
              <a:solidFill>
                <a:srgbClr val="000000"/>
              </a:solidFill>
            </a:ln>
            <a:effectLst/>
          </c:spPr>
          <c:invertIfNegative val="0"/>
          <c:cat>
            <c:multiLvlStrRef>
              <c:f>Sheet2!$P$15:$U$16</c:f>
              <c:multiLvlStrCache>
                <c:ptCount val="6"/>
                <c:lvl>
                  <c:pt idx="0">
                    <c:v>2024Q4</c:v>
                  </c:pt>
                  <c:pt idx="1">
                    <c:v>2025Q4</c:v>
                  </c:pt>
                  <c:pt idx="2">
                    <c:v>2024Q4</c:v>
                  </c:pt>
                  <c:pt idx="3">
                    <c:v>2025Q4</c:v>
                  </c:pt>
                  <c:pt idx="4">
                    <c:v>2024Q4</c:v>
                  </c:pt>
                  <c:pt idx="5">
                    <c:v>2025Q4</c:v>
                  </c:pt>
                </c:lvl>
                <c:lvl>
                  <c:pt idx="0">
                    <c:v>Short term</c:v>
                  </c:pt>
                  <c:pt idx="2">
                    <c:v>Medium term</c:v>
                  </c:pt>
                  <c:pt idx="4">
                    <c:v>Long term</c:v>
                  </c:pt>
                </c:lvl>
              </c:multiLvlStrCache>
            </c:multiLvlStrRef>
          </c:cat>
          <c:val>
            <c:numRef>
              <c:f>Sheet2!$P$17:$U$17</c:f>
              <c:numCache>
                <c:formatCode>General</c:formatCode>
                <c:ptCount val="6"/>
                <c:pt idx="0">
                  <c:v>26.2</c:v>
                </c:pt>
                <c:pt idx="1">
                  <c:v>28.1</c:v>
                </c:pt>
                <c:pt idx="2">
                  <c:v>48.2</c:v>
                </c:pt>
                <c:pt idx="3">
                  <c:v>39.700000000000003</c:v>
                </c:pt>
                <c:pt idx="4">
                  <c:v>66.099999999999994</c:v>
                </c:pt>
                <c:pt idx="5">
                  <c:v>63.8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E1-4FFB-8BAE-4B0FDC1E4C8E}"/>
            </c:ext>
          </c:extLst>
        </c:ser>
        <c:ser>
          <c:idx val="1"/>
          <c:order val="1"/>
          <c:tx>
            <c:strRef>
              <c:f>Sheet2!$O$18</c:f>
              <c:strCache>
                <c:ptCount val="1"/>
                <c:pt idx="0">
                  <c:v>Corporates</c:v>
                </c:pt>
              </c:strCache>
            </c:strRef>
          </c:tx>
          <c:spPr>
            <a:solidFill>
              <a:srgbClr val="753918"/>
            </a:solidFill>
            <a:ln>
              <a:solidFill>
                <a:srgbClr val="000000"/>
              </a:solidFill>
            </a:ln>
            <a:effectLst/>
          </c:spPr>
          <c:invertIfNegative val="0"/>
          <c:cat>
            <c:multiLvlStrRef>
              <c:f>Sheet2!$P$15:$U$16</c:f>
              <c:multiLvlStrCache>
                <c:ptCount val="6"/>
                <c:lvl>
                  <c:pt idx="0">
                    <c:v>2024Q4</c:v>
                  </c:pt>
                  <c:pt idx="1">
                    <c:v>2025Q4</c:v>
                  </c:pt>
                  <c:pt idx="2">
                    <c:v>2024Q4</c:v>
                  </c:pt>
                  <c:pt idx="3">
                    <c:v>2025Q4</c:v>
                  </c:pt>
                  <c:pt idx="4">
                    <c:v>2024Q4</c:v>
                  </c:pt>
                  <c:pt idx="5">
                    <c:v>2025Q4</c:v>
                  </c:pt>
                </c:lvl>
                <c:lvl>
                  <c:pt idx="0">
                    <c:v>Short term</c:v>
                  </c:pt>
                  <c:pt idx="2">
                    <c:v>Medium term</c:v>
                  </c:pt>
                  <c:pt idx="4">
                    <c:v>Long term</c:v>
                  </c:pt>
                </c:lvl>
              </c:multiLvlStrCache>
            </c:multiLvlStrRef>
          </c:cat>
          <c:val>
            <c:numRef>
              <c:f>Sheet2!$P$18:$U$18</c:f>
              <c:numCache>
                <c:formatCode>General</c:formatCode>
                <c:ptCount val="6"/>
                <c:pt idx="0">
                  <c:v>73.8</c:v>
                </c:pt>
                <c:pt idx="1">
                  <c:v>71.900000000000006</c:v>
                </c:pt>
                <c:pt idx="2">
                  <c:v>51.8</c:v>
                </c:pt>
                <c:pt idx="3">
                  <c:v>60.3</c:v>
                </c:pt>
                <c:pt idx="4">
                  <c:v>33.9</c:v>
                </c:pt>
                <c:pt idx="5">
                  <c:v>36.200000000000003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E1-4FFB-8BAE-4B0FDC1E4C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5579456"/>
        <c:axId val="25598176"/>
      </c:barChart>
      <c:catAx>
        <c:axId val="25579456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753918"/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25598176"/>
        <c:crosses val="autoZero"/>
        <c:auto val="1"/>
        <c:lblAlgn val="ctr"/>
        <c:lblOffset val="100"/>
        <c:noMultiLvlLbl val="0"/>
      </c:catAx>
      <c:valAx>
        <c:axId val="2559817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rgbClr val="753918"/>
                    </a:solidFill>
                    <a:latin typeface="BentonSans Regular" panose="02000503040000020004" pitchFamily="50" charset="0"/>
                    <a:ea typeface="+mn-ea"/>
                    <a:cs typeface="+mn-cs"/>
                  </a:defRPr>
                </a:pPr>
                <a:r>
                  <a:rPr lang="en-US" sz="1200" dirty="0">
                    <a:solidFill>
                      <a:srgbClr val="753918"/>
                    </a:solidFill>
                    <a:latin typeface="BentonSans Regular" panose="02000503040000020004" pitchFamily="50" charset="0"/>
                  </a:rPr>
                  <a:t>% share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rgbClr val="753918"/>
                  </a:solidFill>
                  <a:latin typeface="BentonSans Regular" panose="02000503040000020004" pitchFamily="50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753918"/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25579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225079832145759"/>
          <c:y val="4.3745935501377786E-2"/>
          <c:w val="0.31678869689759548"/>
          <c:h val="5.01340407315395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rgbClr val="000000"/>
              </a:solidFill>
              <a:latin typeface="BentonSans Regular" panose="02000503040000020004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2">
          <a:lumMod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rgbClr val="404040"/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r>
              <a:rPr lang="en-US">
                <a:solidFill>
                  <a:srgbClr val="404040"/>
                </a:solidFill>
                <a:latin typeface="BentonSans Regular" panose="02000503040000020004" pitchFamily="50" charset="0"/>
              </a:rPr>
              <a:t>Contribution to M3 growth (Assets)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rgbClr val="404040"/>
              </a:solidFill>
              <a:latin typeface="BentonSans Regular" panose="02000503040000020004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'MA Y-O-Y'!$AZ$18</c:f>
              <c:strCache>
                <c:ptCount val="1"/>
                <c:pt idx="0">
                  <c:v>NFA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'MA Y-O-Y'!$BA$17:$BL$17</c:f>
              <c:strCache>
                <c:ptCount val="12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</c:strCache>
            </c:strRef>
          </c:cat>
          <c:val>
            <c:numRef>
              <c:f>'MA Y-O-Y'!$BA$18:$BL$18</c:f>
              <c:numCache>
                <c:formatCode>0.0</c:formatCode>
                <c:ptCount val="12"/>
                <c:pt idx="0">
                  <c:v>-0.83104217656467905</c:v>
                </c:pt>
                <c:pt idx="1">
                  <c:v>11.207121264833996</c:v>
                </c:pt>
                <c:pt idx="2">
                  <c:v>10.642707024779961</c:v>
                </c:pt>
                <c:pt idx="3">
                  <c:v>22.178169062233827</c:v>
                </c:pt>
                <c:pt idx="4">
                  <c:v>15.931798737617944</c:v>
                </c:pt>
                <c:pt idx="5">
                  <c:v>13.89921126391695</c:v>
                </c:pt>
                <c:pt idx="6">
                  <c:v>17.604444145770437</c:v>
                </c:pt>
                <c:pt idx="7">
                  <c:v>29.152882123211299</c:v>
                </c:pt>
                <c:pt idx="8">
                  <c:v>27.972844008627462</c:v>
                </c:pt>
                <c:pt idx="9">
                  <c:v>19.716368520418438</c:v>
                </c:pt>
                <c:pt idx="10">
                  <c:v>15.732728025825319</c:v>
                </c:pt>
                <c:pt idx="11">
                  <c:v>1.2701562637611385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64-4782-B47B-7DD8CF70AC27}"/>
            </c:ext>
          </c:extLst>
        </c:ser>
        <c:ser>
          <c:idx val="1"/>
          <c:order val="1"/>
          <c:tx>
            <c:strRef>
              <c:f>'MA Y-O-Y'!$AZ$19</c:f>
              <c:strCache>
                <c:ptCount val="1"/>
                <c:pt idx="0">
                  <c:v>NCG</c:v>
                </c:pt>
              </c:strCache>
            </c:strRef>
          </c:tx>
          <c:spPr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c:spPr>
          <c:invertIfNegative val="0"/>
          <c:cat>
            <c:strRef>
              <c:f>'MA Y-O-Y'!$BA$17:$BL$17</c:f>
              <c:strCache>
                <c:ptCount val="12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</c:strCache>
            </c:strRef>
          </c:cat>
          <c:val>
            <c:numRef>
              <c:f>'MA Y-O-Y'!$BA$19:$BL$19</c:f>
              <c:numCache>
                <c:formatCode>0.0</c:formatCode>
                <c:ptCount val="12"/>
                <c:pt idx="0">
                  <c:v>11.448688308784881</c:v>
                </c:pt>
                <c:pt idx="1">
                  <c:v>9.5718560268748121</c:v>
                </c:pt>
                <c:pt idx="2">
                  <c:v>5.7353362993530093</c:v>
                </c:pt>
                <c:pt idx="3">
                  <c:v>-7.2560784785034027</c:v>
                </c:pt>
                <c:pt idx="4">
                  <c:v>0.54441952701031526</c:v>
                </c:pt>
                <c:pt idx="5">
                  <c:v>-2.4560479849865908</c:v>
                </c:pt>
                <c:pt idx="6">
                  <c:v>-0.33719331091398663</c:v>
                </c:pt>
                <c:pt idx="7">
                  <c:v>-9.1578925832255162</c:v>
                </c:pt>
                <c:pt idx="8">
                  <c:v>-4.713786867165207</c:v>
                </c:pt>
                <c:pt idx="9">
                  <c:v>-3.7210032857900401</c:v>
                </c:pt>
                <c:pt idx="10">
                  <c:v>-4.9363263903269807</c:v>
                </c:pt>
                <c:pt idx="11">
                  <c:v>8.4825598213532292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64-4782-B47B-7DD8CF70AC27}"/>
            </c:ext>
          </c:extLst>
        </c:ser>
        <c:ser>
          <c:idx val="2"/>
          <c:order val="2"/>
          <c:tx>
            <c:strRef>
              <c:f>'MA Y-O-Y'!$AZ$20</c:f>
              <c:strCache>
                <c:ptCount val="1"/>
                <c:pt idx="0">
                  <c:v>PE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'MA Y-O-Y'!$BA$17:$BL$17</c:f>
              <c:strCache>
                <c:ptCount val="12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</c:strCache>
            </c:strRef>
          </c:cat>
          <c:val>
            <c:numRef>
              <c:f>'MA Y-O-Y'!$BA$20:$BL$20</c:f>
              <c:numCache>
                <c:formatCode>0.0</c:formatCode>
                <c:ptCount val="12"/>
                <c:pt idx="0">
                  <c:v>4.2361991334625797</c:v>
                </c:pt>
                <c:pt idx="1">
                  <c:v>4.0605166679550218</c:v>
                </c:pt>
                <c:pt idx="2">
                  <c:v>3.6560381939492945</c:v>
                </c:pt>
                <c:pt idx="3">
                  <c:v>3.6285323633476976</c:v>
                </c:pt>
                <c:pt idx="4">
                  <c:v>1.0518463179146744</c:v>
                </c:pt>
                <c:pt idx="5">
                  <c:v>2.6427558979989789</c:v>
                </c:pt>
                <c:pt idx="6">
                  <c:v>2.432692091439991</c:v>
                </c:pt>
                <c:pt idx="7">
                  <c:v>1.3833576274430999</c:v>
                </c:pt>
                <c:pt idx="8">
                  <c:v>1.6350027468317656</c:v>
                </c:pt>
                <c:pt idx="9">
                  <c:v>0.46534967902883867</c:v>
                </c:pt>
                <c:pt idx="10">
                  <c:v>2.2238305402058591E-2</c:v>
                </c:pt>
                <c:pt idx="11">
                  <c:v>0.2574860927011911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164-4782-B47B-7DD8CF70AC27}"/>
            </c:ext>
          </c:extLst>
        </c:ser>
        <c:ser>
          <c:idx val="3"/>
          <c:order val="3"/>
          <c:tx>
            <c:strRef>
              <c:f>'MA Y-O-Y'!$AZ$21</c:f>
              <c:strCache>
                <c:ptCount val="1"/>
                <c:pt idx="0">
                  <c:v>CPS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'MA Y-O-Y'!$BA$17:$BL$17</c:f>
              <c:strCache>
                <c:ptCount val="12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</c:strCache>
            </c:strRef>
          </c:cat>
          <c:val>
            <c:numRef>
              <c:f>'MA Y-O-Y'!$BA$21:$BL$21</c:f>
              <c:numCache>
                <c:formatCode>0.0</c:formatCode>
                <c:ptCount val="12"/>
                <c:pt idx="0">
                  <c:v>12.445327026643554</c:v>
                </c:pt>
                <c:pt idx="1">
                  <c:v>12.552062645137449</c:v>
                </c:pt>
                <c:pt idx="2">
                  <c:v>16.020878570760956</c:v>
                </c:pt>
                <c:pt idx="3">
                  <c:v>17.964784321357385</c:v>
                </c:pt>
                <c:pt idx="4">
                  <c:v>22.93243473416765</c:v>
                </c:pt>
                <c:pt idx="5">
                  <c:v>19.901718298039391</c:v>
                </c:pt>
                <c:pt idx="6">
                  <c:v>16.846529874797852</c:v>
                </c:pt>
                <c:pt idx="7">
                  <c:v>12.364384984576091</c:v>
                </c:pt>
                <c:pt idx="8">
                  <c:v>12.822402439330638</c:v>
                </c:pt>
                <c:pt idx="9">
                  <c:v>14.891738315805551</c:v>
                </c:pt>
                <c:pt idx="10">
                  <c:v>17.021904928512789</c:v>
                </c:pt>
                <c:pt idx="11">
                  <c:v>18.026472427757493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164-4782-B47B-7DD8CF70AC27}"/>
            </c:ext>
          </c:extLst>
        </c:ser>
        <c:ser>
          <c:idx val="4"/>
          <c:order val="4"/>
          <c:tx>
            <c:strRef>
              <c:f>'MA Y-O-Y'!$AZ$22</c:f>
              <c:strCache>
                <c:ptCount val="1"/>
                <c:pt idx="0">
                  <c:v>OIN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'MA Y-O-Y'!$BA$17:$BL$17</c:f>
              <c:strCache>
                <c:ptCount val="12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</c:strCache>
            </c:strRef>
          </c:cat>
          <c:val>
            <c:numRef>
              <c:f>'MA Y-O-Y'!$BA$22:$BL$22</c:f>
              <c:numCache>
                <c:formatCode>0.0</c:formatCode>
                <c:ptCount val="12"/>
                <c:pt idx="0">
                  <c:v>-8.5566147428420631</c:v>
                </c:pt>
                <c:pt idx="1">
                  <c:v>-15.930648458144844</c:v>
                </c:pt>
                <c:pt idx="2">
                  <c:v>-14.402204197968857</c:v>
                </c:pt>
                <c:pt idx="3">
                  <c:v>-11.753044536892656</c:v>
                </c:pt>
                <c:pt idx="4">
                  <c:v>-17.628649035507348</c:v>
                </c:pt>
                <c:pt idx="5">
                  <c:v>-11.539293650904366</c:v>
                </c:pt>
                <c:pt idx="6">
                  <c:v>-13.246600333459204</c:v>
                </c:pt>
                <c:pt idx="7">
                  <c:v>-14.97894299144339</c:v>
                </c:pt>
                <c:pt idx="8">
                  <c:v>-11.847743721040167</c:v>
                </c:pt>
                <c:pt idx="9">
                  <c:v>-12.307169902508841</c:v>
                </c:pt>
                <c:pt idx="10">
                  <c:v>-9.8990403631359989</c:v>
                </c:pt>
                <c:pt idx="11">
                  <c:v>-9.8425316492994011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164-4782-B47B-7DD8CF70AC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50417344"/>
        <c:axId val="-250396128"/>
      </c:barChart>
      <c:lineChart>
        <c:grouping val="stacked"/>
        <c:varyColors val="0"/>
        <c:ser>
          <c:idx val="5"/>
          <c:order val="5"/>
          <c:tx>
            <c:strRef>
              <c:f>'MA Y-O-Y'!$AZ$23</c:f>
              <c:strCache>
                <c:ptCount val="1"/>
                <c:pt idx="0">
                  <c:v>M3</c:v>
                </c:pt>
              </c:strCache>
            </c:strRef>
          </c:tx>
          <c:spPr>
            <a:ln w="38100" cap="rnd">
              <a:solidFill>
                <a:srgbClr val="C00000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38100">
                <a:solidFill>
                  <a:srgbClr val="C00000"/>
                </a:solidFill>
                <a:prstDash val="sysDash"/>
              </a:ln>
              <a:effectLst/>
            </c:spPr>
          </c:marker>
          <c:dLbls>
            <c:spPr>
              <a:solidFill>
                <a:schemeClr val="bg1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BentonSans Regular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 Y-O-Y'!$BA$17:$BL$17</c:f>
              <c:strCache>
                <c:ptCount val="12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</c:strCache>
            </c:strRef>
          </c:cat>
          <c:val>
            <c:numRef>
              <c:f>'MA Y-O-Y'!$BA$23:$BL$23</c:f>
              <c:numCache>
                <c:formatCode>0.0</c:formatCode>
                <c:ptCount val="12"/>
                <c:pt idx="0">
                  <c:v>18.742557549484275</c:v>
                </c:pt>
                <c:pt idx="1">
                  <c:v>21.460908146656422</c:v>
                </c:pt>
                <c:pt idx="2">
                  <c:v>21.652755890874385</c:v>
                </c:pt>
                <c:pt idx="3">
                  <c:v>24.762362731542844</c:v>
                </c:pt>
                <c:pt idx="4">
                  <c:v>22.831850281203241</c:v>
                </c:pt>
                <c:pt idx="5">
                  <c:v>22.448343824064363</c:v>
                </c:pt>
                <c:pt idx="6">
                  <c:v>23.299872467635097</c:v>
                </c:pt>
                <c:pt idx="7">
                  <c:v>18.763789160561579</c:v>
                </c:pt>
                <c:pt idx="8">
                  <c:v>25.868718606584483</c:v>
                </c:pt>
                <c:pt idx="9">
                  <c:v>19.045283326953964</c:v>
                </c:pt>
                <c:pt idx="10">
                  <c:v>17.941504506277152</c:v>
                </c:pt>
                <c:pt idx="11">
                  <c:v>18.193950601465698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164-4782-B47B-7DD8CF70AC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50417344"/>
        <c:axId val="-250396128"/>
      </c:lineChart>
      <c:catAx>
        <c:axId val="-250417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404040"/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-250396128"/>
        <c:crosses val="autoZero"/>
        <c:auto val="1"/>
        <c:lblAlgn val="ctr"/>
        <c:lblOffset val="100"/>
        <c:noMultiLvlLbl val="0"/>
      </c:catAx>
      <c:valAx>
        <c:axId val="-250396128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0000"/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-250417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accent2">
                  <a:lumMod val="50000"/>
                </a:schemeClr>
              </a:solidFill>
              <a:latin typeface="BentonSans Regular" panose="02000503040000020004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accent2">
          <a:lumMod val="75000"/>
        </a:schemeClr>
      </a:solidFill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40" b="0" i="0" u="none" strike="noStrike" kern="1200" spc="0" baseline="0">
                <a:solidFill>
                  <a:srgbClr val="404040"/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r>
              <a:rPr lang="en-US">
                <a:solidFill>
                  <a:srgbClr val="404040"/>
                </a:solidFill>
                <a:latin typeface="BentonSans Regular" panose="02000503040000020004" pitchFamily="50" charset="0"/>
              </a:rPr>
              <a:t>Contribution to M3 growth (Liabilities)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40" b="0" i="0" u="none" strike="noStrike" kern="1200" spc="0" baseline="0">
              <a:solidFill>
                <a:srgbClr val="404040"/>
              </a:solidFill>
              <a:latin typeface="BentonSans Regular" panose="02000503040000020004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'MA Y-O-Y'!$AZ$27</c:f>
              <c:strCache>
                <c:ptCount val="1"/>
                <c:pt idx="0">
                  <c:v>CIC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cat>
            <c:strRef>
              <c:f>'MA Y-O-Y'!$BA$26:$BL$26</c:f>
              <c:strCache>
                <c:ptCount val="12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</c:strCache>
            </c:strRef>
          </c:cat>
          <c:val>
            <c:numRef>
              <c:f>'MA Y-O-Y'!$BA$27:$BL$27</c:f>
              <c:numCache>
                <c:formatCode>0.0</c:formatCode>
                <c:ptCount val="12"/>
                <c:pt idx="0">
                  <c:v>1.3253132185679983</c:v>
                </c:pt>
                <c:pt idx="1">
                  <c:v>0.29124560846495146</c:v>
                </c:pt>
                <c:pt idx="2">
                  <c:v>0.21948644887599753</c:v>
                </c:pt>
                <c:pt idx="3">
                  <c:v>0.54838993729416741</c:v>
                </c:pt>
                <c:pt idx="4">
                  <c:v>0.1771855278366731</c:v>
                </c:pt>
                <c:pt idx="5">
                  <c:v>0.77721557395883933</c:v>
                </c:pt>
                <c:pt idx="6">
                  <c:v>0.74836391261954616</c:v>
                </c:pt>
                <c:pt idx="7">
                  <c:v>0.44373760074654806</c:v>
                </c:pt>
                <c:pt idx="8">
                  <c:v>0.66383512329432592</c:v>
                </c:pt>
                <c:pt idx="9">
                  <c:v>0.81465888313863843</c:v>
                </c:pt>
                <c:pt idx="10">
                  <c:v>0.47569671224370663</c:v>
                </c:pt>
                <c:pt idx="11">
                  <c:v>0.95491857274830838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5B-4608-A6C1-84F4A36F58C6}"/>
            </c:ext>
          </c:extLst>
        </c:ser>
        <c:ser>
          <c:idx val="1"/>
          <c:order val="1"/>
          <c:tx>
            <c:strRef>
              <c:f>'MA Y-O-Y'!$AZ$28</c:f>
              <c:strCache>
                <c:ptCount val="1"/>
                <c:pt idx="0">
                  <c:v>DD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'MA Y-O-Y'!$BA$26:$BL$26</c:f>
              <c:strCache>
                <c:ptCount val="12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</c:strCache>
            </c:strRef>
          </c:cat>
          <c:val>
            <c:numRef>
              <c:f>'MA Y-O-Y'!$BA$28:$BL$28</c:f>
              <c:numCache>
                <c:formatCode>0.0</c:formatCode>
                <c:ptCount val="12"/>
                <c:pt idx="0">
                  <c:v>16.250491029586041</c:v>
                </c:pt>
                <c:pt idx="1">
                  <c:v>9.0296777163007906</c:v>
                </c:pt>
                <c:pt idx="2">
                  <c:v>9.6984533647239282</c:v>
                </c:pt>
                <c:pt idx="3">
                  <c:v>8.7175590152734603</c:v>
                </c:pt>
                <c:pt idx="4">
                  <c:v>6.1610007540656886</c:v>
                </c:pt>
                <c:pt idx="5">
                  <c:v>9.5571285201843619</c:v>
                </c:pt>
                <c:pt idx="6">
                  <c:v>9.7681509608091499</c:v>
                </c:pt>
                <c:pt idx="7">
                  <c:v>8.8317719846856662</c:v>
                </c:pt>
                <c:pt idx="8">
                  <c:v>9.5194748034787775</c:v>
                </c:pt>
                <c:pt idx="9">
                  <c:v>7.2951694168062673</c:v>
                </c:pt>
                <c:pt idx="10">
                  <c:v>6.5716788508466548</c:v>
                </c:pt>
                <c:pt idx="11">
                  <c:v>6.7987485448303939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5B-4608-A6C1-84F4A36F58C6}"/>
            </c:ext>
          </c:extLst>
        </c:ser>
        <c:ser>
          <c:idx val="2"/>
          <c:order val="2"/>
          <c:tx>
            <c:strRef>
              <c:f>'MA Y-O-Y'!$AZ$29</c:f>
              <c:strCache>
                <c:ptCount val="1"/>
                <c:pt idx="0">
                  <c:v>TSD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'MA Y-O-Y'!$BA$26:$BL$26</c:f>
              <c:strCache>
                <c:ptCount val="12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</c:strCache>
            </c:strRef>
          </c:cat>
          <c:val>
            <c:numRef>
              <c:f>'MA Y-O-Y'!$BA$29:$BL$29</c:f>
              <c:numCache>
                <c:formatCode>0.0</c:formatCode>
                <c:ptCount val="12"/>
                <c:pt idx="0">
                  <c:v>2.5052242289734834</c:v>
                </c:pt>
                <c:pt idx="1">
                  <c:v>4.9370716265977359</c:v>
                </c:pt>
                <c:pt idx="2">
                  <c:v>4.9391284105892002</c:v>
                </c:pt>
                <c:pt idx="3">
                  <c:v>2.3356139343387863</c:v>
                </c:pt>
                <c:pt idx="4">
                  <c:v>2.3891767391306993</c:v>
                </c:pt>
                <c:pt idx="5">
                  <c:v>0.19800628072657267</c:v>
                </c:pt>
                <c:pt idx="6">
                  <c:v>1.163398413445893</c:v>
                </c:pt>
                <c:pt idx="7">
                  <c:v>0.79589324625746327</c:v>
                </c:pt>
                <c:pt idx="8">
                  <c:v>2.4001049380122033</c:v>
                </c:pt>
                <c:pt idx="9">
                  <c:v>1.6840779705798683</c:v>
                </c:pt>
                <c:pt idx="10">
                  <c:v>2.4706938229681241</c:v>
                </c:pt>
                <c:pt idx="11">
                  <c:v>3.1707473871379879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5B-4608-A6C1-84F4A36F58C6}"/>
            </c:ext>
          </c:extLst>
        </c:ser>
        <c:ser>
          <c:idx val="3"/>
          <c:order val="3"/>
          <c:tx>
            <c:strRef>
              <c:f>'MA Y-O-Y'!$AZ$30</c:f>
              <c:strCache>
                <c:ptCount val="1"/>
                <c:pt idx="0">
                  <c:v>FCD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'MA Y-O-Y'!$BA$26:$BL$26</c:f>
              <c:strCache>
                <c:ptCount val="12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</c:strCache>
            </c:strRef>
          </c:cat>
          <c:val>
            <c:numRef>
              <c:f>'MA Y-O-Y'!$BA$30:$BL$30</c:f>
              <c:numCache>
                <c:formatCode>0.0</c:formatCode>
                <c:ptCount val="12"/>
                <c:pt idx="0">
                  <c:v>-1.3384709276432654</c:v>
                </c:pt>
                <c:pt idx="1">
                  <c:v>7.2029131952929388</c:v>
                </c:pt>
                <c:pt idx="2">
                  <c:v>6.7956876666852617</c:v>
                </c:pt>
                <c:pt idx="3">
                  <c:v>13.16079984463642</c:v>
                </c:pt>
                <c:pt idx="4">
                  <c:v>14.104487260170192</c:v>
                </c:pt>
                <c:pt idx="5">
                  <c:v>11.915993449194575</c:v>
                </c:pt>
                <c:pt idx="6">
                  <c:v>11.6199591807605</c:v>
                </c:pt>
                <c:pt idx="7">
                  <c:v>8.692386328871919</c:v>
                </c:pt>
                <c:pt idx="8">
                  <c:v>13.285303741799167</c:v>
                </c:pt>
                <c:pt idx="9">
                  <c:v>9.2513770564292059</c:v>
                </c:pt>
                <c:pt idx="10">
                  <c:v>8.4234351202186737</c:v>
                </c:pt>
                <c:pt idx="11">
                  <c:v>7.2697284515569809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A5B-4608-A6C1-84F4A36F58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50413536"/>
        <c:axId val="-250392320"/>
      </c:barChart>
      <c:lineChart>
        <c:grouping val="stacked"/>
        <c:varyColors val="0"/>
        <c:ser>
          <c:idx val="4"/>
          <c:order val="4"/>
          <c:tx>
            <c:strRef>
              <c:f>'MA Y-O-Y'!$AZ$31</c:f>
              <c:strCache>
                <c:ptCount val="1"/>
                <c:pt idx="0">
                  <c:v>M3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4.4412077637207531E-2"/>
                  <c:y val="-4.7123350514072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055-4731-BD19-B4F469D0504E}"/>
                </c:ext>
              </c:extLst>
            </c:dLbl>
            <c:dLbl>
              <c:idx val="1"/>
              <c:layout>
                <c:manualLayout>
                  <c:x val="-4.4412077637207552E-2"/>
                  <c:y val="-4.7123350514072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055-4731-BD19-B4F469D0504E}"/>
                </c:ext>
              </c:extLst>
            </c:dLbl>
            <c:dLbl>
              <c:idx val="2"/>
              <c:layout>
                <c:manualLayout>
                  <c:x val="-4.2191473755347153E-2"/>
                  <c:y val="-4.28394095582481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055-4731-BD19-B4F469D0504E}"/>
                </c:ext>
              </c:extLst>
            </c:dLbl>
            <c:dLbl>
              <c:idx val="3"/>
              <c:layout>
                <c:manualLayout>
                  <c:x val="-4.4412077637207489E-2"/>
                  <c:y val="-3.427152764659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055-4731-BD19-B4F469D0504E}"/>
                </c:ext>
              </c:extLst>
            </c:dLbl>
            <c:dLbl>
              <c:idx val="4"/>
              <c:layout>
                <c:manualLayout>
                  <c:x val="-3.3309058227905732E-2"/>
                  <c:y val="-6.4259114337372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055-4731-BD19-B4F469D0504E}"/>
                </c:ext>
              </c:extLst>
            </c:dLbl>
            <c:dLbl>
              <c:idx val="5"/>
              <c:layout>
                <c:manualLayout>
                  <c:x val="-2.8867850464184896E-2"/>
                  <c:y val="-6.85430552931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055-4731-BD19-B4F469D0504E}"/>
                </c:ext>
              </c:extLst>
            </c:dLbl>
            <c:dLbl>
              <c:idx val="6"/>
              <c:layout>
                <c:manualLayout>
                  <c:x val="-1.9985434936743471E-2"/>
                  <c:y val="-5.56912324257225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055-4731-BD19-B4F469D0504E}"/>
                </c:ext>
              </c:extLst>
            </c:dLbl>
            <c:dLbl>
              <c:idx val="7"/>
              <c:layout>
                <c:manualLayout>
                  <c:x val="-4.2191473755347153E-2"/>
                  <c:y val="-4.7123350514072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055-4731-BD19-B4F469D0504E}"/>
                </c:ext>
              </c:extLst>
            </c:dLbl>
            <c:dLbl>
              <c:idx val="8"/>
              <c:layout>
                <c:manualLayout>
                  <c:x val="-5.5515097046509414E-2"/>
                  <c:y val="-4.28394095582481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055-4731-BD19-B4F469D0504E}"/>
                </c:ext>
              </c:extLst>
            </c:dLbl>
            <c:dLbl>
              <c:idx val="9"/>
              <c:layout>
                <c:manualLayout>
                  <c:x val="-5.3294493164649036E-2"/>
                  <c:y val="-5.56912324257225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055-4731-BD19-B4F469D0504E}"/>
                </c:ext>
              </c:extLst>
            </c:dLbl>
            <c:dLbl>
              <c:idx val="10"/>
              <c:layout>
                <c:manualLayout>
                  <c:x val="-3.5529662109766026E-2"/>
                  <c:y val="-5.99751733815473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055-4731-BD19-B4F469D0504E}"/>
                </c:ext>
              </c:extLst>
            </c:dLbl>
            <c:dLbl>
              <c:idx val="11"/>
              <c:layout>
                <c:manualLayout>
                  <c:x val="-8.8824155274415065E-3"/>
                  <c:y val="-1.71357638232992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055-4731-BD19-B4F469D0504E}"/>
                </c:ext>
              </c:extLst>
            </c:dLbl>
            <c:spPr>
              <a:noFill/>
              <a:ln>
                <a:solidFill>
                  <a:schemeClr val="bg1"/>
                </a:solidFill>
                <a:prstDash val="sysDot"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1400" b="0" i="0" u="none" strike="noStrike" kern="1200" baseline="0">
                    <a:solidFill>
                      <a:srgbClr val="454048"/>
                    </a:solidFill>
                    <a:latin typeface="BentonSans Regular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 Y-O-Y'!$BA$26:$BL$26</c:f>
              <c:strCache>
                <c:ptCount val="12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</c:strCache>
            </c:strRef>
          </c:cat>
          <c:val>
            <c:numRef>
              <c:f>'MA Y-O-Y'!$BA$31:$BL$31</c:f>
              <c:numCache>
                <c:formatCode>0.0</c:formatCode>
                <c:ptCount val="12"/>
                <c:pt idx="0">
                  <c:v>18.742557549484275</c:v>
                </c:pt>
                <c:pt idx="1">
                  <c:v>21.460908146656422</c:v>
                </c:pt>
                <c:pt idx="2">
                  <c:v>21.652755890874385</c:v>
                </c:pt>
                <c:pt idx="3">
                  <c:v>24.762362731542844</c:v>
                </c:pt>
                <c:pt idx="4">
                  <c:v>22.831850281203241</c:v>
                </c:pt>
                <c:pt idx="5">
                  <c:v>22.448343824064363</c:v>
                </c:pt>
                <c:pt idx="6">
                  <c:v>23.299872467635097</c:v>
                </c:pt>
                <c:pt idx="7">
                  <c:v>18.763789160561579</c:v>
                </c:pt>
                <c:pt idx="8">
                  <c:v>25.868718606584483</c:v>
                </c:pt>
                <c:pt idx="9">
                  <c:v>19.045283326953964</c:v>
                </c:pt>
                <c:pt idx="10">
                  <c:v>17.941504506277152</c:v>
                </c:pt>
                <c:pt idx="11">
                  <c:v>18.19414295627368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A5B-4608-A6C1-84F4A36F58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50413536"/>
        <c:axId val="-250392320"/>
      </c:lineChart>
      <c:catAx>
        <c:axId val="-250413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404040"/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-250392320"/>
        <c:crosses val="autoZero"/>
        <c:auto val="1"/>
        <c:lblAlgn val="ctr"/>
        <c:lblOffset val="100"/>
        <c:noMultiLvlLbl val="0"/>
      </c:catAx>
      <c:valAx>
        <c:axId val="-250392320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0000"/>
                </a:solidFill>
                <a:latin typeface="BentonSans Regular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-250413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accent2">
                  <a:lumMod val="50000"/>
                </a:schemeClr>
              </a:solidFill>
              <a:latin typeface="BentonSans Regular" panose="02000503040000020004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accent2">
          <a:lumMod val="75000"/>
        </a:schemeClr>
      </a:solidFill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2F8A66-7F5D-4068-876A-74D4DDDC11C3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21310-E454-4A02-81B6-E6658021C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67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1310-E454-4A02-81B6-E6658021C7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272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1310-E454-4A02-81B6-E6658021C7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6780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prstClr val="black"/>
              </a:solidFill>
              <a:latin typeface="BentonSans Book" panose="02000503040000020004" pitchFamily="50" charset="0"/>
              <a:cs typeface="Arial" pitchFamily="34" charset="0"/>
            </a:endParaRPr>
          </a:p>
          <a:p>
            <a:endParaRPr lang="en-US" dirty="0">
              <a:solidFill>
                <a:prstClr val="black"/>
              </a:solidFill>
              <a:latin typeface="BentonSans Book" panose="02000503040000020004" pitchFamily="50" charset="0"/>
              <a:cs typeface="Arial" pitchFamily="34" charset="0"/>
            </a:endParaRPr>
          </a:p>
          <a:p>
            <a:endParaRPr lang="en-US" dirty="0">
              <a:solidFill>
                <a:prstClr val="black"/>
              </a:solidFill>
              <a:latin typeface="BentonSans Book" panose="02000503040000020004" pitchFamily="50" charset="0"/>
              <a:cs typeface="Arial" pitchFamily="34" charset="0"/>
            </a:endParaRPr>
          </a:p>
          <a:p>
            <a:endParaRPr lang="en-US" dirty="0">
              <a:solidFill>
                <a:prstClr val="black"/>
              </a:solidFill>
              <a:latin typeface="BentonSans Book" panose="02000503040000020004" pitchFamily="50" charset="0"/>
              <a:cs typeface="Arial" pitchFamily="34" charset="0"/>
            </a:endParaRPr>
          </a:p>
          <a:p>
            <a:endParaRPr lang="en-US" dirty="0">
              <a:solidFill>
                <a:prstClr val="black"/>
              </a:solidFill>
              <a:latin typeface="BentonSans Book" panose="02000503040000020004" pitchFamily="50" charset="0"/>
              <a:cs typeface="Arial" pitchFamily="34" charset="0"/>
            </a:endParaRPr>
          </a:p>
          <a:p>
            <a:r>
              <a:rPr lang="en-US" dirty="0">
                <a:solidFill>
                  <a:prstClr val="black"/>
                </a:solidFill>
                <a:latin typeface="BentonSans Book" panose="02000503040000020004" pitchFamily="50" charset="0"/>
                <a:cs typeface="Arial" pitchFamily="34" charset="0"/>
              </a:rPr>
              <a:t>W T-bills rate Q-o-Q: </a:t>
            </a:r>
            <a:r>
              <a:rPr lang="en-US" dirty="0">
                <a:solidFill>
                  <a:srgbClr val="002060"/>
                </a:solidFill>
                <a:latin typeface="BentonSans Bold" panose="02000503040000020004" pitchFamily="50" charset="0"/>
                <a:cs typeface="Arial" pitchFamily="34" charset="0"/>
              </a:rPr>
              <a:t>+ </a:t>
            </a:r>
            <a:r>
              <a:rPr lang="en-US" dirty="0">
                <a:solidFill>
                  <a:prstClr val="black"/>
                </a:solidFill>
                <a:latin typeface="BentonSans Book" panose="02000503040000020004" pitchFamily="50" charset="0"/>
                <a:cs typeface="Arial" pitchFamily="34" charset="0"/>
              </a:rPr>
              <a:t>27 bps from 7.03 % in 2024Q4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25BCED-FC65-4E95-8E3D-31B657864D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06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9D0AF-A2A6-FAD0-C2AF-436089BBA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F848B-35DB-6192-FC08-A9DAEAA37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DF921-3174-D96E-F60E-57AE079E2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prstClr val="black"/>
              </a:solidFill>
              <a:latin typeface="BentonSans Book" panose="02000503040000020004" pitchFamily="50" charset="0"/>
              <a:cs typeface="Arial" pitchFamily="34" charset="0"/>
            </a:endParaRPr>
          </a:p>
          <a:p>
            <a:endParaRPr lang="en-US" dirty="0">
              <a:solidFill>
                <a:prstClr val="black"/>
              </a:solidFill>
              <a:latin typeface="BentonSans Book" panose="02000503040000020004" pitchFamily="50" charset="0"/>
              <a:cs typeface="Arial" pitchFamily="34" charset="0"/>
            </a:endParaRPr>
          </a:p>
          <a:p>
            <a:endParaRPr lang="en-US" dirty="0">
              <a:solidFill>
                <a:prstClr val="black"/>
              </a:solidFill>
              <a:latin typeface="BentonSans Book" panose="02000503040000020004" pitchFamily="50" charset="0"/>
              <a:cs typeface="Arial" pitchFamily="34" charset="0"/>
            </a:endParaRPr>
          </a:p>
          <a:p>
            <a:endParaRPr lang="en-US" dirty="0">
              <a:solidFill>
                <a:prstClr val="black"/>
              </a:solidFill>
              <a:latin typeface="BentonSans Book" panose="02000503040000020004" pitchFamily="50" charset="0"/>
              <a:cs typeface="Arial" pitchFamily="34" charset="0"/>
            </a:endParaRPr>
          </a:p>
          <a:p>
            <a:endParaRPr lang="en-US" dirty="0">
              <a:solidFill>
                <a:prstClr val="black"/>
              </a:solidFill>
              <a:latin typeface="BentonSans Book" panose="02000503040000020004" pitchFamily="50" charset="0"/>
              <a:cs typeface="Arial" pitchFamily="34" charset="0"/>
            </a:endParaRPr>
          </a:p>
          <a:p>
            <a:r>
              <a:rPr lang="en-US" dirty="0">
                <a:solidFill>
                  <a:prstClr val="black"/>
                </a:solidFill>
                <a:latin typeface="BentonSans Book" panose="02000503040000020004" pitchFamily="50" charset="0"/>
                <a:cs typeface="Arial" pitchFamily="34" charset="0"/>
              </a:rPr>
              <a:t>W T-bills rate Q-o-Q: </a:t>
            </a:r>
            <a:r>
              <a:rPr lang="en-US" dirty="0">
                <a:solidFill>
                  <a:srgbClr val="002060"/>
                </a:solidFill>
                <a:latin typeface="BentonSans Bold" panose="02000503040000020004" pitchFamily="50" charset="0"/>
                <a:cs typeface="Arial" pitchFamily="34" charset="0"/>
              </a:rPr>
              <a:t>+ </a:t>
            </a:r>
            <a:r>
              <a:rPr lang="en-US" dirty="0">
                <a:solidFill>
                  <a:prstClr val="black"/>
                </a:solidFill>
                <a:latin typeface="BentonSans Book" panose="02000503040000020004" pitchFamily="50" charset="0"/>
                <a:cs typeface="Arial" pitchFamily="34" charset="0"/>
              </a:rPr>
              <a:t>27 bps from 7.03 % in 2024Q4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16543-1A7E-D40B-F2A9-EA1A7417A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25BCED-FC65-4E95-8E3D-31B657864D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10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FB777-096B-7936-02F0-70CD765D7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1D58A-4421-7234-B908-7B5CAB711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96FB3-0CEF-F296-4ADB-73BCCEC90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BEF1D-0233-6697-7DE8-7422E3A93B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25BCED-FC65-4E95-8E3D-31B657864D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9297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1310-E454-4A02-81B6-E6658021C7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0717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1310-E454-4A02-81B6-E6658021C7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0049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1310-E454-4A02-81B6-E6658021C7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5718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NCG increased by FRW 455.91 billion, rising from −FRW 315.21 billion in 2024 to FRW 125.70 billion in 2025.</a:t>
            </a:r>
          </a:p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1310-E454-4A02-81B6-E6658021C7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8179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FCE3B-4C33-0C14-342A-9A5864334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71694"/>
            <a:ext cx="4744656" cy="2569579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753918"/>
                </a:solidFill>
                <a:latin typeface="BentonSans Black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354BB-A370-1616-DCB3-269FBD92649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4155313"/>
            <a:ext cx="3309396" cy="11603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AB892C"/>
                </a:solidFill>
                <a:latin typeface="BentonSans Medium" panose="0200060303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Presenter’s Name</a:t>
            </a:r>
          </a:p>
          <a:p>
            <a:r>
              <a:rPr lang="en-US" dirty="0"/>
              <a:t>Presenter’s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FF1D4-B91A-A0F4-15A7-576E76FD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C5A52-50DC-B8A4-EDEF-41E98D65C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4EC86-57D3-3011-DE8A-E7E894A7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0583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8EA62-0891-0EC3-E8C7-0AB1B2C95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7DE10-A54A-C9BB-783B-38F290FAE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BAD3E-1E27-2B7B-69BD-291673E1F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C160D-B5EB-4C47-69CF-E74228B3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E9007-1930-7AAC-3819-498FF351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68684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F2935-AC7F-024B-8B97-25E948E63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19401-714F-3B08-DE68-C383430F6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363C6-70E9-BEF9-83E6-88F97B7E7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CE25F-9F6E-229A-8245-BBFCD3DA2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4F6F5-974F-3AF8-BF36-CE8A3830C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63761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E25D7-0543-6D39-A4F9-C85BD1F38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05BA2-E619-2F31-94D6-17F0B58938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6D493-E8CE-5E85-C4B5-ECDCFFBDA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91CF3-D099-C797-99B1-F9902B950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A15F7-FE63-0752-0A7C-39970F7E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06C2F-174E-3A7F-0D21-ECED6612C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40336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6B2A1-D49F-347D-DD56-2613ED2F2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3F11C-1514-9E6B-B320-967F26153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55FC15-7B5A-80FB-83EE-49F5702BC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341CFB-C075-3E17-419C-5CF6483C15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A76CC6-6460-1100-0BF4-19D98681E3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7C7363-0017-3FF5-5BFF-C9EEADEE4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0582C5-1A04-4084-1DEC-1CB15EE58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E797F-7625-1EE1-0A23-DF21819B6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42100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B27B-ECCA-17F7-E69B-354DF542F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F8A23-39E5-421C-8E1D-E7827789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84A323-347D-D31C-3E48-EC6C1AA74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136A6-78FF-A9B5-497E-C0AC39F50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7339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D4C3BF-90CD-76FB-1527-6F974C8DE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87ECEA-FBCC-F20D-083D-7C96604B1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FE8E1-A341-75BE-A7E6-35083B2C7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53620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D69D-AA38-9184-57E4-1C5527C14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33848-9A5D-4950-043A-FAFD1C82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7E0B5-67EF-2D42-99CC-2D99394BB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F19CD-A126-091A-5E77-A0510CF5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AB7F7-3882-3BCA-E2DB-8DFF758B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4BE38-5C36-2A86-A763-D8011578C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673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A905F-85AC-1F39-6730-D1E9134D4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6C751-F7AF-E32B-9582-F4AF76B978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D4A1F-75F9-96AC-F632-5AA0E7AAA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0AE44-83C4-27C4-0057-1B9F95D76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0D296-AFBB-C84F-0424-32F919475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5999A-0FA5-40A3-F62D-198E0404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01168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890A-BA7D-FDA9-8902-C251157B8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2E52E7-C0E3-AAA2-A751-DF9B65268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0F738-79A2-B9F3-2C70-A56DDBCB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B0A3D-A3CF-8AB1-96E8-6AB43EDE9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04B28-27A9-37DA-AB04-91239D2F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4878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3E66A8-E992-D276-946B-EB0C36B945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22333-60B7-6B64-6363-6C3C173A1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E4262-7DCC-8E2E-C096-DC5F180E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D8CC2-FE15-4E4A-9D90-5FE0123D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31DB2-8F46-342F-0E30-369060D7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87493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5DCF84-7FA1-A625-5D80-B2933BABA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8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3E0D7-86FA-CD1B-06BA-7DB4F1BAA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F6A6E-F82B-57AD-B5E1-F9D6C1D67C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7FBC2-881B-E362-DD5B-6181CC0E8A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499A1-A3EB-CDD5-3C13-A47B01737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6280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rgbClr val="FCF7EA"/>
          </a:solidFill>
          <a:latin typeface="BentonSans Black" panose="0200050304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753918"/>
          </a:solidFill>
          <a:latin typeface="BentonSans Regular" panose="0200050304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753918"/>
          </a:solidFill>
          <a:latin typeface="BentonSans Regular" panose="0200050304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53918"/>
          </a:solidFill>
          <a:latin typeface="BentonSans Regular" panose="0200050304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753918"/>
          </a:solidFill>
          <a:latin typeface="BentonSans Regular" panose="0200050304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753918"/>
          </a:solidFill>
          <a:latin typeface="BentonSans Regular" panose="020005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0">
            <a:extLst>
              <a:ext uri="{FF2B5EF4-FFF2-40B4-BE49-F238E27FC236}">
                <a16:creationId xmlns:a16="http://schemas.microsoft.com/office/drawing/2014/main" id="{F5DA0C19-869C-FF7E-2F4D-584A78D06740}"/>
              </a:ext>
            </a:extLst>
          </p:cNvPr>
          <p:cNvSpPr txBox="1"/>
          <p:nvPr/>
        </p:nvSpPr>
        <p:spPr>
          <a:xfrm>
            <a:off x="3913349" y="2298952"/>
            <a:ext cx="4365302" cy="50783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600" spc="-25" dirty="0">
                <a:latin typeface="BentonSans Bold"/>
                <a:cs typeface="BentonSans Bold"/>
              </a:rPr>
              <a:t>NATIONAL</a:t>
            </a:r>
            <a:r>
              <a:rPr sz="1600" spc="-114" dirty="0">
                <a:latin typeface="BentonSans Bold"/>
                <a:cs typeface="BentonSans Bold"/>
              </a:rPr>
              <a:t> </a:t>
            </a:r>
            <a:r>
              <a:rPr sz="1600" dirty="0">
                <a:latin typeface="BentonSans Bold"/>
                <a:cs typeface="BentonSans Bold"/>
              </a:rPr>
              <a:t>BANK</a:t>
            </a:r>
            <a:r>
              <a:rPr sz="1600" spc="-45" dirty="0">
                <a:latin typeface="BentonSans Bold"/>
                <a:cs typeface="BentonSans Bold"/>
              </a:rPr>
              <a:t> </a:t>
            </a:r>
            <a:r>
              <a:rPr sz="1600" dirty="0">
                <a:latin typeface="BentonSans Bold"/>
                <a:cs typeface="BentonSans Bold"/>
              </a:rPr>
              <a:t>OF</a:t>
            </a:r>
            <a:r>
              <a:rPr sz="1600" spc="-85" dirty="0">
                <a:latin typeface="BentonSans Bold"/>
                <a:cs typeface="BentonSans Bold"/>
              </a:rPr>
              <a:t> </a:t>
            </a:r>
            <a:r>
              <a:rPr sz="1600" spc="-10" dirty="0">
                <a:latin typeface="BentonSans Bold"/>
                <a:cs typeface="BentonSans Bold"/>
              </a:rPr>
              <a:t>RWANDA</a:t>
            </a:r>
            <a:endParaRPr sz="1600" dirty="0">
              <a:latin typeface="BentonSans Bold"/>
              <a:cs typeface="BentonSans Bold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600" dirty="0">
                <a:latin typeface="BentonSans Regular" panose="02000603040000020004" pitchFamily="2" charset="0"/>
                <a:cs typeface="BentonSans Regular"/>
              </a:rPr>
              <a:t>BANKI</a:t>
            </a:r>
            <a:r>
              <a:rPr sz="1600" spc="-15" dirty="0">
                <a:latin typeface="BentonSans Regular" panose="02000603040000020004" pitchFamily="2" charset="0"/>
                <a:cs typeface="BentonSans Regular"/>
              </a:rPr>
              <a:t> </a:t>
            </a:r>
            <a:r>
              <a:rPr sz="1600" spc="-20" dirty="0">
                <a:latin typeface="BentonSans Regular" panose="02000603040000020004" pitchFamily="2" charset="0"/>
                <a:cs typeface="BentonSans Regular"/>
              </a:rPr>
              <a:t>NKURU</a:t>
            </a:r>
            <a:r>
              <a:rPr sz="1600" spc="-110" dirty="0">
                <a:latin typeface="BentonSans Regular" panose="02000603040000020004" pitchFamily="2" charset="0"/>
                <a:cs typeface="BentonSans Regular"/>
              </a:rPr>
              <a:t> </a:t>
            </a:r>
            <a:r>
              <a:rPr sz="1600" dirty="0">
                <a:latin typeface="BentonSans Regular" panose="02000603040000020004" pitchFamily="2" charset="0"/>
                <a:cs typeface="BentonSans Regular"/>
              </a:rPr>
              <a:t>Y’U</a:t>
            </a:r>
            <a:r>
              <a:rPr sz="1600" spc="-10" dirty="0">
                <a:latin typeface="BentonSans Regular" panose="02000603040000020004" pitchFamily="2" charset="0"/>
                <a:cs typeface="BentonSans Regular"/>
              </a:rPr>
              <a:t> RWANDA</a:t>
            </a:r>
            <a:endParaRPr sz="1600" dirty="0">
              <a:latin typeface="BentonSans Regular" panose="02000603040000020004" pitchFamily="2" charset="0"/>
              <a:cs typeface="BentonSans Regula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FD0CDE-2A16-0969-9AA4-CDF91A5E8D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239" y="395980"/>
            <a:ext cx="1935523" cy="19355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ADD80D-4AEB-DD7F-7F18-4EB6EE1687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92306" y="6350924"/>
            <a:ext cx="9807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spc="-5" dirty="0">
                <a:solidFill>
                  <a:srgbClr val="FEF8ED"/>
                </a:solidFill>
                <a:latin typeface="Aptos" panose="020B0004020202020204" pitchFamily="34" charset="0"/>
                <a:cs typeface="BentonSans Regular"/>
              </a:rPr>
              <a:t>Our Core </a:t>
            </a:r>
            <a:r>
              <a:rPr lang="en-US" sz="1600" b="1" spc="-40" dirty="0">
                <a:solidFill>
                  <a:srgbClr val="FEF8ED"/>
                </a:solidFill>
                <a:latin typeface="Aptos" panose="020B0004020202020204" pitchFamily="34" charset="0"/>
                <a:cs typeface="BentonSans Regular"/>
              </a:rPr>
              <a:t>Values: </a:t>
            </a:r>
            <a:r>
              <a:rPr lang="en-US" sz="1600" spc="-15" dirty="0">
                <a:solidFill>
                  <a:srgbClr val="FEF8ED"/>
                </a:solidFill>
                <a:latin typeface="Aptos" panose="020B0004020202020204" pitchFamily="34" charset="0"/>
                <a:cs typeface="BentonSans Regular"/>
              </a:rPr>
              <a:t>Integrity, </a:t>
            </a:r>
            <a:r>
              <a:rPr lang="en-US" sz="1600" dirty="0">
                <a:solidFill>
                  <a:srgbClr val="FEF8ED"/>
                </a:solidFill>
                <a:latin typeface="Aptos" panose="020B0004020202020204" pitchFamily="34" charset="0"/>
                <a:cs typeface="BentonSans Regular"/>
              </a:rPr>
              <a:t>Collaboration and</a:t>
            </a:r>
            <a:r>
              <a:rPr lang="en-US" sz="1600" spc="-160" dirty="0">
                <a:solidFill>
                  <a:srgbClr val="FEF8ED"/>
                </a:solidFill>
                <a:latin typeface="Aptos" panose="020B0004020202020204" pitchFamily="34" charset="0"/>
                <a:cs typeface="BentonSans Regular"/>
              </a:rPr>
              <a:t> </a:t>
            </a:r>
            <a:r>
              <a:rPr lang="en-US" sz="1600" spc="-15" dirty="0">
                <a:solidFill>
                  <a:srgbClr val="FEF8ED"/>
                </a:solidFill>
                <a:latin typeface="Aptos" panose="020B0004020202020204" pitchFamily="34" charset="0"/>
                <a:cs typeface="BentonSans Regular"/>
              </a:rPr>
              <a:t>Excellence</a:t>
            </a:r>
            <a:endParaRPr lang="en-US" sz="1600" dirty="0">
              <a:latin typeface="Aptos" panose="020B0004020202020204" pitchFamily="34" charset="0"/>
              <a:cs typeface="BentonSans Regular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E947AF-70FB-4616-8971-C2722FADD635}"/>
              </a:ext>
            </a:extLst>
          </p:cNvPr>
          <p:cNvCxnSpPr>
            <a:cxnSpLocks/>
          </p:cNvCxnSpPr>
          <p:nvPr/>
        </p:nvCxnSpPr>
        <p:spPr>
          <a:xfrm>
            <a:off x="0" y="6270570"/>
            <a:ext cx="12192000" cy="0"/>
          </a:xfrm>
          <a:prstGeom prst="line">
            <a:avLst/>
          </a:prstGeom>
          <a:ln>
            <a:solidFill>
              <a:srgbClr val="FCF7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884E083D-D1A6-FCF2-2381-7B71EBC4E0C6}"/>
              </a:ext>
            </a:extLst>
          </p:cNvPr>
          <p:cNvSpPr txBox="1">
            <a:spLocks/>
          </p:cNvSpPr>
          <p:nvPr/>
        </p:nvSpPr>
        <p:spPr>
          <a:xfrm>
            <a:off x="2679617" y="3223573"/>
            <a:ext cx="7867880" cy="1502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753918"/>
                </a:solidFill>
                <a:latin typeface="BentonSans Black" panose="02000503040000020004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FCF7EA"/>
                </a:solidFill>
              </a:rPr>
              <a:t>IMF Mission Presentation</a:t>
            </a:r>
            <a:endParaRPr lang="en-US" dirty="0">
              <a:solidFill>
                <a:srgbClr val="FCF7EA"/>
              </a:solidFill>
              <a:latin typeface="BentonSans Black" charset="0"/>
              <a:ea typeface="BentonSans Black" charset="0"/>
              <a:cs typeface="BentonSans Black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54ADB26-3FDC-2E56-608D-AAC363F4D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3672" y="4857094"/>
            <a:ext cx="4744655" cy="1160362"/>
          </a:xfrm>
        </p:spPr>
        <p:txBody>
          <a:bodyPr/>
          <a:lstStyle/>
          <a:p>
            <a:pPr algn="ctr"/>
            <a:endParaRPr lang="en-US" b="1" dirty="0">
              <a:solidFill>
                <a:srgbClr val="FCF7EA"/>
              </a:solidFill>
              <a:latin typeface="BentonSans Regular" panose="02000503040000020004" pitchFamily="50" charset="0"/>
            </a:endParaRPr>
          </a:p>
          <a:p>
            <a:pPr algn="ctr"/>
            <a:r>
              <a:rPr lang="en-US" b="1" dirty="0">
                <a:solidFill>
                  <a:srgbClr val="FCF7EA"/>
                </a:solidFill>
                <a:latin typeface="BentonSans Regular" panose="02000503040000020004" pitchFamily="50" charset="0"/>
              </a:rPr>
              <a:t>February 17, 2026</a:t>
            </a:r>
          </a:p>
          <a:p>
            <a:pPr algn="ctr"/>
            <a:endParaRPr lang="x-none" dirty="0">
              <a:solidFill>
                <a:srgbClr val="FCF7E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478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631B4-5753-1A9C-1E17-00EE761EB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471694"/>
            <a:ext cx="10506741" cy="2569579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MONETARY SECTOR DEVELOPMENTS</a:t>
            </a:r>
          </a:p>
        </p:txBody>
      </p:sp>
    </p:spTree>
    <p:extLst>
      <p:ext uri="{BB962C8B-B14F-4D97-AF65-F5344CB8AC3E}">
        <p14:creationId xmlns:p14="http://schemas.microsoft.com/office/powerpoint/2010/main" val="3487906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C17A9-EEBC-74F4-0F3C-6A82194B6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8A4E-FBE2-D9FE-FD9A-848F7312D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40" y="452488"/>
            <a:ext cx="9656956" cy="735290"/>
          </a:xfrm>
        </p:spPr>
        <p:txBody>
          <a:bodyPr>
            <a:normAutofit/>
          </a:bodyPr>
          <a:lstStyle/>
          <a:p>
            <a:pPr algn="ctr"/>
            <a:r>
              <a:rPr lang="en-US" sz="2800" b="0" dirty="0">
                <a:latin typeface="BentonSans Black" panose="02000503040000020004" pitchFamily="50" charset="0"/>
              </a:rPr>
              <a:t>Key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7B44-3C57-9812-D580-9A47956D4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BentonSans Regular" panose="02000503040000020004" pitchFamily="50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BentonSans Regular" panose="02000503040000020004" pitchFamily="50" charset="0"/>
              </a:rPr>
              <a:t>Liquidity shortage in 2025Q4</a:t>
            </a:r>
          </a:p>
          <a:p>
            <a:endParaRPr lang="en-US" sz="2400" dirty="0">
              <a:solidFill>
                <a:srgbClr val="000000"/>
              </a:solidFill>
              <a:latin typeface="BentonSans Regular" panose="02000503040000020004" pitchFamily="50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BentonSans Regular" panose="02000503040000020004" pitchFamily="50" charset="0"/>
              </a:rPr>
              <a:t>Money market rates  are evolving slightly above the CBR</a:t>
            </a:r>
          </a:p>
          <a:p>
            <a:endParaRPr lang="en-US" sz="2400" dirty="0">
              <a:solidFill>
                <a:srgbClr val="000000"/>
              </a:solidFill>
              <a:latin typeface="BentonSans Regular" panose="02000503040000020004" pitchFamily="50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BentonSans Regular" panose="02000503040000020004" pitchFamily="50" charset="0"/>
              </a:rPr>
              <a:t>Market rates showed a downward trend (y-o-y)</a:t>
            </a:r>
          </a:p>
          <a:p>
            <a:endParaRPr lang="en-US" sz="2400" dirty="0">
              <a:solidFill>
                <a:srgbClr val="000000"/>
              </a:solidFill>
              <a:latin typeface="BentonSans Regular" panose="02000503040000020004" pitchFamily="50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BentonSans Regular" panose="02000503040000020004" pitchFamily="50" charset="0"/>
              </a:rPr>
              <a:t>Broad money kept increasing, driven by Credit to the Private Sector  and Net Credit to Government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BentonSans Regular" panose="02000503040000020004" pitchFamily="50" charset="0"/>
            </a:endParaRPr>
          </a:p>
          <a:p>
            <a:endParaRPr lang="en-US" sz="2400" dirty="0">
              <a:solidFill>
                <a:srgbClr val="000000"/>
              </a:solidFill>
              <a:latin typeface="BentonSans Regular" panose="02000503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921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667F2EB-194A-4C9E-FB04-2977BAF1FC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545" y="460279"/>
            <a:ext cx="9794855" cy="7347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0" dirty="0">
                <a:latin typeface="BentonSans Black" panose="02000503040000020004" pitchFamily="50" charset="0"/>
              </a:rPr>
              <a:t>Liquidity developments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026DD20-6348-AC3B-E146-9B7B4BC76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373172"/>
              </p:ext>
            </p:extLst>
          </p:nvPr>
        </p:nvGraphicFramePr>
        <p:xfrm>
          <a:off x="6807995" y="4093534"/>
          <a:ext cx="5195131" cy="25900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1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628">
                  <a:extLst>
                    <a:ext uri="{9D8B030D-6E8A-4147-A177-3AD203B41FA5}">
                      <a16:colId xmlns:a16="http://schemas.microsoft.com/office/drawing/2014/main" val="1134535860"/>
                    </a:ext>
                  </a:extLst>
                </a:gridCol>
                <a:gridCol w="1213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7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BentonSans Regular" panose="02000503040000020004" pitchFamily="50" charset="0"/>
                        </a:rPr>
                        <a:t> OMO Operations + CB Bills</a:t>
                      </a:r>
                      <a:endParaRPr lang="en-US" sz="1400" dirty="0">
                        <a:effectLst/>
                        <a:latin typeface="BentonSans Regular" panose="02000503040000020004" pitchFamily="50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BentonSans Regular" panose="02000503040000020004" pitchFamily="50" charset="0"/>
                        </a:rPr>
                        <a:t>2024Q4</a:t>
                      </a:r>
                      <a:endParaRPr lang="en-US" sz="1400" dirty="0">
                        <a:effectLst/>
                        <a:latin typeface="BentonSans Regular" panose="02000503040000020004" pitchFamily="50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BentonSans Regular" panose="02000503040000020004" pitchFamily="50" charset="0"/>
                        </a:rPr>
                        <a:t>2025Q3</a:t>
                      </a:r>
                      <a:endParaRPr lang="en-US" sz="1400" dirty="0">
                        <a:effectLst/>
                        <a:latin typeface="BentonSans Regular" panose="02000503040000020004" pitchFamily="50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BentonSans Regular" panose="02000503040000020004" pitchFamily="50" charset="0"/>
                        </a:rPr>
                        <a:t>2025Q4</a:t>
                      </a:r>
                      <a:endParaRPr lang="en-US" sz="1400" dirty="0">
                        <a:effectLst/>
                        <a:latin typeface="BentonSans Regular" panose="02000503040000020004" pitchFamily="50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44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</a:rPr>
                        <a:t>Repos (billion FRW)</a:t>
                      </a:r>
                      <a:endParaRPr lang="en-US" sz="14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entonSans Regular" panose="02000503040000020004" pitchFamily="50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  <a:ea typeface="Calibri" panose="020F0502020204030204" pitchFamily="34" charset="0"/>
                        </a:rPr>
                        <a:t>-1054.3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entonSans Regular" panose="02000503040000020004" pitchFamily="50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  <a:ea typeface="Calibri" panose="020F0502020204030204" pitchFamily="34" charset="0"/>
                        </a:rPr>
                        <a:t>-118.0</a:t>
                      </a: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  <a:ea typeface="Calibri" panose="020F0502020204030204" pitchFamily="34" charset="0"/>
                        </a:rPr>
                        <a:t>0.0</a:t>
                      </a:r>
                    </a:p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entonSans Regular" panose="02000503040000020004" pitchFamily="50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7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</a:rPr>
                        <a:t>Reverse repos (billion FRW)</a:t>
                      </a:r>
                      <a:endParaRPr lang="en-US" sz="14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entonSans Regular" panose="02000503040000020004" pitchFamily="50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  <a:ea typeface="+mn-ea"/>
                        </a:rPr>
                        <a:t>105.0</a:t>
                      </a:r>
                      <a:endParaRPr lang="en-US" sz="14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entonSans Regular" panose="02000503040000020004" pitchFamily="50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  <a:ea typeface="+mn-ea"/>
                        </a:rPr>
                        <a:t>210.0</a:t>
                      </a:r>
                      <a:endParaRPr lang="en-US" sz="14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entonSans Regular" panose="02000503040000020004" pitchFamily="50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  <a:ea typeface="+mn-ea"/>
                        </a:rPr>
                        <a:t>1176.3</a:t>
                      </a:r>
                      <a:endParaRPr lang="en-US" sz="14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entonSans Regular" panose="02000503040000020004" pitchFamily="50" charset="0"/>
                        <a:ea typeface="Calibri" panose="020F0502020204030204" pitchFamily="34" charset="0"/>
                      </a:endParaRPr>
                    </a:p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entonSans Regular" panose="02000503040000020004" pitchFamily="50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43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  <a:ea typeface="Calibri" panose="020F0502020204030204" pitchFamily="34" charset="0"/>
                        </a:rPr>
                        <a:t>CB Bills</a:t>
                      </a: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  <a:ea typeface="Calibri" panose="020F0502020204030204" pitchFamily="34" charset="0"/>
                        </a:rPr>
                        <a:t>0.0</a:t>
                      </a: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  <a:ea typeface="Calibri" panose="020F0502020204030204" pitchFamily="34" charset="0"/>
                        </a:rPr>
                        <a:t>-29.5</a:t>
                      </a: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  <a:ea typeface="Calibri" panose="020F0502020204030204" pitchFamily="34" charset="0"/>
                        </a:rPr>
                        <a:t>0.0</a:t>
                      </a: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46084"/>
                  </a:ext>
                </a:extLst>
              </a:tr>
              <a:tr h="5817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</a:rPr>
                        <a:t>Net Operations (billion FRW)</a:t>
                      </a:r>
                      <a:endParaRPr lang="en-US" sz="14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entonSans Regular" panose="02000503040000020004" pitchFamily="50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  <a:ea typeface="Calibri" panose="020F0502020204030204" pitchFamily="34" charset="0"/>
                        </a:rPr>
                        <a:t>-949.3</a:t>
                      </a: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  <a:ea typeface="Calibri" panose="020F0502020204030204" pitchFamily="34" charset="0"/>
                        </a:rPr>
                        <a:t>62.5</a:t>
                      </a: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  <a:ea typeface="Calibri" panose="020F0502020204030204" pitchFamily="34" charset="0"/>
                        </a:rPr>
                        <a:t>1176.3</a:t>
                      </a: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BB266E3-818C-4A07-FFA0-1299D735BE83}"/>
              </a:ext>
            </a:extLst>
          </p:cNvPr>
          <p:cNvSpPr txBox="1"/>
          <p:nvPr/>
        </p:nvSpPr>
        <p:spPr>
          <a:xfrm>
            <a:off x="0" y="5852608"/>
            <a:ext cx="65075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Driven by :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Significant T-bonds Issuance. (+FRW 172.8bn)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Less fiscal injection (-FRW 97.1bn: Dec 2025 vs Dec 2024 )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BE5DE2-513B-F69E-8EE3-85592E215312}"/>
              </a:ext>
            </a:extLst>
          </p:cNvPr>
          <p:cNvSpPr txBox="1">
            <a:spLocks/>
          </p:cNvSpPr>
          <p:nvPr/>
        </p:nvSpPr>
        <p:spPr>
          <a:xfrm>
            <a:off x="0" y="1594316"/>
            <a:ext cx="9537405" cy="830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753918"/>
                </a:solidFill>
                <a:latin typeface="BentonSans Medium" panose="0200060303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753918"/>
                </a:solidFill>
                <a:latin typeface="BentonSans Medium" panose="02000603030000020004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753918"/>
                </a:solidFill>
                <a:latin typeface="BentonSans Medium" panose="02000603030000020004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53918"/>
                </a:solidFill>
                <a:latin typeface="BentonSans Medium" panose="02000603030000020004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53918"/>
                </a:solidFill>
                <a:latin typeface="BentonSans Medium" panose="0200060303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BentonSans Bold"/>
              </a:rPr>
              <a:t>Liquidity shortage in 2025Q4:</a:t>
            </a:r>
          </a:p>
          <a:p>
            <a:pPr lvl="1">
              <a:spcBef>
                <a:spcPts val="1000"/>
              </a:spcBef>
            </a:pPr>
            <a:r>
              <a:rPr kumimoji="0" lang="en-US" sz="14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BentonSans Bold"/>
              </a:rPr>
              <a:t>FRW -17.1 billion in 2025Q4 vs FRW 103.7 billion in 2024Q4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D0ECA36-E0A4-7122-98CF-AF91225B9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427381"/>
              </p:ext>
            </p:extLst>
          </p:nvPr>
        </p:nvGraphicFramePr>
        <p:xfrm>
          <a:off x="6807994" y="1611984"/>
          <a:ext cx="5195130" cy="22823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4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8301">
                  <a:extLst>
                    <a:ext uri="{9D8B030D-6E8A-4147-A177-3AD203B41FA5}">
                      <a16:colId xmlns:a16="http://schemas.microsoft.com/office/drawing/2014/main" val="3771041755"/>
                    </a:ext>
                  </a:extLst>
                </a:gridCol>
                <a:gridCol w="1118755">
                  <a:extLst>
                    <a:ext uri="{9D8B030D-6E8A-4147-A177-3AD203B41FA5}">
                      <a16:colId xmlns:a16="http://schemas.microsoft.com/office/drawing/2014/main" val="3817194804"/>
                    </a:ext>
                  </a:extLst>
                </a:gridCol>
                <a:gridCol w="1123083">
                  <a:extLst>
                    <a:ext uri="{9D8B030D-6E8A-4147-A177-3AD203B41FA5}">
                      <a16:colId xmlns:a16="http://schemas.microsoft.com/office/drawing/2014/main" val="3645523419"/>
                    </a:ext>
                  </a:extLst>
                </a:gridCol>
              </a:tblGrid>
              <a:tr h="735746"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00" b="1" u="none" strike="noStrike" dirty="0">
                        <a:solidFill>
                          <a:schemeClr val="bg1"/>
                        </a:solidFill>
                        <a:effectLst/>
                        <a:latin typeface="BentonSans Regular" panose="02000503040000020004" pitchFamily="50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BentonSans Regular" panose="02000503040000020004" pitchFamily="50" charset="0"/>
                        </a:rPr>
                        <a:t>Investment in Govt Securities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600" b="1" u="none" strike="noStrike" dirty="0">
                        <a:solidFill>
                          <a:schemeClr val="bg1"/>
                        </a:solidFill>
                        <a:effectLst/>
                        <a:latin typeface="BentonSans Regular" panose="02000503040000020004" pitchFamily="50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4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BentonSans Regular" panose="02000503040000020004" pitchFamily="50" charset="0"/>
                          <a:ea typeface="+mn-ea"/>
                          <a:cs typeface="+mn-cs"/>
                        </a:rPr>
                        <a:t>Dec-24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BentonSans Regular" panose="02000503040000020004" pitchFamily="50" charset="0"/>
                          <a:ea typeface="+mn-ea"/>
                          <a:cs typeface="+mn-cs"/>
                        </a:rPr>
                        <a:t>Sep-25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BentonSans Regular" panose="02000503040000020004" pitchFamily="50" charset="0"/>
                          <a:ea typeface="+mn-ea"/>
                          <a:cs typeface="+mn-cs"/>
                        </a:rPr>
                        <a:t>Dec-25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426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b="0" i="0" u="none" strike="noStrike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</a:rPr>
                        <a:t>T-bills ( FRW bn)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u="none" strike="noStrike" kern="1200" dirty="0">
                        <a:solidFill>
                          <a:srgbClr val="753918"/>
                        </a:solidFill>
                        <a:effectLst/>
                        <a:latin typeface="BentonSans Regular" panose="02000503040000020004" pitchFamily="50" charset="0"/>
                        <a:ea typeface="+mn-ea"/>
                        <a:cs typeface="+mn-cs"/>
                      </a:endParaRPr>
                    </a:p>
                    <a:p>
                      <a:pPr algn="r"/>
                      <a:r>
                        <a:rPr lang="en-US" sz="1600" u="none" strike="noStrike" kern="1200" dirty="0">
                          <a:solidFill>
                            <a:srgbClr val="753918"/>
                          </a:solidFill>
                          <a:effectLst/>
                          <a:latin typeface="BentonSans Regular" panose="02000503040000020004" pitchFamily="50" charset="0"/>
                          <a:ea typeface="+mn-ea"/>
                          <a:cs typeface="+mn-cs"/>
                        </a:rPr>
                        <a:t>627.5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u="none" strike="noStrike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  <a:ea typeface="+mn-ea"/>
                          <a:cs typeface="+mn-cs"/>
                        </a:rPr>
                        <a:t>515.5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u="none" strike="noStrike" kern="1200" dirty="0">
                          <a:solidFill>
                            <a:srgbClr val="753918"/>
                          </a:solidFill>
                          <a:effectLst/>
                          <a:latin typeface="BentonSans Regular" panose="02000503040000020004" pitchFamily="50" charset="0"/>
                          <a:ea typeface="+mn-ea"/>
                          <a:cs typeface="+mn-cs"/>
                        </a:rPr>
                        <a:t>544.4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83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b="0" i="0" u="none" strike="noStrike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</a:rPr>
                        <a:t>T-bonds ( FRW bn)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600" u="none" strike="noStrike" kern="1200" dirty="0">
                          <a:solidFill>
                            <a:srgbClr val="753918"/>
                          </a:solidFill>
                          <a:effectLst/>
                          <a:latin typeface="BentonSans Regular" panose="02000503040000020004" pitchFamily="50" charset="0"/>
                          <a:ea typeface="+mn-ea"/>
                          <a:cs typeface="+mn-cs"/>
                        </a:rPr>
                        <a:t>1,638.8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  <a:ea typeface="+mn-ea"/>
                          <a:cs typeface="+mn-cs"/>
                        </a:rPr>
                        <a:t>1,769.7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rgbClr val="753918"/>
                          </a:solidFill>
                          <a:effectLst/>
                          <a:latin typeface="BentonSans Regular" panose="02000503040000020004" pitchFamily="50" charset="0"/>
                          <a:ea typeface="+mn-ea"/>
                          <a:cs typeface="+mn-cs"/>
                        </a:rPr>
                        <a:t>1,894.7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94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</a:rPr>
                        <a:t>Total</a:t>
                      </a:r>
                      <a:endParaRPr lang="en-US" sz="1600" b="0" i="0" u="none" strike="noStrike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BentonSans Regular" panose="02000503040000020004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600" u="none" strike="noStrike" kern="1200" dirty="0">
                          <a:solidFill>
                            <a:srgbClr val="753918"/>
                          </a:solidFill>
                          <a:effectLst/>
                          <a:latin typeface="BentonSans Regular" panose="02000503040000020004" pitchFamily="50" charset="0"/>
                          <a:ea typeface="+mn-ea"/>
                          <a:cs typeface="+mn-cs"/>
                        </a:rPr>
                        <a:t>2,266.3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BentonSans Regular" panose="02000503040000020004" pitchFamily="50" charset="0"/>
                          <a:ea typeface="+mn-ea"/>
                          <a:cs typeface="+mn-cs"/>
                        </a:rPr>
                        <a:t>2,285.2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600" u="none" strike="noStrike" kern="1200" dirty="0">
                          <a:solidFill>
                            <a:srgbClr val="753918"/>
                          </a:solidFill>
                          <a:effectLst/>
                          <a:latin typeface="BentonSans Regular" panose="02000503040000020004" pitchFamily="50" charset="0"/>
                          <a:ea typeface="+mn-ea"/>
                          <a:cs typeface="+mn-cs"/>
                        </a:rPr>
                        <a:t>2,439.1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861A5708-F6B6-C51B-B5F7-2229463721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8731091"/>
              </p:ext>
            </p:extLst>
          </p:nvPr>
        </p:nvGraphicFramePr>
        <p:xfrm>
          <a:off x="100980" y="2360163"/>
          <a:ext cx="6406614" cy="3398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34695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012" y="568724"/>
            <a:ext cx="9585852" cy="536749"/>
          </a:xfrm>
        </p:spPr>
        <p:txBody>
          <a:bodyPr>
            <a:normAutofit/>
          </a:bodyPr>
          <a:lstStyle/>
          <a:p>
            <a:pPr algn="ctr"/>
            <a:r>
              <a:rPr lang="en-US" sz="2800" b="0" dirty="0">
                <a:solidFill>
                  <a:schemeClr val="tx2"/>
                </a:solidFill>
                <a:latin typeface="BentonSans Black" panose="02000503040000020004" pitchFamily="50" charset="0"/>
              </a:rPr>
              <a:t>Transmission 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579513"/>
            <a:ext cx="118077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u="none" strike="noStrike" kern="1200" cap="none" spc="0" normalizeH="0" baseline="0" noProof="0" dirty="0">
                <a:ln>
                  <a:noFill/>
                </a:ln>
                <a:solidFill>
                  <a:srgbClr val="753918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Money market rates are moving slightly above the CBR, reflecting </a:t>
            </a:r>
            <a:r>
              <a:rPr lang="en-US" sz="2000" dirty="0">
                <a:solidFill>
                  <a:srgbClr val="753918"/>
                </a:solidFill>
                <a:latin typeface="BentonSans Regular" panose="02000503040000020004" pitchFamily="50" charset="0"/>
              </a:rPr>
              <a:t>an </a:t>
            </a:r>
            <a:r>
              <a:rPr kumimoji="0" lang="en-US" sz="2000" b="0" u="none" strike="noStrike" kern="1200" cap="none" spc="0" normalizeH="0" baseline="0" noProof="0" dirty="0">
                <a:ln>
                  <a:noFill/>
                </a:ln>
                <a:solidFill>
                  <a:srgbClr val="753918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effective liquidity management.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A9C4C6-E4B6-8A6C-116B-7E8B0A07B71B}"/>
              </a:ext>
            </a:extLst>
          </p:cNvPr>
          <p:cNvSpPr txBox="1"/>
          <p:nvPr/>
        </p:nvSpPr>
        <p:spPr>
          <a:xfrm>
            <a:off x="100220" y="5964696"/>
            <a:ext cx="62680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Bold" panose="02000503040000020004" pitchFamily="50" charset="0"/>
                <a:ea typeface="+mn-ea"/>
                <a:cs typeface="Arial" pitchFamily="34" charset="0"/>
              </a:rPr>
              <a:t>Interbank rate: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Book" panose="02000503040000020004" pitchFamily="50" charset="0"/>
                <a:ea typeface="+mn-ea"/>
                <a:cs typeface="Arial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Book" panose="02000503040000020004" pitchFamily="50" charset="0"/>
                <a:ea typeface="+mn-ea"/>
                <a:cs typeface="Arial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Regular" panose="02000503040000020004" pitchFamily="50" charset="0"/>
                <a:cs typeface="Arial" pitchFamily="34" charset="0"/>
              </a:rPr>
              <a:t>Y-o-Y: + 9 bps to 6.87%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Regular" panose="02000503040000020004" pitchFamily="50" charset="0"/>
                <a:cs typeface="Arial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Regular" panose="02000503040000020004" pitchFamily="50" charset="0"/>
                <a:cs typeface="Arial" pitchFamily="34" charset="0"/>
              </a:rPr>
              <a:t>in 2025Q4</a:t>
            </a:r>
          </a:p>
          <a:p>
            <a:pPr marL="0" marR="0" lvl="0" indent="0" algn="just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Regular" panose="02000503040000020004" pitchFamily="50" charset="0"/>
                <a:cs typeface="Arial" pitchFamily="34" charset="0"/>
              </a:rPr>
              <a:t>                                  Q-o-Q: + 102 bps from 5.85% in 2025Q3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978E8-C9AF-0203-B5C2-753CFA90B9A8}"/>
              </a:ext>
            </a:extLst>
          </p:cNvPr>
          <p:cNvSpPr txBox="1"/>
          <p:nvPr/>
        </p:nvSpPr>
        <p:spPr>
          <a:xfrm>
            <a:off x="6368254" y="5964695"/>
            <a:ext cx="57235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Bold" panose="02000503040000020004" pitchFamily="50" charset="0"/>
                <a:ea typeface="+mn-ea"/>
                <a:cs typeface="Arial" pitchFamily="34" charset="0"/>
              </a:rPr>
              <a:t>W-TB rate: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Book" panose="02000503040000020004" pitchFamily="50" charset="0"/>
                <a:ea typeface="+mn-ea"/>
                <a:cs typeface="Arial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Book" panose="02000503040000020004" pitchFamily="50" charset="0"/>
                <a:ea typeface="+mn-ea"/>
                <a:cs typeface="Arial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Regular" panose="02000503040000020004" pitchFamily="50" charset="0"/>
                <a:cs typeface="Arial" pitchFamily="34" charset="0"/>
              </a:rPr>
              <a:t>Y-o-Y: + 38 bps to 7.41 %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Regular" panose="02000503040000020004" pitchFamily="50" charset="0"/>
                <a:cs typeface="Arial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Regular" panose="02000503040000020004" pitchFamily="50" charset="0"/>
                <a:cs typeface="Arial" pitchFamily="34" charset="0"/>
              </a:rPr>
              <a:t>in 2025Q4 </a:t>
            </a:r>
          </a:p>
          <a:p>
            <a:pPr marL="0" marR="0" lvl="0" indent="0" algn="just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Regular" panose="02000503040000020004" pitchFamily="50" charset="0"/>
                <a:cs typeface="Arial" pitchFamily="34" charset="0"/>
              </a:rPr>
              <a:t>                        Q-o-Q: +106 bps from 6.35% in 2025Q3    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0000000-0008-0000-1800-00000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2643043"/>
              </p:ext>
            </p:extLst>
          </p:nvPr>
        </p:nvGraphicFramePr>
        <p:xfrm>
          <a:off x="6368254" y="2417241"/>
          <a:ext cx="5550843" cy="35474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/>
        </p:nvGraphicFramePr>
        <p:xfrm>
          <a:off x="100220" y="2417240"/>
          <a:ext cx="6183622" cy="3547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11358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4AD83-4C6F-06E1-A906-1F7ECDC9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4413-41A9-7ED8-C650-C03932B2C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12" y="568724"/>
            <a:ext cx="9585852" cy="536749"/>
          </a:xfrm>
        </p:spPr>
        <p:txBody>
          <a:bodyPr>
            <a:normAutofit/>
          </a:bodyPr>
          <a:lstStyle/>
          <a:p>
            <a:pPr algn="ctr"/>
            <a:r>
              <a:rPr lang="en-US" sz="2800" b="0" dirty="0">
                <a:solidFill>
                  <a:schemeClr val="tx2"/>
                </a:solidFill>
                <a:latin typeface="BentonSans Black" panose="02000503040000020004" pitchFamily="50" charset="0"/>
              </a:rPr>
              <a:t>Transmission Mechanism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22EF2E-B6E6-A301-5A72-E370931DE0F4}"/>
              </a:ext>
            </a:extLst>
          </p:cNvPr>
          <p:cNvSpPr txBox="1"/>
          <p:nvPr/>
        </p:nvSpPr>
        <p:spPr>
          <a:xfrm>
            <a:off x="284012" y="1464321"/>
            <a:ext cx="11523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As of December 2025, bond yields are relatively low compared with the same period in 2024.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753918"/>
              </a:solidFill>
              <a:effectLst/>
              <a:uLnTx/>
              <a:uFillTx/>
              <a:latin typeface="BentonSans Regular" panose="02000503040000020004" pitchFamily="50" charset="0"/>
              <a:ea typeface="+mn-ea"/>
              <a:cs typeface="+mn-cs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6158857"/>
              </p:ext>
            </p:extLst>
          </p:nvPr>
        </p:nvGraphicFramePr>
        <p:xfrm>
          <a:off x="401880" y="2071171"/>
          <a:ext cx="6542951" cy="4085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F69DE03-2558-C4EC-8154-AFF25842656F}"/>
              </a:ext>
            </a:extLst>
          </p:cNvPr>
          <p:cNvSpPr txBox="1"/>
          <p:nvPr/>
        </p:nvSpPr>
        <p:spPr>
          <a:xfrm>
            <a:off x="7171257" y="2544049"/>
            <a:ext cx="4636511" cy="31393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Factors behind: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ntonSans Regular" panose="02000503040000020004" pitchFamily="50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Continued monetary policy easing through August 2025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ntonSans Regular" panose="02000503040000020004" pitchFamily="50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Ample liquidity during the first nine months of 2025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ntonSans Regular" panose="02000503040000020004" pitchFamily="50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Limited pressure from government borrowing in the first half of 2025.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ntonSans Regular" panose="02000503040000020004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4260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1EA8D-7A22-D31F-78E2-723B67A9A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90BECE3-0BEC-FA23-765A-06941B9012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8166398"/>
              </p:ext>
            </p:extLst>
          </p:nvPr>
        </p:nvGraphicFramePr>
        <p:xfrm>
          <a:off x="195619" y="2069927"/>
          <a:ext cx="6167915" cy="3779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FCD6431-092D-97D3-CC01-995807B012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9382674"/>
              </p:ext>
            </p:extLst>
          </p:nvPr>
        </p:nvGraphicFramePr>
        <p:xfrm>
          <a:off x="6637573" y="2055872"/>
          <a:ext cx="5358808" cy="37892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11BA211-6C5B-AE20-A3F3-45ECAA5395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6596130"/>
              </p:ext>
            </p:extLst>
          </p:nvPr>
        </p:nvGraphicFramePr>
        <p:xfrm>
          <a:off x="6637573" y="2055872"/>
          <a:ext cx="5358808" cy="3779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7D46145-F3FD-7F20-903D-C447F5E0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6272" y="567309"/>
            <a:ext cx="7614284" cy="536749"/>
          </a:xfrm>
        </p:spPr>
        <p:txBody>
          <a:bodyPr>
            <a:normAutofit/>
          </a:bodyPr>
          <a:lstStyle/>
          <a:p>
            <a:r>
              <a:rPr lang="en-US" sz="2800" b="0" dirty="0">
                <a:solidFill>
                  <a:schemeClr val="tx2"/>
                </a:solidFill>
                <a:latin typeface="BentonSans Black" panose="02000503040000020004" pitchFamily="50" charset="0"/>
              </a:rPr>
              <a:t>Transmission Mechanism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ED2990-0612-D645-E4EA-8CA300BC24DA}"/>
              </a:ext>
            </a:extLst>
          </p:cNvPr>
          <p:cNvSpPr txBox="1"/>
          <p:nvPr/>
        </p:nvSpPr>
        <p:spPr>
          <a:xfrm>
            <a:off x="303372" y="5952407"/>
            <a:ext cx="11585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 marR="0" lvl="0" indent="-133350" algn="just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Arial" pitchFamily="34" charset="0"/>
              </a:rPr>
              <a:t>Average deposit rate: Y-o-Y: -152 bps to 8.98%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Arial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Arial" pitchFamily="34" charset="0"/>
              </a:rPr>
              <a:t>in 2025Q4; Q-o-Q: +31 bps from 8.67% in 2025Q3</a:t>
            </a:r>
          </a:p>
          <a:p>
            <a:pPr marL="133350" marR="0" lvl="0" indent="-133350" algn="just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Arial" pitchFamily="34" charset="0"/>
              </a:rPr>
              <a:t>Average lending rate  :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Arial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Arial" pitchFamily="34" charset="0"/>
              </a:rPr>
              <a:t> Y-o-Y: - 13 bps to 15.72%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Arial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Arial" pitchFamily="34" charset="0"/>
              </a:rPr>
              <a:t>in 2025Q4; Q-o-Q: -7 bps from 15.78% in 2025Q3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DF5BE-C0B3-8912-FD7B-90F64CA80714}"/>
              </a:ext>
            </a:extLst>
          </p:cNvPr>
          <p:cNvSpPr txBox="1"/>
          <p:nvPr/>
        </p:nvSpPr>
        <p:spPr>
          <a:xfrm>
            <a:off x="195618" y="1409541"/>
            <a:ext cx="11610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Both deposit and lending rates have declined</a:t>
            </a:r>
            <a:r>
              <a:rPr lang="en-US" dirty="0">
                <a:solidFill>
                  <a:srgbClr val="000000"/>
                </a:solidFill>
                <a:latin typeface="BentonSans Regular" panose="02000503040000020004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Tx/>
              <a:buChar char="-"/>
            </a:pPr>
            <a:r>
              <a:rPr kumimoji="0" lang="en-US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Lending rates declined in short-term and medium term, driven by individuals and corporate loans.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15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3819774"/>
              </p:ext>
            </p:extLst>
          </p:nvPr>
        </p:nvGraphicFramePr>
        <p:xfrm>
          <a:off x="195619" y="2076436"/>
          <a:ext cx="6167915" cy="3779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81994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  <p:bldGraphic spid="3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A2495-7580-2C22-2989-C33DC1EFF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5AE72-779B-8311-49CA-B54FC63EB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885"/>
            <a:ext cx="9124507" cy="1325563"/>
          </a:xfrm>
        </p:spPr>
        <p:txBody>
          <a:bodyPr>
            <a:normAutofit/>
          </a:bodyPr>
          <a:lstStyle/>
          <a:p>
            <a:r>
              <a:rPr lang="en-US" sz="2800" b="0" dirty="0">
                <a:latin typeface="BentonSans Black"/>
              </a:rPr>
              <a:t>New Authorized Loans (NALs) Developments</a:t>
            </a:r>
            <a:endParaRPr lang="en-RW" sz="2800" b="0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9497D2F7-F857-39C7-5B45-79E2FA7758D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8194" y="2871345"/>
          <a:ext cx="10332189" cy="29127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A66639D-464E-9287-2C8C-27F6E3C39C6D}"/>
              </a:ext>
            </a:extLst>
          </p:cNvPr>
          <p:cNvSpPr txBox="1"/>
          <p:nvPr/>
        </p:nvSpPr>
        <p:spPr>
          <a:xfrm>
            <a:off x="978194" y="2020187"/>
            <a:ext cx="846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NALs Y-o-Y: 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Bold" panose="02000503040000020004" pitchFamily="50" charset="0"/>
                <a:ea typeface="+mn-ea"/>
                <a:cs typeface="+mn-cs"/>
              </a:rPr>
              <a:t>+29.7% 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</a:rPr>
              <a:t>to FRW 766.5 Bln in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Bold" panose="02000503040000020004" pitchFamily="50" charset="0"/>
                <a:ea typeface="+mn-ea"/>
                <a:cs typeface="+mn-cs"/>
              </a:rPr>
              <a:t> 2025Q4 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vs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– 0.4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Bold" panose="02000503040000020004" pitchFamily="50" charset="0"/>
                <a:ea typeface="+mn-ea"/>
                <a:cs typeface="+mn-cs"/>
              </a:rPr>
              <a:t>% in 2024Q4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NALs Q-o-Q: 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Bold" panose="02000503040000020004" pitchFamily="50" charset="0"/>
                <a:ea typeface="+mn-ea"/>
                <a:cs typeface="+mn-cs"/>
              </a:rPr>
              <a:t>+9.7% 2025Q4 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vs  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Bold" panose="02000503040000020004" pitchFamily="50" charset="0"/>
                <a:ea typeface="+mn-ea"/>
                <a:cs typeface="+mn-cs"/>
              </a:rPr>
              <a:t>+24.4% 2025Q3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2E1A2F-3EF7-49AE-00BD-71E9A1B3DF19}"/>
              </a:ext>
            </a:extLst>
          </p:cNvPr>
          <p:cNvSpPr txBox="1"/>
          <p:nvPr/>
        </p:nvSpPr>
        <p:spPr>
          <a:xfrm>
            <a:off x="287079" y="1446028"/>
            <a:ext cx="10811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Short term loans continued to dominate other maturities with a concentration  in corporate loans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24E87D-EB4B-D23F-6E86-4189AF299A35}"/>
              </a:ext>
            </a:extLst>
          </p:cNvPr>
          <p:cNvSpPr txBox="1"/>
          <p:nvPr/>
        </p:nvSpPr>
        <p:spPr>
          <a:xfrm>
            <a:off x="287079" y="5988938"/>
            <a:ext cx="11738343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In 2025Q4, Individual loans’ share slightly declined  y-o-y to 42.8% of the total NALs, lower than 43.5% in 2024Q4, while Corporate loans’ share  rose to 57.2% from 56.5%  during the same period.</a:t>
            </a:r>
          </a:p>
        </p:txBody>
      </p:sp>
    </p:spTree>
    <p:extLst>
      <p:ext uri="{BB962C8B-B14F-4D97-AF65-F5344CB8AC3E}">
        <p14:creationId xmlns:p14="http://schemas.microsoft.com/office/powerpoint/2010/main" val="862430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1395C-FB99-D373-DB12-348118675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BF86-69D6-2D4F-0C4B-3F57E9263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632546"/>
            <a:ext cx="9880637" cy="498670"/>
          </a:xfrm>
        </p:spPr>
        <p:txBody>
          <a:bodyPr>
            <a:noAutofit/>
          </a:bodyPr>
          <a:lstStyle/>
          <a:p>
            <a:r>
              <a:rPr lang="en-US" sz="2800" b="0" dirty="0"/>
              <a:t>Corporate loans vs. Individual loans by maturity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50BB72-9160-2F5F-4BFB-8571B65DDB84}"/>
              </a:ext>
            </a:extLst>
          </p:cNvPr>
          <p:cNvSpPr txBox="1"/>
          <p:nvPr/>
        </p:nvSpPr>
        <p:spPr>
          <a:xfrm>
            <a:off x="1072053" y="1496869"/>
            <a:ext cx="9880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In 2025 Q4, corporates dominated short‑ and medium‑term lending, exerting downward pressure on lending rates through market power.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2A52E36-449A-8C64-2C2A-EC1E3D92AA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1931019"/>
              </p:ext>
            </p:extLst>
          </p:nvPr>
        </p:nvGraphicFramePr>
        <p:xfrm>
          <a:off x="1155280" y="2319673"/>
          <a:ext cx="9686261" cy="4274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08C0150-EC6B-6EA9-A844-E26D19BAA356}"/>
              </a:ext>
            </a:extLst>
          </p:cNvPr>
          <p:cNvCxnSpPr>
            <a:cxnSpLocks/>
          </p:cNvCxnSpPr>
          <p:nvPr/>
        </p:nvCxnSpPr>
        <p:spPr>
          <a:xfrm>
            <a:off x="4719142" y="2596055"/>
            <a:ext cx="0" cy="3783724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643D5F-17A7-7C07-061E-34147C411FAA}"/>
              </a:ext>
            </a:extLst>
          </p:cNvPr>
          <p:cNvCxnSpPr>
            <a:cxnSpLocks/>
          </p:cNvCxnSpPr>
          <p:nvPr/>
        </p:nvCxnSpPr>
        <p:spPr>
          <a:xfrm>
            <a:off x="7840715" y="2596055"/>
            <a:ext cx="0" cy="3783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415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8B163-C42F-1345-C821-A4202F2DC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C0DAE-A7DB-921A-486C-9068A4E81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222885"/>
            <a:ext cx="9813851" cy="1325563"/>
          </a:xfrm>
        </p:spPr>
        <p:txBody>
          <a:bodyPr/>
          <a:lstStyle/>
          <a:p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CF7EA"/>
                </a:solidFill>
                <a:effectLst/>
                <a:uLnTx/>
                <a:uFillTx/>
                <a:latin typeface="BentonSans Black"/>
              </a:rPr>
              <a:t>New Authorized Loans (NALs) Developments (CTD)</a:t>
            </a:r>
            <a:endParaRPr lang="en-RW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79E9B5-3176-FFA7-A128-41726B46BD4C}"/>
              </a:ext>
            </a:extLst>
          </p:cNvPr>
          <p:cNvSpPr txBox="1"/>
          <p:nvPr/>
        </p:nvSpPr>
        <p:spPr>
          <a:xfrm>
            <a:off x="446567" y="1443947"/>
            <a:ext cx="111148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The five first sectors financed accounted for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85.2%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 of total NALs in 2025Q4: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entonSans Regular" panose="02000503040000020004" pitchFamily="50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Activities of Households as Employers: 26.4%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  <a:latin typeface="BentonSans Regular" panose="02000503040000020004" pitchFamily="50" charset="0"/>
              </a:rPr>
              <a:t>Wholesale &amp; Retails Trade, Repair of Motor vehicles &amp;  Motorcycles: 23.5%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  <a:latin typeface="BentonSans Regular" panose="02000503040000020004" pitchFamily="50" charset="0"/>
              </a:rPr>
              <a:t>Construction:  21.3%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  <a:latin typeface="BentonSans Regular" panose="02000503040000020004" pitchFamily="50" charset="0"/>
              </a:rPr>
              <a:t>Manufacturing: 8.1%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  <a:latin typeface="BentonSans Regular" panose="02000503040000020004" pitchFamily="50" charset="0"/>
              </a:rPr>
              <a:t>Transportation and Storage: 5.9% 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C47E959-6B6A-C3B7-C71E-1C54AE7554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9638442"/>
              </p:ext>
            </p:extLst>
          </p:nvPr>
        </p:nvGraphicFramePr>
        <p:xfrm>
          <a:off x="590655" y="3520354"/>
          <a:ext cx="10970726" cy="2965982"/>
        </p:xfrm>
        <a:graphic>
          <a:graphicData uri="http://schemas.openxmlformats.org/drawingml/2006/table">
            <a:tbl>
              <a:tblPr/>
              <a:tblGrid>
                <a:gridCol w="5690210">
                  <a:extLst>
                    <a:ext uri="{9D8B030D-6E8A-4147-A177-3AD203B41FA5}">
                      <a16:colId xmlns:a16="http://schemas.microsoft.com/office/drawing/2014/main" val="858887339"/>
                    </a:ext>
                  </a:extLst>
                </a:gridCol>
                <a:gridCol w="758695">
                  <a:extLst>
                    <a:ext uri="{9D8B030D-6E8A-4147-A177-3AD203B41FA5}">
                      <a16:colId xmlns:a16="http://schemas.microsoft.com/office/drawing/2014/main" val="2605933584"/>
                    </a:ext>
                  </a:extLst>
                </a:gridCol>
                <a:gridCol w="758695">
                  <a:extLst>
                    <a:ext uri="{9D8B030D-6E8A-4147-A177-3AD203B41FA5}">
                      <a16:colId xmlns:a16="http://schemas.microsoft.com/office/drawing/2014/main" val="4188102074"/>
                    </a:ext>
                  </a:extLst>
                </a:gridCol>
                <a:gridCol w="758695">
                  <a:extLst>
                    <a:ext uri="{9D8B030D-6E8A-4147-A177-3AD203B41FA5}">
                      <a16:colId xmlns:a16="http://schemas.microsoft.com/office/drawing/2014/main" val="2966250414"/>
                    </a:ext>
                  </a:extLst>
                </a:gridCol>
                <a:gridCol w="728346">
                  <a:extLst>
                    <a:ext uri="{9D8B030D-6E8A-4147-A177-3AD203B41FA5}">
                      <a16:colId xmlns:a16="http://schemas.microsoft.com/office/drawing/2014/main" val="3778621746"/>
                    </a:ext>
                  </a:extLst>
                </a:gridCol>
                <a:gridCol w="758695">
                  <a:extLst>
                    <a:ext uri="{9D8B030D-6E8A-4147-A177-3AD203B41FA5}">
                      <a16:colId xmlns:a16="http://schemas.microsoft.com/office/drawing/2014/main" val="3494066803"/>
                    </a:ext>
                  </a:extLst>
                </a:gridCol>
                <a:gridCol w="758695">
                  <a:extLst>
                    <a:ext uri="{9D8B030D-6E8A-4147-A177-3AD203B41FA5}">
                      <a16:colId xmlns:a16="http://schemas.microsoft.com/office/drawing/2014/main" val="2734367886"/>
                    </a:ext>
                  </a:extLst>
                </a:gridCol>
                <a:gridCol w="758695">
                  <a:extLst>
                    <a:ext uri="{9D8B030D-6E8A-4147-A177-3AD203B41FA5}">
                      <a16:colId xmlns:a16="http://schemas.microsoft.com/office/drawing/2014/main" val="1270766221"/>
                    </a:ext>
                  </a:extLst>
                </a:gridCol>
              </a:tblGrid>
              <a:tr h="3166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753918"/>
                          </a:solidFill>
                          <a:effectLst/>
                          <a:latin typeface="BentonSans Regular" panose="02000503040000020004" pitchFamily="50" charset="0"/>
                        </a:rPr>
                        <a:t>Economic sector in % Share of Tot NALs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753918"/>
                          </a:solidFill>
                          <a:effectLst/>
                          <a:latin typeface="BentonSans Regular" panose="02000503040000020004" pitchFamily="50" charset="0"/>
                        </a:rPr>
                        <a:t>2024Q2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753918"/>
                          </a:solidFill>
                          <a:effectLst/>
                          <a:latin typeface="BentonSans Regular" panose="02000503040000020004" pitchFamily="50" charset="0"/>
                        </a:rPr>
                        <a:t>2024Q3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753918"/>
                          </a:solidFill>
                          <a:effectLst/>
                          <a:latin typeface="BentonSans Regular" panose="02000503040000020004" pitchFamily="50" charset="0"/>
                        </a:rPr>
                        <a:t>2024Q4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753918"/>
                          </a:solidFill>
                          <a:effectLst/>
                          <a:latin typeface="BentonSans Regular" panose="02000503040000020004" pitchFamily="50" charset="0"/>
                        </a:rPr>
                        <a:t>2025Q1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753918"/>
                          </a:solidFill>
                          <a:effectLst/>
                          <a:latin typeface="BentonSans Regular" panose="02000503040000020004" pitchFamily="50" charset="0"/>
                        </a:rPr>
                        <a:t>2025Q2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753918"/>
                          </a:solidFill>
                          <a:effectLst/>
                          <a:latin typeface="BentonSans Regular" panose="02000503040000020004" pitchFamily="50" charset="0"/>
                        </a:rPr>
                        <a:t>2025Q3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753918"/>
                          </a:solidFill>
                          <a:effectLst/>
                          <a:latin typeface="BentonSans Regular" panose="02000503040000020004" pitchFamily="50" charset="0"/>
                        </a:rPr>
                        <a:t>2025Q4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250141"/>
                  </a:ext>
                </a:extLst>
              </a:tr>
              <a:tr h="3166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Activities Of Households As Employers;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24.1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23.8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26.6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25.4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29.5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30.4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26.4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6991"/>
                  </a:ext>
                </a:extLst>
              </a:tr>
              <a:tr h="3166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Wholesale And Retail Trade; Repair Of Motor Vehicles And Motorcycles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29.1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25.7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31.1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27.9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28.9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24.5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23.5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001243"/>
                  </a:ext>
                </a:extLst>
              </a:tr>
              <a:tr h="3166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 Construction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19.8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15.1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18.6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14.0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17.2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18.1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21.3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677423"/>
                  </a:ext>
                </a:extLst>
              </a:tr>
              <a:tr h="3166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Manufacturing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8.7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10.7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5.1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7.3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11.0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4.3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8.1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884030"/>
                  </a:ext>
                </a:extLst>
              </a:tr>
              <a:tr h="3166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Transportation and Storage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3.6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7.5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4.4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2.0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3.5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2.5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5.9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90826"/>
                  </a:ext>
                </a:extLst>
              </a:tr>
              <a:tr h="3166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Tot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85.2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82.9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85.7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76.6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90.1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79.8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85.2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50764"/>
                  </a:ext>
                </a:extLst>
              </a:tr>
              <a:tr h="316614">
                <a:tc gridSpan="8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Memorandum item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273376"/>
                  </a:ext>
                </a:extLst>
              </a:tr>
              <a:tr h="3166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1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Agriculture, Forestry And Fishing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1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1.7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1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1.3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1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2.1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1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1.3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1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2.1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1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1.3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1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1.3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972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1081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74F24-41BC-35E4-FE49-5788644EF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63D0C11-E454-02E3-49BF-27BF5ABE473B}"/>
              </a:ext>
            </a:extLst>
          </p:cNvPr>
          <p:cNvSpPr txBox="1">
            <a:spLocks/>
          </p:cNvSpPr>
          <p:nvPr/>
        </p:nvSpPr>
        <p:spPr>
          <a:xfrm>
            <a:off x="2703455" y="1467231"/>
            <a:ext cx="9579935" cy="720730"/>
          </a:xfrm>
          <a:prstGeom prst="rect">
            <a:avLst/>
          </a:prstGeom>
          <a:ln>
            <a:noFill/>
            <a:prstDash val="sysDash"/>
          </a:ln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M3 grew by 18.2 % in 2025Q4 from 18.8% recorded in 2024Q4	</a:t>
            </a:r>
          </a:p>
          <a:p>
            <a:pPr marR="0" lvl="1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CPS and NCG are the main drivers of the growth, contributing 18.0% and 8.5%, respectively.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4E28B7-1799-A9F2-8DC9-EDE47779122F}"/>
              </a:ext>
            </a:extLst>
          </p:cNvPr>
          <p:cNvSpPr txBox="1"/>
          <p:nvPr/>
        </p:nvSpPr>
        <p:spPr>
          <a:xfrm>
            <a:off x="0" y="596782"/>
            <a:ext cx="101476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CF7EA"/>
                </a:solidFill>
                <a:effectLst/>
                <a:uLnTx/>
                <a:uFillTx/>
                <a:latin typeface="BentonSans Bold" panose="02000503040000020004" pitchFamily="50" charset="0"/>
                <a:ea typeface="+mn-ea"/>
                <a:cs typeface="+mn-cs"/>
              </a:rPr>
              <a:t>Monetary aggregates developments in 2025Q4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8139720-3BB0-D394-EA17-7B26DE7F9031}"/>
              </a:ext>
            </a:extLst>
          </p:cNvPr>
          <p:cNvSpPr txBox="1">
            <a:spLocks/>
          </p:cNvSpPr>
          <p:nvPr/>
        </p:nvSpPr>
        <p:spPr>
          <a:xfrm>
            <a:off x="185058" y="5480997"/>
            <a:ext cx="6043702" cy="1310562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  <a:prstDash val="sysDash"/>
          </a:ln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NFA: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+1.8%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in 2025Q4 vs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52.6%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in 2024Q4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CPS: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+21.6%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in 2025Q4 vs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14.3%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in 2024Q4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BentonSans Regular" panose="02000503040000020004" pitchFamily="50" charset="0"/>
              <a:ea typeface="+mn-ea"/>
              <a:cs typeface="+mn-cs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1F9D03-0F61-02D2-9581-89E26E2BB8FD}"/>
              </a:ext>
            </a:extLst>
          </p:cNvPr>
          <p:cNvSpPr txBox="1">
            <a:spLocks/>
          </p:cNvSpPr>
          <p:nvPr/>
        </p:nvSpPr>
        <p:spPr>
          <a:xfrm>
            <a:off x="6287778" y="5480997"/>
            <a:ext cx="5719165" cy="1310562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  <a:prstDash val="sysDash"/>
          </a:ln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FCD: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+20.4%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in 2025Q4 vs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25.8%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in 2024Q4	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DD: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+18.2%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in 2025Q4 vs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 24.9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%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in 2024Q4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TSD: 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+15.6%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in 2025Q4 vs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3.4%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in 2024Q4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CIC:  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+14.3%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in 2025Q4 vs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5.9%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BentonSans Regular" panose="02000503040000020004" pitchFamily="50" charset="0"/>
                <a:ea typeface="+mn-ea"/>
                <a:cs typeface="+mn-cs"/>
              </a:rPr>
              <a:t>in 2024Q4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BentonSans Regular" panose="02000503040000020004" pitchFamily="50" charset="0"/>
              <a:ea typeface="+mn-ea"/>
              <a:cs typeface="+mn-cs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DEF9B92-4794-A925-1DCB-46DC872022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0678198"/>
              </p:ext>
            </p:extLst>
          </p:nvPr>
        </p:nvGraphicFramePr>
        <p:xfrm>
          <a:off x="185057" y="2426209"/>
          <a:ext cx="6043703" cy="2964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22996FE-DD19-C198-77A7-4301C250A1E1}"/>
              </a:ext>
            </a:extLst>
          </p:cNvPr>
          <p:cNvGraphicFramePr>
            <a:graphicFrameLocks/>
          </p:cNvGraphicFramePr>
          <p:nvPr/>
        </p:nvGraphicFramePr>
        <p:xfrm>
          <a:off x="6287778" y="2426209"/>
          <a:ext cx="5719165" cy="296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9944441-5A8A-75A5-4E7A-1A69E4B1F2DF}"/>
              </a:ext>
            </a:extLst>
          </p:cNvPr>
          <p:cNvSpPr txBox="1"/>
          <p:nvPr/>
        </p:nvSpPr>
        <p:spPr>
          <a:xfrm>
            <a:off x="266290" y="1303877"/>
            <a:ext cx="2352104" cy="107721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BentonSans Regular" panose="02000503040000020004" pitchFamily="50" charset="0"/>
              </a:rPr>
              <a:t>Monetary Projections  in Sep 2025</a:t>
            </a:r>
          </a:p>
          <a:p>
            <a:r>
              <a:rPr lang="en-US" sz="1600" b="1" dirty="0">
                <a:latin typeface="BentonSans Regular" panose="02000503040000020004" pitchFamily="50" charset="0"/>
              </a:rPr>
              <a:t>M3 growth</a:t>
            </a:r>
            <a:r>
              <a:rPr lang="en-US" sz="1600" dirty="0">
                <a:latin typeface="BentonSans Regular" panose="02000503040000020004" pitchFamily="50" charset="0"/>
              </a:rPr>
              <a:t>: 14.7%</a:t>
            </a:r>
          </a:p>
          <a:p>
            <a:r>
              <a:rPr lang="en-US" sz="1600" b="1" dirty="0">
                <a:latin typeface="BentonSans Regular" panose="02000503040000020004" pitchFamily="50" charset="0"/>
              </a:rPr>
              <a:t>CPS growth</a:t>
            </a:r>
            <a:r>
              <a:rPr lang="en-US" sz="1600" dirty="0">
                <a:latin typeface="BentonSans Regular" panose="02000503040000020004" pitchFamily="50" charset="0"/>
              </a:rPr>
              <a:t>: 17.3%</a:t>
            </a:r>
          </a:p>
        </p:txBody>
      </p:sp>
    </p:spTree>
    <p:extLst>
      <p:ext uri="{BB962C8B-B14F-4D97-AF65-F5344CB8AC3E}">
        <p14:creationId xmlns:p14="http://schemas.microsoft.com/office/powerpoint/2010/main" val="1041821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10B35F-245E-96A3-32E8-98E61BA0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95B133-2A65-E5BB-A250-77E49A9CF98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92306" y="6350924"/>
            <a:ext cx="9807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spc="-5" dirty="0">
                <a:solidFill>
                  <a:srgbClr val="FEF8ED"/>
                </a:solidFill>
                <a:latin typeface="Aptos" panose="020B0004020202020204" pitchFamily="34" charset="0"/>
                <a:cs typeface="BentonSans Regular"/>
              </a:rPr>
              <a:t>Our Core </a:t>
            </a:r>
            <a:r>
              <a:rPr lang="en-US" sz="1600" b="1" spc="-40" dirty="0">
                <a:solidFill>
                  <a:srgbClr val="FEF8ED"/>
                </a:solidFill>
                <a:latin typeface="Aptos" panose="020B0004020202020204" pitchFamily="34" charset="0"/>
                <a:cs typeface="BentonSans Regular"/>
              </a:rPr>
              <a:t>Values: </a:t>
            </a:r>
            <a:r>
              <a:rPr lang="en-US" sz="1600" spc="-15" dirty="0">
                <a:solidFill>
                  <a:srgbClr val="FEF8ED"/>
                </a:solidFill>
                <a:latin typeface="Aptos" panose="020B0004020202020204" pitchFamily="34" charset="0"/>
                <a:cs typeface="BentonSans Regular"/>
              </a:rPr>
              <a:t>Integrity, </a:t>
            </a:r>
            <a:r>
              <a:rPr lang="en-US" sz="1600" dirty="0">
                <a:solidFill>
                  <a:srgbClr val="FEF8ED"/>
                </a:solidFill>
                <a:latin typeface="Aptos" panose="020B0004020202020204" pitchFamily="34" charset="0"/>
                <a:cs typeface="BentonSans Regular"/>
              </a:rPr>
              <a:t>Collaboration and</a:t>
            </a:r>
            <a:r>
              <a:rPr lang="en-US" sz="1600" spc="-160" dirty="0">
                <a:solidFill>
                  <a:srgbClr val="FEF8ED"/>
                </a:solidFill>
                <a:latin typeface="Aptos" panose="020B0004020202020204" pitchFamily="34" charset="0"/>
                <a:cs typeface="BentonSans Regular"/>
              </a:rPr>
              <a:t> </a:t>
            </a:r>
            <a:r>
              <a:rPr lang="en-US" sz="1600" spc="-15" dirty="0">
                <a:solidFill>
                  <a:srgbClr val="FEF8ED"/>
                </a:solidFill>
                <a:latin typeface="Aptos" panose="020B0004020202020204" pitchFamily="34" charset="0"/>
                <a:cs typeface="BentonSans Regular"/>
              </a:rPr>
              <a:t>Excellence</a:t>
            </a:r>
            <a:endParaRPr lang="en-US" sz="1600" dirty="0">
              <a:latin typeface="Aptos" panose="020B0004020202020204" pitchFamily="34" charset="0"/>
              <a:cs typeface="BentonSans Regular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7F24FE-C1EA-2D6C-FFE2-4D9405285A13}"/>
              </a:ext>
            </a:extLst>
          </p:cNvPr>
          <p:cNvCxnSpPr>
            <a:cxnSpLocks/>
          </p:cNvCxnSpPr>
          <p:nvPr/>
        </p:nvCxnSpPr>
        <p:spPr>
          <a:xfrm>
            <a:off x="0" y="6270570"/>
            <a:ext cx="12192000" cy="0"/>
          </a:xfrm>
          <a:prstGeom prst="line">
            <a:avLst/>
          </a:prstGeom>
          <a:ln>
            <a:solidFill>
              <a:srgbClr val="FCF7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6FAD2427-DE59-C665-0449-880E03B5C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1367" y="3175187"/>
            <a:ext cx="5541915" cy="79772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THANK YOU</a:t>
            </a:r>
            <a:endParaRPr lang="x-none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479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753918">
      <a:dk1>
        <a:srgbClr val="FCF7EA"/>
      </a:dk1>
      <a:lt1>
        <a:srgbClr val="753818"/>
      </a:lt1>
      <a:dk2>
        <a:srgbClr val="FCF7EA"/>
      </a:dk2>
      <a:lt2>
        <a:srgbClr val="753818"/>
      </a:lt2>
      <a:accent1>
        <a:srgbClr val="753818"/>
      </a:accent1>
      <a:accent2>
        <a:srgbClr val="DBA628"/>
      </a:accent2>
      <a:accent3>
        <a:srgbClr val="AB892C"/>
      </a:accent3>
      <a:accent4>
        <a:srgbClr val="C1AA95"/>
      </a:accent4>
      <a:accent5>
        <a:srgbClr val="E4C988"/>
      </a:accent5>
      <a:accent6>
        <a:srgbClr val="929292"/>
      </a:accent6>
      <a:hlink>
        <a:srgbClr val="61311B"/>
      </a:hlink>
      <a:folHlink>
        <a:srgbClr val="9F823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明朝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3c7caa-cc4a-497f-999c-9672b516b87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B43B0D0D51904D85A533D60EB85E30" ma:contentTypeVersion="15" ma:contentTypeDescription="Create a new document." ma:contentTypeScope="" ma:versionID="14bc1e194e09410d2f3d2b183e0dfb7d">
  <xsd:schema xmlns:xsd="http://www.w3.org/2001/XMLSchema" xmlns:xs="http://www.w3.org/2001/XMLSchema" xmlns:p="http://schemas.microsoft.com/office/2006/metadata/properties" xmlns:ns3="913c7caa-cc4a-497f-999c-9672b516b876" xmlns:ns4="c8114a74-852a-4c0b-a1b4-c8696decb2e0" targetNamespace="http://schemas.microsoft.com/office/2006/metadata/properties" ma:root="true" ma:fieldsID="53a0e7f85a4e8d752df19cb35a46a2dd" ns3:_="" ns4:_="">
    <xsd:import namespace="913c7caa-cc4a-497f-999c-9672b516b876"/>
    <xsd:import namespace="c8114a74-852a-4c0b-a1b4-c8696decb2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3c7caa-cc4a-497f-999c-9672b516b8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114a74-852a-4c0b-a1b4-c8696decb2e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69073B3-02F3-42C8-8597-BDF1F4B77D98}">
  <ds:schemaRefs>
    <ds:schemaRef ds:uri="http://purl.org/dc/terms/"/>
    <ds:schemaRef ds:uri="913c7caa-cc4a-497f-999c-9672b516b876"/>
    <ds:schemaRef ds:uri="http://www.w3.org/XML/1998/namespace"/>
    <ds:schemaRef ds:uri="http://schemas.microsoft.com/office/2006/documentManagement/types"/>
    <ds:schemaRef ds:uri="c8114a74-852a-4c0b-a1b4-c8696decb2e0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38982F7-C037-431D-9EC7-2DDED6D8D3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7895F0-FDA0-4A03-B837-479BD12794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3c7caa-cc4a-497f-999c-9672b516b876"/>
    <ds:schemaRef ds:uri="c8114a74-852a-4c0b-a1b4-c8696decb2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12997</TotalTime>
  <Words>932</Words>
  <Application>Microsoft Office PowerPoint</Application>
  <PresentationFormat>Widescreen</PresentationFormat>
  <Paragraphs>239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Aptos</vt:lpstr>
      <vt:lpstr>Arial</vt:lpstr>
      <vt:lpstr>BentonSans Black</vt:lpstr>
      <vt:lpstr>BentonSans Bold</vt:lpstr>
      <vt:lpstr>BentonSans Book</vt:lpstr>
      <vt:lpstr>BentonSans Medium</vt:lpstr>
      <vt:lpstr>BentonSans Regular</vt:lpstr>
      <vt:lpstr>Calibri</vt:lpstr>
      <vt:lpstr>Courier New</vt:lpstr>
      <vt:lpstr>Office Theme</vt:lpstr>
      <vt:lpstr>PowerPoint Presentation</vt:lpstr>
      <vt:lpstr>MONETARY SECTOR DEVELOPMENTS</vt:lpstr>
      <vt:lpstr>Key Message</vt:lpstr>
      <vt:lpstr>Liquidity developments</vt:lpstr>
      <vt:lpstr>Transmission Mechanism</vt:lpstr>
      <vt:lpstr>Transmission Mechanism</vt:lpstr>
      <vt:lpstr>Transmission Mechanism</vt:lpstr>
      <vt:lpstr>New Authorized Loans (NALs) Developments</vt:lpstr>
      <vt:lpstr>Corporate loans vs. Individual loans by maturity</vt:lpstr>
      <vt:lpstr>New Authorized Loans (NALs) Developments (CTD)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mcyamwa@bnr.rw</dc:creator>
  <cp:lastModifiedBy>MUGENZI, Patrick</cp:lastModifiedBy>
  <cp:revision>76</cp:revision>
  <dcterms:created xsi:type="dcterms:W3CDTF">2022-09-12T10:32:34Z</dcterms:created>
  <dcterms:modified xsi:type="dcterms:W3CDTF">2026-02-17T12:51:50Z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e2531243-edee-4eb5-9a19-b65f2442e817</vt:lpwstr>
  </property>
  <property fmtid="{D5CDD505-2E9C-101B-9397-08002B2CF9AE}" pid="3" name="Classification">
    <vt:lpwstr>PUBLIC</vt:lpwstr>
  </property>
  <property fmtid="{D5CDD505-2E9C-101B-9397-08002B2CF9AE}" pid="4" name="MSIP_Label_55c5eb89-a1ec-4cf8-b8d4-f6a23bcf8f72_Enabled">
    <vt:lpwstr>true</vt:lpwstr>
  </property>
  <property fmtid="{D5CDD505-2E9C-101B-9397-08002B2CF9AE}" pid="5" name="MSIP_Label_55c5eb89-a1ec-4cf8-b8d4-f6a23bcf8f72_SetDate">
    <vt:lpwstr>2026-01-06T10:43:07Z</vt:lpwstr>
  </property>
  <property fmtid="{D5CDD505-2E9C-101B-9397-08002B2CF9AE}" pid="6" name="MSIP_Label_55c5eb89-a1ec-4cf8-b8d4-f6a23bcf8f72_Method">
    <vt:lpwstr>Privileged</vt:lpwstr>
  </property>
  <property fmtid="{D5CDD505-2E9C-101B-9397-08002B2CF9AE}" pid="7" name="MSIP_Label_55c5eb89-a1ec-4cf8-b8d4-f6a23bcf8f72_Name">
    <vt:lpwstr>PUBLIC</vt:lpwstr>
  </property>
  <property fmtid="{D5CDD505-2E9C-101B-9397-08002B2CF9AE}" pid="8" name="MSIP_Label_55c5eb89-a1ec-4cf8-b8d4-f6a23bcf8f72_SiteId">
    <vt:lpwstr>968fd953-3deb-4543-8ab9-8b0f19e71ed9</vt:lpwstr>
  </property>
  <property fmtid="{D5CDD505-2E9C-101B-9397-08002B2CF9AE}" pid="9" name="MSIP_Label_55c5eb89-a1ec-4cf8-b8d4-f6a23bcf8f72_ActionId">
    <vt:lpwstr>d1a6accc-b732-435e-8033-fb7fc9ab576d</vt:lpwstr>
  </property>
  <property fmtid="{D5CDD505-2E9C-101B-9397-08002B2CF9AE}" pid="10" name="MSIP_Label_55c5eb89-a1ec-4cf8-b8d4-f6a23bcf8f72_ContentBits">
    <vt:lpwstr>0</vt:lpwstr>
  </property>
  <property fmtid="{D5CDD505-2E9C-101B-9397-08002B2CF9AE}" pid="11" name="MSIP_Label_55c5eb89-a1ec-4cf8-b8d4-f6a23bcf8f72_Tag">
    <vt:lpwstr>10, 0, 1, 1</vt:lpwstr>
  </property>
  <property fmtid="{D5CDD505-2E9C-101B-9397-08002B2CF9AE}" pid="12" name="ContentTypeId">
    <vt:lpwstr>0x01010012B43B0D0D51904D85A533D60EB85E30</vt:lpwstr>
  </property>
</Properties>
</file>