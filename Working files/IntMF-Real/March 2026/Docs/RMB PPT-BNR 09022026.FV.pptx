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3"/>
  </p:notesMasterIdLst>
  <p:sldIdLst>
    <p:sldId id="2147472793" r:id="rId3"/>
    <p:sldId id="257" r:id="rId4"/>
    <p:sldId id="258" r:id="rId5"/>
    <p:sldId id="262" r:id="rId6"/>
    <p:sldId id="260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5758FB7-9AC5-4552-8A53-C91805E547FA}" styleName="Themed Style 1 –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06799F8-075E-4A3A-A7F6-7FBC6576F1A4}" styleName="Themed Style 2 –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Themed Style 2 –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46F890A9-2807-4EBB-B81D-B2AA78EC7F39}" styleName="Dark Style 2 –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D27102A9-8310-4765-A935-A1911B00CA55}" styleName="Light Style 1 –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Themed Style 1 –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–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E171933-4619-4E11-9A3F-F7608DF75F80}" styleName="Medium Style 1 –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FABFCF23-3B69-468F-B69F-88F6DE6A72F2}" styleName="Medium Style 1 –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DBED569-4797-4DF1-A0F4-6AAB3CD982D8}" styleName="Light Style 3 –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–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–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990" autoAdjust="0"/>
    <p:restoredTop sz="94660"/>
  </p:normalViewPr>
  <p:slideViewPr>
    <p:cSldViewPr snapToGrid="0">
      <p:cViewPr varScale="1">
        <p:scale>
          <a:sx n="76" d="100"/>
          <a:sy n="76" d="100"/>
        </p:scale>
        <p:origin x="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B340C6-F12E-47FA-A4E6-E5AA19B57C80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959B91-4095-43D7-A304-730455FF36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809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FE2736-E834-4B12-BA6B-D1344A45B33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5321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12D83-B2AD-465C-A96F-1476BA4504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CA89AB-B439-499B-A27C-0BFC322E0B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8F5D1A-5388-406F-A7F7-31AD83B2C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C83C0-E643-447D-BC57-8A5A6CEF2F7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70B828-1E58-4032-9DB7-8279C1D10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16809B-FFAF-41EB-A243-B1C48B8C9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A01EE-385D-42D9-BB81-7A1A3D6A0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3589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50DAA-74B3-402F-97F2-73523F38B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C1AA1B-C9B8-4881-A2CD-B82E337AC3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6FDD46-CE34-407B-AB10-F761D8023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C83C0-E643-447D-BC57-8A5A6CEF2F7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0F8442-B03B-49B6-BD4B-724AAE541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427710-EDC3-41E9-98CD-B1928ABCA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A01EE-385D-42D9-BB81-7A1A3D6A0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111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50704-92B5-4DCA-A8DD-ED0C16A40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14F063-EF0D-41B4-878B-03799038E2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CF032C-8FC4-4269-B3B9-50522F358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C83C0-E643-447D-BC57-8A5A6CEF2F7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EB4DA4-B86B-4905-BC19-C1195A80A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F890ED-DB5D-486D-9E8A-AA526904D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A01EE-385D-42D9-BB81-7A1A3D6A0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990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26CA9-42AF-4032-B37B-0EFB5C8AE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D02E71-1A3C-44CA-8E93-39AA42782D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D035FD-602D-4E00-82C0-0615162BEE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16E370-5443-4ED3-A2A0-C4C40E286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C83C0-E643-447D-BC57-8A5A6CEF2F7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536C84-5C43-4508-981E-30C913CAC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82D1A6-7291-4134-9AC7-CCAE755C5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A01EE-385D-42D9-BB81-7A1A3D6A0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2593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EC49F-D51B-4921-B9B7-E8FD7719F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D10701-A2FE-4219-9B1C-F07A94BB58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DE461B-FE8A-49CD-9EA0-4BE4D92C73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C2AD57-56E4-47A6-B9B5-9784B5243F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BCEC69-E4B7-4F0F-B37C-B782231A82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B25AB3-E954-461C-99F8-B8A130DD1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C83C0-E643-447D-BC57-8A5A6CEF2F7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326326B-C50D-4FE4-95B6-41BCDDEAB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325EAA-7AEF-4893-8B9D-532D5EA9E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A01EE-385D-42D9-BB81-7A1A3D6A0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2937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ABB3A-CA5F-4111-8E0E-29B3A7A9E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143862-0A91-41B8-8CDF-26389CBF2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C83C0-E643-447D-BC57-8A5A6CEF2F7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338D15-9747-4180-A9AA-DA33E422A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433B92-979F-4EB4-AA93-7DF70A6EF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A01EE-385D-42D9-BB81-7A1A3D6A0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8582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A9265F-EBE1-4525-BEF7-4BEC2D2EA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C83C0-E643-447D-BC57-8A5A6CEF2F7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223705-3857-4F06-93C9-35CF4775B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04CAA3-8A6E-4FA4-A4FA-4BEA46B6F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A01EE-385D-42D9-BB81-7A1A3D6A0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8175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9B024-BF58-4195-8E6C-B4B00FF31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FCB211-3DE1-4288-8A84-B2CC581630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A66AD0-78CE-4119-8BA2-D6522055A2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86611B-5BC7-4E22-B286-D7814FD46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C83C0-E643-447D-BC57-8A5A6CEF2F7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49FC0A-8BAD-4927-AAA2-9CFC1FF6B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583EB9-1648-4AAB-BCA3-F5A3A4801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A01EE-385D-42D9-BB81-7A1A3D6A0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6577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14B02-4A93-475B-9483-2906A0FF3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44FD30D-DA7B-4856-B640-C41AAC2DC3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4C059E-B2DF-456E-A977-A9A5F63503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5B27DA-0C83-45C2-8147-E853FE4C4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C83C0-E643-447D-BC57-8A5A6CEF2F7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DB03DB-4348-49D3-9FF2-70FB52B89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BCBD8F-BF15-41E1-8261-A912E01B4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A01EE-385D-42D9-BB81-7A1A3D6A0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2433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9F07E-9E80-4CEC-951B-D9819CA47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DF4681-061C-464C-8F35-0EDB65F3EB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C57E8A-9236-413E-8B2A-53331571F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C83C0-E643-447D-BC57-8A5A6CEF2F7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DF0F07-192E-434C-ADBB-411EC3D86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580705-B992-4769-A897-38CFFD4FF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A01EE-385D-42D9-BB81-7A1A3D6A0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2693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2D23622-5E6A-44F4-AF35-5F93AB7C22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53EC10-4ECC-4626-B618-9BB42D5687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D797BF-E46A-4B06-AA2F-12D4A55E0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C83C0-E643-447D-BC57-8A5A6CEF2F7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BAEA1-D3C9-4991-9947-F0D1162AF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235902-8847-45DA-85E7-313798712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A01EE-385D-42D9-BB81-7A1A3D6A0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7813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rickwork-SD-R1acrop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3" name="Freeform 12"/>
          <p:cNvSpPr/>
          <p:nvPr/>
        </p:nvSpPr>
        <p:spPr>
          <a:xfrm>
            <a:off x="-11289" y="-16933"/>
            <a:ext cx="11672712" cy="6451600"/>
          </a:xfrm>
          <a:custGeom>
            <a:avLst/>
            <a:gdLst/>
            <a:ahLst/>
            <a:cxnLst/>
            <a:rect l="l" t="t" r="r" b="b"/>
            <a:pathLst>
              <a:path w="8754534" h="6451600">
                <a:moveTo>
                  <a:pt x="8373534" y="0"/>
                </a:moveTo>
                <a:lnTo>
                  <a:pt x="8754534" y="5994400"/>
                </a:lnTo>
                <a:lnTo>
                  <a:pt x="0" y="6451600"/>
                </a:lnTo>
                <a:lnTo>
                  <a:pt x="0" y="0"/>
                </a:lnTo>
                <a:lnTo>
                  <a:pt x="8373534" y="0"/>
                </a:lnTo>
                <a:close/>
              </a:path>
            </a:pathLst>
          </a:custGeom>
          <a:ln>
            <a:noFill/>
          </a:ln>
          <a:effectLst>
            <a:outerShdw blurRad="98425" dist="76200" dir="4380000" algn="tl" rotWithShape="0">
              <a:srgbClr val="000000">
                <a:alpha val="6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Freeform 22"/>
          <p:cNvSpPr/>
          <p:nvPr/>
        </p:nvSpPr>
        <p:spPr>
          <a:xfrm>
            <a:off x="-13838" y="4445001"/>
            <a:ext cx="11286260" cy="1715811"/>
          </a:xfrm>
          <a:custGeom>
            <a:avLst/>
            <a:gdLst/>
            <a:ahLst/>
            <a:cxnLst/>
            <a:rect l="l" t="t" r="r" b="b"/>
            <a:pathLst>
              <a:path w="8428428" h="1878553">
                <a:moveTo>
                  <a:pt x="0" y="438229"/>
                </a:moveTo>
                <a:lnTo>
                  <a:pt x="8343246" y="0"/>
                </a:lnTo>
                <a:lnTo>
                  <a:pt x="8428428" y="1424838"/>
                </a:lnTo>
                <a:lnTo>
                  <a:pt x="7515" y="1878553"/>
                </a:lnTo>
                <a:lnTo>
                  <a:pt x="0" y="438229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9" name="Freeform 28"/>
          <p:cNvSpPr/>
          <p:nvPr/>
        </p:nvSpPr>
        <p:spPr>
          <a:xfrm>
            <a:off x="-3818" y="1"/>
            <a:ext cx="7748313" cy="321615"/>
          </a:xfrm>
          <a:custGeom>
            <a:avLst/>
            <a:gdLst/>
            <a:ahLst/>
            <a:cxnLst/>
            <a:rect l="l" t="t" r="r" b="b"/>
            <a:pathLst>
              <a:path w="5811235" h="321615">
                <a:moveTo>
                  <a:pt x="0" y="0"/>
                </a:moveTo>
                <a:lnTo>
                  <a:pt x="5811235" y="0"/>
                </a:lnTo>
                <a:lnTo>
                  <a:pt x="1" y="321615"/>
                </a:lnTo>
                <a:cubicBezTo>
                  <a:pt x="1" y="214410"/>
                  <a:pt x="0" y="107205"/>
                  <a:pt x="0" y="0"/>
                </a:cubicBez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0" name="Freeform 29"/>
          <p:cNvSpPr/>
          <p:nvPr/>
        </p:nvSpPr>
        <p:spPr>
          <a:xfrm rot="21420000">
            <a:off x="-227691" y="213023"/>
            <a:ext cx="11307379" cy="5746008"/>
          </a:xfrm>
          <a:custGeom>
            <a:avLst/>
            <a:gdLst/>
            <a:ahLst/>
            <a:cxnLst/>
            <a:rect l="l" t="t" r="r" b="b"/>
            <a:pathLst>
              <a:path w="11307378" h="5746008">
                <a:moveTo>
                  <a:pt x="11270997" y="0"/>
                </a:moveTo>
                <a:lnTo>
                  <a:pt x="11307378" y="5746008"/>
                </a:lnTo>
                <a:lnTo>
                  <a:pt x="1" y="5743137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601888" y="668338"/>
            <a:ext cx="10044699" cy="2766528"/>
          </a:xfrm>
        </p:spPr>
        <p:txBody>
          <a:bodyPr anchor="b">
            <a:normAutofit/>
          </a:bodyPr>
          <a:lstStyle>
            <a:lvl1pPr algn="r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739283" y="3446831"/>
            <a:ext cx="10016080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4892095" y="4714242"/>
            <a:ext cx="6143653" cy="942356"/>
          </a:xfrm>
        </p:spPr>
        <p:txBody>
          <a:bodyPr/>
          <a:lstStyle>
            <a:lvl1pPr algn="ctr">
              <a:defRPr sz="42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B31694F6-80C6-40D9-B3BD-348B6593FBF6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16178" y="4954636"/>
            <a:ext cx="3982759" cy="918361"/>
          </a:xfrm>
        </p:spPr>
        <p:txBody>
          <a:bodyPr vert="horz" lIns="91440" tIns="45720" rIns="91440" bIns="45720" rtlCol="0" anchor="ctr"/>
          <a:lstStyle>
            <a:lvl1pPr algn="r">
              <a:defRPr lang="en-US" sz="4200" dirty="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9868691" y="3819948"/>
            <a:ext cx="907187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76C8025-4AF3-48BC-875E-7BF47A0D9465}" type="slidenum">
              <a:rPr lang="en-US" smtClean="0"/>
              <a:t>‹#›</a:t>
            </a:fld>
            <a:endParaRPr lang="en-US"/>
          </a:p>
        </p:txBody>
      </p:sp>
      <p:sp>
        <p:nvSpPr>
          <p:cNvPr id="33" name="5-Point Star 32"/>
          <p:cNvSpPr/>
          <p:nvPr/>
        </p:nvSpPr>
        <p:spPr>
          <a:xfrm rot="21420000">
            <a:off x="4162602" y="5057183"/>
            <a:ext cx="687181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1088876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1" y="2063396"/>
            <a:ext cx="10394707" cy="33111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94F6-80C6-40D9-B3BD-348B6593FBF6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C8025-4AF3-48BC-875E-7BF47A0D9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2921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2"/>
            <a:ext cx="10394707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3742267"/>
            <a:ext cx="10394707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94F6-80C6-40D9-B3BD-348B6593FBF6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C8025-4AF3-48BC-875E-7BF47A0D9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2627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3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5088715" cy="3311189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5993971" y="2063396"/>
            <a:ext cx="5086539" cy="3311189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94F6-80C6-40D9-B3BD-348B6593FBF6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C8025-4AF3-48BC-875E-7BF47A0D9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8761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6093" y="2063396"/>
            <a:ext cx="4788423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803" y="2861733"/>
            <a:ext cx="5088712" cy="2512852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87121" y="2063396"/>
            <a:ext cx="479556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5993970" y="2861733"/>
            <a:ext cx="5088713" cy="2512852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94F6-80C6-40D9-B3BD-348B6593FBF6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C8025-4AF3-48BC-875E-7BF47A0D9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8676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94F6-80C6-40D9-B3BD-348B6593FBF6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C8025-4AF3-48BC-875E-7BF47A0D9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4929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94F6-80C6-40D9-B3BD-348B6593FBF6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C8025-4AF3-48BC-875E-7BF47A0D9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30645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46134" y="685802"/>
            <a:ext cx="6034375" cy="46887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643" y="2709054"/>
            <a:ext cx="4126861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94F6-80C6-40D9-B3BD-348B6593FBF6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C8025-4AF3-48BC-875E-7BF47A0D9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60268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5877563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63654" y="2"/>
            <a:ext cx="4216855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2" y="2709054"/>
            <a:ext cx="587756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94F6-80C6-40D9-B3BD-348B6593FBF6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C8025-4AF3-48BC-875E-7BF47A0D9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7548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4106333"/>
            <a:ext cx="10394708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2" y="685801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80" y="4702923"/>
            <a:ext cx="10394728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94F6-80C6-40D9-B3BD-348B6593FBF6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C8025-4AF3-48BC-875E-7BF47A0D9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95261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685802"/>
            <a:ext cx="10396903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81" y="4106333"/>
            <a:ext cx="10394729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94F6-80C6-40D9-B3BD-348B6593FBF6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C8025-4AF3-48BC-875E-7BF47A0D9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90476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733" y="685800"/>
            <a:ext cx="9525020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50265" y="3610032"/>
            <a:ext cx="8667956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4106334"/>
            <a:ext cx="10396883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94F6-80C6-40D9-B3BD-348B6593FBF6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C8025-4AF3-48BC-875E-7BF47A0D9465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539040" y="8878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29529" y="290648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0094912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1723856"/>
            <a:ext cx="10394707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4247468"/>
            <a:ext cx="10394707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94F6-80C6-40D9-B3BD-348B6593FBF6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C8025-4AF3-48BC-875E-7BF47A0D9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46132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1" y="685802"/>
            <a:ext cx="10394707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3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3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3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94F6-80C6-40D9-B3BD-348B6593FBF6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C8025-4AF3-48BC-875E-7BF47A0D9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7723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801" y="685802"/>
            <a:ext cx="10396883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9184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780" y="2063397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91840" y="4389289"/>
            <a:ext cx="3310128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7411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235999" y="2063397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235998" y="4389286"/>
            <a:ext cx="3311540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68944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768819" y="4389284"/>
            <a:ext cx="3310128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94F6-80C6-40D9-B3BD-348B6593FBF6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C8025-4AF3-48BC-875E-7BF47A0D9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96946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1" y="2063396"/>
            <a:ext cx="10394707" cy="331119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94F6-80C6-40D9-B3BD-348B6593FBF6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C8025-4AF3-48BC-875E-7BF47A0D9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5791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5862" y="685802"/>
            <a:ext cx="2264647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2" y="685802"/>
            <a:ext cx="7904431" cy="4688785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94F6-80C6-40D9-B3BD-348B6593FBF6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C8025-4AF3-48BC-875E-7BF47A0D9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25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image" Target="../media/image3.jpg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CAE359-C6FC-4294-983E-245378EAF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274DE9-1C0A-4172-96F3-F298BE65FB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61C0FD-F5B9-4749-B8A2-7569B13CC8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CC83C0-E643-447D-BC57-8A5A6CEF2F7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601AA3-CF1F-45D5-B657-46AA1260DE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48D20B-81A5-4170-A544-4B76B4D362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9A01EE-385D-42D9-BB81-7A1A3D6A0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7610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rickwork-SD-R1acrop.jp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25397" y="2"/>
            <a:ext cx="12005351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85802"/>
            <a:ext cx="10396883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063396"/>
            <a:ext cx="10396883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B31694F6-80C6-40D9-B3BD-348B6593FBF6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2" y="5757334"/>
            <a:ext cx="549971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87121" y="5757334"/>
            <a:ext cx="907187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B76C8025-4AF3-48BC-875E-7BF47A0D9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667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emf"/><Relationship Id="rId3" Type="http://schemas.openxmlformats.org/officeDocument/2006/relationships/tags" Target="../tags/tag2.xml"/><Relationship Id="rId7" Type="http://schemas.openxmlformats.org/officeDocument/2006/relationships/oleObject" Target="../embeddings/oleObject1.bin"/><Relationship Id="rId2" Type="http://schemas.openxmlformats.org/officeDocument/2006/relationships/tags" Target="../tags/tag1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5.jpeg"/><Relationship Id="rId5" Type="http://schemas.openxmlformats.org/officeDocument/2006/relationships/notesSlide" Target="../notesSlides/notesSlide1.xml"/><Relationship Id="rId10" Type="http://schemas.openxmlformats.org/officeDocument/2006/relationships/image" Target="../media/image7.jpg"/><Relationship Id="rId4" Type="http://schemas.openxmlformats.org/officeDocument/2006/relationships/slideLayout" Target="../slideLayouts/slideLayout17.xml"/><Relationship Id="rId9" Type="http://schemas.openxmlformats.org/officeDocument/2006/relationships/image" Target="../media/image6.e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FC777F4-95F9-2EA0-9526-E4F62C43ED8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70051" y="-453270"/>
            <a:ext cx="12732102" cy="8220807"/>
          </a:xfrm>
          <a:prstGeom prst="rect">
            <a:avLst/>
          </a:prstGeom>
        </p:spPr>
      </p:pic>
      <p:graphicFrame>
        <p:nvGraphicFramePr>
          <p:cNvPr id="5" name="Object 4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8" name="think-cell Slide" r:id="rId7" imgW="471" imgH="472" progId="TCLayout.ActiveDocument.1">
                  <p:embed/>
                </p:oleObj>
              </mc:Choice>
              <mc:Fallback>
                <p:oleObj name="think-cell Slide" r:id="rId7" imgW="471" imgH="472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/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5400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 panose="020B0603020202020204" pitchFamily="34" charset="0"/>
              <a:ea typeface="+mn-ea"/>
              <a:cs typeface="+mn-cs"/>
              <a:sym typeface="Trebuchet MS" panose="020B0603020202020204" pitchFamily="34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98BB837-16C3-0B77-8D00-914511F927B3}"/>
              </a:ext>
            </a:extLst>
          </p:cNvPr>
          <p:cNvPicPr>
            <a:picLocks noChangeAspect="1"/>
          </p:cNvPicPr>
          <p:nvPr/>
        </p:nvPicPr>
        <p:blipFill>
          <a:blip r:embed="rId9">
            <a:alphaModFix amt="85000"/>
          </a:blip>
          <a:srcRect l="4719" r="4981"/>
          <a:stretch>
            <a:fillRect/>
          </a:stretch>
        </p:blipFill>
        <p:spPr>
          <a:xfrm>
            <a:off x="0" y="2581620"/>
            <a:ext cx="12192000" cy="2444170"/>
          </a:xfrm>
          <a:prstGeom prst="rect">
            <a:avLst/>
          </a:prstGeom>
        </p:spPr>
      </p:pic>
      <p:sp>
        <p:nvSpPr>
          <p:cNvPr id="16" name="Title 2">
            <a:extLst>
              <a:ext uri="{FF2B5EF4-FFF2-40B4-BE49-F238E27FC236}">
                <a16:creationId xmlns:a16="http://schemas.microsoft.com/office/drawing/2014/main" id="{448D3808-211D-38A9-DF18-B3A57EF7B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872" y="3103136"/>
            <a:ext cx="11732256" cy="553998"/>
          </a:xfrm>
        </p:spPr>
        <p:txBody>
          <a:bodyPr anchor="ctr"/>
          <a:lstStyle/>
          <a:p>
            <a:pPr algn="ctr"/>
            <a:r>
              <a:rPr lang="en-GB" sz="3200" b="1" dirty="0">
                <a:solidFill>
                  <a:schemeClr val="bg1"/>
                </a:solidFill>
                <a:latin typeface="ITC Avant Garde Gothic Pro Demi" panose="020B0702020202090204" pitchFamily="34" charset="77"/>
                <a:cs typeface="Arial Black" panose="020B0604020202020204" pitchFamily="34" charset="0"/>
              </a:rPr>
              <a:t>Mineral Export Performance and Projection for the year 2026-2030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E757292-4B40-6067-B2E5-6549BB3CD317}"/>
              </a:ext>
            </a:extLst>
          </p:cNvPr>
          <p:cNvSpPr txBox="1"/>
          <p:nvPr/>
        </p:nvSpPr>
        <p:spPr>
          <a:xfrm rot="21569700">
            <a:off x="4545928" y="4231105"/>
            <a:ext cx="28475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C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11 February, 2026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A0F9D7D-2EC9-2735-238B-24A041B8D9E8}"/>
              </a:ext>
            </a:extLst>
          </p:cNvPr>
          <p:cNvSpPr/>
          <p:nvPr/>
        </p:nvSpPr>
        <p:spPr>
          <a:xfrm>
            <a:off x="0" y="443552"/>
            <a:ext cx="12192000" cy="10854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5D4BF19-AF8F-FFA6-71F8-0247D606B12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1082" y="443552"/>
            <a:ext cx="2249836" cy="1085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6297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E0976BE-5F6C-239F-6FC6-797B7810701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3504" y="-799809"/>
            <a:ext cx="12471031" cy="831182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C8B37AE-12A1-49D2-BCBD-A61DF0952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32334"/>
          </a:xfrm>
        </p:spPr>
        <p:txBody>
          <a:bodyPr/>
          <a:lstStyle/>
          <a:p>
            <a:r>
              <a:rPr lang="en-US" sz="44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2025 Mineral Exports :</a:t>
            </a:r>
            <a:r>
              <a:rPr lang="en-US" b="1" dirty="0">
                <a:solidFill>
                  <a:srgbClr val="FFC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Overview</a:t>
            </a:r>
            <a:endParaRPr lang="en-US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8D4BA3-84ED-4C68-B72D-381AC5BCB5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77351"/>
            <a:ext cx="10515600" cy="4780649"/>
          </a:xfrm>
        </p:spPr>
        <p:txBody>
          <a:bodyPr/>
          <a:lstStyle/>
          <a:p>
            <a:pPr algn="just"/>
            <a:r>
              <a:rPr lang="en-GB" b="1" dirty="0">
                <a:solidFill>
                  <a:srgbClr val="FFC000"/>
                </a:solidFill>
              </a:rPr>
              <a:t>2025 mineral exports </a:t>
            </a:r>
            <a:r>
              <a:rPr lang="en-GB" dirty="0">
                <a:solidFill>
                  <a:schemeClr val="bg1"/>
                </a:solidFill>
              </a:rPr>
              <a:t>showed mixed results</a:t>
            </a:r>
          </a:p>
          <a:p>
            <a:pPr algn="just"/>
            <a:r>
              <a:rPr lang="en-GB" b="1" dirty="0">
                <a:solidFill>
                  <a:srgbClr val="FFC000"/>
                </a:solidFill>
              </a:rPr>
              <a:t>Gold exports declined </a:t>
            </a:r>
            <a:r>
              <a:rPr lang="en-GB" dirty="0">
                <a:solidFill>
                  <a:schemeClr val="bg1"/>
                </a:solidFill>
              </a:rPr>
              <a:t>due to reduced production and operational constraints</a:t>
            </a:r>
          </a:p>
          <a:p>
            <a:pPr algn="just"/>
            <a:r>
              <a:rPr lang="en-GB" b="1" dirty="0">
                <a:solidFill>
                  <a:srgbClr val="FFC000"/>
                </a:solidFill>
              </a:rPr>
              <a:t>Base &amp; industrial minerals surged</a:t>
            </a:r>
            <a:r>
              <a:rPr lang="en-GB" dirty="0">
                <a:solidFill>
                  <a:schemeClr val="bg1"/>
                </a:solidFill>
              </a:rPr>
              <a:t>, supported by expanded capacity, global demand, and better market access</a:t>
            </a:r>
          </a:p>
          <a:p>
            <a:pPr algn="just"/>
            <a:r>
              <a:rPr lang="en-GB" b="1" dirty="0">
                <a:solidFill>
                  <a:srgbClr val="FFC000"/>
                </a:solidFill>
              </a:rPr>
              <a:t>Overall impact offset</a:t>
            </a:r>
            <a:r>
              <a:rPr lang="en-GB" dirty="0">
                <a:solidFill>
                  <a:schemeClr val="bg1"/>
                </a:solidFill>
              </a:rPr>
              <a:t>: growth in other minerals stabilized export volumes and foreign exchange earnings despite gold downturn</a:t>
            </a:r>
          </a:p>
          <a:p>
            <a:pPr algn="just">
              <a:buFont typeface="Wingdings" panose="05000000000000000000" pitchFamily="2" charset="2"/>
              <a:buChar char="ü"/>
            </a:pP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73170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24CC458-760E-2362-8E27-2372740E56D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712675"/>
            <a:ext cx="12192000" cy="18283349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D29E02-4107-42F7-B8F1-FBB42A4D1D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45029"/>
            <a:ext cx="10515600" cy="5447846"/>
          </a:xfrm>
        </p:spPr>
        <p:txBody>
          <a:bodyPr/>
          <a:lstStyle/>
          <a:p>
            <a:r>
              <a:rPr lang="en-GB" dirty="0"/>
              <a:t>2025 mineral sector performance showed growing diversification</a:t>
            </a:r>
          </a:p>
          <a:p>
            <a:r>
              <a:rPr lang="en-GB" dirty="0"/>
              <a:t>Reduced reliance on gold strengthened resilience</a:t>
            </a:r>
          </a:p>
          <a:p>
            <a:r>
              <a:rPr lang="en-GB" dirty="0"/>
              <a:t>Broader export base enhanced contribution to economic growth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The table below summarizes mineral export data for the year 2025: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5E7723B-D010-4D84-9CBE-A616C84930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0013318"/>
              </p:ext>
            </p:extLst>
          </p:nvPr>
        </p:nvGraphicFramePr>
        <p:xfrm>
          <a:off x="838200" y="3501365"/>
          <a:ext cx="9995807" cy="3031490"/>
        </p:xfrm>
        <a:graphic>
          <a:graphicData uri="http://schemas.openxmlformats.org/drawingml/2006/table">
            <a:tbl>
              <a:tblPr>
                <a:tableStyleId>{FABFCF23-3B69-468F-B69F-88F6DE6A72F2}</a:tableStyleId>
              </a:tblPr>
              <a:tblGrid>
                <a:gridCol w="3873808">
                  <a:extLst>
                    <a:ext uri="{9D8B030D-6E8A-4147-A177-3AD203B41FA5}">
                      <a16:colId xmlns:a16="http://schemas.microsoft.com/office/drawing/2014/main" val="2125749722"/>
                    </a:ext>
                  </a:extLst>
                </a:gridCol>
                <a:gridCol w="3009118">
                  <a:extLst>
                    <a:ext uri="{9D8B030D-6E8A-4147-A177-3AD203B41FA5}">
                      <a16:colId xmlns:a16="http://schemas.microsoft.com/office/drawing/2014/main" val="3850640435"/>
                    </a:ext>
                  </a:extLst>
                </a:gridCol>
                <a:gridCol w="3112881">
                  <a:extLst>
                    <a:ext uri="{9D8B030D-6E8A-4147-A177-3AD203B41FA5}">
                      <a16:colId xmlns:a16="http://schemas.microsoft.com/office/drawing/2014/main" val="555348813"/>
                    </a:ext>
                  </a:extLst>
                </a:gridCol>
              </a:tblGrid>
              <a:tr h="390878"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b="1" u="none" strike="noStrike" dirty="0">
                          <a:solidFill>
                            <a:srgbClr val="0070C0"/>
                          </a:solidFill>
                          <a:effectLst/>
                        </a:rPr>
                        <a:t>Commodities</a:t>
                      </a:r>
                      <a:endParaRPr lang="en-US" sz="2800" b="1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b="1" u="none" strike="noStrike" dirty="0">
                          <a:solidFill>
                            <a:srgbClr val="0070C0"/>
                          </a:solidFill>
                          <a:effectLst/>
                        </a:rPr>
                        <a:t>Volume </a:t>
                      </a:r>
                      <a:endParaRPr lang="en-US" sz="2800" b="1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b="1" u="none" strike="noStrike" dirty="0">
                          <a:solidFill>
                            <a:srgbClr val="0070C0"/>
                          </a:solidFill>
                          <a:effectLst/>
                        </a:rPr>
                        <a:t>Values</a:t>
                      </a:r>
                      <a:endParaRPr lang="en-US" sz="2800" b="1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704727796"/>
                  </a:ext>
                </a:extLst>
              </a:tr>
              <a:tr h="390878"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Cassiterite raw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b="0" u="none" strike="noStrike">
                          <a:solidFill>
                            <a:srgbClr val="000000"/>
                          </a:solidFill>
                          <a:effectLst/>
                        </a:rPr>
                        <a:t>               6,348,991 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             98,424,176 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861550669"/>
                  </a:ext>
                </a:extLst>
              </a:tr>
              <a:tr h="390878"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b="0" u="none" strike="noStrike">
                          <a:solidFill>
                            <a:srgbClr val="000000"/>
                          </a:solidFill>
                          <a:effectLst/>
                        </a:rPr>
                        <a:t>Cassiterite Processed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              1,340,613 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             44,655,250 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852398536"/>
                  </a:ext>
                </a:extLst>
              </a:tr>
              <a:tr h="390878"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b="0" u="none" strike="noStrike">
                          <a:solidFill>
                            <a:srgbClr val="000000"/>
                          </a:solidFill>
                          <a:effectLst/>
                        </a:rPr>
                        <a:t>Coltan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              2,743,017 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          129,987,223 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607123457"/>
                  </a:ext>
                </a:extLst>
              </a:tr>
              <a:tr h="390878"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b="0" u="none" strike="noStrike">
                          <a:solidFill>
                            <a:srgbClr val="000000"/>
                          </a:solidFill>
                          <a:effectLst/>
                        </a:rPr>
                        <a:t>Wolfram 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b="0" u="none" strike="noStrike">
                          <a:solidFill>
                            <a:srgbClr val="000000"/>
                          </a:solidFill>
                          <a:effectLst/>
                        </a:rPr>
                        <a:t>               3,009,371 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             65,160,482 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129566698"/>
                  </a:ext>
                </a:extLst>
              </a:tr>
              <a:tr h="390878"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b="0" u="none" strike="noStrike">
                          <a:solidFill>
                            <a:srgbClr val="000000"/>
                          </a:solidFill>
                          <a:effectLst/>
                        </a:rPr>
                        <a:t>Gold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b="0" u="none" strike="noStrike">
                          <a:solidFill>
                            <a:srgbClr val="000000"/>
                          </a:solidFill>
                          <a:effectLst/>
                        </a:rPr>
                        <a:t>                      6,327 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          516,799,384 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811089369"/>
                  </a:ext>
                </a:extLst>
              </a:tr>
              <a:tr h="390878"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b="0" u="none" strike="noStrike">
                          <a:solidFill>
                            <a:srgbClr val="000000"/>
                          </a:solidFill>
                          <a:effectLst/>
                        </a:rPr>
                        <a:t>Other minerals 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b="0" u="none" strike="noStrike">
                          <a:solidFill>
                            <a:srgbClr val="000000"/>
                          </a:solidFill>
                          <a:effectLst/>
                        </a:rPr>
                        <a:t>               8,818,402 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             14,662,561 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4984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30858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F9C0E55-C96F-0909-18BE-0156ACBEA91D}"/>
              </a:ext>
            </a:extLst>
          </p:cNvPr>
          <p:cNvSpPr/>
          <p:nvPr/>
        </p:nvSpPr>
        <p:spPr>
          <a:xfrm>
            <a:off x="0" y="0"/>
            <a:ext cx="4916774" cy="68580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F6B6EB0-8CA9-4FA0-90CD-D168D721C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944" y="212271"/>
            <a:ext cx="4576082" cy="2057400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Comparative Analysis of </a:t>
            </a:r>
            <a:r>
              <a:rPr lang="en-US" sz="4400" b="1" dirty="0">
                <a:solidFill>
                  <a:srgbClr val="FFC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Mineral Exports: 2024 vs. 2025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A2B5B39-718F-4C8B-AFD9-EB16ED1812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75092" y="2269671"/>
            <a:ext cx="3932237" cy="4588328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0070C0"/>
                </a:solidFill>
              </a:rPr>
              <a:t>Cassiterite &amp; coltan </a:t>
            </a:r>
            <a:r>
              <a:rPr lang="en-GB" sz="2400" dirty="0">
                <a:solidFill>
                  <a:srgbClr val="FFC000"/>
                </a:solidFill>
              </a:rPr>
              <a:t>gains</a:t>
            </a:r>
            <a:r>
              <a:rPr lang="en-GB" sz="2400" b="1" dirty="0">
                <a:solidFill>
                  <a:srgbClr val="0070C0"/>
                </a:solidFill>
              </a:rPr>
              <a:t> </a:t>
            </a:r>
            <a:r>
              <a:rPr lang="en-GB" sz="2400" dirty="0">
                <a:solidFill>
                  <a:schemeClr val="bg1"/>
                </a:solidFill>
              </a:rPr>
              <a:t>from higher output via value‑addition and technology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0070C0"/>
                </a:solidFill>
              </a:rPr>
              <a:t>Wolfram earnings</a:t>
            </a:r>
            <a:r>
              <a:rPr lang="en-GB" sz="2400" b="1" dirty="0">
                <a:solidFill>
                  <a:srgbClr val="FFC000"/>
                </a:solidFill>
              </a:rPr>
              <a:t> </a:t>
            </a:r>
            <a:r>
              <a:rPr lang="en-GB" sz="2400" dirty="0">
                <a:solidFill>
                  <a:srgbClr val="FFC000"/>
                </a:solidFill>
              </a:rPr>
              <a:t>up </a:t>
            </a:r>
            <a:r>
              <a:rPr lang="en-GB" sz="2400" dirty="0">
                <a:solidFill>
                  <a:schemeClr val="bg1"/>
                </a:solidFill>
              </a:rPr>
              <a:t>mainly due to rising international prices, not volumes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0070C0"/>
                </a:solidFill>
              </a:rPr>
              <a:t>Gold exports </a:t>
            </a:r>
            <a:r>
              <a:rPr lang="en-GB" sz="2400" dirty="0">
                <a:solidFill>
                  <a:srgbClr val="FFC000"/>
                </a:solidFill>
              </a:rPr>
              <a:t>declined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0070C0"/>
                </a:solidFill>
              </a:rPr>
              <a:t>Other minerals </a:t>
            </a:r>
            <a:r>
              <a:rPr lang="en-GB" sz="2400" dirty="0">
                <a:solidFill>
                  <a:srgbClr val="FFC000"/>
                </a:solidFill>
              </a:rPr>
              <a:t>increased</a:t>
            </a:r>
            <a:r>
              <a:rPr lang="en-GB" sz="2400" b="1" dirty="0">
                <a:solidFill>
                  <a:srgbClr val="0070C0"/>
                </a:solidFill>
              </a:rPr>
              <a:t> </a:t>
            </a:r>
            <a:r>
              <a:rPr lang="en-GB" sz="2400" dirty="0">
                <a:solidFill>
                  <a:schemeClr val="bg1"/>
                </a:solidFill>
              </a:rPr>
              <a:t>largely on stronger global price levels</a:t>
            </a:r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59E072CD-43CE-43B6-8B6A-D144298B9A70}"/>
              </a:ext>
            </a:extLst>
          </p:cNvPr>
          <p:cNvGraphicFramePr>
            <a:graphicFrameLocks noGrp="1"/>
          </p:cNvGraphicFramePr>
          <p:nvPr>
            <p:ph type="pic" idx="1"/>
            <p:extLst>
              <p:ext uri="{D42A27DB-BD31-4B8C-83A1-F6EECF244321}">
                <p14:modId xmlns:p14="http://schemas.microsoft.com/office/powerpoint/2010/main" val="494126924"/>
              </p:ext>
            </p:extLst>
          </p:nvPr>
        </p:nvGraphicFramePr>
        <p:xfrm>
          <a:off x="5183187" y="262330"/>
          <a:ext cx="5924524" cy="3193992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1805442">
                  <a:extLst>
                    <a:ext uri="{9D8B030D-6E8A-4147-A177-3AD203B41FA5}">
                      <a16:colId xmlns:a16="http://schemas.microsoft.com/office/drawing/2014/main" val="2537787848"/>
                    </a:ext>
                  </a:extLst>
                </a:gridCol>
                <a:gridCol w="1347107">
                  <a:extLst>
                    <a:ext uri="{9D8B030D-6E8A-4147-A177-3AD203B41FA5}">
                      <a16:colId xmlns:a16="http://schemas.microsoft.com/office/drawing/2014/main" val="2077557096"/>
                    </a:ext>
                  </a:extLst>
                </a:gridCol>
                <a:gridCol w="1467831">
                  <a:extLst>
                    <a:ext uri="{9D8B030D-6E8A-4147-A177-3AD203B41FA5}">
                      <a16:colId xmlns:a16="http://schemas.microsoft.com/office/drawing/2014/main" val="1810259397"/>
                    </a:ext>
                  </a:extLst>
                </a:gridCol>
                <a:gridCol w="1304144">
                  <a:extLst>
                    <a:ext uri="{9D8B030D-6E8A-4147-A177-3AD203B41FA5}">
                      <a16:colId xmlns:a16="http://schemas.microsoft.com/office/drawing/2014/main" val="3853078614"/>
                    </a:ext>
                  </a:extLst>
                </a:gridCol>
              </a:tblGrid>
              <a:tr h="349362">
                <a:tc gridSpan="4"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VOLUMES IN KG </a:t>
                      </a:r>
                    </a:p>
                  </a:txBody>
                  <a:tcPr marL="6350" marR="6350" marT="635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8081498"/>
                  </a:ext>
                </a:extLst>
              </a:tr>
              <a:tr h="37448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u="none" strike="noStrike" dirty="0">
                          <a:solidFill>
                            <a:srgbClr val="0070C0"/>
                          </a:solidFill>
                          <a:effectLst/>
                        </a:rPr>
                        <a:t>COMMODITIES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1" u="none" strike="noStrike" dirty="0">
                          <a:solidFill>
                            <a:srgbClr val="0070C0"/>
                          </a:solidFill>
                          <a:effectLst/>
                        </a:rPr>
                        <a:t>2024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1" u="none" strike="noStrike" dirty="0">
                          <a:solidFill>
                            <a:srgbClr val="0070C0"/>
                          </a:solidFill>
                          <a:effectLst/>
                        </a:rPr>
                        <a:t>2025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u="none" strike="noStrike" dirty="0">
                          <a:solidFill>
                            <a:srgbClr val="0070C0"/>
                          </a:solidFill>
                          <a:effectLst/>
                        </a:rPr>
                        <a:t>VARIATIONS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142763257"/>
                  </a:ext>
                </a:extLst>
              </a:tr>
              <a:tr h="37448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CASSITERITE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             4,861,494.10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           7,689,603.44 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58.2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324724715"/>
                  </a:ext>
                </a:extLst>
              </a:tr>
              <a:tr h="37448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COLTAN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             2,383,911.10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           2,743,016.54 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15.1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26807976"/>
                  </a:ext>
                </a:extLst>
              </a:tr>
              <a:tr h="37448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WOLFRAM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             2,741,284.30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           3,009,371.32 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9.8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803505017"/>
                  </a:ext>
                </a:extLst>
              </a:tr>
              <a:tr h="37448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GOLD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                   19,397.00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                 6,327.11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-67.4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626580914"/>
                  </a:ext>
                </a:extLst>
              </a:tr>
              <a:tr h="37448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OTHER MINERALS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           26,973,940.30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          8,818,401.93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-67.3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46167175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9F48A1E-6A64-4379-8E5C-E9C11DC4C4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7182092"/>
              </p:ext>
            </p:extLst>
          </p:nvPr>
        </p:nvGraphicFramePr>
        <p:xfrm>
          <a:off x="5183187" y="3548920"/>
          <a:ext cx="5924524" cy="3179276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1800222">
                  <a:extLst>
                    <a:ext uri="{9D8B030D-6E8A-4147-A177-3AD203B41FA5}">
                      <a16:colId xmlns:a16="http://schemas.microsoft.com/office/drawing/2014/main" val="1438888017"/>
                    </a:ext>
                  </a:extLst>
                </a:gridCol>
                <a:gridCol w="1368169">
                  <a:extLst>
                    <a:ext uri="{9D8B030D-6E8A-4147-A177-3AD203B41FA5}">
                      <a16:colId xmlns:a16="http://schemas.microsoft.com/office/drawing/2014/main" val="3883517986"/>
                    </a:ext>
                  </a:extLst>
                </a:gridCol>
                <a:gridCol w="1451989">
                  <a:extLst>
                    <a:ext uri="{9D8B030D-6E8A-4147-A177-3AD203B41FA5}">
                      <a16:colId xmlns:a16="http://schemas.microsoft.com/office/drawing/2014/main" val="4127626361"/>
                    </a:ext>
                  </a:extLst>
                </a:gridCol>
                <a:gridCol w="1304144">
                  <a:extLst>
                    <a:ext uri="{9D8B030D-6E8A-4147-A177-3AD203B41FA5}">
                      <a16:colId xmlns:a16="http://schemas.microsoft.com/office/drawing/2014/main" val="932419146"/>
                    </a:ext>
                  </a:extLst>
                </a:gridCol>
              </a:tblGrid>
              <a:tr h="354563">
                <a:tc gridSpan="4"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solidFill>
                            <a:srgbClr val="0070C0"/>
                          </a:solidFill>
                          <a:effectLst/>
                        </a:rPr>
                        <a:t>VALUES IN USD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1852047"/>
                  </a:ext>
                </a:extLst>
              </a:tr>
              <a:tr h="354563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u="none" strike="noStrike" dirty="0">
                          <a:solidFill>
                            <a:srgbClr val="0070C0"/>
                          </a:solidFill>
                          <a:effectLst/>
                        </a:rPr>
                        <a:t>COMMODITIES</a:t>
                      </a:r>
                      <a:endParaRPr lang="en-US" sz="16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1" u="none" strike="noStrike" dirty="0">
                          <a:solidFill>
                            <a:srgbClr val="0070C0"/>
                          </a:solidFill>
                          <a:effectLst/>
                        </a:rPr>
                        <a:t>2024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1" u="none" strike="noStrike" dirty="0">
                          <a:solidFill>
                            <a:srgbClr val="0070C0"/>
                          </a:solidFill>
                          <a:effectLst/>
                        </a:rPr>
                        <a:t>2025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u="none" strike="noStrike" dirty="0">
                          <a:solidFill>
                            <a:srgbClr val="0070C0"/>
                          </a:solidFill>
                          <a:effectLst/>
                        </a:rPr>
                        <a:t>VARIATIONS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57832034"/>
                  </a:ext>
                </a:extLst>
              </a:tr>
              <a:tr h="354563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CASSITERITE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                 96,411,773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           143,079,426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48.4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228291508"/>
                  </a:ext>
                </a:extLst>
              </a:tr>
              <a:tr h="354563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COLTAN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                  99,166,346 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           129,987,223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31.1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104221862"/>
                  </a:ext>
                </a:extLst>
              </a:tr>
              <a:tr h="354563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WOLFRAM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                  35,769,945 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             65,160,482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82.2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707599950"/>
                  </a:ext>
                </a:extLst>
              </a:tr>
              <a:tr h="354563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GOLD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            1,509,053,729 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           516,799,384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-65.8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408827590"/>
                  </a:ext>
                </a:extLst>
              </a:tr>
              <a:tr h="354563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OTHER MINERALS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                  14,579,085 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              14,662,561 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0.6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3018502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56594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FCA92-E967-46B4-BE4A-F4D7BEF6B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1644"/>
            <a:ext cx="10515600" cy="914400"/>
          </a:xfrm>
        </p:spPr>
        <p:txBody>
          <a:bodyPr/>
          <a:lstStyle/>
          <a:p>
            <a:r>
              <a:rPr lang="en-US" sz="4400" b="1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Key Export Markets </a:t>
            </a:r>
            <a:r>
              <a:rPr lang="en-US" sz="4400" b="1" dirty="0">
                <a:solidFill>
                  <a:srgbClr val="FFC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– 2025</a:t>
            </a:r>
            <a:endParaRPr lang="en-US" b="1" dirty="0">
              <a:solidFill>
                <a:srgbClr val="FFC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294385-7D0F-468C-97D6-67346CC2A0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9136"/>
            <a:ext cx="10515600" cy="5608864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0070C0"/>
                </a:solidFill>
              </a:rPr>
              <a:t>2025 mineral exports </a:t>
            </a:r>
            <a:r>
              <a:rPr lang="en-GB" dirty="0"/>
              <a:t>diversified across global markets</a:t>
            </a:r>
          </a:p>
          <a:p>
            <a:r>
              <a:rPr lang="en-GB" b="1" dirty="0">
                <a:solidFill>
                  <a:srgbClr val="0070C0"/>
                </a:solidFill>
              </a:rPr>
              <a:t>Key destinations: </a:t>
            </a:r>
            <a:r>
              <a:rPr lang="en-GB" dirty="0"/>
              <a:t>Asia (China, UAE/Dubai), Europe, Africa, North America</a:t>
            </a:r>
          </a:p>
          <a:p>
            <a:r>
              <a:rPr lang="en-GB" b="1" dirty="0">
                <a:solidFill>
                  <a:srgbClr val="0070C0"/>
                </a:solidFill>
              </a:rPr>
              <a:t>Asia &amp; UAE: </a:t>
            </a:r>
            <a:r>
              <a:rPr lang="en-GB" dirty="0"/>
              <a:t>Leading demand for strategic minerals in manufacturing &amp; tech</a:t>
            </a:r>
          </a:p>
          <a:p>
            <a:r>
              <a:rPr lang="en-GB" b="1" dirty="0">
                <a:solidFill>
                  <a:srgbClr val="0070C0"/>
                </a:solidFill>
              </a:rPr>
              <a:t>Europe: </a:t>
            </a:r>
            <a:r>
              <a:rPr lang="en-GB" dirty="0"/>
              <a:t>Strong interest in industrial &amp; green‑energy minerals</a:t>
            </a:r>
          </a:p>
          <a:p>
            <a:r>
              <a:rPr lang="en-GB" b="1" dirty="0">
                <a:solidFill>
                  <a:srgbClr val="0070C0"/>
                </a:solidFill>
              </a:rPr>
              <a:t>Africa: </a:t>
            </a:r>
            <a:r>
              <a:rPr lang="en-GB" dirty="0"/>
              <a:t>Regional trade expanded via integration &amp; logistics improvements</a:t>
            </a:r>
          </a:p>
          <a:p>
            <a:r>
              <a:rPr lang="en-GB" b="1" dirty="0">
                <a:solidFill>
                  <a:srgbClr val="0070C0"/>
                </a:solidFill>
              </a:rPr>
              <a:t>Diversification</a:t>
            </a:r>
            <a:r>
              <a:rPr lang="en-GB" dirty="0"/>
              <a:t> strengthened </a:t>
            </a:r>
            <a:r>
              <a:rPr lang="en-GB" b="1" dirty="0"/>
              <a:t>resilience</a:t>
            </a:r>
            <a:r>
              <a:rPr lang="en-GB" dirty="0"/>
              <a:t>, reducing </a:t>
            </a:r>
            <a:r>
              <a:rPr lang="en-GB" b="1" dirty="0"/>
              <a:t>reliance on single markets</a:t>
            </a:r>
            <a:r>
              <a:rPr lang="en-GB" dirty="0"/>
              <a:t> and </a:t>
            </a:r>
            <a:r>
              <a:rPr lang="en-GB" b="1" dirty="0"/>
              <a:t>opening long‑term growth opportunities</a:t>
            </a:r>
            <a:r>
              <a:rPr lang="en-GB" dirty="0"/>
              <a:t>.</a:t>
            </a:r>
            <a:endParaRPr lang="en-GB" b="1" dirty="0"/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ü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59555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7A21F0B-078C-E4B8-35AD-6140082710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9843" y="-3921527"/>
            <a:ext cx="12431843" cy="1077952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BF59052-5AA5-2DF4-C886-A1C24A23CEE2}"/>
              </a:ext>
            </a:extLst>
          </p:cNvPr>
          <p:cNvSpPr/>
          <p:nvPr/>
        </p:nvSpPr>
        <p:spPr>
          <a:xfrm>
            <a:off x="623886" y="17960"/>
            <a:ext cx="10015538" cy="266061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280D6-4E59-496C-92E7-9A2ACE3EF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889232"/>
            <a:ext cx="10515600" cy="1323598"/>
          </a:xfrm>
        </p:spPr>
        <p:txBody>
          <a:bodyPr>
            <a:normAutofit fontScale="90000"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400" b="1" dirty="0">
                <a:solidFill>
                  <a:srgbClr val="FFC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MINERAL EXPORT </a:t>
            </a:r>
            <a:r>
              <a:rPr lang="en-US" sz="44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PROJECTIONS</a:t>
            </a:r>
            <a:r>
              <a:rPr lang="en-US" sz="4400" b="1" dirty="0">
                <a:solidFill>
                  <a:srgbClr val="FFC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44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(2026–2030)</a:t>
            </a:r>
            <a:br>
              <a:rPr lang="en-US" sz="28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dirty="0">
              <a:solidFill>
                <a:schemeClr val="bg1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301A089-3508-40AB-831F-92F002BC850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92047781"/>
              </p:ext>
            </p:extLst>
          </p:nvPr>
        </p:nvGraphicFramePr>
        <p:xfrm>
          <a:off x="838200" y="123308"/>
          <a:ext cx="9467181" cy="2449916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2201942">
                  <a:extLst>
                    <a:ext uri="{9D8B030D-6E8A-4147-A177-3AD203B41FA5}">
                      <a16:colId xmlns:a16="http://schemas.microsoft.com/office/drawing/2014/main" val="4207987167"/>
                    </a:ext>
                  </a:extLst>
                </a:gridCol>
                <a:gridCol w="1175409">
                  <a:extLst>
                    <a:ext uri="{9D8B030D-6E8A-4147-A177-3AD203B41FA5}">
                      <a16:colId xmlns:a16="http://schemas.microsoft.com/office/drawing/2014/main" val="1003368285"/>
                    </a:ext>
                  </a:extLst>
                </a:gridCol>
                <a:gridCol w="1215939">
                  <a:extLst>
                    <a:ext uri="{9D8B030D-6E8A-4147-A177-3AD203B41FA5}">
                      <a16:colId xmlns:a16="http://schemas.microsoft.com/office/drawing/2014/main" val="3468024721"/>
                    </a:ext>
                  </a:extLst>
                </a:gridCol>
                <a:gridCol w="1388198">
                  <a:extLst>
                    <a:ext uri="{9D8B030D-6E8A-4147-A177-3AD203B41FA5}">
                      <a16:colId xmlns:a16="http://schemas.microsoft.com/office/drawing/2014/main" val="709445177"/>
                    </a:ext>
                  </a:extLst>
                </a:gridCol>
                <a:gridCol w="962618">
                  <a:extLst>
                    <a:ext uri="{9D8B030D-6E8A-4147-A177-3AD203B41FA5}">
                      <a16:colId xmlns:a16="http://schemas.microsoft.com/office/drawing/2014/main" val="599695996"/>
                    </a:ext>
                  </a:extLst>
                </a:gridCol>
                <a:gridCol w="1175409">
                  <a:extLst>
                    <a:ext uri="{9D8B030D-6E8A-4147-A177-3AD203B41FA5}">
                      <a16:colId xmlns:a16="http://schemas.microsoft.com/office/drawing/2014/main" val="103612931"/>
                    </a:ext>
                  </a:extLst>
                </a:gridCol>
                <a:gridCol w="1347666">
                  <a:extLst>
                    <a:ext uri="{9D8B030D-6E8A-4147-A177-3AD203B41FA5}">
                      <a16:colId xmlns:a16="http://schemas.microsoft.com/office/drawing/2014/main" val="1257077635"/>
                    </a:ext>
                  </a:extLst>
                </a:gridCol>
              </a:tblGrid>
              <a:tr h="210906">
                <a:tc rowSpan="2">
                  <a:txBody>
                    <a:bodyPr/>
                    <a:lstStyle/>
                    <a:p>
                      <a:pPr algn="l" fontAlgn="b"/>
                      <a:r>
                        <a:rPr lang="en-US" sz="12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</a:p>
                    <a:p>
                      <a:pPr algn="l" fontAlgn="b"/>
                      <a:r>
                        <a:rPr lang="en-US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COMMODITIES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 gridSpan="6">
                  <a:txBody>
                    <a:bodyPr/>
                    <a:lstStyle/>
                    <a:p>
                      <a:pPr algn="ctr" fontAlgn="b"/>
                      <a:r>
                        <a:rPr lang="en-US" sz="12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VOLUME IN KG</a:t>
                      </a:r>
                      <a:endParaRPr lang="en-US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7148403"/>
                  </a:ext>
                </a:extLst>
              </a:tr>
              <a:tr h="18415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2025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2026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2027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2028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2029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2030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98457389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Cassiterite raw</a:t>
                      </a:r>
                      <a:endParaRPr lang="en-US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          6,348,991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          6,729,930.28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        7,133,726.10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         7,561,749.66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      8,015,454.64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           8,496,381.92 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26481047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Cassiterite Processed</a:t>
                      </a:r>
                      <a:endParaRPr lang="en-US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          1,340,613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          1,421,049.37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        1,506,312.33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         1,596,691.07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      1,692,492.53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           1,794,042.08 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50498406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Coltan</a:t>
                      </a:r>
                      <a:endParaRPr lang="en-US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          2,743,017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          2,852,737.20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        2,966,846.69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         3,085,520.56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      3,208,941.38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           3,337,299.03 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21666622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Wolfram </a:t>
                      </a:r>
                      <a:endParaRPr lang="en-US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          3,009,371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          3,099,652.46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        3,192,642.03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         3,288,421.29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      3,387,073.93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           3,488,686.15 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28698690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u="none" strike="noStrike">
                          <a:solidFill>
                            <a:schemeClr val="bg1"/>
                          </a:solidFill>
                          <a:effectLst/>
                        </a:rPr>
                        <a:t>Gold</a:t>
                      </a:r>
                      <a:endParaRPr lang="en-US" sz="12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                  6,327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                 6,959.82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               7,655.80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                8,421.38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             9,263.52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                10,189.87 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77077395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Other minerals </a:t>
                      </a:r>
                      <a:endParaRPr lang="en-US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          8,818,402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          8,994,769.97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        9,174,665.37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         9,358,158.68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      9,545,321.85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           9,736,228.29 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779361172"/>
                  </a:ext>
                </a:extLst>
              </a:tr>
            </a:tbl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273EF911-2BD9-2952-3BCE-6570DC218A97}"/>
              </a:ext>
            </a:extLst>
          </p:cNvPr>
          <p:cNvSpPr/>
          <p:nvPr/>
        </p:nvSpPr>
        <p:spPr>
          <a:xfrm>
            <a:off x="511728" y="2783920"/>
            <a:ext cx="10127696" cy="276959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2060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9D6A21A-7F93-4DFB-989A-799FBC6621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7637917"/>
              </p:ext>
            </p:extLst>
          </p:nvPr>
        </p:nvGraphicFramePr>
        <p:xfrm>
          <a:off x="695587" y="2894079"/>
          <a:ext cx="9534992" cy="242824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2269753">
                  <a:extLst>
                    <a:ext uri="{9D8B030D-6E8A-4147-A177-3AD203B41FA5}">
                      <a16:colId xmlns:a16="http://schemas.microsoft.com/office/drawing/2014/main" val="890396814"/>
                    </a:ext>
                  </a:extLst>
                </a:gridCol>
                <a:gridCol w="1175409">
                  <a:extLst>
                    <a:ext uri="{9D8B030D-6E8A-4147-A177-3AD203B41FA5}">
                      <a16:colId xmlns:a16="http://schemas.microsoft.com/office/drawing/2014/main" val="1100142811"/>
                    </a:ext>
                  </a:extLst>
                </a:gridCol>
                <a:gridCol w="1215939">
                  <a:extLst>
                    <a:ext uri="{9D8B030D-6E8A-4147-A177-3AD203B41FA5}">
                      <a16:colId xmlns:a16="http://schemas.microsoft.com/office/drawing/2014/main" val="3778381047"/>
                    </a:ext>
                  </a:extLst>
                </a:gridCol>
                <a:gridCol w="1388198">
                  <a:extLst>
                    <a:ext uri="{9D8B030D-6E8A-4147-A177-3AD203B41FA5}">
                      <a16:colId xmlns:a16="http://schemas.microsoft.com/office/drawing/2014/main" val="2276941921"/>
                    </a:ext>
                  </a:extLst>
                </a:gridCol>
                <a:gridCol w="962618">
                  <a:extLst>
                    <a:ext uri="{9D8B030D-6E8A-4147-A177-3AD203B41FA5}">
                      <a16:colId xmlns:a16="http://schemas.microsoft.com/office/drawing/2014/main" val="212020647"/>
                    </a:ext>
                  </a:extLst>
                </a:gridCol>
                <a:gridCol w="1175409">
                  <a:extLst>
                    <a:ext uri="{9D8B030D-6E8A-4147-A177-3AD203B41FA5}">
                      <a16:colId xmlns:a16="http://schemas.microsoft.com/office/drawing/2014/main" val="1809339083"/>
                    </a:ext>
                  </a:extLst>
                </a:gridCol>
                <a:gridCol w="1347666">
                  <a:extLst>
                    <a:ext uri="{9D8B030D-6E8A-4147-A177-3AD203B41FA5}">
                      <a16:colId xmlns:a16="http://schemas.microsoft.com/office/drawing/2014/main" val="2826770351"/>
                    </a:ext>
                  </a:extLst>
                </a:gridCol>
              </a:tblGrid>
              <a:tr h="184150"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COMMODITIES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 gridSpan="6"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PRICE IN USD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3040862"/>
                  </a:ext>
                </a:extLst>
              </a:tr>
              <a:tr h="7426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2025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2026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2027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2028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2029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2030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2571605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Cassiterite raw</a:t>
                      </a:r>
                      <a:endParaRPr lang="en-US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15.5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15.8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16.1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16.5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16.8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17.1 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574348328"/>
                  </a:ext>
                </a:extLst>
              </a:tr>
              <a:tr h="6212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Cassiterite Processed</a:t>
                      </a:r>
                      <a:endParaRPr lang="en-US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33.3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34.3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35.3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36.4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37.5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38.6 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80975788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u="none" strike="noStrike">
                          <a:solidFill>
                            <a:schemeClr val="bg1"/>
                          </a:solidFill>
                          <a:effectLst/>
                        </a:rPr>
                        <a:t>Coltan</a:t>
                      </a:r>
                      <a:endParaRPr lang="en-US" sz="12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47.4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48.3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49.3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50.3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51.3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52.3 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826275211"/>
                  </a:ext>
                </a:extLst>
              </a:tr>
              <a:tr h="199071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Wolfram </a:t>
                      </a:r>
                      <a:endParaRPr lang="en-US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21.7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22.3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23.0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23.7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24.4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25.1 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0448708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Gold</a:t>
                      </a:r>
                      <a:endParaRPr lang="en-US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            81,693.1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                 86,594.7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               91,790.3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                97,297.8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           103,135.6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                109,323.8 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28432732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Other minerals </a:t>
                      </a:r>
                      <a:endParaRPr lang="en-US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1.6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1.6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1.6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1.6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1.7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1.7 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1988131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75026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evel 3">
            <a:extLst>
              <a:ext uri="{FF2B5EF4-FFF2-40B4-BE49-F238E27FC236}">
                <a16:creationId xmlns:a16="http://schemas.microsoft.com/office/drawing/2014/main" id="{D36718CD-31AF-27D9-5CE0-BC1B66EE41DA}"/>
              </a:ext>
            </a:extLst>
          </p:cNvPr>
          <p:cNvSpPr/>
          <p:nvPr/>
        </p:nvSpPr>
        <p:spPr>
          <a:xfrm>
            <a:off x="0" y="933678"/>
            <a:ext cx="12192000" cy="5986472"/>
          </a:xfrm>
          <a:prstGeom prst="bevel">
            <a:avLst/>
          </a:prstGeom>
          <a:solidFill>
            <a:srgbClr val="002060">
              <a:alpha val="6906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10AC16-CE9C-4798-93E0-90AEAA38B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37104"/>
          </a:xfrm>
        </p:spPr>
        <p:txBody>
          <a:bodyPr>
            <a:normAutofit fontScale="90000"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Strategic Opportunities (2026–2030)</a:t>
            </a:r>
            <a:br>
              <a:rPr lang="en-US" sz="36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C16B7E-A48A-4E30-8EFF-0143CB485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Value addition and mineral beneficiation</a:t>
            </a:r>
          </a:p>
          <a:p>
            <a:r>
              <a:rPr lang="en-US" dirty="0">
                <a:solidFill>
                  <a:schemeClr val="bg1"/>
                </a:solidFill>
              </a:rPr>
              <a:t>Expansion into new global markets</a:t>
            </a:r>
          </a:p>
          <a:p>
            <a:r>
              <a:rPr lang="en-US" dirty="0">
                <a:solidFill>
                  <a:schemeClr val="bg1"/>
                </a:solidFill>
              </a:rPr>
              <a:t>Increased participation in regional and global value chains</a:t>
            </a:r>
          </a:p>
        </p:txBody>
      </p:sp>
    </p:spTree>
    <p:extLst>
      <p:ext uri="{BB962C8B-B14F-4D97-AF65-F5344CB8AC3E}">
        <p14:creationId xmlns:p14="http://schemas.microsoft.com/office/powerpoint/2010/main" val="35432972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EDFF7-51E8-4A8C-84D3-ECB460F16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73818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CHALLENGES AND INTERVENTIONS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956CE3-C685-4BEE-A471-FD89745461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8750"/>
            <a:ext cx="10515600" cy="5265964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5100" b="1" dirty="0">
                <a:solidFill>
                  <a:srgbClr val="FFC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Key challenges:</a:t>
            </a:r>
          </a:p>
          <a:p>
            <a:pPr marL="0" indent="0">
              <a:buNone/>
            </a:pPr>
            <a:endParaRPr lang="en-US" sz="5100" dirty="0"/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45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Price volatility in international markets</a:t>
            </a:r>
            <a:endParaRPr lang="en-US" sz="45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45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Inadequate infrastructure (transport, power, ports)</a:t>
            </a:r>
            <a:endParaRPr lang="en-US" sz="45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45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High cost of production</a:t>
            </a:r>
            <a:endParaRPr lang="en-US" sz="45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45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Environmental and social compliance requirements</a:t>
            </a:r>
            <a:endParaRPr lang="en-US" sz="45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45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Limited value addition and beneficiation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4500" dirty="0">
                <a:latin typeface="Calibri" panose="020F0502020204030204" pitchFamily="34" charset="0"/>
                <a:cs typeface="Calibri" panose="020F0502020204030204" pitchFamily="34" charset="0"/>
              </a:rPr>
              <a:t>Limited access to affordable financing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4500" dirty="0">
                <a:latin typeface="Calibri" panose="020F0502020204030204" pitchFamily="34" charset="0"/>
                <a:cs typeface="Calibri" panose="020F0502020204030204" pitchFamily="34" charset="0"/>
              </a:rPr>
              <a:t>Skills gaps in the mining workforce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454094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3688E-4C45-4789-BC01-1B9770FC2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Cont’d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D54169-38F7-4ADD-AFDD-B293E7476B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3436"/>
            <a:ext cx="10515600" cy="5494564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FFC000"/>
                </a:solidFill>
              </a:rPr>
              <a:t>Proposed  interventions: </a:t>
            </a:r>
          </a:p>
          <a:p>
            <a:pPr marL="0" indent="0">
              <a:buNone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Strengthening policy and regulatory frameworks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Investing in mining-support infrastructure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Promoting mineral value addition and processing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Enhancing access to finance for mining projects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Supporting skills development and technology transfer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31717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92448DD-3AF3-F5C5-1242-A807F689E5E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14350" y="-1348946"/>
            <a:ext cx="12706349" cy="918412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6B819F8-49CA-4FB0-88C9-FB2B495A9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Conclusion </a:t>
            </a:r>
          </a:p>
        </p:txBody>
      </p:sp>
      <p:sp>
        <p:nvSpPr>
          <p:cNvPr id="6" name="Bevel 5">
            <a:extLst>
              <a:ext uri="{FF2B5EF4-FFF2-40B4-BE49-F238E27FC236}">
                <a16:creationId xmlns:a16="http://schemas.microsoft.com/office/drawing/2014/main" id="{AEDF2534-F08D-B44A-C3A8-1FC30A72A7EE}"/>
              </a:ext>
            </a:extLst>
          </p:cNvPr>
          <p:cNvSpPr/>
          <p:nvPr/>
        </p:nvSpPr>
        <p:spPr>
          <a:xfrm>
            <a:off x="714375" y="1314450"/>
            <a:ext cx="9872663" cy="5986472"/>
          </a:xfrm>
          <a:prstGeom prst="bevel">
            <a:avLst/>
          </a:prstGeom>
          <a:solidFill>
            <a:srgbClr val="002060">
              <a:alpha val="483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5D5A1-C9C0-4956-B510-F76B029CB1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4930" y="2178415"/>
            <a:ext cx="8967788" cy="4351338"/>
          </a:xfrm>
        </p:spPr>
        <p:txBody>
          <a:bodyPr/>
          <a:lstStyle/>
          <a:p>
            <a:pPr algn="just">
              <a:lnSpc>
                <a:spcPct val="80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2025 demonstrated strong performance in mineral exports</a:t>
            </a:r>
          </a:p>
          <a:p>
            <a:pPr algn="just">
              <a:lnSpc>
                <a:spcPct val="80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2026–2030 outlook remains positive, driven by global demand</a:t>
            </a:r>
          </a:p>
          <a:p>
            <a:pPr marL="0" indent="0" algn="just">
              <a:lnSpc>
                <a:spcPct val="80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US" dirty="0">
                <a:solidFill>
                  <a:srgbClr val="FFC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Addressing key challenges through targeted interventions will:</a:t>
            </a:r>
          </a:p>
          <a:p>
            <a:pPr marL="34290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Enhance competitiveness;</a:t>
            </a:r>
          </a:p>
          <a:p>
            <a:pPr marL="34290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Maximize export earnings;</a:t>
            </a:r>
          </a:p>
          <a:p>
            <a:pPr marL="34290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Ensure sustainable sector growth.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019535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lJfFHAHS.q8hx5Mpc.NIw"/>
</p:tagLst>
</file>

<file path=ppt/theme/_rels/them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ain Event">
  <a:themeElements>
    <a:clrScheme name="Main Event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B80E0F"/>
      </a:accent1>
      <a:accent2>
        <a:srgbClr val="A6987D"/>
      </a:accent2>
      <a:accent3>
        <a:srgbClr val="7F9A71"/>
      </a:accent3>
      <a:accent4>
        <a:srgbClr val="64969F"/>
      </a:accent4>
      <a:accent5>
        <a:srgbClr val="9B75B2"/>
      </a:accent5>
      <a:accent6>
        <a:srgbClr val="80737A"/>
      </a:accent6>
      <a:hlink>
        <a:srgbClr val="F21213"/>
      </a:hlink>
      <a:folHlink>
        <a:srgbClr val="B6A394"/>
      </a:folHlink>
    </a:clrScheme>
    <a:fontScheme name="Main Event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in Even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F1EFBDE3-1A95-4E3D-81AD-1F53D65BEA01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2914</TotalTime>
  <Words>675</Words>
  <Application>Microsoft Office PowerPoint</Application>
  <PresentationFormat>Widescreen</PresentationFormat>
  <Paragraphs>228</Paragraphs>
  <Slides>10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2" baseType="lpstr">
      <vt:lpstr>Arial</vt:lpstr>
      <vt:lpstr>Calibri</vt:lpstr>
      <vt:lpstr>Calibri Light</vt:lpstr>
      <vt:lpstr>Impact</vt:lpstr>
      <vt:lpstr>ITC Avant Garde Gothic Pro Demi</vt:lpstr>
      <vt:lpstr>Symbol</vt:lpstr>
      <vt:lpstr>Times New Roman</vt:lpstr>
      <vt:lpstr>Trebuchet MS</vt:lpstr>
      <vt:lpstr>Wingdings</vt:lpstr>
      <vt:lpstr>Office Theme</vt:lpstr>
      <vt:lpstr>Main Event</vt:lpstr>
      <vt:lpstr>think-cell Slide</vt:lpstr>
      <vt:lpstr>Mineral Export Performance and Projection for the year 2026-2030</vt:lpstr>
      <vt:lpstr>2025 Mineral Exports :Overview</vt:lpstr>
      <vt:lpstr>PowerPoint Presentation</vt:lpstr>
      <vt:lpstr>Comparative Analysis of Mineral Exports: 2024 vs. 2025</vt:lpstr>
      <vt:lpstr>Key Export Markets – 2025</vt:lpstr>
      <vt:lpstr>MINERAL EXPORT PROJECTIONS (2026–2030) </vt:lpstr>
      <vt:lpstr>Strategic Opportunities (2026–2030) </vt:lpstr>
      <vt:lpstr>CHALLENGES AND INTERVENTIONS</vt:lpstr>
      <vt:lpstr>Cont’d </vt:lpstr>
      <vt:lpstr>Conclusion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Rosine Isimbi</dc:creator>
  <cp:lastModifiedBy>Rosine Isimbi</cp:lastModifiedBy>
  <cp:revision>20</cp:revision>
  <dcterms:created xsi:type="dcterms:W3CDTF">2026-02-06T09:28:16Z</dcterms:created>
  <dcterms:modified xsi:type="dcterms:W3CDTF">2026-02-11T07:45:22Z</dcterms:modified>
</cp:coreProperties>
</file>