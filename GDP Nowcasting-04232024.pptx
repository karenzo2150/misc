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notesMasterIdLst>
    <p:notesMasterId r:id="rId18"/>
  </p:notesMasterIdLst>
  <p:sldIdLst>
    <p:sldId id="256" r:id="rId2"/>
    <p:sldId id="257" r:id="rId3"/>
    <p:sldId id="265" r:id="rId4"/>
    <p:sldId id="258" r:id="rId5"/>
    <p:sldId id="267" r:id="rId6"/>
    <p:sldId id="259" r:id="rId7"/>
    <p:sldId id="260" r:id="rId8"/>
    <p:sldId id="261" r:id="rId9"/>
    <p:sldId id="268" r:id="rId10"/>
    <p:sldId id="269" r:id="rId11"/>
    <p:sldId id="266" r:id="rId12"/>
    <p:sldId id="270" r:id="rId13"/>
    <p:sldId id="264" r:id="rId14"/>
    <p:sldId id="262"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791" autoAdjust="0"/>
  </p:normalViewPr>
  <p:slideViewPr>
    <p:cSldViewPr snapToGrid="0">
      <p:cViewPr varScale="1">
        <p:scale>
          <a:sx n="103" d="100"/>
          <a:sy n="103" d="100"/>
        </p:scale>
        <p:origin x="8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dk1">
                    <a:lumMod val="75000"/>
                    <a:lumOff val="25000"/>
                  </a:schemeClr>
                </a:solidFill>
                <a:latin typeface="Bahnschrift" panose="020B0502040204020203" pitchFamily="34" charset="0"/>
                <a:ea typeface="+mn-ea"/>
                <a:cs typeface="+mn-cs"/>
              </a:defRPr>
            </a:pPr>
            <a:r>
              <a:rPr lang="en-US" sz="1600">
                <a:latin typeface="Bahnschrift" panose="020B0502040204020203" pitchFamily="34" charset="0"/>
              </a:rPr>
              <a:t>GDP </a:t>
            </a:r>
            <a:r>
              <a:rPr lang="en-US" sz="1600" baseline="0">
                <a:latin typeface="Bahnschrift" panose="020B0502040204020203" pitchFamily="34" charset="0"/>
              </a:rPr>
              <a:t>2026 Q1</a:t>
            </a:r>
            <a:endParaRPr lang="en-US" sz="1600">
              <a:latin typeface="Bahnschrift" panose="020B0502040204020203" pitchFamily="34" charset="0"/>
            </a:endParaRPr>
          </a:p>
        </c:rich>
      </c:tx>
      <c:layout>
        <c:manualLayout>
          <c:xMode val="edge"/>
          <c:yMode val="edge"/>
          <c:x val="0.30940843012257158"/>
          <c:y val="1.9759591635106207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dk1">
                  <a:lumMod val="75000"/>
                  <a:lumOff val="25000"/>
                </a:schemeClr>
              </a:solidFill>
              <a:latin typeface="Bahnschrift" panose="020B0502040204020203" pitchFamily="34" charset="0"/>
              <a:ea typeface="+mn-ea"/>
              <a:cs typeface="+mn-cs"/>
            </a:defRPr>
          </a:pPr>
          <a:endParaRPr lang="en-US"/>
        </a:p>
      </c:txPr>
    </c:title>
    <c:autoTitleDeleted val="0"/>
    <c:plotArea>
      <c:layout>
        <c:manualLayout>
          <c:layoutTarget val="inner"/>
          <c:xMode val="edge"/>
          <c:yMode val="edge"/>
          <c:x val="0.3501359771806587"/>
          <c:y val="0.12354684141303529"/>
          <c:w val="0.6116695679324059"/>
          <c:h val="0.76990932424837621"/>
        </c:manualLayout>
      </c:layout>
      <c:barChart>
        <c:barDir val="bar"/>
        <c:grouping val="clustered"/>
        <c:varyColors val="0"/>
        <c:ser>
          <c:idx val="0"/>
          <c:order val="0"/>
          <c:tx>
            <c:strRef>
              <c:f>'2025Q1&amp;Q2'!$B$51:$AZ$51</c:f>
              <c:strCache>
                <c:ptCount val="51"/>
                <c:pt idx="0">
                  <c:v>RGDP</c:v>
                </c:pt>
                <c:pt idx="1">
                  <c:v>RGDP_MLE</c:v>
                </c:pt>
                <c:pt idx="2">
                  <c:v>RGDP_BE</c:v>
                </c:pt>
                <c:pt idx="5">
                  <c:v>Drivers of the forecast</c:v>
                </c:pt>
                <c:pt idx="6">
                  <c:v>Agriculture_exp_val</c:v>
                </c:pt>
                <c:pt idx="7">
                  <c:v>Agriculture_exp_vol</c:v>
                </c:pt>
                <c:pt idx="8">
                  <c:v>cement_imports </c:v>
                </c:pt>
                <c:pt idx="9">
                  <c:v>cement_production</c:v>
                </c:pt>
                <c:pt idx="10">
                  <c:v>cpi</c:v>
                </c:pt>
                <c:pt idx="11">
                  <c:v>cpi_Food</c:v>
                </c:pt>
                <c:pt idx="12">
                  <c:v>credit_priv_sector </c:v>
                </c:pt>
                <c:pt idx="13">
                  <c:v>electricity_prod </c:v>
                </c:pt>
                <c:pt idx="14">
                  <c:v>exp_3ts_val</c:v>
                </c:pt>
                <c:pt idx="15">
                  <c:v>exp_3ts_vol</c:v>
                </c:pt>
                <c:pt idx="16">
                  <c:v>exp_val</c:v>
                </c:pt>
                <c:pt idx="17">
                  <c:v>exp_vol</c:v>
                </c:pt>
                <c:pt idx="18">
                  <c:v>flour_production </c:v>
                </c:pt>
                <c:pt idx="19">
                  <c:v>IIP</c:v>
                </c:pt>
                <c:pt idx="20">
                  <c:v>Imp_Cap_val</c:v>
                </c:pt>
                <c:pt idx="21">
                  <c:v>Imp_Cap_vol</c:v>
                </c:pt>
                <c:pt idx="22">
                  <c:v>imp_cif</c:v>
                </c:pt>
                <c:pt idx="23">
                  <c:v>Imp_consumer_val</c:v>
                </c:pt>
                <c:pt idx="24">
                  <c:v>Imp_consumer_vol</c:v>
                </c:pt>
                <c:pt idx="25">
                  <c:v>Imp_Interm_val</c:v>
                </c:pt>
                <c:pt idx="26">
                  <c:v>Imp_Interm_vol</c:v>
                </c:pt>
                <c:pt idx="27">
                  <c:v>Import_petroleum_products</c:v>
                </c:pt>
                <c:pt idx="28">
                  <c:v>imp_vol</c:v>
                </c:pt>
                <c:pt idx="29">
                  <c:v>M3</c:v>
                </c:pt>
                <c:pt idx="30">
                  <c:v>Monetary</c:v>
                </c:pt>
                <c:pt idx="31">
                  <c:v>demand</c:v>
                </c:pt>
                <c:pt idx="32">
                  <c:v>supply &amp; demand</c:v>
                </c:pt>
                <c:pt idx="33">
                  <c:v>modern_beer </c:v>
                </c:pt>
                <c:pt idx="34">
                  <c:v>ner_eop_usd</c:v>
                </c:pt>
                <c:pt idx="35">
                  <c:v>nom_CIEA</c:v>
                </c:pt>
                <c:pt idx="36">
                  <c:v>ppi_all_rwanda </c:v>
                </c:pt>
                <c:pt idx="37">
                  <c:v>real_CIEA</c:v>
                </c:pt>
                <c:pt idx="38">
                  <c:v>rice_production </c:v>
                </c:pt>
                <c:pt idx="39">
                  <c:v>soft_drinks </c:v>
                </c:pt>
                <c:pt idx="40">
                  <c:v>Total_Cement</c:v>
                </c:pt>
                <c:pt idx="41">
                  <c:v>Turnovers_Construction</c:v>
                </c:pt>
                <c:pt idx="42">
                  <c:v>Turnovers_Financial</c:v>
                </c:pt>
                <c:pt idx="43">
                  <c:v>Turnovers_Hotel</c:v>
                </c:pt>
                <c:pt idx="44">
                  <c:v>turnovers_industry</c:v>
                </c:pt>
                <c:pt idx="45">
                  <c:v>Turnovers_Manuf</c:v>
                </c:pt>
                <c:pt idx="46">
                  <c:v>turnovers_services</c:v>
                </c:pt>
                <c:pt idx="47">
                  <c:v>Turnovers_Trade</c:v>
                </c:pt>
                <c:pt idx="48">
                  <c:v>Turnovers_Transport</c:v>
                </c:pt>
                <c:pt idx="49">
                  <c:v>VAT_receipts</c:v>
                </c:pt>
                <c:pt idx="50">
                  <c:v>water</c:v>
                </c:pt>
              </c:strCache>
            </c:strRef>
          </c:tx>
          <c:spPr>
            <a:solidFill>
              <a:schemeClr val="accent5">
                <a:lumMod val="60000"/>
                <a:lumOff val="40000"/>
              </a:schemeClr>
            </a:solidFill>
            <a:ln w="9525" cap="flat" cmpd="sng" algn="ctr">
              <a:solidFill>
                <a:schemeClr val="accent5">
                  <a:lumMod val="20000"/>
                  <a:lumOff val="80000"/>
                </a:schemeClr>
              </a:solidFill>
              <a:round/>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C00000"/>
                      </a:solidFill>
                      <a:latin typeface="+mn-lt"/>
                      <a:ea typeface="+mn-ea"/>
                      <a:cs typeface="+mn-cs"/>
                    </a:defRPr>
                  </a:pPr>
                  <a:endParaRPr lang="en-RW"/>
                </a:p>
              </c:txPr>
              <c:dLblPos val="inEnd"/>
              <c:showLegendKey val="0"/>
              <c:showVal val="1"/>
              <c:showCatName val="0"/>
              <c:showSerName val="0"/>
              <c:showPercent val="0"/>
              <c:showBubbleSize val="0"/>
              <c:extLst>
                <c:ext xmlns:c16="http://schemas.microsoft.com/office/drawing/2014/chart" uri="{C3380CC4-5D6E-409C-BE32-E72D297353CC}">
                  <c16:uniqueId val="{00000000-D14A-4406-9CC6-DEABADC486B8}"/>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RW"/>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('2025Q1&amp;Q2'!$B$51:$G$51,'2025Q1&amp;Q2'!$J$51,'2025Q1&amp;Q2'!$R$51,'2025Q1&amp;Q2'!$W$51,'2025Q1&amp;Q2'!$AF$51:$AH$51,'2025Q1&amp;Q2'!$AK$51,'2025Q1&amp;Q2'!$AR$51,'2025Q1&amp;Q2'!$AT$51,'2025Q1&amp;Q2'!$AV$51:$AY$51)</c:f>
              <c:strCache>
                <c:ptCount val="19"/>
                <c:pt idx="0">
                  <c:v>RGDP</c:v>
                </c:pt>
                <c:pt idx="1">
                  <c:v>RGDP_MLE</c:v>
                </c:pt>
                <c:pt idx="2">
                  <c:v>RGDP_BE</c:v>
                </c:pt>
                <c:pt idx="5">
                  <c:v>Drivers of the forecast</c:v>
                </c:pt>
                <c:pt idx="6">
                  <c:v>cement_imports </c:v>
                </c:pt>
                <c:pt idx="7">
                  <c:v>exp_val</c:v>
                </c:pt>
                <c:pt idx="8">
                  <c:v>Imp_Cap_vol</c:v>
                </c:pt>
                <c:pt idx="9">
                  <c:v>Monetary</c:v>
                </c:pt>
                <c:pt idx="10">
                  <c:v>demand</c:v>
                </c:pt>
                <c:pt idx="11">
                  <c:v>supply &amp; demand</c:v>
                </c:pt>
                <c:pt idx="12">
                  <c:v>nom_CIEA</c:v>
                </c:pt>
                <c:pt idx="13">
                  <c:v>Turnovers_Financial</c:v>
                </c:pt>
                <c:pt idx="14">
                  <c:v>turnovers_industry</c:v>
                </c:pt>
                <c:pt idx="15">
                  <c:v>turnovers_services</c:v>
                </c:pt>
                <c:pt idx="16">
                  <c:v>Turnovers_Trade</c:v>
                </c:pt>
                <c:pt idx="17">
                  <c:v>Turnovers_Transport</c:v>
                </c:pt>
                <c:pt idx="18">
                  <c:v>VAT_receipts</c:v>
                </c:pt>
              </c:strCache>
              <c:extLst/>
            </c:strRef>
          </c:cat>
          <c:val>
            <c:numRef>
              <c:f>('2025Q1&amp;Q2'!$B$54:$G$54,'2025Q1&amp;Q2'!$J$54,'2025Q1&amp;Q2'!$R$54,'2025Q1&amp;Q2'!$W$54,'2025Q1&amp;Q2'!$AF$54:$AH$54,'2025Q1&amp;Q2'!$AK$54,'2025Q1&amp;Q2'!$AR$54,'2025Q1&amp;Q2'!$AT$54,'2025Q1&amp;Q2'!$AV$54:$AY$54)</c:f>
              <c:numCache>
                <c:formatCode>0.0%</c:formatCode>
                <c:ptCount val="19"/>
                <c:pt idx="0">
                  <c:v>0.11240663144470764</c:v>
                </c:pt>
                <c:pt idx="1">
                  <c:v>0.11240663144470764</c:v>
                </c:pt>
                <c:pt idx="2">
                  <c:v>5.8717070504645585E-2</c:v>
                </c:pt>
                <c:pt idx="6">
                  <c:v>0.12398713126113647</c:v>
                </c:pt>
                <c:pt idx="7">
                  <c:v>0.1409089289249652</c:v>
                </c:pt>
                <c:pt idx="8">
                  <c:v>0.13699920807760835</c:v>
                </c:pt>
                <c:pt idx="9">
                  <c:v>-0.28126173035042557</c:v>
                </c:pt>
                <c:pt idx="10">
                  <c:v>-0.33234864383290441</c:v>
                </c:pt>
                <c:pt idx="11">
                  <c:v>-0.3055988913086517</c:v>
                </c:pt>
                <c:pt idx="12">
                  <c:v>0.16418827954860427</c:v>
                </c:pt>
                <c:pt idx="13">
                  <c:v>0.15695466244308065</c:v>
                </c:pt>
                <c:pt idx="14">
                  <c:v>0.20193169669372413</c:v>
                </c:pt>
                <c:pt idx="15">
                  <c:v>0.12140130667194615</c:v>
                </c:pt>
                <c:pt idx="16">
                  <c:v>0.14572104533755703</c:v>
                </c:pt>
                <c:pt idx="17">
                  <c:v>0.15585547416353185</c:v>
                </c:pt>
                <c:pt idx="18">
                  <c:v>0.13285468224114028</c:v>
                </c:pt>
              </c:numCache>
              <c:extLst/>
            </c:numRef>
          </c:val>
          <c:extLst>
            <c:ext xmlns:c16="http://schemas.microsoft.com/office/drawing/2014/chart" uri="{C3380CC4-5D6E-409C-BE32-E72D297353CC}">
              <c16:uniqueId val="{00000001-D14A-4406-9CC6-DEABADC486B8}"/>
            </c:ext>
          </c:extLst>
        </c:ser>
        <c:dLbls>
          <c:dLblPos val="inEnd"/>
          <c:showLegendKey val="0"/>
          <c:showVal val="1"/>
          <c:showCatName val="0"/>
          <c:showSerName val="0"/>
          <c:showPercent val="0"/>
          <c:showBubbleSize val="0"/>
        </c:dLbls>
        <c:gapWidth val="65"/>
        <c:axId val="852064943"/>
        <c:axId val="852067855"/>
      </c:barChart>
      <c:catAx>
        <c:axId val="852064943"/>
        <c:scaling>
          <c:orientation val="minMax"/>
        </c:scaling>
        <c:delete val="0"/>
        <c:axPos val="l"/>
        <c:numFmt formatCode="General" sourceLinked="1"/>
        <c:majorTickMark val="none"/>
        <c:minorTickMark val="none"/>
        <c:tickLblPos val="low"/>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700" b="0" i="0" u="none" strike="noStrike" kern="1200" cap="all" baseline="0">
                <a:solidFill>
                  <a:schemeClr val="dk1">
                    <a:lumMod val="75000"/>
                    <a:lumOff val="25000"/>
                  </a:schemeClr>
                </a:solidFill>
                <a:latin typeface="Bahnschrift" panose="020B0502040204020203" pitchFamily="34" charset="0"/>
                <a:ea typeface="+mn-ea"/>
                <a:cs typeface="+mn-cs"/>
              </a:defRPr>
            </a:pPr>
            <a:endParaRPr lang="en-RW"/>
          </a:p>
        </c:txPr>
        <c:crossAx val="852067855"/>
        <c:crosses val="autoZero"/>
        <c:auto val="1"/>
        <c:lblAlgn val="ctr"/>
        <c:lblOffset val="100"/>
        <c:noMultiLvlLbl val="0"/>
      </c:catAx>
      <c:valAx>
        <c:axId val="852067855"/>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none"/>
        <c:minorTickMark val="none"/>
        <c:tickLblPos val="nextTo"/>
        <c:spPr>
          <a:noFill/>
          <a:ln>
            <a:noFill/>
          </a:ln>
          <a:effectLst/>
        </c:spPr>
        <c:txPr>
          <a:bodyPr rot="5400000" spcFirstLastPara="1" vertOverflow="ellipsis"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RW"/>
          </a:p>
        </c:txPr>
        <c:crossAx val="852064943"/>
        <c:crosses val="autoZero"/>
        <c:crossBetween val="between"/>
      </c:valAx>
      <c:spPr>
        <a:noFill/>
        <a:ln>
          <a:noFill/>
        </a:ln>
        <a:effectLst/>
      </c:spPr>
    </c:plotArea>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R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baseline="0">
                <a:solidFill>
                  <a:schemeClr val="dk1">
                    <a:lumMod val="75000"/>
                    <a:lumOff val="25000"/>
                  </a:schemeClr>
                </a:solidFill>
                <a:latin typeface="Bahnschrift" panose="020B0502040204020203" pitchFamily="34" charset="0"/>
                <a:ea typeface="+mn-ea"/>
                <a:cs typeface="+mn-cs"/>
              </a:defRPr>
            </a:pPr>
            <a:r>
              <a:rPr lang="en-US">
                <a:latin typeface="Bahnschrift" panose="020B0502040204020203" pitchFamily="34" charset="0"/>
              </a:rPr>
              <a:t>GDP 2026Q2</a:t>
            </a:r>
          </a:p>
        </c:rich>
      </c:tx>
      <c:overlay val="0"/>
      <c:spPr>
        <a:noFill/>
        <a:ln>
          <a:noFill/>
        </a:ln>
        <a:effectLst/>
      </c:spPr>
      <c:txPr>
        <a:bodyPr rot="0" spcFirstLastPara="1" vertOverflow="ellipsis" vert="horz" wrap="square" anchor="ctr" anchorCtr="1"/>
        <a:lstStyle/>
        <a:p>
          <a:pPr>
            <a:defRPr sz="1800" b="1" i="0" u="none" strike="noStrike" kern="1200" baseline="0">
              <a:solidFill>
                <a:schemeClr val="dk1">
                  <a:lumMod val="75000"/>
                  <a:lumOff val="25000"/>
                </a:schemeClr>
              </a:solidFill>
              <a:latin typeface="Bahnschrift" panose="020B0502040204020203" pitchFamily="34" charset="0"/>
              <a:ea typeface="+mn-ea"/>
              <a:cs typeface="+mn-cs"/>
            </a:defRPr>
          </a:pPr>
          <a:endParaRPr lang="en-RW"/>
        </a:p>
      </c:txPr>
    </c:title>
    <c:autoTitleDeleted val="0"/>
    <c:plotArea>
      <c:layout>
        <c:manualLayout>
          <c:layoutTarget val="inner"/>
          <c:xMode val="edge"/>
          <c:yMode val="edge"/>
          <c:x val="0.39313514547286932"/>
          <c:y val="0.11492139457927102"/>
          <c:w val="0.56397985110891657"/>
          <c:h val="0.76954604493740142"/>
        </c:manualLayout>
      </c:layout>
      <c:barChart>
        <c:barDir val="bar"/>
        <c:grouping val="clustered"/>
        <c:varyColors val="0"/>
        <c:ser>
          <c:idx val="0"/>
          <c:order val="0"/>
          <c:tx>
            <c:strRef>
              <c:f>'2025Q1&amp;Q2'!$B$103:$AZ$103</c:f>
              <c:strCache>
                <c:ptCount val="51"/>
                <c:pt idx="0">
                  <c:v>RGDP</c:v>
                </c:pt>
                <c:pt idx="1">
                  <c:v>RGDP_MLE</c:v>
                </c:pt>
                <c:pt idx="2">
                  <c:v>RGDP_BE</c:v>
                </c:pt>
                <c:pt idx="6">
                  <c:v>Agriculture_exp_val</c:v>
                </c:pt>
                <c:pt idx="7">
                  <c:v>Agriculture_exp_vol</c:v>
                </c:pt>
                <c:pt idx="8">
                  <c:v>cement_imports </c:v>
                </c:pt>
                <c:pt idx="9">
                  <c:v>cement_production</c:v>
                </c:pt>
                <c:pt idx="10">
                  <c:v>cpi</c:v>
                </c:pt>
                <c:pt idx="11">
                  <c:v>cpi_Food</c:v>
                </c:pt>
                <c:pt idx="12">
                  <c:v>credit_priv_sector </c:v>
                </c:pt>
                <c:pt idx="13">
                  <c:v>electricity_prod </c:v>
                </c:pt>
                <c:pt idx="14">
                  <c:v>exp_3ts_val</c:v>
                </c:pt>
                <c:pt idx="15">
                  <c:v>exp_3ts_vol</c:v>
                </c:pt>
                <c:pt idx="16">
                  <c:v>exp_val</c:v>
                </c:pt>
                <c:pt idx="17">
                  <c:v>exp_vol</c:v>
                </c:pt>
                <c:pt idx="18">
                  <c:v>flour_production </c:v>
                </c:pt>
                <c:pt idx="19">
                  <c:v>IIP</c:v>
                </c:pt>
                <c:pt idx="20">
                  <c:v>Imp_Cap_val</c:v>
                </c:pt>
                <c:pt idx="21">
                  <c:v>Imp_Cap_vol</c:v>
                </c:pt>
                <c:pt idx="22">
                  <c:v>imp_cif</c:v>
                </c:pt>
                <c:pt idx="23">
                  <c:v>Imp_consumer_val</c:v>
                </c:pt>
                <c:pt idx="24">
                  <c:v>Imp_consumer_vol</c:v>
                </c:pt>
                <c:pt idx="25">
                  <c:v>Imp_Interm_val</c:v>
                </c:pt>
                <c:pt idx="26">
                  <c:v>Imp_Interm_vol</c:v>
                </c:pt>
                <c:pt idx="27">
                  <c:v>Import_petroleum_products</c:v>
                </c:pt>
                <c:pt idx="28">
                  <c:v>imp_vol</c:v>
                </c:pt>
                <c:pt idx="29">
                  <c:v>M3</c:v>
                </c:pt>
                <c:pt idx="30">
                  <c:v>Monetary</c:v>
                </c:pt>
                <c:pt idx="31">
                  <c:v>demand</c:v>
                </c:pt>
                <c:pt idx="32">
                  <c:v>supply &amp; demand</c:v>
                </c:pt>
                <c:pt idx="33">
                  <c:v>modern_beer </c:v>
                </c:pt>
                <c:pt idx="34">
                  <c:v>ner_eop_usd</c:v>
                </c:pt>
                <c:pt idx="35">
                  <c:v>nom_CIEA</c:v>
                </c:pt>
                <c:pt idx="36">
                  <c:v>ppi_all_rwanda </c:v>
                </c:pt>
                <c:pt idx="37">
                  <c:v>real_CIEA</c:v>
                </c:pt>
                <c:pt idx="38">
                  <c:v>rice_production </c:v>
                </c:pt>
                <c:pt idx="39">
                  <c:v>soft_drinks </c:v>
                </c:pt>
                <c:pt idx="40">
                  <c:v>Total_Cement</c:v>
                </c:pt>
                <c:pt idx="41">
                  <c:v>Turnovers_Construction</c:v>
                </c:pt>
                <c:pt idx="42">
                  <c:v>Turnovers_Financial</c:v>
                </c:pt>
                <c:pt idx="43">
                  <c:v>Turnovers_Hotel</c:v>
                </c:pt>
                <c:pt idx="44">
                  <c:v>turnovers_industry</c:v>
                </c:pt>
                <c:pt idx="45">
                  <c:v>Turnovers_Manuf</c:v>
                </c:pt>
                <c:pt idx="46">
                  <c:v>turnovers_services</c:v>
                </c:pt>
                <c:pt idx="47">
                  <c:v>Turnovers_Trade</c:v>
                </c:pt>
                <c:pt idx="48">
                  <c:v>Turnovers_Transport</c:v>
                </c:pt>
                <c:pt idx="49">
                  <c:v>VAT_receipts</c:v>
                </c:pt>
                <c:pt idx="50">
                  <c:v>water</c:v>
                </c:pt>
              </c:strCache>
            </c:strRef>
          </c:tx>
          <c:spPr>
            <a:solidFill>
              <a:schemeClr val="accent5">
                <a:lumMod val="60000"/>
                <a:lumOff val="40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en-RW"/>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('2025Q1&amp;Q2'!$B$103:$G$103,'2025Q1&amp;Q2'!$J$103,'2025Q1&amp;Q2'!$R$103,'2025Q1&amp;Q2'!$W$103,'2025Q1&amp;Q2'!$AF$103:$AH$103,'2025Q1&amp;Q2'!$AK$103,'2025Q1&amp;Q2'!$AR$103,'2025Q1&amp;Q2'!$AT$103,'2025Q1&amp;Q2'!$AV$103:$AY$103)</c:f>
              <c:strCache>
                <c:ptCount val="19"/>
                <c:pt idx="0">
                  <c:v>RGDP</c:v>
                </c:pt>
                <c:pt idx="1">
                  <c:v>RGDP_MLE</c:v>
                </c:pt>
                <c:pt idx="2">
                  <c:v>RGDP_BE</c:v>
                </c:pt>
                <c:pt idx="6">
                  <c:v>cement_imports </c:v>
                </c:pt>
                <c:pt idx="7">
                  <c:v>exp_val</c:v>
                </c:pt>
                <c:pt idx="8">
                  <c:v>Imp_Cap_vol</c:v>
                </c:pt>
                <c:pt idx="9">
                  <c:v>Monetary</c:v>
                </c:pt>
                <c:pt idx="10">
                  <c:v>demand</c:v>
                </c:pt>
                <c:pt idx="11">
                  <c:v>supply &amp; demand</c:v>
                </c:pt>
                <c:pt idx="12">
                  <c:v>nom_CIEA</c:v>
                </c:pt>
                <c:pt idx="13">
                  <c:v>Turnovers_Financial</c:v>
                </c:pt>
                <c:pt idx="14">
                  <c:v>turnovers_industry</c:v>
                </c:pt>
                <c:pt idx="15">
                  <c:v>turnovers_services</c:v>
                </c:pt>
                <c:pt idx="16">
                  <c:v>Turnovers_Trade</c:v>
                </c:pt>
                <c:pt idx="17">
                  <c:v>Turnovers_Transport</c:v>
                </c:pt>
                <c:pt idx="18">
                  <c:v>VAT_receipts</c:v>
                </c:pt>
              </c:strCache>
              <c:extLst/>
            </c:strRef>
          </c:cat>
          <c:val>
            <c:numRef>
              <c:f>('2025Q1&amp;Q2'!$B$106:$G$106,'2025Q1&amp;Q2'!$J$106,'2025Q1&amp;Q2'!$R$106,'2025Q1&amp;Q2'!$W$106,'2025Q1&amp;Q2'!$AF$106:$AH$106,'2025Q1&amp;Q2'!$AK$106,'2025Q1&amp;Q2'!$AR$106,'2025Q1&amp;Q2'!$AT$106,'2025Q1&amp;Q2'!$AV$106:$AY$106)</c:f>
              <c:numCache>
                <c:formatCode>0.0%</c:formatCode>
                <c:ptCount val="19"/>
                <c:pt idx="0">
                  <c:v>7.2172641609626442E-2</c:v>
                </c:pt>
                <c:pt idx="1">
                  <c:v>7.3611371841155293E-2</c:v>
                </c:pt>
                <c:pt idx="2">
                  <c:v>9.1283935018050544E-2</c:v>
                </c:pt>
                <c:pt idx="6">
                  <c:v>-0.30551474955454372</c:v>
                </c:pt>
                <c:pt idx="7">
                  <c:v>-0.33034824787170858</c:v>
                </c:pt>
                <c:pt idx="8">
                  <c:v>-0.29933735893882396</c:v>
                </c:pt>
                <c:pt idx="9">
                  <c:v>-0.29064818847752916</c:v>
                </c:pt>
                <c:pt idx="10">
                  <c:v>-0.32403029103147896</c:v>
                </c:pt>
                <c:pt idx="11">
                  <c:v>-0.3109095228667591</c:v>
                </c:pt>
                <c:pt idx="12">
                  <c:v>-0.28293367649970302</c:v>
                </c:pt>
                <c:pt idx="13">
                  <c:v>-0.30320194020985947</c:v>
                </c:pt>
                <c:pt idx="14">
                  <c:v>-0.23649851514551579</c:v>
                </c:pt>
                <c:pt idx="15">
                  <c:v>-0.29333993268659664</c:v>
                </c:pt>
                <c:pt idx="16">
                  <c:v>-0.29425876064145717</c:v>
                </c:pt>
                <c:pt idx="17">
                  <c:v>-0.30451692734112057</c:v>
                </c:pt>
                <c:pt idx="18">
                  <c:v>-0.2823296376955059</c:v>
                </c:pt>
              </c:numCache>
              <c:extLst/>
            </c:numRef>
          </c:val>
          <c:extLst>
            <c:ext xmlns:c16="http://schemas.microsoft.com/office/drawing/2014/chart" uri="{C3380CC4-5D6E-409C-BE32-E72D297353CC}">
              <c16:uniqueId val="{00000000-F544-4F36-B631-1A06D8118C0A}"/>
            </c:ext>
          </c:extLst>
        </c:ser>
        <c:dLbls>
          <c:dLblPos val="inEnd"/>
          <c:showLegendKey val="0"/>
          <c:showVal val="1"/>
          <c:showCatName val="0"/>
          <c:showSerName val="0"/>
          <c:showPercent val="0"/>
          <c:showBubbleSize val="0"/>
        </c:dLbls>
        <c:gapWidth val="65"/>
        <c:axId val="852064943"/>
        <c:axId val="852067855"/>
      </c:barChart>
      <c:catAx>
        <c:axId val="852064943"/>
        <c:scaling>
          <c:orientation val="minMax"/>
        </c:scaling>
        <c:delete val="0"/>
        <c:axPos val="l"/>
        <c:numFmt formatCode="General" sourceLinked="1"/>
        <c:majorTickMark val="none"/>
        <c:minorTickMark val="none"/>
        <c:tickLblPos val="low"/>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900" b="0" i="0" u="none" strike="noStrike" kern="1200" cap="all" baseline="0">
                <a:solidFill>
                  <a:schemeClr val="dk1">
                    <a:lumMod val="75000"/>
                    <a:lumOff val="25000"/>
                  </a:schemeClr>
                </a:solidFill>
                <a:latin typeface="Bahnschrift" panose="020B0502040204020203" pitchFamily="34" charset="0"/>
                <a:ea typeface="+mn-ea"/>
                <a:cs typeface="+mn-cs"/>
              </a:defRPr>
            </a:pPr>
            <a:endParaRPr lang="en-RW"/>
          </a:p>
        </c:txPr>
        <c:crossAx val="852067855"/>
        <c:crosses val="autoZero"/>
        <c:auto val="1"/>
        <c:lblAlgn val="ctr"/>
        <c:lblOffset val="100"/>
        <c:noMultiLvlLbl val="0"/>
      </c:catAx>
      <c:valAx>
        <c:axId val="852067855"/>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0%" sourceLinked="1"/>
        <c:majorTickMark val="none"/>
        <c:minorTickMark val="none"/>
        <c:tickLblPos val="low"/>
        <c:spPr>
          <a:noFill/>
          <a:ln>
            <a:noFill/>
          </a:ln>
          <a:effectLst/>
        </c:spPr>
        <c:txPr>
          <a:bodyPr rot="5400000" spcFirstLastPara="1" vertOverflow="ellipsis" wrap="square" anchor="ctr" anchorCtr="1"/>
          <a:lstStyle/>
          <a:p>
            <a:pPr>
              <a:defRPr sz="900" b="0" i="0" u="none" strike="noStrike" kern="1200" baseline="0">
                <a:solidFill>
                  <a:schemeClr val="dk1">
                    <a:lumMod val="75000"/>
                    <a:lumOff val="25000"/>
                  </a:schemeClr>
                </a:solidFill>
                <a:latin typeface="+mn-lt"/>
                <a:ea typeface="+mn-ea"/>
                <a:cs typeface="+mn-cs"/>
              </a:defRPr>
            </a:pPr>
            <a:endParaRPr lang="en-RW"/>
          </a:p>
        </c:txPr>
        <c:crossAx val="852064943"/>
        <c:crosses val="autoZero"/>
        <c:crossBetween val="between"/>
      </c:valAx>
      <c:spPr>
        <a:noFill/>
        <a:ln>
          <a:noFill/>
        </a:ln>
        <a:effectLst/>
      </c:spPr>
    </c:plotArea>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RW"/>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900"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900"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900" kern="1200"/>
  </cs:chartArea>
  <cs:dataLabel>
    <cs:lnRef idx="0"/>
    <cs:fillRef idx="0"/>
    <cs:effectRef idx="0"/>
    <cs:fontRef idx="minor">
      <a:schemeClr val="lt1"/>
    </cs:fontRef>
    <cs:defRPr sz="9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9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900"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18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455B40-6B79-4546-941C-81D3ACC02670}" type="datetimeFigureOut">
              <a:rPr lang="en-GB" smtClean="0"/>
              <a:t>23/04/2026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BD5F8B-77E8-4AE0-BBCF-94EA66459FDE}" type="slidenum">
              <a:rPr lang="en-GB" smtClean="0"/>
              <a:t>‹#›</a:t>
            </a:fld>
            <a:endParaRPr lang="en-GB"/>
          </a:p>
        </p:txBody>
      </p:sp>
    </p:spTree>
    <p:extLst>
      <p:ext uri="{BB962C8B-B14F-4D97-AF65-F5344CB8AC3E}">
        <p14:creationId xmlns:p14="http://schemas.microsoft.com/office/powerpoint/2010/main" val="1096683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W" dirty="0"/>
          </a:p>
        </p:txBody>
      </p:sp>
      <p:sp>
        <p:nvSpPr>
          <p:cNvPr id="4" name="Slide Number Placeholder 3"/>
          <p:cNvSpPr>
            <a:spLocks noGrp="1"/>
          </p:cNvSpPr>
          <p:nvPr>
            <p:ph type="sldNum" sz="quarter" idx="5"/>
          </p:nvPr>
        </p:nvSpPr>
        <p:spPr/>
        <p:txBody>
          <a:bodyPr/>
          <a:lstStyle/>
          <a:p>
            <a:fld id="{29BD5F8B-77E8-4AE0-BBCF-94EA66459FDE}" type="slidenum">
              <a:rPr lang="en-GB" smtClean="0"/>
              <a:t>4</a:t>
            </a:fld>
            <a:endParaRPr lang="en-GB"/>
          </a:p>
        </p:txBody>
      </p:sp>
    </p:spTree>
    <p:extLst>
      <p:ext uri="{BB962C8B-B14F-4D97-AF65-F5344CB8AC3E}">
        <p14:creationId xmlns:p14="http://schemas.microsoft.com/office/powerpoint/2010/main" val="2497009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4EA1D-D746-601F-4646-A95FEEF56C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7BF327-AAF7-DDA8-8F4A-A34D5FA2A4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BF7C77-B174-9087-C9B7-9328A5EBFE56}"/>
              </a:ext>
            </a:extLst>
          </p:cNvPr>
          <p:cNvSpPr>
            <a:spLocks noGrp="1"/>
          </p:cNvSpPr>
          <p:nvPr>
            <p:ph type="body" idx="1"/>
          </p:nvPr>
        </p:nvSpPr>
        <p:spPr/>
        <p:txBody>
          <a:bodyPr/>
          <a:lstStyle/>
          <a:p>
            <a:endParaRPr lang="en-RW" dirty="0"/>
          </a:p>
        </p:txBody>
      </p:sp>
      <p:sp>
        <p:nvSpPr>
          <p:cNvPr id="4" name="Slide Number Placeholder 3">
            <a:extLst>
              <a:ext uri="{FF2B5EF4-FFF2-40B4-BE49-F238E27FC236}">
                <a16:creationId xmlns:a16="http://schemas.microsoft.com/office/drawing/2014/main" id="{4CC2FA37-5E09-0D3A-A1B5-C994A3425F02}"/>
              </a:ext>
            </a:extLst>
          </p:cNvPr>
          <p:cNvSpPr>
            <a:spLocks noGrp="1"/>
          </p:cNvSpPr>
          <p:nvPr>
            <p:ph type="sldNum" sz="quarter" idx="5"/>
          </p:nvPr>
        </p:nvSpPr>
        <p:spPr/>
        <p:txBody>
          <a:bodyPr/>
          <a:lstStyle/>
          <a:p>
            <a:fld id="{29BD5F8B-77E8-4AE0-BBCF-94EA66459FDE}" type="slidenum">
              <a:rPr lang="en-GB" smtClean="0"/>
              <a:t>5</a:t>
            </a:fld>
            <a:endParaRPr lang="en-GB"/>
          </a:p>
        </p:txBody>
      </p:sp>
    </p:spTree>
    <p:extLst>
      <p:ext uri="{BB962C8B-B14F-4D97-AF65-F5344CB8AC3E}">
        <p14:creationId xmlns:p14="http://schemas.microsoft.com/office/powerpoint/2010/main" val="3007055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t>Common Statistical Measures for Forecast Uncertainty/accuracy 1. Bias: the difference between the forecasts and the correct outcome, 2. Variance (“standard forecast error,</a:t>
            </a:r>
          </a:p>
          <a:p>
            <a:r>
              <a:rPr lang="en-US" sz="800" dirty="0"/>
              <a:t>SE”) sqrt of (FE-BIAS)</a:t>
            </a:r>
            <a:r>
              <a:rPr lang="en-US" sz="800" dirty="0">
                <a:effectLst>
                  <a:outerShdw blurRad="38100" dist="38100" dir="2700000" algn="tl">
                    <a:srgbClr val="000000">
                      <a:alpha val="43137"/>
                    </a:srgbClr>
                  </a:outerShdw>
                </a:effectLst>
              </a:rPr>
              <a:t>, 3. MSE—combination of SE &amp; BIAS, 4. RMSE sqrt of MSE, 5. MAE and MAPE 6. Theil’s U Statistics for forecast accuracy (U1) and quality (U2)—compares forecast with benchmark or naïve forecasting model. </a:t>
            </a:r>
            <a:r>
              <a:rPr lang="en-US" sz="1050" dirty="0">
                <a:effectLst>
                  <a:outerShdw blurRad="38100" dist="38100" dir="2700000" algn="tl">
                    <a:srgbClr val="000000">
                      <a:alpha val="43137"/>
                    </a:srgbClr>
                  </a:outerShdw>
                </a:effectLst>
              </a:rPr>
              <a:t>F</a:t>
            </a:r>
            <a:r>
              <a:rPr lang="en-US" sz="1050" dirty="0"/>
              <a:t>orecast evaluation statistics worsen as forecast horizon increases.</a:t>
            </a:r>
            <a:endParaRPr lang="en-RW" sz="800" dirty="0"/>
          </a:p>
        </p:txBody>
      </p:sp>
      <p:sp>
        <p:nvSpPr>
          <p:cNvPr id="4" name="Slide Number Placeholder 3"/>
          <p:cNvSpPr>
            <a:spLocks noGrp="1"/>
          </p:cNvSpPr>
          <p:nvPr>
            <p:ph type="sldNum" sz="quarter" idx="5"/>
          </p:nvPr>
        </p:nvSpPr>
        <p:spPr/>
        <p:txBody>
          <a:bodyPr/>
          <a:lstStyle/>
          <a:p>
            <a:fld id="{29BD5F8B-77E8-4AE0-BBCF-94EA66459FDE}" type="slidenum">
              <a:rPr lang="en-GB" smtClean="0"/>
              <a:t>7</a:t>
            </a:fld>
            <a:endParaRPr lang="en-GB"/>
          </a:p>
        </p:txBody>
      </p:sp>
    </p:spTree>
    <p:extLst>
      <p:ext uri="{BB962C8B-B14F-4D97-AF65-F5344CB8AC3E}">
        <p14:creationId xmlns:p14="http://schemas.microsoft.com/office/powerpoint/2010/main" val="3427816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-Autoregression model means we forecast the variable of interest using a linear combination of past values of the variable. The term auto-regression indicates that it is a regression of the variable against itself. This technique is similar to a linear regression model in how it uses past values as inputs to the regression. </a:t>
                </a:r>
                <a14:m>
                  <m:oMath xmlns:m="http://schemas.openxmlformats.org/officeDocument/2006/math">
                    <m:sSub>
                      <m:sSubPr>
                        <m:ctrlPr>
                          <a:rPr lang="en-RW" sz="1200" i="1" kern="1200" smtClean="0">
                            <a:solidFill>
                              <a:schemeClr val="tx1"/>
                            </a:solidFill>
                            <a:latin typeface="Cambria Math" panose="02040503050406030204" pitchFamily="18" charset="0"/>
                            <a:ea typeface="+mn-ea"/>
                            <a:cs typeface="+mn-cs"/>
                          </a:rPr>
                        </m:ctrlPr>
                      </m:sSubPr>
                      <m:e>
                        <m:r>
                          <a:rPr lang="en-RW" sz="1200" i="1" kern="1200">
                            <a:solidFill>
                              <a:schemeClr val="tx1"/>
                            </a:solidFill>
                            <a:latin typeface="Cambria Math" panose="02040503050406030204" pitchFamily="18" charset="0"/>
                            <a:ea typeface="+mn-ea"/>
                            <a:cs typeface="+mn-cs"/>
                          </a:rPr>
                          <m:t>𝑦</m:t>
                        </m:r>
                      </m:e>
                      <m:sub>
                        <m:r>
                          <a:rPr lang="en-RW" sz="1200" i="1" kern="1200">
                            <a:solidFill>
                              <a:schemeClr val="tx1"/>
                            </a:solidFill>
                            <a:latin typeface="Cambria Math" panose="02040503050406030204" pitchFamily="18" charset="0"/>
                            <a:ea typeface="+mn-ea"/>
                            <a:cs typeface="+mn-cs"/>
                          </a:rPr>
                          <m:t>𝑡</m:t>
                        </m:r>
                      </m:sub>
                    </m:sSub>
                    <m:r>
                      <a:rPr lang="en-RW" sz="1200" i="0" kern="1200">
                        <a:solidFill>
                          <a:schemeClr val="tx1"/>
                        </a:solidFill>
                        <a:latin typeface="Cambria Math" panose="02040503050406030204" pitchFamily="18" charset="0"/>
                        <a:ea typeface="+mn-ea"/>
                        <a:cs typeface="+mn-cs"/>
                      </a:rPr>
                      <m:t>=</m:t>
                    </m:r>
                    <m:r>
                      <a:rPr lang="en-RW" sz="1200" i="1" kern="1200">
                        <a:solidFill>
                          <a:schemeClr val="tx1"/>
                        </a:solidFill>
                        <a:latin typeface="Cambria Math" panose="02040503050406030204" pitchFamily="18" charset="0"/>
                        <a:ea typeface="+mn-ea"/>
                        <a:cs typeface="+mn-cs"/>
                      </a:rPr>
                      <m:t>𝐶</m:t>
                    </m:r>
                    <m:r>
                      <a:rPr lang="en-RW" sz="1200" i="0" kern="1200">
                        <a:solidFill>
                          <a:schemeClr val="tx1"/>
                        </a:solidFill>
                        <a:latin typeface="Cambria Math" panose="02040503050406030204" pitchFamily="18" charset="0"/>
                        <a:ea typeface="+mn-ea"/>
                        <a:cs typeface="+mn-cs"/>
                      </a:rPr>
                      <m:t>+</m:t>
                    </m:r>
                    <m:sSub>
                      <m:sSubPr>
                        <m:ctrlPr>
                          <a:rPr lang="en-RW" sz="1200" i="1" kern="1200">
                            <a:solidFill>
                              <a:schemeClr val="tx1"/>
                            </a:solidFill>
                            <a:latin typeface="Cambria Math" panose="02040503050406030204" pitchFamily="18" charset="0"/>
                            <a:ea typeface="+mn-ea"/>
                            <a:cs typeface="+mn-cs"/>
                          </a:rPr>
                        </m:ctrlPr>
                      </m:sSubPr>
                      <m:e>
                        <m:r>
                          <a:rPr lang="en-RW" sz="1200" i="1" kern="1200">
                            <a:solidFill>
                              <a:schemeClr val="tx1"/>
                            </a:solidFill>
                            <a:latin typeface="Cambria Math" panose="02040503050406030204" pitchFamily="18" charset="0"/>
                            <a:ea typeface="+mn-ea"/>
                            <a:cs typeface="+mn-cs"/>
                          </a:rPr>
                          <m:t>𝜙</m:t>
                        </m:r>
                      </m:e>
                      <m:sub>
                        <m:r>
                          <a:rPr lang="en-RW" sz="1200" i="0" kern="1200">
                            <a:solidFill>
                              <a:schemeClr val="tx1"/>
                            </a:solidFill>
                            <a:latin typeface="Cambria Math" panose="02040503050406030204" pitchFamily="18" charset="0"/>
                            <a:ea typeface="+mn-ea"/>
                            <a:cs typeface="+mn-cs"/>
                          </a:rPr>
                          <m:t>1</m:t>
                        </m:r>
                      </m:sub>
                    </m:sSub>
                    <m:sSub>
                      <m:sSubPr>
                        <m:ctrlPr>
                          <a:rPr lang="en-RW" sz="1200" i="1" kern="1200">
                            <a:solidFill>
                              <a:schemeClr val="tx1"/>
                            </a:solidFill>
                            <a:latin typeface="Cambria Math" panose="02040503050406030204" pitchFamily="18" charset="0"/>
                            <a:ea typeface="+mn-ea"/>
                            <a:cs typeface="+mn-cs"/>
                          </a:rPr>
                        </m:ctrlPr>
                      </m:sSubPr>
                      <m:e>
                        <m:r>
                          <a:rPr lang="en-RW" sz="1200" i="1" kern="1200">
                            <a:solidFill>
                              <a:schemeClr val="tx1"/>
                            </a:solidFill>
                            <a:latin typeface="Cambria Math" panose="02040503050406030204" pitchFamily="18" charset="0"/>
                            <a:ea typeface="+mn-ea"/>
                            <a:cs typeface="+mn-cs"/>
                          </a:rPr>
                          <m:t>𝑦</m:t>
                        </m:r>
                      </m:e>
                      <m:sub>
                        <m:r>
                          <a:rPr lang="en-RW" sz="1200" i="1" kern="1200">
                            <a:solidFill>
                              <a:schemeClr val="tx1"/>
                            </a:solidFill>
                            <a:latin typeface="Cambria Math" panose="02040503050406030204" pitchFamily="18" charset="0"/>
                            <a:ea typeface="+mn-ea"/>
                            <a:cs typeface="+mn-cs"/>
                          </a:rPr>
                          <m:t>𝑡</m:t>
                        </m:r>
                        <m:r>
                          <a:rPr lang="en-RW" sz="1200" i="0" kern="1200">
                            <a:solidFill>
                              <a:schemeClr val="tx1"/>
                            </a:solidFill>
                            <a:latin typeface="Cambria Math" panose="02040503050406030204" pitchFamily="18" charset="0"/>
                            <a:ea typeface="+mn-ea"/>
                            <a:cs typeface="+mn-cs"/>
                          </a:rPr>
                          <m:t>−</m:t>
                        </m:r>
                        <m:r>
                          <a:rPr lang="en-RW" sz="1200" i="0" kern="1200">
                            <a:solidFill>
                              <a:schemeClr val="tx1"/>
                            </a:solidFill>
                            <a:latin typeface="Cambria Math" panose="02040503050406030204" pitchFamily="18" charset="0"/>
                            <a:ea typeface="+mn-ea"/>
                            <a:cs typeface="+mn-cs"/>
                          </a:rPr>
                          <m:t>1</m:t>
                        </m:r>
                      </m:sub>
                    </m:sSub>
                    <m:r>
                      <a:rPr lang="en-RW" sz="1200" i="0" kern="1200">
                        <a:solidFill>
                          <a:schemeClr val="tx1"/>
                        </a:solidFill>
                        <a:latin typeface="Cambria Math" panose="02040503050406030204" pitchFamily="18" charset="0"/>
                        <a:ea typeface="+mn-ea"/>
                        <a:cs typeface="+mn-cs"/>
                      </a:rPr>
                      <m:t>+</m:t>
                    </m:r>
                    <m:sSub>
                      <m:sSubPr>
                        <m:ctrlPr>
                          <a:rPr lang="en-RW" sz="1200" i="1" kern="1200">
                            <a:solidFill>
                              <a:schemeClr val="tx1"/>
                            </a:solidFill>
                            <a:latin typeface="Cambria Math" panose="02040503050406030204" pitchFamily="18" charset="0"/>
                            <a:ea typeface="+mn-ea"/>
                            <a:cs typeface="+mn-cs"/>
                          </a:rPr>
                        </m:ctrlPr>
                      </m:sSubPr>
                      <m:e>
                        <m:r>
                          <a:rPr lang="en-RW" sz="1200" i="1" kern="1200">
                            <a:solidFill>
                              <a:schemeClr val="tx1"/>
                            </a:solidFill>
                            <a:latin typeface="Cambria Math" panose="02040503050406030204" pitchFamily="18" charset="0"/>
                            <a:ea typeface="+mn-ea"/>
                            <a:cs typeface="+mn-cs"/>
                          </a:rPr>
                          <m:t>𝜙</m:t>
                        </m:r>
                      </m:e>
                      <m:sub>
                        <m:r>
                          <a:rPr lang="en-RW" sz="1200" i="0" kern="1200">
                            <a:solidFill>
                              <a:schemeClr val="tx1"/>
                            </a:solidFill>
                            <a:latin typeface="Cambria Math" panose="02040503050406030204" pitchFamily="18" charset="0"/>
                            <a:ea typeface="+mn-ea"/>
                            <a:cs typeface="+mn-cs"/>
                          </a:rPr>
                          <m:t>2</m:t>
                        </m:r>
                      </m:sub>
                    </m:sSub>
                    <m:sSub>
                      <m:sSubPr>
                        <m:ctrlPr>
                          <a:rPr lang="en-RW" sz="1200" i="1" kern="1200">
                            <a:solidFill>
                              <a:schemeClr val="tx1"/>
                            </a:solidFill>
                            <a:latin typeface="Cambria Math" panose="02040503050406030204" pitchFamily="18" charset="0"/>
                            <a:ea typeface="+mn-ea"/>
                            <a:cs typeface="+mn-cs"/>
                          </a:rPr>
                        </m:ctrlPr>
                      </m:sSubPr>
                      <m:e>
                        <m:r>
                          <a:rPr lang="en-RW" sz="1200" i="1" kern="1200">
                            <a:solidFill>
                              <a:schemeClr val="tx1"/>
                            </a:solidFill>
                            <a:latin typeface="Cambria Math" panose="02040503050406030204" pitchFamily="18" charset="0"/>
                            <a:ea typeface="+mn-ea"/>
                            <a:cs typeface="+mn-cs"/>
                          </a:rPr>
                          <m:t>𝑦</m:t>
                        </m:r>
                      </m:e>
                      <m:sub>
                        <m:r>
                          <a:rPr lang="en-RW" sz="1200" i="1" kern="1200">
                            <a:solidFill>
                              <a:schemeClr val="tx1"/>
                            </a:solidFill>
                            <a:latin typeface="Cambria Math" panose="02040503050406030204" pitchFamily="18" charset="0"/>
                            <a:ea typeface="+mn-ea"/>
                            <a:cs typeface="+mn-cs"/>
                          </a:rPr>
                          <m:t>𝑡</m:t>
                        </m:r>
                        <m:r>
                          <a:rPr lang="en-RW" sz="1200" i="0" kern="1200">
                            <a:solidFill>
                              <a:schemeClr val="tx1"/>
                            </a:solidFill>
                            <a:latin typeface="Cambria Math" panose="02040503050406030204" pitchFamily="18" charset="0"/>
                            <a:ea typeface="+mn-ea"/>
                            <a:cs typeface="+mn-cs"/>
                          </a:rPr>
                          <m:t>−</m:t>
                        </m:r>
                        <m:r>
                          <a:rPr lang="en-RW" sz="1200" i="0" kern="1200">
                            <a:solidFill>
                              <a:schemeClr val="tx1"/>
                            </a:solidFill>
                            <a:latin typeface="Cambria Math" panose="02040503050406030204" pitchFamily="18" charset="0"/>
                            <a:ea typeface="+mn-ea"/>
                            <a:cs typeface="+mn-cs"/>
                          </a:rPr>
                          <m:t>2</m:t>
                        </m:r>
                      </m:sub>
                    </m:sSub>
                    <m:r>
                      <a:rPr lang="en-RW" sz="1200" i="0" kern="1200">
                        <a:solidFill>
                          <a:schemeClr val="tx1"/>
                        </a:solidFill>
                        <a:latin typeface="Cambria Math" panose="02040503050406030204" pitchFamily="18" charset="0"/>
                        <a:ea typeface="+mn-ea"/>
                        <a:cs typeface="+mn-cs"/>
                      </a:rPr>
                      <m:t>+...</m:t>
                    </m:r>
                    <m:sSub>
                      <m:sSubPr>
                        <m:ctrlPr>
                          <a:rPr lang="en-RW" sz="1200" i="1" kern="1200">
                            <a:solidFill>
                              <a:schemeClr val="tx1"/>
                            </a:solidFill>
                            <a:latin typeface="Cambria Math" panose="02040503050406030204" pitchFamily="18" charset="0"/>
                            <a:ea typeface="+mn-ea"/>
                            <a:cs typeface="+mn-cs"/>
                          </a:rPr>
                        </m:ctrlPr>
                      </m:sSubPr>
                      <m:e>
                        <m:r>
                          <a:rPr lang="en-RW" sz="1200" i="1" kern="1200">
                            <a:solidFill>
                              <a:schemeClr val="tx1"/>
                            </a:solidFill>
                            <a:latin typeface="Cambria Math" panose="02040503050406030204" pitchFamily="18" charset="0"/>
                            <a:ea typeface="+mn-ea"/>
                            <a:cs typeface="+mn-cs"/>
                          </a:rPr>
                          <m:t>𝜙</m:t>
                        </m:r>
                      </m:e>
                      <m:sub>
                        <m:r>
                          <a:rPr lang="en-RW" sz="1200" i="1" kern="1200">
                            <a:solidFill>
                              <a:schemeClr val="tx1"/>
                            </a:solidFill>
                            <a:latin typeface="Cambria Math" panose="02040503050406030204" pitchFamily="18" charset="0"/>
                            <a:ea typeface="+mn-ea"/>
                            <a:cs typeface="+mn-cs"/>
                          </a:rPr>
                          <m:t>𝑞</m:t>
                        </m:r>
                      </m:sub>
                    </m:sSub>
                    <m:sSub>
                      <m:sSubPr>
                        <m:ctrlPr>
                          <a:rPr lang="en-RW" sz="1200" i="1" kern="1200">
                            <a:solidFill>
                              <a:schemeClr val="tx1"/>
                            </a:solidFill>
                            <a:latin typeface="Cambria Math" panose="02040503050406030204" pitchFamily="18" charset="0"/>
                            <a:ea typeface="+mn-ea"/>
                            <a:cs typeface="+mn-cs"/>
                          </a:rPr>
                        </m:ctrlPr>
                      </m:sSubPr>
                      <m:e>
                        <m:r>
                          <a:rPr lang="en-RW" sz="1200" i="1" kern="1200">
                            <a:solidFill>
                              <a:schemeClr val="tx1"/>
                            </a:solidFill>
                            <a:latin typeface="Cambria Math" panose="02040503050406030204" pitchFamily="18" charset="0"/>
                            <a:ea typeface="+mn-ea"/>
                            <a:cs typeface="+mn-cs"/>
                          </a:rPr>
                          <m:t>𝑦</m:t>
                        </m:r>
                      </m:e>
                      <m:sub>
                        <m:r>
                          <a:rPr lang="en-RW" sz="1200" i="1" kern="1200">
                            <a:solidFill>
                              <a:schemeClr val="tx1"/>
                            </a:solidFill>
                            <a:latin typeface="Cambria Math" panose="02040503050406030204" pitchFamily="18" charset="0"/>
                            <a:ea typeface="+mn-ea"/>
                            <a:cs typeface="+mn-cs"/>
                          </a:rPr>
                          <m:t>𝑡</m:t>
                        </m:r>
                        <m:r>
                          <a:rPr lang="en-RW" sz="1200" i="0" kern="1200">
                            <a:solidFill>
                              <a:schemeClr val="tx1"/>
                            </a:solidFill>
                            <a:latin typeface="Cambria Math" panose="02040503050406030204" pitchFamily="18" charset="0"/>
                            <a:ea typeface="+mn-ea"/>
                            <a:cs typeface="+mn-cs"/>
                          </a:rPr>
                          <m:t>−</m:t>
                        </m:r>
                        <m:r>
                          <a:rPr lang="en-RW" sz="1200" i="1" kern="1200">
                            <a:solidFill>
                              <a:schemeClr val="tx1"/>
                            </a:solidFill>
                            <a:latin typeface="Cambria Math" panose="02040503050406030204" pitchFamily="18" charset="0"/>
                            <a:ea typeface="+mn-ea"/>
                            <a:cs typeface="+mn-cs"/>
                          </a:rPr>
                          <m:t>𝑞</m:t>
                        </m:r>
                      </m:sub>
                    </m:sSub>
                    <m:r>
                      <a:rPr lang="en-RW" sz="1200" i="0" kern="1200">
                        <a:solidFill>
                          <a:schemeClr val="tx1"/>
                        </a:solidFill>
                        <a:latin typeface="Cambria Math" panose="02040503050406030204" pitchFamily="18" charset="0"/>
                        <a:ea typeface="+mn-ea"/>
                        <a:cs typeface="+mn-cs"/>
                      </a:rPr>
                      <m:t>+</m:t>
                    </m:r>
                    <m:sSub>
                      <m:sSubPr>
                        <m:ctrlPr>
                          <a:rPr lang="en-RW" sz="1200" i="1" kern="1200">
                            <a:solidFill>
                              <a:schemeClr val="tx1"/>
                            </a:solidFill>
                            <a:latin typeface="Cambria Math" panose="02040503050406030204" pitchFamily="18" charset="0"/>
                            <a:ea typeface="+mn-ea"/>
                            <a:cs typeface="+mn-cs"/>
                          </a:rPr>
                        </m:ctrlPr>
                      </m:sSubPr>
                      <m:e>
                        <m:r>
                          <a:rPr lang="en-RW" sz="1200" i="1" kern="1200">
                            <a:solidFill>
                              <a:schemeClr val="tx1"/>
                            </a:solidFill>
                            <a:latin typeface="Cambria Math" panose="02040503050406030204" pitchFamily="18" charset="0"/>
                            <a:ea typeface="+mn-ea"/>
                            <a:cs typeface="+mn-cs"/>
                          </a:rPr>
                          <m:t>𝜖</m:t>
                        </m:r>
                      </m:e>
                      <m:sub>
                        <m:r>
                          <a:rPr lang="en-RW" sz="1200" i="1" kern="1200">
                            <a:solidFill>
                              <a:schemeClr val="tx1"/>
                            </a:solidFill>
                            <a:latin typeface="Cambria Math" panose="02040503050406030204" pitchFamily="18" charset="0"/>
                            <a:ea typeface="+mn-ea"/>
                            <a:cs typeface="+mn-cs"/>
                          </a:rPr>
                          <m:t>𝑡</m:t>
                        </m:r>
                      </m:sub>
                    </m:sSub>
                  </m:oMath>
                </a14:m>
                <a:endParaRPr lang="en-US" dirty="0"/>
              </a:p>
              <a:p>
                <a:r>
                  <a:rPr lang="en-US" dirty="0"/>
                  <a:t>-A moving average model on the other hand uses the past forecast errors rather than using past values of the forecast variable in a regression. A moving average simply averages k values in a window, where k is the size of the moving average window, and then advances the window. The forecast values are evaluated using the actual values to determine the error at each step in the time series. </a:t>
                </a:r>
                <a:r>
                  <a:rPr lang="ar-AE" sz="1200" b="0" i="0" kern="1200" dirty="0">
                    <a:solidFill>
                      <a:schemeClr val="tx1"/>
                    </a:solidFill>
                    <a:effectLst/>
                    <a:latin typeface="+mn-lt"/>
                    <a:ea typeface="+mn-ea"/>
                    <a:cs typeface="+mn-cs"/>
                  </a:rPr>
                  <a:t>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𝑦</m:t>
                        </m:r>
                      </m:e>
                      <m:sub>
                        <m:r>
                          <a:rPr lang="ar-AE" sz="1200" i="1" kern="1200">
                            <a:solidFill>
                              <a:schemeClr val="tx1"/>
                            </a:solidFill>
                            <a:latin typeface="Cambria Math" panose="02040503050406030204" pitchFamily="18" charset="0"/>
                            <a:ea typeface="+mn-ea"/>
                            <a:cs typeface="+mn-cs"/>
                          </a:rPr>
                          <m:t>𝑡</m:t>
                        </m:r>
                      </m:sub>
                    </m:sSub>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𝐶</m:t>
                    </m:r>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𝜖</m:t>
                        </m:r>
                      </m:e>
                      <m:sub>
                        <m:r>
                          <a:rPr lang="ar-AE" sz="1200" i="1" kern="1200">
                            <a:solidFill>
                              <a:schemeClr val="tx1"/>
                            </a:solidFill>
                            <a:latin typeface="Cambria Math" panose="02040503050406030204" pitchFamily="18" charset="0"/>
                            <a:ea typeface="+mn-ea"/>
                            <a:cs typeface="+mn-cs"/>
                          </a:rPr>
                          <m:t>𝑡</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𝜃</m:t>
                        </m:r>
                      </m:e>
                      <m:sub>
                        <m:r>
                          <a:rPr lang="ar-AE" sz="1200" i="0" kern="1200">
                            <a:solidFill>
                              <a:schemeClr val="tx1"/>
                            </a:solidFill>
                            <a:latin typeface="Cambria Math" panose="02040503050406030204" pitchFamily="18" charset="0"/>
                            <a:ea typeface="+mn-ea"/>
                            <a:cs typeface="+mn-cs"/>
                          </a:rPr>
                          <m:t>1</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𝜖</m:t>
                        </m:r>
                      </m:e>
                      <m:sub>
                        <m:r>
                          <a:rPr lang="ar-AE" sz="1200" i="1" kern="1200">
                            <a:solidFill>
                              <a:schemeClr val="tx1"/>
                            </a:solidFill>
                            <a:latin typeface="Cambria Math" panose="02040503050406030204" pitchFamily="18" charset="0"/>
                            <a:ea typeface="+mn-ea"/>
                            <a:cs typeface="+mn-cs"/>
                          </a:rPr>
                          <m:t>𝑡</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1</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𝜃</m:t>
                        </m:r>
                      </m:e>
                      <m:sub>
                        <m:r>
                          <a:rPr lang="ar-AE" sz="1200" i="0" kern="1200">
                            <a:solidFill>
                              <a:schemeClr val="tx1"/>
                            </a:solidFill>
                            <a:latin typeface="Cambria Math" panose="02040503050406030204" pitchFamily="18" charset="0"/>
                            <a:ea typeface="+mn-ea"/>
                            <a:cs typeface="+mn-cs"/>
                          </a:rPr>
                          <m:t>2</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𝜖</m:t>
                        </m:r>
                      </m:e>
                      <m:sub>
                        <m:r>
                          <a:rPr lang="ar-AE" sz="1200" i="1" kern="1200">
                            <a:solidFill>
                              <a:schemeClr val="tx1"/>
                            </a:solidFill>
                            <a:latin typeface="Cambria Math" panose="02040503050406030204" pitchFamily="18" charset="0"/>
                            <a:ea typeface="+mn-ea"/>
                            <a:cs typeface="+mn-cs"/>
                          </a:rPr>
                          <m:t>𝑡</m:t>
                        </m:r>
                        <m:r>
                          <a:rPr lang="ar-AE" sz="1200" i="0" kern="1200">
                            <a:solidFill>
                              <a:schemeClr val="tx1"/>
                            </a:solidFill>
                            <a:latin typeface="Cambria Math" panose="02040503050406030204" pitchFamily="18" charset="0"/>
                            <a:ea typeface="+mn-ea"/>
                            <a:cs typeface="+mn-cs"/>
                          </a:rPr>
                          <m:t>−</m:t>
                        </m:r>
                        <m:r>
                          <a:rPr lang="ar-AE" sz="1200" i="0" kern="1200">
                            <a:solidFill>
                              <a:schemeClr val="tx1"/>
                            </a:solidFill>
                            <a:latin typeface="Cambria Math" panose="02040503050406030204" pitchFamily="18" charset="0"/>
                            <a:ea typeface="+mn-ea"/>
                            <a:cs typeface="+mn-cs"/>
                          </a:rPr>
                          <m:t>2</m:t>
                        </m:r>
                      </m:sub>
                    </m:sSub>
                    <m:r>
                      <a:rPr lang="ar-AE" sz="1200" i="0" kern="1200">
                        <a:solidFill>
                          <a:schemeClr val="tx1"/>
                        </a:solidFill>
                        <a:latin typeface="Cambria Math" panose="02040503050406030204" pitchFamily="18" charset="0"/>
                        <a:ea typeface="+mn-ea"/>
                        <a:cs typeface="+mn-cs"/>
                      </a:rPr>
                      <m:t>+...</m:t>
                    </m:r>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𝜃</m:t>
                        </m:r>
                      </m:e>
                      <m:sub>
                        <m:r>
                          <a:rPr lang="ar-AE" sz="1200" i="1" kern="1200">
                            <a:solidFill>
                              <a:schemeClr val="tx1"/>
                            </a:solidFill>
                            <a:latin typeface="Cambria Math" panose="02040503050406030204" pitchFamily="18" charset="0"/>
                            <a:ea typeface="+mn-ea"/>
                            <a:cs typeface="+mn-cs"/>
                          </a:rPr>
                          <m:t>𝑞</m:t>
                        </m:r>
                      </m:sub>
                    </m:sSub>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𝜖</m:t>
                        </m:r>
                      </m:e>
                      <m:sub>
                        <m:r>
                          <a:rPr lang="ar-AE" sz="1200" i="1" kern="1200">
                            <a:solidFill>
                              <a:schemeClr val="tx1"/>
                            </a:solidFill>
                            <a:latin typeface="Cambria Math" panose="02040503050406030204" pitchFamily="18" charset="0"/>
                            <a:ea typeface="+mn-ea"/>
                            <a:cs typeface="+mn-cs"/>
                          </a:rPr>
                          <m:t>𝑡</m:t>
                        </m:r>
                        <m:r>
                          <a:rPr lang="ar-AE" sz="1200" i="0" kern="1200">
                            <a:solidFill>
                              <a:schemeClr val="tx1"/>
                            </a:solidFill>
                            <a:latin typeface="Cambria Math" panose="02040503050406030204" pitchFamily="18" charset="0"/>
                            <a:ea typeface="+mn-ea"/>
                            <a:cs typeface="+mn-cs"/>
                          </a:rPr>
                          <m:t>−</m:t>
                        </m:r>
                        <m:r>
                          <a:rPr lang="ar-AE" sz="1200" i="1" kern="1200">
                            <a:solidFill>
                              <a:schemeClr val="tx1"/>
                            </a:solidFill>
                            <a:latin typeface="Cambria Math" panose="02040503050406030204" pitchFamily="18" charset="0"/>
                            <a:ea typeface="+mn-ea"/>
                            <a:cs typeface="+mn-cs"/>
                          </a:rPr>
                          <m:t>𝑞</m:t>
                        </m:r>
                      </m:sub>
                    </m:sSub>
                  </m:oMath>
                </a14:m>
                <a:endParaRPr lang="en-RW" dirty="0"/>
              </a:p>
            </p:txBody>
          </p:sp>
        </mc:Choice>
        <mc:Fallback xmlns="">
          <p:sp>
            <p:nvSpPr>
              <p:cNvPr id="3" name="Notes Placeholder 2"/>
              <p:cNvSpPr>
                <a:spLocks noGrp="1"/>
              </p:cNvSpPr>
              <p:nvPr>
                <p:ph type="body" idx="1"/>
              </p:nvPr>
            </p:nvSpPr>
            <p:spPr/>
            <p:txBody>
              <a:bodyPr/>
              <a:lstStyle/>
              <a:p>
                <a:r>
                  <a:rPr lang="en-US" dirty="0"/>
                  <a:t>-Autoregression model means we forecast the variable of interest using a linear combination of past values of the variable. The term auto-regression indicates that it is a regression of the variable against itself. This technique is similar to a linear regression model in how it uses past values as inputs to the regression. </a:t>
                </a:r>
                <a:r>
                  <a:rPr lang="en-RW" sz="1200" i="0" kern="1200">
                    <a:solidFill>
                      <a:schemeClr val="tx1"/>
                    </a:solidFill>
                    <a:latin typeface="+mn-lt"/>
                    <a:ea typeface="+mn-ea"/>
                    <a:cs typeface="+mn-cs"/>
                  </a:rPr>
                  <a:t>𝑦_𝑡=𝐶+𝜙_1 𝑦_(𝑡−1)+𝜙_2 𝑦_(𝑡−2)+...𝜙_𝑞 𝑦_(𝑡−𝑞)+𝜖_𝑡</a:t>
                </a:r>
                <a:endParaRPr lang="en-US" dirty="0"/>
              </a:p>
              <a:p>
                <a:r>
                  <a:rPr lang="en-US" dirty="0"/>
                  <a:t>-A moving average model on the other hand uses the past forecast errors rather than using past values of the forecast variable in a regression. A moving average simply averages k values in a window, where k is the size of the moving average window, and then advances the window. The forecast values are evaluated using the actual values to determine the error at each step in the time series. </a:t>
                </a:r>
                <a:r>
                  <a:rPr lang="ar-AE" sz="1200" b="0" i="0" kern="1200" dirty="0">
                    <a:solidFill>
                      <a:schemeClr val="tx1"/>
                    </a:solidFill>
                    <a:effectLst/>
                    <a:latin typeface="+mn-lt"/>
                    <a:ea typeface="+mn-ea"/>
                    <a:cs typeface="+mn-cs"/>
                  </a:rPr>
                  <a:t> </a:t>
                </a:r>
                <a:r>
                  <a:rPr lang="ar-AE" sz="1200" i="0" kern="1200">
                    <a:solidFill>
                      <a:schemeClr val="tx1"/>
                    </a:solidFill>
                    <a:latin typeface="+mn-lt"/>
                    <a:ea typeface="+mn-ea"/>
                    <a:cs typeface="+mn-cs"/>
                  </a:rPr>
                  <a:t>𝑦_𝑡=𝐶+𝜖_𝑡+𝜃_1 𝜖_(𝑡−1)+𝜃_2 𝜖_(𝑡−2)+...𝜃_𝑞 𝜖_(𝑡−𝑞)</a:t>
                </a:r>
                <a:endParaRPr lang="en-RW" dirty="0"/>
              </a:p>
            </p:txBody>
          </p:sp>
        </mc:Fallback>
      </mc:AlternateContent>
      <p:sp>
        <p:nvSpPr>
          <p:cNvPr id="4" name="Slide Number Placeholder 3"/>
          <p:cNvSpPr>
            <a:spLocks noGrp="1"/>
          </p:cNvSpPr>
          <p:nvPr>
            <p:ph type="sldNum" sz="quarter" idx="5"/>
          </p:nvPr>
        </p:nvSpPr>
        <p:spPr/>
        <p:txBody>
          <a:bodyPr/>
          <a:lstStyle/>
          <a:p>
            <a:fld id="{29BD5F8B-77E8-4AE0-BBCF-94EA66459FDE}" type="slidenum">
              <a:rPr lang="en-GB" smtClean="0"/>
              <a:t>8</a:t>
            </a:fld>
            <a:endParaRPr lang="en-GB"/>
          </a:p>
        </p:txBody>
      </p:sp>
    </p:spTree>
    <p:extLst>
      <p:ext uri="{BB962C8B-B14F-4D97-AF65-F5344CB8AC3E}">
        <p14:creationId xmlns:p14="http://schemas.microsoft.com/office/powerpoint/2010/main" val="13741752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E4202-6C9F-0C45-7988-7CB64C3CC4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8F251-434F-80D6-F8BE-CCFD36E294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C80E58-1405-F595-D2B5-DB6AA9D95770}"/>
              </a:ext>
            </a:extLst>
          </p:cNvPr>
          <p:cNvSpPr>
            <a:spLocks noGrp="1"/>
          </p:cNvSpPr>
          <p:nvPr>
            <p:ph type="body" idx="1"/>
          </p:nvPr>
        </p:nvSpPr>
        <p:spPr/>
        <p:txBody>
          <a:bodyPr/>
          <a:lstStyle/>
          <a:p>
            <a:r>
              <a:rPr lang="en-US" sz="800" dirty="0"/>
              <a:t>Common Statistical Measures for Forecast Uncertainty/accuracy 1. Bias: the difference between the forecasts and the correct outcome, 2. Variance (“standard forecast error,</a:t>
            </a:r>
          </a:p>
          <a:p>
            <a:r>
              <a:rPr lang="en-US" sz="800" dirty="0"/>
              <a:t>SE”) sqrt of (FE-BIAS)</a:t>
            </a:r>
            <a:r>
              <a:rPr lang="en-US" sz="800" dirty="0">
                <a:effectLst>
                  <a:outerShdw blurRad="38100" dist="38100" dir="2700000" algn="tl">
                    <a:srgbClr val="000000">
                      <a:alpha val="43137"/>
                    </a:srgbClr>
                  </a:outerShdw>
                </a:effectLst>
              </a:rPr>
              <a:t>, 3. MSE—combination of SE &amp;BIAS, 4. RMSE sqrt of MSE, 5. MAE and MAPE 6. Theil’s U Statistics for forecast accuracy (U1) and quality (U2)—compares forecast with benchmark or naïve forecasting model. </a:t>
            </a:r>
            <a:r>
              <a:rPr lang="en-US" sz="1050" dirty="0">
                <a:effectLst>
                  <a:outerShdw blurRad="38100" dist="38100" dir="2700000" algn="tl">
                    <a:srgbClr val="000000">
                      <a:alpha val="43137"/>
                    </a:srgbClr>
                  </a:outerShdw>
                </a:effectLst>
              </a:rPr>
              <a:t>F</a:t>
            </a:r>
            <a:r>
              <a:rPr lang="en-US" sz="1050" dirty="0"/>
              <a:t>orecast evaluation statistics worsen as if forecast horizon increases.</a:t>
            </a:r>
            <a:endParaRPr lang="en-RW" sz="800" dirty="0"/>
          </a:p>
        </p:txBody>
      </p:sp>
      <p:sp>
        <p:nvSpPr>
          <p:cNvPr id="4" name="Slide Number Placeholder 3">
            <a:extLst>
              <a:ext uri="{FF2B5EF4-FFF2-40B4-BE49-F238E27FC236}">
                <a16:creationId xmlns:a16="http://schemas.microsoft.com/office/drawing/2014/main" id="{AC4A4AF3-81B6-D1B5-0ECD-313E9B0EFAB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9BD5F8B-77E8-4AE0-BBCF-94EA66459FD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9042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t>Common Statistical Measures for Forecast Uncertainty/accuracy 1. Bias: the difference between the forecasts and the correct outcome, 2. Variance (“standard forecast error,</a:t>
            </a:r>
          </a:p>
          <a:p>
            <a:r>
              <a:rPr lang="en-US" sz="800" dirty="0"/>
              <a:t>SE”) sqrt of (FE-BIAS)</a:t>
            </a:r>
            <a:r>
              <a:rPr lang="en-US" sz="800" dirty="0">
                <a:effectLst>
                  <a:outerShdw blurRad="38100" dist="38100" dir="2700000" algn="tl">
                    <a:srgbClr val="000000">
                      <a:alpha val="43137"/>
                    </a:srgbClr>
                  </a:outerShdw>
                </a:effectLst>
              </a:rPr>
              <a:t>, 3. MSE—combination of SE &amp;BIAS, 4. RMSE sqrt of MSE, 5. MAE and MAPE 6. Theil’s U Statistics for forecast accuracy (U1) and quality (U2)—compares forecast with benchmark or naïve forecasting model. </a:t>
            </a:r>
            <a:r>
              <a:rPr lang="en-US" sz="1050" dirty="0">
                <a:effectLst>
                  <a:outerShdw blurRad="38100" dist="38100" dir="2700000" algn="tl">
                    <a:srgbClr val="000000">
                      <a:alpha val="43137"/>
                    </a:srgbClr>
                  </a:outerShdw>
                </a:effectLst>
              </a:rPr>
              <a:t>F</a:t>
            </a:r>
            <a:r>
              <a:rPr lang="en-US" sz="1050" dirty="0"/>
              <a:t>orecast evaluation statistics worsen as if forecast horizon increases.</a:t>
            </a:r>
            <a:endParaRPr lang="en-RW" sz="800"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9BD5F8B-77E8-4AE0-BBCF-94EA66459FD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00379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t>Common Statistical Measures for Forecast Uncertainty/accuracy 1. Bias: the difference between the forecasts and the correct outcome, 2. Variance (“standard forecast error,</a:t>
            </a:r>
          </a:p>
          <a:p>
            <a:r>
              <a:rPr lang="en-US" sz="800" dirty="0"/>
              <a:t>SE”) sqrt of (FE-BIAS)</a:t>
            </a:r>
            <a:r>
              <a:rPr lang="en-US" sz="800" dirty="0">
                <a:effectLst>
                  <a:outerShdw blurRad="38100" dist="38100" dir="2700000" algn="tl">
                    <a:srgbClr val="000000">
                      <a:alpha val="43137"/>
                    </a:srgbClr>
                  </a:outerShdw>
                </a:effectLst>
              </a:rPr>
              <a:t>, 3. MSE—combination of SE &amp;BIAS, 4. RMSE sqrt of MSE, 5. MAE and MAPE 6. Theil’s U Statistics for forecast accuracy (U1) and quality (U2)—compares forecast with benchmark or naïve forecasting model. </a:t>
            </a:r>
            <a:r>
              <a:rPr lang="en-US" sz="1050" dirty="0">
                <a:effectLst>
                  <a:outerShdw blurRad="38100" dist="38100" dir="2700000" algn="tl">
                    <a:srgbClr val="000000">
                      <a:alpha val="43137"/>
                    </a:srgbClr>
                  </a:outerShdw>
                </a:effectLst>
              </a:rPr>
              <a:t>F</a:t>
            </a:r>
            <a:r>
              <a:rPr lang="en-US" sz="1050" dirty="0"/>
              <a:t>orecast evaluation statistics worsen as if forecast horizon increases.</a:t>
            </a:r>
            <a:endParaRPr lang="en-RW" sz="800"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9BD5F8B-77E8-4AE0-BBCF-94EA66459FD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5181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46977f6685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46977f6685_0_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2" name="Google Shape;132;g46977f6685_0_7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de-DE"/>
              <a:t>16</a:t>
            </a:fld>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D3EDB1-08E2-4F9E-8F2D-EDA7365F9CB1}" type="datetimeFigureOut">
              <a:rPr lang="en-GB" smtClean="0"/>
              <a:t>23/04/2026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dirty="0"/>
          </a:p>
        </p:txBody>
      </p:sp>
    </p:spTree>
    <p:extLst>
      <p:ext uri="{BB962C8B-B14F-4D97-AF65-F5344CB8AC3E}">
        <p14:creationId xmlns:p14="http://schemas.microsoft.com/office/powerpoint/2010/main" val="2645082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38582568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3286065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D3EDB1-08E2-4F9E-8F2D-EDA7365F9CB1}" type="datetimeFigureOut">
              <a:rPr lang="en-GB" smtClean="0"/>
              <a:t>23/04/2026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1572405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D3EDB1-08E2-4F9E-8F2D-EDA7365F9CB1}" type="datetimeFigureOut">
              <a:rPr lang="en-GB" smtClean="0"/>
              <a:t>23/04/2026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1199139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37000402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24693944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3787692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D3EDB1-08E2-4F9E-8F2D-EDA7365F9CB1}" type="datetimeFigureOut">
              <a:rPr lang="en-GB" smtClean="0"/>
              <a:t>23/04/2026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750824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D3EDB1-08E2-4F9E-8F2D-EDA7365F9CB1}" type="datetimeFigureOut">
              <a:rPr lang="en-GB" smtClean="0"/>
              <a:t>23/04/2026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4000086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525418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96472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890203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16721679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2054190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3581683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D3EDB1-08E2-4F9E-8F2D-EDA7365F9CB1}" type="datetimeFigureOut">
              <a:rPr lang="en-GB" smtClean="0"/>
              <a:t>23/04/2026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88AB3E0-2BCE-4F82-A7CF-9E53573606A0}" type="slidenum">
              <a:rPr lang="en-GB" smtClean="0"/>
              <a:t>‹#›</a:t>
            </a:fld>
            <a:endParaRPr lang="en-GB"/>
          </a:p>
        </p:txBody>
      </p:sp>
    </p:spTree>
    <p:extLst>
      <p:ext uri="{BB962C8B-B14F-4D97-AF65-F5344CB8AC3E}">
        <p14:creationId xmlns:p14="http://schemas.microsoft.com/office/powerpoint/2010/main" val="17074373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type="secHead">
  <p:cSld name="Title">
    <p:bg>
      <p:bgPr>
        <a:solidFill>
          <a:srgbClr val="073763"/>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title"/>
          </p:nvPr>
        </p:nvSpPr>
        <p:spPr>
          <a:xfrm>
            <a:off x="829067" y="1823925"/>
            <a:ext cx="10363200" cy="107640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6" name="Google Shape;16;p2"/>
          <p:cNvSpPr txBox="1">
            <a:spLocks noGrp="1"/>
          </p:cNvSpPr>
          <p:nvPr>
            <p:ph type="body" idx="1"/>
          </p:nvPr>
        </p:nvSpPr>
        <p:spPr>
          <a:xfrm>
            <a:off x="829067" y="4508200"/>
            <a:ext cx="10363200" cy="1584600"/>
          </a:xfrm>
          <a:prstGeom prst="rect">
            <a:avLst/>
          </a:prstGeom>
          <a:noFill/>
          <a:ln>
            <a:noFill/>
          </a:ln>
        </p:spPr>
        <p:txBody>
          <a:bodyPr spcFirstLastPara="1" wrap="square" lIns="91425" tIns="45700" rIns="91425" bIns="45700" anchor="t" anchorCtr="0"/>
          <a:lstStyle>
            <a:lvl1pPr marL="457200" marR="0" lvl="0" indent="-228600" algn="l" rtl="0">
              <a:spcBef>
                <a:spcPts val="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2pPr>
            <a:lvl3pPr marL="1371600" marR="0" lvl="2" indent="-228600" algn="l" rtl="0">
              <a:spcBef>
                <a:spcPts val="320"/>
              </a:spcBef>
              <a:spcAft>
                <a:spcPts val="0"/>
              </a:spcAft>
              <a:buClr>
                <a:srgbClr val="888888"/>
              </a:buClr>
              <a:buSzPts val="1600"/>
              <a:buFont typeface="Merriweather Sans"/>
              <a:buNone/>
              <a:defRPr sz="1600" b="0" i="0" u="none" strike="noStrike" cap="none">
                <a:solidFill>
                  <a:srgbClr val="888888"/>
                </a:solidFill>
                <a:latin typeface="Arial"/>
                <a:ea typeface="Arial"/>
                <a:cs typeface="Arial"/>
                <a:sym typeface="Arial"/>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Arial"/>
                <a:ea typeface="Arial"/>
                <a:cs typeface="Arial"/>
                <a:sym typeface="Arial"/>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Arial"/>
                <a:ea typeface="Arial"/>
                <a:cs typeface="Arial"/>
                <a:sym typeface="Arial"/>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Arial"/>
                <a:ea typeface="Arial"/>
                <a:cs typeface="Arial"/>
                <a:sym typeface="Arial"/>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Arial"/>
                <a:ea typeface="Arial"/>
                <a:cs typeface="Arial"/>
                <a:sym typeface="Arial"/>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Arial"/>
                <a:ea typeface="Arial"/>
                <a:cs typeface="Arial"/>
                <a:sym typeface="Arial"/>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Arial"/>
                <a:ea typeface="Arial"/>
                <a:cs typeface="Arial"/>
                <a:sym typeface="Arial"/>
              </a:defRPr>
            </a:lvl9pPr>
          </a:lstStyle>
          <a:p>
            <a:endParaRPr/>
          </a:p>
        </p:txBody>
      </p:sp>
      <p:pic>
        <p:nvPicPr>
          <p:cNvPr id="17" name="Google Shape;17;p2"/>
          <p:cNvPicPr preferRelativeResize="0"/>
          <p:nvPr/>
        </p:nvPicPr>
        <p:blipFill>
          <a:blip r:embed="rId2">
            <a:alphaModFix/>
          </a:blip>
          <a:stretch>
            <a:fillRect/>
          </a:stretch>
        </p:blipFill>
        <p:spPr>
          <a:xfrm>
            <a:off x="829067" y="217226"/>
            <a:ext cx="1816100" cy="1488107"/>
          </a:xfrm>
          <a:prstGeom prst="rect">
            <a:avLst/>
          </a:prstGeom>
          <a:noFill/>
          <a:ln>
            <a:noFill/>
          </a:ln>
        </p:spPr>
      </p:pic>
      <p:sp>
        <p:nvSpPr>
          <p:cNvPr id="18" name="Google Shape;18;p2"/>
          <p:cNvSpPr txBox="1">
            <a:spLocks noGrp="1"/>
          </p:cNvSpPr>
          <p:nvPr>
            <p:ph type="title" idx="2"/>
          </p:nvPr>
        </p:nvSpPr>
        <p:spPr>
          <a:xfrm>
            <a:off x="829067" y="3119325"/>
            <a:ext cx="10363200" cy="74100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Clr>
                <a:srgbClr val="FFFFFF"/>
              </a:buClr>
              <a:buSzPts val="2600"/>
              <a:buFont typeface="Arial"/>
              <a:buNone/>
              <a:defRPr sz="2600" b="1" i="0" u="none" strike="noStrike" cap="none">
                <a:solidFill>
                  <a:srgbClr val="FFFFFF"/>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Tree>
    <p:extLst>
      <p:ext uri="{BB962C8B-B14F-4D97-AF65-F5344CB8AC3E}">
        <p14:creationId xmlns:p14="http://schemas.microsoft.com/office/powerpoint/2010/main" val="37281538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0">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1">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2">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3">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2FD3EDB1-08E2-4F9E-8F2D-EDA7365F9CB1}" type="datetimeFigureOut">
              <a:rPr lang="en-GB" smtClean="0"/>
              <a:t>23/04/2026</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88AB3E0-2BCE-4F82-A7CF-9E53573606A0}" type="slidenum">
              <a:rPr lang="en-GB" smtClean="0"/>
              <a:t>‹#›</a:t>
            </a:fld>
            <a:endParaRPr lang="en-GB"/>
          </a:p>
        </p:txBody>
      </p:sp>
    </p:spTree>
    <p:extLst>
      <p:ext uri="{BB962C8B-B14F-4D97-AF65-F5344CB8AC3E}">
        <p14:creationId xmlns:p14="http://schemas.microsoft.com/office/powerpoint/2010/main" val="155761949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hyperlink" Target="https://ssrn.com/abstract=3653136"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eviews.com/EViews9/ev9ecforc_n.html"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2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0D65885-68C3-2378-16E4-FE4E600F8F22}"/>
              </a:ext>
            </a:extLst>
          </p:cNvPr>
          <p:cNvSpPr>
            <a:spLocks noGrp="1"/>
          </p:cNvSpPr>
          <p:nvPr>
            <p:ph type="subTitle" idx="1"/>
          </p:nvPr>
        </p:nvSpPr>
        <p:spPr>
          <a:xfrm>
            <a:off x="1154955" y="4777380"/>
            <a:ext cx="8825658" cy="1449684"/>
          </a:xfrm>
        </p:spPr>
        <p:txBody>
          <a:bodyPr>
            <a:noAutofit/>
          </a:bodyPr>
          <a:lstStyle/>
          <a:p>
            <a:pPr algn="ctr"/>
            <a:r>
              <a:rPr lang="en-GB" sz="3600" dirty="0"/>
              <a:t>MPD-OCE, </a:t>
            </a:r>
            <a:r>
              <a:rPr lang="en-GB" sz="3600" dirty="0" err="1"/>
              <a:t>Minecofin</a:t>
            </a:r>
            <a:r>
              <a:rPr lang="en-GB" sz="3600" dirty="0"/>
              <a:t>.</a:t>
            </a:r>
          </a:p>
          <a:p>
            <a:pPr algn="ctr"/>
            <a:r>
              <a:rPr lang="en-GB" sz="3600" cap="none" dirty="0"/>
              <a:t>April 2026</a:t>
            </a:r>
          </a:p>
        </p:txBody>
      </p:sp>
      <p:sp>
        <p:nvSpPr>
          <p:cNvPr id="5" name="Title 4">
            <a:extLst>
              <a:ext uri="{FF2B5EF4-FFF2-40B4-BE49-F238E27FC236}">
                <a16:creationId xmlns:a16="http://schemas.microsoft.com/office/drawing/2014/main" id="{5CA818E4-0175-325A-6CDC-A337D26A9984}"/>
              </a:ext>
            </a:extLst>
          </p:cNvPr>
          <p:cNvSpPr>
            <a:spLocks noGrp="1"/>
          </p:cNvSpPr>
          <p:nvPr>
            <p:ph type="ctrTitle"/>
          </p:nvPr>
        </p:nvSpPr>
        <p:spPr>
          <a:xfrm>
            <a:off x="916301" y="1178860"/>
            <a:ext cx="9064312" cy="1322293"/>
          </a:xfrm>
        </p:spPr>
        <p:txBody>
          <a:bodyPr/>
          <a:lstStyle/>
          <a:p>
            <a:br>
              <a:rPr lang="en-GB" sz="4200" b="1" dirty="0">
                <a:solidFill>
                  <a:schemeClr val="bg2">
                    <a:lumMod val="60000"/>
                    <a:lumOff val="40000"/>
                  </a:schemeClr>
                </a:solidFill>
                <a:latin typeface="Bahnschrift" panose="020B0502040204020203" pitchFamily="34" charset="0"/>
              </a:rPr>
            </a:br>
            <a:r>
              <a:rPr lang="en-GB" sz="4000" b="1" dirty="0">
                <a:solidFill>
                  <a:schemeClr val="bg2">
                    <a:lumMod val="60000"/>
                    <a:lumOff val="40000"/>
                  </a:schemeClr>
                </a:solidFill>
                <a:latin typeface="Bahnschrift" panose="020B0502040204020203" pitchFamily="34" charset="0"/>
              </a:rPr>
              <a:t>Quarterly GDP Nowcasting for Rwanda</a:t>
            </a:r>
            <a:br>
              <a:rPr lang="en-GB" sz="4200" b="1" dirty="0">
                <a:solidFill>
                  <a:srgbClr val="92D050"/>
                </a:solidFill>
                <a:latin typeface="Bahnschrift" panose="020B0502040204020203" pitchFamily="34" charset="0"/>
              </a:rPr>
            </a:br>
            <a:endParaRPr lang="en-GB" sz="4200" b="1" dirty="0">
              <a:solidFill>
                <a:srgbClr val="92D050"/>
              </a:solidFill>
              <a:latin typeface="Bahnschrift" panose="020B0502040204020203" pitchFamily="34" charset="0"/>
            </a:endParaRPr>
          </a:p>
        </p:txBody>
      </p:sp>
      <p:pic>
        <p:nvPicPr>
          <p:cNvPr id="7" name="Graphic 6">
            <a:extLst>
              <a:ext uri="{FF2B5EF4-FFF2-40B4-BE49-F238E27FC236}">
                <a16:creationId xmlns:a16="http://schemas.microsoft.com/office/drawing/2014/main" id="{1A9D6672-4757-4745-AA39-704BF45C1FE0}"/>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67290" y="107073"/>
            <a:ext cx="873303" cy="861421"/>
          </a:xfrm>
          <a:prstGeom prst="rect">
            <a:avLst/>
          </a:prstGeom>
        </p:spPr>
      </p:pic>
      <p:sp>
        <p:nvSpPr>
          <p:cNvPr id="2" name="Title 4">
            <a:extLst>
              <a:ext uri="{FF2B5EF4-FFF2-40B4-BE49-F238E27FC236}">
                <a16:creationId xmlns:a16="http://schemas.microsoft.com/office/drawing/2014/main" id="{E8805F2F-F345-17A9-6A2A-8B843AC6A263}"/>
              </a:ext>
            </a:extLst>
          </p:cNvPr>
          <p:cNvSpPr txBox="1">
            <a:spLocks/>
          </p:cNvSpPr>
          <p:nvPr/>
        </p:nvSpPr>
        <p:spPr>
          <a:xfrm>
            <a:off x="1076281" y="2501153"/>
            <a:ext cx="9064312" cy="986621"/>
          </a:xfrm>
          <a:prstGeom prst="rect">
            <a:avLst/>
          </a:prstGeom>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3600" b="1" dirty="0">
                <a:solidFill>
                  <a:srgbClr val="00B0F0"/>
                </a:solidFill>
                <a:latin typeface="Bahnschrift" panose="020B0502040204020203" pitchFamily="34" charset="0"/>
              </a:rPr>
              <a:t>Young Economics Program (YEP)</a:t>
            </a:r>
            <a:endParaRPr lang="en-GB" sz="3600" b="1" dirty="0">
              <a:solidFill>
                <a:srgbClr val="92D050"/>
              </a:solidFill>
              <a:latin typeface="Bahnschrift" panose="020B0502040204020203" pitchFamily="34" charset="0"/>
            </a:endParaRPr>
          </a:p>
        </p:txBody>
      </p:sp>
    </p:spTree>
    <p:extLst>
      <p:ext uri="{BB962C8B-B14F-4D97-AF65-F5344CB8AC3E}">
        <p14:creationId xmlns:p14="http://schemas.microsoft.com/office/powerpoint/2010/main" val="520145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B1BCA-A6A9-9F1C-68FF-AC2B090FE372}"/>
              </a:ext>
            </a:extLst>
          </p:cNvPr>
          <p:cNvSpPr>
            <a:spLocks noGrp="1"/>
          </p:cNvSpPr>
          <p:nvPr>
            <p:ph type="title"/>
          </p:nvPr>
        </p:nvSpPr>
        <p:spPr>
          <a:xfrm>
            <a:off x="646111" y="452719"/>
            <a:ext cx="9404723" cy="811306"/>
          </a:xfrm>
        </p:spPr>
        <p:txBody>
          <a:bodyPr/>
          <a:lstStyle/>
          <a:p>
            <a:r>
              <a:rPr lang="en-GB" b="1" dirty="0">
                <a:solidFill>
                  <a:srgbClr val="002060"/>
                </a:solidFill>
                <a:latin typeface="Bahnschrift" panose="020B0502040204020203" pitchFamily="34" charset="0"/>
              </a:rPr>
              <a:t>Outline &amp; Content</a:t>
            </a:r>
          </a:p>
        </p:txBody>
      </p:sp>
      <p:sp>
        <p:nvSpPr>
          <p:cNvPr id="3" name="Content Placeholder 2">
            <a:extLst>
              <a:ext uri="{FF2B5EF4-FFF2-40B4-BE49-F238E27FC236}">
                <a16:creationId xmlns:a16="http://schemas.microsoft.com/office/drawing/2014/main" id="{F1A69315-309F-8CB9-8FA3-CC1E4B23BEB4}"/>
              </a:ext>
            </a:extLst>
          </p:cNvPr>
          <p:cNvSpPr>
            <a:spLocks noGrp="1"/>
          </p:cNvSpPr>
          <p:nvPr>
            <p:ph idx="1"/>
          </p:nvPr>
        </p:nvSpPr>
        <p:spPr>
          <a:xfrm>
            <a:off x="875201" y="1633591"/>
            <a:ext cx="10984007" cy="4683233"/>
          </a:xfrm>
        </p:spPr>
        <p:txBody>
          <a:bodyPr>
            <a:normAutofit fontScale="85000" lnSpcReduction="20000"/>
          </a:bodyPr>
          <a:lstStyle/>
          <a:p>
            <a:pPr>
              <a:lnSpc>
                <a:spcPct val="200000"/>
              </a:lnSpc>
              <a:buFont typeface="Wingdings" panose="05000000000000000000" pitchFamily="2" charset="2"/>
              <a:buChar char="q"/>
            </a:pPr>
            <a:r>
              <a:rPr lang="en-GB" dirty="0">
                <a:latin typeface="Bahnschrift" panose="020B0502040204020203" pitchFamily="34" charset="0"/>
              </a:rPr>
              <a:t>Introduction</a:t>
            </a:r>
          </a:p>
          <a:p>
            <a:pPr>
              <a:lnSpc>
                <a:spcPct val="200000"/>
              </a:lnSpc>
              <a:buFont typeface="Wingdings" panose="05000000000000000000" pitchFamily="2" charset="2"/>
              <a:buChar char="q"/>
            </a:pPr>
            <a:r>
              <a:rPr lang="en-GB" dirty="0">
                <a:latin typeface="Bahnschrift" panose="020B0502040204020203" pitchFamily="34" charset="0"/>
              </a:rPr>
              <a:t>Rationale &amp; use</a:t>
            </a:r>
          </a:p>
          <a:p>
            <a:pPr>
              <a:lnSpc>
                <a:spcPct val="200000"/>
              </a:lnSpc>
              <a:buFont typeface="Wingdings" panose="05000000000000000000" pitchFamily="2" charset="2"/>
              <a:buChar char="q"/>
            </a:pPr>
            <a:r>
              <a:rPr lang="en-GB" dirty="0">
                <a:latin typeface="Bahnschrift" panose="020B0502040204020203" pitchFamily="34" charset="0"/>
              </a:rPr>
              <a:t>Variables and data</a:t>
            </a:r>
          </a:p>
          <a:p>
            <a:pPr>
              <a:lnSpc>
                <a:spcPct val="200000"/>
              </a:lnSpc>
              <a:buFont typeface="Wingdings" panose="05000000000000000000" pitchFamily="2" charset="2"/>
              <a:buChar char="q"/>
            </a:pPr>
            <a:r>
              <a:rPr lang="en-GB" dirty="0">
                <a:latin typeface="Bahnschrift" panose="020B0502040204020203" pitchFamily="34" charset="0"/>
              </a:rPr>
              <a:t>Methodology</a:t>
            </a:r>
          </a:p>
          <a:p>
            <a:pPr>
              <a:lnSpc>
                <a:spcPct val="200000"/>
              </a:lnSpc>
              <a:buFont typeface="Wingdings" panose="05000000000000000000" pitchFamily="2" charset="2"/>
              <a:buChar char="q"/>
            </a:pPr>
            <a:r>
              <a:rPr lang="en-GB" dirty="0">
                <a:latin typeface="Bahnschrift" panose="020B0502040204020203" pitchFamily="34" charset="0"/>
              </a:rPr>
              <a:t>Key steps</a:t>
            </a:r>
          </a:p>
          <a:p>
            <a:pPr>
              <a:lnSpc>
                <a:spcPct val="200000"/>
              </a:lnSpc>
              <a:buFont typeface="Wingdings" panose="05000000000000000000" pitchFamily="2" charset="2"/>
              <a:buChar char="q"/>
            </a:pPr>
            <a:r>
              <a:rPr lang="en-GB" dirty="0">
                <a:latin typeface="Bahnschrift" panose="020B0502040204020203" pitchFamily="34" charset="0"/>
              </a:rPr>
              <a:t>Nowcasting in practice—</a:t>
            </a:r>
            <a:r>
              <a:rPr lang="en-GB" dirty="0" err="1">
                <a:latin typeface="Bahnschrift" panose="020B0502040204020203" pitchFamily="34" charset="0"/>
              </a:rPr>
              <a:t>Eviews</a:t>
            </a:r>
            <a:r>
              <a:rPr lang="en-GB" dirty="0">
                <a:latin typeface="Bahnschrift" panose="020B0502040204020203" pitchFamily="34" charset="0"/>
              </a:rPr>
              <a:t> program</a:t>
            </a:r>
          </a:p>
          <a:p>
            <a:pPr>
              <a:lnSpc>
                <a:spcPct val="200000"/>
              </a:lnSpc>
              <a:buFont typeface="Wingdings" panose="05000000000000000000" pitchFamily="2" charset="2"/>
              <a:buChar char="q"/>
            </a:pPr>
            <a:r>
              <a:rPr lang="en-GB" dirty="0">
                <a:latin typeface="Bahnschrift" panose="020B0502040204020203" pitchFamily="34" charset="0"/>
              </a:rPr>
              <a:t>Illustrated results </a:t>
            </a:r>
          </a:p>
          <a:p>
            <a:pPr>
              <a:lnSpc>
                <a:spcPct val="200000"/>
              </a:lnSpc>
              <a:buFont typeface="Wingdings" panose="05000000000000000000" pitchFamily="2" charset="2"/>
              <a:buChar char="q"/>
            </a:pPr>
            <a:r>
              <a:rPr lang="en-GB" dirty="0">
                <a:latin typeface="Bahnschrift" panose="020B0502040204020203" pitchFamily="34" charset="0"/>
              </a:rPr>
              <a:t>References</a:t>
            </a:r>
          </a:p>
        </p:txBody>
      </p:sp>
    </p:spTree>
    <p:extLst>
      <p:ext uri="{BB962C8B-B14F-4D97-AF65-F5344CB8AC3E}">
        <p14:creationId xmlns:p14="http://schemas.microsoft.com/office/powerpoint/2010/main" val="482693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E9170-0E1D-4C2D-1173-A166FD4EFE3E}"/>
              </a:ext>
            </a:extLst>
          </p:cNvPr>
          <p:cNvSpPr>
            <a:spLocks noGrp="1"/>
          </p:cNvSpPr>
          <p:nvPr>
            <p:ph type="title"/>
          </p:nvPr>
        </p:nvSpPr>
        <p:spPr>
          <a:xfrm>
            <a:off x="646111" y="452719"/>
            <a:ext cx="9404723" cy="499782"/>
          </a:xfrm>
        </p:spPr>
        <p:txBody>
          <a:bodyPr/>
          <a:lstStyle/>
          <a:p>
            <a:r>
              <a:rPr lang="en-US" sz="3600" b="1" dirty="0">
                <a:solidFill>
                  <a:srgbClr val="002060"/>
                </a:solidFill>
              </a:rPr>
              <a:t>Introduction</a:t>
            </a:r>
            <a:endParaRPr lang="en-RW" sz="3600" b="1" dirty="0">
              <a:solidFill>
                <a:srgbClr val="002060"/>
              </a:solidFill>
            </a:endParaRPr>
          </a:p>
        </p:txBody>
      </p:sp>
      <p:sp>
        <p:nvSpPr>
          <p:cNvPr id="3" name="Content Placeholder 2">
            <a:extLst>
              <a:ext uri="{FF2B5EF4-FFF2-40B4-BE49-F238E27FC236}">
                <a16:creationId xmlns:a16="http://schemas.microsoft.com/office/drawing/2014/main" id="{59DAE4D7-A8FD-8848-49A0-AD329197EA2E}"/>
              </a:ext>
            </a:extLst>
          </p:cNvPr>
          <p:cNvSpPr>
            <a:spLocks noGrp="1"/>
          </p:cNvSpPr>
          <p:nvPr>
            <p:ph idx="1"/>
          </p:nvPr>
        </p:nvSpPr>
        <p:spPr>
          <a:xfrm>
            <a:off x="1104293" y="1574551"/>
            <a:ext cx="8946541" cy="5109881"/>
          </a:xfrm>
        </p:spPr>
        <p:txBody>
          <a:bodyPr>
            <a:normAutofit fontScale="92500"/>
          </a:bodyPr>
          <a:lstStyle/>
          <a:p>
            <a:pPr>
              <a:lnSpc>
                <a:spcPct val="150000"/>
              </a:lnSpc>
              <a:buFont typeface="Wingdings" panose="05000000000000000000" pitchFamily="2" charset="2"/>
              <a:buChar char="§"/>
            </a:pPr>
            <a:r>
              <a:rPr lang="en-US" dirty="0"/>
              <a:t>Monetary and fiscal policies depend on evaluations of current and short-term economic conditions</a:t>
            </a:r>
          </a:p>
          <a:p>
            <a:pPr>
              <a:lnSpc>
                <a:spcPct val="150000"/>
              </a:lnSpc>
              <a:buFont typeface="Wingdings" panose="05000000000000000000" pitchFamily="2" charset="2"/>
              <a:buChar char="§"/>
            </a:pPr>
            <a:r>
              <a:rPr lang="en-US" dirty="0">
                <a:solidFill>
                  <a:schemeClr val="bg1"/>
                </a:solidFill>
              </a:rPr>
              <a:t>Data issues in terms of irregularity and timeliness of published data.</a:t>
            </a:r>
          </a:p>
          <a:p>
            <a:pPr>
              <a:lnSpc>
                <a:spcPct val="150000"/>
              </a:lnSpc>
              <a:buFont typeface="Wingdings" panose="05000000000000000000" pitchFamily="2" charset="2"/>
              <a:buChar char="§"/>
            </a:pPr>
            <a:r>
              <a:rPr lang="en-US" dirty="0"/>
              <a:t>Nowcasting (forecast current—now) approach estimates current (now) Qo GDP using HFIs available data</a:t>
            </a:r>
          </a:p>
          <a:p>
            <a:pPr lvl="1">
              <a:lnSpc>
                <a:spcPct val="150000"/>
              </a:lnSpc>
              <a:buFont typeface="Wingdings" panose="05000000000000000000" pitchFamily="2" charset="2"/>
              <a:buChar char="§"/>
            </a:pPr>
            <a:r>
              <a:rPr lang="en-US" sz="1600" dirty="0"/>
              <a:t>Bridge Equations (BEs) are small-scale models used to "bridge" the information contained in individual HFIs using single equations, with the Qo growth rate of GDP</a:t>
            </a:r>
          </a:p>
          <a:p>
            <a:pPr lvl="1">
              <a:lnSpc>
                <a:spcPct val="150000"/>
              </a:lnSpc>
              <a:buFont typeface="Wingdings" panose="05000000000000000000" pitchFamily="2" charset="2"/>
              <a:buChar char="§"/>
            </a:pPr>
            <a:r>
              <a:rPr lang="en-US" sz="1600" dirty="0"/>
              <a:t>multiple linear equations (MLEs) associating two or three indicators, which make sense from an economic or statistical point of view and fit well the data</a:t>
            </a:r>
          </a:p>
          <a:p>
            <a:pPr indent="-285750">
              <a:lnSpc>
                <a:spcPct val="150000"/>
              </a:lnSpc>
              <a:buFont typeface="Wingdings" panose="05000000000000000000" pitchFamily="2" charset="2"/>
              <a:buChar char="§"/>
            </a:pPr>
            <a:r>
              <a:rPr lang="en-US" sz="1800" dirty="0"/>
              <a:t>BEs, MLEs and combination outperform other models incl. MIDAS, VAR, ARMA, DFM …..)</a:t>
            </a:r>
          </a:p>
          <a:p>
            <a:pPr lvl="1">
              <a:lnSpc>
                <a:spcPct val="150000"/>
              </a:lnSpc>
              <a:buFont typeface="Wingdings" panose="05000000000000000000" pitchFamily="2" charset="2"/>
              <a:buChar char="§"/>
            </a:pPr>
            <a:endParaRPr lang="en-US" sz="1600" dirty="0"/>
          </a:p>
          <a:p>
            <a:pPr marL="457200" lvl="1" indent="0">
              <a:buNone/>
            </a:pPr>
            <a:endParaRPr lang="en-US" dirty="0"/>
          </a:p>
          <a:p>
            <a:endParaRPr lang="en-US" dirty="0"/>
          </a:p>
          <a:p>
            <a:endParaRPr lang="en-RW" dirty="0"/>
          </a:p>
        </p:txBody>
      </p:sp>
    </p:spTree>
    <p:extLst>
      <p:ext uri="{BB962C8B-B14F-4D97-AF65-F5344CB8AC3E}">
        <p14:creationId xmlns:p14="http://schemas.microsoft.com/office/powerpoint/2010/main" val="457070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65F79-39F9-1198-A118-3AD6934F96D1}"/>
              </a:ext>
            </a:extLst>
          </p:cNvPr>
          <p:cNvSpPr>
            <a:spLocks noGrp="1"/>
          </p:cNvSpPr>
          <p:nvPr>
            <p:ph type="title"/>
          </p:nvPr>
        </p:nvSpPr>
        <p:spPr>
          <a:xfrm>
            <a:off x="646111" y="452718"/>
            <a:ext cx="8524783" cy="847164"/>
          </a:xfrm>
        </p:spPr>
        <p:txBody>
          <a:bodyPr/>
          <a:lstStyle/>
          <a:p>
            <a:r>
              <a:rPr lang="en-GB" b="1" dirty="0">
                <a:solidFill>
                  <a:srgbClr val="002060"/>
                </a:solidFill>
              </a:rPr>
              <a:t>Rationale &amp; use</a:t>
            </a:r>
          </a:p>
        </p:txBody>
      </p:sp>
      <p:sp>
        <p:nvSpPr>
          <p:cNvPr id="3" name="Content Placeholder 2">
            <a:extLst>
              <a:ext uri="{FF2B5EF4-FFF2-40B4-BE49-F238E27FC236}">
                <a16:creationId xmlns:a16="http://schemas.microsoft.com/office/drawing/2014/main" id="{73CF6393-1E41-C940-0F14-06A6A8D95044}"/>
              </a:ext>
            </a:extLst>
          </p:cNvPr>
          <p:cNvSpPr>
            <a:spLocks noGrp="1"/>
          </p:cNvSpPr>
          <p:nvPr>
            <p:ph idx="1"/>
          </p:nvPr>
        </p:nvSpPr>
        <p:spPr>
          <a:xfrm>
            <a:off x="646111" y="1384052"/>
            <a:ext cx="9843804" cy="4504515"/>
          </a:xfrm>
        </p:spPr>
        <p:txBody>
          <a:bodyPr>
            <a:normAutofit/>
          </a:bodyPr>
          <a:lstStyle/>
          <a:p>
            <a:pPr marL="0" indent="0">
              <a:lnSpc>
                <a:spcPct val="150000"/>
              </a:lnSpc>
              <a:buNone/>
            </a:pPr>
            <a:r>
              <a:rPr lang="en-GB" sz="2400" dirty="0"/>
              <a:t>  </a:t>
            </a:r>
            <a:r>
              <a:rPr lang="en-GB" sz="2400" dirty="0">
                <a:solidFill>
                  <a:schemeClr val="bg1"/>
                </a:solidFill>
              </a:rPr>
              <a:t>NISR Qo GDP publication lags for a quarter (3 Mos)</a:t>
            </a:r>
          </a:p>
          <a:p>
            <a:pPr>
              <a:lnSpc>
                <a:spcPct val="150000"/>
              </a:lnSpc>
              <a:buFont typeface="Wingdings" panose="05000000000000000000" pitchFamily="2" charset="2"/>
              <a:buChar char="§"/>
            </a:pPr>
            <a:r>
              <a:rPr lang="en-GB" sz="2400" dirty="0"/>
              <a:t>Evaluation of short-term macroeconomic conditions</a:t>
            </a:r>
          </a:p>
          <a:p>
            <a:pPr lvl="1">
              <a:lnSpc>
                <a:spcPct val="150000"/>
              </a:lnSpc>
              <a:buFont typeface="Wingdings" panose="05000000000000000000" pitchFamily="2" charset="2"/>
              <a:buChar char="§"/>
            </a:pPr>
            <a:r>
              <a:rPr lang="en-US" dirty="0"/>
              <a:t>Forecasting (nowcasting) of current Qo and next Qo (i.e., Q1 &amp; Q2 2024)</a:t>
            </a:r>
            <a:endParaRPr lang="en-GB" dirty="0"/>
          </a:p>
          <a:p>
            <a:pPr>
              <a:lnSpc>
                <a:spcPct val="150000"/>
              </a:lnSpc>
              <a:buFont typeface="Wingdings" panose="05000000000000000000" pitchFamily="2" charset="2"/>
              <a:buChar char="§"/>
            </a:pPr>
            <a:r>
              <a:rPr lang="en-GB" sz="2400" dirty="0"/>
              <a:t>Inputs/ assumptions to macroeconomic projections:</a:t>
            </a:r>
          </a:p>
          <a:p>
            <a:pPr lvl="1">
              <a:lnSpc>
                <a:spcPct val="150000"/>
              </a:lnSpc>
              <a:buFont typeface="Wingdings" panose="05000000000000000000" pitchFamily="2" charset="2"/>
              <a:buChar char="§"/>
            </a:pPr>
            <a:r>
              <a:rPr lang="en-GB" sz="2200" dirty="0"/>
              <a:t>Integrated Macro-Framework (MF) projections</a:t>
            </a:r>
          </a:p>
          <a:p>
            <a:pPr lvl="1">
              <a:lnSpc>
                <a:spcPct val="150000"/>
              </a:lnSpc>
              <a:buFont typeface="Wingdings" panose="05000000000000000000" pitchFamily="2" charset="2"/>
              <a:buChar char="§"/>
            </a:pPr>
            <a:r>
              <a:rPr lang="en-GB" sz="2200" dirty="0"/>
              <a:t>Quarterly Macro Fiscal Model (QMFM)</a:t>
            </a:r>
          </a:p>
          <a:p>
            <a:pPr lvl="1">
              <a:lnSpc>
                <a:spcPct val="150000"/>
              </a:lnSpc>
              <a:buFont typeface="Wingdings" panose="05000000000000000000" pitchFamily="2" charset="2"/>
              <a:buChar char="§"/>
            </a:pPr>
            <a:r>
              <a:rPr lang="en-GB" sz="2200" dirty="0"/>
              <a:t>In-year assumptions for actual tax ratios and other estimations.</a:t>
            </a:r>
          </a:p>
        </p:txBody>
      </p:sp>
    </p:spTree>
    <p:extLst>
      <p:ext uri="{BB962C8B-B14F-4D97-AF65-F5344CB8AC3E}">
        <p14:creationId xmlns:p14="http://schemas.microsoft.com/office/powerpoint/2010/main" val="1853756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F48D3-CEBE-4430-969A-670DCB518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163284-DE07-D28A-4862-48291074E70F}"/>
              </a:ext>
            </a:extLst>
          </p:cNvPr>
          <p:cNvSpPr>
            <a:spLocks noGrp="1"/>
          </p:cNvSpPr>
          <p:nvPr>
            <p:ph type="title"/>
          </p:nvPr>
        </p:nvSpPr>
        <p:spPr>
          <a:xfrm>
            <a:off x="333129" y="452718"/>
            <a:ext cx="10072253" cy="847164"/>
          </a:xfrm>
        </p:spPr>
        <p:txBody>
          <a:bodyPr/>
          <a:lstStyle/>
          <a:p>
            <a:r>
              <a:rPr lang="en-GB" sz="3200" b="1" dirty="0">
                <a:solidFill>
                  <a:srgbClr val="002060"/>
                </a:solidFill>
              </a:rPr>
              <a:t>Application of nowcasting –economic policy</a:t>
            </a:r>
          </a:p>
        </p:txBody>
      </p:sp>
      <p:sp>
        <p:nvSpPr>
          <p:cNvPr id="3" name="Content Placeholder 2">
            <a:extLst>
              <a:ext uri="{FF2B5EF4-FFF2-40B4-BE49-F238E27FC236}">
                <a16:creationId xmlns:a16="http://schemas.microsoft.com/office/drawing/2014/main" id="{D4E1691A-8FCE-F6F5-CDC9-C0F704CAAC74}"/>
              </a:ext>
            </a:extLst>
          </p:cNvPr>
          <p:cNvSpPr>
            <a:spLocks noGrp="1"/>
          </p:cNvSpPr>
          <p:nvPr>
            <p:ph idx="1"/>
          </p:nvPr>
        </p:nvSpPr>
        <p:spPr>
          <a:xfrm>
            <a:off x="917044" y="1408922"/>
            <a:ext cx="10606262" cy="4506685"/>
          </a:xfrm>
        </p:spPr>
        <p:txBody>
          <a:bodyPr>
            <a:normAutofit fontScale="85000" lnSpcReduction="20000"/>
          </a:bodyPr>
          <a:lstStyle/>
          <a:p>
            <a:pPr marL="0" indent="0">
              <a:lnSpc>
                <a:spcPct val="150000"/>
              </a:lnSpc>
              <a:buNone/>
            </a:pPr>
            <a:r>
              <a:rPr lang="en-GB" sz="2400" dirty="0"/>
              <a:t> </a:t>
            </a:r>
            <a:r>
              <a:rPr lang="en-GB" sz="2400" b="1" dirty="0">
                <a:solidFill>
                  <a:schemeClr val="bg1"/>
                </a:solidFill>
              </a:rPr>
              <a:t>A tool for monitoring and surveillance of macroeconomic policy</a:t>
            </a:r>
            <a:endParaRPr lang="en-GB" sz="2400" dirty="0">
              <a:solidFill>
                <a:schemeClr val="bg1"/>
              </a:solidFill>
            </a:endParaRPr>
          </a:p>
          <a:p>
            <a:pPr marL="0" indent="0">
              <a:lnSpc>
                <a:spcPct val="150000"/>
              </a:lnSpc>
              <a:buNone/>
            </a:pPr>
            <a:r>
              <a:rPr lang="en-GB" sz="2400" b="1" dirty="0"/>
              <a:t>A watchtower of the direction GDP growth performance in short-run</a:t>
            </a:r>
          </a:p>
          <a:p>
            <a:pPr>
              <a:lnSpc>
                <a:spcPct val="150000"/>
              </a:lnSpc>
              <a:buFont typeface="Wingdings" panose="05000000000000000000" pitchFamily="2" charset="2"/>
              <a:buChar char="§"/>
            </a:pPr>
            <a:r>
              <a:rPr lang="en-GB" sz="2400" dirty="0"/>
              <a:t>Economic developments and diagnosis:</a:t>
            </a:r>
          </a:p>
          <a:p>
            <a:pPr lvl="1" indent="-342900">
              <a:lnSpc>
                <a:spcPct val="150000"/>
              </a:lnSpc>
              <a:buFont typeface="Courier New" panose="02070309020205020404" pitchFamily="49" charset="0"/>
              <a:buChar char="o"/>
            </a:pPr>
            <a:r>
              <a:rPr lang="en-US" sz="2200" dirty="0"/>
              <a:t>High frequency indicators (i.e., turnovers and composite index of economic activities—CIEA)</a:t>
            </a:r>
          </a:p>
          <a:p>
            <a:pPr lvl="1" indent="-342900">
              <a:lnSpc>
                <a:spcPct val="150000"/>
              </a:lnSpc>
              <a:buFont typeface="Courier New" panose="02070309020205020404" pitchFamily="49" charset="0"/>
              <a:buChar char="o"/>
            </a:pPr>
            <a:r>
              <a:rPr lang="en-US" sz="2200" dirty="0"/>
              <a:t>Other imports, trade and production indicators</a:t>
            </a:r>
          </a:p>
          <a:p>
            <a:pPr>
              <a:lnSpc>
                <a:spcPct val="150000"/>
              </a:lnSpc>
              <a:buFont typeface="Wingdings" panose="05000000000000000000" pitchFamily="2" charset="2"/>
              <a:buChar char="§"/>
            </a:pPr>
            <a:r>
              <a:rPr lang="en-US" sz="2400" dirty="0"/>
              <a:t>Key analytical thoughts is to link the forecasts drivers with other economic indicators</a:t>
            </a:r>
          </a:p>
          <a:p>
            <a:pPr lvl="1" indent="-342900">
              <a:lnSpc>
                <a:spcPct val="150000"/>
              </a:lnSpc>
              <a:buFont typeface="Courier New" panose="02070309020205020404" pitchFamily="49" charset="0"/>
              <a:buChar char="o"/>
            </a:pPr>
            <a:r>
              <a:rPr lang="en-US" sz="2100" dirty="0"/>
              <a:t>Is growth in turnovers (sales) or imports consistent with level of tax declarations?</a:t>
            </a:r>
          </a:p>
          <a:p>
            <a:pPr lvl="1" indent="-342900">
              <a:lnSpc>
                <a:spcPct val="150000"/>
              </a:lnSpc>
              <a:buFont typeface="Courier New" panose="02070309020205020404" pitchFamily="49" charset="0"/>
              <a:buChar char="o"/>
            </a:pPr>
            <a:endParaRPr lang="en-US" sz="2100" dirty="0"/>
          </a:p>
          <a:p>
            <a:pPr marL="0" indent="0">
              <a:lnSpc>
                <a:spcPct val="150000"/>
              </a:lnSpc>
              <a:buNone/>
            </a:pPr>
            <a:endParaRPr lang="en-US" sz="2400" dirty="0"/>
          </a:p>
          <a:p>
            <a:pPr marL="0" indent="0">
              <a:lnSpc>
                <a:spcPct val="150000"/>
              </a:lnSpc>
              <a:buNone/>
            </a:pPr>
            <a:endParaRPr lang="en-GB" sz="2200" dirty="0"/>
          </a:p>
        </p:txBody>
      </p:sp>
    </p:spTree>
    <p:extLst>
      <p:ext uri="{BB962C8B-B14F-4D97-AF65-F5344CB8AC3E}">
        <p14:creationId xmlns:p14="http://schemas.microsoft.com/office/powerpoint/2010/main" val="957719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B625D-254F-E56A-7260-B2708D386BFD}"/>
              </a:ext>
            </a:extLst>
          </p:cNvPr>
          <p:cNvSpPr>
            <a:spLocks noGrp="1"/>
          </p:cNvSpPr>
          <p:nvPr>
            <p:ph type="title"/>
          </p:nvPr>
        </p:nvSpPr>
        <p:spPr>
          <a:xfrm>
            <a:off x="646111" y="452718"/>
            <a:ext cx="9404723" cy="1119228"/>
          </a:xfrm>
        </p:spPr>
        <p:txBody>
          <a:bodyPr/>
          <a:lstStyle/>
          <a:p>
            <a:r>
              <a:rPr lang="en-GB" sz="4000" b="1" dirty="0">
                <a:solidFill>
                  <a:srgbClr val="002060"/>
                </a:solidFill>
              </a:rPr>
              <a:t>Variables &amp; data sources </a:t>
            </a:r>
          </a:p>
        </p:txBody>
      </p:sp>
      <p:graphicFrame>
        <p:nvGraphicFramePr>
          <p:cNvPr id="11" name="Table 10">
            <a:extLst>
              <a:ext uri="{FF2B5EF4-FFF2-40B4-BE49-F238E27FC236}">
                <a16:creationId xmlns:a16="http://schemas.microsoft.com/office/drawing/2014/main" id="{661A7A30-24B9-3BFE-3C27-2B49490019DF}"/>
              </a:ext>
            </a:extLst>
          </p:cNvPr>
          <p:cNvGraphicFramePr>
            <a:graphicFrameLocks noGrp="1"/>
          </p:cNvGraphicFramePr>
          <p:nvPr>
            <p:extLst>
              <p:ext uri="{D42A27DB-BD31-4B8C-83A1-F6EECF244321}">
                <p14:modId xmlns:p14="http://schemas.microsoft.com/office/powerpoint/2010/main" val="3362593680"/>
              </p:ext>
            </p:extLst>
          </p:nvPr>
        </p:nvGraphicFramePr>
        <p:xfrm>
          <a:off x="875201" y="1754828"/>
          <a:ext cx="10679584" cy="4179439"/>
        </p:xfrm>
        <a:graphic>
          <a:graphicData uri="http://schemas.openxmlformats.org/drawingml/2006/table">
            <a:tbl>
              <a:tblPr firstRow="1" firstCol="1" bandRow="1"/>
              <a:tblGrid>
                <a:gridCol w="3874090">
                  <a:extLst>
                    <a:ext uri="{9D8B030D-6E8A-4147-A177-3AD203B41FA5}">
                      <a16:colId xmlns:a16="http://schemas.microsoft.com/office/drawing/2014/main" val="3411503223"/>
                    </a:ext>
                  </a:extLst>
                </a:gridCol>
                <a:gridCol w="2991659">
                  <a:extLst>
                    <a:ext uri="{9D8B030D-6E8A-4147-A177-3AD203B41FA5}">
                      <a16:colId xmlns:a16="http://schemas.microsoft.com/office/drawing/2014/main" val="644650801"/>
                    </a:ext>
                  </a:extLst>
                </a:gridCol>
                <a:gridCol w="1390907">
                  <a:extLst>
                    <a:ext uri="{9D8B030D-6E8A-4147-A177-3AD203B41FA5}">
                      <a16:colId xmlns:a16="http://schemas.microsoft.com/office/drawing/2014/main" val="1819707068"/>
                    </a:ext>
                  </a:extLst>
                </a:gridCol>
                <a:gridCol w="1399785">
                  <a:extLst>
                    <a:ext uri="{9D8B030D-6E8A-4147-A177-3AD203B41FA5}">
                      <a16:colId xmlns:a16="http://schemas.microsoft.com/office/drawing/2014/main" val="1358404318"/>
                    </a:ext>
                  </a:extLst>
                </a:gridCol>
                <a:gridCol w="1023143">
                  <a:extLst>
                    <a:ext uri="{9D8B030D-6E8A-4147-A177-3AD203B41FA5}">
                      <a16:colId xmlns:a16="http://schemas.microsoft.com/office/drawing/2014/main" val="2918264842"/>
                    </a:ext>
                  </a:extLst>
                </a:gridCol>
              </a:tblGrid>
              <a:tr h="384571">
                <a:tc>
                  <a:txBody>
                    <a:bodyPr/>
                    <a:lstStyle/>
                    <a:p>
                      <a:pPr algn="just">
                        <a:lnSpc>
                          <a:spcPct val="107000"/>
                        </a:lnSpc>
                        <a:spcAft>
                          <a:spcPts val="800"/>
                        </a:spcAft>
                      </a:pPr>
                      <a:r>
                        <a:rPr lang="en-US" sz="1200" b="1"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Indicator</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US" sz="1200" b="1"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Frequency</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US" sz="1200" b="1">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Delay</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US" sz="1200" b="1">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Source Institution</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7000"/>
                        </a:lnSpc>
                        <a:spcAft>
                          <a:spcPts val="800"/>
                        </a:spcAft>
                      </a:pPr>
                      <a:r>
                        <a:rPr lang="en-US" sz="1200" b="1"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Starting date</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1183319"/>
                  </a:ext>
                </a:extLst>
              </a:tr>
              <a:tr h="374553">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CPI Headline, Urban</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Monthly</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10 days</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NISR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04</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392478314"/>
                  </a:ext>
                </a:extLst>
              </a:tr>
              <a:tr h="276257">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PPI</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Published quarterly, data monthly</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4-6 weeks</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NISR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05</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extLst>
                  <a:ext uri="{0D108BD9-81ED-4DB2-BD59-A6C34878D82A}">
                    <a16:rowId xmlns:a16="http://schemas.microsoft.com/office/drawing/2014/main" val="2894101969"/>
                  </a:ext>
                </a:extLst>
              </a:tr>
              <a:tr h="286715">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broad money, credit to private sector</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Monthly</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25 days</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BNR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03</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extLst>
                  <a:ext uri="{0D108BD9-81ED-4DB2-BD59-A6C34878D82A}">
                    <a16:rowId xmlns:a16="http://schemas.microsoft.com/office/drawing/2014/main" val="2760882950"/>
                  </a:ext>
                </a:extLst>
              </a:tr>
              <a:tr h="274458">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VAT receipts </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Monthly</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20 days</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RRA</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06</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extLst>
                  <a:ext uri="{0D108BD9-81ED-4DB2-BD59-A6C34878D82A}">
                    <a16:rowId xmlns:a16="http://schemas.microsoft.com/office/drawing/2014/main" val="856979929"/>
                  </a:ext>
                </a:extLst>
              </a:tr>
              <a:tr h="279143">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Exchange rate (current prices, USD)</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Monthly</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1 day</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BNR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06</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extLst>
                  <a:ext uri="{0D108BD9-81ED-4DB2-BD59-A6C34878D82A}">
                    <a16:rowId xmlns:a16="http://schemas.microsoft.com/office/drawing/2014/main" val="841621242"/>
                  </a:ext>
                </a:extLst>
              </a:tr>
              <a:tr h="310159">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Imports/Exports of goods  (volume, value)</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Monthly</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20 days</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BNR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1998</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extLst>
                  <a:ext uri="{0D108BD9-81ED-4DB2-BD59-A6C34878D82A}">
                    <a16:rowId xmlns:a16="http://schemas.microsoft.com/office/drawing/2014/main" val="3908656263"/>
                  </a:ext>
                </a:extLst>
              </a:tr>
              <a:tr h="432787">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Industrial production (beer, soft drinks, rice, cement, flour, milk, electricity, and water)</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Published quarterly, data Monthly</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Up to 2 months</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NISR/BNR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2006</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extLst>
                  <a:ext uri="{0D108BD9-81ED-4DB2-BD59-A6C34878D82A}">
                    <a16:rowId xmlns:a16="http://schemas.microsoft.com/office/drawing/2014/main" val="2451365263"/>
                  </a:ext>
                </a:extLst>
              </a:tr>
              <a:tr h="384571">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BNR’s Composite Indicator of Economic Activity (Real)</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Monthly</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25 days</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BNR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2012</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extLst>
                  <a:ext uri="{0D108BD9-81ED-4DB2-BD59-A6C34878D82A}">
                    <a16:rowId xmlns:a16="http://schemas.microsoft.com/office/drawing/2014/main" val="409617317"/>
                  </a:ext>
                </a:extLst>
              </a:tr>
              <a:tr h="547661">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Turnovers (Industry, construction, services, hotel, financial serv., Trade, transport)</a:t>
                      </a:r>
                    </a:p>
                  </a:txBody>
                  <a:tcPr marL="65942" marR="65942" marT="0" marB="0">
                    <a:lnL>
                      <a:noFill/>
                    </a:lnL>
                    <a:lnR>
                      <a:noFill/>
                    </a:lnR>
                    <a:lnT>
                      <a:noFill/>
                    </a:lnT>
                    <a:lnB>
                      <a:noFill/>
                    </a:lnB>
                  </a:tcPr>
                </a:tc>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Monthly</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1 month</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NISR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2012</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20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a:noFill/>
                    </a:lnB>
                  </a:tcPr>
                </a:tc>
                <a:extLst>
                  <a:ext uri="{0D108BD9-81ED-4DB2-BD59-A6C34878D82A}">
                    <a16:rowId xmlns:a16="http://schemas.microsoft.com/office/drawing/2014/main" val="1331103461"/>
                  </a:ext>
                </a:extLst>
              </a:tr>
              <a:tr h="628564">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IIP (Index of Industrial Production)</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Monthly</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1 month</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20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NISR</a:t>
                      </a:r>
                      <a:endParaRPr lang="en-GB" sz="12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nSpc>
                          <a:spcPct val="107000"/>
                        </a:lnSpc>
                        <a:spcAft>
                          <a:spcPts val="800"/>
                        </a:spcAft>
                      </a:pPr>
                      <a:r>
                        <a:rPr lang="en-US" sz="1200" dirty="0">
                          <a:solidFill>
                            <a:schemeClr val="tx1"/>
                          </a:solidFill>
                          <a:effectLst/>
                          <a:latin typeface="Calibri Light" panose="020F0302020204030204" pitchFamily="34" charset="0"/>
                          <a:ea typeface="Times New Roman" panose="02020603050405020304" pitchFamily="18" charset="0"/>
                          <a:cs typeface="Calibri" panose="020F0502020204030204" pitchFamily="34" charset="0"/>
                        </a:rPr>
                        <a:t>Jan 2011</a:t>
                      </a:r>
                      <a:endParaRPr lang="en-GB"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5942" marR="65942"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0517236"/>
                  </a:ext>
                </a:extLst>
              </a:tr>
            </a:tbl>
          </a:graphicData>
        </a:graphic>
      </p:graphicFrame>
      <p:sp>
        <p:nvSpPr>
          <p:cNvPr id="12" name="Rectangle 4">
            <a:extLst>
              <a:ext uri="{FF2B5EF4-FFF2-40B4-BE49-F238E27FC236}">
                <a16:creationId xmlns:a16="http://schemas.microsoft.com/office/drawing/2014/main" id="{13D4AC91-1F9E-85D3-3EB6-687A681CF1C0}"/>
              </a:ext>
            </a:extLst>
          </p:cNvPr>
          <p:cNvSpPr>
            <a:spLocks noChangeArrowheads="1"/>
          </p:cNvSpPr>
          <p:nvPr/>
        </p:nvSpPr>
        <p:spPr bwMode="auto">
          <a:xfrm>
            <a:off x="1103313" y="2593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GB" altLang="en-US" sz="1800" b="0" i="0" u="none" strike="noStrike" cap="none" normalizeH="0" baseline="0">
                <a:ln>
                  <a:noFill/>
                </a:ln>
                <a:solidFill>
                  <a:schemeClr val="tx1"/>
                </a:solidFill>
                <a:effectLst/>
                <a:latin typeface="Arial" panose="020B0604020202020204" pitchFamily="34" charset="0"/>
              </a:rPr>
            </a:br>
            <a:endParaRPr kumimoji="0" lang="en-GB"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5360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E625-13C4-6CC4-B569-5B8EA9D817FB}"/>
              </a:ext>
            </a:extLst>
          </p:cNvPr>
          <p:cNvSpPr>
            <a:spLocks noGrp="1"/>
          </p:cNvSpPr>
          <p:nvPr>
            <p:ph type="title"/>
          </p:nvPr>
        </p:nvSpPr>
        <p:spPr>
          <a:xfrm>
            <a:off x="577481" y="130147"/>
            <a:ext cx="9404723" cy="658906"/>
          </a:xfrm>
        </p:spPr>
        <p:txBody>
          <a:bodyPr/>
          <a:lstStyle/>
          <a:p>
            <a:r>
              <a:rPr lang="en-GB" b="1" dirty="0">
                <a:solidFill>
                  <a:srgbClr val="002060"/>
                </a:solidFill>
                <a:latin typeface="Gill Sans MT" panose="020B0502020104020203" pitchFamily="34" charset="0"/>
              </a:rPr>
              <a:t>Methodology</a:t>
            </a:r>
          </a:p>
        </p:txBody>
      </p:sp>
      <p:sp>
        <p:nvSpPr>
          <p:cNvPr id="3" name="Text Placeholder 2">
            <a:extLst>
              <a:ext uri="{FF2B5EF4-FFF2-40B4-BE49-F238E27FC236}">
                <a16:creationId xmlns:a16="http://schemas.microsoft.com/office/drawing/2014/main" id="{BA40AD1B-0AB1-FA4A-DB14-E8EF23C99330}"/>
              </a:ext>
            </a:extLst>
          </p:cNvPr>
          <p:cNvSpPr>
            <a:spLocks noGrp="1"/>
          </p:cNvSpPr>
          <p:nvPr>
            <p:ph type="body" idx="1"/>
          </p:nvPr>
        </p:nvSpPr>
        <p:spPr>
          <a:xfrm>
            <a:off x="6415735" y="1169936"/>
            <a:ext cx="5510230" cy="332394"/>
          </a:xfrm>
        </p:spPr>
        <p:txBody>
          <a:bodyPr/>
          <a:lstStyle/>
          <a:p>
            <a:pPr algn="ctr"/>
            <a:r>
              <a:rPr lang="en-GB" sz="1400" dirty="0">
                <a:latin typeface="Gill Sans MT" panose="020B0502020104020203" pitchFamily="34" charset="0"/>
              </a:rPr>
              <a:t>3. Estimation of equation </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391317B-8812-026A-235E-E1EC886E71D7}"/>
                  </a:ext>
                </a:extLst>
              </p:cNvPr>
              <p:cNvSpPr>
                <a:spLocks noGrp="1"/>
              </p:cNvSpPr>
              <p:nvPr>
                <p:ph sz="half" idx="2"/>
              </p:nvPr>
            </p:nvSpPr>
            <p:spPr>
              <a:xfrm>
                <a:off x="6415735" y="1639354"/>
                <a:ext cx="2710247" cy="2301010"/>
              </a:xfrm>
              <a:ln>
                <a:solidFill>
                  <a:schemeClr val="bg1">
                    <a:lumMod val="75000"/>
                    <a:lumOff val="25000"/>
                  </a:schemeClr>
                </a:solidFill>
              </a:ln>
            </p:spPr>
            <p:txBody>
              <a:bodyPr>
                <a:normAutofit/>
              </a:body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GB" sz="1400" b="0" i="0" u="none" strike="noStrike" kern="1200" cap="none" spc="0" normalizeH="0" baseline="0" noProof="0" dirty="0">
                    <a:ln>
                      <a:noFill/>
                    </a:ln>
                    <a:solidFill>
                      <a:schemeClr val="bg1"/>
                    </a:solidFill>
                    <a:effectLst/>
                    <a:uLnTx/>
                    <a:uFillTx/>
                    <a:latin typeface="Century Gothic" panose="020B0502020202020204"/>
                    <a:ea typeface="+mj-ea"/>
                    <a:cs typeface="+mj-cs"/>
                  </a:rPr>
                  <a:t>Bridge Equations (BE)</a:t>
                </a:r>
                <a:endParaRPr lang="en-US" sz="1050" dirty="0">
                  <a:solidFill>
                    <a:schemeClr val="bg1"/>
                  </a:solidFill>
                </a:endParaRPr>
              </a:p>
              <a:p>
                <a:pPr>
                  <a:buFont typeface="Wingdings" panose="05000000000000000000" pitchFamily="2" charset="2"/>
                  <a:buChar char="§"/>
                </a:pPr>
                <a:r>
                  <a:rPr lang="en-US" sz="1200" dirty="0">
                    <a:latin typeface="Segoe UI" panose="020B0502040204020203" pitchFamily="34" charset="0"/>
                    <a:ea typeface="Calibri" panose="020F0502020204030204" pitchFamily="34" charset="0"/>
                    <a:cs typeface="Segoe UI" panose="020B0502040204020203" pitchFamily="34" charset="0"/>
                  </a:rPr>
                  <a:t>Bridge equation (BE) uses a HFI as regressor in a single equations with GDP</a:t>
                </a:r>
              </a:p>
              <a:p>
                <a:pPr>
                  <a:buFont typeface="Wingdings" panose="05000000000000000000" pitchFamily="2" charset="2"/>
                  <a:buChar char="§"/>
                </a:pPr>
                <a14:m>
                  <m:oMath xmlns:m="http://schemas.openxmlformats.org/officeDocument/2006/math">
                    <m:func>
                      <m:funcPr>
                        <m:ctrlPr>
                          <a:rPr lang="en-GB" sz="900" i="1" smtClean="0">
                            <a:effectLst/>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US" sz="900">
                            <a:effectLst/>
                            <a:latin typeface="Cambria Math" panose="02040503050406030204" pitchFamily="18" charset="0"/>
                            <a:ea typeface="Calibri" panose="020F0502020204030204" pitchFamily="34" charset="0"/>
                            <a:cs typeface="Calibri" panose="020F0502020204030204" pitchFamily="34" charset="0"/>
                          </a:rPr>
                          <m:t>dlog</m:t>
                        </m:r>
                      </m:fName>
                      <m:e>
                        <m:d>
                          <m:dPr>
                            <m:ctrlPr>
                              <a:rPr lang="en-GB" sz="900" i="1">
                                <a:effectLst/>
                                <a:latin typeface="Cambria Math" panose="02040503050406030204" pitchFamily="18" charset="0"/>
                                <a:ea typeface="Calibri" panose="020F0502020204030204" pitchFamily="34" charset="0"/>
                                <a:cs typeface="Calibri" panose="020F0502020204030204" pitchFamily="34" charset="0"/>
                              </a:rPr>
                            </m:ctrlPr>
                          </m:dPr>
                          <m:e>
                            <m:r>
                              <a:rPr lang="en-US" sz="900" i="1">
                                <a:effectLst/>
                                <a:latin typeface="Cambria Math" panose="02040503050406030204" pitchFamily="18" charset="0"/>
                                <a:ea typeface="Calibri" panose="020F0502020204030204" pitchFamily="34" charset="0"/>
                                <a:cs typeface="Calibri" panose="020F0502020204030204" pitchFamily="34" charset="0"/>
                              </a:rPr>
                              <m:t>𝐺𝐷𝑃</m:t>
                            </m:r>
                          </m:e>
                        </m:d>
                      </m:e>
                    </m:func>
                    <m:r>
                      <a:rPr lang="en-US" sz="900" i="1">
                        <a:effectLst/>
                        <a:latin typeface="Cambria Math" panose="02040503050406030204" pitchFamily="18" charset="0"/>
                        <a:ea typeface="Calibri" panose="020F0502020204030204" pitchFamily="34" charset="0"/>
                        <a:cs typeface="Calibri" panose="020F0502020204030204" pitchFamily="34" charset="0"/>
                      </a:rPr>
                      <m:t>= </m:t>
                    </m:r>
                    <m:r>
                      <a:rPr lang="en-US" sz="900" i="1">
                        <a:effectLst/>
                        <a:latin typeface="Cambria Math" panose="02040503050406030204" pitchFamily="18" charset="0"/>
                        <a:ea typeface="Calibri" panose="020F0502020204030204" pitchFamily="34" charset="0"/>
                        <a:cs typeface="Calibri" panose="020F0502020204030204" pitchFamily="34" charset="0"/>
                      </a:rPr>
                      <m:t>𝛼</m:t>
                    </m:r>
                    <m:r>
                      <a:rPr lang="en-US" sz="9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n-GB" sz="900" i="1">
                            <a:effectLst/>
                            <a:latin typeface="Cambria Math" panose="02040503050406030204" pitchFamily="18" charset="0"/>
                            <a:ea typeface="Calibri" panose="020F0502020204030204" pitchFamily="34" charset="0"/>
                            <a:cs typeface="Calibri" panose="020F0502020204030204" pitchFamily="34" charset="0"/>
                          </a:rPr>
                        </m:ctrlPr>
                      </m:sSubPr>
                      <m:e>
                        <m:r>
                          <a:rPr lang="en-US" sz="900" i="1">
                            <a:effectLst/>
                            <a:latin typeface="Cambria Math" panose="02040503050406030204" pitchFamily="18" charset="0"/>
                            <a:ea typeface="Calibri" panose="020F0502020204030204" pitchFamily="34" charset="0"/>
                            <a:cs typeface="Calibri" panose="020F0502020204030204" pitchFamily="34" charset="0"/>
                          </a:rPr>
                          <m:t>𝛽</m:t>
                        </m:r>
                      </m:e>
                      <m:sub>
                        <m:r>
                          <a:rPr lang="en-US" sz="900" i="1">
                            <a:effectLst/>
                            <a:latin typeface="Cambria Math" panose="02040503050406030204" pitchFamily="18" charset="0"/>
                            <a:ea typeface="Calibri" panose="020F0502020204030204" pitchFamily="34" charset="0"/>
                            <a:cs typeface="Calibri" panose="020F0502020204030204" pitchFamily="34" charset="0"/>
                          </a:rPr>
                          <m:t>1</m:t>
                        </m:r>
                      </m:sub>
                    </m:sSub>
                    <m:sSub>
                      <m:sSubPr>
                        <m:ctrlPr>
                          <a:rPr lang="en-GB" sz="9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n-US" sz="900">
                            <a:effectLst/>
                            <a:latin typeface="Cambria Math" panose="02040503050406030204" pitchFamily="18" charset="0"/>
                            <a:ea typeface="Times New Roman" panose="02020603050405020304" pitchFamily="18" charset="0"/>
                            <a:cs typeface="Calibri" panose="020F0502020204030204" pitchFamily="34" charset="0"/>
                          </a:rPr>
                          <m:t>dlog</m:t>
                        </m:r>
                        <m:r>
                          <a:rPr lang="en-US" sz="900">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𝐺𝐷𝑃</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e>
                      <m:sub>
                        <m:r>
                          <a:rPr lang="en-US" sz="900" i="1">
                            <a:effectLst/>
                            <a:latin typeface="Cambria Math" panose="02040503050406030204" pitchFamily="18" charset="0"/>
                            <a:ea typeface="Times New Roman" panose="02020603050405020304" pitchFamily="18" charset="0"/>
                            <a:cs typeface="Calibri" panose="020F0502020204030204" pitchFamily="34" charset="0"/>
                          </a:rPr>
                          <m:t>𝑡</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1</m:t>
                        </m:r>
                      </m:sub>
                    </m:sSub>
                    <m:r>
                      <a:rPr lang="en-US" sz="9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n-GB" sz="900" i="1">
                            <a:effectLst/>
                            <a:latin typeface="Cambria Math" panose="02040503050406030204" pitchFamily="18" charset="0"/>
                            <a:ea typeface="Calibri" panose="020F0502020204030204" pitchFamily="34" charset="0"/>
                            <a:cs typeface="Calibri" panose="020F0502020204030204" pitchFamily="34" charset="0"/>
                          </a:rPr>
                        </m:ctrlPr>
                      </m:sSubPr>
                      <m:e>
                        <m:r>
                          <a:rPr lang="en-US" sz="900" i="1">
                            <a:effectLst/>
                            <a:latin typeface="Cambria Math" panose="02040503050406030204" pitchFamily="18" charset="0"/>
                            <a:ea typeface="Calibri" panose="020F0502020204030204" pitchFamily="34" charset="0"/>
                            <a:cs typeface="Calibri" panose="020F0502020204030204" pitchFamily="34" charset="0"/>
                          </a:rPr>
                          <m:t>𝛽</m:t>
                        </m:r>
                      </m:e>
                      <m:sub>
                        <m:r>
                          <a:rPr lang="en-US" sz="900" i="1">
                            <a:effectLst/>
                            <a:latin typeface="Cambria Math" panose="02040503050406030204" pitchFamily="18" charset="0"/>
                            <a:ea typeface="Calibri" panose="020F0502020204030204" pitchFamily="34" charset="0"/>
                            <a:cs typeface="Calibri" panose="020F0502020204030204" pitchFamily="34" charset="0"/>
                          </a:rPr>
                          <m:t>4</m:t>
                        </m:r>
                      </m:sub>
                    </m:sSub>
                    <m:r>
                      <a:rPr lang="en-US" sz="900" i="1">
                        <a:effectLst/>
                        <a:latin typeface="Cambria Math" panose="02040503050406030204" pitchFamily="18" charset="0"/>
                        <a:ea typeface="Calibri" panose="020F0502020204030204" pitchFamily="34" charset="0"/>
                        <a:cs typeface="Calibri" panose="020F0502020204030204" pitchFamily="34" charset="0"/>
                      </a:rPr>
                      <m:t>𝑑</m:t>
                    </m:r>
                    <m:sSub>
                      <m:sSubPr>
                        <m:ctrlPr>
                          <a:rPr lang="en-GB" sz="9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n-US" sz="900">
                            <a:effectLst/>
                            <a:latin typeface="Cambria Math" panose="02040503050406030204" pitchFamily="18" charset="0"/>
                            <a:ea typeface="Calibri" panose="020F0502020204030204" pitchFamily="34" charset="0"/>
                            <a:cs typeface="Calibri" panose="020F0502020204030204" pitchFamily="34" charset="0"/>
                          </a:rPr>
                          <m:t>log</m:t>
                        </m:r>
                        <m:r>
                          <a:rPr lang="en-US" sz="900">
                            <a:effectLst/>
                            <a:latin typeface="Cambria Math" panose="02040503050406030204" pitchFamily="18" charset="0"/>
                            <a:ea typeface="Calibri" panose="020F0502020204030204" pitchFamily="34" charset="0"/>
                            <a:cs typeface="Calibri" panose="020F0502020204030204" pitchFamily="34" charset="0"/>
                          </a:rPr>
                          <m:t>⁡</m:t>
                        </m:r>
                        <m:r>
                          <a:rPr lang="en-US" sz="900" i="1">
                            <a:effectLst/>
                            <a:latin typeface="Cambria Math" panose="02040503050406030204" pitchFamily="18" charset="0"/>
                            <a:ea typeface="Calibri" panose="020F0502020204030204" pitchFamily="34" charset="0"/>
                            <a:cs typeface="Calibri" panose="020F0502020204030204" pitchFamily="34" charset="0"/>
                          </a:rPr>
                          <m:t>(</m:t>
                        </m:r>
                        <m:r>
                          <a:rPr lang="en-US" sz="900" i="1">
                            <a:effectLst/>
                            <a:latin typeface="Cambria Math" panose="02040503050406030204" pitchFamily="18" charset="0"/>
                            <a:ea typeface="Calibri" panose="020F0502020204030204" pitchFamily="34" charset="0"/>
                            <a:cs typeface="Calibri" panose="020F0502020204030204" pitchFamily="34" charset="0"/>
                          </a:rPr>
                          <m:t>𝐺𝐷𝑃</m:t>
                        </m:r>
                        <m:r>
                          <a:rPr lang="en-US" sz="900" i="1">
                            <a:effectLst/>
                            <a:latin typeface="Cambria Math" panose="02040503050406030204" pitchFamily="18" charset="0"/>
                            <a:ea typeface="Calibri" panose="020F0502020204030204" pitchFamily="34" charset="0"/>
                            <a:cs typeface="Calibri" panose="020F0502020204030204" pitchFamily="34" charset="0"/>
                          </a:rPr>
                          <m:t>)</m:t>
                        </m:r>
                      </m:e>
                      <m:sub>
                        <m:r>
                          <a:rPr lang="en-US" sz="900" i="1">
                            <a:effectLst/>
                            <a:latin typeface="Cambria Math" panose="02040503050406030204" pitchFamily="18" charset="0"/>
                            <a:ea typeface="Times New Roman" panose="02020603050405020304" pitchFamily="18" charset="0"/>
                            <a:cs typeface="Calibri" panose="020F0502020204030204" pitchFamily="34" charset="0"/>
                          </a:rPr>
                          <m:t>𝑡</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𝑖</m:t>
                        </m:r>
                      </m:sub>
                    </m:sSub>
                    <m:r>
                      <a:rPr lang="en-US" sz="9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n-GB" sz="9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900" i="1">
                            <a:effectLst/>
                            <a:latin typeface="Cambria Math" panose="02040503050406030204" pitchFamily="18" charset="0"/>
                            <a:ea typeface="Times New Roman" panose="02020603050405020304" pitchFamily="18" charset="0"/>
                            <a:cs typeface="Calibri" panose="020F0502020204030204" pitchFamily="34" charset="0"/>
                          </a:rPr>
                          <m:t>𝛾</m:t>
                        </m:r>
                      </m:e>
                      <m:sub>
                        <m:r>
                          <a:rPr lang="en-US" sz="900" i="1">
                            <a:effectLst/>
                            <a:latin typeface="Cambria Math" panose="02040503050406030204" pitchFamily="18" charset="0"/>
                            <a:ea typeface="Times New Roman" panose="02020603050405020304" pitchFamily="18" charset="0"/>
                            <a:cs typeface="Calibri" panose="020F0502020204030204" pitchFamily="34" charset="0"/>
                          </a:rPr>
                          <m:t>1</m:t>
                        </m:r>
                      </m:sub>
                    </m:sSub>
                    <m:r>
                      <a:rPr lang="en-US" sz="900" i="1">
                        <a:effectLst/>
                        <a:latin typeface="Cambria Math" panose="02040503050406030204" pitchFamily="18" charset="0"/>
                        <a:ea typeface="Times New Roman" panose="02020603050405020304" pitchFamily="18" charset="0"/>
                        <a:cs typeface="Calibri" panose="020F0502020204030204" pitchFamily="34" charset="0"/>
                      </a:rPr>
                      <m:t>𝑑</m:t>
                    </m:r>
                    <m:sSub>
                      <m:sSubPr>
                        <m:ctrlPr>
                          <a:rPr lang="en-GB" sz="9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n-US" sz="900">
                            <a:effectLst/>
                            <a:latin typeface="Cambria Math" panose="02040503050406030204" pitchFamily="18" charset="0"/>
                            <a:ea typeface="Times New Roman" panose="02020603050405020304" pitchFamily="18" charset="0"/>
                            <a:cs typeface="Calibri" panose="020F0502020204030204" pitchFamily="34" charset="0"/>
                          </a:rPr>
                          <m:t>log</m:t>
                        </m:r>
                        <m:r>
                          <a:rPr lang="en-US" sz="900">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𝐻𝐹𝐼</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e>
                      <m:sub>
                        <m:r>
                          <a:rPr lang="en-US" sz="900" i="1">
                            <a:effectLst/>
                            <a:latin typeface="Cambria Math" panose="02040503050406030204" pitchFamily="18" charset="0"/>
                            <a:ea typeface="Times New Roman" panose="02020603050405020304" pitchFamily="18" charset="0"/>
                            <a:cs typeface="Calibri" panose="020F0502020204030204" pitchFamily="34" charset="0"/>
                          </a:rPr>
                          <m:t>𝑡</m:t>
                        </m:r>
                      </m:sub>
                    </m:sSub>
                    <m:r>
                      <a:rPr lang="en-US" sz="9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n-GB" sz="9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900" i="1">
                            <a:effectLst/>
                            <a:latin typeface="Cambria Math" panose="02040503050406030204" pitchFamily="18" charset="0"/>
                            <a:ea typeface="Times New Roman" panose="02020603050405020304" pitchFamily="18" charset="0"/>
                            <a:cs typeface="Calibri" panose="020F0502020204030204" pitchFamily="34" charset="0"/>
                          </a:rPr>
                          <m:t>𝛾</m:t>
                        </m:r>
                      </m:e>
                      <m:sub>
                        <m:r>
                          <a:rPr lang="en-US" sz="900" i="1">
                            <a:effectLst/>
                            <a:latin typeface="Cambria Math" panose="02040503050406030204" pitchFamily="18" charset="0"/>
                            <a:ea typeface="Times New Roman" panose="02020603050405020304" pitchFamily="18" charset="0"/>
                            <a:cs typeface="Calibri" panose="020F0502020204030204" pitchFamily="34" charset="0"/>
                          </a:rPr>
                          <m:t>2</m:t>
                        </m:r>
                      </m:sub>
                    </m:sSub>
                    <m:sSub>
                      <m:sSubPr>
                        <m:ctrlPr>
                          <a:rPr lang="en-GB" sz="9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n-US" sz="900">
                            <a:effectLst/>
                            <a:latin typeface="Cambria Math" panose="02040503050406030204" pitchFamily="18" charset="0"/>
                            <a:ea typeface="Times New Roman" panose="02020603050405020304" pitchFamily="18" charset="0"/>
                            <a:cs typeface="Calibri" panose="020F0502020204030204" pitchFamily="34" charset="0"/>
                          </a:rPr>
                          <m:t>dlog</m:t>
                        </m:r>
                        <m:r>
                          <a:rPr lang="en-US" sz="900">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𝐻𝐹𝐼</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e>
                      <m:sub>
                        <m:r>
                          <a:rPr lang="en-US" sz="900" i="1">
                            <a:effectLst/>
                            <a:latin typeface="Cambria Math" panose="02040503050406030204" pitchFamily="18" charset="0"/>
                            <a:ea typeface="Times New Roman" panose="02020603050405020304" pitchFamily="18" charset="0"/>
                            <a:cs typeface="Calibri" panose="020F0502020204030204" pitchFamily="34" charset="0"/>
                          </a:rPr>
                          <m:t>𝑡</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1</m:t>
                        </m:r>
                      </m:sub>
                    </m:sSub>
                    <m:r>
                      <a:rPr lang="en-US" sz="9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n-GB" sz="9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n-US" sz="900" i="1">
                            <a:effectLst/>
                            <a:latin typeface="Cambria Math" panose="02040503050406030204" pitchFamily="18" charset="0"/>
                            <a:ea typeface="Times New Roman" panose="02020603050405020304" pitchFamily="18" charset="0"/>
                            <a:cs typeface="Calibri" panose="020F0502020204030204" pitchFamily="34" charset="0"/>
                          </a:rPr>
                          <m:t>𝛾</m:t>
                        </m:r>
                      </m:e>
                      <m:sub>
                        <m:r>
                          <a:rPr lang="en-US" sz="900" i="1">
                            <a:effectLst/>
                            <a:latin typeface="Cambria Math" panose="02040503050406030204" pitchFamily="18" charset="0"/>
                            <a:ea typeface="Times New Roman" panose="02020603050405020304" pitchFamily="18" charset="0"/>
                            <a:cs typeface="Calibri" panose="020F0502020204030204" pitchFamily="34" charset="0"/>
                          </a:rPr>
                          <m:t>5</m:t>
                        </m:r>
                      </m:sub>
                    </m:sSub>
                    <m:sSub>
                      <m:sSubPr>
                        <m:ctrlPr>
                          <a:rPr lang="en-GB" sz="9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n-US" sz="900">
                            <a:effectLst/>
                            <a:latin typeface="Cambria Math" panose="02040503050406030204" pitchFamily="18" charset="0"/>
                            <a:ea typeface="Times New Roman" panose="02020603050405020304" pitchFamily="18" charset="0"/>
                            <a:cs typeface="Calibri" panose="020F0502020204030204" pitchFamily="34" charset="0"/>
                          </a:rPr>
                          <m:t>dlog</m:t>
                        </m:r>
                        <m:r>
                          <a:rPr lang="en-US" sz="900">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𝐻𝐹𝐼</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e>
                      <m:sub>
                        <m:r>
                          <a:rPr lang="en-US" sz="900" i="1">
                            <a:effectLst/>
                            <a:latin typeface="Cambria Math" panose="02040503050406030204" pitchFamily="18" charset="0"/>
                            <a:ea typeface="Times New Roman" panose="02020603050405020304" pitchFamily="18" charset="0"/>
                            <a:cs typeface="Calibri" panose="020F0502020204030204" pitchFamily="34" charset="0"/>
                          </a:rPr>
                          <m:t>𝑡</m:t>
                        </m:r>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𝑗</m:t>
                        </m:r>
                      </m:sub>
                    </m:sSub>
                    <m:r>
                      <a:rPr lang="en-US" sz="900" i="1">
                        <a:effectLst/>
                        <a:latin typeface="Cambria Math" panose="02040503050406030204" pitchFamily="18" charset="0"/>
                        <a:ea typeface="Times New Roman" panose="02020603050405020304" pitchFamily="18" charset="0"/>
                        <a:cs typeface="Calibri" panose="020F0502020204030204" pitchFamily="34" charset="0"/>
                      </a:rPr>
                      <m:t>+</m:t>
                    </m:r>
                    <m:r>
                      <a:rPr lang="en-US" sz="900" i="1">
                        <a:effectLst/>
                        <a:latin typeface="Cambria Math" panose="02040503050406030204" pitchFamily="18" charset="0"/>
                        <a:ea typeface="Times New Roman" panose="02020603050405020304" pitchFamily="18" charset="0"/>
                        <a:cs typeface="Calibri" panose="020F0502020204030204" pitchFamily="34" charset="0"/>
                      </a:rPr>
                      <m:t>𝜀</m:t>
                    </m:r>
                  </m:oMath>
                </a14:m>
                <a:endParaRPr lang="en-GB" sz="10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
                </a:pPr>
                <a:r>
                  <a:rPr lang="en-GB" sz="1100" dirty="0"/>
                  <a:t>ARDL models (better fit than OLS) </a:t>
                </a:r>
              </a:p>
              <a:p>
                <a:pPr>
                  <a:buFont typeface="Wingdings" panose="05000000000000000000" pitchFamily="2" charset="2"/>
                  <a:buChar char="§"/>
                </a:pPr>
                <a:r>
                  <a:rPr lang="en-GB" sz="1100" dirty="0"/>
                  <a:t>Sample : 2006-2025</a:t>
                </a:r>
              </a:p>
            </p:txBody>
          </p:sp>
        </mc:Choice>
        <mc:Fallback xmlns="">
          <p:sp>
            <p:nvSpPr>
              <p:cNvPr id="4" name="Content Placeholder 3">
                <a:extLst>
                  <a:ext uri="{FF2B5EF4-FFF2-40B4-BE49-F238E27FC236}">
                    <a16:creationId xmlns:a16="http://schemas.microsoft.com/office/drawing/2014/main" id="{0391317B-8812-026A-235E-E1EC886E71D7}"/>
                  </a:ext>
                </a:extLst>
              </p:cNvPr>
              <p:cNvSpPr>
                <a:spLocks noGrp="1" noRot="1" noChangeAspect="1" noMove="1" noResize="1" noEditPoints="1" noAdjustHandles="1" noChangeArrowheads="1" noChangeShapeType="1" noTextEdit="1"/>
              </p:cNvSpPr>
              <p:nvPr>
                <p:ph sz="half" idx="2"/>
              </p:nvPr>
            </p:nvSpPr>
            <p:spPr>
              <a:xfrm>
                <a:off x="6415735" y="1639354"/>
                <a:ext cx="2710247" cy="2301010"/>
              </a:xfrm>
              <a:blipFill>
                <a:blip r:embed="rId3"/>
                <a:stretch>
                  <a:fillRect l="-447" t="-264" b="-792"/>
                </a:stretch>
              </a:blipFill>
              <a:ln>
                <a:solidFill>
                  <a:schemeClr val="bg1">
                    <a:lumMod val="75000"/>
                    <a:lumOff val="25000"/>
                  </a:schemeClr>
                </a:solidFill>
              </a:ln>
            </p:spPr>
            <p:txBody>
              <a:bodyPr/>
              <a:lstStyle/>
              <a:p>
                <a:r>
                  <a:rPr lang="en-RW">
                    <a:noFill/>
                  </a:rPr>
                  <a:t> </a:t>
                </a:r>
              </a:p>
            </p:txBody>
          </p:sp>
        </mc:Fallback>
      </mc:AlternateContent>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A5697388-DFAF-11AF-0F47-016500451F93}"/>
                  </a:ext>
                </a:extLst>
              </p:cNvPr>
              <p:cNvSpPr>
                <a:spLocks noGrp="1"/>
              </p:cNvSpPr>
              <p:nvPr>
                <p:ph sz="quarter" idx="4"/>
              </p:nvPr>
            </p:nvSpPr>
            <p:spPr>
              <a:xfrm>
                <a:off x="9215717" y="1643033"/>
                <a:ext cx="2710247" cy="2301008"/>
              </a:xfrm>
              <a:ln>
                <a:solidFill>
                  <a:schemeClr val="bg1">
                    <a:lumMod val="75000"/>
                    <a:lumOff val="25000"/>
                  </a:schemeClr>
                </a:solidFill>
              </a:ln>
            </p:spPr>
            <p:txBody>
              <a:bodyPr>
                <a:normAutofit/>
              </a:body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GB" sz="1200" b="0" i="0" u="none" strike="noStrike" kern="1200" cap="none" spc="0" normalizeH="0" baseline="0" noProof="0" dirty="0">
                    <a:ln>
                      <a:noFill/>
                    </a:ln>
                    <a:solidFill>
                      <a:schemeClr val="bg1"/>
                    </a:solidFill>
                    <a:effectLst/>
                    <a:uLnTx/>
                    <a:uFillTx/>
                    <a:latin typeface="Century Gothic" panose="020B0502020202020204"/>
                    <a:ea typeface="+mj-ea"/>
                    <a:cs typeface="+mj-cs"/>
                  </a:rPr>
                  <a:t>Multiple Linear Equations (MLE)</a:t>
                </a:r>
                <a:endParaRPr lang="en-US" sz="1200" dirty="0">
                  <a:solidFill>
                    <a:schemeClr val="bg1"/>
                  </a:solidFill>
                  <a:effectLst/>
                  <a:latin typeface="Segoe UI" panose="020B0502040204020203" pitchFamily="34" charset="0"/>
                  <a:ea typeface="Calibri" panose="020F0502020204030204" pitchFamily="34" charset="0"/>
                  <a:cs typeface="Segoe UI" panose="020B0502040204020203" pitchFamily="34" charset="0"/>
                </a:endParaRPr>
              </a:p>
              <a:p>
                <a:pPr>
                  <a:buFont typeface="Wingdings" panose="05000000000000000000" pitchFamily="2" charset="2"/>
                  <a:buChar char="§"/>
                </a:pPr>
                <a:r>
                  <a:rPr lang="en-US" sz="1200" dirty="0">
                    <a:effectLst/>
                    <a:latin typeface="Segoe UI" panose="020B0502040204020203" pitchFamily="34" charset="0"/>
                    <a:ea typeface="Calibri" panose="020F0502020204030204" pitchFamily="34" charset="0"/>
                    <a:cs typeface="Segoe UI" panose="020B0502040204020203" pitchFamily="34" charset="0"/>
                  </a:rPr>
                  <a:t>3 </a:t>
                </a:r>
                <a:r>
                  <a:rPr lang="en-US" sz="1200" dirty="0" err="1">
                    <a:effectLst/>
                    <a:latin typeface="Segoe UI" panose="020B0502040204020203" pitchFamily="34" charset="0"/>
                    <a:ea typeface="Calibri" panose="020F0502020204030204" pitchFamily="34" charset="0"/>
                    <a:cs typeface="Segoe UI" panose="020B0502040204020203" pitchFamily="34" charset="0"/>
                  </a:rPr>
                  <a:t>Eqs</a:t>
                </a:r>
                <a:r>
                  <a:rPr lang="en-US" sz="1200" dirty="0">
                    <a:effectLst/>
                    <a:latin typeface="Segoe UI" panose="020B0502040204020203" pitchFamily="34" charset="0"/>
                    <a:ea typeface="Calibri" panose="020F0502020204030204" pitchFamily="34" charset="0"/>
                    <a:cs typeface="Segoe UI" panose="020B0502040204020203" pitchFamily="34" charset="0"/>
                  </a:rPr>
                  <a:t> represent supply, demand and, monetary</a:t>
                </a:r>
                <a:r>
                  <a:rPr lang="en-US" sz="1200" dirty="0">
                    <a:latin typeface="Segoe UI" panose="020B0502040204020203" pitchFamily="34" charset="0"/>
                    <a:ea typeface="Calibri" panose="020F0502020204030204" pitchFamily="34" charset="0"/>
                    <a:cs typeface="Segoe UI" panose="020B0502040204020203" pitchFamily="34" charset="0"/>
                  </a:rPr>
                  <a:t> sector</a:t>
                </a:r>
                <a:endParaRPr lang="en-US" sz="1200" dirty="0">
                  <a:effectLst/>
                  <a:latin typeface="Segoe UI" panose="020B0502040204020203" pitchFamily="34" charset="0"/>
                  <a:ea typeface="Calibri" panose="020F0502020204030204" pitchFamily="34" charset="0"/>
                  <a:cs typeface="Segoe UI" panose="020B0502040204020203" pitchFamily="34" charset="0"/>
                </a:endParaRPr>
              </a:p>
              <a:p>
                <a:pPr>
                  <a:buFont typeface="Wingdings" panose="05000000000000000000" pitchFamily="2" charset="2"/>
                  <a:buChar char="§"/>
                </a:pPr>
                <a14:m>
                  <m:oMath xmlns:m="http://schemas.openxmlformats.org/officeDocument/2006/math">
                    <m:func>
                      <m:funcPr>
                        <m:ctrlPr>
                          <a:rPr lang="en-GB" sz="1100" i="1" smtClean="0">
                            <a:effectLst/>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US" sz="1100">
                            <a:effectLst/>
                            <a:latin typeface="Cambria Math" panose="02040503050406030204" pitchFamily="18" charset="0"/>
                            <a:ea typeface="Calibri" panose="020F0502020204030204" pitchFamily="34" charset="0"/>
                            <a:cs typeface="Calibri" panose="020F0502020204030204" pitchFamily="34" charset="0"/>
                          </a:rPr>
                          <m:t>dlog</m:t>
                        </m:r>
                      </m:fName>
                      <m:e>
                        <m:d>
                          <m:dPr>
                            <m:ctrlPr>
                              <a:rPr lang="en-GB" sz="1100" i="1">
                                <a:effectLst/>
                                <a:latin typeface="Cambria Math" panose="02040503050406030204" pitchFamily="18" charset="0"/>
                                <a:ea typeface="Calibri" panose="020F0502020204030204" pitchFamily="34" charset="0"/>
                                <a:cs typeface="Calibri" panose="020F0502020204030204" pitchFamily="34" charset="0"/>
                              </a:rPr>
                            </m:ctrlPr>
                          </m:dPr>
                          <m:e>
                            <m:r>
                              <a:rPr lang="en-US" sz="1100" i="1">
                                <a:effectLst/>
                                <a:latin typeface="Cambria Math" panose="02040503050406030204" pitchFamily="18" charset="0"/>
                                <a:ea typeface="Calibri" panose="020F0502020204030204" pitchFamily="34" charset="0"/>
                                <a:cs typeface="Calibri" panose="020F0502020204030204" pitchFamily="34" charset="0"/>
                              </a:rPr>
                              <m:t>𝐺𝐷𝑃</m:t>
                            </m:r>
                          </m:e>
                        </m:d>
                      </m:e>
                    </m:func>
                    <m:r>
                      <a:rPr lang="en-US" sz="11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n-GB" sz="1100" i="1">
                            <a:effectLst/>
                            <a:latin typeface="Cambria Math" panose="02040503050406030204" pitchFamily="18" charset="0"/>
                            <a:ea typeface="Calibri" panose="020F0502020204030204" pitchFamily="34" charset="0"/>
                            <a:cs typeface="Calibri" panose="020F0502020204030204" pitchFamily="34" charset="0"/>
                          </a:rPr>
                        </m:ctrlPr>
                      </m:sSubPr>
                      <m:e>
                        <m:r>
                          <a:rPr lang="en-US" sz="1100" i="1">
                            <a:effectLst/>
                            <a:latin typeface="Cambria Math" panose="02040503050406030204" pitchFamily="18" charset="0"/>
                            <a:ea typeface="Calibri" panose="020F0502020204030204" pitchFamily="34" charset="0"/>
                            <a:cs typeface="Calibri" panose="020F0502020204030204" pitchFamily="34" charset="0"/>
                          </a:rPr>
                          <m:t>𝛽</m:t>
                        </m:r>
                      </m:e>
                      <m:sub>
                        <m:r>
                          <a:rPr lang="en-US" sz="1100" i="1">
                            <a:effectLst/>
                            <a:latin typeface="Cambria Math" panose="02040503050406030204" pitchFamily="18" charset="0"/>
                            <a:ea typeface="Calibri" panose="020F0502020204030204" pitchFamily="34" charset="0"/>
                            <a:cs typeface="Calibri" panose="020F0502020204030204" pitchFamily="34" charset="0"/>
                          </a:rPr>
                          <m:t>0</m:t>
                        </m:r>
                      </m:sub>
                    </m:sSub>
                    <m:r>
                      <a:rPr lang="en-US" sz="11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n-GB" sz="1100" i="1">
                            <a:effectLst/>
                            <a:latin typeface="Cambria Math" panose="02040503050406030204" pitchFamily="18" charset="0"/>
                            <a:ea typeface="Calibri" panose="020F0502020204030204" pitchFamily="34" charset="0"/>
                            <a:cs typeface="Calibri" panose="020F0502020204030204" pitchFamily="34" charset="0"/>
                          </a:rPr>
                        </m:ctrlPr>
                      </m:sSubPr>
                      <m:e>
                        <m:r>
                          <a:rPr lang="en-US" sz="1100" i="1">
                            <a:effectLst/>
                            <a:latin typeface="Cambria Math" panose="02040503050406030204" pitchFamily="18" charset="0"/>
                            <a:ea typeface="Calibri" panose="020F0502020204030204" pitchFamily="34" charset="0"/>
                            <a:cs typeface="Calibri" panose="020F0502020204030204" pitchFamily="34" charset="0"/>
                          </a:rPr>
                          <m:t>𝛽</m:t>
                        </m:r>
                      </m:e>
                      <m:sub>
                        <m:r>
                          <a:rPr lang="en-US" sz="1100" i="1">
                            <a:effectLst/>
                            <a:latin typeface="Cambria Math" panose="02040503050406030204" pitchFamily="18" charset="0"/>
                            <a:ea typeface="Calibri" panose="020F0502020204030204" pitchFamily="34" charset="0"/>
                            <a:cs typeface="Calibri" panose="020F0502020204030204" pitchFamily="34" charset="0"/>
                          </a:rPr>
                          <m:t>𝑖</m:t>
                        </m:r>
                      </m:sub>
                    </m:sSub>
                    <m:func>
                      <m:funcPr>
                        <m:ctrlPr>
                          <a:rPr lang="en-GB" sz="1100" i="1">
                            <a:effectLst/>
                            <a:latin typeface="Cambria Math" panose="02040503050406030204" pitchFamily="18" charset="0"/>
                            <a:ea typeface="Calibri" panose="020F0502020204030204" pitchFamily="34" charset="0"/>
                            <a:cs typeface="Calibri" panose="020F0502020204030204" pitchFamily="34" charset="0"/>
                          </a:rPr>
                        </m:ctrlPr>
                      </m:funcPr>
                      <m:fName>
                        <m:r>
                          <m:rPr>
                            <m:sty m:val="p"/>
                          </m:rPr>
                          <a:rPr lang="en-US" sz="1100">
                            <a:effectLst/>
                            <a:latin typeface="Cambria Math" panose="02040503050406030204" pitchFamily="18" charset="0"/>
                            <a:ea typeface="Calibri" panose="020F0502020204030204" pitchFamily="34" charset="0"/>
                            <a:cs typeface="Calibri" panose="020F0502020204030204" pitchFamily="34" charset="0"/>
                          </a:rPr>
                          <m:t>log</m:t>
                        </m:r>
                      </m:fName>
                      <m:e>
                        <m:d>
                          <m:dPr>
                            <m:ctrlPr>
                              <a:rPr lang="en-GB" sz="1100" i="1">
                                <a:effectLst/>
                                <a:latin typeface="Cambria Math" panose="02040503050406030204" pitchFamily="18" charset="0"/>
                                <a:ea typeface="Calibri" panose="020F0502020204030204" pitchFamily="34" charset="0"/>
                                <a:cs typeface="Calibri" panose="020F0502020204030204" pitchFamily="34" charset="0"/>
                              </a:rPr>
                            </m:ctrlPr>
                          </m:dPr>
                          <m:e>
                            <m:sSub>
                              <m:sSubPr>
                                <m:ctrlPr>
                                  <a:rPr lang="en-GB" sz="1100" i="1">
                                    <a:effectLst/>
                                    <a:latin typeface="Cambria Math" panose="02040503050406030204" pitchFamily="18" charset="0"/>
                                    <a:ea typeface="Calibri" panose="020F0502020204030204" pitchFamily="34" charset="0"/>
                                    <a:cs typeface="Calibri" panose="020F0502020204030204" pitchFamily="34" charset="0"/>
                                  </a:rPr>
                                </m:ctrlPr>
                              </m:sSubPr>
                              <m:e>
                                <m:r>
                                  <a:rPr lang="en-US" sz="1100" i="1">
                                    <a:effectLst/>
                                    <a:latin typeface="Cambria Math" panose="02040503050406030204" pitchFamily="18" charset="0"/>
                                    <a:ea typeface="Calibri" panose="020F0502020204030204" pitchFamily="34" charset="0"/>
                                    <a:cs typeface="Calibri" panose="020F0502020204030204" pitchFamily="34" charset="0"/>
                                  </a:rPr>
                                  <m:t>𝐻𝐹𝐼</m:t>
                                </m:r>
                              </m:e>
                              <m:sub>
                                <m:r>
                                  <a:rPr lang="en-US" sz="1100" i="1">
                                    <a:effectLst/>
                                    <a:latin typeface="Cambria Math" panose="02040503050406030204" pitchFamily="18" charset="0"/>
                                    <a:ea typeface="Calibri" panose="020F0502020204030204" pitchFamily="34" charset="0"/>
                                    <a:cs typeface="Calibri" panose="020F0502020204030204" pitchFamily="34" charset="0"/>
                                  </a:rPr>
                                  <m:t>𝑖</m:t>
                                </m:r>
                              </m:sub>
                            </m:sSub>
                          </m:e>
                        </m:d>
                      </m:e>
                    </m:func>
                    <m:r>
                      <a:rPr lang="en-US" sz="1100" i="1">
                        <a:effectLst/>
                        <a:latin typeface="Cambria Math" panose="02040503050406030204" pitchFamily="18" charset="0"/>
                        <a:ea typeface="Calibri" panose="020F0502020204030204" pitchFamily="34" charset="0"/>
                        <a:cs typeface="Calibri" panose="020F0502020204030204" pitchFamily="34" charset="0"/>
                      </a:rPr>
                      <m:t>+ </m:t>
                    </m:r>
                    <m:r>
                      <a:rPr lang="en-US" sz="1100" i="1">
                        <a:effectLst/>
                        <a:latin typeface="Cambria Math" panose="02040503050406030204" pitchFamily="18" charset="0"/>
                        <a:ea typeface="Calibri" panose="020F0502020204030204" pitchFamily="34" charset="0"/>
                        <a:cs typeface="Calibri" panose="020F0502020204030204" pitchFamily="34" charset="0"/>
                      </a:rPr>
                      <m:t>𝜀</m:t>
                    </m:r>
                  </m:oMath>
                </a14:m>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
                </a:pPr>
                <a14:m>
                  <m:oMath xmlns:m="http://schemas.openxmlformats.org/officeDocument/2006/math">
                    <m:sSub>
                      <m:sSubPr>
                        <m:ctrlPr>
                          <a:rPr lang="en-GB" sz="1100" i="1" smtClean="0">
                            <a:effectLst/>
                            <a:latin typeface="Cambria Math" panose="02040503050406030204" pitchFamily="18" charset="0"/>
                            <a:ea typeface="Calibri" panose="020F0502020204030204" pitchFamily="34" charset="0"/>
                            <a:cs typeface="Calibri" panose="020F0502020204030204" pitchFamily="34" charset="0"/>
                          </a:rPr>
                        </m:ctrlPr>
                      </m:sSubPr>
                      <m:e>
                        <m:r>
                          <a:rPr lang="en-US" sz="1100" i="1">
                            <a:effectLst/>
                            <a:latin typeface="Cambria Math" panose="02040503050406030204" pitchFamily="18" charset="0"/>
                            <a:ea typeface="Calibri" panose="020F0502020204030204" pitchFamily="34" charset="0"/>
                            <a:cs typeface="Calibri" panose="020F0502020204030204" pitchFamily="34" charset="0"/>
                          </a:rPr>
                          <m:t>𝐻𝐹𝐼</m:t>
                        </m:r>
                      </m:e>
                      <m:sub>
                        <m:r>
                          <a:rPr lang="en-US" sz="1100" i="1">
                            <a:effectLst/>
                            <a:latin typeface="Cambria Math" panose="02040503050406030204" pitchFamily="18" charset="0"/>
                            <a:ea typeface="Calibri" panose="020F0502020204030204" pitchFamily="34" charset="0"/>
                            <a:cs typeface="Calibri" panose="020F0502020204030204" pitchFamily="34" charset="0"/>
                          </a:rPr>
                          <m:t>𝑖</m:t>
                        </m:r>
                      </m:sub>
                    </m:sSub>
                    <m:r>
                      <a:rPr lang="en-US" sz="1100" i="1">
                        <a:effectLst/>
                        <a:latin typeface="Cambria Math" panose="02040503050406030204" pitchFamily="18" charset="0"/>
                        <a:ea typeface="Calibri" panose="020F0502020204030204" pitchFamily="34" charset="0"/>
                        <a:cs typeface="Calibri" panose="020F0502020204030204" pitchFamily="34" charset="0"/>
                      </a:rPr>
                      <m:t> </m:t>
                    </m:r>
                    <m:r>
                      <m:rPr>
                        <m:sty m:val="p"/>
                      </m:rPr>
                      <a:rPr lang="en-US" sz="1100" b="0" i="0" smtClean="0">
                        <a:effectLst/>
                        <a:latin typeface="Cambria Math" panose="02040503050406030204" pitchFamily="18" charset="0"/>
                        <a:ea typeface="Calibri" panose="020F0502020204030204" pitchFamily="34" charset="0"/>
                        <a:cs typeface="Calibri" panose="020F0502020204030204" pitchFamily="34" charset="0"/>
                      </a:rPr>
                      <m:t>r</m:t>
                    </m:r>
                  </m:oMath>
                </a14:m>
                <a:r>
                  <a:rPr lang="en-US" sz="1100" dirty="0">
                    <a:latin typeface="Segoe UI" panose="020B0502040204020203" pitchFamily="34" charset="0"/>
                    <a:ea typeface="Calibri" panose="020F0502020204030204" pitchFamily="34" charset="0"/>
                    <a:cs typeface="Segoe UI" panose="020B0502040204020203" pitchFamily="34" charset="0"/>
                  </a:rPr>
                  <a:t>epresents cpi, turnovers, money supply, CPS and electricity production</a:t>
                </a:r>
                <a:endParaRPr lang="en-GB" sz="1100" dirty="0">
                  <a:effectLst/>
                  <a:latin typeface="Calibri" panose="020F0502020204030204" pitchFamily="34" charset="0"/>
                  <a:ea typeface="Calibri" panose="020F0502020204030204" pitchFamily="34" charset="0"/>
                  <a:cs typeface="Times New Roman" panose="02020603050405020304" pitchFamily="18" charset="0"/>
                </a:endParaRPr>
              </a:p>
              <a:p>
                <a:pPr>
                  <a:buFont typeface="Wingdings" panose="05000000000000000000" pitchFamily="2" charset="2"/>
                  <a:buChar char="§"/>
                </a:pPr>
                <a:r>
                  <a:rPr lang="en-GB" sz="1200" dirty="0">
                    <a:latin typeface="Segoe UI" panose="020B0502040204020203" pitchFamily="34" charset="0"/>
                    <a:cs typeface="Segoe UI" panose="020B0502040204020203" pitchFamily="34" charset="0"/>
                  </a:rPr>
                  <a:t>OLS Estimation is used</a:t>
                </a:r>
              </a:p>
            </p:txBody>
          </p:sp>
        </mc:Choice>
        <mc:Fallback xmlns="">
          <p:sp>
            <p:nvSpPr>
              <p:cNvPr id="6" name="Content Placeholder 5">
                <a:extLst>
                  <a:ext uri="{FF2B5EF4-FFF2-40B4-BE49-F238E27FC236}">
                    <a16:creationId xmlns:a16="http://schemas.microsoft.com/office/drawing/2014/main" id="{A5697388-DFAF-11AF-0F47-016500451F93}"/>
                  </a:ext>
                </a:extLst>
              </p:cNvPr>
              <p:cNvSpPr>
                <a:spLocks noGrp="1" noRot="1" noChangeAspect="1" noMove="1" noResize="1" noEditPoints="1" noAdjustHandles="1" noChangeArrowheads="1" noChangeShapeType="1" noTextEdit="1"/>
              </p:cNvSpPr>
              <p:nvPr>
                <p:ph sz="quarter" idx="4"/>
              </p:nvPr>
            </p:nvSpPr>
            <p:spPr>
              <a:xfrm>
                <a:off x="9215717" y="1643033"/>
                <a:ext cx="2710247" cy="2301008"/>
              </a:xfrm>
              <a:blipFill>
                <a:blip r:embed="rId4"/>
                <a:stretch>
                  <a:fillRect/>
                </a:stretch>
              </a:blipFill>
              <a:ln>
                <a:solidFill>
                  <a:schemeClr val="bg1">
                    <a:lumMod val="75000"/>
                    <a:lumOff val="25000"/>
                  </a:schemeClr>
                </a:solidFill>
              </a:ln>
            </p:spPr>
            <p:txBody>
              <a:bodyPr/>
              <a:lstStyle/>
              <a:p>
                <a:r>
                  <a:rPr lang="en-RW">
                    <a:noFill/>
                  </a:rPr>
                  <a:t> </a:t>
                </a:r>
              </a:p>
            </p:txBody>
          </p:sp>
        </mc:Fallback>
      </mc:AlternateContent>
      <p:sp>
        <p:nvSpPr>
          <p:cNvPr id="7" name="Content Placeholder 3">
            <a:extLst>
              <a:ext uri="{FF2B5EF4-FFF2-40B4-BE49-F238E27FC236}">
                <a16:creationId xmlns:a16="http://schemas.microsoft.com/office/drawing/2014/main" id="{61967152-C1A4-60A7-1496-B0029B8978CB}"/>
              </a:ext>
            </a:extLst>
          </p:cNvPr>
          <p:cNvSpPr txBox="1">
            <a:spLocks/>
          </p:cNvSpPr>
          <p:nvPr/>
        </p:nvSpPr>
        <p:spPr>
          <a:xfrm>
            <a:off x="4330982" y="4532450"/>
            <a:ext cx="4151670" cy="2056610"/>
          </a:xfrm>
          <a:prstGeom prst="rect">
            <a:avLst/>
          </a:prstGeom>
          <a:ln>
            <a:solidFill>
              <a:schemeClr val="bg1">
                <a:lumMod val="75000"/>
                <a:lumOff val="25000"/>
              </a:schemeClr>
            </a:solidFill>
          </a:ln>
        </p:spPr>
        <p:txBody>
          <a:bodyPr vert="horz" lIns="91440" tIns="45720" rIns="91440" bIns="45720" rtlCol="0">
            <a:normAutofit fontScale="700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a:buFont typeface="Wingdings" panose="05000000000000000000" pitchFamily="2" charset="2"/>
              <a:buChar char="§"/>
            </a:pPr>
            <a:r>
              <a:rPr lang="en-US" sz="1600" dirty="0">
                <a:latin typeface="Segoe UI" panose="020B0502040204020203" pitchFamily="34" charset="0"/>
                <a:ea typeface="Calibri" panose="020F0502020204030204" pitchFamily="34" charset="0"/>
                <a:cs typeface="Times New Roman" panose="02020603050405020304" pitchFamily="18" charset="0"/>
              </a:rPr>
              <a:t>Independent evaluation of BEs and MLEs forecasts for each equation using:</a:t>
            </a:r>
          </a:p>
          <a:p>
            <a:pPr lvl="1">
              <a:buFont typeface="Wingdings" panose="05000000000000000000" pitchFamily="2" charset="2"/>
              <a:buChar char="§"/>
            </a:pPr>
            <a:r>
              <a:rPr lang="en-US" sz="1400" dirty="0">
                <a:latin typeface="Segoe UI" panose="020B0502040204020203" pitchFamily="34" charset="0"/>
                <a:ea typeface="Calibri" panose="020F0502020204030204" pitchFamily="34" charset="0"/>
                <a:cs typeface="Times New Roman" panose="02020603050405020304" pitchFamily="18" charset="0"/>
              </a:rPr>
              <a:t>FE methods </a:t>
            </a:r>
            <a:r>
              <a:rPr lang="en-US" sz="1100" i="1" dirty="0">
                <a:latin typeface="Segoe UI" panose="020B0502040204020203" pitchFamily="34" charset="0"/>
                <a:ea typeface="Calibri" panose="020F0502020204030204" pitchFamily="34" charset="0"/>
                <a:cs typeface="Times New Roman" panose="02020603050405020304" pitchFamily="18" charset="0"/>
              </a:rPr>
              <a:t>(simple mean, MSE, MSE ranks,, simple median and least squares)</a:t>
            </a:r>
          </a:p>
          <a:p>
            <a:pPr lvl="1">
              <a:buFont typeface="Wingdings" panose="05000000000000000000" pitchFamily="2" charset="2"/>
              <a:buChar char="§"/>
            </a:pPr>
            <a:r>
              <a:rPr lang="en-US" sz="1400" dirty="0">
                <a:latin typeface="Segoe UI" panose="020B0502040204020203" pitchFamily="34" charset="0"/>
                <a:ea typeface="Calibri" panose="020F0502020204030204" pitchFamily="34" charset="0"/>
                <a:cs typeface="Times New Roman" panose="02020603050405020304" pitchFamily="18" charset="0"/>
              </a:rPr>
              <a:t>FE statistics for forecast accuracy/uncertainty </a:t>
            </a:r>
            <a:r>
              <a:rPr lang="en-US" sz="1100" i="1" dirty="0">
                <a:latin typeface="Segoe UI" panose="020B0502040204020203" pitchFamily="34" charset="0"/>
                <a:ea typeface="Calibri" panose="020F0502020204030204" pitchFamily="34" charset="0"/>
                <a:cs typeface="Times New Roman" panose="02020603050405020304" pitchFamily="18" charset="0"/>
              </a:rPr>
              <a:t>(RMSE, MAE, MAPE, SMAPE, Theil’s U Statistics)  </a:t>
            </a:r>
            <a:r>
              <a:rPr lang="en-US" sz="1400" dirty="0">
                <a:latin typeface="Segoe UI" panose="020B0502040204020203" pitchFamily="34" charset="0"/>
                <a:ea typeface="Calibri" panose="020F0502020204030204" pitchFamily="34" charset="0"/>
                <a:cs typeface="Times New Roman" panose="02020603050405020304" pitchFamily="18" charset="0"/>
              </a:rPr>
              <a:t>to select ones with least forecast errors.</a:t>
            </a:r>
          </a:p>
          <a:p>
            <a:pPr>
              <a:buFont typeface="Wingdings" panose="05000000000000000000" pitchFamily="2" charset="2"/>
              <a:buChar char="§"/>
            </a:pPr>
            <a:r>
              <a:rPr lang="en-US" sz="1600" dirty="0">
                <a:latin typeface="Segoe UI" panose="020B0502040204020203" pitchFamily="34" charset="0"/>
                <a:ea typeface="Calibri" panose="020F0502020204030204" pitchFamily="34" charset="0"/>
                <a:cs typeface="Times New Roman" panose="02020603050405020304" pitchFamily="18" charset="0"/>
              </a:rPr>
              <a:t>Independent FA of 10 Bes &amp; 3 MLEs and combine the outcome (2 series to 1 (BE &amp;MLE) using corr. least FE statistics</a:t>
            </a:r>
          </a:p>
          <a:p>
            <a:pPr>
              <a:buFont typeface="Wingdings" panose="05000000000000000000" pitchFamily="2" charset="2"/>
              <a:buChar char="§"/>
            </a:pPr>
            <a:r>
              <a:rPr lang="en-GB" sz="1600" dirty="0">
                <a:latin typeface="Calibri" panose="020F0502020204030204" pitchFamily="34" charset="0"/>
                <a:ea typeface="Calibri" panose="020F0502020204030204" pitchFamily="34" charset="0"/>
                <a:cs typeface="Times New Roman" panose="02020603050405020304" pitchFamily="18" charset="0"/>
              </a:rPr>
              <a:t>Final GDP </a:t>
            </a:r>
            <a:r>
              <a:rPr lang="en-GB" sz="1600" dirty="0" err="1">
                <a:latin typeface="Calibri" panose="020F0502020204030204" pitchFamily="34" charset="0"/>
                <a:ea typeface="Calibri" panose="020F0502020204030204" pitchFamily="34" charset="0"/>
                <a:cs typeface="Times New Roman" panose="02020603050405020304" pitchFamily="18" charset="0"/>
              </a:rPr>
              <a:t>s.a</a:t>
            </a:r>
            <a:r>
              <a:rPr lang="en-GB" sz="1600" dirty="0">
                <a:latin typeface="Calibri" panose="020F0502020204030204" pitchFamily="34" charset="0"/>
                <a:ea typeface="Calibri" panose="020F0502020204030204" pitchFamily="34" charset="0"/>
                <a:cs typeface="Times New Roman" panose="02020603050405020304" pitchFamily="18" charset="0"/>
              </a:rPr>
              <a:t>—combination/average of BE&amp; MLE</a:t>
            </a:r>
          </a:p>
          <a:p>
            <a:endParaRPr lang="en-GB" sz="1600" dirty="0"/>
          </a:p>
        </p:txBody>
      </p:sp>
      <p:sp>
        <p:nvSpPr>
          <p:cNvPr id="8" name="Content Placeholder 3">
            <a:extLst>
              <a:ext uri="{FF2B5EF4-FFF2-40B4-BE49-F238E27FC236}">
                <a16:creationId xmlns:a16="http://schemas.microsoft.com/office/drawing/2014/main" id="{68DD9A38-6B86-FB96-1556-1186D33F45D6}"/>
              </a:ext>
            </a:extLst>
          </p:cNvPr>
          <p:cNvSpPr txBox="1">
            <a:spLocks/>
          </p:cNvSpPr>
          <p:nvPr/>
        </p:nvSpPr>
        <p:spPr>
          <a:xfrm>
            <a:off x="185935" y="1639356"/>
            <a:ext cx="2710248" cy="2301010"/>
          </a:xfrm>
          <a:prstGeom prst="rect">
            <a:avLst/>
          </a:prstGeom>
          <a:ln>
            <a:solidFill>
              <a:schemeClr val="bg1">
                <a:lumMod val="75000"/>
                <a:lumOff val="25000"/>
              </a:schemeClr>
            </a:solidFill>
          </a:ln>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a:buFont typeface="Wingdings" panose="05000000000000000000" pitchFamily="2" charset="2"/>
              <a:buChar char="§"/>
            </a:pPr>
            <a:r>
              <a:rPr lang="en-US" sz="1200" dirty="0">
                <a:latin typeface="Segoe UI" panose="020B0502040204020203" pitchFamily="34" charset="0"/>
                <a:ea typeface="Calibri" panose="020F0502020204030204" pitchFamily="34" charset="0"/>
                <a:cs typeface="Times New Roman" panose="02020603050405020304" pitchFamily="18" charset="0"/>
              </a:rPr>
              <a:t>Automatic ARIMA extension of lagging indicators based on specifications:</a:t>
            </a:r>
          </a:p>
          <a:p>
            <a:pPr lvl="1">
              <a:buFont typeface="Wingdings" panose="05000000000000000000" pitchFamily="2" charset="2"/>
              <a:buChar char="§"/>
            </a:pPr>
            <a:r>
              <a:rPr lang="en-US" sz="1100" dirty="0">
                <a:latin typeface="Segoe UI" panose="020B0502040204020203" pitchFamily="34" charset="0"/>
                <a:ea typeface="Calibri" panose="020F0502020204030204" pitchFamily="34" charset="0"/>
                <a:cs typeface="Times New Roman" panose="02020603050405020304" pitchFamily="18" charset="0"/>
              </a:rPr>
              <a:t>Starting points (selection of peaks in series)</a:t>
            </a:r>
          </a:p>
          <a:p>
            <a:pPr lvl="1">
              <a:buFont typeface="Wingdings" panose="05000000000000000000" pitchFamily="2" charset="2"/>
              <a:buChar char="§"/>
            </a:pPr>
            <a:r>
              <a:rPr lang="en-US" sz="1100" dirty="0">
                <a:latin typeface="Segoe UI" panose="020B0502040204020203" pitchFamily="34" charset="0"/>
                <a:ea typeface="Calibri" panose="020F0502020204030204" pitchFamily="34" charset="0"/>
                <a:cs typeface="Times New Roman" panose="02020603050405020304" pitchFamily="18" charset="0"/>
              </a:rPr>
              <a:t>Max &amp; Min lags</a:t>
            </a:r>
          </a:p>
          <a:p>
            <a:pPr lvl="1">
              <a:buFont typeface="Wingdings" panose="05000000000000000000" pitchFamily="2" charset="2"/>
              <a:buChar char="§"/>
            </a:pPr>
            <a:r>
              <a:rPr lang="en-GB" sz="1200" dirty="0">
                <a:latin typeface="Calibri" panose="020F0502020204030204" pitchFamily="34" charset="0"/>
                <a:ea typeface="Calibri" panose="020F0502020204030204" pitchFamily="34" charset="0"/>
                <a:cs typeface="Times New Roman" panose="02020603050405020304" pitchFamily="18" charset="0"/>
              </a:rPr>
              <a:t>Forecast length (e.g. Lags or missing obs.)</a:t>
            </a:r>
          </a:p>
          <a:p>
            <a:pPr lvl="1">
              <a:buFont typeface="Wingdings" panose="05000000000000000000" pitchFamily="2" charset="2"/>
              <a:buChar char="§"/>
            </a:pPr>
            <a:r>
              <a:rPr lang="en-US" sz="1200" dirty="0">
                <a:latin typeface="Calibri" panose="020F0502020204030204" pitchFamily="34" charset="0"/>
                <a:ea typeface="Calibri" panose="020F0502020204030204" pitchFamily="34" charset="0"/>
                <a:cs typeface="Times New Roman" panose="02020603050405020304" pitchFamily="18" charset="0"/>
              </a:rPr>
              <a:t>ARIMA(1,0,0) = first-order autoregressive model with a constant</a:t>
            </a:r>
            <a:endParaRPr lang="en-GB" sz="12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GB" sz="1600" dirty="0"/>
          </a:p>
        </p:txBody>
      </p:sp>
      <p:sp>
        <p:nvSpPr>
          <p:cNvPr id="10" name="Text Placeholder 2">
            <a:extLst>
              <a:ext uri="{FF2B5EF4-FFF2-40B4-BE49-F238E27FC236}">
                <a16:creationId xmlns:a16="http://schemas.microsoft.com/office/drawing/2014/main" id="{89228E14-48C4-8C9F-C750-0C0E022D6550}"/>
              </a:ext>
            </a:extLst>
          </p:cNvPr>
          <p:cNvSpPr txBox="1">
            <a:spLocks/>
          </p:cNvSpPr>
          <p:nvPr/>
        </p:nvSpPr>
        <p:spPr>
          <a:xfrm>
            <a:off x="185934" y="4168587"/>
            <a:ext cx="4079953" cy="263045"/>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r>
              <a:rPr lang="en-GB" sz="1400" dirty="0">
                <a:latin typeface="Gill Sans MT" panose="020B0502020104020203" pitchFamily="34" charset="0"/>
              </a:rPr>
              <a:t>4. Forecast (static) of BEs &amp; MLEs</a:t>
            </a:r>
          </a:p>
        </p:txBody>
      </p:sp>
      <p:sp>
        <p:nvSpPr>
          <p:cNvPr id="13" name="Text Placeholder 2">
            <a:extLst>
              <a:ext uri="{FF2B5EF4-FFF2-40B4-BE49-F238E27FC236}">
                <a16:creationId xmlns:a16="http://schemas.microsoft.com/office/drawing/2014/main" id="{E6EDA78B-89F5-9D74-65B7-4DF408E5E669}"/>
              </a:ext>
            </a:extLst>
          </p:cNvPr>
          <p:cNvSpPr txBox="1">
            <a:spLocks/>
          </p:cNvSpPr>
          <p:nvPr/>
        </p:nvSpPr>
        <p:spPr>
          <a:xfrm>
            <a:off x="185935" y="1197344"/>
            <a:ext cx="2710248" cy="332395"/>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r>
              <a:rPr lang="en-GB" sz="1400" dirty="0">
                <a:latin typeface="Gill Sans MT" panose="020B0502020104020203" pitchFamily="34" charset="0"/>
              </a:rPr>
              <a:t>1.  ARIMA forecast</a:t>
            </a:r>
          </a:p>
        </p:txBody>
      </p:sp>
      <p:sp>
        <p:nvSpPr>
          <p:cNvPr id="14" name="Content Placeholder 3">
            <a:extLst>
              <a:ext uri="{FF2B5EF4-FFF2-40B4-BE49-F238E27FC236}">
                <a16:creationId xmlns:a16="http://schemas.microsoft.com/office/drawing/2014/main" id="{70B868F9-5AFD-C2A2-C4D1-04653AEC280E}"/>
              </a:ext>
            </a:extLst>
          </p:cNvPr>
          <p:cNvSpPr txBox="1">
            <a:spLocks/>
          </p:cNvSpPr>
          <p:nvPr/>
        </p:nvSpPr>
        <p:spPr>
          <a:xfrm>
            <a:off x="8527331" y="4532447"/>
            <a:ext cx="3398633" cy="2056609"/>
          </a:xfrm>
          <a:prstGeom prst="rect">
            <a:avLst/>
          </a:prstGeom>
          <a:ln>
            <a:solidFill>
              <a:schemeClr val="bg1">
                <a:lumMod val="75000"/>
                <a:lumOff val="25000"/>
              </a:schemeClr>
            </a:solidFill>
          </a:ln>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a:buFont typeface="Wingdings" panose="05000000000000000000" pitchFamily="2" charset="2"/>
              <a:buChar char="§"/>
            </a:pPr>
            <a:r>
              <a:rPr lang="en-GB" sz="1400" dirty="0"/>
              <a:t>Final Real GDP </a:t>
            </a:r>
            <a:r>
              <a:rPr lang="en-GB" sz="1200" dirty="0"/>
              <a:t>(</a:t>
            </a:r>
            <a:r>
              <a:rPr lang="en-US" sz="1200" dirty="0">
                <a:latin typeface="Segoe UI" panose="020B0502040204020203" pitchFamily="34" charset="0"/>
                <a:ea typeface="Calibri" panose="020F0502020204030204" pitchFamily="34" charset="0"/>
                <a:cs typeface="Times New Roman" panose="02020603050405020304" pitchFamily="18" charset="0"/>
              </a:rPr>
              <a:t>FA of BE &amp; MLE)</a:t>
            </a:r>
            <a:endParaRPr lang="en-GB" sz="1400" dirty="0"/>
          </a:p>
          <a:p>
            <a:pPr lvl="1">
              <a:buFont typeface="Wingdings" panose="05000000000000000000" pitchFamily="2" charset="2"/>
              <a:buChar char="§"/>
            </a:pPr>
            <a:r>
              <a:rPr lang="en-US" sz="1100" dirty="0">
                <a:latin typeface="Segoe UI" panose="020B0502040204020203" pitchFamily="34" charset="0"/>
                <a:ea typeface="Calibri" panose="020F0502020204030204" pitchFamily="34" charset="0"/>
                <a:cs typeface="Times New Roman" panose="02020603050405020304" pitchFamily="18" charset="0"/>
              </a:rPr>
              <a:t>Not seasonal adjusted (Ann  </a:t>
            </a:r>
            <a:r>
              <a:rPr lang="en-US" sz="1100" dirty="0" err="1">
                <a:latin typeface="Segoe UI" panose="020B0502040204020203" pitchFamily="34" charset="0"/>
                <a:ea typeface="Calibri" panose="020F0502020204030204" pitchFamily="34" charset="0"/>
                <a:cs typeface="Times New Roman" panose="02020603050405020304" pitchFamily="18" charset="0"/>
              </a:rPr>
              <a:t>yoy</a:t>
            </a:r>
            <a:r>
              <a:rPr lang="en-US" sz="1100" dirty="0">
                <a:latin typeface="Segoe UI" panose="020B0502040204020203" pitchFamily="34" charset="0"/>
                <a:ea typeface="Calibri" panose="020F0502020204030204" pitchFamily="34" charset="0"/>
                <a:cs typeface="Times New Roman" panose="02020603050405020304" pitchFamily="18" charset="0"/>
              </a:rPr>
              <a:t> % change)</a:t>
            </a:r>
          </a:p>
          <a:p>
            <a:pPr lvl="1">
              <a:buFont typeface="Wingdings" panose="05000000000000000000" pitchFamily="2" charset="2"/>
              <a:buChar char="§"/>
            </a:pPr>
            <a:r>
              <a:rPr lang="en-US" sz="1100" dirty="0">
                <a:latin typeface="Segoe UI" panose="020B0502040204020203" pitchFamily="34" charset="0"/>
                <a:ea typeface="Calibri" panose="020F0502020204030204" pitchFamily="34" charset="0"/>
                <a:cs typeface="Times New Roman" panose="02020603050405020304" pitchFamily="18" charset="0"/>
              </a:rPr>
              <a:t>Seasonally adjusted using EVIEWS built in function (X12)</a:t>
            </a:r>
          </a:p>
          <a:p>
            <a:pPr lvl="1">
              <a:buFont typeface="Wingdings" panose="05000000000000000000" pitchFamily="2" charset="2"/>
              <a:buChar char="§"/>
            </a:pPr>
            <a:r>
              <a:rPr lang="en-US" sz="1100" dirty="0">
                <a:latin typeface="Segoe UI" panose="020B0502040204020203" pitchFamily="34" charset="0"/>
                <a:ea typeface="Calibri" panose="020F0502020204030204" pitchFamily="34" charset="0"/>
                <a:cs typeface="Times New Roman" panose="02020603050405020304" pitchFamily="18" charset="0"/>
              </a:rPr>
              <a:t>Not adjusted and SA don’t deviate much</a:t>
            </a:r>
          </a:p>
          <a:p>
            <a:pPr lvl="1">
              <a:buFont typeface="Wingdings" panose="05000000000000000000" pitchFamily="2" charset="2"/>
              <a:buChar char="§"/>
            </a:pPr>
            <a:r>
              <a:rPr lang="en-US" sz="1100" dirty="0">
                <a:latin typeface="Segoe UI" panose="020B0502040204020203" pitchFamily="34" charset="0"/>
                <a:ea typeface="Calibri" panose="020F0502020204030204" pitchFamily="34" charset="0"/>
                <a:cs typeface="Times New Roman" panose="02020603050405020304" pitchFamily="18" charset="0"/>
              </a:rPr>
              <a:t>FA of (individual) </a:t>
            </a:r>
            <a:r>
              <a:rPr lang="en-US" sz="1100" dirty="0" err="1">
                <a:latin typeface="Segoe UI" panose="020B0502040204020203" pitchFamily="34" charset="0"/>
                <a:ea typeface="Calibri" panose="020F0502020204030204" pitchFamily="34" charset="0"/>
                <a:cs typeface="Times New Roman" panose="02020603050405020304" pitchFamily="18" charset="0"/>
              </a:rPr>
              <a:t>sa</a:t>
            </a:r>
            <a:r>
              <a:rPr lang="en-US" sz="1100" dirty="0">
                <a:latin typeface="Segoe UI" panose="020B0502040204020203" pitchFamily="34" charset="0"/>
                <a:ea typeface="Calibri" panose="020F0502020204030204" pitchFamily="34" charset="0"/>
                <a:cs typeface="Times New Roman" panose="02020603050405020304" pitchFamily="18" charset="0"/>
              </a:rPr>
              <a:t> indicators gives minor deviations</a:t>
            </a:r>
          </a:p>
        </p:txBody>
      </p:sp>
      <p:sp>
        <p:nvSpPr>
          <p:cNvPr id="15" name="Content Placeholder 3">
            <a:extLst>
              <a:ext uri="{FF2B5EF4-FFF2-40B4-BE49-F238E27FC236}">
                <a16:creationId xmlns:a16="http://schemas.microsoft.com/office/drawing/2014/main" id="{E59A16F7-1D18-E1BC-96BA-483859E2E125}"/>
              </a:ext>
            </a:extLst>
          </p:cNvPr>
          <p:cNvSpPr txBox="1">
            <a:spLocks/>
          </p:cNvSpPr>
          <p:nvPr/>
        </p:nvSpPr>
        <p:spPr>
          <a:xfrm>
            <a:off x="185934" y="4532448"/>
            <a:ext cx="4079953" cy="2056609"/>
          </a:xfrm>
          <a:prstGeom prst="rect">
            <a:avLst/>
          </a:prstGeom>
          <a:ln>
            <a:solidFill>
              <a:schemeClr val="bg1">
                <a:lumMod val="75000"/>
                <a:lumOff val="25000"/>
              </a:schemeClr>
            </a:solidFill>
          </a:ln>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a:buFont typeface="Wingdings" panose="05000000000000000000" pitchFamily="2" charset="2"/>
              <a:buChar char="§"/>
            </a:pPr>
            <a:r>
              <a:rPr lang="en-US" sz="1400" dirty="0">
                <a:latin typeface="Segoe UI" panose="020B0502040204020203" pitchFamily="34" charset="0"/>
                <a:ea typeface="Calibri" panose="020F0502020204030204" pitchFamily="34" charset="0"/>
                <a:cs typeface="Times New Roman" panose="02020603050405020304" pitchFamily="18" charset="0"/>
              </a:rPr>
              <a:t>Forecast for BEs and MLEs to obtain next Qo using specifications:</a:t>
            </a:r>
          </a:p>
          <a:p>
            <a:pPr lvl="1">
              <a:buFont typeface="Wingdings" panose="05000000000000000000" pitchFamily="2" charset="2"/>
              <a:buChar char="§"/>
            </a:pPr>
            <a:r>
              <a:rPr lang="en-US" sz="1400" dirty="0">
                <a:latin typeface="Segoe UI" panose="020B0502040204020203" pitchFamily="34" charset="0"/>
                <a:ea typeface="Calibri" panose="020F0502020204030204" pitchFamily="34" charset="0"/>
                <a:cs typeface="Times New Roman" panose="02020603050405020304" pitchFamily="18" charset="0"/>
              </a:rPr>
              <a:t>Series at levels (no transformation like diff or </a:t>
            </a:r>
            <a:r>
              <a:rPr lang="en-US" sz="1400" dirty="0" err="1">
                <a:latin typeface="Segoe UI" panose="020B0502040204020203" pitchFamily="34" charset="0"/>
                <a:ea typeface="Calibri" panose="020F0502020204030204" pitchFamily="34" charset="0"/>
                <a:cs typeface="Times New Roman" panose="02020603050405020304" pitchFamily="18" charset="0"/>
              </a:rPr>
              <a:t>dlog</a:t>
            </a:r>
            <a:r>
              <a:rPr lang="en-US" sz="1400" dirty="0">
                <a:latin typeface="Segoe UI" panose="020B0502040204020203" pitchFamily="34" charset="0"/>
                <a:ea typeface="Calibri" panose="020F0502020204030204" pitchFamily="34" charset="0"/>
                <a:cs typeface="Times New Roman" panose="02020603050405020304" pitchFamily="18" charset="0"/>
              </a:rPr>
              <a:t>) </a:t>
            </a:r>
          </a:p>
          <a:p>
            <a:pPr lvl="1">
              <a:buFont typeface="Wingdings" panose="05000000000000000000" pitchFamily="2" charset="2"/>
              <a:buChar char="§"/>
            </a:pPr>
            <a:r>
              <a:rPr lang="en-US" sz="1400" dirty="0">
                <a:latin typeface="Segoe UI" panose="020B0502040204020203" pitchFamily="34" charset="0"/>
                <a:ea typeface="Calibri" panose="020F0502020204030204" pitchFamily="34" charset="0"/>
                <a:cs typeface="Times New Roman" panose="02020603050405020304" pitchFamily="18" charset="0"/>
              </a:rPr>
              <a:t>Static forecast as forecast method</a:t>
            </a:r>
          </a:p>
          <a:p>
            <a:pPr lvl="1">
              <a:buFont typeface="Wingdings" panose="05000000000000000000" pitchFamily="2" charset="2"/>
              <a:buChar char="§"/>
            </a:pPr>
            <a:r>
              <a:rPr lang="en-US" sz="1400" dirty="0">
                <a:latin typeface="Segoe UI" panose="020B0502040204020203" pitchFamily="34" charset="0"/>
                <a:ea typeface="Calibri" panose="020F0502020204030204" pitchFamily="34" charset="0"/>
                <a:cs typeface="Times New Roman" panose="02020603050405020304" pitchFamily="18" charset="0"/>
              </a:rPr>
              <a:t>Forecast sample (i.e., 2026Q1 2026Q3)</a:t>
            </a:r>
          </a:p>
          <a:p>
            <a:pPr lvl="1">
              <a:buFont typeface="Wingdings" panose="05000000000000000000" pitchFamily="2" charset="2"/>
              <a:buChar char="§"/>
            </a:pPr>
            <a:r>
              <a:rPr lang="en-US" sz="1400" dirty="0">
                <a:latin typeface="Segoe UI" panose="020B0502040204020203" pitchFamily="34" charset="0"/>
                <a:ea typeface="Calibri" panose="020F0502020204030204" pitchFamily="34" charset="0"/>
                <a:cs typeface="Times New Roman" panose="02020603050405020304" pitchFamily="18" charset="0"/>
              </a:rPr>
              <a:t> </a:t>
            </a:r>
            <a:r>
              <a:rPr lang="en-GB" sz="1400" dirty="0">
                <a:latin typeface="Calibri" panose="020F0502020204030204" pitchFamily="34" charset="0"/>
                <a:ea typeface="Calibri" panose="020F0502020204030204" pitchFamily="34" charset="0"/>
                <a:cs typeface="Times New Roman" panose="02020603050405020304" pitchFamily="18" charset="0"/>
              </a:rPr>
              <a:t>Out-of-sample (actuals included in forecast sample( i.e., 2017Q1-2024Q2)</a:t>
            </a:r>
          </a:p>
          <a:p>
            <a:pPr lvl="1">
              <a:buFont typeface="Wingdings" panose="05000000000000000000" pitchFamily="2" charset="2"/>
              <a:buChar char="§"/>
            </a:pPr>
            <a:r>
              <a:rPr lang="en-GB" sz="1400" dirty="0">
                <a:latin typeface="Calibri" panose="020F0502020204030204" pitchFamily="34" charset="0"/>
                <a:ea typeface="Calibri" panose="020F0502020204030204" pitchFamily="34" charset="0"/>
                <a:cs typeface="Times New Roman" panose="02020603050405020304" pitchFamily="18" charset="0"/>
              </a:rPr>
              <a:t>Forecast evaluation for FE statistics &amp; graph as output</a:t>
            </a:r>
          </a:p>
        </p:txBody>
      </p:sp>
      <p:sp>
        <p:nvSpPr>
          <p:cNvPr id="16" name="Text Placeholder 2">
            <a:extLst>
              <a:ext uri="{FF2B5EF4-FFF2-40B4-BE49-F238E27FC236}">
                <a16:creationId xmlns:a16="http://schemas.microsoft.com/office/drawing/2014/main" id="{C76D5C5D-BE51-405D-B001-277B3A272E63}"/>
              </a:ext>
            </a:extLst>
          </p:cNvPr>
          <p:cNvSpPr txBox="1">
            <a:spLocks/>
          </p:cNvSpPr>
          <p:nvPr/>
        </p:nvSpPr>
        <p:spPr>
          <a:xfrm>
            <a:off x="8516470" y="4168587"/>
            <a:ext cx="3409496" cy="223159"/>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r>
              <a:rPr lang="en-GB" sz="1400" dirty="0">
                <a:latin typeface="Gill Sans MT" panose="020B0502020104020203" pitchFamily="34" charset="0"/>
              </a:rPr>
              <a:t>6. Seasonal adjustment (</a:t>
            </a:r>
            <a:r>
              <a:rPr lang="en-GB" sz="1400" dirty="0" err="1">
                <a:latin typeface="Gill Sans MT" panose="020B0502020104020203" pitchFamily="34" charset="0"/>
              </a:rPr>
              <a:t>sa</a:t>
            </a:r>
            <a:r>
              <a:rPr lang="en-GB" sz="1400" dirty="0">
                <a:latin typeface="Gill Sans MT" panose="020B0502020104020203" pitchFamily="34" charset="0"/>
              </a:rPr>
              <a:t>)</a:t>
            </a:r>
          </a:p>
        </p:txBody>
      </p:sp>
      <p:sp>
        <p:nvSpPr>
          <p:cNvPr id="17" name="Text Placeholder 2">
            <a:extLst>
              <a:ext uri="{FF2B5EF4-FFF2-40B4-BE49-F238E27FC236}">
                <a16:creationId xmlns:a16="http://schemas.microsoft.com/office/drawing/2014/main" id="{0664064D-A5E4-B1DB-49B9-5327A675CC08}"/>
              </a:ext>
            </a:extLst>
          </p:cNvPr>
          <p:cNvSpPr txBox="1">
            <a:spLocks/>
          </p:cNvSpPr>
          <p:nvPr/>
        </p:nvSpPr>
        <p:spPr>
          <a:xfrm>
            <a:off x="4330983" y="4040675"/>
            <a:ext cx="4151669" cy="354749"/>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r>
              <a:rPr lang="en-GB" sz="1400" dirty="0">
                <a:latin typeface="Gill Sans MT" panose="020B0502020104020203" pitchFamily="34" charset="0"/>
              </a:rPr>
              <a:t>5. Forecast evaluation &amp; averaging </a:t>
            </a:r>
          </a:p>
        </p:txBody>
      </p:sp>
      <p:sp>
        <p:nvSpPr>
          <p:cNvPr id="18" name="Content Placeholder 3">
            <a:extLst>
              <a:ext uri="{FF2B5EF4-FFF2-40B4-BE49-F238E27FC236}">
                <a16:creationId xmlns:a16="http://schemas.microsoft.com/office/drawing/2014/main" id="{BE679054-2C29-F319-BB2F-5FC618A76890}"/>
              </a:ext>
            </a:extLst>
          </p:cNvPr>
          <p:cNvSpPr txBox="1">
            <a:spLocks/>
          </p:cNvSpPr>
          <p:nvPr/>
        </p:nvSpPr>
        <p:spPr>
          <a:xfrm>
            <a:off x="2967318" y="1639356"/>
            <a:ext cx="3358682" cy="2301010"/>
          </a:xfrm>
          <a:prstGeom prst="rect">
            <a:avLst/>
          </a:prstGeom>
          <a:ln>
            <a:solidFill>
              <a:schemeClr val="bg1">
                <a:lumMod val="75000"/>
                <a:lumOff val="2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buClr>
                <a:srgbClr val="1E5155">
                  <a:lumMod val="40000"/>
                  <a:lumOff val="60000"/>
                </a:srgbClr>
              </a:buClr>
              <a:buNone/>
              <a:defRPr/>
            </a:pPr>
            <a:r>
              <a:rPr lang="en-US" sz="1400" dirty="0">
                <a:solidFill>
                  <a:schemeClr val="bg1"/>
                </a:solidFill>
                <a:latin typeface="Century Gothic" panose="020B0502020202020204"/>
              </a:rPr>
              <a:t>High to lower frequency</a:t>
            </a:r>
          </a:p>
          <a:p>
            <a:pPr>
              <a:buFont typeface="Wingdings" panose="05000000000000000000" pitchFamily="2" charset="2"/>
              <a:buChar char="§"/>
            </a:pPr>
            <a:r>
              <a:rPr lang="en-US" sz="1100" dirty="0"/>
              <a:t>GDP is observed on Qo basis</a:t>
            </a:r>
          </a:p>
          <a:p>
            <a:pPr>
              <a:buFont typeface="Wingdings" panose="05000000000000000000" pitchFamily="2" charset="2"/>
              <a:buChar char="§"/>
            </a:pPr>
            <a:r>
              <a:rPr lang="en-US" sz="1100" dirty="0"/>
              <a:t>Conversion from monthly to quarterly frequency for all HFIs using:</a:t>
            </a:r>
          </a:p>
          <a:p>
            <a:pPr lvl="1">
              <a:buFont typeface="Wingdings" panose="05000000000000000000" pitchFamily="2" charset="2"/>
              <a:buChar char="§"/>
            </a:pPr>
            <a:r>
              <a:rPr lang="en-US" sz="900" b="1" dirty="0"/>
              <a:t>Average function </a:t>
            </a:r>
            <a:r>
              <a:rPr lang="en-US" sz="900" dirty="0"/>
              <a:t>for rates or stock indicators (e.g. CPI, ER, CIEA, IIP and PPI.</a:t>
            </a:r>
          </a:p>
          <a:p>
            <a:pPr lvl="1">
              <a:buFont typeface="Wingdings" panose="05000000000000000000" pitchFamily="2" charset="2"/>
              <a:buChar char="§"/>
            </a:pPr>
            <a:r>
              <a:rPr lang="en-GB" sz="1100" b="1" dirty="0"/>
              <a:t>Sum function </a:t>
            </a:r>
            <a:r>
              <a:rPr lang="en-GB" sz="1100" dirty="0"/>
              <a:t>for other nominal or level or flow indicators (e.g., exports vol &amp; </a:t>
            </a:r>
            <a:r>
              <a:rPr lang="en-GB" sz="1100" dirty="0" err="1"/>
              <a:t>val</a:t>
            </a:r>
            <a:r>
              <a:rPr lang="en-GB" sz="1100" dirty="0"/>
              <a:t>, cement, milk and drinks prod and turnovers)</a:t>
            </a:r>
          </a:p>
        </p:txBody>
      </p:sp>
      <p:sp>
        <p:nvSpPr>
          <p:cNvPr id="19" name="Text Placeholder 2">
            <a:extLst>
              <a:ext uri="{FF2B5EF4-FFF2-40B4-BE49-F238E27FC236}">
                <a16:creationId xmlns:a16="http://schemas.microsoft.com/office/drawing/2014/main" id="{7A7FF7DD-6518-7B49-6FC0-FDB0157819E7}"/>
              </a:ext>
            </a:extLst>
          </p:cNvPr>
          <p:cNvSpPr txBox="1">
            <a:spLocks/>
          </p:cNvSpPr>
          <p:nvPr/>
        </p:nvSpPr>
        <p:spPr>
          <a:xfrm>
            <a:off x="2976618" y="1192850"/>
            <a:ext cx="3358681" cy="332395"/>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r>
              <a:rPr lang="en-GB" sz="1400" dirty="0">
                <a:latin typeface="Gill Sans MT" panose="020B0502020104020203" pitchFamily="34" charset="0"/>
              </a:rPr>
              <a:t>2.  Data frequency conversions/aggregation</a:t>
            </a:r>
          </a:p>
        </p:txBody>
      </p:sp>
    </p:spTree>
    <p:extLst>
      <p:ext uri="{BB962C8B-B14F-4D97-AF65-F5344CB8AC3E}">
        <p14:creationId xmlns:p14="http://schemas.microsoft.com/office/powerpoint/2010/main" val="3505182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DF3F9-4E5B-51E3-F1F5-18586A0DE4D2}"/>
              </a:ext>
            </a:extLst>
          </p:cNvPr>
          <p:cNvSpPr>
            <a:spLocks noGrp="1"/>
          </p:cNvSpPr>
          <p:nvPr>
            <p:ph type="title"/>
          </p:nvPr>
        </p:nvSpPr>
        <p:spPr>
          <a:xfrm>
            <a:off x="646111" y="331695"/>
            <a:ext cx="8977441" cy="647729"/>
          </a:xfrm>
        </p:spPr>
        <p:txBody>
          <a:bodyPr/>
          <a:lstStyle/>
          <a:p>
            <a:r>
              <a:rPr lang="en-GB" sz="3600" b="1" dirty="0">
                <a:solidFill>
                  <a:srgbClr val="002060"/>
                </a:solidFill>
              </a:rPr>
              <a:t>Key steps for nowcasting</a:t>
            </a:r>
          </a:p>
        </p:txBody>
      </p:sp>
      <p:sp>
        <p:nvSpPr>
          <p:cNvPr id="3" name="Content Placeholder 2">
            <a:extLst>
              <a:ext uri="{FF2B5EF4-FFF2-40B4-BE49-F238E27FC236}">
                <a16:creationId xmlns:a16="http://schemas.microsoft.com/office/drawing/2014/main" id="{BCD2B542-1EC1-EAFE-F21B-143B6847ADCB}"/>
              </a:ext>
            </a:extLst>
          </p:cNvPr>
          <p:cNvSpPr>
            <a:spLocks noGrp="1"/>
          </p:cNvSpPr>
          <p:nvPr>
            <p:ph idx="1"/>
          </p:nvPr>
        </p:nvSpPr>
        <p:spPr>
          <a:xfrm>
            <a:off x="195943" y="1290217"/>
            <a:ext cx="6242179" cy="5236087"/>
          </a:xfrm>
        </p:spPr>
        <p:txBody>
          <a:bodyPr>
            <a:normAutofit fontScale="92500"/>
          </a:bodyPr>
          <a:lstStyle/>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Update available monthly data </a:t>
            </a:r>
            <a:r>
              <a:rPr lang="en-GB" sz="1400" dirty="0">
                <a:latin typeface="Bahnschrift Light" panose="020B0502040204020203" pitchFamily="34" charset="0"/>
                <a:cs typeface="Segoe UI" panose="020B0502040204020203" pitchFamily="34" charset="0"/>
              </a:rPr>
              <a:t>(i.e., turnovers, production and exports) </a:t>
            </a:r>
            <a:r>
              <a:rPr lang="en-GB" sz="1600" dirty="0">
                <a:latin typeface="Bahnschrift Light" panose="020B0502040204020203" pitchFamily="34" charset="0"/>
                <a:cs typeface="Segoe UI" panose="020B0502040204020203" pitchFamily="34" charset="0"/>
              </a:rPr>
              <a:t>from different sources</a:t>
            </a:r>
          </a:p>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Autoregressive Integrated Moving Average—ARIMA: fill/fit the data-sample forecast for missing  (identify best starting points);</a:t>
            </a:r>
          </a:p>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Data aggregation (</a:t>
            </a:r>
            <a:r>
              <a:rPr lang="en-GB" sz="1400" dirty="0">
                <a:latin typeface="Bahnschrift Light" panose="020B0502040204020203" pitchFamily="34" charset="0"/>
                <a:cs typeface="Segoe UI" panose="020B0502040204020203" pitchFamily="34" charset="0"/>
              </a:rPr>
              <a:t>transformation from monthly to quarterly using summation &amp; average functions)</a:t>
            </a:r>
            <a:r>
              <a:rPr lang="en-GB" sz="1600" dirty="0">
                <a:latin typeface="Bahnschrift Light" panose="020B0502040204020203" pitchFamily="34" charset="0"/>
                <a:cs typeface="Segoe UI" panose="020B0502040204020203" pitchFamily="34" charset="0"/>
              </a:rPr>
              <a:t>; </a:t>
            </a:r>
          </a:p>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Bridge and Multiple Linear equations estimations (ARDL and OLS); </a:t>
            </a:r>
          </a:p>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Static in-sample forecasting for all BEs &amp; MLEs equations</a:t>
            </a:r>
          </a:p>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Forecast errors evaluation: using forecast evaluation methods and evaluation statistics </a:t>
            </a:r>
            <a:r>
              <a:rPr lang="en-GB" sz="1400" dirty="0">
                <a:latin typeface="Bahnschrift Light" panose="020B0502040204020203" pitchFamily="34" charset="0"/>
                <a:cs typeface="Segoe UI" panose="020B0502040204020203" pitchFamily="34" charset="0"/>
              </a:rPr>
              <a:t>incl. </a:t>
            </a:r>
            <a:r>
              <a:rPr lang="en-GB" sz="1200" dirty="0">
                <a:latin typeface="Bahnschrift Light" panose="020B0502040204020203" pitchFamily="34" charset="0"/>
                <a:cs typeface="Segoe UI" panose="020B0502040204020203" pitchFamily="34" charset="0"/>
              </a:rPr>
              <a:t>RMSE, MAE, MAPE, SMAPE, Theil Inequality Coefficients U1 and U2);</a:t>
            </a:r>
            <a:endParaRPr lang="en-GB" sz="1400" dirty="0">
              <a:latin typeface="Bahnschrift Light" panose="020B0502040204020203" pitchFamily="34" charset="0"/>
              <a:cs typeface="Segoe UI" panose="020B0502040204020203" pitchFamily="34" charset="0"/>
            </a:endParaRPr>
          </a:p>
          <a:p>
            <a:pPr>
              <a:buFont typeface="Wingdings" panose="05000000000000000000" pitchFamily="2" charset="2"/>
              <a:buChar char="§"/>
            </a:pPr>
            <a:r>
              <a:rPr lang="en-GB" sz="1400" dirty="0">
                <a:latin typeface="Bahnschrift Light" panose="020B0502040204020203" pitchFamily="34" charset="0"/>
                <a:cs typeface="Segoe UI" panose="020B0502040204020203" pitchFamily="34" charset="0"/>
              </a:rPr>
              <a:t>Selection of best BEs and MLEs forecasts </a:t>
            </a:r>
            <a:r>
              <a:rPr lang="en-GB" sz="1200" dirty="0">
                <a:latin typeface="Bahnschrift Light" panose="020B0502040204020203" pitchFamily="34" charset="0"/>
                <a:cs typeface="Segoe UI" panose="020B0502040204020203" pitchFamily="34" charset="0"/>
              </a:rPr>
              <a:t>(i.e., 10 BE &amp; 2 MLE forecasts);</a:t>
            </a:r>
            <a:endParaRPr lang="en-GB" sz="1600" dirty="0">
              <a:latin typeface="Bahnschrift Light" panose="020B0502040204020203" pitchFamily="34" charset="0"/>
              <a:cs typeface="Segoe UI" panose="020B0502040204020203" pitchFamily="34" charset="0"/>
            </a:endParaRPr>
          </a:p>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Forecast averaging/combination (using least errors forecast evaluation method) –average 10 BEs into 1 &amp; 2 or 3 MLEs;</a:t>
            </a:r>
          </a:p>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Forecast evaluation and average for 1 BE &amp; 1 MLE for final combined GDP (Real GDP final);</a:t>
            </a:r>
          </a:p>
          <a:p>
            <a:pPr>
              <a:buFont typeface="Wingdings" panose="05000000000000000000" pitchFamily="2" charset="2"/>
              <a:buChar char="§"/>
            </a:pPr>
            <a:r>
              <a:rPr lang="en-GB" sz="1600" dirty="0">
                <a:latin typeface="Bahnschrift Light" panose="020B0502040204020203" pitchFamily="34" charset="0"/>
                <a:cs typeface="Segoe UI" panose="020B0502040204020203" pitchFamily="34" charset="0"/>
              </a:rPr>
              <a:t>Seasonal adjustment for final GDP</a:t>
            </a:r>
          </a:p>
          <a:p>
            <a:pPr>
              <a:buFont typeface="Wingdings" panose="05000000000000000000" pitchFamily="2" charset="2"/>
              <a:buChar char="§"/>
            </a:pPr>
            <a:endParaRPr lang="en-GB" sz="1600" dirty="0">
              <a:latin typeface="Segoe UI" panose="020B0502040204020203" pitchFamily="34" charset="0"/>
              <a:cs typeface="Segoe UI" panose="020B0502040204020203" pitchFamily="34" charset="0"/>
            </a:endParaRPr>
          </a:p>
          <a:p>
            <a:pPr>
              <a:buFont typeface="Wingdings" panose="05000000000000000000" pitchFamily="2" charset="2"/>
              <a:buChar char="§"/>
            </a:pPr>
            <a:endParaRPr lang="en-GB" sz="1600" dirty="0">
              <a:latin typeface="Segoe UI" panose="020B0502040204020203" pitchFamily="34" charset="0"/>
              <a:cs typeface="Segoe UI" panose="020B0502040204020203" pitchFamily="34" charset="0"/>
            </a:endParaRPr>
          </a:p>
          <a:p>
            <a:endParaRPr lang="en-GB" sz="1800" dirty="0"/>
          </a:p>
          <a:p>
            <a:endParaRPr lang="en-GB" sz="1800" dirty="0"/>
          </a:p>
        </p:txBody>
      </p:sp>
      <p:sp>
        <p:nvSpPr>
          <p:cNvPr id="4" name="Content Placeholder 2">
            <a:extLst>
              <a:ext uri="{FF2B5EF4-FFF2-40B4-BE49-F238E27FC236}">
                <a16:creationId xmlns:a16="http://schemas.microsoft.com/office/drawing/2014/main" id="{E7230AF0-F151-DFF3-7A40-9BFD7627CC31}"/>
              </a:ext>
            </a:extLst>
          </p:cNvPr>
          <p:cNvSpPr txBox="1">
            <a:spLocks/>
          </p:cNvSpPr>
          <p:nvPr/>
        </p:nvSpPr>
        <p:spPr>
          <a:xfrm>
            <a:off x="6711821" y="1290218"/>
            <a:ext cx="5284236" cy="471755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GB" sz="1600" b="1" dirty="0">
                <a:solidFill>
                  <a:schemeClr val="bg1"/>
                </a:solidFill>
                <a:latin typeface="Segoe UI" panose="020B0502040204020203" pitchFamily="34" charset="0"/>
                <a:cs typeface="Segoe UI" panose="020B0502040204020203" pitchFamily="34" charset="0"/>
              </a:rPr>
              <a:t>Pre-tests methods</a:t>
            </a:r>
          </a:p>
          <a:p>
            <a:pPr>
              <a:lnSpc>
                <a:spcPct val="250000"/>
              </a:lnSpc>
              <a:buFont typeface="Wingdings" panose="05000000000000000000" pitchFamily="2" charset="2"/>
              <a:buChar char="§"/>
            </a:pPr>
            <a:r>
              <a:rPr lang="en-GB" sz="1600" dirty="0">
                <a:latin typeface="Segoe UI" panose="020B0502040204020203" pitchFamily="34" charset="0"/>
                <a:cs typeface="Segoe UI" panose="020B0502040204020203" pitchFamily="34" charset="0"/>
              </a:rPr>
              <a:t>Stationarity and stability  tests</a:t>
            </a:r>
          </a:p>
          <a:p>
            <a:pPr>
              <a:lnSpc>
                <a:spcPct val="250000"/>
              </a:lnSpc>
              <a:buFont typeface="Wingdings" panose="05000000000000000000" pitchFamily="2" charset="2"/>
              <a:buChar char="§"/>
            </a:pPr>
            <a:r>
              <a:rPr lang="en-GB" sz="1600" dirty="0">
                <a:latin typeface="Segoe UI" panose="020B0502040204020203" pitchFamily="34" charset="0"/>
                <a:cs typeface="Segoe UI" panose="020B0502040204020203" pitchFamily="34" charset="0"/>
              </a:rPr>
              <a:t>Structural breaks (Dummy variables)</a:t>
            </a:r>
          </a:p>
          <a:p>
            <a:pPr>
              <a:lnSpc>
                <a:spcPct val="250000"/>
              </a:lnSpc>
              <a:buFont typeface="Wingdings" panose="05000000000000000000" pitchFamily="2" charset="2"/>
              <a:buChar char="§"/>
            </a:pPr>
            <a:r>
              <a:rPr lang="en-GB" sz="1600" dirty="0">
                <a:latin typeface="Segoe UI" panose="020B0502040204020203" pitchFamily="34" charset="0"/>
                <a:cs typeface="Segoe UI" panose="020B0502040204020203" pitchFamily="34" charset="0"/>
              </a:rPr>
              <a:t>ARIMA (best starting sample points, </a:t>
            </a:r>
            <a:r>
              <a:rPr lang="en-GB" sz="1600" dirty="0" err="1">
                <a:latin typeface="Segoe UI" panose="020B0502040204020203" pitchFamily="34" charset="0"/>
                <a:cs typeface="Segoe UI" panose="020B0502040204020203" pitchFamily="34" charset="0"/>
              </a:rPr>
              <a:t>maxar</a:t>
            </a:r>
            <a:r>
              <a:rPr lang="en-GB" sz="1600" dirty="0">
                <a:latin typeface="Segoe UI" panose="020B0502040204020203" pitchFamily="34" charset="0"/>
                <a:cs typeface="Segoe UI" panose="020B0502040204020203" pitchFamily="34" charset="0"/>
              </a:rPr>
              <a:t>, </a:t>
            </a:r>
            <a:r>
              <a:rPr lang="en-GB" sz="1600" dirty="0" err="1">
                <a:latin typeface="Segoe UI" panose="020B0502040204020203" pitchFamily="34" charset="0"/>
                <a:cs typeface="Segoe UI" panose="020B0502040204020203" pitchFamily="34" charset="0"/>
              </a:rPr>
              <a:t>maxma</a:t>
            </a:r>
            <a:r>
              <a:rPr lang="en-GB" sz="1600" dirty="0">
                <a:latin typeface="Segoe UI" panose="020B0502040204020203" pitchFamily="34" charset="0"/>
                <a:cs typeface="Segoe UI" panose="020B0502040204020203" pitchFamily="34" charset="0"/>
              </a:rPr>
              <a:t>)</a:t>
            </a:r>
          </a:p>
          <a:p>
            <a:pPr>
              <a:lnSpc>
                <a:spcPct val="250000"/>
              </a:lnSpc>
              <a:buFont typeface="Wingdings" panose="05000000000000000000" pitchFamily="2" charset="2"/>
              <a:buChar char="§"/>
            </a:pPr>
            <a:r>
              <a:rPr lang="en-GB" sz="1600" dirty="0">
                <a:latin typeface="Segoe UI" panose="020B0502040204020203" pitchFamily="34" charset="0"/>
                <a:cs typeface="Segoe UI" panose="020B0502040204020203" pitchFamily="34" charset="0"/>
              </a:rPr>
              <a:t>Autocorrelation </a:t>
            </a:r>
            <a:r>
              <a:rPr lang="en-GB" sz="1100" dirty="0">
                <a:latin typeface="Segoe UI" panose="020B0502040204020203" pitchFamily="34" charset="0"/>
                <a:cs typeface="Segoe UI" panose="020B0502040204020203" pitchFamily="34" charset="0"/>
              </a:rPr>
              <a:t>(</a:t>
            </a:r>
            <a:r>
              <a:rPr lang="sl-SI" sz="1300" dirty="0"/>
              <a:t>Partial Autocorrelation Function</a:t>
            </a:r>
            <a:r>
              <a:rPr lang="en-US" sz="1300" dirty="0"/>
              <a:t> </a:t>
            </a:r>
            <a:r>
              <a:rPr lang="sl-SI" sz="1300" dirty="0"/>
              <a:t>(PACF)</a:t>
            </a:r>
            <a:r>
              <a:rPr lang="en-GB" sz="1100" dirty="0">
                <a:latin typeface="Segoe UI" panose="020B0502040204020203" pitchFamily="34" charset="0"/>
                <a:cs typeface="Segoe UI" panose="020B0502040204020203" pitchFamily="34" charset="0"/>
              </a:rPr>
              <a:t> </a:t>
            </a:r>
            <a:endParaRPr lang="en-GB" sz="1600" dirty="0">
              <a:latin typeface="Segoe UI" panose="020B0502040204020203" pitchFamily="34" charset="0"/>
              <a:cs typeface="Segoe UI" panose="020B0502040204020203" pitchFamily="34" charset="0"/>
            </a:endParaRPr>
          </a:p>
          <a:p>
            <a:pPr>
              <a:lnSpc>
                <a:spcPct val="250000"/>
              </a:lnSpc>
              <a:buFont typeface="Wingdings" panose="05000000000000000000" pitchFamily="2" charset="2"/>
              <a:buChar char="§"/>
            </a:pPr>
            <a:r>
              <a:rPr lang="en-GB" sz="1600" dirty="0">
                <a:latin typeface="Segoe UI" panose="020B0502040204020203" pitchFamily="34" charset="0"/>
                <a:cs typeface="Segoe UI" panose="020B0502040204020203" pitchFamily="34" charset="0"/>
              </a:rPr>
              <a:t>Model selections (Why BE &amp; MLE not DFM or ML)</a:t>
            </a:r>
          </a:p>
          <a:p>
            <a:pPr marL="0" indent="0">
              <a:buNone/>
            </a:pPr>
            <a:r>
              <a:rPr lang="en-GB" sz="1800" dirty="0"/>
              <a:t>ARIMA is a method to fit time series data: there more methods i.e., Box-Jenkins Method</a:t>
            </a:r>
          </a:p>
        </p:txBody>
      </p:sp>
    </p:spTree>
    <p:extLst>
      <p:ext uri="{BB962C8B-B14F-4D97-AF65-F5344CB8AC3E}">
        <p14:creationId xmlns:p14="http://schemas.microsoft.com/office/powerpoint/2010/main" val="3292709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B9B46-87ED-E191-81EE-899D36AF9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6965D-4A37-B005-61F7-E6FDD917F3BA}"/>
              </a:ext>
            </a:extLst>
          </p:cNvPr>
          <p:cNvSpPr>
            <a:spLocks noGrp="1"/>
          </p:cNvSpPr>
          <p:nvPr>
            <p:ph type="title"/>
          </p:nvPr>
        </p:nvSpPr>
        <p:spPr>
          <a:xfrm>
            <a:off x="646111" y="331695"/>
            <a:ext cx="8977441" cy="647729"/>
          </a:xfrm>
        </p:spPr>
        <p:txBody>
          <a:bodyPr/>
          <a:lstStyle/>
          <a:p>
            <a:r>
              <a:rPr lang="en-GB" sz="3600" b="1" dirty="0">
                <a:solidFill>
                  <a:srgbClr val="002060"/>
                </a:solidFill>
              </a:rPr>
              <a:t>Other (neo)classical methods</a:t>
            </a:r>
          </a:p>
        </p:txBody>
      </p:sp>
      <p:sp>
        <p:nvSpPr>
          <p:cNvPr id="3" name="Content Placeholder 2">
            <a:extLst>
              <a:ext uri="{FF2B5EF4-FFF2-40B4-BE49-F238E27FC236}">
                <a16:creationId xmlns:a16="http://schemas.microsoft.com/office/drawing/2014/main" id="{9793E9AA-682B-3903-1D08-F7E1B1D64D42}"/>
              </a:ext>
            </a:extLst>
          </p:cNvPr>
          <p:cNvSpPr>
            <a:spLocks noGrp="1"/>
          </p:cNvSpPr>
          <p:nvPr>
            <p:ph idx="1"/>
          </p:nvPr>
        </p:nvSpPr>
        <p:spPr>
          <a:xfrm>
            <a:off x="883222" y="1290218"/>
            <a:ext cx="9864989" cy="4717550"/>
          </a:xfrm>
        </p:spPr>
        <p:txBody>
          <a:bodyPr>
            <a:normAutofit/>
          </a:bodyPr>
          <a:lstStyle/>
          <a:p>
            <a:pPr>
              <a:lnSpc>
                <a:spcPct val="200000"/>
              </a:lnSpc>
              <a:buFont typeface="Wingdings" panose="05000000000000000000" pitchFamily="2" charset="2"/>
              <a:buChar char="§"/>
            </a:pPr>
            <a:r>
              <a:rPr lang="en-GB" sz="1800" b="1" dirty="0">
                <a:latin typeface="Segoe UI" panose="020B0502040204020203" pitchFamily="34" charset="0"/>
                <a:cs typeface="Segoe UI" panose="020B0502040204020203" pitchFamily="34" charset="0"/>
              </a:rPr>
              <a:t>Machine Learning Algorithms</a:t>
            </a:r>
            <a:r>
              <a:rPr lang="en-GB" sz="1800" b="1" i="1" dirty="0">
                <a:latin typeface="Segoe UI" panose="020B0502040204020203" pitchFamily="34" charset="0"/>
                <a:cs typeface="Segoe UI" panose="020B0502040204020203" pitchFamily="34" charset="0"/>
              </a:rPr>
              <a:t> </a:t>
            </a:r>
            <a:r>
              <a:rPr lang="en-GB" sz="1800" i="1" dirty="0">
                <a:latin typeface="Segoe UI" panose="020B0502040204020203" pitchFamily="34" charset="0"/>
                <a:cs typeface="Segoe UI" panose="020B0502040204020203" pitchFamily="34" charset="0"/>
              </a:rPr>
              <a:t>(</a:t>
            </a:r>
            <a:r>
              <a:rPr lang="en-US" sz="1800" i="1" dirty="0">
                <a:latin typeface="Segoe UI" panose="020B0502040204020203" pitchFamily="34" charset="0"/>
                <a:cs typeface="Segoe UI" panose="020B0502040204020203" pitchFamily="34" charset="0"/>
              </a:rPr>
              <a:t>Nowcasting New Zealand GDP using machine learning algorithms. IFC Bulletins chapters in Bank for International Settlements</a:t>
            </a:r>
            <a:r>
              <a:rPr lang="en-GB" sz="1800" i="1" dirty="0">
                <a:latin typeface="Segoe UI" panose="020B0502040204020203" pitchFamily="34" charset="0"/>
                <a:cs typeface="Segoe UI" panose="020B0502040204020203" pitchFamily="34" charset="0"/>
              </a:rPr>
              <a:t>)</a:t>
            </a:r>
          </a:p>
          <a:p>
            <a:pPr algn="just">
              <a:lnSpc>
                <a:spcPct val="200000"/>
              </a:lnSpc>
              <a:buFont typeface="Wingdings" panose="05000000000000000000" pitchFamily="2" charset="2"/>
              <a:buChar char="§"/>
            </a:pPr>
            <a:r>
              <a:rPr lang="en-GB" sz="1800" b="1" dirty="0">
                <a:latin typeface="Segoe UI" panose="020B0502040204020203" pitchFamily="34" charset="0"/>
                <a:cs typeface="Segoe UI" panose="020B0502040204020203" pitchFamily="34" charset="0"/>
              </a:rPr>
              <a:t>Dynamic Factor Models-DFM </a:t>
            </a:r>
            <a:r>
              <a:rPr lang="en-GB" sz="1800" dirty="0">
                <a:latin typeface="Segoe UI" panose="020B0502040204020203" pitchFamily="34" charset="0"/>
                <a:cs typeface="Segoe UI" panose="020B0502040204020203" pitchFamily="34" charset="0"/>
              </a:rPr>
              <a:t>(</a:t>
            </a:r>
            <a:r>
              <a:rPr lang="en-US" sz="1600" i="1" dirty="0">
                <a:latin typeface="Segoe UI" panose="020B0502040204020203" pitchFamily="34" charset="0"/>
                <a:cs typeface="Segoe UI" panose="020B0502040204020203" pitchFamily="34" charset="0"/>
              </a:rPr>
              <a:t>Dynamic factor model (DFM)-</a:t>
            </a:r>
            <a:r>
              <a:rPr lang="en-US" sz="1600" i="1" dirty="0" err="1">
                <a:latin typeface="Segoe UI" panose="020B0502040204020203" pitchFamily="34" charset="0"/>
                <a:cs typeface="Segoe UI" panose="020B0502040204020203" pitchFamily="34" charset="0"/>
              </a:rPr>
              <a:t>Bańbura</a:t>
            </a:r>
            <a:r>
              <a:rPr lang="en-US" sz="1600" i="1" dirty="0">
                <a:latin typeface="Segoe UI" panose="020B0502040204020203" pitchFamily="34" charset="0"/>
                <a:cs typeface="Segoe UI" panose="020B0502040204020203" pitchFamily="34" charset="0"/>
              </a:rPr>
              <a:t>, M., and Modugno, M. (2014). Maximum likelihood estimation of factor models on datasets with arbitrary pattern of missing data</a:t>
            </a:r>
            <a:r>
              <a:rPr lang="en-US" sz="1800" i="1" dirty="0">
                <a:latin typeface="Segoe UI" panose="020B0502040204020203" pitchFamily="34" charset="0"/>
                <a:cs typeface="Segoe UI" panose="020B0502040204020203" pitchFamily="34" charset="0"/>
              </a:rPr>
              <a:t>)</a:t>
            </a:r>
          </a:p>
          <a:p>
            <a:pPr algn="just">
              <a:lnSpc>
                <a:spcPct val="200000"/>
              </a:lnSpc>
              <a:buFont typeface="Wingdings" panose="05000000000000000000" pitchFamily="2" charset="2"/>
              <a:buChar char="§"/>
            </a:pPr>
            <a:r>
              <a:rPr lang="en-US" sz="1800" b="1" dirty="0">
                <a:latin typeface="Segoe UI" panose="020B0502040204020203" pitchFamily="34" charset="0"/>
                <a:cs typeface="Segoe UI" panose="020B0502040204020203" pitchFamily="34" charset="0"/>
              </a:rPr>
              <a:t>Mixed Data-frequency Sampling-MIDAS </a:t>
            </a:r>
            <a:r>
              <a:rPr lang="en-US" sz="1800" i="1" dirty="0">
                <a:latin typeface="Segoe UI" panose="020B0502040204020203" pitchFamily="34" charset="0"/>
                <a:cs typeface="Segoe UI" panose="020B0502040204020203" pitchFamily="34" charset="0"/>
              </a:rPr>
              <a:t>(Nowcasting Philippine Economic Growth using MIDAS Regression Model and Nowcasting Rwanda’s Quarterly GDP Using Mixed-Frequency Methods)</a:t>
            </a:r>
            <a:endParaRPr lang="en-GB" sz="1800" i="1" dirty="0">
              <a:latin typeface="Segoe UI" panose="020B0502040204020203" pitchFamily="34" charset="0"/>
              <a:cs typeface="Segoe UI" panose="020B0502040204020203" pitchFamily="34" charset="0"/>
            </a:endParaRPr>
          </a:p>
          <a:p>
            <a:pPr>
              <a:buFont typeface="Wingdings" panose="05000000000000000000" pitchFamily="2" charset="2"/>
              <a:buChar char="§"/>
            </a:pPr>
            <a:endParaRPr lang="en-GB" sz="1800" dirty="0">
              <a:latin typeface="Segoe UI" panose="020B0502040204020203" pitchFamily="34" charset="0"/>
              <a:cs typeface="Segoe UI" panose="020B0502040204020203" pitchFamily="34" charset="0"/>
            </a:endParaRPr>
          </a:p>
          <a:p>
            <a:pPr>
              <a:buFont typeface="Wingdings" panose="05000000000000000000" pitchFamily="2" charset="2"/>
              <a:buChar char="§"/>
            </a:pPr>
            <a:endParaRPr lang="en-GB" sz="1800" dirty="0">
              <a:latin typeface="Segoe UI" panose="020B0502040204020203" pitchFamily="34" charset="0"/>
              <a:cs typeface="Segoe UI" panose="020B0502040204020203" pitchFamily="34" charset="0"/>
            </a:endParaRPr>
          </a:p>
          <a:p>
            <a:endParaRPr lang="en-GB" dirty="0"/>
          </a:p>
          <a:p>
            <a:endParaRPr lang="en-GB" dirty="0"/>
          </a:p>
        </p:txBody>
      </p:sp>
    </p:spTree>
    <p:extLst>
      <p:ext uri="{BB962C8B-B14F-4D97-AF65-F5344CB8AC3E}">
        <p14:creationId xmlns:p14="http://schemas.microsoft.com/office/powerpoint/2010/main" val="2960435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CFC4B-151E-2969-8FEC-81FA50169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5EE30-4A16-D834-482E-9F1CA8A2B142}"/>
              </a:ext>
            </a:extLst>
          </p:cNvPr>
          <p:cNvSpPr>
            <a:spLocks noGrp="1"/>
          </p:cNvSpPr>
          <p:nvPr>
            <p:ph type="title"/>
          </p:nvPr>
        </p:nvSpPr>
        <p:spPr>
          <a:xfrm>
            <a:off x="577481" y="130147"/>
            <a:ext cx="9404723" cy="470617"/>
          </a:xfrm>
        </p:spPr>
        <p:txBody>
          <a:bodyPr/>
          <a:lstStyle/>
          <a:p>
            <a:r>
              <a:rPr kumimoji="0" lang="en-GB" sz="2400" b="1" i="0" u="none" strike="noStrike" kern="1200" cap="none" spc="0" normalizeH="0" baseline="0" noProof="0" dirty="0">
                <a:ln>
                  <a:noFill/>
                </a:ln>
                <a:solidFill>
                  <a:srgbClr val="92D050"/>
                </a:solidFill>
                <a:effectLst/>
                <a:uLnTx/>
                <a:uFillTx/>
                <a:latin typeface="Century Gothic" panose="020B0502020202020204"/>
                <a:ea typeface="+mj-ea"/>
                <a:cs typeface="+mj-cs"/>
              </a:rPr>
              <a:t>Nowcasting in practice—highlights from EVIEWS program </a:t>
            </a:r>
            <a:endParaRPr lang="en-GB" b="1" dirty="0">
              <a:solidFill>
                <a:srgbClr val="92D050"/>
              </a:solidFill>
              <a:latin typeface="Gill Sans MT" panose="020B0502020104020203" pitchFamily="34" charset="0"/>
            </a:endParaRPr>
          </a:p>
        </p:txBody>
      </p:sp>
      <p:sp>
        <p:nvSpPr>
          <p:cNvPr id="3" name="Text Placeholder 2">
            <a:extLst>
              <a:ext uri="{FF2B5EF4-FFF2-40B4-BE49-F238E27FC236}">
                <a16:creationId xmlns:a16="http://schemas.microsoft.com/office/drawing/2014/main" id="{D83FDBEC-96E2-7593-93ED-C50A9BA68C3F}"/>
              </a:ext>
            </a:extLst>
          </p:cNvPr>
          <p:cNvSpPr>
            <a:spLocks noGrp="1"/>
          </p:cNvSpPr>
          <p:nvPr>
            <p:ph type="body" idx="1"/>
          </p:nvPr>
        </p:nvSpPr>
        <p:spPr>
          <a:xfrm>
            <a:off x="6415735" y="1169936"/>
            <a:ext cx="5590330" cy="332394"/>
          </a:xfrm>
        </p:spPr>
        <p:txBody>
          <a:bodyPr/>
          <a:lstStyle/>
          <a:p>
            <a:pPr algn="ctr"/>
            <a:r>
              <a:rPr lang="en-GB" sz="1400" dirty="0">
                <a:latin typeface="Gill Sans MT" panose="020B0502020104020203" pitchFamily="34" charset="0"/>
              </a:rPr>
              <a:t>3. Estimation of equations </a:t>
            </a:r>
          </a:p>
        </p:txBody>
      </p:sp>
      <p:pic>
        <p:nvPicPr>
          <p:cNvPr id="11" name="Content Placeholder 10">
            <a:extLst>
              <a:ext uri="{FF2B5EF4-FFF2-40B4-BE49-F238E27FC236}">
                <a16:creationId xmlns:a16="http://schemas.microsoft.com/office/drawing/2014/main" id="{637250B3-A79E-E6DF-9426-F0DE0AF782C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06817" y="1636511"/>
            <a:ext cx="2711450" cy="1746138"/>
          </a:xfrm>
          <a:ln>
            <a:solidFill>
              <a:schemeClr val="bg1">
                <a:lumMod val="75000"/>
                <a:lumOff val="25000"/>
              </a:schemeClr>
            </a:solidFill>
          </a:ln>
        </p:spPr>
      </p:pic>
      <p:sp>
        <p:nvSpPr>
          <p:cNvPr id="7" name="Content Placeholder 3">
            <a:extLst>
              <a:ext uri="{FF2B5EF4-FFF2-40B4-BE49-F238E27FC236}">
                <a16:creationId xmlns:a16="http://schemas.microsoft.com/office/drawing/2014/main" id="{65884788-AA3C-334C-5468-D2E154659B5D}"/>
              </a:ext>
            </a:extLst>
          </p:cNvPr>
          <p:cNvSpPr txBox="1">
            <a:spLocks/>
          </p:cNvSpPr>
          <p:nvPr/>
        </p:nvSpPr>
        <p:spPr>
          <a:xfrm>
            <a:off x="3155881" y="4449472"/>
            <a:ext cx="2571151" cy="2113308"/>
          </a:xfrm>
          <a:prstGeom prst="rect">
            <a:avLst/>
          </a:prstGeom>
          <a:ln>
            <a:solidFill>
              <a:schemeClr val="bg1">
                <a:lumMod val="75000"/>
                <a:lumOff val="2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None/>
              <a:tabLst/>
              <a:defRPr/>
            </a:pPr>
            <a:endParaRPr kumimoji="0" lang="en-GB" sz="1600" b="0" i="0" u="none" strike="noStrike" kern="1200" cap="none" spc="0" normalizeH="0" baseline="0" noProof="0" dirty="0">
              <a:ln>
                <a:noFill/>
              </a:ln>
              <a:solidFill>
                <a:prstClr val="white"/>
              </a:solidFill>
              <a:effectLst/>
              <a:uLnTx/>
              <a:uFillTx/>
              <a:latin typeface="Century Gothic" panose="020B0502020202020204"/>
              <a:ea typeface="+mj-ea"/>
              <a:cs typeface="+mj-cs"/>
            </a:endParaRPr>
          </a:p>
        </p:txBody>
      </p:sp>
      <p:sp>
        <p:nvSpPr>
          <p:cNvPr id="8" name="Content Placeholder 3">
            <a:extLst>
              <a:ext uri="{FF2B5EF4-FFF2-40B4-BE49-F238E27FC236}">
                <a16:creationId xmlns:a16="http://schemas.microsoft.com/office/drawing/2014/main" id="{19632B90-E68B-9992-6597-A0F71FCFE925}"/>
              </a:ext>
            </a:extLst>
          </p:cNvPr>
          <p:cNvSpPr txBox="1">
            <a:spLocks/>
          </p:cNvSpPr>
          <p:nvPr/>
        </p:nvSpPr>
        <p:spPr>
          <a:xfrm>
            <a:off x="185935" y="1639356"/>
            <a:ext cx="2710248" cy="2301010"/>
          </a:xfrm>
          <a:prstGeom prst="rect">
            <a:avLst/>
          </a:prstGeom>
          <a:ln>
            <a:solidFill>
              <a:schemeClr val="bg1">
                <a:lumMod val="75000"/>
                <a:lumOff val="2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GB" sz="1600" b="0" i="0" u="none" strike="noStrike" kern="1200" cap="none" spc="0" normalizeH="0" baseline="0" noProof="0" dirty="0">
              <a:ln>
                <a:noFill/>
              </a:ln>
              <a:solidFill>
                <a:prstClr val="white"/>
              </a:solidFill>
              <a:effectLst/>
              <a:uLnTx/>
              <a:uFillTx/>
              <a:latin typeface="Century Gothic" panose="020B0502020202020204"/>
              <a:ea typeface="+mj-ea"/>
              <a:cs typeface="+mj-cs"/>
            </a:endParaRPr>
          </a:p>
        </p:txBody>
      </p:sp>
      <p:sp>
        <p:nvSpPr>
          <p:cNvPr id="10" name="Text Placeholder 2">
            <a:extLst>
              <a:ext uri="{FF2B5EF4-FFF2-40B4-BE49-F238E27FC236}">
                <a16:creationId xmlns:a16="http://schemas.microsoft.com/office/drawing/2014/main" id="{112BA8A7-ED88-D2C6-C108-9509681034D2}"/>
              </a:ext>
            </a:extLst>
          </p:cNvPr>
          <p:cNvSpPr txBox="1">
            <a:spLocks/>
          </p:cNvSpPr>
          <p:nvPr/>
        </p:nvSpPr>
        <p:spPr>
          <a:xfrm>
            <a:off x="185933" y="4095802"/>
            <a:ext cx="2857437" cy="263045"/>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GB" sz="1400" b="0" i="0" u="none" strike="noStrike" kern="1200" cap="none" spc="0" normalizeH="0" baseline="0" noProof="0" dirty="0">
                <a:ln>
                  <a:noFill/>
                </a:ln>
                <a:solidFill>
                  <a:srgbClr val="1E5155">
                    <a:lumMod val="40000"/>
                    <a:lumOff val="60000"/>
                  </a:srgbClr>
                </a:solidFill>
                <a:effectLst/>
                <a:uLnTx/>
                <a:uFillTx/>
                <a:latin typeface="Gill Sans MT" panose="020B0502020104020203" pitchFamily="34" charset="0"/>
                <a:ea typeface="+mj-ea"/>
                <a:cs typeface="+mj-cs"/>
              </a:rPr>
              <a:t>4. Forecast (static) of BEs &amp; MLEs</a:t>
            </a:r>
          </a:p>
        </p:txBody>
      </p:sp>
      <p:sp>
        <p:nvSpPr>
          <p:cNvPr id="13" name="Text Placeholder 2">
            <a:extLst>
              <a:ext uri="{FF2B5EF4-FFF2-40B4-BE49-F238E27FC236}">
                <a16:creationId xmlns:a16="http://schemas.microsoft.com/office/drawing/2014/main" id="{2505DCA9-79D1-AF28-9208-C13ABFEC6465}"/>
              </a:ext>
            </a:extLst>
          </p:cNvPr>
          <p:cNvSpPr txBox="1">
            <a:spLocks/>
          </p:cNvSpPr>
          <p:nvPr/>
        </p:nvSpPr>
        <p:spPr>
          <a:xfrm>
            <a:off x="185935" y="1197344"/>
            <a:ext cx="2710248" cy="332395"/>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GB" sz="1400" b="0" i="0" u="none" strike="noStrike" kern="1200" cap="none" spc="0" normalizeH="0" baseline="0" noProof="0" dirty="0">
                <a:ln>
                  <a:noFill/>
                </a:ln>
                <a:solidFill>
                  <a:srgbClr val="1E5155">
                    <a:lumMod val="40000"/>
                    <a:lumOff val="60000"/>
                  </a:srgbClr>
                </a:solidFill>
                <a:effectLst/>
                <a:uLnTx/>
                <a:uFillTx/>
                <a:latin typeface="Gill Sans MT" panose="020B0502020104020203" pitchFamily="34" charset="0"/>
                <a:ea typeface="+mj-ea"/>
                <a:cs typeface="+mj-cs"/>
              </a:rPr>
              <a:t>1.  ARIMA forecast/projections</a:t>
            </a:r>
          </a:p>
        </p:txBody>
      </p:sp>
      <p:sp>
        <p:nvSpPr>
          <p:cNvPr id="16" name="Text Placeholder 2">
            <a:extLst>
              <a:ext uri="{FF2B5EF4-FFF2-40B4-BE49-F238E27FC236}">
                <a16:creationId xmlns:a16="http://schemas.microsoft.com/office/drawing/2014/main" id="{52F611A1-217B-E7B0-DB4D-32EA3D3B8822}"/>
              </a:ext>
            </a:extLst>
          </p:cNvPr>
          <p:cNvSpPr txBox="1">
            <a:spLocks/>
          </p:cNvSpPr>
          <p:nvPr/>
        </p:nvSpPr>
        <p:spPr>
          <a:xfrm>
            <a:off x="6483927" y="3488074"/>
            <a:ext cx="3931409" cy="247985"/>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pPr marL="0" marR="0" lvl="0" indent="0"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GB" sz="1400" b="0" i="0" u="none" strike="noStrike" kern="1200" cap="none" spc="0" normalizeH="0" baseline="0" noProof="0" dirty="0">
                <a:ln>
                  <a:noFill/>
                </a:ln>
                <a:solidFill>
                  <a:srgbClr val="1E5155">
                    <a:lumMod val="40000"/>
                    <a:lumOff val="60000"/>
                  </a:srgbClr>
                </a:solidFill>
                <a:effectLst/>
                <a:uLnTx/>
                <a:uFillTx/>
                <a:latin typeface="Gill Sans MT" panose="020B0502020104020203" pitchFamily="34" charset="0"/>
                <a:ea typeface="+mj-ea"/>
                <a:cs typeface="+mj-cs"/>
              </a:rPr>
              <a:t>6. Final GDP </a:t>
            </a:r>
            <a:r>
              <a:rPr lang="en-GB" sz="1400" dirty="0">
                <a:solidFill>
                  <a:srgbClr val="1E5155">
                    <a:lumMod val="40000"/>
                    <a:lumOff val="60000"/>
                  </a:srgbClr>
                </a:solidFill>
                <a:latin typeface="Gill Sans MT" panose="020B0502020104020203" pitchFamily="34" charset="0"/>
              </a:rPr>
              <a:t>forecast average</a:t>
            </a:r>
            <a:endParaRPr kumimoji="0" lang="en-GB" sz="1400" b="0" i="0" u="none" strike="noStrike" kern="1200" cap="none" spc="0" normalizeH="0" baseline="0" noProof="0" dirty="0">
              <a:ln>
                <a:noFill/>
              </a:ln>
              <a:solidFill>
                <a:srgbClr val="1E5155">
                  <a:lumMod val="40000"/>
                  <a:lumOff val="60000"/>
                </a:srgbClr>
              </a:solidFill>
              <a:effectLst/>
              <a:uLnTx/>
              <a:uFillTx/>
              <a:latin typeface="Gill Sans MT" panose="020B0502020104020203" pitchFamily="34" charset="0"/>
              <a:ea typeface="+mj-ea"/>
              <a:cs typeface="+mj-cs"/>
            </a:endParaRPr>
          </a:p>
        </p:txBody>
      </p:sp>
      <p:sp>
        <p:nvSpPr>
          <p:cNvPr id="17" name="Text Placeholder 2">
            <a:extLst>
              <a:ext uri="{FF2B5EF4-FFF2-40B4-BE49-F238E27FC236}">
                <a16:creationId xmlns:a16="http://schemas.microsoft.com/office/drawing/2014/main" id="{AA35BFEC-FAB7-6753-971B-8324E1E31C9D}"/>
              </a:ext>
            </a:extLst>
          </p:cNvPr>
          <p:cNvSpPr txBox="1">
            <a:spLocks/>
          </p:cNvSpPr>
          <p:nvPr/>
        </p:nvSpPr>
        <p:spPr>
          <a:xfrm>
            <a:off x="3162360" y="4046621"/>
            <a:ext cx="2571150" cy="294846"/>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GB" sz="1400" b="0" i="0" u="none" strike="noStrike" kern="1200" cap="none" spc="0" normalizeH="0" baseline="0" noProof="0" dirty="0">
                <a:ln>
                  <a:noFill/>
                </a:ln>
                <a:solidFill>
                  <a:srgbClr val="1E5155">
                    <a:lumMod val="40000"/>
                    <a:lumOff val="60000"/>
                  </a:srgbClr>
                </a:solidFill>
                <a:effectLst/>
                <a:uLnTx/>
                <a:uFillTx/>
                <a:latin typeface="Gill Sans MT" panose="020B0502020104020203" pitchFamily="34" charset="0"/>
                <a:ea typeface="+mj-ea"/>
                <a:cs typeface="+mj-cs"/>
              </a:rPr>
              <a:t>5. </a:t>
            </a:r>
            <a:r>
              <a:rPr kumimoji="0" lang="en-GB" sz="1200" b="0" i="0" u="none" strike="noStrike" kern="1200" cap="none" spc="0" normalizeH="0" baseline="0" noProof="0" dirty="0">
                <a:ln>
                  <a:noFill/>
                </a:ln>
                <a:solidFill>
                  <a:srgbClr val="1E5155">
                    <a:lumMod val="40000"/>
                    <a:lumOff val="60000"/>
                  </a:srgbClr>
                </a:solidFill>
                <a:effectLst/>
                <a:uLnTx/>
                <a:uFillTx/>
                <a:latin typeface="Gill Sans MT" panose="020B0502020104020203" pitchFamily="34" charset="0"/>
                <a:ea typeface="+mj-ea"/>
                <a:cs typeface="+mj-cs"/>
              </a:rPr>
              <a:t>Forecast evaluation (FE) &amp; averaging </a:t>
            </a:r>
            <a:endParaRPr kumimoji="0" lang="en-GB" sz="1400" b="0" i="0" u="none" strike="noStrike" kern="1200" cap="none" spc="0" normalizeH="0" baseline="0" noProof="0" dirty="0">
              <a:ln>
                <a:noFill/>
              </a:ln>
              <a:solidFill>
                <a:srgbClr val="1E5155">
                  <a:lumMod val="40000"/>
                  <a:lumOff val="60000"/>
                </a:srgbClr>
              </a:solidFill>
              <a:effectLst/>
              <a:uLnTx/>
              <a:uFillTx/>
              <a:latin typeface="Gill Sans MT" panose="020B0502020104020203" pitchFamily="34" charset="0"/>
              <a:ea typeface="+mj-ea"/>
              <a:cs typeface="+mj-cs"/>
            </a:endParaRPr>
          </a:p>
        </p:txBody>
      </p:sp>
      <p:sp>
        <p:nvSpPr>
          <p:cNvPr id="18" name="Content Placeholder 3">
            <a:extLst>
              <a:ext uri="{FF2B5EF4-FFF2-40B4-BE49-F238E27FC236}">
                <a16:creationId xmlns:a16="http://schemas.microsoft.com/office/drawing/2014/main" id="{1AB18267-7CA2-89DD-18C0-EF94D785493D}"/>
              </a:ext>
            </a:extLst>
          </p:cNvPr>
          <p:cNvSpPr txBox="1">
            <a:spLocks/>
          </p:cNvSpPr>
          <p:nvPr/>
        </p:nvSpPr>
        <p:spPr>
          <a:xfrm>
            <a:off x="2967318" y="1639356"/>
            <a:ext cx="3358682" cy="2096703"/>
          </a:xfrm>
          <a:prstGeom prst="rect">
            <a:avLst/>
          </a:prstGeom>
          <a:ln>
            <a:solidFill>
              <a:schemeClr val="bg1">
                <a:lumMod val="75000"/>
                <a:lumOff val="25000"/>
              </a:schemeClr>
            </a:solidFill>
          </a:ln>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endParaRPr kumimoji="0" lang="en-GB" sz="1100" b="0" i="0" u="none" strike="noStrike" kern="1200" cap="none" spc="0" normalizeH="0" baseline="0" noProof="0" dirty="0">
              <a:ln>
                <a:noFill/>
              </a:ln>
              <a:solidFill>
                <a:prstClr val="white"/>
              </a:solidFill>
              <a:effectLst/>
              <a:uLnTx/>
              <a:uFillTx/>
              <a:latin typeface="Century Gothic" panose="020B0502020202020204"/>
              <a:ea typeface="+mj-ea"/>
              <a:cs typeface="+mj-cs"/>
            </a:endParaRPr>
          </a:p>
        </p:txBody>
      </p:sp>
      <p:sp>
        <p:nvSpPr>
          <p:cNvPr id="19" name="Text Placeholder 2">
            <a:extLst>
              <a:ext uri="{FF2B5EF4-FFF2-40B4-BE49-F238E27FC236}">
                <a16:creationId xmlns:a16="http://schemas.microsoft.com/office/drawing/2014/main" id="{799A775D-AE20-6EAD-4241-D6FAF7F99000}"/>
              </a:ext>
            </a:extLst>
          </p:cNvPr>
          <p:cNvSpPr txBox="1">
            <a:spLocks/>
          </p:cNvSpPr>
          <p:nvPr/>
        </p:nvSpPr>
        <p:spPr>
          <a:xfrm>
            <a:off x="2976618" y="1192850"/>
            <a:ext cx="3358681" cy="332395"/>
          </a:xfrm>
          <a:prstGeom prst="rect">
            <a:avLst/>
          </a:prstGeom>
        </p:spPr>
        <p:txBody>
          <a:bodyPr vert="horz" lIns="91440" tIns="45720" rIns="91440" bIns="45720" rtlCol="0" anchor="b">
            <a:noAutofit/>
          </a:bodyPr>
          <a:lstStyle>
            <a:lvl1pPr marL="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400" b="0" i="0" kern="1200">
                <a:solidFill>
                  <a:schemeClr val="bg2">
                    <a:lumMod val="40000"/>
                    <a:lumOff val="60000"/>
                  </a:schemeClr>
                </a:solidFill>
                <a:latin typeface="+mj-lt"/>
                <a:ea typeface="+mj-ea"/>
                <a:cs typeface="+mj-cs"/>
              </a:defRPr>
            </a:lvl1pPr>
            <a:lvl2pPr marL="457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2000" b="1" i="0" kern="1200">
                <a:solidFill>
                  <a:schemeClr val="tx1"/>
                </a:solidFill>
                <a:latin typeface="+mj-lt"/>
                <a:ea typeface="+mj-ea"/>
                <a:cs typeface="+mj-cs"/>
              </a:defRPr>
            </a:lvl2pPr>
            <a:lvl3pPr marL="914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800" b="1" i="0" kern="1200">
                <a:solidFill>
                  <a:schemeClr val="tx1"/>
                </a:solidFill>
                <a:latin typeface="+mj-lt"/>
                <a:ea typeface="+mj-ea"/>
                <a:cs typeface="+mj-cs"/>
              </a:defRPr>
            </a:lvl3pPr>
            <a:lvl4pPr marL="1371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4pPr>
            <a:lvl5pPr marL="18288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5pPr>
            <a:lvl6pPr marL="22860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6pPr>
            <a:lvl7pPr marL="27432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7pPr>
            <a:lvl8pPr marL="32004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8pPr>
            <a:lvl9pPr marL="3657600" indent="0" algn="l" defTabSz="457200" rtl="0" eaLnBrk="1" latinLnBrk="0" hangingPunct="1">
              <a:spcBef>
                <a:spcPts val="1000"/>
              </a:spcBef>
              <a:spcAft>
                <a:spcPts val="0"/>
              </a:spcAft>
              <a:buClr>
                <a:schemeClr val="bg2">
                  <a:lumMod val="40000"/>
                  <a:lumOff val="60000"/>
                </a:schemeClr>
              </a:buClr>
              <a:buSzPct val="80000"/>
              <a:buFont typeface="Wingdings 3" charset="2"/>
              <a:buNone/>
              <a:defRPr sz="1600" b="1" i="0" kern="1200">
                <a:solidFill>
                  <a:schemeClr val="tx1"/>
                </a:solidFill>
                <a:latin typeface="+mj-lt"/>
                <a:ea typeface="+mj-ea"/>
                <a:cs typeface="+mj-cs"/>
              </a:defRPr>
            </a:lvl9pPr>
          </a:lstStyle>
          <a:p>
            <a:pPr marL="0" marR="0" lvl="0" indent="0" algn="l" defTabSz="457200" rtl="0" eaLnBrk="1" fontAlgn="auto" latinLnBrk="0" hangingPunct="1">
              <a:lnSpc>
                <a:spcPct val="100000"/>
              </a:lnSpc>
              <a:spcBef>
                <a:spcPts val="1000"/>
              </a:spcBef>
              <a:spcAft>
                <a:spcPts val="0"/>
              </a:spcAft>
              <a:buClr>
                <a:srgbClr val="1E5155">
                  <a:lumMod val="40000"/>
                  <a:lumOff val="60000"/>
                </a:srgbClr>
              </a:buClr>
              <a:buSzPct val="80000"/>
              <a:buFont typeface="Wingdings 3" charset="2"/>
              <a:buNone/>
              <a:tabLst/>
              <a:defRPr/>
            </a:pPr>
            <a:r>
              <a:rPr kumimoji="0" lang="en-GB" sz="1400" b="0" i="0" u="none" strike="noStrike" kern="1200" cap="none" spc="0" normalizeH="0" baseline="0" noProof="0" dirty="0">
                <a:ln>
                  <a:noFill/>
                </a:ln>
                <a:solidFill>
                  <a:srgbClr val="1E5155">
                    <a:lumMod val="40000"/>
                    <a:lumOff val="60000"/>
                  </a:srgbClr>
                </a:solidFill>
                <a:effectLst/>
                <a:uLnTx/>
                <a:uFillTx/>
                <a:latin typeface="Gill Sans MT" panose="020B0502020104020203" pitchFamily="34" charset="0"/>
                <a:ea typeface="+mj-ea"/>
                <a:cs typeface="+mj-cs"/>
              </a:rPr>
              <a:t>2.  Data frequency conversions</a:t>
            </a:r>
          </a:p>
        </p:txBody>
      </p:sp>
      <p:pic>
        <p:nvPicPr>
          <p:cNvPr id="9" name="Picture 8">
            <a:extLst>
              <a:ext uri="{FF2B5EF4-FFF2-40B4-BE49-F238E27FC236}">
                <a16:creationId xmlns:a16="http://schemas.microsoft.com/office/drawing/2014/main" id="{5C863FFF-D267-78A6-3174-AEB11D5902D7}"/>
              </a:ext>
            </a:extLst>
          </p:cNvPr>
          <p:cNvPicPr>
            <a:picLocks noChangeAspect="1"/>
          </p:cNvPicPr>
          <p:nvPr/>
        </p:nvPicPr>
        <p:blipFill>
          <a:blip r:embed="rId4"/>
          <a:stretch>
            <a:fillRect/>
          </a:stretch>
        </p:blipFill>
        <p:spPr>
          <a:xfrm>
            <a:off x="185934" y="1677168"/>
            <a:ext cx="2691649" cy="520048"/>
          </a:xfrm>
          <a:prstGeom prst="rect">
            <a:avLst/>
          </a:prstGeom>
        </p:spPr>
      </p:pic>
      <p:pic>
        <p:nvPicPr>
          <p:cNvPr id="12" name="Picture 11">
            <a:extLst>
              <a:ext uri="{FF2B5EF4-FFF2-40B4-BE49-F238E27FC236}">
                <a16:creationId xmlns:a16="http://schemas.microsoft.com/office/drawing/2014/main" id="{82619789-D82F-0121-4805-46CD4DAD939D}"/>
              </a:ext>
            </a:extLst>
          </p:cNvPr>
          <p:cNvPicPr>
            <a:picLocks noChangeAspect="1"/>
          </p:cNvPicPr>
          <p:nvPr/>
        </p:nvPicPr>
        <p:blipFill>
          <a:blip r:embed="rId5"/>
          <a:stretch>
            <a:fillRect/>
          </a:stretch>
        </p:blipFill>
        <p:spPr>
          <a:xfrm>
            <a:off x="185933" y="2235028"/>
            <a:ext cx="2691650" cy="1705336"/>
          </a:xfrm>
          <a:prstGeom prst="rect">
            <a:avLst/>
          </a:prstGeom>
        </p:spPr>
      </p:pic>
      <p:pic>
        <p:nvPicPr>
          <p:cNvPr id="21" name="Picture 20">
            <a:extLst>
              <a:ext uri="{FF2B5EF4-FFF2-40B4-BE49-F238E27FC236}">
                <a16:creationId xmlns:a16="http://schemas.microsoft.com/office/drawing/2014/main" id="{284E947F-5294-31B3-EB80-E3D1157AA144}"/>
              </a:ext>
            </a:extLst>
          </p:cNvPr>
          <p:cNvPicPr>
            <a:picLocks noChangeAspect="1"/>
          </p:cNvPicPr>
          <p:nvPr/>
        </p:nvPicPr>
        <p:blipFill>
          <a:blip r:embed="rId6"/>
          <a:stretch>
            <a:fillRect/>
          </a:stretch>
        </p:blipFill>
        <p:spPr>
          <a:xfrm>
            <a:off x="2985918" y="1652335"/>
            <a:ext cx="3340082" cy="854244"/>
          </a:xfrm>
          <a:prstGeom prst="rect">
            <a:avLst/>
          </a:prstGeom>
        </p:spPr>
      </p:pic>
      <p:pic>
        <p:nvPicPr>
          <p:cNvPr id="23" name="Picture 22">
            <a:extLst>
              <a:ext uri="{FF2B5EF4-FFF2-40B4-BE49-F238E27FC236}">
                <a16:creationId xmlns:a16="http://schemas.microsoft.com/office/drawing/2014/main" id="{8609E5FA-0F8D-0A3E-4F14-79C352A70FBD}"/>
              </a:ext>
            </a:extLst>
          </p:cNvPr>
          <p:cNvPicPr>
            <a:picLocks noChangeAspect="1"/>
          </p:cNvPicPr>
          <p:nvPr/>
        </p:nvPicPr>
        <p:blipFill>
          <a:blip r:embed="rId7"/>
          <a:stretch>
            <a:fillRect/>
          </a:stretch>
        </p:blipFill>
        <p:spPr>
          <a:xfrm>
            <a:off x="2985918" y="2547268"/>
            <a:ext cx="3340082" cy="1391348"/>
          </a:xfrm>
          <a:prstGeom prst="rect">
            <a:avLst/>
          </a:prstGeom>
        </p:spPr>
      </p:pic>
      <p:pic>
        <p:nvPicPr>
          <p:cNvPr id="28" name="Content Placeholder 27">
            <a:extLst>
              <a:ext uri="{FF2B5EF4-FFF2-40B4-BE49-F238E27FC236}">
                <a16:creationId xmlns:a16="http://schemas.microsoft.com/office/drawing/2014/main" id="{82B1DFEF-2748-2BDD-97B6-B453F5AA9C4F}"/>
              </a:ext>
            </a:extLst>
          </p:cNvPr>
          <p:cNvPicPr>
            <a:picLocks noGrp="1" noChangeAspect="1"/>
          </p:cNvPicPr>
          <p:nvPr>
            <p:ph sz="quarter" idx="4"/>
          </p:nvPr>
        </p:nvPicPr>
        <p:blipFill>
          <a:blip r:embed="rId8">
            <a:extLst>
              <a:ext uri="{28A0092B-C50C-407E-A947-70E740481C1C}">
                <a14:useLocalDpi xmlns:a14="http://schemas.microsoft.com/office/drawing/2010/main" val="0"/>
              </a:ext>
            </a:extLst>
          </a:blip>
          <a:stretch>
            <a:fillRect/>
          </a:stretch>
        </p:blipFill>
        <p:spPr>
          <a:xfrm>
            <a:off x="9197974" y="1636510"/>
            <a:ext cx="2901661" cy="1733416"/>
          </a:xfrm>
        </p:spPr>
      </p:pic>
      <p:pic>
        <p:nvPicPr>
          <p:cNvPr id="30" name="Picture 29">
            <a:extLst>
              <a:ext uri="{FF2B5EF4-FFF2-40B4-BE49-F238E27FC236}">
                <a16:creationId xmlns:a16="http://schemas.microsoft.com/office/drawing/2014/main" id="{F8DC239A-49EF-A003-BD37-43BCEFF862EB}"/>
              </a:ext>
            </a:extLst>
          </p:cNvPr>
          <p:cNvPicPr>
            <a:picLocks noChangeAspect="1"/>
          </p:cNvPicPr>
          <p:nvPr/>
        </p:nvPicPr>
        <p:blipFill>
          <a:blip r:embed="rId9"/>
          <a:stretch>
            <a:fillRect/>
          </a:stretch>
        </p:blipFill>
        <p:spPr>
          <a:xfrm>
            <a:off x="185933" y="4431632"/>
            <a:ext cx="2964462" cy="1629302"/>
          </a:xfrm>
          <a:prstGeom prst="rect">
            <a:avLst/>
          </a:prstGeom>
        </p:spPr>
      </p:pic>
      <p:pic>
        <p:nvPicPr>
          <p:cNvPr id="32" name="Picture 31">
            <a:extLst>
              <a:ext uri="{FF2B5EF4-FFF2-40B4-BE49-F238E27FC236}">
                <a16:creationId xmlns:a16="http://schemas.microsoft.com/office/drawing/2014/main" id="{8D924FB8-5A5E-2047-F3AC-FF7C8365A3A5}"/>
              </a:ext>
            </a:extLst>
          </p:cNvPr>
          <p:cNvPicPr>
            <a:picLocks noChangeAspect="1"/>
          </p:cNvPicPr>
          <p:nvPr/>
        </p:nvPicPr>
        <p:blipFill>
          <a:blip r:embed="rId10"/>
          <a:stretch>
            <a:fillRect/>
          </a:stretch>
        </p:blipFill>
        <p:spPr>
          <a:xfrm>
            <a:off x="3161368" y="4468557"/>
            <a:ext cx="3164632" cy="1106904"/>
          </a:xfrm>
          <a:prstGeom prst="rect">
            <a:avLst/>
          </a:prstGeom>
        </p:spPr>
      </p:pic>
      <p:pic>
        <p:nvPicPr>
          <p:cNvPr id="34" name="Picture 33">
            <a:extLst>
              <a:ext uri="{FF2B5EF4-FFF2-40B4-BE49-F238E27FC236}">
                <a16:creationId xmlns:a16="http://schemas.microsoft.com/office/drawing/2014/main" id="{6BAD3ACF-8F5F-77D2-EA25-3B9C655254EC}"/>
              </a:ext>
            </a:extLst>
          </p:cNvPr>
          <p:cNvPicPr>
            <a:picLocks noChangeAspect="1"/>
          </p:cNvPicPr>
          <p:nvPr/>
        </p:nvPicPr>
        <p:blipFill>
          <a:blip r:embed="rId11"/>
          <a:stretch>
            <a:fillRect/>
          </a:stretch>
        </p:blipFill>
        <p:spPr>
          <a:xfrm>
            <a:off x="3162361" y="5665150"/>
            <a:ext cx="3163639" cy="1192850"/>
          </a:xfrm>
          <a:prstGeom prst="rect">
            <a:avLst/>
          </a:prstGeom>
        </p:spPr>
      </p:pic>
      <p:pic>
        <p:nvPicPr>
          <p:cNvPr id="36" name="Picture 35">
            <a:extLst>
              <a:ext uri="{FF2B5EF4-FFF2-40B4-BE49-F238E27FC236}">
                <a16:creationId xmlns:a16="http://schemas.microsoft.com/office/drawing/2014/main" id="{D2154BFA-5D6F-6DFC-957F-3C5EC4B5B458}"/>
              </a:ext>
            </a:extLst>
          </p:cNvPr>
          <p:cNvPicPr>
            <a:picLocks noChangeAspect="1"/>
          </p:cNvPicPr>
          <p:nvPr/>
        </p:nvPicPr>
        <p:blipFill>
          <a:blip r:embed="rId12"/>
          <a:stretch>
            <a:fillRect/>
          </a:stretch>
        </p:blipFill>
        <p:spPr>
          <a:xfrm>
            <a:off x="6415735" y="3773081"/>
            <a:ext cx="5683900" cy="2369101"/>
          </a:xfrm>
          <a:prstGeom prst="rect">
            <a:avLst/>
          </a:prstGeom>
        </p:spPr>
      </p:pic>
    </p:spTree>
    <p:extLst>
      <p:ext uri="{BB962C8B-B14F-4D97-AF65-F5344CB8AC3E}">
        <p14:creationId xmlns:p14="http://schemas.microsoft.com/office/powerpoint/2010/main" val="91205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E625-13C4-6CC4-B569-5B8EA9D817FB}"/>
              </a:ext>
            </a:extLst>
          </p:cNvPr>
          <p:cNvSpPr>
            <a:spLocks noGrp="1"/>
          </p:cNvSpPr>
          <p:nvPr>
            <p:ph type="title"/>
          </p:nvPr>
        </p:nvSpPr>
        <p:spPr>
          <a:xfrm>
            <a:off x="642796" y="708645"/>
            <a:ext cx="9404723" cy="948592"/>
          </a:xfrm>
        </p:spPr>
        <p:txBody>
          <a:bodyPr/>
          <a:lstStyle/>
          <a:p>
            <a:r>
              <a:rPr lang="en-GB" sz="4800" b="1" dirty="0">
                <a:solidFill>
                  <a:srgbClr val="002060"/>
                </a:solidFill>
              </a:rPr>
              <a:t>Demonstration—Methodology</a:t>
            </a:r>
          </a:p>
        </p:txBody>
      </p:sp>
      <p:sp>
        <p:nvSpPr>
          <p:cNvPr id="3" name="TextBox 2">
            <a:extLst>
              <a:ext uri="{FF2B5EF4-FFF2-40B4-BE49-F238E27FC236}">
                <a16:creationId xmlns:a16="http://schemas.microsoft.com/office/drawing/2014/main" id="{C8E2D5BD-8AE0-3850-89B5-3641B093632B}"/>
              </a:ext>
            </a:extLst>
          </p:cNvPr>
          <p:cNvSpPr txBox="1"/>
          <p:nvPr/>
        </p:nvSpPr>
        <p:spPr>
          <a:xfrm>
            <a:off x="1035696" y="2828835"/>
            <a:ext cx="10273005" cy="1200329"/>
          </a:xfrm>
          <a:prstGeom prst="rect">
            <a:avLst/>
          </a:prstGeom>
          <a:noFill/>
        </p:spPr>
        <p:txBody>
          <a:bodyPr wrap="square" rtlCol="0">
            <a:spAutoFit/>
          </a:bodyPr>
          <a:lstStyle/>
          <a:p>
            <a:r>
              <a:rPr lang="en-US" sz="3600" dirty="0"/>
              <a:t>A live demonstration of the run/navigation of EVIEWS program </a:t>
            </a:r>
            <a:r>
              <a:rPr lang="en-US" sz="3600" dirty="0">
                <a:solidFill>
                  <a:srgbClr val="C00000"/>
                </a:solidFill>
              </a:rPr>
              <a:t>here</a:t>
            </a:r>
            <a:r>
              <a:rPr lang="en-US" sz="3600" dirty="0"/>
              <a:t> </a:t>
            </a:r>
            <a:endParaRPr lang="en-RW" sz="3600" dirty="0"/>
          </a:p>
        </p:txBody>
      </p:sp>
    </p:spTree>
    <p:extLst>
      <p:ext uri="{BB962C8B-B14F-4D97-AF65-F5344CB8AC3E}">
        <p14:creationId xmlns:p14="http://schemas.microsoft.com/office/powerpoint/2010/main" val="1262317976"/>
      </p:ext>
    </p:extLst>
  </p:cSld>
  <p:clrMapOvr>
    <a:masterClrMapping/>
  </p:clrMapOvr>
  <mc:AlternateContent xmlns:mc="http://schemas.openxmlformats.org/markup-compatibility/2006" xmlns:p14="http://schemas.microsoft.com/office/powerpoint/2010/main">
    <mc:Choice Requires="p14">
      <p:transition spd="slow" p14:dur="2000" advTm="2587854"/>
    </mc:Choice>
    <mc:Fallback xmlns="">
      <p:transition spd="slow" advTm="258785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E625-13C4-6CC4-B569-5B8EA9D817FB}"/>
              </a:ext>
            </a:extLst>
          </p:cNvPr>
          <p:cNvSpPr>
            <a:spLocks noGrp="1"/>
          </p:cNvSpPr>
          <p:nvPr>
            <p:ph type="title"/>
          </p:nvPr>
        </p:nvSpPr>
        <p:spPr>
          <a:xfrm>
            <a:off x="577481" y="130147"/>
            <a:ext cx="9404723" cy="691120"/>
          </a:xfrm>
        </p:spPr>
        <p:txBody>
          <a:bodyPr/>
          <a:lstStyle/>
          <a:p>
            <a:r>
              <a:rPr lang="en-GB" sz="3600" b="1" dirty="0">
                <a:solidFill>
                  <a:srgbClr val="002060"/>
                </a:solidFill>
              </a:rPr>
              <a:t>Illustration—results &amp; reporting </a:t>
            </a:r>
          </a:p>
        </p:txBody>
      </p:sp>
      <p:pic>
        <p:nvPicPr>
          <p:cNvPr id="4" name="Picture 3">
            <a:extLst>
              <a:ext uri="{FF2B5EF4-FFF2-40B4-BE49-F238E27FC236}">
                <a16:creationId xmlns:a16="http://schemas.microsoft.com/office/drawing/2014/main" id="{6B307C87-B6AB-8BB5-76ED-E6D8F7C5701F}"/>
              </a:ext>
            </a:extLst>
          </p:cNvPr>
          <p:cNvPicPr>
            <a:picLocks noChangeAspect="1"/>
          </p:cNvPicPr>
          <p:nvPr/>
        </p:nvPicPr>
        <p:blipFill>
          <a:blip r:embed="rId3"/>
          <a:stretch>
            <a:fillRect/>
          </a:stretch>
        </p:blipFill>
        <p:spPr>
          <a:xfrm>
            <a:off x="221884" y="880979"/>
            <a:ext cx="4955763" cy="3275385"/>
          </a:xfrm>
          <a:prstGeom prst="rect">
            <a:avLst/>
          </a:prstGeom>
        </p:spPr>
      </p:pic>
      <p:pic>
        <p:nvPicPr>
          <p:cNvPr id="6" name="Picture 5">
            <a:extLst>
              <a:ext uri="{FF2B5EF4-FFF2-40B4-BE49-F238E27FC236}">
                <a16:creationId xmlns:a16="http://schemas.microsoft.com/office/drawing/2014/main" id="{89C94221-CDF7-2E15-79C5-887FD132C3AF}"/>
              </a:ext>
            </a:extLst>
          </p:cNvPr>
          <p:cNvPicPr>
            <a:picLocks noChangeAspect="1"/>
          </p:cNvPicPr>
          <p:nvPr/>
        </p:nvPicPr>
        <p:blipFill>
          <a:blip r:embed="rId4"/>
          <a:stretch>
            <a:fillRect/>
          </a:stretch>
        </p:blipFill>
        <p:spPr>
          <a:xfrm>
            <a:off x="5528629" y="2448629"/>
            <a:ext cx="6925734" cy="1595744"/>
          </a:xfrm>
          <a:prstGeom prst="rect">
            <a:avLst/>
          </a:prstGeom>
        </p:spPr>
      </p:pic>
      <p:cxnSp>
        <p:nvCxnSpPr>
          <p:cNvPr id="9" name="Straight Arrow Connector 8">
            <a:extLst>
              <a:ext uri="{FF2B5EF4-FFF2-40B4-BE49-F238E27FC236}">
                <a16:creationId xmlns:a16="http://schemas.microsoft.com/office/drawing/2014/main" id="{DAF9B7A0-1FE0-4E54-7838-887C9B153A6B}"/>
              </a:ext>
            </a:extLst>
          </p:cNvPr>
          <p:cNvCxnSpPr>
            <a:cxnSpLocks/>
          </p:cNvCxnSpPr>
          <p:nvPr/>
        </p:nvCxnSpPr>
        <p:spPr>
          <a:xfrm>
            <a:off x="6271491" y="4044373"/>
            <a:ext cx="1597891" cy="14891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E8F5ED5-E84C-929F-EAAB-5938EFC1BDDA}"/>
              </a:ext>
            </a:extLst>
          </p:cNvPr>
          <p:cNvCxnSpPr>
            <a:cxnSpLocks/>
          </p:cNvCxnSpPr>
          <p:nvPr/>
        </p:nvCxnSpPr>
        <p:spPr>
          <a:xfrm flipH="1">
            <a:off x="2499325" y="2761672"/>
            <a:ext cx="582655" cy="1847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190DF1B5-C422-F129-3D7C-7A3652938E5C}"/>
              </a:ext>
            </a:extLst>
          </p:cNvPr>
          <p:cNvPicPr>
            <a:picLocks noChangeAspect="1"/>
          </p:cNvPicPr>
          <p:nvPr/>
        </p:nvPicPr>
        <p:blipFill>
          <a:blip r:embed="rId5"/>
          <a:stretch>
            <a:fillRect/>
          </a:stretch>
        </p:blipFill>
        <p:spPr>
          <a:xfrm>
            <a:off x="7966182" y="3954002"/>
            <a:ext cx="4225818" cy="2903998"/>
          </a:xfrm>
          <a:prstGeom prst="rect">
            <a:avLst/>
          </a:prstGeom>
        </p:spPr>
      </p:pic>
      <p:pic>
        <p:nvPicPr>
          <p:cNvPr id="19" name="Picture 18">
            <a:extLst>
              <a:ext uri="{FF2B5EF4-FFF2-40B4-BE49-F238E27FC236}">
                <a16:creationId xmlns:a16="http://schemas.microsoft.com/office/drawing/2014/main" id="{1CEBB055-B790-AA71-C968-54C19A1761D7}"/>
              </a:ext>
            </a:extLst>
          </p:cNvPr>
          <p:cNvPicPr>
            <a:picLocks noChangeAspect="1"/>
          </p:cNvPicPr>
          <p:nvPr/>
        </p:nvPicPr>
        <p:blipFill>
          <a:blip r:embed="rId6"/>
          <a:stretch>
            <a:fillRect/>
          </a:stretch>
        </p:blipFill>
        <p:spPr>
          <a:xfrm>
            <a:off x="138545" y="4609570"/>
            <a:ext cx="5039102" cy="2118283"/>
          </a:xfrm>
          <a:prstGeom prst="rect">
            <a:avLst/>
          </a:prstGeom>
        </p:spPr>
      </p:pic>
      <p:pic>
        <p:nvPicPr>
          <p:cNvPr id="27" name="Picture 26">
            <a:extLst>
              <a:ext uri="{FF2B5EF4-FFF2-40B4-BE49-F238E27FC236}">
                <a16:creationId xmlns:a16="http://schemas.microsoft.com/office/drawing/2014/main" id="{79A27B48-FE53-F691-1929-BD1362BC66AA}"/>
              </a:ext>
            </a:extLst>
          </p:cNvPr>
          <p:cNvPicPr>
            <a:picLocks noChangeAspect="1"/>
          </p:cNvPicPr>
          <p:nvPr/>
        </p:nvPicPr>
        <p:blipFill>
          <a:blip r:embed="rId7"/>
          <a:stretch>
            <a:fillRect/>
          </a:stretch>
        </p:blipFill>
        <p:spPr>
          <a:xfrm>
            <a:off x="5380321" y="692440"/>
            <a:ext cx="5524784" cy="1756189"/>
          </a:xfrm>
          <a:prstGeom prst="rect">
            <a:avLst/>
          </a:prstGeom>
        </p:spPr>
      </p:pic>
      <p:cxnSp>
        <p:nvCxnSpPr>
          <p:cNvPr id="30" name="Straight Arrow Connector 29">
            <a:extLst>
              <a:ext uri="{FF2B5EF4-FFF2-40B4-BE49-F238E27FC236}">
                <a16:creationId xmlns:a16="http://schemas.microsoft.com/office/drawing/2014/main" id="{5AACCA9C-6CD1-94BE-F28F-9F84528841D7}"/>
              </a:ext>
            </a:extLst>
          </p:cNvPr>
          <p:cNvCxnSpPr>
            <a:cxnSpLocks/>
          </p:cNvCxnSpPr>
          <p:nvPr/>
        </p:nvCxnSpPr>
        <p:spPr>
          <a:xfrm flipH="1">
            <a:off x="4004881" y="2113045"/>
            <a:ext cx="2195602" cy="1931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2583404"/>
      </p:ext>
    </p:extLst>
  </p:cSld>
  <p:clrMapOvr>
    <a:masterClrMapping/>
  </p:clrMapOvr>
  <mc:AlternateContent xmlns:mc="http://schemas.openxmlformats.org/markup-compatibility/2006" xmlns:p14="http://schemas.microsoft.com/office/powerpoint/2010/main">
    <mc:Choice Requires="p14">
      <p:transition spd="slow" p14:dur="2000" advTm="2587854"/>
    </mc:Choice>
    <mc:Fallback xmlns="">
      <p:transition spd="slow" advTm="258785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E625-13C4-6CC4-B569-5B8EA9D817FB}"/>
              </a:ext>
            </a:extLst>
          </p:cNvPr>
          <p:cNvSpPr>
            <a:spLocks noGrp="1"/>
          </p:cNvSpPr>
          <p:nvPr>
            <p:ph type="title"/>
          </p:nvPr>
        </p:nvSpPr>
        <p:spPr>
          <a:xfrm>
            <a:off x="646111" y="452719"/>
            <a:ext cx="9404723" cy="702314"/>
          </a:xfrm>
        </p:spPr>
        <p:txBody>
          <a:bodyPr/>
          <a:lstStyle/>
          <a:p>
            <a:r>
              <a:rPr lang="en-GB" sz="4400" b="1" dirty="0">
                <a:solidFill>
                  <a:srgbClr val="002060"/>
                </a:solidFill>
              </a:rPr>
              <a:t>Results presentation/illustration</a:t>
            </a:r>
          </a:p>
        </p:txBody>
      </p:sp>
      <p:sp>
        <p:nvSpPr>
          <p:cNvPr id="5" name="Text Placeholder 4">
            <a:extLst>
              <a:ext uri="{FF2B5EF4-FFF2-40B4-BE49-F238E27FC236}">
                <a16:creationId xmlns:a16="http://schemas.microsoft.com/office/drawing/2014/main" id="{684FF393-87A5-AAC0-A046-7299994A3816}"/>
              </a:ext>
            </a:extLst>
          </p:cNvPr>
          <p:cNvSpPr>
            <a:spLocks noGrp="1"/>
          </p:cNvSpPr>
          <p:nvPr>
            <p:ph type="body" sz="quarter" idx="3"/>
          </p:nvPr>
        </p:nvSpPr>
        <p:spPr>
          <a:xfrm>
            <a:off x="361365" y="1654140"/>
            <a:ext cx="9117068" cy="458056"/>
          </a:xfrm>
        </p:spPr>
        <p:txBody>
          <a:bodyPr/>
          <a:lstStyle/>
          <a:p>
            <a:r>
              <a:rPr lang="en-GB" dirty="0"/>
              <a:t>Best GDP indicators (minor error—MSE)</a:t>
            </a:r>
          </a:p>
        </p:txBody>
      </p:sp>
      <p:graphicFrame>
        <p:nvGraphicFramePr>
          <p:cNvPr id="6" name="Chart 5">
            <a:extLst>
              <a:ext uri="{FF2B5EF4-FFF2-40B4-BE49-F238E27FC236}">
                <a16:creationId xmlns:a16="http://schemas.microsoft.com/office/drawing/2014/main" id="{00000000-0008-0000-0000-000003000000}"/>
              </a:ext>
            </a:extLst>
          </p:cNvPr>
          <p:cNvGraphicFramePr>
            <a:graphicFrameLocks/>
          </p:cNvGraphicFramePr>
          <p:nvPr>
            <p:extLst>
              <p:ext uri="{D42A27DB-BD31-4B8C-83A1-F6EECF244321}">
                <p14:modId xmlns:p14="http://schemas.microsoft.com/office/powerpoint/2010/main" val="2688966029"/>
              </p:ext>
            </p:extLst>
          </p:nvPr>
        </p:nvGraphicFramePr>
        <p:xfrm>
          <a:off x="230908" y="2287588"/>
          <a:ext cx="6012873" cy="39497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00000000-0008-0000-0000-000004000000}"/>
              </a:ext>
            </a:extLst>
          </p:cNvPr>
          <p:cNvGraphicFramePr>
            <a:graphicFrameLocks/>
          </p:cNvGraphicFramePr>
          <p:nvPr>
            <p:extLst>
              <p:ext uri="{D42A27DB-BD31-4B8C-83A1-F6EECF244321}">
                <p14:modId xmlns:p14="http://schemas.microsoft.com/office/powerpoint/2010/main" val="1473210502"/>
              </p:ext>
            </p:extLst>
          </p:nvPr>
        </p:nvGraphicFramePr>
        <p:xfrm>
          <a:off x="6530109" y="1482205"/>
          <a:ext cx="5430983" cy="41706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79385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69B46-1E18-15E6-B224-66DEF6F176FE}"/>
              </a:ext>
            </a:extLst>
          </p:cNvPr>
          <p:cNvSpPr>
            <a:spLocks noGrp="1"/>
          </p:cNvSpPr>
          <p:nvPr>
            <p:ph type="title"/>
          </p:nvPr>
        </p:nvSpPr>
        <p:spPr>
          <a:xfrm>
            <a:off x="646111" y="452718"/>
            <a:ext cx="9404723" cy="913745"/>
          </a:xfrm>
        </p:spPr>
        <p:txBody>
          <a:bodyPr/>
          <a:lstStyle/>
          <a:p>
            <a:r>
              <a:rPr lang="en-GB" sz="5400" b="1" dirty="0">
                <a:solidFill>
                  <a:srgbClr val="002060"/>
                </a:solidFill>
              </a:rPr>
              <a:t>References</a:t>
            </a:r>
          </a:p>
        </p:txBody>
      </p:sp>
      <p:sp>
        <p:nvSpPr>
          <p:cNvPr id="3" name="Content Placeholder 2">
            <a:extLst>
              <a:ext uri="{FF2B5EF4-FFF2-40B4-BE49-F238E27FC236}">
                <a16:creationId xmlns:a16="http://schemas.microsoft.com/office/drawing/2014/main" id="{D93D89EC-7031-D722-3BFE-4DB2910C9E86}"/>
              </a:ext>
            </a:extLst>
          </p:cNvPr>
          <p:cNvSpPr>
            <a:spLocks noGrp="1"/>
          </p:cNvSpPr>
          <p:nvPr>
            <p:ph idx="1"/>
          </p:nvPr>
        </p:nvSpPr>
        <p:spPr>
          <a:xfrm>
            <a:off x="774538" y="1541124"/>
            <a:ext cx="10972703" cy="4710386"/>
          </a:xfrm>
        </p:spPr>
        <p:txBody>
          <a:bodyPr>
            <a:normAutofit fontScale="92500" lnSpcReduction="20000"/>
          </a:bodyPr>
          <a:lstStyle/>
          <a:p>
            <a:pPr>
              <a:lnSpc>
                <a:spcPct val="200000"/>
              </a:lnSpc>
              <a:buFont typeface="Wingdings" panose="05000000000000000000" pitchFamily="2" charset="2"/>
              <a:buChar char="§"/>
            </a:pPr>
            <a:r>
              <a:rPr lang="fr-FR" sz="1800" dirty="0">
                <a:effectLst/>
                <a:latin typeface="Segoe UI" panose="020B0502040204020203" pitchFamily="34" charset="0"/>
                <a:ea typeface="Calibri" panose="020F0502020204030204" pitchFamily="34" charset="0"/>
                <a:cs typeface="Segoe UI" panose="020B0502040204020203" pitchFamily="34" charset="0"/>
              </a:rPr>
              <a:t>Kalisa, T. &amp; </a:t>
            </a:r>
            <a:r>
              <a:rPr lang="fr-FR" sz="1800" dirty="0" err="1">
                <a:effectLst/>
                <a:latin typeface="Segoe UI" panose="020B0502040204020203" pitchFamily="34" charset="0"/>
                <a:ea typeface="Calibri" panose="020F0502020204030204" pitchFamily="34" charset="0"/>
                <a:cs typeface="Segoe UI" panose="020B0502040204020203" pitchFamily="34" charset="0"/>
              </a:rPr>
              <a:t>Nsanza</a:t>
            </a:r>
            <a:r>
              <a:rPr lang="fr-FR" sz="1800" dirty="0">
                <a:effectLst/>
                <a:latin typeface="Segoe UI" panose="020B0502040204020203" pitchFamily="34" charset="0"/>
                <a:ea typeface="Calibri" panose="020F0502020204030204" pitchFamily="34" charset="0"/>
                <a:cs typeface="Segoe UI" panose="020B0502040204020203" pitchFamily="34" charset="0"/>
              </a:rPr>
              <a:t>, J.U. (2018). </a:t>
            </a:r>
            <a:r>
              <a:rPr lang="en-US" sz="1800" dirty="0">
                <a:effectLst/>
                <a:latin typeface="Segoe UI" panose="020B0502040204020203" pitchFamily="34" charset="0"/>
                <a:ea typeface="Calibri" panose="020F0502020204030204" pitchFamily="34" charset="0"/>
                <a:cs typeface="Segoe UI" panose="020B0502040204020203" pitchFamily="34" charset="0"/>
              </a:rPr>
              <a:t>Nowcasting GDP in Rwanda.</a:t>
            </a:r>
            <a:r>
              <a:rPr lang="en-US" sz="1800" i="1" dirty="0">
                <a:effectLst/>
                <a:latin typeface="Segoe UI" panose="020B0502040204020203" pitchFamily="34" charset="0"/>
                <a:ea typeface="Calibri" panose="020F0502020204030204" pitchFamily="34" charset="0"/>
                <a:cs typeface="Segoe UI" panose="020B0502040204020203" pitchFamily="34" charset="0"/>
              </a:rPr>
              <a:t> BNR Economic Review, 12.</a:t>
            </a:r>
            <a:r>
              <a:rPr lang="en-US" sz="1800" dirty="0">
                <a:effectLst/>
                <a:latin typeface="Segoe UI" panose="020B0502040204020203" pitchFamily="34" charset="0"/>
                <a:ea typeface="Calibri" panose="020F0502020204030204" pitchFamily="34" charset="0"/>
                <a:cs typeface="Segoe UI" panose="020B0502040204020203" pitchFamily="34" charset="0"/>
              </a:rPr>
              <a:t>”.</a:t>
            </a:r>
          </a:p>
          <a:p>
            <a:pPr>
              <a:lnSpc>
                <a:spcPct val="200000"/>
              </a:lnSpc>
              <a:buFont typeface="Wingdings" panose="05000000000000000000" pitchFamily="2" charset="2"/>
              <a:buChar char="§"/>
            </a:pPr>
            <a:r>
              <a:rPr lang="en-GB" sz="1800" dirty="0">
                <a:effectLst/>
                <a:latin typeface="Segoe UI" panose="020B0502040204020203" pitchFamily="34" charset="0"/>
                <a:ea typeface="Calibri" panose="020F0502020204030204" pitchFamily="34" charset="0"/>
                <a:cs typeface="Segoe UI" panose="020B0502040204020203" pitchFamily="34" charset="0"/>
              </a:rPr>
              <a:t>“Angelini, Elena, et al. (2011) "Short‐term forecasts of euro area GDP growth." The Econometrics Journal 14.1: C25-C44.”</a:t>
            </a:r>
          </a:p>
          <a:p>
            <a:pPr>
              <a:lnSpc>
                <a:spcPct val="200000"/>
              </a:lnSpc>
              <a:buFont typeface="Wingdings" panose="05000000000000000000" pitchFamily="2" charset="2"/>
              <a:buChar char="§"/>
            </a:pPr>
            <a:r>
              <a:rPr lang="en-GB" sz="1800" dirty="0" err="1">
                <a:effectLst/>
                <a:latin typeface="Segoe UI" panose="020B0502040204020203" pitchFamily="34" charset="0"/>
                <a:ea typeface="Calibri" panose="020F0502020204030204" pitchFamily="34" charset="0"/>
                <a:cs typeface="Segoe UI" panose="020B0502040204020203" pitchFamily="34" charset="0"/>
              </a:rPr>
              <a:t>Habimana</a:t>
            </a:r>
            <a:r>
              <a:rPr lang="en-GB" sz="1800" dirty="0">
                <a:latin typeface="Segoe UI" panose="020B0502040204020203" pitchFamily="34" charset="0"/>
                <a:ea typeface="Calibri" panose="020F0502020204030204" pitchFamily="34" charset="0"/>
                <a:cs typeface="Segoe UI" panose="020B0502040204020203" pitchFamily="34" charset="0"/>
              </a:rPr>
              <a:t>, O. et al., (2020) </a:t>
            </a:r>
            <a:r>
              <a:rPr lang="en-US" sz="1800" dirty="0">
                <a:latin typeface="Segoe UI" panose="020B0502040204020203" pitchFamily="34" charset="0"/>
                <a:ea typeface="Calibri" panose="020F0502020204030204" pitchFamily="34" charset="0"/>
                <a:cs typeface="Segoe UI" panose="020B0502040204020203" pitchFamily="34" charset="0"/>
              </a:rPr>
              <a:t>Nowcasting Rwanda’s quarterly GDP using mixed-frequency methods. </a:t>
            </a:r>
            <a:r>
              <a:rPr lang="en-US" sz="1800" dirty="0">
                <a:latin typeface="Segoe UI" panose="020B0502040204020203" pitchFamily="34" charset="0"/>
                <a:ea typeface="Calibri" panose="020F0502020204030204" pitchFamily="34" charset="0"/>
                <a:cs typeface="Segoe UI" panose="020B0502040204020203" pitchFamily="34" charset="0"/>
                <a:hlinkClick r:id="rId2"/>
              </a:rPr>
              <a:t>https://ssrn.com/abstract=3653136</a:t>
            </a:r>
            <a:r>
              <a:rPr lang="en-US" sz="1800" dirty="0">
                <a:latin typeface="Segoe UI" panose="020B0502040204020203" pitchFamily="34" charset="0"/>
                <a:ea typeface="Calibri" panose="020F0502020204030204" pitchFamily="34" charset="0"/>
                <a:cs typeface="Segoe UI" panose="020B0502040204020203" pitchFamily="34" charset="0"/>
              </a:rPr>
              <a:t> </a:t>
            </a:r>
            <a:endParaRPr lang="en-GB" sz="1800" dirty="0">
              <a:latin typeface="Segoe UI" panose="020B0502040204020203" pitchFamily="34" charset="0"/>
              <a:ea typeface="Calibri" panose="020F0502020204030204" pitchFamily="34" charset="0"/>
              <a:cs typeface="Segoe UI" panose="020B0502040204020203" pitchFamily="34" charset="0"/>
            </a:endParaRPr>
          </a:p>
          <a:p>
            <a:pPr>
              <a:lnSpc>
                <a:spcPct val="200000"/>
              </a:lnSpc>
              <a:buFont typeface="Wingdings" panose="05000000000000000000" pitchFamily="2" charset="2"/>
              <a:buChar char="§"/>
            </a:pPr>
            <a:r>
              <a:rPr lang="en-GB" sz="1800" dirty="0">
                <a:effectLst/>
                <a:latin typeface="Segoe UI" panose="020B0502040204020203" pitchFamily="34" charset="0"/>
                <a:ea typeface="Calibri" panose="020F0502020204030204" pitchFamily="34" charset="0"/>
                <a:cs typeface="Segoe UI" panose="020B0502040204020203" pitchFamily="34" charset="0"/>
              </a:rPr>
              <a:t>Christian M. et al., (2022) </a:t>
            </a:r>
            <a:r>
              <a:rPr lang="en-US" sz="1800" dirty="0">
                <a:effectLst/>
                <a:latin typeface="Segoe UI" panose="020B0502040204020203" pitchFamily="34" charset="0"/>
                <a:ea typeface="Calibri" panose="020F0502020204030204" pitchFamily="34" charset="0"/>
                <a:cs typeface="Segoe UI" panose="020B0502040204020203" pitchFamily="34" charset="0"/>
              </a:rPr>
              <a:t>Nowcasting the Real GDP Growth of Rwanda. BNR Economic Review 19 (2022) 39–54</a:t>
            </a:r>
            <a:endParaRPr lang="en-US" sz="1800" dirty="0">
              <a:latin typeface="Segoe UI" panose="020B0502040204020203" pitchFamily="34" charset="0"/>
              <a:ea typeface="Calibri" panose="020F0502020204030204" pitchFamily="34" charset="0"/>
              <a:cs typeface="Segoe UI" panose="020B0502040204020203" pitchFamily="34" charset="0"/>
            </a:endParaRPr>
          </a:p>
          <a:p>
            <a:pPr>
              <a:lnSpc>
                <a:spcPct val="200000"/>
              </a:lnSpc>
              <a:buFont typeface="Wingdings" panose="05000000000000000000" pitchFamily="2" charset="2"/>
              <a:buChar char="§"/>
            </a:pPr>
            <a:r>
              <a:rPr lang="en-US" dirty="0"/>
              <a:t>New Econometrics and Statistics: Forecasting</a:t>
            </a:r>
            <a:r>
              <a:rPr lang="en-GB" sz="2600" dirty="0">
                <a:solidFill>
                  <a:srgbClr val="C00000"/>
                </a:solidFill>
                <a:latin typeface="Segoe UI" panose="020B0502040204020203" pitchFamily="34" charset="0"/>
                <a:ea typeface="Calibri" panose="020F0502020204030204" pitchFamily="34" charset="0"/>
                <a:cs typeface="Segoe UI" panose="020B0502040204020203" pitchFamily="34" charset="0"/>
              </a:rPr>
              <a:t>: https://www.eviews.com/EViews9/ev9ecforc_n.html</a:t>
            </a:r>
            <a:endParaRPr lang="en-GB" sz="2600" dirty="0">
              <a:solidFill>
                <a:srgbClr val="C00000"/>
              </a:solidFill>
              <a:effectLst/>
              <a:latin typeface="Segoe UI" panose="020B0502040204020203" pitchFamily="34" charset="0"/>
              <a:ea typeface="Calibri" panose="020F0502020204030204" pitchFamily="34" charset="0"/>
              <a:cs typeface="Segoe UI" panose="020B0502040204020203" pitchFamily="34" charset="0"/>
            </a:endParaRPr>
          </a:p>
        </p:txBody>
      </p:sp>
    </p:spTree>
    <p:extLst>
      <p:ext uri="{BB962C8B-B14F-4D97-AF65-F5344CB8AC3E}">
        <p14:creationId xmlns:p14="http://schemas.microsoft.com/office/powerpoint/2010/main" val="3479745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DA5CE-D0A2-8292-3E59-8C34CE558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32FAD-F583-57D4-CCF1-6EB91DA941F7}"/>
              </a:ext>
            </a:extLst>
          </p:cNvPr>
          <p:cNvSpPr>
            <a:spLocks noGrp="1"/>
          </p:cNvSpPr>
          <p:nvPr>
            <p:ph type="title"/>
          </p:nvPr>
        </p:nvSpPr>
        <p:spPr>
          <a:xfrm>
            <a:off x="646111" y="452718"/>
            <a:ext cx="9404723" cy="913745"/>
          </a:xfrm>
        </p:spPr>
        <p:txBody>
          <a:bodyPr/>
          <a:lstStyle/>
          <a:p>
            <a:r>
              <a:rPr lang="en-GB" sz="5400" b="1" dirty="0">
                <a:solidFill>
                  <a:srgbClr val="002060"/>
                </a:solidFill>
              </a:rPr>
              <a:t>Group activity</a:t>
            </a:r>
          </a:p>
        </p:txBody>
      </p:sp>
      <p:sp>
        <p:nvSpPr>
          <p:cNvPr id="3" name="Content Placeholder 2">
            <a:extLst>
              <a:ext uri="{FF2B5EF4-FFF2-40B4-BE49-F238E27FC236}">
                <a16:creationId xmlns:a16="http://schemas.microsoft.com/office/drawing/2014/main" id="{C4429DFA-648D-3C15-E290-82258EFA6D6C}"/>
              </a:ext>
            </a:extLst>
          </p:cNvPr>
          <p:cNvSpPr>
            <a:spLocks noGrp="1"/>
          </p:cNvSpPr>
          <p:nvPr>
            <p:ph idx="1"/>
          </p:nvPr>
        </p:nvSpPr>
        <p:spPr>
          <a:xfrm>
            <a:off x="466531" y="1764146"/>
            <a:ext cx="6839338" cy="4008582"/>
          </a:xfrm>
          <a:ln>
            <a:solidFill>
              <a:schemeClr val="bg2">
                <a:lumMod val="20000"/>
                <a:lumOff val="80000"/>
              </a:schemeClr>
            </a:solidFill>
          </a:ln>
        </p:spPr>
        <p:txBody>
          <a:bodyPr>
            <a:normAutofit fontScale="85000" lnSpcReduction="10000"/>
          </a:bodyPr>
          <a:lstStyle/>
          <a:p>
            <a:pPr marL="0" indent="0">
              <a:lnSpc>
                <a:spcPct val="200000"/>
              </a:lnSpc>
              <a:buNone/>
            </a:pPr>
            <a:r>
              <a:rPr lang="en-GB" sz="1200" b="1" dirty="0">
                <a:solidFill>
                  <a:schemeClr val="bg1"/>
                </a:solidFill>
                <a:latin typeface="Segoe UI" panose="020B0502040204020203" pitchFamily="34" charset="0"/>
                <a:ea typeface="Calibri" panose="020F0502020204030204" pitchFamily="34" charset="0"/>
                <a:cs typeface="Segoe UI" panose="020B0502040204020203" pitchFamily="34" charset="0"/>
              </a:rPr>
              <a:t>Materials-resources and </a:t>
            </a:r>
            <a:r>
              <a:rPr lang="en-GB" sz="1200" b="1" i="1" dirty="0">
                <a:solidFill>
                  <a:schemeClr val="bg1"/>
                </a:solidFill>
                <a:latin typeface="Segoe UI" panose="020B0502040204020203" pitchFamily="34" charset="0"/>
                <a:ea typeface="Calibri" panose="020F0502020204030204" pitchFamily="34" charset="0"/>
                <a:cs typeface="Segoe UI" panose="020B0502040204020203" pitchFamily="34" charset="0"/>
              </a:rPr>
              <a:t>instructions</a:t>
            </a:r>
            <a:r>
              <a:rPr lang="en-GB" sz="1200" b="1" dirty="0">
                <a:solidFill>
                  <a:schemeClr val="bg1"/>
                </a:solidFill>
                <a:latin typeface="Segoe UI" panose="020B0502040204020203" pitchFamily="34" charset="0"/>
                <a:ea typeface="Calibri" panose="020F0502020204030204" pitchFamily="34" charset="0"/>
                <a:cs typeface="Segoe UI" panose="020B0502040204020203" pitchFamily="34" charset="0"/>
              </a:rPr>
              <a:t>:</a:t>
            </a:r>
          </a:p>
          <a:p>
            <a:pPr lvl="1">
              <a:lnSpc>
                <a:spcPct val="200000"/>
              </a:lnSpc>
              <a:buFont typeface="Wingdings" panose="05000000000000000000" pitchFamily="2" charset="2"/>
              <a:buChar char="§"/>
            </a:pPr>
            <a:r>
              <a:rPr lang="en-GB" sz="1300" dirty="0">
                <a:latin typeface="Bahnschrift Light" panose="020B0502040204020203" pitchFamily="34" charset="0"/>
                <a:ea typeface="Calibri" panose="020F0502020204030204" pitchFamily="34" charset="0"/>
                <a:cs typeface="Segoe UI" panose="020B0502040204020203" pitchFamily="34" charset="0"/>
              </a:rPr>
              <a:t>EVIEWS program (all codes and methods)</a:t>
            </a:r>
          </a:p>
          <a:p>
            <a:pPr lvl="1">
              <a:lnSpc>
                <a:spcPct val="200000"/>
              </a:lnSpc>
              <a:buFont typeface="Wingdings" panose="05000000000000000000" pitchFamily="2" charset="2"/>
              <a:buChar char="§"/>
            </a:pPr>
            <a:r>
              <a:rPr lang="en-GB" sz="1300" dirty="0">
                <a:latin typeface="Bahnschrift Light" panose="020B0502040204020203" pitchFamily="34" charset="0"/>
                <a:ea typeface="Calibri" panose="020F0502020204030204" pitchFamily="34" charset="0"/>
                <a:cs typeface="Segoe UI" panose="020B0502040204020203" pitchFamily="34" charset="0"/>
              </a:rPr>
              <a:t>HFIs database</a:t>
            </a:r>
          </a:p>
          <a:p>
            <a:pPr lvl="1">
              <a:lnSpc>
                <a:spcPct val="200000"/>
              </a:lnSpc>
              <a:buFont typeface="Wingdings" panose="05000000000000000000" pitchFamily="2" charset="2"/>
              <a:buChar char="§"/>
            </a:pPr>
            <a:r>
              <a:rPr lang="en-GB" sz="1300" dirty="0">
                <a:latin typeface="Bahnschrift Light" panose="020B0502040204020203" pitchFamily="34" charset="0"/>
                <a:ea typeface="Calibri" panose="020F0502020204030204" pitchFamily="34" charset="0"/>
                <a:cs typeface="Segoe UI" panose="020B0502040204020203" pitchFamily="34" charset="0"/>
              </a:rPr>
              <a:t>Results framework</a:t>
            </a:r>
          </a:p>
          <a:p>
            <a:pPr lvl="1">
              <a:lnSpc>
                <a:spcPct val="200000"/>
              </a:lnSpc>
              <a:buFont typeface="Wingdings" panose="05000000000000000000" pitchFamily="2" charset="2"/>
              <a:buChar char="§"/>
            </a:pPr>
            <a:r>
              <a:rPr lang="en-GB" sz="1300" dirty="0">
                <a:latin typeface="Bahnschrift Light" panose="020B0502040204020203" pitchFamily="34" charset="0"/>
                <a:ea typeface="Calibri" panose="020F0502020204030204" pitchFamily="34" charset="0"/>
                <a:cs typeface="Segoe UI" panose="020B0502040204020203" pitchFamily="34" charset="0"/>
              </a:rPr>
              <a:t>EVIEWS forecasting documentation (</a:t>
            </a:r>
            <a:r>
              <a:rPr lang="en-GB" sz="1300" dirty="0">
                <a:latin typeface="Bahnschrift Light" panose="020B0502040204020203" pitchFamily="34" charset="0"/>
                <a:ea typeface="Calibri" panose="020F0502020204030204" pitchFamily="34" charset="0"/>
                <a:cs typeface="Segoe UI" panose="020B0502040204020203" pitchFamily="34" charset="0"/>
                <a:hlinkClick r:id="rId2"/>
              </a:rPr>
              <a:t>https://www.eviews.com/EViews9/ev9ecforc_n.html</a:t>
            </a:r>
            <a:r>
              <a:rPr lang="en-GB" sz="1300" dirty="0">
                <a:latin typeface="Bahnschrift Light" panose="020B0502040204020203" pitchFamily="34" charset="0"/>
                <a:ea typeface="Calibri" panose="020F0502020204030204" pitchFamily="34" charset="0"/>
                <a:cs typeface="Segoe UI" panose="020B0502040204020203" pitchFamily="34" charset="0"/>
              </a:rPr>
              <a:t> )</a:t>
            </a:r>
          </a:p>
          <a:p>
            <a:pPr lvl="1">
              <a:lnSpc>
                <a:spcPct val="200000"/>
              </a:lnSpc>
              <a:buFont typeface="Wingdings" panose="05000000000000000000" pitchFamily="2" charset="2"/>
              <a:buChar char="§"/>
            </a:pPr>
            <a:r>
              <a:rPr lang="en-GB" sz="1300" dirty="0">
                <a:latin typeface="Bahnschrift Light" panose="020B0502040204020203" pitchFamily="34" charset="0"/>
                <a:ea typeface="Calibri" panose="020F0502020204030204" pitchFamily="34" charset="0"/>
                <a:cs typeface="Segoe UI" panose="020B0502040204020203" pitchFamily="34" charset="0"/>
              </a:rPr>
              <a:t>Relevant references</a:t>
            </a:r>
          </a:p>
          <a:p>
            <a:pPr lvl="1">
              <a:lnSpc>
                <a:spcPct val="200000"/>
              </a:lnSpc>
              <a:buFont typeface="Wingdings" panose="05000000000000000000" pitchFamily="2" charset="2"/>
              <a:buChar char="§"/>
            </a:pPr>
            <a:r>
              <a:rPr lang="en-GB" sz="1300" dirty="0">
                <a:latin typeface="Bahnschrift Light" panose="020B0502040204020203" pitchFamily="34" charset="0"/>
                <a:ea typeface="Calibri" panose="020F0502020204030204" pitchFamily="34" charset="0"/>
                <a:cs typeface="Segoe UI" panose="020B0502040204020203" pitchFamily="34" charset="0"/>
              </a:rPr>
              <a:t>A brief template </a:t>
            </a:r>
            <a:r>
              <a:rPr lang="en-GB" sz="1300" i="1" dirty="0">
                <a:latin typeface="Bahnschrift Light" panose="020B0502040204020203" pitchFamily="34" charset="0"/>
                <a:ea typeface="Calibri" panose="020F0502020204030204" pitchFamily="34" charset="0"/>
                <a:cs typeface="Segoe UI" panose="020B0502040204020203" pitchFamily="34" charset="0"/>
              </a:rPr>
              <a:t>(cover, background, forecast results, drivers and recommendation)</a:t>
            </a:r>
          </a:p>
          <a:p>
            <a:pPr lvl="1">
              <a:lnSpc>
                <a:spcPct val="200000"/>
              </a:lnSpc>
              <a:buFont typeface="Wingdings" panose="05000000000000000000" pitchFamily="2" charset="2"/>
              <a:buChar char="§"/>
            </a:pPr>
            <a:r>
              <a:rPr lang="en-GB" sz="1300" i="1" dirty="0">
                <a:latin typeface="Bahnschrift Light" panose="020B0502040204020203" pitchFamily="34" charset="0"/>
                <a:ea typeface="Calibri" panose="020F0502020204030204" pitchFamily="34" charset="0"/>
                <a:cs typeface="Segoe UI" panose="020B0502040204020203" pitchFamily="34" charset="0"/>
              </a:rPr>
              <a:t>Form random groups of 5 persons (8 groups)  </a:t>
            </a:r>
          </a:p>
          <a:p>
            <a:pPr lvl="1">
              <a:lnSpc>
                <a:spcPct val="200000"/>
              </a:lnSpc>
              <a:buFont typeface="Wingdings" panose="05000000000000000000" pitchFamily="2" charset="2"/>
              <a:buChar char="§"/>
            </a:pPr>
            <a:r>
              <a:rPr lang="en-GB" sz="1300" i="1" dirty="0">
                <a:latin typeface="Bahnschrift Light" panose="020B0502040204020203" pitchFamily="34" charset="0"/>
                <a:ea typeface="Calibri" panose="020F0502020204030204" pitchFamily="34" charset="0"/>
                <a:cs typeface="Segoe UI" panose="020B0502040204020203" pitchFamily="34" charset="0"/>
              </a:rPr>
              <a:t>A working EVIEWS is a priority</a:t>
            </a:r>
          </a:p>
          <a:p>
            <a:pPr marL="0" indent="0">
              <a:lnSpc>
                <a:spcPct val="200000"/>
              </a:lnSpc>
              <a:buNone/>
            </a:pPr>
            <a:endParaRPr lang="en-GB" sz="800" dirty="0">
              <a:effectLst/>
              <a:latin typeface="Segoe UI" panose="020B0502040204020203" pitchFamily="34" charset="0"/>
              <a:ea typeface="Calibri" panose="020F0502020204030204" pitchFamily="34" charset="0"/>
              <a:cs typeface="Segoe UI" panose="020B0502040204020203" pitchFamily="34" charset="0"/>
            </a:endParaRPr>
          </a:p>
        </p:txBody>
      </p:sp>
      <p:sp>
        <p:nvSpPr>
          <p:cNvPr id="4" name="Content Placeholder 2">
            <a:extLst>
              <a:ext uri="{FF2B5EF4-FFF2-40B4-BE49-F238E27FC236}">
                <a16:creationId xmlns:a16="http://schemas.microsoft.com/office/drawing/2014/main" id="{2876D284-16FF-4006-D4B4-220B53D0307D}"/>
              </a:ext>
            </a:extLst>
          </p:cNvPr>
          <p:cNvSpPr txBox="1">
            <a:spLocks/>
          </p:cNvSpPr>
          <p:nvPr/>
        </p:nvSpPr>
        <p:spPr>
          <a:xfrm>
            <a:off x="7427167" y="1717704"/>
            <a:ext cx="4641368" cy="4008582"/>
          </a:xfrm>
          <a:prstGeom prst="rect">
            <a:avLst/>
          </a:prstGeom>
          <a:ln>
            <a:solidFill>
              <a:schemeClr val="bg2">
                <a:lumMod val="20000"/>
                <a:lumOff val="80000"/>
              </a:schemeClr>
            </a:solidFill>
          </a:ln>
        </p:spPr>
        <p:txBody>
          <a:bodyPr vert="horz" lIns="91440" tIns="45720" rIns="91440" bIns="45720" rtlCol="0">
            <a:normAutofit fontScale="550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nSpc>
                <a:spcPct val="200000"/>
              </a:lnSpc>
              <a:buFont typeface="Wingdings 3" charset="2"/>
              <a:buNone/>
            </a:pPr>
            <a:r>
              <a:rPr lang="en-GB" sz="3200" b="1" dirty="0">
                <a:solidFill>
                  <a:schemeClr val="bg1"/>
                </a:solidFill>
                <a:latin typeface="Segoe UI" panose="020B0502040204020203" pitchFamily="34" charset="0"/>
                <a:ea typeface="Calibri" panose="020F0502020204030204" pitchFamily="34" charset="0"/>
                <a:cs typeface="Segoe UI" panose="020B0502040204020203" pitchFamily="34" charset="0"/>
              </a:rPr>
              <a:t>To-do:</a:t>
            </a:r>
          </a:p>
          <a:p>
            <a:pPr lvl="1">
              <a:lnSpc>
                <a:spcPct val="270000"/>
              </a:lnSpc>
              <a:buFont typeface="Wingdings" panose="05000000000000000000" pitchFamily="2" charset="2"/>
              <a:buChar char="§"/>
            </a:pPr>
            <a:r>
              <a:rPr lang="en-GB" sz="2500" dirty="0">
                <a:latin typeface="Bahnschrift Light" panose="020B0502040204020203" pitchFamily="34" charset="0"/>
                <a:ea typeface="Calibri" panose="020F0502020204030204" pitchFamily="34" charset="0"/>
                <a:cs typeface="Segoe UI" panose="020B0502040204020203" pitchFamily="34" charset="0"/>
              </a:rPr>
              <a:t>Forecast GDP for 2026 Q1, 2, 3</a:t>
            </a:r>
          </a:p>
          <a:p>
            <a:pPr lvl="1">
              <a:lnSpc>
                <a:spcPct val="270000"/>
              </a:lnSpc>
              <a:buFont typeface="Wingdings" panose="05000000000000000000" pitchFamily="2" charset="2"/>
              <a:buChar char="§"/>
            </a:pPr>
            <a:r>
              <a:rPr lang="en-GB" sz="2500" dirty="0">
                <a:latin typeface="Bahnschrift Light" panose="020B0502040204020203" pitchFamily="34" charset="0"/>
                <a:ea typeface="Calibri" panose="020F0502020204030204" pitchFamily="34" charset="0"/>
                <a:cs typeface="Segoe UI" panose="020B0502040204020203" pitchFamily="34" charset="0"/>
              </a:rPr>
              <a:t>Present the drivers for Q1 &amp; 2 </a:t>
            </a:r>
            <a:r>
              <a:rPr lang="en-GB" sz="2500" dirty="0" err="1">
                <a:latin typeface="Bahnschrift Light" panose="020B0502040204020203" pitchFamily="34" charset="0"/>
                <a:ea typeface="Calibri" panose="020F0502020204030204" pitchFamily="34" charset="0"/>
                <a:cs typeface="Segoe UI" panose="020B0502040204020203" pitchFamily="34" charset="0"/>
              </a:rPr>
              <a:t>forecats</a:t>
            </a:r>
            <a:endParaRPr lang="en-GB" sz="2500" dirty="0">
              <a:latin typeface="Bahnschrift Light" panose="020B0502040204020203" pitchFamily="34" charset="0"/>
              <a:ea typeface="Calibri" panose="020F0502020204030204" pitchFamily="34" charset="0"/>
              <a:cs typeface="Segoe UI" panose="020B0502040204020203" pitchFamily="34" charset="0"/>
            </a:endParaRPr>
          </a:p>
          <a:p>
            <a:pPr lvl="1">
              <a:lnSpc>
                <a:spcPct val="270000"/>
              </a:lnSpc>
              <a:buFont typeface="Wingdings" panose="05000000000000000000" pitchFamily="2" charset="2"/>
              <a:buChar char="§"/>
            </a:pPr>
            <a:r>
              <a:rPr lang="en-GB" sz="2500" dirty="0">
                <a:latin typeface="Bahnschrift Light" panose="020B0502040204020203" pitchFamily="34" charset="0"/>
                <a:ea typeface="Calibri" panose="020F0502020204030204" pitchFamily="34" charset="0"/>
                <a:cs typeface="Segoe UI" panose="020B0502040204020203" pitchFamily="34" charset="0"/>
              </a:rPr>
              <a:t>Make a short brief of the results </a:t>
            </a:r>
          </a:p>
          <a:p>
            <a:pPr lvl="1">
              <a:lnSpc>
                <a:spcPct val="270000"/>
              </a:lnSpc>
              <a:buFont typeface="Wingdings" panose="05000000000000000000" pitchFamily="2" charset="2"/>
              <a:buChar char="§"/>
            </a:pPr>
            <a:r>
              <a:rPr lang="en-GB" sz="2500" dirty="0">
                <a:latin typeface="Bahnschrift Light" panose="020B0502040204020203" pitchFamily="34" charset="0"/>
                <a:ea typeface="Calibri" panose="020F0502020204030204" pitchFamily="34" charset="0"/>
                <a:cs typeface="Segoe UI" panose="020B0502040204020203" pitchFamily="34" charset="0"/>
              </a:rPr>
              <a:t>Provide your recommendation and any analytical thoughts</a:t>
            </a:r>
          </a:p>
          <a:p>
            <a:pPr marL="0" indent="0">
              <a:lnSpc>
                <a:spcPct val="200000"/>
              </a:lnSpc>
              <a:buFont typeface="Wingdings 3" charset="2"/>
              <a:buNone/>
            </a:pPr>
            <a:endParaRPr lang="en-GB" sz="1800" dirty="0">
              <a:latin typeface="Segoe UI" panose="020B0502040204020203" pitchFamily="34" charset="0"/>
              <a:ea typeface="Calibri" panose="020F0502020204030204" pitchFamily="34" charset="0"/>
              <a:cs typeface="Segoe UI" panose="020B0502040204020203" pitchFamily="34" charset="0"/>
            </a:endParaRPr>
          </a:p>
        </p:txBody>
      </p:sp>
      <p:sp>
        <p:nvSpPr>
          <p:cNvPr id="5" name="TextBox 4">
            <a:extLst>
              <a:ext uri="{FF2B5EF4-FFF2-40B4-BE49-F238E27FC236}">
                <a16:creationId xmlns:a16="http://schemas.microsoft.com/office/drawing/2014/main" id="{06F06224-D35D-A7F7-3CE4-C7D74DD699F8}"/>
              </a:ext>
            </a:extLst>
          </p:cNvPr>
          <p:cNvSpPr txBox="1"/>
          <p:nvPr/>
        </p:nvSpPr>
        <p:spPr>
          <a:xfrm>
            <a:off x="1108364" y="6077527"/>
            <a:ext cx="10058400" cy="369332"/>
          </a:xfrm>
          <a:prstGeom prst="rect">
            <a:avLst/>
          </a:prstGeom>
          <a:noFill/>
        </p:spPr>
        <p:txBody>
          <a:bodyPr wrap="square" rtlCol="0">
            <a:spAutoFit/>
          </a:bodyPr>
          <a:lstStyle/>
          <a:p>
            <a:r>
              <a:rPr lang="en-US" dirty="0">
                <a:solidFill>
                  <a:schemeClr val="accent1">
                    <a:lumMod val="50000"/>
                  </a:schemeClr>
                </a:solidFill>
              </a:rPr>
              <a:t>To be submitted by Sun 26, April 2026 @12PM </a:t>
            </a:r>
            <a:endParaRPr lang="en-RW" dirty="0">
              <a:solidFill>
                <a:schemeClr val="accent1">
                  <a:lumMod val="50000"/>
                </a:schemeClr>
              </a:solidFill>
            </a:endParaRPr>
          </a:p>
        </p:txBody>
      </p:sp>
    </p:spTree>
    <p:extLst>
      <p:ext uri="{BB962C8B-B14F-4D97-AF65-F5344CB8AC3E}">
        <p14:creationId xmlns:p14="http://schemas.microsoft.com/office/powerpoint/2010/main" val="379036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2" name="Title 1"/>
          <p:cNvSpPr>
            <a:spLocks noGrp="1"/>
          </p:cNvSpPr>
          <p:nvPr>
            <p:ph type="title"/>
          </p:nvPr>
        </p:nvSpPr>
        <p:spPr>
          <a:xfrm>
            <a:off x="829067" y="1823925"/>
            <a:ext cx="10363200" cy="3086742"/>
          </a:xfrm>
          <a:ln>
            <a:solidFill>
              <a:schemeClr val="tx2"/>
            </a:solidFill>
          </a:ln>
        </p:spPr>
        <p:txBody>
          <a:bodyPr/>
          <a:lstStyle/>
          <a:p>
            <a:pPr algn="ctr"/>
            <a:r>
              <a:rPr lang="fr-FR" sz="8000" dirty="0">
                <a:solidFill>
                  <a:srgbClr val="00B050"/>
                </a:solidFill>
                <a:latin typeface="Bookman Old Style" panose="02050604050505020204" pitchFamily="18" charset="0"/>
              </a:rPr>
              <a:t>Mu</a:t>
            </a:r>
            <a:r>
              <a:rPr lang="fr-FR" sz="8000" dirty="0">
                <a:solidFill>
                  <a:srgbClr val="FFFF00"/>
                </a:solidFill>
                <a:latin typeface="Bookman Old Style" panose="02050604050505020204" pitchFamily="18" charset="0"/>
              </a:rPr>
              <a:t>rak</a:t>
            </a:r>
            <a:r>
              <a:rPr lang="fr-FR" sz="8000" dirty="0">
                <a:solidFill>
                  <a:srgbClr val="00B0F0"/>
                </a:solidFill>
                <a:latin typeface="Bookman Old Style" panose="02050604050505020204" pitchFamily="18" charset="0"/>
              </a:rPr>
              <a:t>oze</a:t>
            </a:r>
            <a:r>
              <a:rPr lang="fr-FR" sz="8000" dirty="0">
                <a:solidFill>
                  <a:srgbClr val="00B050"/>
                </a:solidFill>
                <a:latin typeface="Bookman Old Style" panose="02050604050505020204" pitchFamily="18" charset="0"/>
              </a:rPr>
              <a:t>!</a:t>
            </a:r>
            <a:r>
              <a:rPr lang="fr-FR" sz="8000" dirty="0">
                <a:solidFill>
                  <a:srgbClr val="FFFF00"/>
                </a:solidFill>
                <a:latin typeface="Bookman Old Style" panose="02050604050505020204" pitchFamily="18" charset="0"/>
              </a:rPr>
              <a:t>!</a:t>
            </a:r>
            <a:r>
              <a:rPr lang="fr-FR" sz="8000" dirty="0">
                <a:solidFill>
                  <a:srgbClr val="00B0F0"/>
                </a:solidFill>
                <a:latin typeface="Bookman Old Style" panose="02050604050505020204" pitchFamily="18" charset="0"/>
              </a:rPr>
              <a:t>! </a:t>
            </a:r>
          </a:p>
        </p:txBody>
      </p:sp>
      <p:pic>
        <p:nvPicPr>
          <p:cNvPr id="4" name="Graphic 3" descr="Sign Language">
            <a:extLst>
              <a:ext uri="{FF2B5EF4-FFF2-40B4-BE49-F238E27FC236}">
                <a16:creationId xmlns:a16="http://schemas.microsoft.com/office/drawing/2014/main" id="{9D46A8E7-11D6-82E5-543C-7251354BB1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65771" y="2971800"/>
            <a:ext cx="914400" cy="914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ppt_x</p:attrName>
                                        </p:attrNameLst>
                                      </p:cBhvr>
                                      <p:tavLst>
                                        <p:tav tm="0">
                                          <p:val>
                                            <p:strVal val="#ppt_x"/>
                                          </p:val>
                                        </p:tav>
                                        <p:tav tm="100000">
                                          <p:val>
                                            <p:strVal val="#ppt_x"/>
                                          </p:val>
                                        </p:tav>
                                      </p:tavLst>
                                    </p:anim>
                                    <p:anim calcmode="lin" valueType="num">
                                      <p:cBhvr>
                                        <p:cTn id="9" dur="2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11335</TotalTime>
  <Words>2146</Words>
  <Application>Microsoft Office PowerPoint</Application>
  <PresentationFormat>Widescreen</PresentationFormat>
  <Paragraphs>223</Paragraphs>
  <Slides>16</Slides>
  <Notes>8</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16</vt:i4>
      </vt:variant>
    </vt:vector>
  </HeadingPairs>
  <TitlesOfParts>
    <vt:vector size="31" baseType="lpstr">
      <vt:lpstr>Arial</vt:lpstr>
      <vt:lpstr>Bahnschrift</vt:lpstr>
      <vt:lpstr>Bahnschrift Light</vt:lpstr>
      <vt:lpstr>Bookman Old Style</vt:lpstr>
      <vt:lpstr>Calibri</vt:lpstr>
      <vt:lpstr>Calibri Light</vt:lpstr>
      <vt:lpstr>Cambria Math</vt:lpstr>
      <vt:lpstr>Century Gothic</vt:lpstr>
      <vt:lpstr>Courier New</vt:lpstr>
      <vt:lpstr>Gill Sans MT</vt:lpstr>
      <vt:lpstr>Merriweather Sans</vt:lpstr>
      <vt:lpstr>Segoe UI</vt:lpstr>
      <vt:lpstr>Wingdings</vt:lpstr>
      <vt:lpstr>Wingdings 3</vt:lpstr>
      <vt:lpstr>Ion</vt:lpstr>
      <vt:lpstr> Quarterly GDP Nowcasting for Rwanda </vt:lpstr>
      <vt:lpstr>Outline &amp; Content</vt:lpstr>
      <vt:lpstr>Introduction</vt:lpstr>
      <vt:lpstr>Rationale &amp; use</vt:lpstr>
      <vt:lpstr>Application of nowcasting –economic policy</vt:lpstr>
      <vt:lpstr>Variables &amp; data sources </vt:lpstr>
      <vt:lpstr>Methodology</vt:lpstr>
      <vt:lpstr>Key steps for nowcasting</vt:lpstr>
      <vt:lpstr>Other (neo)classical methods</vt:lpstr>
      <vt:lpstr>Nowcasting in practice—highlights from EVIEWS program </vt:lpstr>
      <vt:lpstr>Demonstration—Methodology</vt:lpstr>
      <vt:lpstr>Illustration—results &amp; reporting </vt:lpstr>
      <vt:lpstr>Results presentation/illustration</vt:lpstr>
      <vt:lpstr>References</vt:lpstr>
      <vt:lpstr>Group activity</vt:lpstr>
      <vt:lpstr>Murakoze!!!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Quarterly GDP Nowcasting in Rwanda</dc:title>
  <dc:creator>Eric MUTABAZI</dc:creator>
  <cp:lastModifiedBy>Evariste MANIRUMVA</cp:lastModifiedBy>
  <cp:revision>101</cp:revision>
  <dcterms:created xsi:type="dcterms:W3CDTF">2022-11-11T07:53:30Z</dcterms:created>
  <dcterms:modified xsi:type="dcterms:W3CDTF">2026-04-23T10:23:49Z</dcterms:modified>
</cp:coreProperties>
</file>